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0053A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#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0053A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#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93935" y="1734166"/>
            <a:ext cx="5168265" cy="4542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333333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#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#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#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12191999" y="761999"/>
                </a:moveTo>
                <a:lnTo>
                  <a:pt x="0" y="761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299" y="148740"/>
            <a:ext cx="7382509" cy="391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2676" y="1392237"/>
            <a:ext cx="10326647" cy="1448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0053A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8299" y="6538937"/>
            <a:ext cx="460883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33000" y="6444077"/>
            <a:ext cx="1066800" cy="26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#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19.png"/><Relationship Id="rId9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1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1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36.png"/><Relationship Id="rId4" Type="http://schemas.openxmlformats.org/officeDocument/2006/relationships/image" Target="../media/image53.png"/><Relationship Id="rId5" Type="http://schemas.openxmlformats.org/officeDocument/2006/relationships/image" Target="../media/image4.png"/><Relationship Id="rId6" Type="http://schemas.openxmlformats.org/officeDocument/2006/relationships/image" Target="../media/image54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0485" rIns="0" bIns="0" rtlCol="0" vert="horz">
            <a:spAutoFit/>
          </a:bodyPr>
          <a:lstStyle/>
          <a:p>
            <a:pPr algn="ctr" marL="12700" marR="5080">
              <a:lnSpc>
                <a:spcPts val="3600"/>
              </a:lnSpc>
              <a:spcBef>
                <a:spcPts val="555"/>
              </a:spcBef>
            </a:pPr>
            <a:r>
              <a:rPr dirty="0" spc="-190"/>
              <a:t>Advanced</a:t>
            </a:r>
            <a:r>
              <a:rPr dirty="0" spc="-40"/>
              <a:t> </a:t>
            </a:r>
            <a:r>
              <a:rPr dirty="0" spc="-180"/>
              <a:t>Modeling</a:t>
            </a:r>
            <a:r>
              <a:rPr dirty="0" spc="-35"/>
              <a:t> </a:t>
            </a:r>
            <a:r>
              <a:rPr dirty="0" spc="-185"/>
              <a:t>and</a:t>
            </a:r>
            <a:r>
              <a:rPr dirty="0" spc="-40"/>
              <a:t> </a:t>
            </a:r>
            <a:r>
              <a:rPr dirty="0" spc="-135"/>
              <a:t>Stability</a:t>
            </a:r>
            <a:r>
              <a:rPr dirty="0" spc="-35"/>
              <a:t> </a:t>
            </a:r>
            <a:r>
              <a:rPr dirty="0" spc="-160"/>
              <a:t>Analysis</a:t>
            </a:r>
            <a:r>
              <a:rPr dirty="0" spc="-35"/>
              <a:t> </a:t>
            </a:r>
            <a:r>
              <a:rPr dirty="0" spc="-160"/>
              <a:t>of</a:t>
            </a:r>
            <a:r>
              <a:rPr dirty="0" spc="-40"/>
              <a:t> </a:t>
            </a:r>
            <a:r>
              <a:rPr dirty="0" spc="-155"/>
              <a:t>Grid</a:t>
            </a:r>
            <a:r>
              <a:rPr dirty="0" spc="-35"/>
              <a:t> </a:t>
            </a:r>
            <a:r>
              <a:rPr dirty="0" spc="-145"/>
              <a:t>Frequency </a:t>
            </a:r>
            <a:r>
              <a:rPr dirty="0" spc="-165"/>
              <a:t>Control</a:t>
            </a:r>
            <a:r>
              <a:rPr dirty="0" spc="-50"/>
              <a:t> </a:t>
            </a:r>
            <a:r>
              <a:rPr dirty="0" spc="-135"/>
              <a:t>in</a:t>
            </a:r>
            <a:r>
              <a:rPr dirty="0" spc="-45"/>
              <a:t> </a:t>
            </a:r>
            <a:r>
              <a:rPr dirty="0" spc="-170"/>
              <a:t>Smart</a:t>
            </a:r>
            <a:r>
              <a:rPr dirty="0" spc="-45"/>
              <a:t> </a:t>
            </a:r>
            <a:r>
              <a:rPr dirty="0" spc="-195"/>
              <a:t>Power</a:t>
            </a:r>
            <a:r>
              <a:rPr dirty="0" spc="-50"/>
              <a:t> </a:t>
            </a:r>
            <a:r>
              <a:rPr dirty="0" spc="-180"/>
              <a:t>Systems</a:t>
            </a:r>
            <a:r>
              <a:rPr dirty="0" spc="-45"/>
              <a:t> </a:t>
            </a:r>
            <a:r>
              <a:rPr dirty="0" spc="-145"/>
              <a:t>with</a:t>
            </a:r>
            <a:r>
              <a:rPr dirty="0" spc="-45"/>
              <a:t> </a:t>
            </a:r>
            <a:r>
              <a:rPr dirty="0" spc="-175"/>
              <a:t>High</a:t>
            </a:r>
            <a:r>
              <a:rPr dirty="0" spc="-45"/>
              <a:t> </a:t>
            </a:r>
            <a:r>
              <a:rPr dirty="0" spc="-165"/>
              <a:t>Penetration</a:t>
            </a:r>
            <a:r>
              <a:rPr dirty="0" spc="-50"/>
              <a:t> </a:t>
            </a:r>
            <a:r>
              <a:rPr dirty="0" spc="-25"/>
              <a:t>of </a:t>
            </a:r>
            <a:r>
              <a:rPr dirty="0" spc="-150"/>
              <a:t>Bidirectional</a:t>
            </a:r>
            <a:r>
              <a:rPr dirty="0" spc="-20"/>
              <a:t> </a:t>
            </a:r>
            <a:r>
              <a:rPr dirty="0" spc="-145"/>
              <a:t>Electric</a:t>
            </a:r>
            <a:r>
              <a:rPr dirty="0" spc="-20"/>
              <a:t> </a:t>
            </a:r>
            <a:r>
              <a:rPr dirty="0" spc="-170"/>
              <a:t>Vehicle</a:t>
            </a:r>
            <a:r>
              <a:rPr dirty="0" spc="-15"/>
              <a:t> </a:t>
            </a:r>
            <a:r>
              <a:rPr dirty="0" spc="-40"/>
              <a:t>Integration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838699" y="3228904"/>
            <a:ext cx="600075" cy="534035"/>
          </a:xfrm>
          <a:custGeom>
            <a:avLst/>
            <a:gdLst/>
            <a:ahLst/>
            <a:cxnLst/>
            <a:rect l="l" t="t" r="r" b="b"/>
            <a:pathLst>
              <a:path w="600075" h="534035">
                <a:moveTo>
                  <a:pt x="52202" y="266839"/>
                </a:moveTo>
                <a:lnTo>
                  <a:pt x="12438" y="219255"/>
                </a:lnTo>
                <a:lnTo>
                  <a:pt x="1424" y="162852"/>
                </a:lnTo>
                <a:lnTo>
                  <a:pt x="0" y="133419"/>
                </a:lnTo>
                <a:lnTo>
                  <a:pt x="1424" y="103987"/>
                </a:lnTo>
                <a:lnTo>
                  <a:pt x="12438" y="47584"/>
                </a:lnTo>
                <a:lnTo>
                  <a:pt x="29248" y="9752"/>
                </a:lnTo>
                <a:lnTo>
                  <a:pt x="52202" y="43"/>
                </a:lnTo>
                <a:lnTo>
                  <a:pt x="65216" y="2466"/>
                </a:lnTo>
                <a:lnTo>
                  <a:pt x="76272" y="9752"/>
                </a:lnTo>
                <a:lnTo>
                  <a:pt x="83421" y="20358"/>
                </a:lnTo>
                <a:lnTo>
                  <a:pt x="86078" y="32880"/>
                </a:lnTo>
                <a:lnTo>
                  <a:pt x="83656" y="45909"/>
                </a:lnTo>
                <a:lnTo>
                  <a:pt x="76388" y="66600"/>
                </a:lnTo>
                <a:lnTo>
                  <a:pt x="71063" y="88140"/>
                </a:lnTo>
                <a:lnTo>
                  <a:pt x="67790" y="110443"/>
                </a:lnTo>
                <a:lnTo>
                  <a:pt x="66675" y="133419"/>
                </a:lnTo>
                <a:lnTo>
                  <a:pt x="67790" y="156396"/>
                </a:lnTo>
                <a:lnTo>
                  <a:pt x="71063" y="178699"/>
                </a:lnTo>
                <a:lnTo>
                  <a:pt x="76388" y="200239"/>
                </a:lnTo>
                <a:lnTo>
                  <a:pt x="83656" y="220930"/>
                </a:lnTo>
                <a:lnTo>
                  <a:pt x="86078" y="233945"/>
                </a:lnTo>
                <a:lnTo>
                  <a:pt x="83529" y="245934"/>
                </a:lnTo>
                <a:lnTo>
                  <a:pt x="83421" y="246441"/>
                </a:lnTo>
                <a:lnTo>
                  <a:pt x="76298" y="257004"/>
                </a:lnTo>
                <a:lnTo>
                  <a:pt x="65216" y="264373"/>
                </a:lnTo>
                <a:lnTo>
                  <a:pt x="52202" y="266839"/>
                </a:lnTo>
                <a:close/>
              </a:path>
              <a:path w="600075" h="534035">
                <a:moveTo>
                  <a:pt x="547887" y="266796"/>
                </a:moveTo>
                <a:lnTo>
                  <a:pt x="534858" y="264373"/>
                </a:lnTo>
                <a:lnTo>
                  <a:pt x="523736" y="256990"/>
                </a:lnTo>
                <a:lnTo>
                  <a:pt x="516653" y="246481"/>
                </a:lnTo>
                <a:lnTo>
                  <a:pt x="513996" y="233959"/>
                </a:lnTo>
                <a:lnTo>
                  <a:pt x="516418" y="220930"/>
                </a:lnTo>
                <a:lnTo>
                  <a:pt x="523686" y="200239"/>
                </a:lnTo>
                <a:lnTo>
                  <a:pt x="529011" y="178699"/>
                </a:lnTo>
                <a:lnTo>
                  <a:pt x="532284" y="156396"/>
                </a:lnTo>
                <a:lnTo>
                  <a:pt x="533400" y="133419"/>
                </a:lnTo>
                <a:lnTo>
                  <a:pt x="532284" y="110443"/>
                </a:lnTo>
                <a:lnTo>
                  <a:pt x="529011" y="88140"/>
                </a:lnTo>
                <a:lnTo>
                  <a:pt x="523686" y="66600"/>
                </a:lnTo>
                <a:lnTo>
                  <a:pt x="516418" y="45909"/>
                </a:lnTo>
                <a:lnTo>
                  <a:pt x="513996" y="32894"/>
                </a:lnTo>
                <a:lnTo>
                  <a:pt x="516545" y="20905"/>
                </a:lnTo>
                <a:lnTo>
                  <a:pt x="516653" y="20398"/>
                </a:lnTo>
                <a:lnTo>
                  <a:pt x="523802" y="9796"/>
                </a:lnTo>
                <a:lnTo>
                  <a:pt x="534858" y="2466"/>
                </a:lnTo>
                <a:lnTo>
                  <a:pt x="547872" y="0"/>
                </a:lnTo>
                <a:lnTo>
                  <a:pt x="560369" y="2661"/>
                </a:lnTo>
                <a:lnTo>
                  <a:pt x="587636" y="47584"/>
                </a:lnTo>
                <a:lnTo>
                  <a:pt x="598650" y="103987"/>
                </a:lnTo>
                <a:lnTo>
                  <a:pt x="600075" y="133419"/>
                </a:lnTo>
                <a:lnTo>
                  <a:pt x="598650" y="162852"/>
                </a:lnTo>
                <a:lnTo>
                  <a:pt x="587636" y="219255"/>
                </a:lnTo>
                <a:lnTo>
                  <a:pt x="571015" y="256990"/>
                </a:lnTo>
                <a:lnTo>
                  <a:pt x="560408" y="264139"/>
                </a:lnTo>
                <a:lnTo>
                  <a:pt x="547887" y="266796"/>
                </a:lnTo>
                <a:close/>
              </a:path>
              <a:path w="600075" h="534035">
                <a:moveTo>
                  <a:pt x="300037" y="533470"/>
                </a:moveTo>
                <a:lnTo>
                  <a:pt x="287049" y="530854"/>
                </a:lnTo>
                <a:lnTo>
                  <a:pt x="276453" y="523716"/>
                </a:lnTo>
                <a:lnTo>
                  <a:pt x="269315" y="513120"/>
                </a:lnTo>
                <a:lnTo>
                  <a:pt x="266700" y="500132"/>
                </a:lnTo>
                <a:lnTo>
                  <a:pt x="266700" y="191135"/>
                </a:lnTo>
                <a:lnTo>
                  <a:pt x="253096" y="180711"/>
                </a:lnTo>
                <a:lnTo>
                  <a:pt x="242569" y="167200"/>
                </a:lnTo>
                <a:lnTo>
                  <a:pt x="235773" y="151228"/>
                </a:lnTo>
                <a:lnTo>
                  <a:pt x="233362" y="133419"/>
                </a:lnTo>
                <a:lnTo>
                  <a:pt x="238608" y="107487"/>
                </a:lnTo>
                <a:lnTo>
                  <a:pt x="252909" y="86291"/>
                </a:lnTo>
                <a:lnTo>
                  <a:pt x="274104" y="71991"/>
                </a:lnTo>
                <a:lnTo>
                  <a:pt x="300037" y="66744"/>
                </a:lnTo>
                <a:lnTo>
                  <a:pt x="325970" y="71991"/>
                </a:lnTo>
                <a:lnTo>
                  <a:pt x="347165" y="86291"/>
                </a:lnTo>
                <a:lnTo>
                  <a:pt x="361466" y="107487"/>
                </a:lnTo>
                <a:lnTo>
                  <a:pt x="366712" y="133419"/>
                </a:lnTo>
                <a:lnTo>
                  <a:pt x="364303" y="151228"/>
                </a:lnTo>
                <a:lnTo>
                  <a:pt x="357522" y="167200"/>
                </a:lnTo>
                <a:lnTo>
                  <a:pt x="347012" y="180711"/>
                </a:lnTo>
                <a:lnTo>
                  <a:pt x="333375" y="191135"/>
                </a:lnTo>
                <a:lnTo>
                  <a:pt x="333375" y="500132"/>
                </a:lnTo>
                <a:lnTo>
                  <a:pt x="330759" y="513120"/>
                </a:lnTo>
                <a:lnTo>
                  <a:pt x="323621" y="523716"/>
                </a:lnTo>
                <a:lnTo>
                  <a:pt x="313025" y="530854"/>
                </a:lnTo>
                <a:lnTo>
                  <a:pt x="300037" y="533470"/>
                </a:lnTo>
                <a:close/>
              </a:path>
              <a:path w="600075" h="534035">
                <a:moveTo>
                  <a:pt x="147593" y="233383"/>
                </a:moveTo>
                <a:lnTo>
                  <a:pt x="109549" y="194540"/>
                </a:lnTo>
                <a:lnTo>
                  <a:pt x="101108" y="154418"/>
                </a:lnTo>
                <a:lnTo>
                  <a:pt x="100012" y="133419"/>
                </a:lnTo>
                <a:lnTo>
                  <a:pt x="101108" y="112421"/>
                </a:lnTo>
                <a:lnTo>
                  <a:pt x="104231" y="92589"/>
                </a:lnTo>
                <a:lnTo>
                  <a:pt x="104322" y="92008"/>
                </a:lnTo>
                <a:lnTo>
                  <a:pt x="116681" y="53409"/>
                </a:lnTo>
                <a:lnTo>
                  <a:pt x="147607" y="33412"/>
                </a:lnTo>
                <a:lnTo>
                  <a:pt x="160540" y="36220"/>
                </a:lnTo>
                <a:lnTo>
                  <a:pt x="171386" y="43820"/>
                </a:lnTo>
                <a:lnTo>
                  <a:pt x="178238" y="54595"/>
                </a:lnTo>
                <a:lnTo>
                  <a:pt x="180538" y="67147"/>
                </a:lnTo>
                <a:lnTo>
                  <a:pt x="177730" y="80079"/>
                </a:lnTo>
                <a:lnTo>
                  <a:pt x="173016" y="92589"/>
                </a:lnTo>
                <a:lnTo>
                  <a:pt x="169552" y="105695"/>
                </a:lnTo>
                <a:lnTo>
                  <a:pt x="167416" y="119328"/>
                </a:lnTo>
                <a:lnTo>
                  <a:pt x="166687" y="133419"/>
                </a:lnTo>
                <a:lnTo>
                  <a:pt x="167416" y="147511"/>
                </a:lnTo>
                <a:lnTo>
                  <a:pt x="169552" y="161144"/>
                </a:lnTo>
                <a:lnTo>
                  <a:pt x="173016" y="174250"/>
                </a:lnTo>
                <a:lnTo>
                  <a:pt x="177730" y="186759"/>
                </a:lnTo>
                <a:lnTo>
                  <a:pt x="180538" y="199707"/>
                </a:lnTo>
                <a:lnTo>
                  <a:pt x="178238" y="212284"/>
                </a:lnTo>
                <a:lnTo>
                  <a:pt x="171386" y="223063"/>
                </a:lnTo>
                <a:lnTo>
                  <a:pt x="160540" y="230619"/>
                </a:lnTo>
                <a:lnTo>
                  <a:pt x="147593" y="233383"/>
                </a:lnTo>
                <a:close/>
              </a:path>
              <a:path w="600075" h="534035">
                <a:moveTo>
                  <a:pt x="452467" y="233427"/>
                </a:moveTo>
                <a:lnTo>
                  <a:pt x="439534" y="230619"/>
                </a:lnTo>
                <a:lnTo>
                  <a:pt x="428688" y="223019"/>
                </a:lnTo>
                <a:lnTo>
                  <a:pt x="421836" y="212244"/>
                </a:lnTo>
                <a:lnTo>
                  <a:pt x="419536" y="199692"/>
                </a:lnTo>
                <a:lnTo>
                  <a:pt x="422344" y="186760"/>
                </a:lnTo>
                <a:lnTo>
                  <a:pt x="427058" y="174250"/>
                </a:lnTo>
                <a:lnTo>
                  <a:pt x="430522" y="161144"/>
                </a:lnTo>
                <a:lnTo>
                  <a:pt x="432658" y="147511"/>
                </a:lnTo>
                <a:lnTo>
                  <a:pt x="433387" y="133419"/>
                </a:lnTo>
                <a:lnTo>
                  <a:pt x="432658" y="119328"/>
                </a:lnTo>
                <a:lnTo>
                  <a:pt x="430522" y="105695"/>
                </a:lnTo>
                <a:lnTo>
                  <a:pt x="427058" y="92589"/>
                </a:lnTo>
                <a:lnTo>
                  <a:pt x="422344" y="80080"/>
                </a:lnTo>
                <a:lnTo>
                  <a:pt x="419536" y="67132"/>
                </a:lnTo>
                <a:lnTo>
                  <a:pt x="421836" y="54555"/>
                </a:lnTo>
                <a:lnTo>
                  <a:pt x="428688" y="43776"/>
                </a:lnTo>
                <a:lnTo>
                  <a:pt x="439534" y="36220"/>
                </a:lnTo>
                <a:lnTo>
                  <a:pt x="452481" y="33456"/>
                </a:lnTo>
                <a:lnTo>
                  <a:pt x="465058" y="35751"/>
                </a:lnTo>
                <a:lnTo>
                  <a:pt x="490525" y="72299"/>
                </a:lnTo>
                <a:lnTo>
                  <a:pt x="498966" y="112421"/>
                </a:lnTo>
                <a:lnTo>
                  <a:pt x="500062" y="133419"/>
                </a:lnTo>
                <a:lnTo>
                  <a:pt x="498966" y="154418"/>
                </a:lnTo>
                <a:lnTo>
                  <a:pt x="490525" y="194540"/>
                </a:lnTo>
                <a:lnTo>
                  <a:pt x="465019" y="231127"/>
                </a:lnTo>
                <a:lnTo>
                  <a:pt x="452467" y="233427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895974" y="3295650"/>
            <a:ext cx="533400" cy="400050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216693" y="33337"/>
                </a:moveTo>
                <a:lnTo>
                  <a:pt x="83343" y="33337"/>
                </a:lnTo>
                <a:lnTo>
                  <a:pt x="85959" y="20349"/>
                </a:lnTo>
                <a:lnTo>
                  <a:pt x="93097" y="9753"/>
                </a:lnTo>
                <a:lnTo>
                  <a:pt x="103692" y="2615"/>
                </a:lnTo>
                <a:lnTo>
                  <a:pt x="116681" y="0"/>
                </a:lnTo>
                <a:lnTo>
                  <a:pt x="183356" y="0"/>
                </a:lnTo>
                <a:lnTo>
                  <a:pt x="196344" y="2615"/>
                </a:lnTo>
                <a:lnTo>
                  <a:pt x="206939" y="9753"/>
                </a:lnTo>
                <a:lnTo>
                  <a:pt x="214077" y="20349"/>
                </a:lnTo>
                <a:lnTo>
                  <a:pt x="216693" y="33337"/>
                </a:lnTo>
                <a:close/>
              </a:path>
              <a:path w="533400" h="400050">
                <a:moveTo>
                  <a:pt x="450056" y="33337"/>
                </a:moveTo>
                <a:lnTo>
                  <a:pt x="316706" y="33337"/>
                </a:lnTo>
                <a:lnTo>
                  <a:pt x="319322" y="20349"/>
                </a:lnTo>
                <a:lnTo>
                  <a:pt x="326460" y="9753"/>
                </a:lnTo>
                <a:lnTo>
                  <a:pt x="337055" y="2615"/>
                </a:lnTo>
                <a:lnTo>
                  <a:pt x="350043" y="0"/>
                </a:lnTo>
                <a:lnTo>
                  <a:pt x="416718" y="0"/>
                </a:lnTo>
                <a:lnTo>
                  <a:pt x="429707" y="2615"/>
                </a:lnTo>
                <a:lnTo>
                  <a:pt x="440302" y="9753"/>
                </a:lnTo>
                <a:lnTo>
                  <a:pt x="447440" y="20349"/>
                </a:lnTo>
                <a:lnTo>
                  <a:pt x="450056" y="33337"/>
                </a:lnTo>
                <a:close/>
              </a:path>
              <a:path w="533400" h="400050">
                <a:moveTo>
                  <a:pt x="466725" y="400050"/>
                </a:moveTo>
                <a:lnTo>
                  <a:pt x="66675" y="400050"/>
                </a:lnTo>
                <a:lnTo>
                  <a:pt x="40742" y="394803"/>
                </a:lnTo>
                <a:lnTo>
                  <a:pt x="19546" y="380503"/>
                </a:lnTo>
                <a:lnTo>
                  <a:pt x="5246" y="359307"/>
                </a:lnTo>
                <a:lnTo>
                  <a:pt x="0" y="333375"/>
                </a:lnTo>
                <a:lnTo>
                  <a:pt x="0" y="100012"/>
                </a:lnTo>
                <a:lnTo>
                  <a:pt x="5246" y="74079"/>
                </a:lnTo>
                <a:lnTo>
                  <a:pt x="19546" y="52884"/>
                </a:lnTo>
                <a:lnTo>
                  <a:pt x="40742" y="38583"/>
                </a:lnTo>
                <a:lnTo>
                  <a:pt x="66675" y="33337"/>
                </a:lnTo>
                <a:lnTo>
                  <a:pt x="466725" y="33337"/>
                </a:lnTo>
                <a:lnTo>
                  <a:pt x="492657" y="38583"/>
                </a:lnTo>
                <a:lnTo>
                  <a:pt x="513853" y="52884"/>
                </a:lnTo>
                <a:lnTo>
                  <a:pt x="528153" y="74079"/>
                </a:lnTo>
                <a:lnTo>
                  <a:pt x="533400" y="100012"/>
                </a:lnTo>
                <a:lnTo>
                  <a:pt x="533400" y="116681"/>
                </a:lnTo>
                <a:lnTo>
                  <a:pt x="374213" y="116681"/>
                </a:lnTo>
                <a:lnTo>
                  <a:pt x="366712" y="124182"/>
                </a:lnTo>
                <a:lnTo>
                  <a:pt x="366712" y="166687"/>
                </a:lnTo>
                <a:lnTo>
                  <a:pt x="90844" y="166687"/>
                </a:lnTo>
                <a:lnTo>
                  <a:pt x="83343" y="174188"/>
                </a:lnTo>
                <a:lnTo>
                  <a:pt x="83343" y="192524"/>
                </a:lnTo>
                <a:lnTo>
                  <a:pt x="90844" y="200025"/>
                </a:lnTo>
                <a:lnTo>
                  <a:pt x="366712" y="200025"/>
                </a:lnTo>
                <a:lnTo>
                  <a:pt x="366712" y="242530"/>
                </a:lnTo>
                <a:lnTo>
                  <a:pt x="374213" y="250031"/>
                </a:lnTo>
                <a:lnTo>
                  <a:pt x="533400" y="250031"/>
                </a:lnTo>
                <a:lnTo>
                  <a:pt x="533400" y="333375"/>
                </a:lnTo>
                <a:lnTo>
                  <a:pt x="528153" y="359307"/>
                </a:lnTo>
                <a:lnTo>
                  <a:pt x="513853" y="380503"/>
                </a:lnTo>
                <a:lnTo>
                  <a:pt x="492657" y="394803"/>
                </a:lnTo>
                <a:lnTo>
                  <a:pt x="466725" y="400050"/>
                </a:lnTo>
                <a:close/>
              </a:path>
              <a:path w="533400" h="400050">
                <a:moveTo>
                  <a:pt x="533400" y="250031"/>
                </a:moveTo>
                <a:lnTo>
                  <a:pt x="392549" y="250031"/>
                </a:lnTo>
                <a:lnTo>
                  <a:pt x="400050" y="242530"/>
                </a:lnTo>
                <a:lnTo>
                  <a:pt x="400050" y="200025"/>
                </a:lnTo>
                <a:lnTo>
                  <a:pt x="442555" y="200025"/>
                </a:lnTo>
                <a:lnTo>
                  <a:pt x="450056" y="192524"/>
                </a:lnTo>
                <a:lnTo>
                  <a:pt x="450056" y="174188"/>
                </a:lnTo>
                <a:lnTo>
                  <a:pt x="442555" y="166687"/>
                </a:lnTo>
                <a:lnTo>
                  <a:pt x="400050" y="166687"/>
                </a:lnTo>
                <a:lnTo>
                  <a:pt x="400050" y="124182"/>
                </a:lnTo>
                <a:lnTo>
                  <a:pt x="392549" y="116681"/>
                </a:lnTo>
                <a:lnTo>
                  <a:pt x="533400" y="116681"/>
                </a:lnTo>
                <a:lnTo>
                  <a:pt x="533400" y="250031"/>
                </a:lnTo>
                <a:close/>
              </a:path>
              <a:path w="533400" h="400050">
                <a:moveTo>
                  <a:pt x="324207" y="200025"/>
                </a:moveTo>
                <a:lnTo>
                  <a:pt x="209192" y="200025"/>
                </a:lnTo>
                <a:lnTo>
                  <a:pt x="216693" y="192524"/>
                </a:lnTo>
                <a:lnTo>
                  <a:pt x="216693" y="174188"/>
                </a:lnTo>
                <a:lnTo>
                  <a:pt x="209192" y="166687"/>
                </a:lnTo>
                <a:lnTo>
                  <a:pt x="324207" y="166687"/>
                </a:lnTo>
                <a:lnTo>
                  <a:pt x="316706" y="174188"/>
                </a:lnTo>
                <a:lnTo>
                  <a:pt x="316706" y="192524"/>
                </a:lnTo>
                <a:lnTo>
                  <a:pt x="324207" y="200025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919914" y="3229000"/>
            <a:ext cx="400050" cy="533400"/>
          </a:xfrm>
          <a:custGeom>
            <a:avLst/>
            <a:gdLst/>
            <a:ahLst/>
            <a:cxnLst/>
            <a:rect l="l" t="t" r="r" b="b"/>
            <a:pathLst>
              <a:path w="400050" h="533400">
                <a:moveTo>
                  <a:pt x="101521" y="533347"/>
                </a:moveTo>
                <a:lnTo>
                  <a:pt x="67871" y="508878"/>
                </a:lnTo>
                <a:lnTo>
                  <a:pt x="66741" y="497908"/>
                </a:lnTo>
                <a:lnTo>
                  <a:pt x="69382" y="486909"/>
                </a:lnTo>
                <a:lnTo>
                  <a:pt x="149496" y="300011"/>
                </a:lnTo>
                <a:lnTo>
                  <a:pt x="33335" y="300011"/>
                </a:lnTo>
                <a:lnTo>
                  <a:pt x="0" y="268435"/>
                </a:lnTo>
                <a:lnTo>
                  <a:pt x="975" y="258547"/>
                </a:lnTo>
                <a:lnTo>
                  <a:pt x="278053" y="8204"/>
                </a:lnTo>
                <a:lnTo>
                  <a:pt x="298525" y="0"/>
                </a:lnTo>
                <a:lnTo>
                  <a:pt x="309464" y="1318"/>
                </a:lnTo>
                <a:lnTo>
                  <a:pt x="319621" y="6328"/>
                </a:lnTo>
                <a:lnTo>
                  <a:pt x="327529" y="14456"/>
                </a:lnTo>
                <a:lnTo>
                  <a:pt x="332175" y="24469"/>
                </a:lnTo>
                <a:lnTo>
                  <a:pt x="333305" y="35438"/>
                </a:lnTo>
                <a:lnTo>
                  <a:pt x="330664" y="46438"/>
                </a:lnTo>
                <a:lnTo>
                  <a:pt x="250550" y="233440"/>
                </a:lnTo>
                <a:lnTo>
                  <a:pt x="366710" y="233440"/>
                </a:lnTo>
                <a:lnTo>
                  <a:pt x="400046" y="264912"/>
                </a:lnTo>
                <a:lnTo>
                  <a:pt x="399071" y="274799"/>
                </a:lnTo>
                <a:lnTo>
                  <a:pt x="395225" y="283984"/>
                </a:lnTo>
                <a:lnTo>
                  <a:pt x="388692" y="291781"/>
                </a:lnTo>
                <a:lnTo>
                  <a:pt x="121992" y="525143"/>
                </a:lnTo>
                <a:lnTo>
                  <a:pt x="112304" y="531033"/>
                </a:lnTo>
                <a:lnTo>
                  <a:pt x="101521" y="533347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316239" y="3896696"/>
            <a:ext cx="1559560" cy="17468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>
              <a:lnSpc>
                <a:spcPct val="152000"/>
              </a:lnSpc>
              <a:spcBef>
                <a:spcPts val="135"/>
              </a:spcBef>
            </a:pPr>
            <a:r>
              <a:rPr dirty="0" sz="1850" spc="-90">
                <a:solidFill>
                  <a:srgbClr val="444444"/>
                </a:solidFill>
                <a:latin typeface="Roboto"/>
                <a:cs typeface="Roboto"/>
              </a:rPr>
              <a:t>Authors:</a:t>
            </a:r>
            <a:r>
              <a:rPr dirty="0" sz="1850" spc="-4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850" spc="-95" b="1">
                <a:solidFill>
                  <a:srgbClr val="444444"/>
                </a:solidFill>
                <a:latin typeface="Roboto"/>
                <a:cs typeface="Roboto"/>
              </a:rPr>
              <a:t>[Name] </a:t>
            </a:r>
            <a:r>
              <a:rPr dirty="0" sz="1850" spc="-10" b="1">
                <a:solidFill>
                  <a:srgbClr val="444444"/>
                </a:solidFill>
                <a:latin typeface="Roboto"/>
                <a:cs typeface="Roboto"/>
              </a:rPr>
              <a:t>[Institution]</a:t>
            </a:r>
            <a:endParaRPr sz="1850">
              <a:latin typeface="Roboto"/>
              <a:cs typeface="Roboto"/>
            </a:endParaRPr>
          </a:p>
          <a:p>
            <a:pPr algn="ctr" marL="208279" marR="200660" indent="-635">
              <a:lnSpc>
                <a:spcPct val="149200"/>
              </a:lnSpc>
              <a:spcBef>
                <a:spcPts val="1215"/>
              </a:spcBef>
            </a:pPr>
            <a:r>
              <a:rPr dirty="0" sz="1550" spc="-65">
                <a:solidFill>
                  <a:srgbClr val="666666"/>
                </a:solidFill>
                <a:latin typeface="Roboto"/>
                <a:cs typeface="Roboto"/>
              </a:rPr>
              <a:t>[IEEE</a:t>
            </a:r>
            <a:r>
              <a:rPr dirty="0" sz="1550" spc="-10">
                <a:solidFill>
                  <a:srgbClr val="666666"/>
                </a:solidFill>
                <a:latin typeface="Roboto"/>
                <a:cs typeface="Roboto"/>
              </a:rPr>
              <a:t> Venue] </a:t>
            </a:r>
            <a:r>
              <a:rPr dirty="0" sz="1550" spc="-75">
                <a:solidFill>
                  <a:srgbClr val="666666"/>
                </a:solidFill>
                <a:latin typeface="Roboto"/>
                <a:cs typeface="Roboto"/>
              </a:rPr>
              <a:t>June</a:t>
            </a:r>
            <a:r>
              <a:rPr dirty="0" sz="155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50" spc="-45">
                <a:solidFill>
                  <a:srgbClr val="666666"/>
                </a:solidFill>
                <a:latin typeface="Roboto"/>
                <a:cs typeface="Roboto"/>
              </a:rPr>
              <a:t>15,</a:t>
            </a:r>
            <a:r>
              <a:rPr dirty="0" sz="155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50" spc="-70">
                <a:solidFill>
                  <a:srgbClr val="666666"/>
                </a:solidFill>
                <a:latin typeface="Roboto"/>
                <a:cs typeface="Roboto"/>
              </a:rPr>
              <a:t>2025</a:t>
            </a:r>
            <a:endParaRPr sz="155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117708" y="177026"/>
            <a:ext cx="70612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0">
                <a:latin typeface="Roboto"/>
                <a:cs typeface="Roboto"/>
              </a:rPr>
              <a:t>IEEE</a:t>
            </a:r>
            <a:r>
              <a:rPr dirty="0" sz="1250" spc="-6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Logo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10" name="object 10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0833000" y="6403816"/>
            <a:ext cx="1066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Grid</a:t>
            </a:r>
            <a:r>
              <a:rPr dirty="0" spc="-40"/>
              <a:t> </a:t>
            </a:r>
            <a:r>
              <a:rPr dirty="0" spc="-140"/>
              <a:t>Frequency</a:t>
            </a:r>
            <a:r>
              <a:rPr dirty="0" spc="-40"/>
              <a:t> </a:t>
            </a:r>
            <a:r>
              <a:rPr dirty="0" spc="-135"/>
              <a:t>Control</a:t>
            </a:r>
            <a:r>
              <a:rPr dirty="0" spc="-40"/>
              <a:t> </a:t>
            </a:r>
            <a:r>
              <a:rPr dirty="0" spc="-125"/>
              <a:t>with</a:t>
            </a:r>
            <a:r>
              <a:rPr dirty="0" spc="-40"/>
              <a:t> </a:t>
            </a:r>
            <a:r>
              <a:rPr dirty="0" spc="-165"/>
              <a:t>EV</a:t>
            </a:r>
            <a:r>
              <a:rPr dirty="0" spc="-40"/>
              <a:t> </a:t>
            </a:r>
            <a:r>
              <a:rPr dirty="0" spc="-95"/>
              <a:t>Integration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49299" y="1116012"/>
            <a:ext cx="1251585" cy="534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300" spc="-140" b="1">
                <a:solidFill>
                  <a:srgbClr val="0053A0"/>
                </a:solidFill>
                <a:latin typeface="Roboto"/>
                <a:cs typeface="Roboto"/>
              </a:rPr>
              <a:t>Outline</a:t>
            </a:r>
            <a:endParaRPr sz="330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61999" y="20002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6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9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76994" y="2042157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1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35074" y="1995699"/>
            <a:ext cx="225679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90" b="0">
                <a:solidFill>
                  <a:srgbClr val="333333"/>
                </a:solidFill>
                <a:latin typeface="Roboto Medium"/>
                <a:cs typeface="Roboto Medium"/>
              </a:rPr>
              <a:t>Background</a:t>
            </a:r>
            <a:r>
              <a:rPr dirty="0" sz="1700" spc="-3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700" spc="-3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60" b="0">
                <a:solidFill>
                  <a:srgbClr val="333333"/>
                </a:solidFill>
                <a:latin typeface="Roboto Medium"/>
                <a:cs typeface="Roboto Medium"/>
              </a:rPr>
              <a:t>Motivation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238874" y="20002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6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8" y="335519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353869" y="2042157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2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711950" y="1995699"/>
            <a:ext cx="174117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100" b="0">
                <a:solidFill>
                  <a:srgbClr val="333333"/>
                </a:solidFill>
                <a:latin typeface="Roboto Medium"/>
                <a:cs typeface="Roboto Medium"/>
              </a:rPr>
              <a:t>Problem</a:t>
            </a:r>
            <a:r>
              <a:rPr dirty="0" sz="1700" spc="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65" b="0">
                <a:solidFill>
                  <a:srgbClr val="333333"/>
                </a:solidFill>
                <a:latin typeface="Roboto Medium"/>
                <a:cs typeface="Roboto Medium"/>
              </a:rPr>
              <a:t>Statement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61999" y="262889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7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4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76994" y="2624349"/>
            <a:ext cx="1650364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0205" algn="l"/>
              </a:tabLst>
            </a:pPr>
            <a:r>
              <a:rPr dirty="0" baseline="2136" sz="1950" spc="-75" b="1">
                <a:solidFill>
                  <a:srgbClr val="FFFFFF"/>
                </a:solidFill>
                <a:latin typeface="Arial Nova"/>
                <a:cs typeface="Arial Nova"/>
              </a:rPr>
              <a:t>3</a:t>
            </a:r>
            <a:r>
              <a:rPr dirty="0" baseline="2136" sz="1950" b="1">
                <a:solidFill>
                  <a:srgbClr val="FFFFFF"/>
                </a:solidFill>
                <a:latin typeface="Arial Nova"/>
                <a:cs typeface="Arial Nova"/>
              </a:rPr>
              <a:t>	</a:t>
            </a:r>
            <a:r>
              <a:rPr dirty="0" sz="1700" spc="-95" b="0">
                <a:solidFill>
                  <a:srgbClr val="333333"/>
                </a:solidFill>
                <a:latin typeface="Roboto Medium"/>
                <a:cs typeface="Roboto Medium"/>
              </a:rPr>
              <a:t>System</a:t>
            </a:r>
            <a:r>
              <a:rPr dirty="0" sz="1700" spc="-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60" b="0">
                <a:solidFill>
                  <a:srgbClr val="333333"/>
                </a:solidFill>
                <a:latin typeface="Roboto Medium"/>
                <a:cs typeface="Roboto Medium"/>
              </a:rPr>
              <a:t>Model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238874" y="262889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7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4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353869" y="2624349"/>
            <a:ext cx="254444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0205" algn="l"/>
              </a:tabLst>
            </a:pPr>
            <a:r>
              <a:rPr dirty="0" baseline="2136" sz="1950" spc="-75" b="1">
                <a:solidFill>
                  <a:srgbClr val="FFFFFF"/>
                </a:solidFill>
                <a:latin typeface="Arial Nova"/>
                <a:cs typeface="Arial Nova"/>
              </a:rPr>
              <a:t>4</a:t>
            </a:r>
            <a:r>
              <a:rPr dirty="0" baseline="2136" sz="1950" b="1">
                <a:solidFill>
                  <a:srgbClr val="FFFFFF"/>
                </a:solidFill>
                <a:latin typeface="Arial Nova"/>
                <a:cs typeface="Arial Nova"/>
              </a:rPr>
              <a:t>	</a:t>
            </a:r>
            <a:r>
              <a:rPr dirty="0" sz="1700" spc="-100" b="0">
                <a:solidFill>
                  <a:srgbClr val="333333"/>
                </a:solidFill>
                <a:latin typeface="Roboto Medium"/>
                <a:cs typeface="Roboto Medium"/>
              </a:rPr>
              <a:t>EV</a:t>
            </a:r>
            <a:r>
              <a:rPr dirty="0" sz="1700" spc="-3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85" b="0">
                <a:solidFill>
                  <a:srgbClr val="333333"/>
                </a:solidFill>
                <a:latin typeface="Roboto Medium"/>
                <a:cs typeface="Roboto Medium"/>
              </a:rPr>
              <a:t>Aggregator</a:t>
            </a:r>
            <a:r>
              <a:rPr dirty="0" sz="1700" spc="-3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60" b="0">
                <a:solidFill>
                  <a:srgbClr val="333333"/>
                </a:solidFill>
                <a:latin typeface="Roboto Medium"/>
                <a:cs typeface="Roboto Medium"/>
              </a:rPr>
              <a:t>Modeling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61999" y="32575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5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20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9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76994" y="3299457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5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35074" y="3252999"/>
            <a:ext cx="344106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90" b="0">
                <a:solidFill>
                  <a:srgbClr val="333333"/>
                </a:solidFill>
                <a:latin typeface="Roboto Medium"/>
                <a:cs typeface="Roboto Medium"/>
              </a:rPr>
              <a:t>Control</a:t>
            </a:r>
            <a:r>
              <a:rPr dirty="0" sz="170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80" b="0">
                <a:solidFill>
                  <a:srgbClr val="333333"/>
                </a:solidFill>
                <a:latin typeface="Roboto Medium"/>
                <a:cs typeface="Roboto Medium"/>
              </a:rPr>
              <a:t>Strategies</a:t>
            </a:r>
            <a:r>
              <a:rPr dirty="0" sz="170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95" b="0">
                <a:solidFill>
                  <a:srgbClr val="333333"/>
                </a:solidFill>
                <a:latin typeface="Roboto Medium"/>
                <a:cs typeface="Roboto Medium"/>
              </a:rPr>
              <a:t>(MPC,</a:t>
            </a:r>
            <a:r>
              <a:rPr dirty="0" sz="170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70" b="0">
                <a:solidFill>
                  <a:srgbClr val="333333"/>
                </a:solidFill>
                <a:latin typeface="Roboto Medium"/>
                <a:cs typeface="Roboto Medium"/>
              </a:rPr>
              <a:t>RL,</a:t>
            </a:r>
            <a:r>
              <a:rPr dirty="0" sz="170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45" b="0">
                <a:solidFill>
                  <a:srgbClr val="333333"/>
                </a:solidFill>
                <a:latin typeface="Roboto Medium"/>
                <a:cs typeface="Roboto Medium"/>
              </a:rPr>
              <a:t>Adaptive)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238874" y="32575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5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20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8" y="335519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353869" y="3299457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6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11950" y="3252999"/>
            <a:ext cx="190563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80" b="0">
                <a:solidFill>
                  <a:srgbClr val="333333"/>
                </a:solidFill>
                <a:latin typeface="Roboto Medium"/>
                <a:cs typeface="Roboto Medium"/>
              </a:rPr>
              <a:t>Simulation</a:t>
            </a:r>
            <a:r>
              <a:rPr dirty="0" sz="1700" spc="-4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60" b="0">
                <a:solidFill>
                  <a:srgbClr val="333333"/>
                </a:solidFill>
                <a:latin typeface="Roboto Medium"/>
                <a:cs typeface="Roboto Medium"/>
              </a:rPr>
              <a:t>Scenarios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61999" y="388619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6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876994" y="3881649"/>
            <a:ext cx="299021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0205" algn="l"/>
              </a:tabLst>
            </a:pPr>
            <a:r>
              <a:rPr dirty="0" baseline="2136" sz="1950" spc="-75" b="1">
                <a:solidFill>
                  <a:srgbClr val="FFFFFF"/>
                </a:solidFill>
                <a:latin typeface="Arial Nova"/>
                <a:cs typeface="Arial Nova"/>
              </a:rPr>
              <a:t>7</a:t>
            </a:r>
            <a:r>
              <a:rPr dirty="0" baseline="2136" sz="1950" b="1">
                <a:solidFill>
                  <a:srgbClr val="FFFFFF"/>
                </a:solidFill>
                <a:latin typeface="Arial Nova"/>
                <a:cs typeface="Arial Nova"/>
              </a:rPr>
              <a:t>	</a:t>
            </a:r>
            <a:r>
              <a:rPr dirty="0" sz="1700" spc="-80" b="0">
                <a:solidFill>
                  <a:srgbClr val="333333"/>
                </a:solidFill>
                <a:latin typeface="Roboto Medium"/>
                <a:cs typeface="Roboto Medium"/>
              </a:rPr>
              <a:t>Results:</a:t>
            </a:r>
            <a:r>
              <a:rPr dirty="0" sz="1700" spc="2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95" b="0">
                <a:solidFill>
                  <a:srgbClr val="333333"/>
                </a:solidFill>
                <a:latin typeface="Roboto Medium"/>
                <a:cs typeface="Roboto Medium"/>
              </a:rPr>
              <a:t>Frequency</a:t>
            </a:r>
            <a:r>
              <a:rPr dirty="0" sz="1700" spc="3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60" b="0">
                <a:solidFill>
                  <a:srgbClr val="333333"/>
                </a:solidFill>
                <a:latin typeface="Roboto Medium"/>
                <a:cs typeface="Roboto Medium"/>
              </a:rPr>
              <a:t>Response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238874" y="388619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6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353869" y="3881649"/>
            <a:ext cx="301561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0205" algn="l"/>
              </a:tabLst>
            </a:pPr>
            <a:r>
              <a:rPr dirty="0" baseline="2136" sz="1950" spc="-75" b="1">
                <a:solidFill>
                  <a:srgbClr val="FFFFFF"/>
                </a:solidFill>
                <a:latin typeface="Arial Nova"/>
                <a:cs typeface="Arial Nova"/>
              </a:rPr>
              <a:t>8</a:t>
            </a:r>
            <a:r>
              <a:rPr dirty="0" baseline="2136" sz="1950" b="1">
                <a:solidFill>
                  <a:srgbClr val="FFFFFF"/>
                </a:solidFill>
                <a:latin typeface="Arial Nova"/>
                <a:cs typeface="Arial Nova"/>
              </a:rPr>
              <a:t>	</a:t>
            </a:r>
            <a:r>
              <a:rPr dirty="0" sz="1700" spc="-80" b="0">
                <a:solidFill>
                  <a:srgbClr val="333333"/>
                </a:solidFill>
                <a:latin typeface="Roboto Medium"/>
                <a:cs typeface="Roboto Medium"/>
              </a:rPr>
              <a:t>Results:</a:t>
            </a:r>
            <a:r>
              <a:rPr dirty="0" sz="17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100" b="0">
                <a:solidFill>
                  <a:srgbClr val="333333"/>
                </a:solidFill>
                <a:latin typeface="Roboto Medium"/>
                <a:cs typeface="Roboto Medium"/>
              </a:rPr>
              <a:t>EV</a:t>
            </a:r>
            <a:r>
              <a:rPr dirty="0" sz="17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80" b="0">
                <a:solidFill>
                  <a:srgbClr val="333333"/>
                </a:solidFill>
                <a:latin typeface="Roboto Medium"/>
                <a:cs typeface="Roboto Medium"/>
              </a:rPr>
              <a:t>Fleet</a:t>
            </a:r>
            <a:r>
              <a:rPr dirty="0" sz="17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7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45" b="0">
                <a:solidFill>
                  <a:srgbClr val="333333"/>
                </a:solidFill>
                <a:latin typeface="Roboto Medium"/>
                <a:cs typeface="Roboto Medium"/>
              </a:rPr>
              <a:t>Sensitivity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761999" y="45148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80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876994" y="4556756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9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235074" y="4510299"/>
            <a:ext cx="235394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100" b="0">
                <a:solidFill>
                  <a:srgbClr val="333333"/>
                </a:solidFill>
                <a:latin typeface="Roboto Medium"/>
                <a:cs typeface="Roboto Medium"/>
              </a:rPr>
              <a:t>Key</a:t>
            </a:r>
            <a:r>
              <a:rPr dirty="0" sz="17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85" b="0">
                <a:solidFill>
                  <a:srgbClr val="333333"/>
                </a:solidFill>
                <a:latin typeface="Roboto Medium"/>
                <a:cs typeface="Roboto Medium"/>
              </a:rPr>
              <a:t>Findings</a:t>
            </a:r>
            <a:r>
              <a:rPr dirty="0" sz="1700" spc="-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7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65" b="0">
                <a:solidFill>
                  <a:srgbClr val="333333"/>
                </a:solidFill>
                <a:latin typeface="Roboto Medium"/>
                <a:cs typeface="Roboto Medium"/>
              </a:rPr>
              <a:t>Discussion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238874" y="45148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4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310113" y="4556756"/>
            <a:ext cx="20066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10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711950" y="4510299"/>
            <a:ext cx="241808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85" b="0">
                <a:solidFill>
                  <a:srgbClr val="333333"/>
                </a:solidFill>
                <a:latin typeface="Roboto Medium"/>
                <a:cs typeface="Roboto Medium"/>
              </a:rPr>
              <a:t>Conclusions</a:t>
            </a:r>
            <a:r>
              <a:rPr dirty="0" sz="17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7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90" b="0">
                <a:solidFill>
                  <a:srgbClr val="333333"/>
                </a:solidFill>
                <a:latin typeface="Roboto Medium"/>
                <a:cs typeface="Roboto Medium"/>
              </a:rPr>
              <a:t>Future</a:t>
            </a:r>
            <a:r>
              <a:rPr dirty="0" sz="17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700" spc="-35" b="0">
                <a:solidFill>
                  <a:srgbClr val="333333"/>
                </a:solidFill>
                <a:latin typeface="Roboto Medium"/>
                <a:cs typeface="Roboto Medium"/>
              </a:rPr>
              <a:t>Work</a:t>
            </a:r>
            <a:endParaRPr sz="1700">
              <a:latin typeface="Roboto Medium"/>
              <a:cs typeface="Roboto Medium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3267075" y="5267324"/>
            <a:ext cx="514350" cy="400050"/>
          </a:xfrm>
          <a:custGeom>
            <a:avLst/>
            <a:gdLst/>
            <a:ahLst/>
            <a:cxnLst/>
            <a:rect l="l" t="t" r="r" b="b"/>
            <a:pathLst>
              <a:path w="514350" h="400050">
                <a:moveTo>
                  <a:pt x="328612" y="400050"/>
                </a:moveTo>
                <a:lnTo>
                  <a:pt x="242887" y="400050"/>
                </a:lnTo>
                <a:lnTo>
                  <a:pt x="226207" y="396680"/>
                </a:lnTo>
                <a:lnTo>
                  <a:pt x="212582" y="387492"/>
                </a:lnTo>
                <a:lnTo>
                  <a:pt x="203394" y="373867"/>
                </a:lnTo>
                <a:lnTo>
                  <a:pt x="200025" y="357187"/>
                </a:lnTo>
                <a:lnTo>
                  <a:pt x="200025" y="269944"/>
                </a:lnTo>
                <a:lnTo>
                  <a:pt x="200114" y="268426"/>
                </a:lnTo>
                <a:lnTo>
                  <a:pt x="200292" y="266997"/>
                </a:lnTo>
                <a:lnTo>
                  <a:pt x="128587" y="171450"/>
                </a:lnTo>
                <a:lnTo>
                  <a:pt x="42862" y="171450"/>
                </a:lnTo>
                <a:lnTo>
                  <a:pt x="26182" y="168080"/>
                </a:lnTo>
                <a:lnTo>
                  <a:pt x="12557" y="158892"/>
                </a:lnTo>
                <a:lnTo>
                  <a:pt x="3369" y="145267"/>
                </a:lnTo>
                <a:lnTo>
                  <a:pt x="0" y="128587"/>
                </a:lnTo>
                <a:lnTo>
                  <a:pt x="0" y="42862"/>
                </a:lnTo>
                <a:lnTo>
                  <a:pt x="3369" y="26182"/>
                </a:lnTo>
                <a:lnTo>
                  <a:pt x="12557" y="12557"/>
                </a:lnTo>
                <a:lnTo>
                  <a:pt x="26182" y="3369"/>
                </a:lnTo>
                <a:lnTo>
                  <a:pt x="42862" y="0"/>
                </a:lnTo>
                <a:lnTo>
                  <a:pt x="128587" y="0"/>
                </a:lnTo>
                <a:lnTo>
                  <a:pt x="145267" y="3369"/>
                </a:lnTo>
                <a:lnTo>
                  <a:pt x="158892" y="12557"/>
                </a:lnTo>
                <a:lnTo>
                  <a:pt x="168080" y="26182"/>
                </a:lnTo>
                <a:lnTo>
                  <a:pt x="171450" y="42862"/>
                </a:lnTo>
                <a:lnTo>
                  <a:pt x="171450" y="57150"/>
                </a:lnTo>
                <a:lnTo>
                  <a:pt x="342900" y="57150"/>
                </a:lnTo>
                <a:lnTo>
                  <a:pt x="342900" y="42862"/>
                </a:lnTo>
                <a:lnTo>
                  <a:pt x="346269" y="26182"/>
                </a:lnTo>
                <a:lnTo>
                  <a:pt x="355457" y="12557"/>
                </a:lnTo>
                <a:lnTo>
                  <a:pt x="369082" y="3369"/>
                </a:lnTo>
                <a:lnTo>
                  <a:pt x="385762" y="0"/>
                </a:lnTo>
                <a:lnTo>
                  <a:pt x="471487" y="0"/>
                </a:lnTo>
                <a:lnTo>
                  <a:pt x="488167" y="3369"/>
                </a:lnTo>
                <a:lnTo>
                  <a:pt x="501792" y="12557"/>
                </a:lnTo>
                <a:lnTo>
                  <a:pt x="510980" y="26182"/>
                </a:lnTo>
                <a:lnTo>
                  <a:pt x="514350" y="42862"/>
                </a:lnTo>
                <a:lnTo>
                  <a:pt x="514350" y="128587"/>
                </a:lnTo>
                <a:lnTo>
                  <a:pt x="510980" y="145267"/>
                </a:lnTo>
                <a:lnTo>
                  <a:pt x="501792" y="158892"/>
                </a:lnTo>
                <a:lnTo>
                  <a:pt x="488167" y="168080"/>
                </a:lnTo>
                <a:lnTo>
                  <a:pt x="471487" y="171450"/>
                </a:lnTo>
                <a:lnTo>
                  <a:pt x="385762" y="171450"/>
                </a:lnTo>
                <a:lnTo>
                  <a:pt x="369082" y="168080"/>
                </a:lnTo>
                <a:lnTo>
                  <a:pt x="355457" y="158892"/>
                </a:lnTo>
                <a:lnTo>
                  <a:pt x="346269" y="145267"/>
                </a:lnTo>
                <a:lnTo>
                  <a:pt x="342900" y="128587"/>
                </a:lnTo>
                <a:lnTo>
                  <a:pt x="342900" y="114300"/>
                </a:lnTo>
                <a:lnTo>
                  <a:pt x="171450" y="114300"/>
                </a:lnTo>
                <a:lnTo>
                  <a:pt x="171450" y="130105"/>
                </a:lnTo>
                <a:lnTo>
                  <a:pt x="171360" y="131623"/>
                </a:lnTo>
                <a:lnTo>
                  <a:pt x="171182" y="133052"/>
                </a:lnTo>
                <a:lnTo>
                  <a:pt x="242887" y="228600"/>
                </a:lnTo>
                <a:lnTo>
                  <a:pt x="328612" y="228600"/>
                </a:lnTo>
                <a:lnTo>
                  <a:pt x="345292" y="231969"/>
                </a:lnTo>
                <a:lnTo>
                  <a:pt x="358917" y="241157"/>
                </a:lnTo>
                <a:lnTo>
                  <a:pt x="368105" y="254782"/>
                </a:lnTo>
                <a:lnTo>
                  <a:pt x="371475" y="271462"/>
                </a:lnTo>
                <a:lnTo>
                  <a:pt x="371475" y="357187"/>
                </a:lnTo>
                <a:lnTo>
                  <a:pt x="368105" y="373867"/>
                </a:lnTo>
                <a:lnTo>
                  <a:pt x="358917" y="387492"/>
                </a:lnTo>
                <a:lnTo>
                  <a:pt x="345292" y="396680"/>
                </a:lnTo>
                <a:lnTo>
                  <a:pt x="328612" y="400050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3933824" y="545782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5000624" y="5295899"/>
            <a:ext cx="457200" cy="342900"/>
          </a:xfrm>
          <a:custGeom>
            <a:avLst/>
            <a:gdLst/>
            <a:ahLst/>
            <a:cxnLst/>
            <a:rect l="l" t="t" r="r" b="b"/>
            <a:pathLst>
              <a:path w="457200" h="342900">
                <a:moveTo>
                  <a:pt x="185737" y="28575"/>
                </a:moveTo>
                <a:lnTo>
                  <a:pt x="71437" y="28575"/>
                </a:lnTo>
                <a:lnTo>
                  <a:pt x="73679" y="17442"/>
                </a:lnTo>
                <a:lnTo>
                  <a:pt x="79797" y="8360"/>
                </a:lnTo>
                <a:lnTo>
                  <a:pt x="88879" y="2242"/>
                </a:lnTo>
                <a:lnTo>
                  <a:pt x="100012" y="0"/>
                </a:lnTo>
                <a:lnTo>
                  <a:pt x="157162" y="0"/>
                </a:lnTo>
                <a:lnTo>
                  <a:pt x="168295" y="2242"/>
                </a:lnTo>
                <a:lnTo>
                  <a:pt x="177377" y="8360"/>
                </a:lnTo>
                <a:lnTo>
                  <a:pt x="183495" y="17442"/>
                </a:lnTo>
                <a:lnTo>
                  <a:pt x="185737" y="28575"/>
                </a:lnTo>
                <a:close/>
              </a:path>
              <a:path w="457200" h="342900">
                <a:moveTo>
                  <a:pt x="385762" y="28575"/>
                </a:moveTo>
                <a:lnTo>
                  <a:pt x="271462" y="28575"/>
                </a:lnTo>
                <a:lnTo>
                  <a:pt x="273704" y="17442"/>
                </a:lnTo>
                <a:lnTo>
                  <a:pt x="279822" y="8360"/>
                </a:lnTo>
                <a:lnTo>
                  <a:pt x="288904" y="2242"/>
                </a:lnTo>
                <a:lnTo>
                  <a:pt x="300037" y="0"/>
                </a:lnTo>
                <a:lnTo>
                  <a:pt x="357187" y="0"/>
                </a:lnTo>
                <a:lnTo>
                  <a:pt x="368320" y="2242"/>
                </a:lnTo>
                <a:lnTo>
                  <a:pt x="377402" y="8360"/>
                </a:lnTo>
                <a:lnTo>
                  <a:pt x="383520" y="17442"/>
                </a:lnTo>
                <a:lnTo>
                  <a:pt x="385762" y="28575"/>
                </a:lnTo>
                <a:close/>
              </a:path>
              <a:path w="457200" h="342900">
                <a:moveTo>
                  <a:pt x="400050" y="342900"/>
                </a:moveTo>
                <a:lnTo>
                  <a:pt x="57150" y="342900"/>
                </a:lnTo>
                <a:lnTo>
                  <a:pt x="34922" y="338403"/>
                </a:lnTo>
                <a:lnTo>
                  <a:pt x="16754" y="326145"/>
                </a:lnTo>
                <a:lnTo>
                  <a:pt x="4496" y="307977"/>
                </a:lnTo>
                <a:lnTo>
                  <a:pt x="0" y="285750"/>
                </a:lnTo>
                <a:lnTo>
                  <a:pt x="0" y="85725"/>
                </a:lnTo>
                <a:lnTo>
                  <a:pt x="4496" y="63497"/>
                </a:lnTo>
                <a:lnTo>
                  <a:pt x="16754" y="45329"/>
                </a:lnTo>
                <a:lnTo>
                  <a:pt x="34922" y="33071"/>
                </a:lnTo>
                <a:lnTo>
                  <a:pt x="57150" y="28575"/>
                </a:lnTo>
                <a:lnTo>
                  <a:pt x="400050" y="28575"/>
                </a:lnTo>
                <a:lnTo>
                  <a:pt x="422277" y="33071"/>
                </a:lnTo>
                <a:lnTo>
                  <a:pt x="440445" y="45329"/>
                </a:lnTo>
                <a:lnTo>
                  <a:pt x="452703" y="63497"/>
                </a:lnTo>
                <a:lnTo>
                  <a:pt x="457200" y="85725"/>
                </a:lnTo>
                <a:lnTo>
                  <a:pt x="457200" y="100012"/>
                </a:lnTo>
                <a:lnTo>
                  <a:pt x="320754" y="100012"/>
                </a:lnTo>
                <a:lnTo>
                  <a:pt x="314325" y="106441"/>
                </a:lnTo>
                <a:lnTo>
                  <a:pt x="314325" y="142875"/>
                </a:lnTo>
                <a:lnTo>
                  <a:pt x="77866" y="142875"/>
                </a:lnTo>
                <a:lnTo>
                  <a:pt x="71437" y="149304"/>
                </a:lnTo>
                <a:lnTo>
                  <a:pt x="71437" y="165020"/>
                </a:lnTo>
                <a:lnTo>
                  <a:pt x="77866" y="171450"/>
                </a:lnTo>
                <a:lnTo>
                  <a:pt x="314325" y="171450"/>
                </a:lnTo>
                <a:lnTo>
                  <a:pt x="314325" y="207883"/>
                </a:lnTo>
                <a:lnTo>
                  <a:pt x="320754" y="214312"/>
                </a:lnTo>
                <a:lnTo>
                  <a:pt x="457200" y="214312"/>
                </a:lnTo>
                <a:lnTo>
                  <a:pt x="457200" y="285750"/>
                </a:lnTo>
                <a:lnTo>
                  <a:pt x="452703" y="307977"/>
                </a:lnTo>
                <a:lnTo>
                  <a:pt x="440445" y="326145"/>
                </a:lnTo>
                <a:lnTo>
                  <a:pt x="422277" y="338403"/>
                </a:lnTo>
                <a:lnTo>
                  <a:pt x="400050" y="342900"/>
                </a:lnTo>
                <a:close/>
              </a:path>
              <a:path w="457200" h="342900">
                <a:moveTo>
                  <a:pt x="457200" y="214312"/>
                </a:moveTo>
                <a:lnTo>
                  <a:pt x="336470" y="214312"/>
                </a:lnTo>
                <a:lnTo>
                  <a:pt x="342900" y="207883"/>
                </a:lnTo>
                <a:lnTo>
                  <a:pt x="342900" y="171450"/>
                </a:lnTo>
                <a:lnTo>
                  <a:pt x="379333" y="171450"/>
                </a:lnTo>
                <a:lnTo>
                  <a:pt x="385762" y="165020"/>
                </a:lnTo>
                <a:lnTo>
                  <a:pt x="385762" y="149304"/>
                </a:lnTo>
                <a:lnTo>
                  <a:pt x="379333" y="142875"/>
                </a:lnTo>
                <a:lnTo>
                  <a:pt x="342900" y="142875"/>
                </a:lnTo>
                <a:lnTo>
                  <a:pt x="342900" y="106441"/>
                </a:lnTo>
                <a:lnTo>
                  <a:pt x="336470" y="100012"/>
                </a:lnTo>
                <a:lnTo>
                  <a:pt x="457200" y="100012"/>
                </a:lnTo>
                <a:lnTo>
                  <a:pt x="457200" y="214312"/>
                </a:lnTo>
                <a:close/>
              </a:path>
              <a:path w="457200" h="342900">
                <a:moveTo>
                  <a:pt x="277891" y="171450"/>
                </a:moveTo>
                <a:lnTo>
                  <a:pt x="179308" y="171450"/>
                </a:lnTo>
                <a:lnTo>
                  <a:pt x="185737" y="165020"/>
                </a:lnTo>
                <a:lnTo>
                  <a:pt x="185737" y="149304"/>
                </a:lnTo>
                <a:lnTo>
                  <a:pt x="179308" y="142875"/>
                </a:lnTo>
                <a:lnTo>
                  <a:pt x="277891" y="142875"/>
                </a:lnTo>
                <a:lnTo>
                  <a:pt x="271462" y="149304"/>
                </a:lnTo>
                <a:lnTo>
                  <a:pt x="271462" y="165020"/>
                </a:lnTo>
                <a:lnTo>
                  <a:pt x="277891" y="171450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5610224" y="545782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6677025" y="5267324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428625" y="400050"/>
                </a:moveTo>
                <a:lnTo>
                  <a:pt x="71437" y="400050"/>
                </a:lnTo>
                <a:lnTo>
                  <a:pt x="43624" y="394438"/>
                </a:lnTo>
                <a:lnTo>
                  <a:pt x="20917" y="379132"/>
                </a:lnTo>
                <a:lnTo>
                  <a:pt x="5611" y="356425"/>
                </a:lnTo>
                <a:lnTo>
                  <a:pt x="0" y="328612"/>
                </a:lnTo>
                <a:lnTo>
                  <a:pt x="0" y="28575"/>
                </a:lnTo>
                <a:lnTo>
                  <a:pt x="2242" y="17442"/>
                </a:lnTo>
                <a:lnTo>
                  <a:pt x="8360" y="8360"/>
                </a:lnTo>
                <a:lnTo>
                  <a:pt x="17442" y="2242"/>
                </a:lnTo>
                <a:lnTo>
                  <a:pt x="28575" y="0"/>
                </a:lnTo>
                <a:lnTo>
                  <a:pt x="39707" y="2242"/>
                </a:lnTo>
                <a:lnTo>
                  <a:pt x="48789" y="8360"/>
                </a:lnTo>
                <a:lnTo>
                  <a:pt x="54907" y="17442"/>
                </a:lnTo>
                <a:lnTo>
                  <a:pt x="57150" y="28575"/>
                </a:lnTo>
                <a:lnTo>
                  <a:pt x="57150" y="336470"/>
                </a:lnTo>
                <a:lnTo>
                  <a:pt x="63579" y="342900"/>
                </a:lnTo>
                <a:lnTo>
                  <a:pt x="428625" y="342900"/>
                </a:lnTo>
                <a:lnTo>
                  <a:pt x="439757" y="345142"/>
                </a:lnTo>
                <a:lnTo>
                  <a:pt x="448839" y="351260"/>
                </a:lnTo>
                <a:lnTo>
                  <a:pt x="454957" y="360342"/>
                </a:lnTo>
                <a:lnTo>
                  <a:pt x="457200" y="371475"/>
                </a:lnTo>
                <a:lnTo>
                  <a:pt x="454957" y="382607"/>
                </a:lnTo>
                <a:lnTo>
                  <a:pt x="448839" y="391689"/>
                </a:lnTo>
                <a:lnTo>
                  <a:pt x="439757" y="397807"/>
                </a:lnTo>
                <a:lnTo>
                  <a:pt x="428625" y="400050"/>
                </a:lnTo>
                <a:close/>
              </a:path>
              <a:path w="457200" h="400050">
                <a:moveTo>
                  <a:pt x="366742" y="159573"/>
                </a:moveTo>
                <a:lnTo>
                  <a:pt x="285750" y="159573"/>
                </a:lnTo>
                <a:lnTo>
                  <a:pt x="379779" y="65454"/>
                </a:lnTo>
                <a:lnTo>
                  <a:pt x="389239" y="59175"/>
                </a:lnTo>
                <a:lnTo>
                  <a:pt x="400005" y="57083"/>
                </a:lnTo>
                <a:lnTo>
                  <a:pt x="410771" y="59175"/>
                </a:lnTo>
                <a:lnTo>
                  <a:pt x="420231" y="65454"/>
                </a:lnTo>
                <a:lnTo>
                  <a:pt x="426509" y="74914"/>
                </a:lnTo>
                <a:lnTo>
                  <a:pt x="428602" y="85680"/>
                </a:lnTo>
                <a:lnTo>
                  <a:pt x="426509" y="96446"/>
                </a:lnTo>
                <a:lnTo>
                  <a:pt x="419878" y="106437"/>
                </a:lnTo>
                <a:lnTo>
                  <a:pt x="366742" y="159573"/>
                </a:lnTo>
                <a:close/>
              </a:path>
              <a:path w="457200" h="400050">
                <a:moveTo>
                  <a:pt x="114255" y="257152"/>
                </a:moveTo>
                <a:lnTo>
                  <a:pt x="103489" y="255059"/>
                </a:lnTo>
                <a:lnTo>
                  <a:pt x="94029" y="248781"/>
                </a:lnTo>
                <a:lnTo>
                  <a:pt x="87750" y="239321"/>
                </a:lnTo>
                <a:lnTo>
                  <a:pt x="85658" y="228555"/>
                </a:lnTo>
                <a:lnTo>
                  <a:pt x="87750" y="217789"/>
                </a:lnTo>
                <a:lnTo>
                  <a:pt x="94029" y="208329"/>
                </a:lnTo>
                <a:lnTo>
                  <a:pt x="194042" y="108317"/>
                </a:lnTo>
                <a:lnTo>
                  <a:pt x="203501" y="102038"/>
                </a:lnTo>
                <a:lnTo>
                  <a:pt x="214267" y="99945"/>
                </a:lnTo>
                <a:lnTo>
                  <a:pt x="225033" y="102038"/>
                </a:lnTo>
                <a:lnTo>
                  <a:pt x="234493" y="108317"/>
                </a:lnTo>
                <a:lnTo>
                  <a:pt x="285750" y="159573"/>
                </a:lnTo>
                <a:lnTo>
                  <a:pt x="366742" y="159573"/>
                </a:lnTo>
                <a:lnTo>
                  <a:pt x="357276" y="169038"/>
                </a:lnTo>
                <a:lnTo>
                  <a:pt x="214312" y="169038"/>
                </a:lnTo>
                <a:lnTo>
                  <a:pt x="134481" y="248781"/>
                </a:lnTo>
                <a:lnTo>
                  <a:pt x="125021" y="255059"/>
                </a:lnTo>
                <a:lnTo>
                  <a:pt x="114255" y="257152"/>
                </a:lnTo>
                <a:close/>
              </a:path>
              <a:path w="457200" h="400050">
                <a:moveTo>
                  <a:pt x="419878" y="106437"/>
                </a:moveTo>
                <a:lnTo>
                  <a:pt x="420217" y="105926"/>
                </a:lnTo>
                <a:lnTo>
                  <a:pt x="420388" y="105926"/>
                </a:lnTo>
                <a:lnTo>
                  <a:pt x="419878" y="106437"/>
                </a:lnTo>
                <a:close/>
              </a:path>
              <a:path w="457200" h="400050">
                <a:moveTo>
                  <a:pt x="286368" y="228555"/>
                </a:moveTo>
                <a:lnTo>
                  <a:pt x="285220" y="228555"/>
                </a:lnTo>
                <a:lnTo>
                  <a:pt x="275028" y="226574"/>
                </a:lnTo>
                <a:lnTo>
                  <a:pt x="265568" y="220295"/>
                </a:lnTo>
                <a:lnTo>
                  <a:pt x="214312" y="169038"/>
                </a:lnTo>
                <a:lnTo>
                  <a:pt x="357276" y="169038"/>
                </a:lnTo>
                <a:lnTo>
                  <a:pt x="306020" y="220295"/>
                </a:lnTo>
                <a:lnTo>
                  <a:pt x="296560" y="226574"/>
                </a:lnTo>
                <a:lnTo>
                  <a:pt x="286368" y="228555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7286624" y="545782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8356737" y="5245893"/>
            <a:ext cx="561340" cy="445770"/>
          </a:xfrm>
          <a:custGeom>
            <a:avLst/>
            <a:gdLst/>
            <a:ahLst/>
            <a:cxnLst/>
            <a:rect l="l" t="t" r="r" b="b"/>
            <a:pathLst>
              <a:path w="561340" h="445770">
                <a:moveTo>
                  <a:pt x="212161" y="60960"/>
                </a:moveTo>
                <a:lnTo>
                  <a:pt x="67053" y="60960"/>
                </a:lnTo>
                <a:lnTo>
                  <a:pt x="74465" y="55880"/>
                </a:lnTo>
                <a:lnTo>
                  <a:pt x="82345" y="50800"/>
                </a:lnTo>
                <a:lnTo>
                  <a:pt x="90661" y="45720"/>
                </a:lnTo>
                <a:lnTo>
                  <a:pt x="99379" y="41910"/>
                </a:lnTo>
                <a:lnTo>
                  <a:pt x="104826" y="16510"/>
                </a:lnTo>
                <a:lnTo>
                  <a:pt x="106522" y="7620"/>
                </a:lnTo>
                <a:lnTo>
                  <a:pt x="112952" y="1270"/>
                </a:lnTo>
                <a:lnTo>
                  <a:pt x="121346" y="0"/>
                </a:lnTo>
                <a:lnTo>
                  <a:pt x="157868" y="0"/>
                </a:lnTo>
                <a:lnTo>
                  <a:pt x="166262" y="1270"/>
                </a:lnTo>
                <a:lnTo>
                  <a:pt x="172691" y="7620"/>
                </a:lnTo>
                <a:lnTo>
                  <a:pt x="174388" y="16510"/>
                </a:lnTo>
                <a:lnTo>
                  <a:pt x="179835" y="41910"/>
                </a:lnTo>
                <a:lnTo>
                  <a:pt x="188515" y="45720"/>
                </a:lnTo>
                <a:lnTo>
                  <a:pt x="196835" y="50800"/>
                </a:lnTo>
                <a:lnTo>
                  <a:pt x="204736" y="55880"/>
                </a:lnTo>
                <a:lnTo>
                  <a:pt x="212161" y="60960"/>
                </a:lnTo>
                <a:close/>
              </a:path>
              <a:path w="561340" h="445770">
                <a:moveTo>
                  <a:pt x="33745" y="248920"/>
                </a:moveTo>
                <a:lnTo>
                  <a:pt x="24816" y="246380"/>
                </a:lnTo>
                <a:lnTo>
                  <a:pt x="19726" y="240030"/>
                </a:lnTo>
                <a:lnTo>
                  <a:pt x="16511" y="234950"/>
                </a:lnTo>
                <a:lnTo>
                  <a:pt x="13564" y="231140"/>
                </a:lnTo>
                <a:lnTo>
                  <a:pt x="10885" y="226060"/>
                </a:lnTo>
                <a:lnTo>
                  <a:pt x="8206" y="222250"/>
                </a:lnTo>
                <a:lnTo>
                  <a:pt x="5706" y="217170"/>
                </a:lnTo>
                <a:lnTo>
                  <a:pt x="3474" y="213360"/>
                </a:lnTo>
                <a:lnTo>
                  <a:pt x="1420" y="208280"/>
                </a:lnTo>
                <a:lnTo>
                  <a:pt x="0" y="201930"/>
                </a:lnTo>
                <a:lnTo>
                  <a:pt x="572" y="195580"/>
                </a:lnTo>
                <a:lnTo>
                  <a:pt x="2952" y="190500"/>
                </a:lnTo>
                <a:lnTo>
                  <a:pt x="6956" y="185420"/>
                </a:lnTo>
                <a:lnTo>
                  <a:pt x="26780" y="167640"/>
                </a:lnTo>
                <a:lnTo>
                  <a:pt x="25798" y="162560"/>
                </a:lnTo>
                <a:lnTo>
                  <a:pt x="25262" y="156210"/>
                </a:lnTo>
                <a:lnTo>
                  <a:pt x="25262" y="143510"/>
                </a:lnTo>
                <a:lnTo>
                  <a:pt x="25691" y="138430"/>
                </a:lnTo>
                <a:lnTo>
                  <a:pt x="25798" y="137160"/>
                </a:lnTo>
                <a:lnTo>
                  <a:pt x="26780" y="130810"/>
                </a:lnTo>
                <a:lnTo>
                  <a:pt x="6956" y="113030"/>
                </a:lnTo>
                <a:lnTo>
                  <a:pt x="2952" y="107950"/>
                </a:lnTo>
                <a:lnTo>
                  <a:pt x="572" y="102870"/>
                </a:lnTo>
                <a:lnTo>
                  <a:pt x="0" y="96520"/>
                </a:lnTo>
                <a:lnTo>
                  <a:pt x="1420" y="91440"/>
                </a:lnTo>
                <a:lnTo>
                  <a:pt x="3474" y="86360"/>
                </a:lnTo>
                <a:lnTo>
                  <a:pt x="5706" y="81280"/>
                </a:lnTo>
                <a:lnTo>
                  <a:pt x="10885" y="72390"/>
                </a:lnTo>
                <a:lnTo>
                  <a:pt x="13654" y="67310"/>
                </a:lnTo>
                <a:lnTo>
                  <a:pt x="16600" y="63500"/>
                </a:lnTo>
                <a:lnTo>
                  <a:pt x="24816" y="52070"/>
                </a:lnTo>
                <a:lnTo>
                  <a:pt x="33745" y="49530"/>
                </a:lnTo>
                <a:lnTo>
                  <a:pt x="41782" y="53340"/>
                </a:lnTo>
                <a:lnTo>
                  <a:pt x="67053" y="60960"/>
                </a:lnTo>
                <a:lnTo>
                  <a:pt x="260698" y="60960"/>
                </a:lnTo>
                <a:lnTo>
                  <a:pt x="262524" y="63500"/>
                </a:lnTo>
                <a:lnTo>
                  <a:pt x="265471" y="67310"/>
                </a:lnTo>
                <a:lnTo>
                  <a:pt x="268150" y="72390"/>
                </a:lnTo>
                <a:lnTo>
                  <a:pt x="270918" y="77470"/>
                </a:lnTo>
                <a:lnTo>
                  <a:pt x="273418" y="81280"/>
                </a:lnTo>
                <a:lnTo>
                  <a:pt x="275651" y="86360"/>
                </a:lnTo>
                <a:lnTo>
                  <a:pt x="277704" y="90170"/>
                </a:lnTo>
                <a:lnTo>
                  <a:pt x="279125" y="96520"/>
                </a:lnTo>
                <a:lnTo>
                  <a:pt x="278553" y="102870"/>
                </a:lnTo>
                <a:lnTo>
                  <a:pt x="276767" y="106680"/>
                </a:lnTo>
                <a:lnTo>
                  <a:pt x="133878" y="106680"/>
                </a:lnTo>
                <a:lnTo>
                  <a:pt x="128411" y="107950"/>
                </a:lnTo>
                <a:lnTo>
                  <a:pt x="97787" y="138430"/>
                </a:lnTo>
                <a:lnTo>
                  <a:pt x="96700" y="143510"/>
                </a:lnTo>
                <a:lnTo>
                  <a:pt x="96700" y="154940"/>
                </a:lnTo>
                <a:lnTo>
                  <a:pt x="117908" y="186690"/>
                </a:lnTo>
                <a:lnTo>
                  <a:pt x="128411" y="191770"/>
                </a:lnTo>
                <a:lnTo>
                  <a:pt x="276589" y="191770"/>
                </a:lnTo>
                <a:lnTo>
                  <a:pt x="278374" y="195580"/>
                </a:lnTo>
                <a:lnTo>
                  <a:pt x="278832" y="200660"/>
                </a:lnTo>
                <a:lnTo>
                  <a:pt x="278946" y="201930"/>
                </a:lnTo>
                <a:lnTo>
                  <a:pt x="277526" y="208280"/>
                </a:lnTo>
                <a:lnTo>
                  <a:pt x="275472" y="212090"/>
                </a:lnTo>
                <a:lnTo>
                  <a:pt x="273240" y="217170"/>
                </a:lnTo>
                <a:lnTo>
                  <a:pt x="270739" y="222250"/>
                </a:lnTo>
                <a:lnTo>
                  <a:pt x="267971" y="226060"/>
                </a:lnTo>
                <a:lnTo>
                  <a:pt x="265292" y="231140"/>
                </a:lnTo>
                <a:lnTo>
                  <a:pt x="262345" y="234950"/>
                </a:lnTo>
                <a:lnTo>
                  <a:pt x="260520" y="237490"/>
                </a:lnTo>
                <a:lnTo>
                  <a:pt x="66964" y="237490"/>
                </a:lnTo>
                <a:lnTo>
                  <a:pt x="41782" y="246380"/>
                </a:lnTo>
                <a:lnTo>
                  <a:pt x="33745" y="248920"/>
                </a:lnTo>
                <a:close/>
              </a:path>
              <a:path w="561340" h="445770">
                <a:moveTo>
                  <a:pt x="260698" y="60960"/>
                </a:moveTo>
                <a:lnTo>
                  <a:pt x="212161" y="60960"/>
                </a:lnTo>
                <a:lnTo>
                  <a:pt x="237342" y="52070"/>
                </a:lnTo>
                <a:lnTo>
                  <a:pt x="245379" y="49530"/>
                </a:lnTo>
                <a:lnTo>
                  <a:pt x="254309" y="52070"/>
                </a:lnTo>
                <a:lnTo>
                  <a:pt x="260698" y="60960"/>
                </a:lnTo>
                <a:close/>
              </a:path>
              <a:path w="561340" h="445770">
                <a:moveTo>
                  <a:pt x="276589" y="191770"/>
                </a:moveTo>
                <a:lnTo>
                  <a:pt x="150714" y="191770"/>
                </a:lnTo>
                <a:lnTo>
                  <a:pt x="161216" y="186690"/>
                </a:lnTo>
                <a:lnTo>
                  <a:pt x="165851" y="184150"/>
                </a:lnTo>
                <a:lnTo>
                  <a:pt x="173890" y="175260"/>
                </a:lnTo>
                <a:lnTo>
                  <a:pt x="176987" y="171450"/>
                </a:lnTo>
                <a:lnTo>
                  <a:pt x="181337" y="160020"/>
                </a:lnTo>
                <a:lnTo>
                  <a:pt x="182425" y="154940"/>
                </a:lnTo>
                <a:lnTo>
                  <a:pt x="182425" y="143510"/>
                </a:lnTo>
                <a:lnTo>
                  <a:pt x="161216" y="111760"/>
                </a:lnTo>
                <a:lnTo>
                  <a:pt x="145246" y="106680"/>
                </a:lnTo>
                <a:lnTo>
                  <a:pt x="276767" y="106680"/>
                </a:lnTo>
                <a:lnTo>
                  <a:pt x="276172" y="107950"/>
                </a:lnTo>
                <a:lnTo>
                  <a:pt x="272168" y="113030"/>
                </a:lnTo>
                <a:lnTo>
                  <a:pt x="271989" y="113030"/>
                </a:lnTo>
                <a:lnTo>
                  <a:pt x="252165" y="130810"/>
                </a:lnTo>
                <a:lnTo>
                  <a:pt x="253148" y="137160"/>
                </a:lnTo>
                <a:lnTo>
                  <a:pt x="253684" y="143510"/>
                </a:lnTo>
                <a:lnTo>
                  <a:pt x="253684" y="156210"/>
                </a:lnTo>
                <a:lnTo>
                  <a:pt x="253148" y="161290"/>
                </a:lnTo>
                <a:lnTo>
                  <a:pt x="252165" y="167640"/>
                </a:lnTo>
                <a:lnTo>
                  <a:pt x="271989" y="185420"/>
                </a:lnTo>
                <a:lnTo>
                  <a:pt x="275994" y="190500"/>
                </a:lnTo>
                <a:lnTo>
                  <a:pt x="276589" y="191770"/>
                </a:lnTo>
                <a:close/>
              </a:path>
              <a:path w="561340" h="445770">
                <a:moveTo>
                  <a:pt x="364378" y="445770"/>
                </a:moveTo>
                <a:lnTo>
                  <a:pt x="358408" y="445770"/>
                </a:lnTo>
                <a:lnTo>
                  <a:pt x="352446" y="444500"/>
                </a:lnTo>
                <a:lnTo>
                  <a:pt x="347713" y="441960"/>
                </a:lnTo>
                <a:lnTo>
                  <a:pt x="343070" y="440690"/>
                </a:lnTo>
                <a:lnTo>
                  <a:pt x="338605" y="438150"/>
                </a:lnTo>
                <a:lnTo>
                  <a:pt x="333783" y="434340"/>
                </a:lnTo>
                <a:lnTo>
                  <a:pt x="329229" y="431800"/>
                </a:lnTo>
                <a:lnTo>
                  <a:pt x="324942" y="429260"/>
                </a:lnTo>
                <a:lnTo>
                  <a:pt x="313959" y="421640"/>
                </a:lnTo>
                <a:lnTo>
                  <a:pt x="311727" y="412750"/>
                </a:lnTo>
                <a:lnTo>
                  <a:pt x="314405" y="403860"/>
                </a:lnTo>
                <a:lnTo>
                  <a:pt x="322710" y="378460"/>
                </a:lnTo>
                <a:lnTo>
                  <a:pt x="317107" y="372110"/>
                </a:lnTo>
                <a:lnTo>
                  <a:pt x="312106" y="363220"/>
                </a:lnTo>
                <a:lnTo>
                  <a:pt x="307742" y="355600"/>
                </a:lnTo>
                <a:lnTo>
                  <a:pt x="304047" y="346710"/>
                </a:lnTo>
                <a:lnTo>
                  <a:pt x="263149" y="332740"/>
                </a:lnTo>
                <a:lnTo>
                  <a:pt x="261095" y="312420"/>
                </a:lnTo>
                <a:lnTo>
                  <a:pt x="261185" y="298450"/>
                </a:lnTo>
                <a:lnTo>
                  <a:pt x="261274" y="297180"/>
                </a:lnTo>
                <a:lnTo>
                  <a:pt x="261363" y="295910"/>
                </a:lnTo>
                <a:lnTo>
                  <a:pt x="261452" y="294640"/>
                </a:lnTo>
                <a:lnTo>
                  <a:pt x="263149" y="279400"/>
                </a:lnTo>
                <a:lnTo>
                  <a:pt x="269757" y="273050"/>
                </a:lnTo>
                <a:lnTo>
                  <a:pt x="304047" y="266700"/>
                </a:lnTo>
                <a:lnTo>
                  <a:pt x="307704" y="257810"/>
                </a:lnTo>
                <a:lnTo>
                  <a:pt x="312073" y="248920"/>
                </a:lnTo>
                <a:lnTo>
                  <a:pt x="317094" y="241300"/>
                </a:lnTo>
                <a:lnTo>
                  <a:pt x="322710" y="233680"/>
                </a:lnTo>
                <a:lnTo>
                  <a:pt x="314405" y="208280"/>
                </a:lnTo>
                <a:lnTo>
                  <a:pt x="311727" y="200660"/>
                </a:lnTo>
                <a:lnTo>
                  <a:pt x="313959" y="191770"/>
                </a:lnTo>
                <a:lnTo>
                  <a:pt x="320746" y="186690"/>
                </a:lnTo>
                <a:lnTo>
                  <a:pt x="324943" y="184150"/>
                </a:lnTo>
                <a:lnTo>
                  <a:pt x="329229" y="180340"/>
                </a:lnTo>
                <a:lnTo>
                  <a:pt x="333783" y="177800"/>
                </a:lnTo>
                <a:lnTo>
                  <a:pt x="338426" y="175260"/>
                </a:lnTo>
                <a:lnTo>
                  <a:pt x="342981" y="172720"/>
                </a:lnTo>
                <a:lnTo>
                  <a:pt x="347624" y="170180"/>
                </a:lnTo>
                <a:lnTo>
                  <a:pt x="352357" y="168910"/>
                </a:lnTo>
                <a:lnTo>
                  <a:pt x="358369" y="167640"/>
                </a:lnTo>
                <a:lnTo>
                  <a:pt x="364356" y="167640"/>
                </a:lnTo>
                <a:lnTo>
                  <a:pt x="369924" y="170180"/>
                </a:lnTo>
                <a:lnTo>
                  <a:pt x="374681" y="173990"/>
                </a:lnTo>
                <a:lnTo>
                  <a:pt x="392362" y="194310"/>
                </a:lnTo>
                <a:lnTo>
                  <a:pt x="508817" y="194310"/>
                </a:lnTo>
                <a:lnTo>
                  <a:pt x="510412" y="200660"/>
                </a:lnTo>
                <a:lnTo>
                  <a:pt x="507733" y="208280"/>
                </a:lnTo>
                <a:lnTo>
                  <a:pt x="499429" y="233680"/>
                </a:lnTo>
                <a:lnTo>
                  <a:pt x="505032" y="241300"/>
                </a:lnTo>
                <a:lnTo>
                  <a:pt x="510033" y="248920"/>
                </a:lnTo>
                <a:lnTo>
                  <a:pt x="514397" y="257810"/>
                </a:lnTo>
                <a:lnTo>
                  <a:pt x="517036" y="264160"/>
                </a:lnTo>
                <a:lnTo>
                  <a:pt x="399873" y="264160"/>
                </a:lnTo>
                <a:lnTo>
                  <a:pt x="389371" y="269240"/>
                </a:lnTo>
                <a:lnTo>
                  <a:pt x="368162" y="300990"/>
                </a:lnTo>
                <a:lnTo>
                  <a:pt x="368162" y="312420"/>
                </a:lnTo>
                <a:lnTo>
                  <a:pt x="389371" y="344170"/>
                </a:lnTo>
                <a:lnTo>
                  <a:pt x="405341" y="349250"/>
                </a:lnTo>
                <a:lnTo>
                  <a:pt x="517047" y="349250"/>
                </a:lnTo>
                <a:lnTo>
                  <a:pt x="514435" y="355600"/>
                </a:lnTo>
                <a:lnTo>
                  <a:pt x="510066" y="363220"/>
                </a:lnTo>
                <a:lnTo>
                  <a:pt x="505044" y="372110"/>
                </a:lnTo>
                <a:lnTo>
                  <a:pt x="499429" y="379730"/>
                </a:lnTo>
                <a:lnTo>
                  <a:pt x="507733" y="403860"/>
                </a:lnTo>
                <a:lnTo>
                  <a:pt x="510412" y="412750"/>
                </a:lnTo>
                <a:lnTo>
                  <a:pt x="508817" y="419100"/>
                </a:lnTo>
                <a:lnTo>
                  <a:pt x="392451" y="419100"/>
                </a:lnTo>
                <a:lnTo>
                  <a:pt x="374770" y="439420"/>
                </a:lnTo>
                <a:lnTo>
                  <a:pt x="369963" y="443230"/>
                </a:lnTo>
                <a:lnTo>
                  <a:pt x="364378" y="445770"/>
                </a:lnTo>
                <a:close/>
              </a:path>
              <a:path w="561340" h="445770">
                <a:moveTo>
                  <a:pt x="508817" y="194310"/>
                </a:moveTo>
                <a:lnTo>
                  <a:pt x="429688" y="194310"/>
                </a:lnTo>
                <a:lnTo>
                  <a:pt x="447369" y="173990"/>
                </a:lnTo>
                <a:lnTo>
                  <a:pt x="452175" y="170180"/>
                </a:lnTo>
                <a:lnTo>
                  <a:pt x="457760" y="167640"/>
                </a:lnTo>
                <a:lnTo>
                  <a:pt x="463731" y="167640"/>
                </a:lnTo>
                <a:lnTo>
                  <a:pt x="497196" y="184150"/>
                </a:lnTo>
                <a:lnTo>
                  <a:pt x="508180" y="191770"/>
                </a:lnTo>
                <a:lnTo>
                  <a:pt x="508817" y="194310"/>
                </a:lnTo>
                <a:close/>
              </a:path>
              <a:path w="561340" h="445770">
                <a:moveTo>
                  <a:pt x="429688" y="194310"/>
                </a:moveTo>
                <a:lnTo>
                  <a:pt x="392362" y="194310"/>
                </a:lnTo>
                <a:lnTo>
                  <a:pt x="404685" y="191770"/>
                </a:lnTo>
                <a:lnTo>
                  <a:pt x="417365" y="191770"/>
                </a:lnTo>
                <a:lnTo>
                  <a:pt x="429688" y="194310"/>
                </a:lnTo>
                <a:close/>
              </a:path>
              <a:path w="561340" h="445770">
                <a:moveTo>
                  <a:pt x="145634" y="299720"/>
                </a:moveTo>
                <a:lnTo>
                  <a:pt x="133311" y="299720"/>
                </a:lnTo>
                <a:lnTo>
                  <a:pt x="127239" y="298450"/>
                </a:lnTo>
                <a:lnTo>
                  <a:pt x="112862" y="297180"/>
                </a:lnTo>
                <a:lnTo>
                  <a:pt x="106433" y="290830"/>
                </a:lnTo>
                <a:lnTo>
                  <a:pt x="104736" y="281940"/>
                </a:lnTo>
                <a:lnTo>
                  <a:pt x="99289" y="256540"/>
                </a:lnTo>
                <a:lnTo>
                  <a:pt x="90609" y="252730"/>
                </a:lnTo>
                <a:lnTo>
                  <a:pt x="82289" y="248920"/>
                </a:lnTo>
                <a:lnTo>
                  <a:pt x="74388" y="243840"/>
                </a:lnTo>
                <a:lnTo>
                  <a:pt x="66964" y="237490"/>
                </a:lnTo>
                <a:lnTo>
                  <a:pt x="211982" y="237490"/>
                </a:lnTo>
                <a:lnTo>
                  <a:pt x="204570" y="243840"/>
                </a:lnTo>
                <a:lnTo>
                  <a:pt x="196690" y="248920"/>
                </a:lnTo>
                <a:lnTo>
                  <a:pt x="188374" y="252730"/>
                </a:lnTo>
                <a:lnTo>
                  <a:pt x="179656" y="256540"/>
                </a:lnTo>
                <a:lnTo>
                  <a:pt x="174209" y="281940"/>
                </a:lnTo>
                <a:lnTo>
                  <a:pt x="172513" y="290830"/>
                </a:lnTo>
                <a:lnTo>
                  <a:pt x="166083" y="297180"/>
                </a:lnTo>
                <a:lnTo>
                  <a:pt x="151707" y="298450"/>
                </a:lnTo>
                <a:lnTo>
                  <a:pt x="145634" y="299720"/>
                </a:lnTo>
                <a:close/>
              </a:path>
              <a:path w="561340" h="445770">
                <a:moveTo>
                  <a:pt x="245200" y="248920"/>
                </a:moveTo>
                <a:lnTo>
                  <a:pt x="237164" y="246380"/>
                </a:lnTo>
                <a:lnTo>
                  <a:pt x="211982" y="237490"/>
                </a:lnTo>
                <a:lnTo>
                  <a:pt x="260520" y="237490"/>
                </a:lnTo>
                <a:lnTo>
                  <a:pt x="254130" y="246380"/>
                </a:lnTo>
                <a:lnTo>
                  <a:pt x="245200" y="248920"/>
                </a:lnTo>
                <a:close/>
              </a:path>
              <a:path w="561340" h="445770">
                <a:moveTo>
                  <a:pt x="517047" y="349250"/>
                </a:moveTo>
                <a:lnTo>
                  <a:pt x="416709" y="349250"/>
                </a:lnTo>
                <a:lnTo>
                  <a:pt x="422176" y="347980"/>
                </a:lnTo>
                <a:lnTo>
                  <a:pt x="432679" y="344170"/>
                </a:lnTo>
                <a:lnTo>
                  <a:pt x="453887" y="312420"/>
                </a:lnTo>
                <a:lnTo>
                  <a:pt x="453887" y="300990"/>
                </a:lnTo>
                <a:lnTo>
                  <a:pt x="432679" y="269240"/>
                </a:lnTo>
                <a:lnTo>
                  <a:pt x="422176" y="264160"/>
                </a:lnTo>
                <a:lnTo>
                  <a:pt x="517036" y="264160"/>
                </a:lnTo>
                <a:lnTo>
                  <a:pt x="518092" y="266700"/>
                </a:lnTo>
                <a:lnTo>
                  <a:pt x="544077" y="271780"/>
                </a:lnTo>
                <a:lnTo>
                  <a:pt x="552292" y="273050"/>
                </a:lnTo>
                <a:lnTo>
                  <a:pt x="558990" y="279400"/>
                </a:lnTo>
                <a:lnTo>
                  <a:pt x="560686" y="294640"/>
                </a:lnTo>
                <a:lnTo>
                  <a:pt x="560758" y="295910"/>
                </a:lnTo>
                <a:lnTo>
                  <a:pt x="560829" y="297180"/>
                </a:lnTo>
                <a:lnTo>
                  <a:pt x="560901" y="298450"/>
                </a:lnTo>
                <a:lnTo>
                  <a:pt x="560972" y="299720"/>
                </a:lnTo>
                <a:lnTo>
                  <a:pt x="561043" y="312420"/>
                </a:lnTo>
                <a:lnTo>
                  <a:pt x="560758" y="317500"/>
                </a:lnTo>
                <a:lnTo>
                  <a:pt x="560686" y="318770"/>
                </a:lnTo>
                <a:lnTo>
                  <a:pt x="558990" y="332740"/>
                </a:lnTo>
                <a:lnTo>
                  <a:pt x="552382" y="339090"/>
                </a:lnTo>
                <a:lnTo>
                  <a:pt x="544077" y="341630"/>
                </a:lnTo>
                <a:lnTo>
                  <a:pt x="518092" y="346710"/>
                </a:lnTo>
                <a:lnTo>
                  <a:pt x="517047" y="349250"/>
                </a:lnTo>
                <a:close/>
              </a:path>
              <a:path w="561340" h="445770">
                <a:moveTo>
                  <a:pt x="423705" y="420370"/>
                </a:moveTo>
                <a:lnTo>
                  <a:pt x="398523" y="420370"/>
                </a:lnTo>
                <a:lnTo>
                  <a:pt x="392451" y="419100"/>
                </a:lnTo>
                <a:lnTo>
                  <a:pt x="429777" y="419100"/>
                </a:lnTo>
                <a:lnTo>
                  <a:pt x="423705" y="420370"/>
                </a:lnTo>
                <a:close/>
              </a:path>
              <a:path w="561340" h="445770">
                <a:moveTo>
                  <a:pt x="463681" y="445770"/>
                </a:moveTo>
                <a:lnTo>
                  <a:pt x="457693" y="445770"/>
                </a:lnTo>
                <a:lnTo>
                  <a:pt x="452125" y="443230"/>
                </a:lnTo>
                <a:lnTo>
                  <a:pt x="447368" y="439420"/>
                </a:lnTo>
                <a:lnTo>
                  <a:pt x="429777" y="419100"/>
                </a:lnTo>
                <a:lnTo>
                  <a:pt x="508817" y="419100"/>
                </a:lnTo>
                <a:lnTo>
                  <a:pt x="508180" y="421640"/>
                </a:lnTo>
                <a:lnTo>
                  <a:pt x="497196" y="429260"/>
                </a:lnTo>
                <a:lnTo>
                  <a:pt x="492821" y="433070"/>
                </a:lnTo>
                <a:lnTo>
                  <a:pt x="488356" y="435610"/>
                </a:lnTo>
                <a:lnTo>
                  <a:pt x="483534" y="438150"/>
                </a:lnTo>
                <a:lnTo>
                  <a:pt x="479069" y="440690"/>
                </a:lnTo>
                <a:lnTo>
                  <a:pt x="474425" y="443230"/>
                </a:lnTo>
                <a:lnTo>
                  <a:pt x="469693" y="444500"/>
                </a:lnTo>
                <a:lnTo>
                  <a:pt x="463681" y="445770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11117708" y="177026"/>
            <a:ext cx="70612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0">
                <a:latin typeface="Roboto"/>
                <a:cs typeface="Roboto"/>
              </a:rPr>
              <a:t>IEEE</a:t>
            </a:r>
            <a:r>
              <a:rPr dirty="0" sz="1250" spc="-6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Logo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40" name="object 40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2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44" name="object 4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Background</a:t>
            </a:r>
            <a:r>
              <a:rPr dirty="0" spc="-20"/>
              <a:t> </a:t>
            </a:r>
            <a:r>
              <a:rPr dirty="0" spc="-165"/>
              <a:t>&amp;</a:t>
            </a:r>
            <a:r>
              <a:rPr dirty="0" spc="-15"/>
              <a:t> </a:t>
            </a:r>
            <a:r>
              <a:rPr dirty="0" spc="-114"/>
              <a:t>Motivation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68299" y="1033921"/>
            <a:ext cx="4088129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30" b="1">
                <a:solidFill>
                  <a:srgbClr val="0053A0"/>
                </a:solidFill>
                <a:latin typeface="Roboto"/>
                <a:cs typeface="Roboto"/>
              </a:rPr>
              <a:t>Transforming</a:t>
            </a:r>
            <a:r>
              <a:rPr dirty="0" sz="26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600" spc="-130" b="1">
                <a:solidFill>
                  <a:srgbClr val="0053A0"/>
                </a:solidFill>
                <a:latin typeface="Roboto"/>
                <a:cs typeface="Roboto"/>
              </a:rPr>
              <a:t>Power</a:t>
            </a:r>
            <a:r>
              <a:rPr dirty="0" sz="26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600" spc="-85" b="1">
                <a:solidFill>
                  <a:srgbClr val="0053A0"/>
                </a:solidFill>
                <a:latin typeface="Roboto"/>
                <a:cs typeface="Roboto"/>
              </a:rPr>
              <a:t>Systems</a:t>
            </a:r>
            <a:endParaRPr sz="260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1868014"/>
            <a:ext cx="180974" cy="15902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93935" y="1736356"/>
            <a:ext cx="4947920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65" b="1">
                <a:solidFill>
                  <a:srgbClr val="0053A0"/>
                </a:solidFill>
                <a:latin typeface="Roboto"/>
                <a:cs typeface="Roboto"/>
              </a:rPr>
              <a:t>shift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to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renewable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energy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 b="1">
                <a:solidFill>
                  <a:srgbClr val="0053A0"/>
                </a:solidFill>
                <a:latin typeface="Roboto"/>
                <a:cs typeface="Roboto"/>
              </a:rPr>
              <a:t>electrification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of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transportation</a:t>
            </a:r>
            <a:r>
              <a:rPr dirty="0" sz="170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50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dirty="0" sz="17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fundamentally</a:t>
            </a:r>
            <a:r>
              <a:rPr dirty="0" sz="17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changing</a:t>
            </a:r>
            <a:r>
              <a:rPr dirty="0" sz="17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7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35">
                <a:solidFill>
                  <a:srgbClr val="333333"/>
                </a:solidFill>
                <a:latin typeface="Roboto"/>
                <a:cs typeface="Roboto"/>
              </a:rPr>
              <a:t>system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dynamics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363" y="3002160"/>
            <a:ext cx="182247" cy="15835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93935" y="2869831"/>
            <a:ext cx="4768215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Frequency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65" b="1">
                <a:solidFill>
                  <a:srgbClr val="0053A0"/>
                </a:solidFill>
                <a:latin typeface="Roboto"/>
                <a:cs typeface="Roboto"/>
              </a:rPr>
              <a:t>stability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becomes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more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challenging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due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to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reduced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55">
                <a:solidFill>
                  <a:srgbClr val="333333"/>
                </a:solidFill>
                <a:latin typeface="Roboto"/>
                <a:cs typeface="Roboto"/>
              </a:rPr>
              <a:t>inertia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increased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65">
                <a:solidFill>
                  <a:srgbClr val="333333"/>
                </a:solidFill>
                <a:latin typeface="Roboto"/>
                <a:cs typeface="Roboto"/>
              </a:rPr>
              <a:t>variability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from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renewables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64" y="4113880"/>
            <a:ext cx="181045" cy="18281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93935" y="3993781"/>
            <a:ext cx="5081270" cy="9207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55"/>
              </a:spcBef>
            </a:pP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Bidirectional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0" b="1">
                <a:solidFill>
                  <a:srgbClr val="0053A0"/>
                </a:solidFill>
                <a:latin typeface="Roboto"/>
                <a:cs typeface="Roboto"/>
              </a:rPr>
              <a:t>Electric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Vehicles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(V2G)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offer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60">
                <a:solidFill>
                  <a:srgbClr val="333333"/>
                </a:solidFill>
                <a:latin typeface="Roboto"/>
                <a:cs typeface="Roboto"/>
              </a:rPr>
              <a:t>unprecedented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opportunities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as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flexible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distributed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energy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resources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for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7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support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565" y="5251102"/>
            <a:ext cx="222688" cy="177511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39626" y="5127256"/>
            <a:ext cx="4792345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Need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advanced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modeling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and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strategies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to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effectively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leverage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fleets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services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while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respecting</a:t>
            </a:r>
            <a:r>
              <a:rPr dirty="0" sz="17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user</a:t>
            </a:r>
            <a:r>
              <a:rPr dirty="0" sz="17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preferences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117708" y="177026"/>
            <a:ext cx="70612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0">
                <a:latin typeface="Roboto"/>
                <a:cs typeface="Roboto"/>
              </a:rPr>
              <a:t>IEEE</a:t>
            </a:r>
            <a:r>
              <a:rPr dirty="0" sz="1250" spc="-6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Logo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143873" y="1619249"/>
            <a:ext cx="1714500" cy="762000"/>
            <a:chOff x="8143873" y="1619249"/>
            <a:chExt cx="1714500" cy="762000"/>
          </a:xfrm>
        </p:grpSpPr>
        <p:sp>
          <p:nvSpPr>
            <p:cNvPr id="15" name="object 15" descr=""/>
            <p:cNvSpPr/>
            <p:nvPr/>
          </p:nvSpPr>
          <p:spPr>
            <a:xfrm>
              <a:off x="8153398" y="1628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7" y="742949"/>
                  </a:lnTo>
                  <a:lnTo>
                    <a:pt x="57960" y="742522"/>
                  </a:lnTo>
                  <a:lnTo>
                    <a:pt x="22624" y="726516"/>
                  </a:lnTo>
                  <a:lnTo>
                    <a:pt x="2134" y="693576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4"/>
                  </a:lnTo>
                  <a:lnTo>
                    <a:pt x="1695450" y="62296"/>
                  </a:lnTo>
                  <a:lnTo>
                    <a:pt x="1695450" y="680652"/>
                  </a:lnTo>
                  <a:lnTo>
                    <a:pt x="1681780" y="716957"/>
                  </a:lnTo>
                  <a:lnTo>
                    <a:pt x="1650245" y="739549"/>
                  </a:lnTo>
                  <a:lnTo>
                    <a:pt x="1637488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153398" y="1628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2"/>
                  </a:lnTo>
                  <a:lnTo>
                    <a:pt x="13668" y="25992"/>
                  </a:lnTo>
                  <a:lnTo>
                    <a:pt x="16433" y="22624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8" y="427"/>
                  </a:lnTo>
                  <a:lnTo>
                    <a:pt x="1641782" y="1281"/>
                  </a:lnTo>
                  <a:lnTo>
                    <a:pt x="1646076" y="2135"/>
                  </a:lnTo>
                  <a:lnTo>
                    <a:pt x="1665817" y="11236"/>
                  </a:lnTo>
                  <a:lnTo>
                    <a:pt x="1669457" y="13668"/>
                  </a:lnTo>
                  <a:lnTo>
                    <a:pt x="1692049" y="45204"/>
                  </a:lnTo>
                  <a:lnTo>
                    <a:pt x="1694169" y="53667"/>
                  </a:lnTo>
                  <a:lnTo>
                    <a:pt x="1695023" y="57960"/>
                  </a:lnTo>
                  <a:lnTo>
                    <a:pt x="1695450" y="62296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95450" y="680652"/>
                  </a:lnTo>
                  <a:lnTo>
                    <a:pt x="1695023" y="684988"/>
                  </a:lnTo>
                  <a:lnTo>
                    <a:pt x="1694169" y="689282"/>
                  </a:lnTo>
                  <a:lnTo>
                    <a:pt x="1693314" y="693576"/>
                  </a:lnTo>
                  <a:lnTo>
                    <a:pt x="1672825" y="726516"/>
                  </a:lnTo>
                  <a:lnTo>
                    <a:pt x="1665817" y="731712"/>
                  </a:lnTo>
                  <a:lnTo>
                    <a:pt x="1662176" y="734145"/>
                  </a:lnTo>
                  <a:lnTo>
                    <a:pt x="1658335" y="736198"/>
                  </a:lnTo>
                  <a:lnTo>
                    <a:pt x="1654290" y="737874"/>
                  </a:lnTo>
                  <a:lnTo>
                    <a:pt x="1650245" y="739549"/>
                  </a:lnTo>
                  <a:lnTo>
                    <a:pt x="1646076" y="740814"/>
                  </a:lnTo>
                  <a:lnTo>
                    <a:pt x="1641782" y="741668"/>
                  </a:lnTo>
                  <a:lnTo>
                    <a:pt x="1637488" y="742522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7" y="742949"/>
                  </a:lnTo>
                  <a:lnTo>
                    <a:pt x="57960" y="742522"/>
                  </a:lnTo>
                  <a:lnTo>
                    <a:pt x="53667" y="741668"/>
                  </a:lnTo>
                  <a:lnTo>
                    <a:pt x="49373" y="740814"/>
                  </a:lnTo>
                  <a:lnTo>
                    <a:pt x="45203" y="739549"/>
                  </a:lnTo>
                  <a:lnTo>
                    <a:pt x="41159" y="737874"/>
                  </a:lnTo>
                  <a:lnTo>
                    <a:pt x="37114" y="736198"/>
                  </a:lnTo>
                  <a:lnTo>
                    <a:pt x="33272" y="734145"/>
                  </a:lnTo>
                  <a:lnTo>
                    <a:pt x="29632" y="731712"/>
                  </a:lnTo>
                  <a:lnTo>
                    <a:pt x="25992" y="729280"/>
                  </a:lnTo>
                  <a:lnTo>
                    <a:pt x="5075" y="701790"/>
                  </a:lnTo>
                  <a:lnTo>
                    <a:pt x="3399" y="697745"/>
                  </a:lnTo>
                  <a:lnTo>
                    <a:pt x="2134" y="693576"/>
                  </a:lnTo>
                  <a:lnTo>
                    <a:pt x="1280" y="689282"/>
                  </a:lnTo>
                  <a:lnTo>
                    <a:pt x="426" y="684988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865657" y="1721932"/>
              <a:ext cx="271145" cy="237490"/>
            </a:xfrm>
            <a:custGeom>
              <a:avLst/>
              <a:gdLst/>
              <a:ahLst/>
              <a:cxnLst/>
              <a:rect l="l" t="t" r="r" b="b"/>
              <a:pathLst>
                <a:path w="271145" h="237489">
                  <a:moveTo>
                    <a:pt x="245533" y="237066"/>
                  </a:moveTo>
                  <a:lnTo>
                    <a:pt x="25400" y="237066"/>
                  </a:lnTo>
                  <a:lnTo>
                    <a:pt x="15515" y="235069"/>
                  </a:lnTo>
                  <a:lnTo>
                    <a:pt x="7441" y="229625"/>
                  </a:lnTo>
                  <a:lnTo>
                    <a:pt x="1996" y="221551"/>
                  </a:lnTo>
                  <a:lnTo>
                    <a:pt x="0" y="211666"/>
                  </a:lnTo>
                  <a:lnTo>
                    <a:pt x="0" y="7567"/>
                  </a:lnTo>
                  <a:lnTo>
                    <a:pt x="7567" y="0"/>
                  </a:lnTo>
                  <a:lnTo>
                    <a:pt x="16933" y="0"/>
                  </a:lnTo>
                  <a:lnTo>
                    <a:pt x="60166" y="0"/>
                  </a:lnTo>
                  <a:lnTo>
                    <a:pt x="67733" y="7567"/>
                  </a:lnTo>
                  <a:lnTo>
                    <a:pt x="67733" y="97049"/>
                  </a:lnTo>
                  <a:lnTo>
                    <a:pt x="150600" y="52440"/>
                  </a:lnTo>
                  <a:lnTo>
                    <a:pt x="157099" y="50910"/>
                  </a:lnTo>
                  <a:lnTo>
                    <a:pt x="163142" y="52705"/>
                  </a:lnTo>
                  <a:lnTo>
                    <a:pt x="167597" y="57158"/>
                  </a:lnTo>
                  <a:lnTo>
                    <a:pt x="169333" y="63605"/>
                  </a:lnTo>
                  <a:lnTo>
                    <a:pt x="169333" y="97049"/>
                  </a:lnTo>
                  <a:lnTo>
                    <a:pt x="252200" y="52440"/>
                  </a:lnTo>
                  <a:lnTo>
                    <a:pt x="258699" y="50910"/>
                  </a:lnTo>
                  <a:lnTo>
                    <a:pt x="264742" y="52705"/>
                  </a:lnTo>
                  <a:lnTo>
                    <a:pt x="269197" y="57158"/>
                  </a:lnTo>
                  <a:lnTo>
                    <a:pt x="270933" y="63605"/>
                  </a:lnTo>
                  <a:lnTo>
                    <a:pt x="270933" y="211666"/>
                  </a:lnTo>
                  <a:lnTo>
                    <a:pt x="268936" y="221551"/>
                  </a:lnTo>
                  <a:lnTo>
                    <a:pt x="263491" y="229625"/>
                  </a:lnTo>
                  <a:lnTo>
                    <a:pt x="255418" y="235069"/>
                  </a:lnTo>
                  <a:lnTo>
                    <a:pt x="245533" y="237066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197105" y="2120709"/>
            <a:ext cx="16084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 b="1">
                <a:solidFill>
                  <a:srgbClr val="0053A0"/>
                </a:solidFill>
                <a:latin typeface="Roboto"/>
                <a:cs typeface="Roboto"/>
              </a:rPr>
              <a:t>Traditional</a:t>
            </a:r>
            <a:r>
              <a:rPr dirty="0" sz="12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85" b="1">
                <a:solidFill>
                  <a:srgbClr val="0053A0"/>
                </a:solidFill>
                <a:latin typeface="Roboto"/>
                <a:cs typeface="Roboto"/>
              </a:rPr>
              <a:t>Power</a:t>
            </a:r>
            <a:r>
              <a:rPr dirty="0" sz="12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45" b="1">
                <a:solidFill>
                  <a:srgbClr val="0053A0"/>
                </a:solidFill>
                <a:latin typeface="Roboto"/>
                <a:cs typeface="Roboto"/>
              </a:rPr>
              <a:t>System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8982062" y="1914524"/>
            <a:ext cx="581025" cy="1152525"/>
          </a:xfrm>
          <a:custGeom>
            <a:avLst/>
            <a:gdLst/>
            <a:ahLst/>
            <a:cxnLst/>
            <a:rect l="l" t="t" r="r" b="b"/>
            <a:pathLst>
              <a:path w="581025" h="1152525">
                <a:moveTo>
                  <a:pt x="114300" y="1038225"/>
                </a:moveTo>
                <a:lnTo>
                  <a:pt x="0" y="1038225"/>
                </a:lnTo>
                <a:lnTo>
                  <a:pt x="57150" y="1152525"/>
                </a:lnTo>
                <a:lnTo>
                  <a:pt x="114300" y="1038225"/>
                </a:lnTo>
                <a:close/>
              </a:path>
              <a:path w="581025" h="1152525">
                <a:moveTo>
                  <a:pt x="581025" y="0"/>
                </a:moveTo>
                <a:lnTo>
                  <a:pt x="561975" y="0"/>
                </a:lnTo>
                <a:lnTo>
                  <a:pt x="561975" y="1143000"/>
                </a:lnTo>
                <a:lnTo>
                  <a:pt x="581025" y="1143000"/>
                </a:lnTo>
                <a:lnTo>
                  <a:pt x="581025" y="0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8143873" y="3143249"/>
            <a:ext cx="1714500" cy="762000"/>
            <a:chOff x="8143873" y="3143249"/>
            <a:chExt cx="1714500" cy="762000"/>
          </a:xfrm>
        </p:grpSpPr>
        <p:sp>
          <p:nvSpPr>
            <p:cNvPr id="21" name="object 21" descr=""/>
            <p:cNvSpPr/>
            <p:nvPr/>
          </p:nvSpPr>
          <p:spPr>
            <a:xfrm>
              <a:off x="8153398" y="3152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7" y="742949"/>
                  </a:lnTo>
                  <a:lnTo>
                    <a:pt x="57960" y="742522"/>
                  </a:lnTo>
                  <a:lnTo>
                    <a:pt x="22624" y="726516"/>
                  </a:lnTo>
                  <a:lnTo>
                    <a:pt x="2134" y="693576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3"/>
                  </a:lnTo>
                  <a:lnTo>
                    <a:pt x="1695450" y="62297"/>
                  </a:lnTo>
                  <a:lnTo>
                    <a:pt x="1695450" y="680652"/>
                  </a:lnTo>
                  <a:lnTo>
                    <a:pt x="1681780" y="716957"/>
                  </a:lnTo>
                  <a:lnTo>
                    <a:pt x="1650245" y="739549"/>
                  </a:lnTo>
                  <a:lnTo>
                    <a:pt x="1637488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153398" y="3152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2"/>
                  </a:lnTo>
                  <a:lnTo>
                    <a:pt x="13668" y="25992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8" y="427"/>
                  </a:lnTo>
                  <a:lnTo>
                    <a:pt x="1641782" y="1281"/>
                  </a:lnTo>
                  <a:lnTo>
                    <a:pt x="1646076" y="2135"/>
                  </a:lnTo>
                  <a:lnTo>
                    <a:pt x="1650245" y="3399"/>
                  </a:lnTo>
                  <a:lnTo>
                    <a:pt x="1654290" y="5075"/>
                  </a:lnTo>
                  <a:lnTo>
                    <a:pt x="1658335" y="6750"/>
                  </a:lnTo>
                  <a:lnTo>
                    <a:pt x="1662176" y="8804"/>
                  </a:lnTo>
                  <a:lnTo>
                    <a:pt x="1665817" y="11236"/>
                  </a:lnTo>
                  <a:lnTo>
                    <a:pt x="1669457" y="13668"/>
                  </a:lnTo>
                  <a:lnTo>
                    <a:pt x="1672825" y="16432"/>
                  </a:lnTo>
                  <a:lnTo>
                    <a:pt x="1675921" y="19528"/>
                  </a:lnTo>
                  <a:lnTo>
                    <a:pt x="1679016" y="22623"/>
                  </a:lnTo>
                  <a:lnTo>
                    <a:pt x="1681780" y="25992"/>
                  </a:lnTo>
                  <a:lnTo>
                    <a:pt x="1684212" y="29632"/>
                  </a:lnTo>
                  <a:lnTo>
                    <a:pt x="1686645" y="33272"/>
                  </a:lnTo>
                  <a:lnTo>
                    <a:pt x="1688698" y="37114"/>
                  </a:lnTo>
                  <a:lnTo>
                    <a:pt x="1690373" y="41159"/>
                  </a:lnTo>
                  <a:lnTo>
                    <a:pt x="1692049" y="45203"/>
                  </a:lnTo>
                  <a:lnTo>
                    <a:pt x="1693314" y="49373"/>
                  </a:lnTo>
                  <a:lnTo>
                    <a:pt x="1694169" y="53667"/>
                  </a:lnTo>
                  <a:lnTo>
                    <a:pt x="1695023" y="57960"/>
                  </a:lnTo>
                  <a:lnTo>
                    <a:pt x="1695450" y="62297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95450" y="680652"/>
                  </a:lnTo>
                  <a:lnTo>
                    <a:pt x="1695023" y="684988"/>
                  </a:lnTo>
                  <a:lnTo>
                    <a:pt x="1694169" y="689282"/>
                  </a:lnTo>
                  <a:lnTo>
                    <a:pt x="1693314" y="693576"/>
                  </a:lnTo>
                  <a:lnTo>
                    <a:pt x="1692049" y="697745"/>
                  </a:lnTo>
                  <a:lnTo>
                    <a:pt x="1690373" y="701789"/>
                  </a:lnTo>
                  <a:lnTo>
                    <a:pt x="1688698" y="705834"/>
                  </a:lnTo>
                  <a:lnTo>
                    <a:pt x="1686645" y="709676"/>
                  </a:lnTo>
                  <a:lnTo>
                    <a:pt x="1684212" y="713316"/>
                  </a:lnTo>
                  <a:lnTo>
                    <a:pt x="1681780" y="716957"/>
                  </a:lnTo>
                  <a:lnTo>
                    <a:pt x="1654290" y="737874"/>
                  </a:lnTo>
                  <a:lnTo>
                    <a:pt x="1650245" y="739549"/>
                  </a:lnTo>
                  <a:lnTo>
                    <a:pt x="1646076" y="740814"/>
                  </a:lnTo>
                  <a:lnTo>
                    <a:pt x="1641782" y="741668"/>
                  </a:lnTo>
                  <a:lnTo>
                    <a:pt x="1637488" y="742522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7" y="742949"/>
                  </a:lnTo>
                  <a:lnTo>
                    <a:pt x="57960" y="742522"/>
                  </a:lnTo>
                  <a:lnTo>
                    <a:pt x="53667" y="741668"/>
                  </a:lnTo>
                  <a:lnTo>
                    <a:pt x="49373" y="740814"/>
                  </a:lnTo>
                  <a:lnTo>
                    <a:pt x="45203" y="739549"/>
                  </a:lnTo>
                  <a:lnTo>
                    <a:pt x="41159" y="737874"/>
                  </a:lnTo>
                  <a:lnTo>
                    <a:pt x="37114" y="736198"/>
                  </a:lnTo>
                  <a:lnTo>
                    <a:pt x="11236" y="713316"/>
                  </a:lnTo>
                  <a:lnTo>
                    <a:pt x="8804" y="709676"/>
                  </a:lnTo>
                  <a:lnTo>
                    <a:pt x="6750" y="705834"/>
                  </a:lnTo>
                  <a:lnTo>
                    <a:pt x="5075" y="701789"/>
                  </a:lnTo>
                  <a:lnTo>
                    <a:pt x="3399" y="697745"/>
                  </a:lnTo>
                  <a:lnTo>
                    <a:pt x="2134" y="693576"/>
                  </a:lnTo>
                  <a:lnTo>
                    <a:pt x="1280" y="689282"/>
                  </a:lnTo>
                  <a:lnTo>
                    <a:pt x="426" y="684988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834119" y="3229019"/>
              <a:ext cx="334010" cy="274320"/>
            </a:xfrm>
            <a:custGeom>
              <a:avLst/>
              <a:gdLst/>
              <a:ahLst/>
              <a:cxnLst/>
              <a:rect l="l" t="t" r="r" b="b"/>
              <a:pathLst>
                <a:path w="334009" h="274320">
                  <a:moveTo>
                    <a:pt x="300282" y="205650"/>
                  </a:moveTo>
                  <a:lnTo>
                    <a:pt x="33578" y="205650"/>
                  </a:lnTo>
                  <a:lnTo>
                    <a:pt x="18609" y="202223"/>
                  </a:lnTo>
                  <a:lnTo>
                    <a:pt x="7089" y="193092"/>
                  </a:lnTo>
                  <a:lnTo>
                    <a:pt x="419" y="179984"/>
                  </a:lnTo>
                  <a:lnTo>
                    <a:pt x="0" y="164627"/>
                  </a:lnTo>
                  <a:lnTo>
                    <a:pt x="27420" y="27527"/>
                  </a:lnTo>
                  <a:lnTo>
                    <a:pt x="31725" y="16470"/>
                  </a:lnTo>
                  <a:lnTo>
                    <a:pt x="39289" y="7758"/>
                  </a:lnTo>
                  <a:lnTo>
                    <a:pt x="49313" y="2049"/>
                  </a:lnTo>
                  <a:lnTo>
                    <a:pt x="60998" y="0"/>
                  </a:lnTo>
                  <a:lnTo>
                    <a:pt x="272862" y="0"/>
                  </a:lnTo>
                  <a:lnTo>
                    <a:pt x="306494" y="27527"/>
                  </a:lnTo>
                  <a:lnTo>
                    <a:pt x="307169" y="30901"/>
                  </a:lnTo>
                  <a:lnTo>
                    <a:pt x="289624" y="30901"/>
                  </a:lnTo>
                  <a:lnTo>
                    <a:pt x="272808" y="34275"/>
                  </a:lnTo>
                  <a:lnTo>
                    <a:pt x="60998" y="34275"/>
                  </a:lnTo>
                  <a:lnTo>
                    <a:pt x="49859" y="89972"/>
                  </a:lnTo>
                  <a:lnTo>
                    <a:pt x="318983" y="89972"/>
                  </a:lnTo>
                  <a:lnTo>
                    <a:pt x="324124" y="115678"/>
                  </a:lnTo>
                  <a:lnTo>
                    <a:pt x="44718" y="115678"/>
                  </a:lnTo>
                  <a:lnTo>
                    <a:pt x="33578" y="171375"/>
                  </a:lnTo>
                  <a:lnTo>
                    <a:pt x="333726" y="171375"/>
                  </a:lnTo>
                  <a:lnTo>
                    <a:pt x="333487" y="179984"/>
                  </a:lnTo>
                  <a:lnTo>
                    <a:pt x="326808" y="193092"/>
                  </a:lnTo>
                  <a:lnTo>
                    <a:pt x="315269" y="202223"/>
                  </a:lnTo>
                  <a:lnTo>
                    <a:pt x="300282" y="205650"/>
                  </a:lnTo>
                  <a:close/>
                </a:path>
                <a:path w="334009" h="274320">
                  <a:moveTo>
                    <a:pt x="318983" y="89972"/>
                  </a:moveTo>
                  <a:lnTo>
                    <a:pt x="284001" y="89972"/>
                  </a:lnTo>
                  <a:lnTo>
                    <a:pt x="272862" y="34275"/>
                  </a:lnTo>
                  <a:lnTo>
                    <a:pt x="289624" y="30901"/>
                  </a:lnTo>
                  <a:lnTo>
                    <a:pt x="307169" y="30901"/>
                  </a:lnTo>
                  <a:lnTo>
                    <a:pt x="318983" y="89972"/>
                  </a:lnTo>
                  <a:close/>
                </a:path>
                <a:path w="334009" h="274320">
                  <a:moveTo>
                    <a:pt x="129709" y="89972"/>
                  </a:moveTo>
                  <a:lnTo>
                    <a:pt x="103896" y="89972"/>
                  </a:lnTo>
                  <a:lnTo>
                    <a:pt x="109412" y="34275"/>
                  </a:lnTo>
                  <a:lnTo>
                    <a:pt x="135279" y="34275"/>
                  </a:lnTo>
                  <a:lnTo>
                    <a:pt x="129709" y="89972"/>
                  </a:lnTo>
                  <a:close/>
                </a:path>
                <a:path w="334009" h="274320">
                  <a:moveTo>
                    <a:pt x="229964" y="89972"/>
                  </a:moveTo>
                  <a:lnTo>
                    <a:pt x="204151" y="89972"/>
                  </a:lnTo>
                  <a:lnTo>
                    <a:pt x="198581" y="34275"/>
                  </a:lnTo>
                  <a:lnTo>
                    <a:pt x="224394" y="34275"/>
                  </a:lnTo>
                  <a:lnTo>
                    <a:pt x="229964" y="89972"/>
                  </a:lnTo>
                  <a:close/>
                </a:path>
                <a:path w="334009" h="274320">
                  <a:moveTo>
                    <a:pt x="121569" y="171375"/>
                  </a:moveTo>
                  <a:lnTo>
                    <a:pt x="95756" y="171375"/>
                  </a:lnTo>
                  <a:lnTo>
                    <a:pt x="101325" y="115678"/>
                  </a:lnTo>
                  <a:lnTo>
                    <a:pt x="127139" y="115678"/>
                  </a:lnTo>
                  <a:lnTo>
                    <a:pt x="121569" y="171375"/>
                  </a:lnTo>
                  <a:close/>
                </a:path>
                <a:path w="334009" h="274320">
                  <a:moveTo>
                    <a:pt x="238158" y="171375"/>
                  </a:moveTo>
                  <a:lnTo>
                    <a:pt x="212291" y="171375"/>
                  </a:lnTo>
                  <a:lnTo>
                    <a:pt x="206721" y="115678"/>
                  </a:lnTo>
                  <a:lnTo>
                    <a:pt x="232535" y="115678"/>
                  </a:lnTo>
                  <a:lnTo>
                    <a:pt x="238158" y="171375"/>
                  </a:lnTo>
                  <a:close/>
                </a:path>
                <a:path w="334009" h="274320">
                  <a:moveTo>
                    <a:pt x="333726" y="171375"/>
                  </a:moveTo>
                  <a:lnTo>
                    <a:pt x="300282" y="171375"/>
                  </a:lnTo>
                  <a:lnTo>
                    <a:pt x="289142" y="115678"/>
                  </a:lnTo>
                  <a:lnTo>
                    <a:pt x="324124" y="115678"/>
                  </a:lnTo>
                  <a:lnTo>
                    <a:pt x="333914" y="164627"/>
                  </a:lnTo>
                  <a:lnTo>
                    <a:pt x="333726" y="171375"/>
                  </a:lnTo>
                  <a:close/>
                </a:path>
                <a:path w="334009" h="274320">
                  <a:moveTo>
                    <a:pt x="184068" y="239925"/>
                  </a:moveTo>
                  <a:lnTo>
                    <a:pt x="149792" y="239925"/>
                  </a:lnTo>
                  <a:lnTo>
                    <a:pt x="149792" y="205650"/>
                  </a:lnTo>
                  <a:lnTo>
                    <a:pt x="184068" y="205650"/>
                  </a:lnTo>
                  <a:lnTo>
                    <a:pt x="184068" y="239925"/>
                  </a:lnTo>
                  <a:close/>
                </a:path>
                <a:path w="334009" h="274320">
                  <a:moveTo>
                    <a:pt x="227822" y="274200"/>
                  </a:moveTo>
                  <a:lnTo>
                    <a:pt x="106038" y="274200"/>
                  </a:lnTo>
                  <a:lnTo>
                    <a:pt x="98380" y="266542"/>
                  </a:lnTo>
                  <a:lnTo>
                    <a:pt x="98380" y="247584"/>
                  </a:lnTo>
                  <a:lnTo>
                    <a:pt x="106038" y="239925"/>
                  </a:lnTo>
                  <a:lnTo>
                    <a:pt x="227822" y="239925"/>
                  </a:lnTo>
                  <a:lnTo>
                    <a:pt x="235480" y="247584"/>
                  </a:lnTo>
                  <a:lnTo>
                    <a:pt x="235480" y="266542"/>
                  </a:lnTo>
                  <a:lnTo>
                    <a:pt x="227822" y="274200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8297416" y="3644709"/>
            <a:ext cx="14077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Renewable</a:t>
            </a:r>
            <a:r>
              <a:rPr dirty="0" sz="12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0" b="1">
                <a:solidFill>
                  <a:srgbClr val="0053A0"/>
                </a:solidFill>
                <a:latin typeface="Roboto"/>
                <a:cs typeface="Roboto"/>
              </a:rPr>
              <a:t>Integration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953124" y="3143249"/>
            <a:ext cx="3609975" cy="1447800"/>
            <a:chOff x="5953124" y="3143249"/>
            <a:chExt cx="3609975" cy="1447800"/>
          </a:xfrm>
        </p:grpSpPr>
        <p:sp>
          <p:nvSpPr>
            <p:cNvPr id="26" name="object 26" descr=""/>
            <p:cNvSpPr/>
            <p:nvPr/>
          </p:nvSpPr>
          <p:spPr>
            <a:xfrm>
              <a:off x="8982062" y="3438524"/>
              <a:ext cx="581025" cy="1152525"/>
            </a:xfrm>
            <a:custGeom>
              <a:avLst/>
              <a:gdLst/>
              <a:ahLst/>
              <a:cxnLst/>
              <a:rect l="l" t="t" r="r" b="b"/>
              <a:pathLst>
                <a:path w="581025" h="1152525">
                  <a:moveTo>
                    <a:pt x="114300" y="1038225"/>
                  </a:moveTo>
                  <a:lnTo>
                    <a:pt x="0" y="1038225"/>
                  </a:lnTo>
                  <a:lnTo>
                    <a:pt x="57150" y="1152525"/>
                  </a:lnTo>
                  <a:lnTo>
                    <a:pt x="114300" y="1038225"/>
                  </a:lnTo>
                  <a:close/>
                </a:path>
                <a:path w="581025" h="1152525">
                  <a:moveTo>
                    <a:pt x="581025" y="0"/>
                  </a:moveTo>
                  <a:lnTo>
                    <a:pt x="561975" y="0"/>
                  </a:lnTo>
                  <a:lnTo>
                    <a:pt x="561975" y="1143000"/>
                  </a:lnTo>
                  <a:lnTo>
                    <a:pt x="581025" y="1143000"/>
                  </a:lnTo>
                  <a:lnTo>
                    <a:pt x="581025" y="0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962649" y="3152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2" y="742949"/>
                  </a:moveTo>
                  <a:lnTo>
                    <a:pt x="62296" y="742949"/>
                  </a:lnTo>
                  <a:lnTo>
                    <a:pt x="57960" y="742522"/>
                  </a:lnTo>
                  <a:lnTo>
                    <a:pt x="22623" y="726516"/>
                  </a:lnTo>
                  <a:lnTo>
                    <a:pt x="2135" y="693576"/>
                  </a:lnTo>
                  <a:lnTo>
                    <a:pt x="0" y="67627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1633152" y="0"/>
                  </a:lnTo>
                  <a:lnTo>
                    <a:pt x="1669456" y="13668"/>
                  </a:lnTo>
                  <a:lnTo>
                    <a:pt x="1692049" y="45203"/>
                  </a:lnTo>
                  <a:lnTo>
                    <a:pt x="1695449" y="62297"/>
                  </a:lnTo>
                  <a:lnTo>
                    <a:pt x="1695449" y="680652"/>
                  </a:lnTo>
                  <a:lnTo>
                    <a:pt x="1681780" y="716957"/>
                  </a:lnTo>
                  <a:lnTo>
                    <a:pt x="1650244" y="739549"/>
                  </a:lnTo>
                  <a:lnTo>
                    <a:pt x="1633152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962649" y="3152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7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3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1628774" y="0"/>
                  </a:lnTo>
                  <a:lnTo>
                    <a:pt x="1633152" y="0"/>
                  </a:lnTo>
                  <a:lnTo>
                    <a:pt x="1637488" y="427"/>
                  </a:lnTo>
                  <a:lnTo>
                    <a:pt x="1665816" y="11236"/>
                  </a:lnTo>
                  <a:lnTo>
                    <a:pt x="1669456" y="13668"/>
                  </a:lnTo>
                  <a:lnTo>
                    <a:pt x="1684212" y="29632"/>
                  </a:lnTo>
                  <a:lnTo>
                    <a:pt x="1686644" y="33272"/>
                  </a:lnTo>
                  <a:lnTo>
                    <a:pt x="1688698" y="37114"/>
                  </a:lnTo>
                  <a:lnTo>
                    <a:pt x="1690373" y="41159"/>
                  </a:lnTo>
                  <a:lnTo>
                    <a:pt x="1692049" y="45203"/>
                  </a:lnTo>
                  <a:lnTo>
                    <a:pt x="1693314" y="49373"/>
                  </a:lnTo>
                  <a:lnTo>
                    <a:pt x="1694168" y="53667"/>
                  </a:lnTo>
                  <a:lnTo>
                    <a:pt x="1695022" y="57960"/>
                  </a:lnTo>
                  <a:lnTo>
                    <a:pt x="1695449" y="62297"/>
                  </a:lnTo>
                  <a:lnTo>
                    <a:pt x="1695449" y="66674"/>
                  </a:lnTo>
                  <a:lnTo>
                    <a:pt x="1695449" y="676274"/>
                  </a:lnTo>
                  <a:lnTo>
                    <a:pt x="1695449" y="680652"/>
                  </a:lnTo>
                  <a:lnTo>
                    <a:pt x="1695022" y="684988"/>
                  </a:lnTo>
                  <a:lnTo>
                    <a:pt x="1694167" y="689282"/>
                  </a:lnTo>
                  <a:lnTo>
                    <a:pt x="1693313" y="693576"/>
                  </a:lnTo>
                  <a:lnTo>
                    <a:pt x="1692049" y="697745"/>
                  </a:lnTo>
                  <a:lnTo>
                    <a:pt x="1690373" y="701789"/>
                  </a:lnTo>
                  <a:lnTo>
                    <a:pt x="1688698" y="705834"/>
                  </a:lnTo>
                  <a:lnTo>
                    <a:pt x="1686644" y="709676"/>
                  </a:lnTo>
                  <a:lnTo>
                    <a:pt x="1684212" y="713316"/>
                  </a:lnTo>
                  <a:lnTo>
                    <a:pt x="1681780" y="716957"/>
                  </a:lnTo>
                  <a:lnTo>
                    <a:pt x="1665816" y="731712"/>
                  </a:lnTo>
                  <a:lnTo>
                    <a:pt x="1662176" y="734144"/>
                  </a:lnTo>
                  <a:lnTo>
                    <a:pt x="1641781" y="741668"/>
                  </a:lnTo>
                  <a:lnTo>
                    <a:pt x="1637488" y="742522"/>
                  </a:lnTo>
                  <a:lnTo>
                    <a:pt x="1633152" y="742949"/>
                  </a:lnTo>
                  <a:lnTo>
                    <a:pt x="1628774" y="742949"/>
                  </a:lnTo>
                  <a:lnTo>
                    <a:pt x="66674" y="742949"/>
                  </a:lnTo>
                  <a:lnTo>
                    <a:pt x="62296" y="742949"/>
                  </a:lnTo>
                  <a:lnTo>
                    <a:pt x="57960" y="742522"/>
                  </a:lnTo>
                  <a:lnTo>
                    <a:pt x="53666" y="741668"/>
                  </a:lnTo>
                  <a:lnTo>
                    <a:pt x="49372" y="740814"/>
                  </a:lnTo>
                  <a:lnTo>
                    <a:pt x="45203" y="739549"/>
                  </a:lnTo>
                  <a:lnTo>
                    <a:pt x="41159" y="737874"/>
                  </a:lnTo>
                  <a:lnTo>
                    <a:pt x="37113" y="736198"/>
                  </a:lnTo>
                  <a:lnTo>
                    <a:pt x="33271" y="734144"/>
                  </a:lnTo>
                  <a:lnTo>
                    <a:pt x="29631" y="731712"/>
                  </a:lnTo>
                  <a:lnTo>
                    <a:pt x="25991" y="729280"/>
                  </a:lnTo>
                  <a:lnTo>
                    <a:pt x="5074" y="701789"/>
                  </a:lnTo>
                  <a:lnTo>
                    <a:pt x="3399" y="697745"/>
                  </a:lnTo>
                  <a:lnTo>
                    <a:pt x="2135" y="693576"/>
                  </a:lnTo>
                  <a:lnTo>
                    <a:pt x="1281" y="689282"/>
                  </a:lnTo>
                  <a:lnTo>
                    <a:pt x="427" y="684988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676087" y="3150393"/>
              <a:ext cx="268605" cy="233679"/>
            </a:xfrm>
            <a:custGeom>
              <a:avLst/>
              <a:gdLst/>
              <a:ahLst/>
              <a:cxnLst/>
              <a:rect l="l" t="t" r="r" b="b"/>
              <a:pathLst>
                <a:path w="268604" h="233679">
                  <a:moveTo>
                    <a:pt x="254250" y="233362"/>
                  </a:moveTo>
                  <a:lnTo>
                    <a:pt x="14324" y="233362"/>
                  </a:lnTo>
                  <a:lnTo>
                    <a:pt x="7396" y="229351"/>
                  </a:lnTo>
                  <a:lnTo>
                    <a:pt x="0" y="216433"/>
                  </a:lnTo>
                  <a:lnTo>
                    <a:pt x="52" y="208411"/>
                  </a:lnTo>
                  <a:lnTo>
                    <a:pt x="120067" y="3906"/>
                  </a:lnTo>
                  <a:lnTo>
                    <a:pt x="126890" y="0"/>
                  </a:lnTo>
                  <a:lnTo>
                    <a:pt x="141684" y="0"/>
                  </a:lnTo>
                  <a:lnTo>
                    <a:pt x="148508" y="3906"/>
                  </a:lnTo>
                  <a:lnTo>
                    <a:pt x="185350" y="66675"/>
                  </a:lnTo>
                  <a:lnTo>
                    <a:pt x="127359" y="66675"/>
                  </a:lnTo>
                  <a:lnTo>
                    <a:pt x="121786" y="72248"/>
                  </a:lnTo>
                  <a:lnTo>
                    <a:pt x="121786" y="144445"/>
                  </a:lnTo>
                  <a:lnTo>
                    <a:pt x="127359" y="150018"/>
                  </a:lnTo>
                  <a:lnTo>
                    <a:pt x="234270" y="150018"/>
                  </a:lnTo>
                  <a:lnTo>
                    <a:pt x="244054" y="166687"/>
                  </a:lnTo>
                  <a:lnTo>
                    <a:pt x="132077" y="166687"/>
                  </a:lnTo>
                  <a:lnTo>
                    <a:pt x="129950" y="167110"/>
                  </a:lnTo>
                  <a:lnTo>
                    <a:pt x="117618" y="181145"/>
                  </a:lnTo>
                  <a:lnTo>
                    <a:pt x="117618" y="185566"/>
                  </a:lnTo>
                  <a:lnTo>
                    <a:pt x="263622" y="200024"/>
                  </a:lnTo>
                  <a:lnTo>
                    <a:pt x="268544" y="208411"/>
                  </a:lnTo>
                  <a:lnTo>
                    <a:pt x="268575" y="216433"/>
                  </a:lnTo>
                  <a:lnTo>
                    <a:pt x="261178" y="229351"/>
                  </a:lnTo>
                  <a:lnTo>
                    <a:pt x="254250" y="233362"/>
                  </a:lnTo>
                  <a:close/>
                </a:path>
                <a:path w="268604" h="233679">
                  <a:moveTo>
                    <a:pt x="234270" y="150018"/>
                  </a:moveTo>
                  <a:lnTo>
                    <a:pt x="141215" y="150018"/>
                  </a:lnTo>
                  <a:lnTo>
                    <a:pt x="146789" y="144445"/>
                  </a:lnTo>
                  <a:lnTo>
                    <a:pt x="146789" y="72248"/>
                  </a:lnTo>
                  <a:lnTo>
                    <a:pt x="141215" y="66675"/>
                  </a:lnTo>
                  <a:lnTo>
                    <a:pt x="185350" y="66675"/>
                  </a:lnTo>
                  <a:lnTo>
                    <a:pt x="234270" y="150018"/>
                  </a:lnTo>
                  <a:close/>
                </a:path>
                <a:path w="268604" h="233679">
                  <a:moveTo>
                    <a:pt x="263622" y="200024"/>
                  </a:moveTo>
                  <a:lnTo>
                    <a:pt x="136498" y="200024"/>
                  </a:lnTo>
                  <a:lnTo>
                    <a:pt x="138624" y="199602"/>
                  </a:lnTo>
                  <a:lnTo>
                    <a:pt x="142708" y="197910"/>
                  </a:lnTo>
                  <a:lnTo>
                    <a:pt x="150956" y="185566"/>
                  </a:lnTo>
                  <a:lnTo>
                    <a:pt x="150956" y="181145"/>
                  </a:lnTo>
                  <a:lnTo>
                    <a:pt x="136498" y="166687"/>
                  </a:lnTo>
                  <a:lnTo>
                    <a:pt x="244054" y="166687"/>
                  </a:lnTo>
                  <a:lnTo>
                    <a:pt x="263622" y="200024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8143873" y="4667249"/>
            <a:ext cx="1714500" cy="762000"/>
            <a:chOff x="8143873" y="4667249"/>
            <a:chExt cx="1714500" cy="762000"/>
          </a:xfrm>
        </p:grpSpPr>
        <p:sp>
          <p:nvSpPr>
            <p:cNvPr id="31" name="object 31" descr=""/>
            <p:cNvSpPr/>
            <p:nvPr/>
          </p:nvSpPr>
          <p:spPr>
            <a:xfrm>
              <a:off x="8153398" y="4676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7" y="742949"/>
                  </a:lnTo>
                  <a:lnTo>
                    <a:pt x="57960" y="742522"/>
                  </a:lnTo>
                  <a:lnTo>
                    <a:pt x="22624" y="726516"/>
                  </a:lnTo>
                  <a:lnTo>
                    <a:pt x="2134" y="693576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3"/>
                  </a:lnTo>
                  <a:lnTo>
                    <a:pt x="1695450" y="62297"/>
                  </a:lnTo>
                  <a:lnTo>
                    <a:pt x="1695450" y="680652"/>
                  </a:lnTo>
                  <a:lnTo>
                    <a:pt x="1681780" y="716957"/>
                  </a:lnTo>
                  <a:lnTo>
                    <a:pt x="1650245" y="739549"/>
                  </a:lnTo>
                  <a:lnTo>
                    <a:pt x="1637488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153398" y="4676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2"/>
                  </a:lnTo>
                  <a:lnTo>
                    <a:pt x="13668" y="25992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8" y="427"/>
                  </a:lnTo>
                  <a:lnTo>
                    <a:pt x="1641782" y="1281"/>
                  </a:lnTo>
                  <a:lnTo>
                    <a:pt x="1646076" y="2135"/>
                  </a:lnTo>
                  <a:lnTo>
                    <a:pt x="1650245" y="3399"/>
                  </a:lnTo>
                  <a:lnTo>
                    <a:pt x="1654290" y="5075"/>
                  </a:lnTo>
                  <a:lnTo>
                    <a:pt x="1658335" y="6750"/>
                  </a:lnTo>
                  <a:lnTo>
                    <a:pt x="1662176" y="8804"/>
                  </a:lnTo>
                  <a:lnTo>
                    <a:pt x="1665817" y="11236"/>
                  </a:lnTo>
                  <a:lnTo>
                    <a:pt x="1669457" y="13668"/>
                  </a:lnTo>
                  <a:lnTo>
                    <a:pt x="1672825" y="16432"/>
                  </a:lnTo>
                  <a:lnTo>
                    <a:pt x="1675921" y="19528"/>
                  </a:lnTo>
                  <a:lnTo>
                    <a:pt x="1679016" y="22623"/>
                  </a:lnTo>
                  <a:lnTo>
                    <a:pt x="1681780" y="25991"/>
                  </a:lnTo>
                  <a:lnTo>
                    <a:pt x="1684212" y="29631"/>
                  </a:lnTo>
                  <a:lnTo>
                    <a:pt x="1686645" y="33272"/>
                  </a:lnTo>
                  <a:lnTo>
                    <a:pt x="1688698" y="37114"/>
                  </a:lnTo>
                  <a:lnTo>
                    <a:pt x="1690373" y="41159"/>
                  </a:lnTo>
                  <a:lnTo>
                    <a:pt x="1692049" y="45203"/>
                  </a:lnTo>
                  <a:lnTo>
                    <a:pt x="1693314" y="49373"/>
                  </a:lnTo>
                  <a:lnTo>
                    <a:pt x="1694169" y="53666"/>
                  </a:lnTo>
                  <a:lnTo>
                    <a:pt x="1695023" y="57960"/>
                  </a:lnTo>
                  <a:lnTo>
                    <a:pt x="1695450" y="62297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95450" y="680652"/>
                  </a:lnTo>
                  <a:lnTo>
                    <a:pt x="1695023" y="684988"/>
                  </a:lnTo>
                  <a:lnTo>
                    <a:pt x="1679016" y="720325"/>
                  </a:lnTo>
                  <a:lnTo>
                    <a:pt x="1654290" y="737874"/>
                  </a:lnTo>
                  <a:lnTo>
                    <a:pt x="1650245" y="739549"/>
                  </a:lnTo>
                  <a:lnTo>
                    <a:pt x="1646076" y="740814"/>
                  </a:lnTo>
                  <a:lnTo>
                    <a:pt x="1641782" y="741668"/>
                  </a:lnTo>
                  <a:lnTo>
                    <a:pt x="1637488" y="742522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7" y="742949"/>
                  </a:lnTo>
                  <a:lnTo>
                    <a:pt x="57960" y="742522"/>
                  </a:lnTo>
                  <a:lnTo>
                    <a:pt x="53667" y="741668"/>
                  </a:lnTo>
                  <a:lnTo>
                    <a:pt x="49373" y="740814"/>
                  </a:lnTo>
                  <a:lnTo>
                    <a:pt x="45203" y="739549"/>
                  </a:lnTo>
                  <a:lnTo>
                    <a:pt x="41159" y="737874"/>
                  </a:lnTo>
                  <a:lnTo>
                    <a:pt x="37114" y="736199"/>
                  </a:lnTo>
                  <a:lnTo>
                    <a:pt x="8804" y="709676"/>
                  </a:lnTo>
                  <a:lnTo>
                    <a:pt x="5075" y="701790"/>
                  </a:lnTo>
                  <a:lnTo>
                    <a:pt x="3399" y="697745"/>
                  </a:lnTo>
                  <a:lnTo>
                    <a:pt x="2134" y="693576"/>
                  </a:lnTo>
                  <a:lnTo>
                    <a:pt x="1280" y="689282"/>
                  </a:lnTo>
                  <a:lnTo>
                    <a:pt x="426" y="684988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867774" y="4691062"/>
              <a:ext cx="266700" cy="200025"/>
            </a:xfrm>
            <a:custGeom>
              <a:avLst/>
              <a:gdLst/>
              <a:ahLst/>
              <a:cxnLst/>
              <a:rect l="l" t="t" r="r" b="b"/>
              <a:pathLst>
                <a:path w="266700" h="200025">
                  <a:moveTo>
                    <a:pt x="108346" y="16668"/>
                  </a:moveTo>
                  <a:lnTo>
                    <a:pt x="41671" y="16668"/>
                  </a:lnTo>
                  <a:lnTo>
                    <a:pt x="41671" y="7448"/>
                  </a:lnTo>
                  <a:lnTo>
                    <a:pt x="49120" y="0"/>
                  </a:lnTo>
                  <a:lnTo>
                    <a:pt x="100898" y="0"/>
                  </a:lnTo>
                  <a:lnTo>
                    <a:pt x="108346" y="7448"/>
                  </a:lnTo>
                  <a:lnTo>
                    <a:pt x="108346" y="16668"/>
                  </a:lnTo>
                  <a:close/>
                </a:path>
                <a:path w="266700" h="200025">
                  <a:moveTo>
                    <a:pt x="225028" y="16668"/>
                  </a:moveTo>
                  <a:lnTo>
                    <a:pt x="158353" y="16668"/>
                  </a:lnTo>
                  <a:lnTo>
                    <a:pt x="158353" y="7448"/>
                  </a:lnTo>
                  <a:lnTo>
                    <a:pt x="165801" y="0"/>
                  </a:lnTo>
                  <a:lnTo>
                    <a:pt x="217579" y="0"/>
                  </a:lnTo>
                  <a:lnTo>
                    <a:pt x="225028" y="7448"/>
                  </a:lnTo>
                  <a:lnTo>
                    <a:pt x="225028" y="16668"/>
                  </a:lnTo>
                  <a:close/>
                </a:path>
                <a:path w="266700" h="200025">
                  <a:moveTo>
                    <a:pt x="233362" y="200025"/>
                  </a:moveTo>
                  <a:lnTo>
                    <a:pt x="33337" y="200025"/>
                  </a:lnTo>
                  <a:lnTo>
                    <a:pt x="20371" y="197401"/>
                  </a:lnTo>
                  <a:lnTo>
                    <a:pt x="9773" y="190251"/>
                  </a:lnTo>
                  <a:lnTo>
                    <a:pt x="2623" y="179653"/>
                  </a:lnTo>
                  <a:lnTo>
                    <a:pt x="0" y="166687"/>
                  </a:lnTo>
                  <a:lnTo>
                    <a:pt x="0" y="50006"/>
                  </a:lnTo>
                  <a:lnTo>
                    <a:pt x="2623" y="37039"/>
                  </a:lnTo>
                  <a:lnTo>
                    <a:pt x="9773" y="26442"/>
                  </a:lnTo>
                  <a:lnTo>
                    <a:pt x="20371" y="19291"/>
                  </a:lnTo>
                  <a:lnTo>
                    <a:pt x="33337" y="16668"/>
                  </a:lnTo>
                  <a:lnTo>
                    <a:pt x="233362" y="16668"/>
                  </a:lnTo>
                  <a:lnTo>
                    <a:pt x="246328" y="19291"/>
                  </a:lnTo>
                  <a:lnTo>
                    <a:pt x="256926" y="26442"/>
                  </a:lnTo>
                  <a:lnTo>
                    <a:pt x="264076" y="37039"/>
                  </a:lnTo>
                  <a:lnTo>
                    <a:pt x="266700" y="50006"/>
                  </a:lnTo>
                  <a:lnTo>
                    <a:pt x="266700" y="58340"/>
                  </a:lnTo>
                  <a:lnTo>
                    <a:pt x="187106" y="58340"/>
                  </a:lnTo>
                  <a:lnTo>
                    <a:pt x="183356" y="62091"/>
                  </a:lnTo>
                  <a:lnTo>
                    <a:pt x="183356" y="83343"/>
                  </a:lnTo>
                  <a:lnTo>
                    <a:pt x="45422" y="83343"/>
                  </a:lnTo>
                  <a:lnTo>
                    <a:pt x="41671" y="87094"/>
                  </a:lnTo>
                  <a:lnTo>
                    <a:pt x="41671" y="96262"/>
                  </a:lnTo>
                  <a:lnTo>
                    <a:pt x="45422" y="100012"/>
                  </a:lnTo>
                  <a:lnTo>
                    <a:pt x="183356" y="100012"/>
                  </a:lnTo>
                  <a:lnTo>
                    <a:pt x="183356" y="121265"/>
                  </a:lnTo>
                  <a:lnTo>
                    <a:pt x="187106" y="125015"/>
                  </a:lnTo>
                  <a:lnTo>
                    <a:pt x="266700" y="125015"/>
                  </a:lnTo>
                  <a:lnTo>
                    <a:pt x="266700" y="166687"/>
                  </a:lnTo>
                  <a:lnTo>
                    <a:pt x="264076" y="179653"/>
                  </a:lnTo>
                  <a:lnTo>
                    <a:pt x="256926" y="190251"/>
                  </a:lnTo>
                  <a:lnTo>
                    <a:pt x="246328" y="197401"/>
                  </a:lnTo>
                  <a:lnTo>
                    <a:pt x="233362" y="200025"/>
                  </a:lnTo>
                  <a:close/>
                </a:path>
                <a:path w="266700" h="200025">
                  <a:moveTo>
                    <a:pt x="266700" y="125015"/>
                  </a:moveTo>
                  <a:lnTo>
                    <a:pt x="196274" y="125015"/>
                  </a:lnTo>
                  <a:lnTo>
                    <a:pt x="200025" y="121265"/>
                  </a:lnTo>
                  <a:lnTo>
                    <a:pt x="200025" y="100012"/>
                  </a:lnTo>
                  <a:lnTo>
                    <a:pt x="221277" y="100012"/>
                  </a:lnTo>
                  <a:lnTo>
                    <a:pt x="225028" y="96262"/>
                  </a:lnTo>
                  <a:lnTo>
                    <a:pt x="225028" y="87094"/>
                  </a:lnTo>
                  <a:lnTo>
                    <a:pt x="221277" y="83343"/>
                  </a:lnTo>
                  <a:lnTo>
                    <a:pt x="200025" y="83343"/>
                  </a:lnTo>
                  <a:lnTo>
                    <a:pt x="200025" y="62091"/>
                  </a:lnTo>
                  <a:lnTo>
                    <a:pt x="196274" y="58340"/>
                  </a:lnTo>
                  <a:lnTo>
                    <a:pt x="266700" y="58340"/>
                  </a:lnTo>
                  <a:lnTo>
                    <a:pt x="266700" y="125015"/>
                  </a:lnTo>
                  <a:close/>
                </a:path>
                <a:path w="266700" h="200025">
                  <a:moveTo>
                    <a:pt x="162103" y="100012"/>
                  </a:moveTo>
                  <a:lnTo>
                    <a:pt x="104596" y="100012"/>
                  </a:lnTo>
                  <a:lnTo>
                    <a:pt x="108346" y="96262"/>
                  </a:lnTo>
                  <a:lnTo>
                    <a:pt x="108346" y="87094"/>
                  </a:lnTo>
                  <a:lnTo>
                    <a:pt x="104596" y="83343"/>
                  </a:lnTo>
                  <a:lnTo>
                    <a:pt x="162103" y="83343"/>
                  </a:lnTo>
                  <a:lnTo>
                    <a:pt x="158353" y="87094"/>
                  </a:lnTo>
                  <a:lnTo>
                    <a:pt x="158353" y="96262"/>
                  </a:lnTo>
                  <a:lnTo>
                    <a:pt x="162103" y="100012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8498929" y="5037492"/>
            <a:ext cx="1004569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 marR="5080" indent="-153035">
              <a:lnSpc>
                <a:spcPct val="114599"/>
              </a:lnSpc>
              <a:spcBef>
                <a:spcPts val="100"/>
              </a:spcBef>
            </a:pPr>
            <a:r>
              <a:rPr dirty="0" sz="1200" spc="-65" b="1">
                <a:solidFill>
                  <a:srgbClr val="0053A0"/>
                </a:solidFill>
                <a:latin typeface="Roboto"/>
                <a:cs typeface="Roboto"/>
              </a:rPr>
              <a:t>Bidirectional</a:t>
            </a:r>
            <a:r>
              <a:rPr dirty="0" sz="1200" spc="4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45" b="1">
                <a:solidFill>
                  <a:srgbClr val="0053A0"/>
                </a:solidFill>
                <a:latin typeface="Roboto"/>
                <a:cs typeface="Roboto"/>
              </a:rPr>
              <a:t>EV </a:t>
            </a:r>
            <a:r>
              <a:rPr dirty="0" sz="1200" spc="-10" b="1">
                <a:solidFill>
                  <a:srgbClr val="0053A0"/>
                </a:solidFill>
                <a:latin typeface="Roboto"/>
                <a:cs typeface="Roboto"/>
              </a:rPr>
              <a:t>Integration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206975" y="3513492"/>
            <a:ext cx="120713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marR="5080" indent="-247650">
              <a:lnSpc>
                <a:spcPct val="114599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Frequency</a:t>
            </a:r>
            <a:r>
              <a:rPr dirty="0" sz="12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0" b="1">
                <a:solidFill>
                  <a:srgbClr val="0053A0"/>
                </a:solidFill>
                <a:latin typeface="Roboto"/>
                <a:cs typeface="Roboto"/>
              </a:rPr>
              <a:t>Stability </a:t>
            </a:r>
            <a:r>
              <a:rPr dirty="0" sz="1200" spc="-10" b="1">
                <a:solidFill>
                  <a:srgbClr val="0053A0"/>
                </a:solidFill>
                <a:latin typeface="Roboto"/>
                <a:cs typeface="Roboto"/>
              </a:rPr>
              <a:t>Challenges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7191375" y="3133724"/>
            <a:ext cx="4857750" cy="771525"/>
            <a:chOff x="7191375" y="3133724"/>
            <a:chExt cx="4857750" cy="771525"/>
          </a:xfrm>
        </p:grpSpPr>
        <p:sp>
          <p:nvSpPr>
            <p:cNvPr id="37" name="object 37" descr=""/>
            <p:cNvSpPr/>
            <p:nvPr/>
          </p:nvSpPr>
          <p:spPr>
            <a:xfrm>
              <a:off x="7191362" y="3524249"/>
              <a:ext cx="1143000" cy="114300"/>
            </a:xfrm>
            <a:custGeom>
              <a:avLst/>
              <a:gdLst/>
              <a:ahLst/>
              <a:cxnLst/>
              <a:rect l="l" t="t" r="r" b="b"/>
              <a:pathLst>
                <a:path w="1143000" h="114300">
                  <a:moveTo>
                    <a:pt x="1143000" y="0"/>
                  </a:moveTo>
                  <a:lnTo>
                    <a:pt x="1143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76200" y="19050"/>
                  </a:lnTo>
                  <a:lnTo>
                    <a:pt x="0" y="57150"/>
                  </a:lnTo>
                  <a:lnTo>
                    <a:pt x="114300" y="114300"/>
                  </a:lnTo>
                  <a:lnTo>
                    <a:pt x="114300" y="19050"/>
                  </a:lnTo>
                  <a:lnTo>
                    <a:pt x="1143000" y="1905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344149" y="3152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2" y="742949"/>
                  </a:moveTo>
                  <a:lnTo>
                    <a:pt x="62297" y="742949"/>
                  </a:lnTo>
                  <a:lnTo>
                    <a:pt x="57960" y="742522"/>
                  </a:lnTo>
                  <a:lnTo>
                    <a:pt x="22624" y="726516"/>
                  </a:lnTo>
                  <a:lnTo>
                    <a:pt x="2133" y="693576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7"/>
                  </a:lnTo>
                  <a:lnTo>
                    <a:pt x="13667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633152" y="0"/>
                  </a:lnTo>
                  <a:lnTo>
                    <a:pt x="1669457" y="13668"/>
                  </a:lnTo>
                  <a:lnTo>
                    <a:pt x="1692048" y="45203"/>
                  </a:lnTo>
                  <a:lnTo>
                    <a:pt x="1695448" y="62297"/>
                  </a:lnTo>
                  <a:lnTo>
                    <a:pt x="1695448" y="680652"/>
                  </a:lnTo>
                  <a:lnTo>
                    <a:pt x="1681780" y="716957"/>
                  </a:lnTo>
                  <a:lnTo>
                    <a:pt x="1650245" y="739549"/>
                  </a:lnTo>
                  <a:lnTo>
                    <a:pt x="1637489" y="742522"/>
                  </a:lnTo>
                  <a:lnTo>
                    <a:pt x="1633152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344149" y="31527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1236" y="29632"/>
                  </a:lnTo>
                  <a:lnTo>
                    <a:pt x="13667" y="25992"/>
                  </a:lnTo>
                  <a:lnTo>
                    <a:pt x="16431" y="22623"/>
                  </a:lnTo>
                  <a:lnTo>
                    <a:pt x="19527" y="19528"/>
                  </a:lnTo>
                  <a:lnTo>
                    <a:pt x="22624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2" y="6750"/>
                  </a:lnTo>
                  <a:lnTo>
                    <a:pt x="41157" y="5075"/>
                  </a:lnTo>
                  <a:lnTo>
                    <a:pt x="45203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1628774" y="0"/>
                  </a:lnTo>
                  <a:lnTo>
                    <a:pt x="1633152" y="0"/>
                  </a:lnTo>
                  <a:lnTo>
                    <a:pt x="1637489" y="427"/>
                  </a:lnTo>
                  <a:lnTo>
                    <a:pt x="1641783" y="1281"/>
                  </a:lnTo>
                  <a:lnTo>
                    <a:pt x="1646077" y="2135"/>
                  </a:lnTo>
                  <a:lnTo>
                    <a:pt x="1650245" y="3399"/>
                  </a:lnTo>
                  <a:lnTo>
                    <a:pt x="1654289" y="5075"/>
                  </a:lnTo>
                  <a:lnTo>
                    <a:pt x="1658334" y="6750"/>
                  </a:lnTo>
                  <a:lnTo>
                    <a:pt x="1662176" y="8804"/>
                  </a:lnTo>
                  <a:lnTo>
                    <a:pt x="1665816" y="11236"/>
                  </a:lnTo>
                  <a:lnTo>
                    <a:pt x="1669457" y="13668"/>
                  </a:lnTo>
                  <a:lnTo>
                    <a:pt x="1672824" y="16432"/>
                  </a:lnTo>
                  <a:lnTo>
                    <a:pt x="1675920" y="19528"/>
                  </a:lnTo>
                  <a:lnTo>
                    <a:pt x="1679017" y="22623"/>
                  </a:lnTo>
                  <a:lnTo>
                    <a:pt x="1681780" y="25992"/>
                  </a:lnTo>
                  <a:lnTo>
                    <a:pt x="1684212" y="29632"/>
                  </a:lnTo>
                  <a:lnTo>
                    <a:pt x="1686643" y="33272"/>
                  </a:lnTo>
                  <a:lnTo>
                    <a:pt x="1688697" y="37114"/>
                  </a:lnTo>
                  <a:lnTo>
                    <a:pt x="1690373" y="41159"/>
                  </a:lnTo>
                  <a:lnTo>
                    <a:pt x="1692048" y="45203"/>
                  </a:lnTo>
                  <a:lnTo>
                    <a:pt x="1693313" y="49373"/>
                  </a:lnTo>
                  <a:lnTo>
                    <a:pt x="1694167" y="53667"/>
                  </a:lnTo>
                  <a:lnTo>
                    <a:pt x="1695022" y="57960"/>
                  </a:lnTo>
                  <a:lnTo>
                    <a:pt x="1695448" y="62297"/>
                  </a:lnTo>
                  <a:lnTo>
                    <a:pt x="1695449" y="66674"/>
                  </a:lnTo>
                  <a:lnTo>
                    <a:pt x="1695449" y="676274"/>
                  </a:lnTo>
                  <a:lnTo>
                    <a:pt x="1695448" y="680652"/>
                  </a:lnTo>
                  <a:lnTo>
                    <a:pt x="1695022" y="684988"/>
                  </a:lnTo>
                  <a:lnTo>
                    <a:pt x="1694167" y="689282"/>
                  </a:lnTo>
                  <a:lnTo>
                    <a:pt x="1693313" y="693576"/>
                  </a:lnTo>
                  <a:lnTo>
                    <a:pt x="1692048" y="697745"/>
                  </a:lnTo>
                  <a:lnTo>
                    <a:pt x="1690373" y="701789"/>
                  </a:lnTo>
                  <a:lnTo>
                    <a:pt x="1688697" y="705834"/>
                  </a:lnTo>
                  <a:lnTo>
                    <a:pt x="1686643" y="709676"/>
                  </a:lnTo>
                  <a:lnTo>
                    <a:pt x="1684212" y="713316"/>
                  </a:lnTo>
                  <a:lnTo>
                    <a:pt x="1681780" y="716957"/>
                  </a:lnTo>
                  <a:lnTo>
                    <a:pt x="1654289" y="737874"/>
                  </a:lnTo>
                  <a:lnTo>
                    <a:pt x="1650245" y="739549"/>
                  </a:lnTo>
                  <a:lnTo>
                    <a:pt x="1646077" y="740814"/>
                  </a:lnTo>
                  <a:lnTo>
                    <a:pt x="1641783" y="741668"/>
                  </a:lnTo>
                  <a:lnTo>
                    <a:pt x="1637489" y="742522"/>
                  </a:lnTo>
                  <a:lnTo>
                    <a:pt x="1633152" y="742949"/>
                  </a:lnTo>
                  <a:lnTo>
                    <a:pt x="1628774" y="742949"/>
                  </a:lnTo>
                  <a:lnTo>
                    <a:pt x="66674" y="742949"/>
                  </a:lnTo>
                  <a:lnTo>
                    <a:pt x="62297" y="742949"/>
                  </a:lnTo>
                  <a:lnTo>
                    <a:pt x="57960" y="742522"/>
                  </a:lnTo>
                  <a:lnTo>
                    <a:pt x="53666" y="741668"/>
                  </a:lnTo>
                  <a:lnTo>
                    <a:pt x="49372" y="740814"/>
                  </a:lnTo>
                  <a:lnTo>
                    <a:pt x="45204" y="739549"/>
                  </a:lnTo>
                  <a:lnTo>
                    <a:pt x="41159" y="737874"/>
                  </a:lnTo>
                  <a:lnTo>
                    <a:pt x="37113" y="736198"/>
                  </a:lnTo>
                  <a:lnTo>
                    <a:pt x="33272" y="734144"/>
                  </a:lnTo>
                  <a:lnTo>
                    <a:pt x="29631" y="731712"/>
                  </a:lnTo>
                  <a:lnTo>
                    <a:pt x="25991" y="729280"/>
                  </a:lnTo>
                  <a:lnTo>
                    <a:pt x="11236" y="713316"/>
                  </a:lnTo>
                  <a:lnTo>
                    <a:pt x="8804" y="709676"/>
                  </a:lnTo>
                  <a:lnTo>
                    <a:pt x="6749" y="705834"/>
                  </a:lnTo>
                  <a:lnTo>
                    <a:pt x="5074" y="701789"/>
                  </a:lnTo>
                  <a:lnTo>
                    <a:pt x="3398" y="697745"/>
                  </a:lnTo>
                  <a:lnTo>
                    <a:pt x="2133" y="693576"/>
                  </a:lnTo>
                  <a:lnTo>
                    <a:pt x="1279" y="689282"/>
                  </a:lnTo>
                  <a:lnTo>
                    <a:pt x="426" y="684988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058525" y="31337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61257" y="241696"/>
                  </a:moveTo>
                  <a:lnTo>
                    <a:pt x="58340" y="241696"/>
                  </a:lnTo>
                  <a:lnTo>
                    <a:pt x="45374" y="239073"/>
                  </a:lnTo>
                  <a:lnTo>
                    <a:pt x="34776" y="231923"/>
                  </a:lnTo>
                  <a:lnTo>
                    <a:pt x="27626" y="221325"/>
                  </a:lnTo>
                  <a:lnTo>
                    <a:pt x="25003" y="208359"/>
                  </a:lnTo>
                  <a:lnTo>
                    <a:pt x="25003" y="204504"/>
                  </a:lnTo>
                  <a:lnTo>
                    <a:pt x="25680" y="200754"/>
                  </a:lnTo>
                  <a:lnTo>
                    <a:pt x="26878" y="197316"/>
                  </a:lnTo>
                  <a:lnTo>
                    <a:pt x="16042" y="191228"/>
                  </a:lnTo>
                  <a:lnTo>
                    <a:pt x="7540" y="182288"/>
                  </a:lnTo>
                  <a:lnTo>
                    <a:pt x="1987" y="171121"/>
                  </a:lnTo>
                  <a:lnTo>
                    <a:pt x="0" y="158353"/>
                  </a:lnTo>
                  <a:lnTo>
                    <a:pt x="1742" y="146396"/>
                  </a:lnTo>
                  <a:lnTo>
                    <a:pt x="6634" y="135791"/>
                  </a:lnTo>
                  <a:lnTo>
                    <a:pt x="14174" y="127052"/>
                  </a:lnTo>
                  <a:lnTo>
                    <a:pt x="23857" y="120692"/>
                  </a:lnTo>
                  <a:lnTo>
                    <a:pt x="19325" y="115014"/>
                  </a:lnTo>
                  <a:lnTo>
                    <a:pt x="16668" y="107825"/>
                  </a:lnTo>
                  <a:lnTo>
                    <a:pt x="16668" y="100012"/>
                  </a:lnTo>
                  <a:lnTo>
                    <a:pt x="18661" y="88632"/>
                  </a:lnTo>
                  <a:lnTo>
                    <a:pt x="24169" y="78942"/>
                  </a:lnTo>
                  <a:lnTo>
                    <a:pt x="32491" y="71634"/>
                  </a:lnTo>
                  <a:lnTo>
                    <a:pt x="42922" y="67404"/>
                  </a:lnTo>
                  <a:lnTo>
                    <a:pt x="42088" y="64539"/>
                  </a:lnTo>
                  <a:lnTo>
                    <a:pt x="41671" y="61466"/>
                  </a:lnTo>
                  <a:lnTo>
                    <a:pt x="41671" y="58340"/>
                  </a:lnTo>
                  <a:lnTo>
                    <a:pt x="43573" y="47228"/>
                  </a:lnTo>
                  <a:lnTo>
                    <a:pt x="48840" y="37693"/>
                  </a:lnTo>
                  <a:lnTo>
                    <a:pt x="56812" y="30395"/>
                  </a:lnTo>
                  <a:lnTo>
                    <a:pt x="66831" y="25992"/>
                  </a:lnTo>
                  <a:lnTo>
                    <a:pt x="69907" y="15778"/>
                  </a:lnTo>
                  <a:lnTo>
                    <a:pt x="76279" y="7526"/>
                  </a:lnTo>
                  <a:lnTo>
                    <a:pt x="85180" y="2010"/>
                  </a:lnTo>
                  <a:lnTo>
                    <a:pt x="95845" y="0"/>
                  </a:lnTo>
                  <a:lnTo>
                    <a:pt x="107193" y="2294"/>
                  </a:lnTo>
                  <a:lnTo>
                    <a:pt x="116466" y="8549"/>
                  </a:lnTo>
                  <a:lnTo>
                    <a:pt x="122721" y="17822"/>
                  </a:lnTo>
                  <a:lnTo>
                    <a:pt x="125015" y="29170"/>
                  </a:lnTo>
                  <a:lnTo>
                    <a:pt x="125015" y="237529"/>
                  </a:lnTo>
                  <a:lnTo>
                    <a:pt x="124394" y="240602"/>
                  </a:lnTo>
                  <a:lnTo>
                    <a:pt x="66831" y="240602"/>
                  </a:lnTo>
                  <a:lnTo>
                    <a:pt x="64122" y="241332"/>
                  </a:lnTo>
                  <a:lnTo>
                    <a:pt x="61257" y="241696"/>
                  </a:lnTo>
                  <a:close/>
                </a:path>
                <a:path w="266700" h="266700">
                  <a:moveTo>
                    <a:pt x="95845" y="266700"/>
                  </a:moveTo>
                  <a:lnTo>
                    <a:pt x="85180" y="264688"/>
                  </a:lnTo>
                  <a:lnTo>
                    <a:pt x="76279" y="259160"/>
                  </a:lnTo>
                  <a:lnTo>
                    <a:pt x="69907" y="250877"/>
                  </a:lnTo>
                  <a:lnTo>
                    <a:pt x="66831" y="240602"/>
                  </a:lnTo>
                  <a:lnTo>
                    <a:pt x="124394" y="240602"/>
                  </a:lnTo>
                  <a:lnTo>
                    <a:pt x="122721" y="248877"/>
                  </a:lnTo>
                  <a:lnTo>
                    <a:pt x="116466" y="258150"/>
                  </a:lnTo>
                  <a:lnTo>
                    <a:pt x="107193" y="264405"/>
                  </a:lnTo>
                  <a:lnTo>
                    <a:pt x="95845" y="266700"/>
                  </a:lnTo>
                  <a:close/>
                </a:path>
                <a:path w="266700" h="266700">
                  <a:moveTo>
                    <a:pt x="170854" y="266700"/>
                  </a:moveTo>
                  <a:lnTo>
                    <a:pt x="159506" y="264405"/>
                  </a:lnTo>
                  <a:lnTo>
                    <a:pt x="150233" y="258150"/>
                  </a:lnTo>
                  <a:lnTo>
                    <a:pt x="143978" y="248877"/>
                  </a:lnTo>
                  <a:lnTo>
                    <a:pt x="141684" y="237529"/>
                  </a:lnTo>
                  <a:lnTo>
                    <a:pt x="141684" y="29170"/>
                  </a:lnTo>
                  <a:lnTo>
                    <a:pt x="143978" y="17822"/>
                  </a:lnTo>
                  <a:lnTo>
                    <a:pt x="150233" y="8549"/>
                  </a:lnTo>
                  <a:lnTo>
                    <a:pt x="159506" y="2294"/>
                  </a:lnTo>
                  <a:lnTo>
                    <a:pt x="170854" y="0"/>
                  </a:lnTo>
                  <a:lnTo>
                    <a:pt x="181511" y="2010"/>
                  </a:lnTo>
                  <a:lnTo>
                    <a:pt x="190401" y="7526"/>
                  </a:lnTo>
                  <a:lnTo>
                    <a:pt x="196771" y="15778"/>
                  </a:lnTo>
                  <a:lnTo>
                    <a:pt x="199868" y="25992"/>
                  </a:lnTo>
                  <a:lnTo>
                    <a:pt x="209909" y="30387"/>
                  </a:lnTo>
                  <a:lnTo>
                    <a:pt x="217878" y="37673"/>
                  </a:lnTo>
                  <a:lnTo>
                    <a:pt x="223133" y="47206"/>
                  </a:lnTo>
                  <a:lnTo>
                    <a:pt x="225028" y="58340"/>
                  </a:lnTo>
                  <a:lnTo>
                    <a:pt x="225028" y="61466"/>
                  </a:lnTo>
                  <a:lnTo>
                    <a:pt x="224611" y="64539"/>
                  </a:lnTo>
                  <a:lnTo>
                    <a:pt x="223777" y="67404"/>
                  </a:lnTo>
                  <a:lnTo>
                    <a:pt x="234208" y="71612"/>
                  </a:lnTo>
                  <a:lnTo>
                    <a:pt x="242530" y="78922"/>
                  </a:lnTo>
                  <a:lnTo>
                    <a:pt x="248038" y="88625"/>
                  </a:lnTo>
                  <a:lnTo>
                    <a:pt x="250031" y="100012"/>
                  </a:lnTo>
                  <a:lnTo>
                    <a:pt x="250031" y="107825"/>
                  </a:lnTo>
                  <a:lnTo>
                    <a:pt x="247374" y="115014"/>
                  </a:lnTo>
                  <a:lnTo>
                    <a:pt x="242842" y="120692"/>
                  </a:lnTo>
                  <a:lnTo>
                    <a:pt x="252525" y="127052"/>
                  </a:lnTo>
                  <a:lnTo>
                    <a:pt x="260065" y="135791"/>
                  </a:lnTo>
                  <a:lnTo>
                    <a:pt x="264957" y="146396"/>
                  </a:lnTo>
                  <a:lnTo>
                    <a:pt x="266700" y="158353"/>
                  </a:lnTo>
                  <a:lnTo>
                    <a:pt x="264712" y="171121"/>
                  </a:lnTo>
                  <a:lnTo>
                    <a:pt x="259160" y="182288"/>
                  </a:lnTo>
                  <a:lnTo>
                    <a:pt x="250657" y="191228"/>
                  </a:lnTo>
                  <a:lnTo>
                    <a:pt x="239821" y="197316"/>
                  </a:lnTo>
                  <a:lnTo>
                    <a:pt x="241019" y="200754"/>
                  </a:lnTo>
                  <a:lnTo>
                    <a:pt x="241696" y="204504"/>
                  </a:lnTo>
                  <a:lnTo>
                    <a:pt x="241696" y="208359"/>
                  </a:lnTo>
                  <a:lnTo>
                    <a:pt x="239073" y="221325"/>
                  </a:lnTo>
                  <a:lnTo>
                    <a:pt x="231923" y="231923"/>
                  </a:lnTo>
                  <a:lnTo>
                    <a:pt x="221325" y="239073"/>
                  </a:lnTo>
                  <a:lnTo>
                    <a:pt x="213766" y="240602"/>
                  </a:lnTo>
                  <a:lnTo>
                    <a:pt x="199868" y="240602"/>
                  </a:lnTo>
                  <a:lnTo>
                    <a:pt x="196792" y="250877"/>
                  </a:lnTo>
                  <a:lnTo>
                    <a:pt x="190420" y="259160"/>
                  </a:lnTo>
                  <a:lnTo>
                    <a:pt x="181519" y="264688"/>
                  </a:lnTo>
                  <a:lnTo>
                    <a:pt x="170854" y="266700"/>
                  </a:lnTo>
                  <a:close/>
                </a:path>
                <a:path w="266700" h="266700">
                  <a:moveTo>
                    <a:pt x="208359" y="241696"/>
                  </a:moveTo>
                  <a:lnTo>
                    <a:pt x="205442" y="241696"/>
                  </a:lnTo>
                  <a:lnTo>
                    <a:pt x="202577" y="241332"/>
                  </a:lnTo>
                  <a:lnTo>
                    <a:pt x="199868" y="240602"/>
                  </a:lnTo>
                  <a:lnTo>
                    <a:pt x="213766" y="240602"/>
                  </a:lnTo>
                  <a:lnTo>
                    <a:pt x="208359" y="241696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0630742" y="3513492"/>
            <a:ext cx="112204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110" marR="5080" indent="-233045">
              <a:lnSpc>
                <a:spcPct val="114599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Advanced</a:t>
            </a:r>
            <a:r>
              <a:rPr dirty="0" sz="12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65" b="1">
                <a:solidFill>
                  <a:srgbClr val="0053A0"/>
                </a:solidFill>
                <a:latin typeface="Roboto"/>
                <a:cs typeface="Roboto"/>
              </a:rPr>
              <a:t>Control </a:t>
            </a:r>
            <a:r>
              <a:rPr dirty="0" sz="1200" spc="-10" b="1">
                <a:solidFill>
                  <a:srgbClr val="0053A0"/>
                </a:solidFill>
                <a:latin typeface="Roboto"/>
                <a:cs typeface="Roboto"/>
              </a:rPr>
              <a:t>Strategies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9572612" y="3524250"/>
            <a:ext cx="1162050" cy="114300"/>
          </a:xfrm>
          <a:custGeom>
            <a:avLst/>
            <a:gdLst/>
            <a:ahLst/>
            <a:cxnLst/>
            <a:rect l="l" t="t" r="r" b="b"/>
            <a:pathLst>
              <a:path w="1162050" h="114300">
                <a:moveTo>
                  <a:pt x="1162050" y="57150"/>
                </a:moveTo>
                <a:lnTo>
                  <a:pt x="1085850" y="19050"/>
                </a:lnTo>
                <a:lnTo>
                  <a:pt x="1143000" y="19050"/>
                </a:lnTo>
                <a:lnTo>
                  <a:pt x="1143000" y="0"/>
                </a:lnTo>
                <a:lnTo>
                  <a:pt x="1047750" y="0"/>
                </a:lnTo>
                <a:lnTo>
                  <a:pt x="0" y="0"/>
                </a:lnTo>
                <a:lnTo>
                  <a:pt x="0" y="19050"/>
                </a:lnTo>
                <a:lnTo>
                  <a:pt x="1047750" y="19050"/>
                </a:lnTo>
                <a:lnTo>
                  <a:pt x="1047750" y="114300"/>
                </a:lnTo>
                <a:lnTo>
                  <a:pt x="1162050" y="57150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44" name="object 44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706635" y="6358577"/>
            <a:ext cx="4882515" cy="494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70"/>
              </a:lnSpc>
            </a:pP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By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2030,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global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stock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projected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reach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245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million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,</a:t>
            </a:r>
            <a:endParaRPr sz="1700">
              <a:latin typeface="Roboto"/>
              <a:cs typeface="Roboto"/>
            </a:endParaRPr>
          </a:p>
          <a:p>
            <a:pPr>
              <a:lnSpc>
                <a:spcPts val="2035"/>
              </a:lnSpc>
              <a:spcBef>
                <a:spcPts val="284"/>
              </a:spcBef>
            </a:pP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representing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5">
                <a:solidFill>
                  <a:srgbClr val="333333"/>
                </a:solidFill>
                <a:latin typeface="Roboto"/>
                <a:cs typeface="Roboto"/>
              </a:rPr>
              <a:t>30%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45">
                <a:solidFill>
                  <a:srgbClr val="333333"/>
                </a:solidFill>
                <a:latin typeface="Roboto"/>
                <a:cs typeface="Roboto"/>
              </a:rPr>
              <a:t>all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road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vehicles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48" name="object 4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3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49" name="object 4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Problem</a:t>
            </a:r>
            <a:r>
              <a:rPr dirty="0"/>
              <a:t> </a:t>
            </a:r>
            <a:r>
              <a:rPr dirty="0" spc="-114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68299" y="1029335"/>
            <a:ext cx="2909570" cy="4324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650" spc="-150" b="1">
                <a:solidFill>
                  <a:srgbClr val="0053A0"/>
                </a:solidFill>
                <a:latin typeface="Roboto"/>
                <a:cs typeface="Roboto"/>
              </a:rPr>
              <a:t>Research</a:t>
            </a:r>
            <a:r>
              <a:rPr dirty="0" sz="2650" spc="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650" spc="-125" b="1">
                <a:solidFill>
                  <a:srgbClr val="0053A0"/>
                </a:solidFill>
                <a:latin typeface="Roboto"/>
                <a:cs typeface="Roboto"/>
              </a:rPr>
              <a:t>Challenges</a:t>
            </a:r>
            <a:endParaRPr sz="265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1857375"/>
            <a:ext cx="180974" cy="1809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93935" y="1736356"/>
            <a:ext cx="504190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Conventional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frequency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60" b="1">
                <a:solidFill>
                  <a:srgbClr val="0053A0"/>
                </a:solidFill>
                <a:latin typeface="Roboto"/>
                <a:cs typeface="Roboto"/>
              </a:rPr>
              <a:t>is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insufficient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 high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penetration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EVs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intermittent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renewable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45">
                <a:solidFill>
                  <a:srgbClr val="333333"/>
                </a:solidFill>
                <a:latin typeface="Roboto"/>
                <a:cs typeface="Roboto"/>
              </a:rPr>
              <a:t>generation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999" y="2695574"/>
            <a:ext cx="180974" cy="1809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93935" y="2555506"/>
            <a:ext cx="513588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0"/>
              </a:spcBef>
            </a:pPr>
            <a:r>
              <a:rPr dirty="0" sz="1700" spc="-110">
                <a:solidFill>
                  <a:srgbClr val="333333"/>
                </a:solidFill>
                <a:latin typeface="Roboto"/>
                <a:cs typeface="Roboto"/>
              </a:rPr>
              <a:t>How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efficiently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model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and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systems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with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thousands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of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distributed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EVs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while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ensuring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35">
                <a:solidFill>
                  <a:srgbClr val="333333"/>
                </a:solidFill>
                <a:latin typeface="Roboto"/>
                <a:cs typeface="Roboto"/>
              </a:rPr>
              <a:t>stability?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399" y="3524250"/>
            <a:ext cx="227031" cy="18097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39626" y="3403231"/>
            <a:ext cx="449135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Need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balancing</a:t>
            </a:r>
            <a:r>
              <a:rPr dirty="0" sz="17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grid</a:t>
            </a:r>
            <a:r>
              <a:rPr dirty="0" sz="17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requirements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EV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30" b="1">
                <a:solidFill>
                  <a:srgbClr val="0053A0"/>
                </a:solidFill>
                <a:latin typeface="Roboto"/>
                <a:cs typeface="Roboto"/>
              </a:rPr>
              <a:t>user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preferences</a:t>
            </a:r>
            <a:r>
              <a:rPr dirty="0" sz="1700" spc="3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(charging</a:t>
            </a:r>
            <a:r>
              <a:rPr dirty="0" sz="1700" spc="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completion,</a:t>
            </a:r>
            <a:r>
              <a:rPr dirty="0" sz="1700" spc="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battery</a:t>
            </a:r>
            <a:r>
              <a:rPr dirty="0" sz="1700" spc="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health)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655" y="4364222"/>
            <a:ext cx="169664" cy="15837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93935" y="4231906"/>
            <a:ext cx="504952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Managing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stochastic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nature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availability,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55">
                <a:solidFill>
                  <a:srgbClr val="333333"/>
                </a:solidFill>
                <a:latin typeface="Roboto"/>
                <a:cs typeface="Roboto"/>
              </a:rPr>
              <a:t>connection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patterns,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state-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of-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charge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levels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999" y="5191124"/>
            <a:ext cx="180974" cy="18097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93935" y="5070106"/>
            <a:ext cx="445516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Determining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appropriate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architectures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and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performance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metrics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5">
                <a:solidFill>
                  <a:srgbClr val="333333"/>
                </a:solidFill>
                <a:latin typeface="Roboto"/>
                <a:cs typeface="Roboto"/>
              </a:rPr>
              <a:t>V2G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support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1117708" y="170180"/>
            <a:ext cx="70612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latin typeface="Roboto"/>
                <a:cs typeface="Roboto"/>
              </a:rPr>
              <a:t>IEEE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Logo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791574" y="1714499"/>
            <a:ext cx="419100" cy="476250"/>
          </a:xfrm>
          <a:custGeom>
            <a:avLst/>
            <a:gdLst/>
            <a:ahLst/>
            <a:cxnLst/>
            <a:rect l="l" t="t" r="r" b="b"/>
            <a:pathLst>
              <a:path w="419100" h="476250">
                <a:moveTo>
                  <a:pt x="216413" y="476249"/>
                </a:moveTo>
                <a:lnTo>
                  <a:pt x="202687" y="476249"/>
                </a:lnTo>
                <a:lnTo>
                  <a:pt x="195841" y="475870"/>
                </a:lnTo>
                <a:lnTo>
                  <a:pt x="155287" y="468322"/>
                </a:lnTo>
                <a:lnTo>
                  <a:pt x="116821" y="451998"/>
                </a:lnTo>
                <a:lnTo>
                  <a:pt x="81918" y="427525"/>
                </a:lnTo>
                <a:lnTo>
                  <a:pt x="51918" y="395846"/>
                </a:lnTo>
                <a:lnTo>
                  <a:pt x="27977" y="358176"/>
                </a:lnTo>
                <a:lnTo>
                  <a:pt x="11014" y="315964"/>
                </a:lnTo>
                <a:lnTo>
                  <a:pt x="2687" y="278476"/>
                </a:lnTo>
                <a:lnTo>
                  <a:pt x="0" y="247709"/>
                </a:lnTo>
                <a:lnTo>
                  <a:pt x="0" y="239970"/>
                </a:lnTo>
                <a:lnTo>
                  <a:pt x="0" y="228540"/>
                </a:lnTo>
                <a:lnTo>
                  <a:pt x="5364" y="182593"/>
                </a:lnTo>
                <a:lnTo>
                  <a:pt x="18576" y="138709"/>
                </a:lnTo>
                <a:lnTo>
                  <a:pt x="39127" y="98575"/>
                </a:lnTo>
                <a:lnTo>
                  <a:pt x="66229" y="63732"/>
                </a:lnTo>
                <a:lnTo>
                  <a:pt x="98836" y="35520"/>
                </a:lnTo>
                <a:lnTo>
                  <a:pt x="135698" y="15024"/>
                </a:lnTo>
                <a:lnTo>
                  <a:pt x="175399" y="3030"/>
                </a:lnTo>
                <a:lnTo>
                  <a:pt x="202687" y="0"/>
                </a:lnTo>
                <a:lnTo>
                  <a:pt x="216413" y="0"/>
                </a:lnTo>
                <a:lnTo>
                  <a:pt x="257161" y="6049"/>
                </a:lnTo>
                <a:lnTo>
                  <a:pt x="296080" y="20946"/>
                </a:lnTo>
                <a:lnTo>
                  <a:pt x="331676" y="44119"/>
                </a:lnTo>
                <a:lnTo>
                  <a:pt x="362576" y="74676"/>
                </a:lnTo>
                <a:lnTo>
                  <a:pt x="387596" y="111443"/>
                </a:lnTo>
                <a:lnTo>
                  <a:pt x="405774" y="153008"/>
                </a:lnTo>
                <a:lnTo>
                  <a:pt x="416411" y="197772"/>
                </a:lnTo>
                <a:lnTo>
                  <a:pt x="419099" y="228540"/>
                </a:lnTo>
                <a:lnTo>
                  <a:pt x="419099" y="247709"/>
                </a:lnTo>
                <a:lnTo>
                  <a:pt x="413734" y="293656"/>
                </a:lnTo>
                <a:lnTo>
                  <a:pt x="400522" y="337540"/>
                </a:lnTo>
                <a:lnTo>
                  <a:pt x="379971" y="377674"/>
                </a:lnTo>
                <a:lnTo>
                  <a:pt x="352870" y="412517"/>
                </a:lnTo>
                <a:lnTo>
                  <a:pt x="320262" y="440728"/>
                </a:lnTo>
                <a:lnTo>
                  <a:pt x="283400" y="461225"/>
                </a:lnTo>
                <a:lnTo>
                  <a:pt x="243700" y="473219"/>
                </a:lnTo>
                <a:lnTo>
                  <a:pt x="223260" y="475870"/>
                </a:lnTo>
                <a:lnTo>
                  <a:pt x="216413" y="476249"/>
                </a:lnTo>
                <a:close/>
              </a:path>
            </a:pathLst>
          </a:custGeom>
          <a:solidFill>
            <a:srgbClr val="0053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891686" y="1823139"/>
            <a:ext cx="21907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IBM Plex Sans"/>
                <a:cs typeface="IBM Plex Sans"/>
              </a:rPr>
              <a:t>VS</a:t>
            </a:r>
            <a:endParaRPr sz="1300">
              <a:latin typeface="IBM Plex Sans"/>
              <a:cs typeface="IBM Plex San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619874" y="3047999"/>
            <a:ext cx="3810000" cy="2800350"/>
            <a:chOff x="6619874" y="3047999"/>
            <a:chExt cx="3810000" cy="2800350"/>
          </a:xfrm>
        </p:grpSpPr>
        <p:sp>
          <p:nvSpPr>
            <p:cNvPr id="19" name="object 19" descr=""/>
            <p:cNvSpPr/>
            <p:nvPr/>
          </p:nvSpPr>
          <p:spPr>
            <a:xfrm>
              <a:off x="6629399" y="3057524"/>
              <a:ext cx="3790950" cy="2781300"/>
            </a:xfrm>
            <a:custGeom>
              <a:avLst/>
              <a:gdLst/>
              <a:ahLst/>
              <a:cxnLst/>
              <a:rect l="l" t="t" r="r" b="b"/>
              <a:pathLst>
                <a:path w="3790950" h="2781300">
                  <a:moveTo>
                    <a:pt x="3728652" y="2781299"/>
                  </a:moveTo>
                  <a:lnTo>
                    <a:pt x="62297" y="2781299"/>
                  </a:lnTo>
                  <a:lnTo>
                    <a:pt x="57960" y="2780871"/>
                  </a:lnTo>
                  <a:lnTo>
                    <a:pt x="22623" y="2764865"/>
                  </a:lnTo>
                  <a:lnTo>
                    <a:pt x="2134" y="2731925"/>
                  </a:lnTo>
                  <a:lnTo>
                    <a:pt x="0" y="2719002"/>
                  </a:lnTo>
                  <a:lnTo>
                    <a:pt x="0" y="2714624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3728652" y="0"/>
                  </a:lnTo>
                  <a:lnTo>
                    <a:pt x="3764957" y="13668"/>
                  </a:lnTo>
                  <a:lnTo>
                    <a:pt x="3787550" y="45203"/>
                  </a:lnTo>
                  <a:lnTo>
                    <a:pt x="3790949" y="62297"/>
                  </a:lnTo>
                  <a:lnTo>
                    <a:pt x="3790949" y="2719002"/>
                  </a:lnTo>
                  <a:lnTo>
                    <a:pt x="3777280" y="2755307"/>
                  </a:lnTo>
                  <a:lnTo>
                    <a:pt x="3745744" y="2777899"/>
                  </a:lnTo>
                  <a:lnTo>
                    <a:pt x="3732987" y="2780871"/>
                  </a:lnTo>
                  <a:lnTo>
                    <a:pt x="3728652" y="278129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29399" y="3057524"/>
              <a:ext cx="3790950" cy="2781300"/>
            </a:xfrm>
            <a:custGeom>
              <a:avLst/>
              <a:gdLst/>
              <a:ahLst/>
              <a:cxnLst/>
              <a:rect l="l" t="t" r="r" b="b"/>
              <a:pathLst>
                <a:path w="3790950" h="2781300">
                  <a:moveTo>
                    <a:pt x="0" y="27146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724275" y="0"/>
                  </a:lnTo>
                  <a:lnTo>
                    <a:pt x="3728652" y="0"/>
                  </a:lnTo>
                  <a:lnTo>
                    <a:pt x="3732987" y="427"/>
                  </a:lnTo>
                  <a:lnTo>
                    <a:pt x="3768324" y="16432"/>
                  </a:lnTo>
                  <a:lnTo>
                    <a:pt x="3788814" y="49373"/>
                  </a:lnTo>
                  <a:lnTo>
                    <a:pt x="3790950" y="66674"/>
                  </a:lnTo>
                  <a:lnTo>
                    <a:pt x="3790950" y="2714624"/>
                  </a:lnTo>
                  <a:lnTo>
                    <a:pt x="3785874" y="2740139"/>
                  </a:lnTo>
                  <a:lnTo>
                    <a:pt x="3784199" y="2744184"/>
                  </a:lnTo>
                  <a:lnTo>
                    <a:pt x="3757676" y="2772494"/>
                  </a:lnTo>
                  <a:lnTo>
                    <a:pt x="3724275" y="2781299"/>
                  </a:lnTo>
                  <a:lnTo>
                    <a:pt x="66675" y="2781299"/>
                  </a:lnTo>
                  <a:lnTo>
                    <a:pt x="62297" y="2781299"/>
                  </a:lnTo>
                  <a:lnTo>
                    <a:pt x="57960" y="2780871"/>
                  </a:lnTo>
                  <a:lnTo>
                    <a:pt x="53667" y="2780017"/>
                  </a:lnTo>
                  <a:lnTo>
                    <a:pt x="49372" y="2779163"/>
                  </a:lnTo>
                  <a:lnTo>
                    <a:pt x="45203" y="2777899"/>
                  </a:lnTo>
                  <a:lnTo>
                    <a:pt x="41158" y="2776223"/>
                  </a:lnTo>
                  <a:lnTo>
                    <a:pt x="37113" y="2774548"/>
                  </a:lnTo>
                  <a:lnTo>
                    <a:pt x="11236" y="2751667"/>
                  </a:lnTo>
                  <a:lnTo>
                    <a:pt x="8803" y="2748026"/>
                  </a:lnTo>
                  <a:lnTo>
                    <a:pt x="6749" y="2744184"/>
                  </a:lnTo>
                  <a:lnTo>
                    <a:pt x="5074" y="2740139"/>
                  </a:lnTo>
                  <a:lnTo>
                    <a:pt x="3399" y="2736094"/>
                  </a:lnTo>
                  <a:lnTo>
                    <a:pt x="2134" y="2731925"/>
                  </a:lnTo>
                  <a:lnTo>
                    <a:pt x="1280" y="2727631"/>
                  </a:lnTo>
                  <a:lnTo>
                    <a:pt x="426" y="2723338"/>
                  </a:lnTo>
                  <a:lnTo>
                    <a:pt x="0" y="2719002"/>
                  </a:lnTo>
                  <a:lnTo>
                    <a:pt x="0" y="271462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597923" y="3191700"/>
            <a:ext cx="1854200" cy="2495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90" b="1">
                <a:solidFill>
                  <a:srgbClr val="0053A0"/>
                </a:solidFill>
                <a:latin typeface="Roboto"/>
                <a:cs typeface="Roboto"/>
              </a:rPr>
              <a:t>Key</a:t>
            </a:r>
            <a:r>
              <a:rPr dirty="0" sz="145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85" b="1">
                <a:solidFill>
                  <a:srgbClr val="0053A0"/>
                </a:solidFill>
                <a:latin typeface="Roboto"/>
                <a:cs typeface="Roboto"/>
              </a:rPr>
              <a:t>Research</a:t>
            </a:r>
            <a:r>
              <a:rPr dirty="0" sz="145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65" b="1">
                <a:solidFill>
                  <a:srgbClr val="0053A0"/>
                </a:solidFill>
                <a:latin typeface="Roboto"/>
                <a:cs typeface="Roboto"/>
              </a:rPr>
              <a:t>Questions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799897" y="2666999"/>
            <a:ext cx="2211070" cy="2763520"/>
            <a:chOff x="6799897" y="2666999"/>
            <a:chExt cx="2211070" cy="2763520"/>
          </a:xfrm>
        </p:grpSpPr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9897" y="3713797"/>
              <a:ext cx="68550" cy="11620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9897" y="4247197"/>
              <a:ext cx="68550" cy="11620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9897" y="4780597"/>
              <a:ext cx="68550" cy="11620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9897" y="5313997"/>
              <a:ext cx="68550" cy="116204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8858237" y="2666999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152400" y="0"/>
                  </a:moveTo>
                  <a:lnTo>
                    <a:pt x="133350" y="0"/>
                  </a:lnTo>
                  <a:lnTo>
                    <a:pt x="133350" y="266700"/>
                  </a:lnTo>
                  <a:lnTo>
                    <a:pt x="0" y="266700"/>
                  </a:lnTo>
                  <a:lnTo>
                    <a:pt x="76200" y="381000"/>
                  </a:lnTo>
                  <a:lnTo>
                    <a:pt x="133350" y="295275"/>
                  </a:lnTo>
                  <a:lnTo>
                    <a:pt x="133350" y="381000"/>
                  </a:lnTo>
                  <a:lnTo>
                    <a:pt x="152400" y="381000"/>
                  </a:lnTo>
                  <a:lnTo>
                    <a:pt x="152400" y="2667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959600" y="3507358"/>
            <a:ext cx="330644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80">
                <a:latin typeface="Roboto"/>
                <a:cs typeface="Roboto"/>
              </a:rPr>
              <a:t>How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effective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are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MPC,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RL,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and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Adaptive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Control </a:t>
            </a:r>
            <a:r>
              <a:rPr dirty="0" sz="1300" spc="-40">
                <a:latin typeface="Roboto"/>
                <a:cs typeface="Roboto"/>
              </a:rPr>
              <a:t>for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large-</a:t>
            </a:r>
            <a:r>
              <a:rPr dirty="0" sz="1300" spc="-55">
                <a:latin typeface="Roboto"/>
                <a:cs typeface="Roboto"/>
              </a:rPr>
              <a:t>scale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75">
                <a:latin typeface="Roboto"/>
                <a:cs typeface="Roboto"/>
              </a:rPr>
              <a:t>EV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integration?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959600" y="4040758"/>
            <a:ext cx="278574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60">
                <a:latin typeface="Roboto"/>
                <a:cs typeface="Roboto"/>
              </a:rPr>
              <a:t>What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are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the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impacts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on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frequency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nadir, </a:t>
            </a:r>
            <a:r>
              <a:rPr dirty="0" sz="1300" spc="-40">
                <a:latin typeface="Roboto"/>
                <a:cs typeface="Roboto"/>
              </a:rPr>
              <a:t>settling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time,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and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stability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margins?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959600" y="4574158"/>
            <a:ext cx="320040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80">
                <a:latin typeface="Roboto"/>
                <a:cs typeface="Roboto"/>
              </a:rPr>
              <a:t>How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can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75">
                <a:latin typeface="Roboto"/>
                <a:cs typeface="Roboto"/>
              </a:rPr>
              <a:t>we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balance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grid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services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with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75">
                <a:latin typeface="Roboto"/>
                <a:cs typeface="Roboto"/>
              </a:rPr>
              <a:t>EV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user </a:t>
            </a:r>
            <a:r>
              <a:rPr dirty="0" sz="1300" spc="-60">
                <a:latin typeface="Roboto"/>
                <a:cs typeface="Roboto"/>
              </a:rPr>
              <a:t>charging</a:t>
            </a:r>
            <a:r>
              <a:rPr dirty="0" sz="1300" spc="45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preferences?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959600" y="5107558"/>
            <a:ext cx="309626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60">
                <a:latin typeface="Roboto"/>
                <a:cs typeface="Roboto"/>
              </a:rPr>
              <a:t>What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is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the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70">
                <a:latin typeface="Roboto"/>
                <a:cs typeface="Roboto"/>
              </a:rPr>
              <a:t>minimum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75">
                <a:latin typeface="Roboto"/>
                <a:cs typeface="Roboto"/>
              </a:rPr>
              <a:t>EV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fleet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size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needed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for </a:t>
            </a:r>
            <a:r>
              <a:rPr dirty="0" sz="1300" spc="-55">
                <a:latin typeface="Roboto"/>
                <a:cs typeface="Roboto"/>
              </a:rPr>
              <a:t>meaningful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frequency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support?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762749" y="1523999"/>
            <a:ext cx="1885950" cy="857250"/>
            <a:chOff x="6762749" y="1523999"/>
            <a:chExt cx="1885950" cy="857250"/>
          </a:xfrm>
        </p:grpSpPr>
        <p:sp>
          <p:nvSpPr>
            <p:cNvPr id="33" name="object 33" descr=""/>
            <p:cNvSpPr/>
            <p:nvPr/>
          </p:nvSpPr>
          <p:spPr>
            <a:xfrm>
              <a:off x="6772274" y="1533524"/>
              <a:ext cx="1866900" cy="838200"/>
            </a:xfrm>
            <a:custGeom>
              <a:avLst/>
              <a:gdLst/>
              <a:ahLst/>
              <a:cxnLst/>
              <a:rect l="l" t="t" r="r" b="b"/>
              <a:pathLst>
                <a:path w="1866900" h="838200">
                  <a:moveTo>
                    <a:pt x="1804602" y="838199"/>
                  </a:moveTo>
                  <a:lnTo>
                    <a:pt x="62296" y="838199"/>
                  </a:lnTo>
                  <a:lnTo>
                    <a:pt x="57960" y="837772"/>
                  </a:lnTo>
                  <a:lnTo>
                    <a:pt x="22624" y="821766"/>
                  </a:lnTo>
                  <a:lnTo>
                    <a:pt x="2134" y="788826"/>
                  </a:lnTo>
                  <a:lnTo>
                    <a:pt x="0" y="775902"/>
                  </a:lnTo>
                  <a:lnTo>
                    <a:pt x="0" y="771524"/>
                  </a:lnTo>
                  <a:lnTo>
                    <a:pt x="0" y="62296"/>
                  </a:lnTo>
                  <a:lnTo>
                    <a:pt x="13667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1804602" y="0"/>
                  </a:lnTo>
                  <a:lnTo>
                    <a:pt x="1840906" y="13668"/>
                  </a:lnTo>
                  <a:lnTo>
                    <a:pt x="1863498" y="45204"/>
                  </a:lnTo>
                  <a:lnTo>
                    <a:pt x="1866899" y="62296"/>
                  </a:lnTo>
                  <a:lnTo>
                    <a:pt x="1866899" y="775902"/>
                  </a:lnTo>
                  <a:lnTo>
                    <a:pt x="1853230" y="812207"/>
                  </a:lnTo>
                  <a:lnTo>
                    <a:pt x="1821694" y="834799"/>
                  </a:lnTo>
                  <a:lnTo>
                    <a:pt x="1808938" y="837772"/>
                  </a:lnTo>
                  <a:lnTo>
                    <a:pt x="1804602" y="838199"/>
                  </a:lnTo>
                  <a:close/>
                </a:path>
              </a:pathLst>
            </a:custGeom>
            <a:solidFill>
              <a:srgbClr val="F5C6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772274" y="1533524"/>
              <a:ext cx="1866900" cy="838200"/>
            </a:xfrm>
            <a:custGeom>
              <a:avLst/>
              <a:gdLst/>
              <a:ahLst/>
              <a:cxnLst/>
              <a:rect l="l" t="t" r="r" b="b"/>
              <a:pathLst>
                <a:path w="1866900" h="838200">
                  <a:moveTo>
                    <a:pt x="0" y="7715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50" y="3711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3" y="6750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1800224" y="0"/>
                  </a:lnTo>
                  <a:lnTo>
                    <a:pt x="1804602" y="0"/>
                  </a:lnTo>
                  <a:lnTo>
                    <a:pt x="1808938" y="427"/>
                  </a:lnTo>
                  <a:lnTo>
                    <a:pt x="1813231" y="1281"/>
                  </a:lnTo>
                  <a:lnTo>
                    <a:pt x="1817524" y="2135"/>
                  </a:lnTo>
                  <a:lnTo>
                    <a:pt x="1837266" y="11236"/>
                  </a:lnTo>
                  <a:lnTo>
                    <a:pt x="1840906" y="13668"/>
                  </a:lnTo>
                  <a:lnTo>
                    <a:pt x="1863498" y="45204"/>
                  </a:lnTo>
                  <a:lnTo>
                    <a:pt x="1865617" y="53667"/>
                  </a:lnTo>
                  <a:lnTo>
                    <a:pt x="1866472" y="57960"/>
                  </a:lnTo>
                  <a:lnTo>
                    <a:pt x="1866899" y="62296"/>
                  </a:lnTo>
                  <a:lnTo>
                    <a:pt x="1866899" y="66674"/>
                  </a:lnTo>
                  <a:lnTo>
                    <a:pt x="1866899" y="771524"/>
                  </a:lnTo>
                  <a:lnTo>
                    <a:pt x="1866899" y="775902"/>
                  </a:lnTo>
                  <a:lnTo>
                    <a:pt x="1866472" y="780238"/>
                  </a:lnTo>
                  <a:lnTo>
                    <a:pt x="1850466" y="815575"/>
                  </a:lnTo>
                  <a:lnTo>
                    <a:pt x="1817524" y="836064"/>
                  </a:lnTo>
                  <a:lnTo>
                    <a:pt x="1813231" y="836918"/>
                  </a:lnTo>
                  <a:lnTo>
                    <a:pt x="1808938" y="837772"/>
                  </a:lnTo>
                  <a:lnTo>
                    <a:pt x="1804602" y="838199"/>
                  </a:lnTo>
                  <a:lnTo>
                    <a:pt x="1800224" y="838199"/>
                  </a:lnTo>
                  <a:lnTo>
                    <a:pt x="66674" y="838199"/>
                  </a:lnTo>
                  <a:lnTo>
                    <a:pt x="62296" y="838199"/>
                  </a:lnTo>
                  <a:lnTo>
                    <a:pt x="57960" y="837772"/>
                  </a:lnTo>
                  <a:lnTo>
                    <a:pt x="53666" y="836918"/>
                  </a:lnTo>
                  <a:lnTo>
                    <a:pt x="49372" y="836064"/>
                  </a:lnTo>
                  <a:lnTo>
                    <a:pt x="45203" y="834799"/>
                  </a:lnTo>
                  <a:lnTo>
                    <a:pt x="41158" y="833124"/>
                  </a:lnTo>
                  <a:lnTo>
                    <a:pt x="37113" y="831448"/>
                  </a:lnTo>
                  <a:lnTo>
                    <a:pt x="33271" y="829395"/>
                  </a:lnTo>
                  <a:lnTo>
                    <a:pt x="29631" y="826962"/>
                  </a:lnTo>
                  <a:lnTo>
                    <a:pt x="25992" y="824530"/>
                  </a:lnTo>
                  <a:lnTo>
                    <a:pt x="22624" y="821766"/>
                  </a:lnTo>
                  <a:lnTo>
                    <a:pt x="19528" y="818671"/>
                  </a:lnTo>
                  <a:lnTo>
                    <a:pt x="16432" y="815575"/>
                  </a:lnTo>
                  <a:lnTo>
                    <a:pt x="5074" y="797040"/>
                  </a:lnTo>
                  <a:lnTo>
                    <a:pt x="3399" y="792995"/>
                  </a:lnTo>
                  <a:lnTo>
                    <a:pt x="2134" y="788826"/>
                  </a:lnTo>
                  <a:lnTo>
                    <a:pt x="1280" y="784532"/>
                  </a:lnTo>
                  <a:lnTo>
                    <a:pt x="426" y="780238"/>
                  </a:lnTo>
                  <a:lnTo>
                    <a:pt x="0" y="775902"/>
                  </a:lnTo>
                  <a:lnTo>
                    <a:pt x="0" y="771524"/>
                  </a:lnTo>
                  <a:close/>
                </a:path>
              </a:pathLst>
            </a:custGeom>
            <a:ln w="19049">
              <a:solidFill>
                <a:srgbClr val="DB34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4654" y="1618007"/>
              <a:ext cx="182140" cy="242011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6949330" y="1968309"/>
            <a:ext cx="1511300" cy="37084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528955" marR="5080" indent="-516890">
              <a:lnSpc>
                <a:spcPts val="1280"/>
              </a:lnSpc>
              <a:spcBef>
                <a:spcPts val="275"/>
              </a:spcBef>
            </a:pPr>
            <a:r>
              <a:rPr dirty="0" sz="1200" spc="-70" b="1">
                <a:solidFill>
                  <a:srgbClr val="DB3445"/>
                </a:solidFill>
                <a:latin typeface="Roboto"/>
                <a:cs typeface="Roboto"/>
              </a:rPr>
              <a:t>Conventional</a:t>
            </a:r>
            <a:r>
              <a:rPr dirty="0" sz="1200" spc="30" b="1">
                <a:solidFill>
                  <a:srgbClr val="DB3445"/>
                </a:solidFill>
                <a:latin typeface="Roboto"/>
                <a:cs typeface="Roboto"/>
              </a:rPr>
              <a:t> </a:t>
            </a:r>
            <a:r>
              <a:rPr dirty="0" sz="1200" spc="-70" b="1">
                <a:solidFill>
                  <a:srgbClr val="DB3445"/>
                </a:solidFill>
                <a:latin typeface="Roboto"/>
                <a:cs typeface="Roboto"/>
              </a:rPr>
              <a:t>Frequency </a:t>
            </a:r>
            <a:r>
              <a:rPr dirty="0" sz="1200" spc="-10" b="1">
                <a:solidFill>
                  <a:srgbClr val="DB3445"/>
                </a:solidFill>
                <a:latin typeface="Roboto"/>
                <a:cs typeface="Roboto"/>
              </a:rPr>
              <a:t>Control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9353548" y="1523999"/>
            <a:ext cx="1885950" cy="857250"/>
            <a:chOff x="9353548" y="1523999"/>
            <a:chExt cx="1885950" cy="857250"/>
          </a:xfrm>
        </p:grpSpPr>
        <p:sp>
          <p:nvSpPr>
            <p:cNvPr id="38" name="object 38" descr=""/>
            <p:cNvSpPr/>
            <p:nvPr/>
          </p:nvSpPr>
          <p:spPr>
            <a:xfrm>
              <a:off x="9363073" y="1533524"/>
              <a:ext cx="1866900" cy="838200"/>
            </a:xfrm>
            <a:custGeom>
              <a:avLst/>
              <a:gdLst/>
              <a:ahLst/>
              <a:cxnLst/>
              <a:rect l="l" t="t" r="r" b="b"/>
              <a:pathLst>
                <a:path w="1866900" h="838200">
                  <a:moveTo>
                    <a:pt x="1804603" y="838199"/>
                  </a:moveTo>
                  <a:lnTo>
                    <a:pt x="62297" y="838199"/>
                  </a:lnTo>
                  <a:lnTo>
                    <a:pt x="57960" y="837772"/>
                  </a:lnTo>
                  <a:lnTo>
                    <a:pt x="22623" y="821766"/>
                  </a:lnTo>
                  <a:lnTo>
                    <a:pt x="2135" y="788826"/>
                  </a:lnTo>
                  <a:lnTo>
                    <a:pt x="0" y="775902"/>
                  </a:lnTo>
                  <a:lnTo>
                    <a:pt x="0" y="77152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804603" y="0"/>
                  </a:lnTo>
                  <a:lnTo>
                    <a:pt x="1840906" y="13668"/>
                  </a:lnTo>
                  <a:lnTo>
                    <a:pt x="1863500" y="45204"/>
                  </a:lnTo>
                  <a:lnTo>
                    <a:pt x="1866899" y="62296"/>
                  </a:lnTo>
                  <a:lnTo>
                    <a:pt x="1866899" y="775902"/>
                  </a:lnTo>
                  <a:lnTo>
                    <a:pt x="1853230" y="812207"/>
                  </a:lnTo>
                  <a:lnTo>
                    <a:pt x="1821695" y="834799"/>
                  </a:lnTo>
                  <a:lnTo>
                    <a:pt x="1808938" y="837772"/>
                  </a:lnTo>
                  <a:lnTo>
                    <a:pt x="1804603" y="838199"/>
                  </a:lnTo>
                  <a:close/>
                </a:path>
              </a:pathLst>
            </a:custGeom>
            <a:solidFill>
              <a:srgbClr val="C2E6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363073" y="1533524"/>
              <a:ext cx="1866900" cy="838200"/>
            </a:xfrm>
            <a:custGeom>
              <a:avLst/>
              <a:gdLst/>
              <a:ahLst/>
              <a:cxnLst/>
              <a:rect l="l" t="t" r="r" b="b"/>
              <a:pathLst>
                <a:path w="1866900" h="838200">
                  <a:moveTo>
                    <a:pt x="0" y="7715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800225" y="0"/>
                  </a:lnTo>
                  <a:lnTo>
                    <a:pt x="1804603" y="0"/>
                  </a:lnTo>
                  <a:lnTo>
                    <a:pt x="1808938" y="427"/>
                  </a:lnTo>
                  <a:lnTo>
                    <a:pt x="1813232" y="1281"/>
                  </a:lnTo>
                  <a:lnTo>
                    <a:pt x="1817526" y="2135"/>
                  </a:lnTo>
                  <a:lnTo>
                    <a:pt x="1850466" y="22624"/>
                  </a:lnTo>
                  <a:lnTo>
                    <a:pt x="1861825" y="41159"/>
                  </a:lnTo>
                  <a:lnTo>
                    <a:pt x="1863500" y="45204"/>
                  </a:lnTo>
                  <a:lnTo>
                    <a:pt x="1866900" y="66674"/>
                  </a:lnTo>
                  <a:lnTo>
                    <a:pt x="1866900" y="771524"/>
                  </a:lnTo>
                  <a:lnTo>
                    <a:pt x="1861825" y="797040"/>
                  </a:lnTo>
                  <a:lnTo>
                    <a:pt x="1860149" y="801084"/>
                  </a:lnTo>
                  <a:lnTo>
                    <a:pt x="1833626" y="829395"/>
                  </a:lnTo>
                  <a:lnTo>
                    <a:pt x="1813232" y="836918"/>
                  </a:lnTo>
                  <a:lnTo>
                    <a:pt x="1808938" y="837772"/>
                  </a:lnTo>
                  <a:lnTo>
                    <a:pt x="1804603" y="838199"/>
                  </a:lnTo>
                  <a:lnTo>
                    <a:pt x="1800225" y="838199"/>
                  </a:lnTo>
                  <a:lnTo>
                    <a:pt x="66675" y="838199"/>
                  </a:lnTo>
                  <a:lnTo>
                    <a:pt x="62297" y="838199"/>
                  </a:lnTo>
                  <a:lnTo>
                    <a:pt x="57960" y="837772"/>
                  </a:lnTo>
                  <a:lnTo>
                    <a:pt x="53667" y="836918"/>
                  </a:lnTo>
                  <a:lnTo>
                    <a:pt x="49373" y="836064"/>
                  </a:lnTo>
                  <a:lnTo>
                    <a:pt x="45203" y="834799"/>
                  </a:lnTo>
                  <a:lnTo>
                    <a:pt x="41159" y="833124"/>
                  </a:lnTo>
                  <a:lnTo>
                    <a:pt x="37114" y="831448"/>
                  </a:lnTo>
                  <a:lnTo>
                    <a:pt x="19528" y="818671"/>
                  </a:lnTo>
                  <a:lnTo>
                    <a:pt x="16432" y="815575"/>
                  </a:lnTo>
                  <a:lnTo>
                    <a:pt x="5075" y="797040"/>
                  </a:lnTo>
                  <a:lnTo>
                    <a:pt x="3399" y="792995"/>
                  </a:lnTo>
                  <a:lnTo>
                    <a:pt x="2135" y="788826"/>
                  </a:lnTo>
                  <a:lnTo>
                    <a:pt x="1281" y="784532"/>
                  </a:lnTo>
                  <a:lnTo>
                    <a:pt x="427" y="780238"/>
                  </a:lnTo>
                  <a:lnTo>
                    <a:pt x="0" y="775902"/>
                  </a:lnTo>
                  <a:lnTo>
                    <a:pt x="0" y="771524"/>
                  </a:lnTo>
                  <a:close/>
                </a:path>
              </a:pathLst>
            </a:custGeom>
            <a:ln w="19049">
              <a:solidFill>
                <a:srgbClr val="28A6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72699" y="1649722"/>
              <a:ext cx="243780" cy="182835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9664699" y="1968309"/>
            <a:ext cx="1265555" cy="37084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406400" marR="5080" indent="-394335">
              <a:lnSpc>
                <a:spcPts val="1280"/>
              </a:lnSpc>
              <a:spcBef>
                <a:spcPts val="275"/>
              </a:spcBef>
            </a:pPr>
            <a:r>
              <a:rPr dirty="0" sz="1200" spc="-75" b="1">
                <a:solidFill>
                  <a:srgbClr val="28A645"/>
                </a:solidFill>
                <a:latin typeface="Roboto"/>
                <a:cs typeface="Roboto"/>
              </a:rPr>
              <a:t>Advanced</a:t>
            </a:r>
            <a:r>
              <a:rPr dirty="0" sz="1200" spc="-5" b="1">
                <a:solidFill>
                  <a:srgbClr val="28A645"/>
                </a:solidFill>
                <a:latin typeface="Roboto"/>
                <a:cs typeface="Roboto"/>
              </a:rPr>
              <a:t> </a:t>
            </a:r>
            <a:r>
              <a:rPr dirty="0" sz="1200" spc="-100" b="1">
                <a:solidFill>
                  <a:srgbClr val="28A645"/>
                </a:solidFill>
                <a:latin typeface="Roboto"/>
                <a:cs typeface="Roboto"/>
              </a:rPr>
              <a:t>EV-</a:t>
            </a:r>
            <a:r>
              <a:rPr dirty="0" sz="1200" spc="-65" b="1">
                <a:solidFill>
                  <a:srgbClr val="28A645"/>
                </a:solidFill>
                <a:latin typeface="Roboto"/>
                <a:cs typeface="Roboto"/>
              </a:rPr>
              <a:t>Based </a:t>
            </a:r>
            <a:r>
              <a:rPr dirty="0" sz="1200" spc="-10" b="1">
                <a:solidFill>
                  <a:srgbClr val="28A645"/>
                </a:solidFill>
                <a:latin typeface="Roboto"/>
                <a:cs typeface="Roboto"/>
              </a:rPr>
              <a:t>Control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43" name="object 43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4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47" name="object 4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System</a:t>
            </a:r>
            <a:r>
              <a:rPr dirty="0" spc="-30"/>
              <a:t> </a:t>
            </a:r>
            <a:r>
              <a:rPr dirty="0" spc="-140"/>
              <a:t>Model:</a:t>
            </a:r>
            <a:r>
              <a:rPr dirty="0" spc="-85"/>
              <a:t> </a:t>
            </a:r>
            <a:r>
              <a:rPr dirty="0" spc="-160"/>
              <a:t>Two-</a:t>
            </a:r>
            <a:r>
              <a:rPr dirty="0" spc="-155"/>
              <a:t>Area</a:t>
            </a:r>
            <a:r>
              <a:rPr dirty="0" spc="-30"/>
              <a:t> </a:t>
            </a:r>
            <a:r>
              <a:rPr dirty="0" spc="-160"/>
              <a:t>Power</a:t>
            </a:r>
            <a:r>
              <a:rPr dirty="0" spc="-25"/>
              <a:t> </a:t>
            </a:r>
            <a:r>
              <a:rPr dirty="0" spc="-155"/>
              <a:t>System</a:t>
            </a:r>
            <a:r>
              <a:rPr dirty="0" spc="-30"/>
              <a:t> </a:t>
            </a:r>
            <a:r>
              <a:rPr dirty="0" spc="-125"/>
              <a:t>with</a:t>
            </a:r>
            <a:r>
              <a:rPr dirty="0" spc="-25"/>
              <a:t> </a:t>
            </a:r>
            <a:r>
              <a:rPr dirty="0" spc="-165"/>
              <a:t>EV</a:t>
            </a:r>
            <a:r>
              <a:rPr dirty="0" spc="-25"/>
              <a:t> </a:t>
            </a:r>
            <a:r>
              <a:rPr dirty="0" spc="-80"/>
              <a:t>Integration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68299" y="1039604"/>
            <a:ext cx="3411854" cy="4203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550" spc="-110" b="1">
                <a:solidFill>
                  <a:srgbClr val="0053A0"/>
                </a:solidFill>
                <a:latin typeface="Roboto"/>
                <a:cs typeface="Roboto"/>
              </a:rPr>
              <a:t>Two-</a:t>
            </a:r>
            <a:r>
              <a:rPr dirty="0" sz="2550" spc="-95" b="1">
                <a:solidFill>
                  <a:srgbClr val="0053A0"/>
                </a:solidFill>
                <a:latin typeface="Roboto"/>
                <a:cs typeface="Roboto"/>
              </a:rPr>
              <a:t>Area</a:t>
            </a:r>
            <a:r>
              <a:rPr dirty="0" sz="255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550" spc="-100" b="1">
                <a:solidFill>
                  <a:srgbClr val="0053A0"/>
                </a:solidFill>
                <a:latin typeface="Roboto"/>
                <a:cs typeface="Roboto"/>
              </a:rPr>
              <a:t>Power</a:t>
            </a:r>
            <a:r>
              <a:rPr dirty="0" sz="255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550" spc="-60" b="1">
                <a:solidFill>
                  <a:srgbClr val="0053A0"/>
                </a:solidFill>
                <a:latin typeface="Roboto"/>
                <a:cs typeface="Roboto"/>
              </a:rPr>
              <a:t>System</a:t>
            </a:r>
            <a:endParaRPr sz="255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1868714"/>
            <a:ext cx="203523" cy="15829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16706" y="1736356"/>
            <a:ext cx="508317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Modified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IEEE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two-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area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system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bidirectional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power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flow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capability,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enhanced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distributed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energy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40">
                <a:solidFill>
                  <a:srgbClr val="333333"/>
                </a:solidFill>
                <a:latin typeface="Roboto"/>
                <a:cs typeface="Roboto"/>
              </a:rPr>
              <a:t>resources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306" y="2695007"/>
            <a:ext cx="180909" cy="18211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16706" y="2555506"/>
            <a:ext cx="4885055" cy="9302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30"/>
              </a:spcBef>
            </a:pP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Each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area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includes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conventional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generation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,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65" b="1">
                <a:solidFill>
                  <a:srgbClr val="0053A0"/>
                </a:solidFill>
                <a:latin typeface="Roboto"/>
                <a:cs typeface="Roboto"/>
              </a:rPr>
              <a:t>renewable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sources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,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EV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aggregators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different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dynamic characteristics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3819525"/>
            <a:ext cx="133349" cy="1777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48245" y="3698506"/>
            <a:ext cx="4488815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Developed</a:t>
            </a:r>
            <a:r>
              <a:rPr dirty="0" sz="17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linearized</a:t>
            </a:r>
            <a:r>
              <a:rPr dirty="0" sz="17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state-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space</a:t>
            </a:r>
            <a:r>
              <a:rPr dirty="0" sz="17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models</a:t>
            </a:r>
            <a:r>
              <a:rPr dirty="0" sz="17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each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subsystem,</a:t>
            </a:r>
            <a:r>
              <a:rPr dirty="0" sz="17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capturing</a:t>
            </a:r>
            <a:r>
              <a:rPr dirty="0" sz="17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dirty="0" sz="17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essential</a:t>
            </a:r>
            <a:r>
              <a:rPr dirty="0" sz="17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dynamics</a:t>
            </a:r>
            <a:r>
              <a:rPr dirty="0" sz="17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while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maintaining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computational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tractability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524" y="4952999"/>
            <a:ext cx="171890" cy="18093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93935" y="4831981"/>
            <a:ext cx="515874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parameters: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Area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1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65" b="1">
                <a:solidFill>
                  <a:srgbClr val="0053A0"/>
                </a:solidFill>
                <a:latin typeface="Roboto"/>
                <a:cs typeface="Roboto"/>
              </a:rPr>
              <a:t>inertia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(H</a:t>
            </a:r>
            <a:r>
              <a:rPr dirty="0" sz="1500" b="1">
                <a:solidFill>
                  <a:srgbClr val="0053A0"/>
                </a:solidFill>
                <a:latin typeface="Calibri"/>
                <a:cs typeface="Calibri"/>
              </a:rPr>
              <a:t>₁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)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=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0" b="1">
                <a:solidFill>
                  <a:srgbClr val="0053A0"/>
                </a:solidFill>
                <a:latin typeface="Roboto"/>
                <a:cs typeface="Roboto"/>
              </a:rPr>
              <a:t>5s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,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Area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2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inertia </a:t>
            </a:r>
            <a:r>
              <a:rPr dirty="0" sz="1700" spc="-35" b="1">
                <a:solidFill>
                  <a:srgbClr val="0053A0"/>
                </a:solidFill>
                <a:latin typeface="Roboto"/>
                <a:cs typeface="Roboto"/>
              </a:rPr>
              <a:t>(H</a:t>
            </a:r>
            <a:r>
              <a:rPr dirty="0" sz="1500" spc="-35" b="1">
                <a:solidFill>
                  <a:srgbClr val="0053A0"/>
                </a:solidFill>
                <a:latin typeface="Calibri"/>
                <a:cs typeface="Calibri"/>
              </a:rPr>
              <a:t>₂</a:t>
            </a:r>
            <a:r>
              <a:rPr dirty="0" sz="1700" spc="-35" b="1">
                <a:solidFill>
                  <a:srgbClr val="0053A0"/>
                </a:solidFill>
                <a:latin typeface="Roboto"/>
                <a:cs typeface="Roboto"/>
              </a:rPr>
              <a:t>)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=</a:t>
            </a:r>
            <a:r>
              <a:rPr dirty="0" sz="17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0" b="1">
                <a:solidFill>
                  <a:srgbClr val="0053A0"/>
                </a:solidFill>
                <a:latin typeface="Roboto"/>
                <a:cs typeface="Roboto"/>
              </a:rPr>
              <a:t>4s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,</a:t>
            </a:r>
            <a:r>
              <a:rPr dirty="0" sz="17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Damping</a:t>
            </a:r>
            <a:r>
              <a:rPr dirty="0" sz="17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(D)</a:t>
            </a:r>
            <a:r>
              <a:rPr dirty="0" sz="1700" spc="-3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=</a:t>
            </a:r>
            <a:r>
              <a:rPr dirty="0" sz="17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1</a:t>
            </a:r>
            <a:r>
              <a:rPr dirty="0" sz="17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p.u./Hz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964" y="5780755"/>
            <a:ext cx="181045" cy="182813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93935" y="5660656"/>
            <a:ext cx="503110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Tie-</a:t>
            </a:r>
            <a:r>
              <a:rPr dirty="0" sz="1700" spc="-60">
                <a:solidFill>
                  <a:srgbClr val="333333"/>
                </a:solidFill>
                <a:latin typeface="Roboto"/>
                <a:cs typeface="Roboto"/>
              </a:rPr>
              <a:t>line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connects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areas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 b="1">
                <a:solidFill>
                  <a:srgbClr val="0053A0"/>
                </a:solidFill>
                <a:latin typeface="Roboto"/>
                <a:cs typeface="Roboto"/>
              </a:rPr>
              <a:t>bidirectional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power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flow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,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modeled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synchronizing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coefficient</a:t>
            </a:r>
            <a:r>
              <a:rPr dirty="0" sz="17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25">
                <a:solidFill>
                  <a:srgbClr val="333333"/>
                </a:solidFill>
                <a:latin typeface="Roboto"/>
                <a:cs typeface="Roboto"/>
              </a:rPr>
              <a:t>T</a:t>
            </a:r>
            <a:r>
              <a:rPr dirty="0" sz="1500" spc="25">
                <a:solidFill>
                  <a:srgbClr val="333333"/>
                </a:solidFill>
                <a:latin typeface="Calibri"/>
                <a:cs typeface="Calibri"/>
              </a:rPr>
              <a:t>₁₂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1117708" y="170180"/>
            <a:ext cx="70612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latin typeface="Roboto"/>
                <a:cs typeface="Roboto"/>
              </a:rPr>
              <a:t>IEEE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Logo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9874" y="1809749"/>
            <a:ext cx="4762500" cy="372427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6824761" y="2560954"/>
            <a:ext cx="149542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 b="1">
                <a:solidFill>
                  <a:srgbClr val="0053A0"/>
                </a:solidFill>
                <a:latin typeface="Roboto"/>
                <a:cs typeface="Roboto"/>
              </a:rPr>
              <a:t>Power</a:t>
            </a:r>
            <a:r>
              <a:rPr dirty="0" sz="13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65" b="1">
                <a:solidFill>
                  <a:srgbClr val="0053A0"/>
                </a:solidFill>
                <a:latin typeface="Roboto"/>
                <a:cs typeface="Roboto"/>
              </a:rPr>
              <a:t>System</a:t>
            </a:r>
            <a:r>
              <a:rPr dirty="0" sz="13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65" b="1">
                <a:solidFill>
                  <a:srgbClr val="0053A0"/>
                </a:solidFill>
                <a:latin typeface="Roboto"/>
                <a:cs typeface="Roboto"/>
              </a:rPr>
              <a:t>Area</a:t>
            </a:r>
            <a:r>
              <a:rPr dirty="0" sz="1300" spc="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0"/>
                </a:solidFill>
                <a:latin typeface="Roboto"/>
                <a:cs typeface="Roboto"/>
              </a:rPr>
              <a:t>1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799758" y="2825997"/>
            <a:ext cx="1545590" cy="406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62560" marR="5080" indent="-150495">
              <a:lnSpc>
                <a:spcPct val="113599"/>
              </a:lnSpc>
              <a:spcBef>
                <a:spcPts val="90"/>
              </a:spcBef>
            </a:pP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Conventional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+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Renewable 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H</a:t>
            </a:r>
            <a:r>
              <a:rPr dirty="0" sz="950">
                <a:solidFill>
                  <a:srgbClr val="545454"/>
                </a:solidFill>
                <a:latin typeface="Calibri"/>
                <a:cs typeface="Calibri"/>
              </a:rPr>
              <a:t>₁</a:t>
            </a:r>
            <a:r>
              <a:rPr dirty="0" sz="950" spc="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=</a:t>
            </a:r>
            <a:r>
              <a:rPr dirty="0" sz="1100" spc="-2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40">
                <a:solidFill>
                  <a:srgbClr val="545454"/>
                </a:solidFill>
                <a:latin typeface="Roboto"/>
                <a:cs typeface="Roboto"/>
              </a:rPr>
              <a:t>5s,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545454"/>
                </a:solidFill>
                <a:latin typeface="Roboto"/>
                <a:cs typeface="Roboto"/>
              </a:rPr>
              <a:t>D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=</a:t>
            </a:r>
            <a:r>
              <a:rPr dirty="0" sz="1100" spc="-2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1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45454"/>
                </a:solidFill>
                <a:latin typeface="Roboto"/>
                <a:cs typeface="Roboto"/>
              </a:rPr>
              <a:t>p.u./Hz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682260" y="2560954"/>
            <a:ext cx="149542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 b="1">
                <a:solidFill>
                  <a:srgbClr val="0053A0"/>
                </a:solidFill>
                <a:latin typeface="Roboto"/>
                <a:cs typeface="Roboto"/>
              </a:rPr>
              <a:t>Power</a:t>
            </a:r>
            <a:r>
              <a:rPr dirty="0" sz="13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65" b="1">
                <a:solidFill>
                  <a:srgbClr val="0053A0"/>
                </a:solidFill>
                <a:latin typeface="Roboto"/>
                <a:cs typeface="Roboto"/>
              </a:rPr>
              <a:t>System</a:t>
            </a:r>
            <a:r>
              <a:rPr dirty="0" sz="13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65" b="1">
                <a:solidFill>
                  <a:srgbClr val="0053A0"/>
                </a:solidFill>
                <a:latin typeface="Roboto"/>
                <a:cs typeface="Roboto"/>
              </a:rPr>
              <a:t>Area</a:t>
            </a:r>
            <a:r>
              <a:rPr dirty="0" sz="1300" spc="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0"/>
                </a:solidFill>
                <a:latin typeface="Roboto"/>
                <a:cs typeface="Roboto"/>
              </a:rPr>
              <a:t>2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657257" y="2825997"/>
            <a:ext cx="1545590" cy="406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62560" marR="5080" indent="-150495">
              <a:lnSpc>
                <a:spcPct val="113599"/>
              </a:lnSpc>
              <a:spcBef>
                <a:spcPts val="90"/>
              </a:spcBef>
            </a:pP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Conventional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+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Renewable 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H</a:t>
            </a:r>
            <a:r>
              <a:rPr dirty="0" sz="950">
                <a:solidFill>
                  <a:srgbClr val="545454"/>
                </a:solidFill>
                <a:latin typeface="Calibri"/>
                <a:cs typeface="Calibri"/>
              </a:rPr>
              <a:t>₂</a:t>
            </a:r>
            <a:r>
              <a:rPr dirty="0" sz="950" spc="-2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=</a:t>
            </a:r>
            <a:r>
              <a:rPr dirty="0" sz="1100" spc="-3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40">
                <a:solidFill>
                  <a:srgbClr val="545454"/>
                </a:solidFill>
                <a:latin typeface="Roboto"/>
                <a:cs typeface="Roboto"/>
              </a:rPr>
              <a:t>4s,</a:t>
            </a:r>
            <a:r>
              <a:rPr dirty="0" sz="1100" spc="-3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545454"/>
                </a:solidFill>
                <a:latin typeface="Roboto"/>
                <a:cs typeface="Roboto"/>
              </a:rPr>
              <a:t>D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=</a:t>
            </a:r>
            <a:r>
              <a:rPr dirty="0" sz="1100" spc="-3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1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545454"/>
                </a:solidFill>
                <a:latin typeface="Roboto"/>
                <a:cs typeface="Roboto"/>
              </a:rPr>
              <a:t>p.u./Hz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998741" y="4638413"/>
            <a:ext cx="1147445" cy="470534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1300" spc="-70" b="1">
                <a:solidFill>
                  <a:srgbClr val="0053A0"/>
                </a:solidFill>
                <a:latin typeface="Roboto"/>
                <a:cs typeface="Roboto"/>
              </a:rPr>
              <a:t>EV</a:t>
            </a:r>
            <a:r>
              <a:rPr dirty="0" sz="13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60" b="1">
                <a:solidFill>
                  <a:srgbClr val="0053A0"/>
                </a:solidFill>
                <a:latin typeface="Roboto"/>
                <a:cs typeface="Roboto"/>
              </a:rPr>
              <a:t>Aggregator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0"/>
                </a:solidFill>
                <a:latin typeface="Roboto"/>
                <a:cs typeface="Roboto"/>
              </a:rPr>
              <a:t>1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10,000+</a:t>
            </a:r>
            <a:r>
              <a:rPr dirty="0" sz="110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545454"/>
                </a:solidFill>
                <a:latin typeface="Roboto"/>
                <a:cs typeface="Roboto"/>
              </a:rPr>
              <a:t>EVs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856241" y="4675504"/>
            <a:ext cx="114744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 b="1">
                <a:solidFill>
                  <a:srgbClr val="0053A0"/>
                </a:solidFill>
                <a:latin typeface="Roboto"/>
                <a:cs typeface="Roboto"/>
              </a:rPr>
              <a:t>EV</a:t>
            </a:r>
            <a:r>
              <a:rPr dirty="0" sz="13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60" b="1">
                <a:solidFill>
                  <a:srgbClr val="0053A0"/>
                </a:solidFill>
                <a:latin typeface="Roboto"/>
                <a:cs typeface="Roboto"/>
              </a:rPr>
              <a:t>Aggregator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0"/>
                </a:solidFill>
                <a:latin typeface="Roboto"/>
                <a:cs typeface="Roboto"/>
              </a:rPr>
              <a:t>2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058200" y="4910486"/>
            <a:ext cx="74358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10,000+</a:t>
            </a:r>
            <a:r>
              <a:rPr dirty="0" sz="110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545454"/>
                </a:solidFill>
                <a:latin typeface="Roboto"/>
                <a:cs typeface="Roboto"/>
              </a:rPr>
              <a:t>EVs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289528" y="5256529"/>
            <a:ext cx="142367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 b="1">
                <a:solidFill>
                  <a:srgbClr val="0053A0"/>
                </a:solidFill>
                <a:latin typeface="Roboto"/>
                <a:cs typeface="Roboto"/>
              </a:rPr>
              <a:t>Advanced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45" b="1">
                <a:solidFill>
                  <a:srgbClr val="0053A0"/>
                </a:solidFill>
                <a:latin typeface="Roboto"/>
                <a:cs typeface="Roboto"/>
              </a:rPr>
              <a:t>Controller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797925" y="2456179"/>
            <a:ext cx="59309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 b="1">
                <a:solidFill>
                  <a:srgbClr val="0053A0"/>
                </a:solidFill>
                <a:latin typeface="Roboto"/>
                <a:cs typeface="Roboto"/>
              </a:rPr>
              <a:t>Tie-</a:t>
            </a:r>
            <a:r>
              <a:rPr dirty="0" sz="1300" spc="-40" b="1">
                <a:solidFill>
                  <a:srgbClr val="0053A0"/>
                </a:solidFill>
                <a:latin typeface="Roboto"/>
                <a:cs typeface="Roboto"/>
              </a:rPr>
              <a:t>Line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7005636" y="1481137"/>
            <a:ext cx="323850" cy="276225"/>
          </a:xfrm>
          <a:custGeom>
            <a:avLst/>
            <a:gdLst/>
            <a:ahLst/>
            <a:cxnLst/>
            <a:rect l="l" t="t" r="r" b="b"/>
            <a:pathLst>
              <a:path w="323850" h="276225">
                <a:moveTo>
                  <a:pt x="0" y="242887"/>
                </a:moveTo>
                <a:lnTo>
                  <a:pt x="0" y="33337"/>
                </a:lnTo>
                <a:lnTo>
                  <a:pt x="0" y="28916"/>
                </a:lnTo>
                <a:lnTo>
                  <a:pt x="845" y="24663"/>
                </a:lnTo>
                <a:lnTo>
                  <a:pt x="2537" y="20579"/>
                </a:lnTo>
                <a:lnTo>
                  <a:pt x="4228" y="16495"/>
                </a:lnTo>
                <a:lnTo>
                  <a:pt x="6637" y="12890"/>
                </a:lnTo>
                <a:lnTo>
                  <a:pt x="9764" y="9764"/>
                </a:lnTo>
                <a:lnTo>
                  <a:pt x="12889" y="6638"/>
                </a:lnTo>
                <a:lnTo>
                  <a:pt x="16494" y="4229"/>
                </a:lnTo>
                <a:lnTo>
                  <a:pt x="20578" y="2537"/>
                </a:lnTo>
                <a:lnTo>
                  <a:pt x="24663" y="845"/>
                </a:lnTo>
                <a:lnTo>
                  <a:pt x="28916" y="0"/>
                </a:lnTo>
                <a:lnTo>
                  <a:pt x="33338" y="0"/>
                </a:lnTo>
                <a:lnTo>
                  <a:pt x="290513" y="0"/>
                </a:lnTo>
                <a:lnTo>
                  <a:pt x="294933" y="0"/>
                </a:lnTo>
                <a:lnTo>
                  <a:pt x="299185" y="845"/>
                </a:lnTo>
                <a:lnTo>
                  <a:pt x="303270" y="2537"/>
                </a:lnTo>
                <a:lnTo>
                  <a:pt x="307354" y="4229"/>
                </a:lnTo>
                <a:lnTo>
                  <a:pt x="310959" y="6638"/>
                </a:lnTo>
                <a:lnTo>
                  <a:pt x="314085" y="9764"/>
                </a:lnTo>
                <a:lnTo>
                  <a:pt x="317211" y="12890"/>
                </a:lnTo>
                <a:lnTo>
                  <a:pt x="323850" y="33337"/>
                </a:lnTo>
                <a:lnTo>
                  <a:pt x="323850" y="242887"/>
                </a:lnTo>
                <a:lnTo>
                  <a:pt x="299185" y="275378"/>
                </a:lnTo>
                <a:lnTo>
                  <a:pt x="290513" y="276224"/>
                </a:lnTo>
                <a:lnTo>
                  <a:pt x="33338" y="276224"/>
                </a:lnTo>
                <a:lnTo>
                  <a:pt x="9764" y="266460"/>
                </a:lnTo>
                <a:lnTo>
                  <a:pt x="6637" y="263334"/>
                </a:lnTo>
                <a:lnTo>
                  <a:pt x="4228" y="259729"/>
                </a:lnTo>
                <a:lnTo>
                  <a:pt x="2537" y="255644"/>
                </a:lnTo>
                <a:lnTo>
                  <a:pt x="845" y="251560"/>
                </a:lnTo>
                <a:lnTo>
                  <a:pt x="0" y="247308"/>
                </a:lnTo>
                <a:lnTo>
                  <a:pt x="0" y="242887"/>
                </a:lnTo>
                <a:close/>
              </a:path>
            </a:pathLst>
          </a:custGeom>
          <a:ln w="9524">
            <a:solidFill>
              <a:srgbClr val="0053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7054850" y="1492007"/>
            <a:ext cx="2260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70" b="1">
                <a:solidFill>
                  <a:srgbClr val="0053A0"/>
                </a:solidFill>
                <a:latin typeface="Calibri"/>
                <a:cs typeface="Calibri"/>
              </a:rPr>
              <a:t>Δ</a:t>
            </a:r>
            <a:r>
              <a:rPr dirty="0" sz="1200" spc="70" b="1">
                <a:solidFill>
                  <a:srgbClr val="0053A0"/>
                </a:solidFill>
                <a:latin typeface="Roboto"/>
                <a:cs typeface="Roboto"/>
              </a:rPr>
              <a:t>f</a:t>
            </a:r>
            <a:r>
              <a:rPr dirty="0" sz="1000" spc="70" b="1">
                <a:solidFill>
                  <a:srgbClr val="0053A0"/>
                </a:solidFill>
                <a:latin typeface="Calibri"/>
                <a:cs typeface="Calibri"/>
              </a:rPr>
              <a:t>₁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9863135" y="1481137"/>
            <a:ext cx="323850" cy="276225"/>
          </a:xfrm>
          <a:custGeom>
            <a:avLst/>
            <a:gdLst/>
            <a:ahLst/>
            <a:cxnLst/>
            <a:rect l="l" t="t" r="r" b="b"/>
            <a:pathLst>
              <a:path w="323850" h="276225">
                <a:moveTo>
                  <a:pt x="1" y="242887"/>
                </a:moveTo>
                <a:lnTo>
                  <a:pt x="1" y="33337"/>
                </a:lnTo>
                <a:lnTo>
                  <a:pt x="0" y="28916"/>
                </a:lnTo>
                <a:lnTo>
                  <a:pt x="845" y="24663"/>
                </a:lnTo>
                <a:lnTo>
                  <a:pt x="2537" y="20579"/>
                </a:lnTo>
                <a:lnTo>
                  <a:pt x="4228" y="16495"/>
                </a:lnTo>
                <a:lnTo>
                  <a:pt x="6637" y="12890"/>
                </a:lnTo>
                <a:lnTo>
                  <a:pt x="9764" y="9764"/>
                </a:lnTo>
                <a:lnTo>
                  <a:pt x="12889" y="6638"/>
                </a:lnTo>
                <a:lnTo>
                  <a:pt x="16495" y="4229"/>
                </a:lnTo>
                <a:lnTo>
                  <a:pt x="20580" y="2537"/>
                </a:lnTo>
                <a:lnTo>
                  <a:pt x="24664" y="845"/>
                </a:lnTo>
                <a:lnTo>
                  <a:pt x="28916" y="0"/>
                </a:lnTo>
                <a:lnTo>
                  <a:pt x="33338" y="0"/>
                </a:lnTo>
                <a:lnTo>
                  <a:pt x="290513" y="0"/>
                </a:lnTo>
                <a:lnTo>
                  <a:pt x="294933" y="0"/>
                </a:lnTo>
                <a:lnTo>
                  <a:pt x="299185" y="845"/>
                </a:lnTo>
                <a:lnTo>
                  <a:pt x="303269" y="2537"/>
                </a:lnTo>
                <a:lnTo>
                  <a:pt x="307354" y="4229"/>
                </a:lnTo>
                <a:lnTo>
                  <a:pt x="310960" y="6638"/>
                </a:lnTo>
                <a:lnTo>
                  <a:pt x="323851" y="33337"/>
                </a:lnTo>
                <a:lnTo>
                  <a:pt x="323851" y="242887"/>
                </a:lnTo>
                <a:lnTo>
                  <a:pt x="299185" y="275378"/>
                </a:lnTo>
                <a:lnTo>
                  <a:pt x="290513" y="276224"/>
                </a:lnTo>
                <a:lnTo>
                  <a:pt x="33338" y="276224"/>
                </a:lnTo>
                <a:lnTo>
                  <a:pt x="9764" y="266460"/>
                </a:lnTo>
                <a:lnTo>
                  <a:pt x="6637" y="263334"/>
                </a:lnTo>
                <a:lnTo>
                  <a:pt x="4228" y="259729"/>
                </a:lnTo>
                <a:lnTo>
                  <a:pt x="2537" y="255644"/>
                </a:lnTo>
                <a:lnTo>
                  <a:pt x="845" y="251560"/>
                </a:lnTo>
                <a:lnTo>
                  <a:pt x="0" y="247308"/>
                </a:lnTo>
                <a:lnTo>
                  <a:pt x="1" y="242887"/>
                </a:lnTo>
                <a:close/>
              </a:path>
            </a:pathLst>
          </a:custGeom>
          <a:ln w="9524">
            <a:solidFill>
              <a:srgbClr val="0053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9912349" y="1492007"/>
            <a:ext cx="2260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 b="1">
                <a:solidFill>
                  <a:srgbClr val="0053A0"/>
                </a:solidFill>
                <a:latin typeface="Calibri"/>
                <a:cs typeface="Calibri"/>
              </a:rPr>
              <a:t>Δ</a:t>
            </a:r>
            <a:r>
              <a:rPr dirty="0" sz="1200" spc="45" b="1">
                <a:solidFill>
                  <a:srgbClr val="0053A0"/>
                </a:solidFill>
                <a:latin typeface="Roboto"/>
                <a:cs typeface="Roboto"/>
              </a:rPr>
              <a:t>f</a:t>
            </a:r>
            <a:r>
              <a:rPr dirty="0" sz="1000" spc="45" b="1">
                <a:solidFill>
                  <a:srgbClr val="0053A0"/>
                </a:solidFill>
                <a:latin typeface="Calibri"/>
                <a:cs typeface="Calibri"/>
              </a:rPr>
              <a:t>₂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816850" y="3825632"/>
            <a:ext cx="3321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0053A0"/>
                </a:solidFill>
                <a:latin typeface="Roboto"/>
                <a:cs typeface="Roboto"/>
              </a:rPr>
              <a:t>PEV</a:t>
            </a:r>
            <a:r>
              <a:rPr dirty="0" sz="1000" spc="-20" b="1">
                <a:solidFill>
                  <a:srgbClr val="0053A0"/>
                </a:solidFill>
                <a:latin typeface="Calibri"/>
                <a:cs typeface="Calibri"/>
              </a:rPr>
              <a:t>₁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0102849" y="3825632"/>
            <a:ext cx="3321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 b="1">
                <a:solidFill>
                  <a:srgbClr val="0053A0"/>
                </a:solidFill>
                <a:latin typeface="Roboto"/>
                <a:cs typeface="Roboto"/>
              </a:rPr>
              <a:t>PEV</a:t>
            </a:r>
            <a:r>
              <a:rPr dirty="0" sz="1000" spc="-35" b="1">
                <a:solidFill>
                  <a:srgbClr val="0053A0"/>
                </a:solidFill>
                <a:latin typeface="Calibri"/>
                <a:cs typeface="Calibri"/>
              </a:rPr>
              <a:t>₂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340725" y="4778132"/>
            <a:ext cx="3225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53A0"/>
                </a:solidFill>
                <a:latin typeface="Roboto"/>
                <a:cs typeface="Roboto"/>
              </a:rPr>
              <a:t>u</a:t>
            </a:r>
            <a:r>
              <a:rPr dirty="0" sz="1000" spc="-10" b="1">
                <a:solidFill>
                  <a:srgbClr val="0053A0"/>
                </a:solidFill>
                <a:latin typeface="Calibri"/>
                <a:cs typeface="Calibri"/>
              </a:rPr>
              <a:t>₁</a:t>
            </a:r>
            <a:r>
              <a:rPr dirty="0" sz="1200" spc="-10" b="1">
                <a:solidFill>
                  <a:srgbClr val="0053A0"/>
                </a:solidFill>
                <a:latin typeface="Roboto"/>
                <a:cs typeface="Roboto"/>
              </a:rPr>
              <a:t>(k)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578974" y="4778132"/>
            <a:ext cx="3225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 b="1">
                <a:solidFill>
                  <a:srgbClr val="0053A0"/>
                </a:solidFill>
                <a:latin typeface="Roboto"/>
                <a:cs typeface="Roboto"/>
              </a:rPr>
              <a:t>u</a:t>
            </a:r>
            <a:r>
              <a:rPr dirty="0" sz="1000" spc="-30" b="1">
                <a:solidFill>
                  <a:srgbClr val="0053A0"/>
                </a:solidFill>
                <a:latin typeface="Calibri"/>
                <a:cs typeface="Calibri"/>
              </a:rPr>
              <a:t>₂</a:t>
            </a:r>
            <a:r>
              <a:rPr dirty="0" sz="1200" spc="-30" b="1">
                <a:solidFill>
                  <a:srgbClr val="0053A0"/>
                </a:solidFill>
                <a:latin typeface="Roboto"/>
                <a:cs typeface="Roboto"/>
              </a:rPr>
              <a:t>(k)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430866" y="5177186"/>
            <a:ext cx="134556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5">
                <a:latin typeface="Roboto"/>
                <a:cs typeface="Roboto"/>
              </a:rPr>
              <a:t>Power/Frequency</a:t>
            </a:r>
            <a:r>
              <a:rPr dirty="0" sz="1100" spc="65">
                <a:latin typeface="Roboto"/>
                <a:cs typeface="Roboto"/>
              </a:rPr>
              <a:t> </a:t>
            </a:r>
            <a:r>
              <a:rPr dirty="0" sz="1100" spc="-25">
                <a:latin typeface="Roboto"/>
                <a:cs typeface="Roboto"/>
              </a:rPr>
              <a:t>Flow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0430866" y="5415311"/>
            <a:ext cx="89916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5">
                <a:latin typeface="Roboto"/>
                <a:cs typeface="Roboto"/>
              </a:rPr>
              <a:t>Control</a:t>
            </a:r>
            <a:r>
              <a:rPr dirty="0" sz="1100" spc="45">
                <a:latin typeface="Roboto"/>
                <a:cs typeface="Roboto"/>
              </a:rPr>
              <a:t> </a:t>
            </a:r>
            <a:r>
              <a:rPr dirty="0" sz="1100" spc="-30">
                <a:latin typeface="Roboto"/>
                <a:cs typeface="Roboto"/>
              </a:rPr>
              <a:t>Signals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37" name="object 37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706635" y="6596701"/>
            <a:ext cx="5248275" cy="2012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70"/>
              </a:lnSpc>
              <a:tabLst>
                <a:tab pos="3401695" algn="l"/>
                <a:tab pos="3833495" algn="l"/>
                <a:tab pos="3963035" algn="l"/>
                <a:tab pos="5008245" algn="l"/>
                <a:tab pos="5177790" algn="l"/>
              </a:tabLst>
            </a:pP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Swing</a:t>
            </a:r>
            <a:r>
              <a:rPr dirty="0" sz="17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equation:</a:t>
            </a:r>
            <a:r>
              <a:rPr dirty="0" sz="17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d</a:t>
            </a:r>
            <a:r>
              <a:rPr dirty="0" sz="1500" spc="-15" b="1">
                <a:solidFill>
                  <a:srgbClr val="0053A0"/>
                </a:solidFill>
                <a:latin typeface="Calibri"/>
                <a:cs typeface="Calibri"/>
              </a:rPr>
              <a:t>Δ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f/dt</a:t>
            </a:r>
            <a:r>
              <a:rPr dirty="0" sz="1700" spc="-4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=</a:t>
            </a:r>
            <a:r>
              <a:rPr dirty="0" sz="1700" spc="-4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45" b="1">
                <a:solidFill>
                  <a:srgbClr val="0053A0"/>
                </a:solidFill>
                <a:latin typeface="Roboto"/>
                <a:cs typeface="Roboto"/>
              </a:rPr>
              <a:t>(1/2H)·(</a:t>
            </a:r>
            <a:r>
              <a:rPr dirty="0" sz="1500" spc="-45" b="1">
                <a:solidFill>
                  <a:srgbClr val="0053A0"/>
                </a:solidFill>
                <a:latin typeface="Calibri"/>
                <a:cs typeface="Calibri"/>
              </a:rPr>
              <a:t>Δ</a:t>
            </a:r>
            <a:r>
              <a:rPr dirty="0" sz="1700" spc="-45" b="1">
                <a:solidFill>
                  <a:srgbClr val="0053A0"/>
                </a:solidFill>
                <a:latin typeface="Roboto"/>
                <a:cs typeface="Roboto"/>
              </a:rPr>
              <a:t>P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	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−</a:t>
            </a:r>
            <a:r>
              <a:rPr dirty="0" sz="1700" spc="-4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500" spc="80" b="1">
                <a:solidFill>
                  <a:srgbClr val="0053A0"/>
                </a:solidFill>
                <a:latin typeface="Calibri"/>
                <a:cs typeface="Calibri"/>
              </a:rPr>
              <a:t>Δ</a:t>
            </a:r>
            <a:r>
              <a:rPr dirty="0" sz="1700" spc="80" b="1">
                <a:solidFill>
                  <a:srgbClr val="0053A0"/>
                </a:solidFill>
                <a:latin typeface="Roboto"/>
                <a:cs typeface="Roboto"/>
              </a:rPr>
              <a:t>P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	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−</a:t>
            </a:r>
            <a:r>
              <a:rPr dirty="0" sz="1700" spc="-4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15" b="1">
                <a:solidFill>
                  <a:srgbClr val="0053A0"/>
                </a:solidFill>
                <a:latin typeface="Roboto"/>
                <a:cs typeface="Roboto"/>
              </a:rPr>
              <a:t>D·</a:t>
            </a:r>
            <a:r>
              <a:rPr dirty="0" sz="1500" spc="15" b="1">
                <a:solidFill>
                  <a:srgbClr val="0053A0"/>
                </a:solidFill>
                <a:latin typeface="Calibri"/>
                <a:cs typeface="Calibri"/>
              </a:rPr>
              <a:t>Δ</a:t>
            </a:r>
            <a:r>
              <a:rPr dirty="0" sz="1700" spc="15" b="1">
                <a:solidFill>
                  <a:srgbClr val="0053A0"/>
                </a:solidFill>
                <a:latin typeface="Roboto"/>
                <a:cs typeface="Roboto"/>
              </a:rPr>
              <a:t>f</a:t>
            </a:r>
            <a:r>
              <a:rPr dirty="0" sz="1700" spc="-4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−</a:t>
            </a:r>
            <a:r>
              <a:rPr dirty="0" sz="1700" spc="-4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500" spc="80" b="1">
                <a:solidFill>
                  <a:srgbClr val="0053A0"/>
                </a:solidFill>
                <a:latin typeface="Calibri"/>
                <a:cs typeface="Calibri"/>
              </a:rPr>
              <a:t>Δ</a:t>
            </a:r>
            <a:r>
              <a:rPr dirty="0" sz="1700" spc="80" b="1">
                <a:solidFill>
                  <a:srgbClr val="0053A0"/>
                </a:solidFill>
                <a:latin typeface="Roboto"/>
                <a:cs typeface="Roboto"/>
              </a:rPr>
              <a:t>P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	</a:t>
            </a:r>
            <a:r>
              <a:rPr dirty="0" sz="1700" spc="-13280" b="1">
                <a:solidFill>
                  <a:srgbClr val="0053A0"/>
                </a:solidFill>
                <a:latin typeface="Roboto"/>
                <a:cs typeface="Roboto"/>
              </a:rPr>
              <a:t>)</a:t>
            </a:r>
            <a:r>
              <a:rPr dirty="0" baseline="-14492" sz="1725" spc="6644" b="1">
                <a:solidFill>
                  <a:srgbClr val="0053A0"/>
                </a:solidFill>
                <a:latin typeface="Roboto"/>
                <a:cs typeface="Roboto"/>
              </a:rPr>
              <a:t>m</a:t>
            </a:r>
            <a:r>
              <a:rPr dirty="0" baseline="-14492" sz="1725" b="1">
                <a:solidFill>
                  <a:srgbClr val="0053A0"/>
                </a:solidFill>
                <a:latin typeface="Roboto"/>
                <a:cs typeface="Roboto"/>
              </a:rPr>
              <a:t>		</a:t>
            </a:r>
            <a:r>
              <a:rPr dirty="0" baseline="-14492" sz="1725" spc="-195" b="1">
                <a:solidFill>
                  <a:srgbClr val="0053A0"/>
                </a:solidFill>
                <a:latin typeface="Roboto"/>
                <a:cs typeface="Roboto"/>
              </a:rPr>
              <a:t>L</a:t>
            </a:r>
            <a:r>
              <a:rPr dirty="0" baseline="-14492" sz="1725" b="1">
                <a:solidFill>
                  <a:srgbClr val="0053A0"/>
                </a:solidFill>
                <a:latin typeface="Roboto"/>
                <a:cs typeface="Roboto"/>
              </a:rPr>
              <a:t>		tie</a:t>
            </a:r>
            <a:endParaRPr baseline="-14492" sz="1725">
              <a:latin typeface="Roboto"/>
              <a:cs typeface="Roboto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5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EV</a:t>
            </a:r>
            <a:r>
              <a:rPr dirty="0" spc="-15"/>
              <a:t> </a:t>
            </a:r>
            <a:r>
              <a:rPr dirty="0" spc="-145"/>
              <a:t>Aggregator</a:t>
            </a:r>
            <a:r>
              <a:rPr dirty="0" spc="-10"/>
              <a:t> </a:t>
            </a:r>
            <a:r>
              <a:rPr dirty="0" spc="-120"/>
              <a:t>Modeling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80999" y="5124449"/>
            <a:ext cx="5619750" cy="1181100"/>
            <a:chOff x="380999" y="5124449"/>
            <a:chExt cx="5619750" cy="1181100"/>
          </a:xfrm>
        </p:grpSpPr>
        <p:sp>
          <p:nvSpPr>
            <p:cNvPr id="4" name="object 4" descr=""/>
            <p:cNvSpPr/>
            <p:nvPr/>
          </p:nvSpPr>
          <p:spPr>
            <a:xfrm>
              <a:off x="380999" y="5124449"/>
              <a:ext cx="5619750" cy="1181100"/>
            </a:xfrm>
            <a:custGeom>
              <a:avLst/>
              <a:gdLst/>
              <a:ahLst/>
              <a:cxnLst/>
              <a:rect l="l" t="t" r="r" b="b"/>
              <a:pathLst>
                <a:path w="5619750" h="1181100">
                  <a:moveTo>
                    <a:pt x="5619749" y="1181099"/>
                  </a:moveTo>
                  <a:lnTo>
                    <a:pt x="0" y="1181099"/>
                  </a:lnTo>
                  <a:lnTo>
                    <a:pt x="0" y="0"/>
                  </a:lnTo>
                  <a:lnTo>
                    <a:pt x="5619749" y="0"/>
                  </a:lnTo>
                  <a:lnTo>
                    <a:pt x="5619749" y="1181099"/>
                  </a:lnTo>
                  <a:close/>
                </a:path>
              </a:pathLst>
            </a:custGeom>
            <a:solidFill>
              <a:srgbClr val="F4F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5124449"/>
              <a:ext cx="38100" cy="1181100"/>
            </a:xfrm>
            <a:custGeom>
              <a:avLst/>
              <a:gdLst/>
              <a:ahLst/>
              <a:cxnLst/>
              <a:rect l="l" t="t" r="r" b="b"/>
              <a:pathLst>
                <a:path w="38100" h="1181100">
                  <a:moveTo>
                    <a:pt x="38099" y="1181099"/>
                  </a:moveTo>
                  <a:lnTo>
                    <a:pt x="0" y="1181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8109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68299" y="1033921"/>
            <a:ext cx="3878579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00" b="1">
                <a:solidFill>
                  <a:srgbClr val="0053A0"/>
                </a:solidFill>
                <a:latin typeface="Roboto"/>
                <a:cs typeface="Roboto"/>
              </a:rPr>
              <a:t>State-</a:t>
            </a:r>
            <a:r>
              <a:rPr dirty="0" sz="2600" spc="-120" b="1">
                <a:solidFill>
                  <a:srgbClr val="0053A0"/>
                </a:solidFill>
                <a:latin typeface="Roboto"/>
                <a:cs typeface="Roboto"/>
              </a:rPr>
              <a:t>Space</a:t>
            </a:r>
            <a:r>
              <a:rPr dirty="0" sz="26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600" spc="-100" b="1">
                <a:solidFill>
                  <a:srgbClr val="0053A0"/>
                </a:solidFill>
                <a:latin typeface="Roboto"/>
                <a:cs typeface="Roboto"/>
              </a:rPr>
              <a:t>Representation</a:t>
            </a:r>
            <a:endParaRPr sz="260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151" y="1856526"/>
            <a:ext cx="182636" cy="18267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999" y="2729528"/>
            <a:ext cx="203523" cy="11306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3534641"/>
            <a:ext cx="181010" cy="16019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655" y="4364222"/>
            <a:ext cx="164017" cy="15837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80999" y="1736824"/>
            <a:ext cx="5657850" cy="439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marR="242570">
              <a:lnSpc>
                <a:spcPct val="110700"/>
              </a:lnSpc>
              <a:spcBef>
                <a:spcPts val="100"/>
              </a:spcBef>
            </a:pP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Reduced-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order</a:t>
            </a:r>
            <a:r>
              <a:rPr dirty="0" sz="170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state-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space</a:t>
            </a:r>
            <a:r>
              <a:rPr dirty="0" sz="170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model</a:t>
            </a:r>
            <a:r>
              <a:rPr dirty="0" sz="170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50" spc="-95">
                <a:solidFill>
                  <a:srgbClr val="333333"/>
                </a:solidFill>
                <a:latin typeface="Roboto"/>
                <a:cs typeface="Roboto"/>
              </a:rPr>
              <a:t>efficiently</a:t>
            </a:r>
            <a:r>
              <a:rPr dirty="0" sz="17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10">
                <a:solidFill>
                  <a:srgbClr val="333333"/>
                </a:solidFill>
                <a:latin typeface="Roboto"/>
                <a:cs typeface="Roboto"/>
              </a:rPr>
              <a:t>captures</a:t>
            </a:r>
            <a:r>
              <a:rPr dirty="0" sz="17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the </a:t>
            </a:r>
            <a:r>
              <a:rPr dirty="0" sz="1750" spc="-90">
                <a:solidFill>
                  <a:srgbClr val="333333"/>
                </a:solidFill>
                <a:latin typeface="Roboto"/>
                <a:cs typeface="Roboto"/>
              </a:rPr>
              <a:t>collective</a:t>
            </a:r>
            <a:r>
              <a:rPr dirty="0" sz="17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10">
                <a:solidFill>
                  <a:srgbClr val="333333"/>
                </a:solidFill>
                <a:latin typeface="Roboto"/>
                <a:cs typeface="Roboto"/>
              </a:rPr>
              <a:t>behavior</a:t>
            </a:r>
            <a:r>
              <a:rPr dirty="0" sz="17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7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14">
                <a:solidFill>
                  <a:srgbClr val="333333"/>
                </a:solidFill>
                <a:latin typeface="Roboto"/>
                <a:cs typeface="Roboto"/>
              </a:rPr>
              <a:t>thousands</a:t>
            </a:r>
            <a:r>
              <a:rPr dirty="0" sz="17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7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90">
                <a:solidFill>
                  <a:srgbClr val="333333"/>
                </a:solidFill>
                <a:latin typeface="Roboto"/>
                <a:cs typeface="Roboto"/>
              </a:rPr>
              <a:t>individual</a:t>
            </a:r>
            <a:r>
              <a:rPr dirty="0" sz="17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EVs</a:t>
            </a:r>
            <a:endParaRPr sz="1750">
              <a:latin typeface="Roboto"/>
              <a:cs typeface="Roboto"/>
            </a:endParaRPr>
          </a:p>
          <a:p>
            <a:pPr marL="347980" marR="335280">
              <a:lnSpc>
                <a:spcPct val="114300"/>
              </a:lnSpc>
              <a:spcBef>
                <a:spcPts val="1800"/>
              </a:spcBef>
            </a:pP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State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10">
                <a:solidFill>
                  <a:srgbClr val="333333"/>
                </a:solidFill>
                <a:latin typeface="Roboto"/>
                <a:cs typeface="Roboto"/>
              </a:rPr>
              <a:t>vector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represents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SOC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0" b="1">
                <a:solidFill>
                  <a:srgbClr val="0053A0"/>
                </a:solidFill>
                <a:latin typeface="Roboto"/>
                <a:cs typeface="Roboto"/>
              </a:rPr>
              <a:t>distribution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50" spc="-114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45" b="1">
                <a:solidFill>
                  <a:srgbClr val="0053A0"/>
                </a:solidFill>
                <a:latin typeface="Roboto"/>
                <a:cs typeface="Roboto"/>
              </a:rPr>
              <a:t>connection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status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2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7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20">
                <a:solidFill>
                  <a:srgbClr val="333333"/>
                </a:solidFill>
                <a:latin typeface="Roboto"/>
                <a:cs typeface="Roboto"/>
              </a:rPr>
              <a:t>fleet</a:t>
            </a:r>
            <a:endParaRPr sz="17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Roboto"/>
              <a:cs typeface="Roboto"/>
            </a:endParaRPr>
          </a:p>
          <a:p>
            <a:pPr marL="325120" marR="204470">
              <a:lnSpc>
                <a:spcPct val="110700"/>
              </a:lnSpc>
              <a:spcBef>
                <a:spcPts val="5"/>
              </a:spcBef>
            </a:pP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Transitions</a:t>
            </a:r>
            <a:r>
              <a:rPr dirty="0" sz="17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14">
                <a:solidFill>
                  <a:srgbClr val="333333"/>
                </a:solidFill>
                <a:latin typeface="Roboto"/>
                <a:cs typeface="Roboto"/>
              </a:rPr>
              <a:t>between</a:t>
            </a:r>
            <a:r>
              <a:rPr dirty="0" sz="17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states</a:t>
            </a:r>
            <a:r>
              <a:rPr dirty="0" sz="17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follow</a:t>
            </a:r>
            <a:r>
              <a:rPr dirty="0" sz="17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Markov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chain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45" b="1">
                <a:solidFill>
                  <a:srgbClr val="0053A0"/>
                </a:solidFill>
                <a:latin typeface="Roboto"/>
                <a:cs typeface="Roboto"/>
              </a:rPr>
              <a:t>dynamics </a:t>
            </a:r>
            <a:r>
              <a:rPr dirty="0" sz="1750" spc="-100">
                <a:solidFill>
                  <a:srgbClr val="333333"/>
                </a:solidFill>
                <a:latin typeface="Roboto"/>
                <a:cs typeface="Roboto"/>
              </a:rPr>
              <a:t>capturing</a:t>
            </a:r>
            <a:r>
              <a:rPr dirty="0" sz="17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0">
                <a:solidFill>
                  <a:srgbClr val="333333"/>
                </a:solidFill>
                <a:latin typeface="Roboto"/>
                <a:cs typeface="Roboto"/>
              </a:rPr>
              <a:t>stochastic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nature</a:t>
            </a:r>
            <a:r>
              <a:rPr dirty="0" sz="17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2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">
                <a:solidFill>
                  <a:srgbClr val="333333"/>
                </a:solidFill>
                <a:latin typeface="Roboto"/>
                <a:cs typeface="Roboto"/>
              </a:rPr>
              <a:t>behavior</a:t>
            </a:r>
            <a:endParaRPr sz="17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Roboto"/>
              <a:cs typeface="Roboto"/>
            </a:endParaRPr>
          </a:p>
          <a:p>
            <a:pPr marL="325120" marR="430530">
              <a:lnSpc>
                <a:spcPct val="110700"/>
              </a:lnSpc>
              <a:spcBef>
                <a:spcPts val="5"/>
              </a:spcBef>
            </a:pP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Progressive</a:t>
            </a:r>
            <a:r>
              <a:rPr dirty="0" sz="1700" spc="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state</a:t>
            </a:r>
            <a:r>
              <a:rPr dirty="0" sz="170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recovery</a:t>
            </a:r>
            <a:r>
              <a:rPr dirty="0" sz="170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50" spc="-130">
                <a:solidFill>
                  <a:srgbClr val="333333"/>
                </a:solidFill>
                <a:latin typeface="Roboto"/>
                <a:cs typeface="Roboto"/>
              </a:rPr>
              <a:t>mechanism</a:t>
            </a:r>
            <a:r>
              <a:rPr dirty="0" sz="17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14">
                <a:solidFill>
                  <a:srgbClr val="333333"/>
                </a:solidFill>
                <a:latin typeface="Roboto"/>
                <a:cs typeface="Roboto"/>
              </a:rPr>
              <a:t>ensures</a:t>
            </a:r>
            <a:r>
              <a:rPr dirty="0" sz="17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0">
                <a:solidFill>
                  <a:srgbClr val="333333"/>
                </a:solidFill>
                <a:latin typeface="Roboto"/>
                <a:cs typeface="Roboto"/>
              </a:rPr>
              <a:t>that</a:t>
            </a:r>
            <a:r>
              <a:rPr dirty="0" sz="17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EV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user</a:t>
            </a:r>
            <a:r>
              <a:rPr dirty="0" sz="17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preferences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10">
                <a:solidFill>
                  <a:srgbClr val="333333"/>
                </a:solidFill>
                <a:latin typeface="Roboto"/>
                <a:cs typeface="Roboto"/>
              </a:rPr>
              <a:t>are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respected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5">
                <a:solidFill>
                  <a:srgbClr val="333333"/>
                </a:solidFill>
                <a:latin typeface="Roboto"/>
                <a:cs typeface="Roboto"/>
              </a:rPr>
              <a:t>during</a:t>
            </a:r>
            <a:r>
              <a:rPr dirty="0" sz="17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9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7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50" spc="-10">
                <a:solidFill>
                  <a:srgbClr val="333333"/>
                </a:solidFill>
                <a:latin typeface="Roboto"/>
                <a:cs typeface="Roboto"/>
              </a:rPr>
              <a:t>services</a:t>
            </a:r>
            <a:endParaRPr sz="17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550">
              <a:latin typeface="Roboto"/>
              <a:cs typeface="Roboto"/>
            </a:endParaRPr>
          </a:p>
          <a:p>
            <a:pPr marL="180975" marR="1346200">
              <a:lnSpc>
                <a:spcPct val="116700"/>
              </a:lnSpc>
            </a:pPr>
            <a:r>
              <a:rPr dirty="0" sz="1500" spc="-20">
                <a:latin typeface="Times New Roman"/>
                <a:cs typeface="Times New Roman"/>
              </a:rPr>
              <a:t>State</a:t>
            </a:r>
            <a:r>
              <a:rPr dirty="0" sz="1500" spc="-75">
                <a:latin typeface="Times New Roman"/>
                <a:cs typeface="Times New Roman"/>
              </a:rPr>
              <a:t> </a:t>
            </a:r>
            <a:r>
              <a:rPr dirty="0" sz="1500" spc="-30">
                <a:latin typeface="Times New Roman"/>
                <a:cs typeface="Times New Roman"/>
              </a:rPr>
              <a:t>equation: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30">
                <a:latin typeface="Times New Roman"/>
                <a:cs typeface="Times New Roman"/>
              </a:rPr>
              <a:t>x(k+1)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40">
                <a:latin typeface="Times New Roman"/>
                <a:cs typeface="Times New Roman"/>
              </a:rPr>
              <a:t>=</a:t>
            </a:r>
            <a:r>
              <a:rPr dirty="0" sz="1500" spc="-100">
                <a:latin typeface="Times New Roman"/>
                <a:cs typeface="Times New Roman"/>
              </a:rPr>
              <a:t> </a:t>
            </a:r>
            <a:r>
              <a:rPr dirty="0" sz="1500" spc="-30">
                <a:latin typeface="Times New Roman"/>
                <a:cs typeface="Times New Roman"/>
              </a:rPr>
              <a:t>Ax(k)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+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Bu(k)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+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Cv(k)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+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Δ</a:t>
            </a:r>
            <a:r>
              <a:rPr dirty="0" sz="1500" spc="-10">
                <a:latin typeface="Times New Roman"/>
                <a:cs typeface="Times New Roman"/>
              </a:rPr>
              <a:t>x(k) </a:t>
            </a:r>
            <a:r>
              <a:rPr dirty="0" sz="1500" spc="-30">
                <a:latin typeface="Times New Roman"/>
                <a:cs typeface="Times New Roman"/>
              </a:rPr>
              <a:t>Output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 spc="-30">
                <a:latin typeface="Times New Roman"/>
                <a:cs typeface="Times New Roman"/>
              </a:rPr>
              <a:t>equation: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y(k)</a:t>
            </a:r>
            <a:r>
              <a:rPr dirty="0" sz="1500" spc="-7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=</a:t>
            </a:r>
            <a:r>
              <a:rPr dirty="0" sz="1500" spc="-70">
                <a:latin typeface="Times New Roman"/>
                <a:cs typeface="Times New Roman"/>
              </a:rPr>
              <a:t> </a:t>
            </a:r>
            <a:r>
              <a:rPr dirty="0" sz="1500" spc="-30">
                <a:latin typeface="Times New Roman"/>
                <a:cs typeface="Times New Roman"/>
              </a:rPr>
              <a:t>Dx(k)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=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[P</a:t>
            </a:r>
            <a:r>
              <a:rPr dirty="0" baseline="-15151" sz="1650">
                <a:latin typeface="Times New Roman"/>
                <a:cs typeface="Times New Roman"/>
              </a:rPr>
              <a:t>c</a:t>
            </a:r>
            <a:r>
              <a:rPr dirty="0" baseline="-15151" sz="1650" spc="44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</a:t>
            </a:r>
            <a:r>
              <a:rPr dirty="0" baseline="-15151" sz="1650">
                <a:latin typeface="Times New Roman"/>
                <a:cs typeface="Times New Roman"/>
              </a:rPr>
              <a:t>Ns</a:t>
            </a:r>
            <a:r>
              <a:rPr dirty="0" baseline="-15151" sz="1650" spc="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</a:t>
            </a:r>
            <a:r>
              <a:rPr dirty="0" baseline="-15151" sz="1650">
                <a:latin typeface="Times New Roman"/>
                <a:cs typeface="Times New Roman"/>
              </a:rPr>
              <a:t>Ns</a:t>
            </a:r>
            <a:r>
              <a:rPr dirty="0" baseline="-15151" sz="1650" spc="52">
                <a:latin typeface="Times New Roman"/>
                <a:cs typeface="Times New Roman"/>
              </a:rPr>
              <a:t> </a:t>
            </a:r>
            <a:r>
              <a:rPr dirty="0" sz="1500" spc="-30">
                <a:latin typeface="Times New Roman"/>
                <a:cs typeface="Times New Roman"/>
              </a:rPr>
              <a:t>-</a:t>
            </a:r>
            <a:r>
              <a:rPr dirty="0" sz="1500">
                <a:latin typeface="Times New Roman"/>
                <a:cs typeface="Times New Roman"/>
              </a:rPr>
              <a:t>P</a:t>
            </a:r>
            <a:r>
              <a:rPr dirty="0" baseline="-15151" sz="1650">
                <a:latin typeface="Times New Roman"/>
                <a:cs typeface="Times New Roman"/>
              </a:rPr>
              <a:t>d</a:t>
            </a:r>
            <a:r>
              <a:rPr dirty="0" baseline="-15151" sz="1650" spc="6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I</a:t>
            </a:r>
            <a:r>
              <a:rPr dirty="0" baseline="-15151" sz="1650" spc="-15">
                <a:latin typeface="Times New Roman"/>
                <a:cs typeface="Times New Roman"/>
              </a:rPr>
              <a:t>Ns</a:t>
            </a:r>
            <a:r>
              <a:rPr dirty="0" sz="1500" spc="-10">
                <a:latin typeface="Times New Roman"/>
                <a:cs typeface="Times New Roman"/>
              </a:rPr>
              <a:t>]x(k)</a:t>
            </a:r>
            <a:endParaRPr sz="15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  <a:spcBef>
                <a:spcPts val="975"/>
              </a:spcBef>
            </a:pPr>
            <a:r>
              <a:rPr dirty="0" sz="1500" spc="-30">
                <a:latin typeface="Times New Roman"/>
                <a:cs typeface="Times New Roman"/>
              </a:rPr>
              <a:t>Recovery: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u(k)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=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u</a:t>
            </a:r>
            <a:r>
              <a:rPr dirty="0" baseline="-15151" sz="1650" spc="-30">
                <a:latin typeface="Times New Roman"/>
                <a:cs typeface="Times New Roman"/>
              </a:rPr>
              <a:t>reg</a:t>
            </a:r>
            <a:r>
              <a:rPr dirty="0" sz="1500" spc="-20">
                <a:latin typeface="Times New Roman"/>
                <a:cs typeface="Times New Roman"/>
              </a:rPr>
              <a:t>(k)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+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α</a:t>
            </a:r>
            <a:r>
              <a:rPr dirty="0" sz="1500">
                <a:latin typeface="Times New Roman"/>
                <a:cs typeface="Times New Roman"/>
              </a:rPr>
              <a:t>(x</a:t>
            </a:r>
            <a:r>
              <a:rPr dirty="0" baseline="-15151" sz="1650">
                <a:latin typeface="Times New Roman"/>
                <a:cs typeface="Times New Roman"/>
              </a:rPr>
              <a:t>pref</a:t>
            </a:r>
            <a:r>
              <a:rPr dirty="0" baseline="-15151" sz="1650" spc="67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-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x(k))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958707" y="4425544"/>
            <a:ext cx="4084954" cy="787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2065" marR="5080">
              <a:lnSpc>
                <a:spcPct val="114199"/>
              </a:lnSpc>
              <a:spcBef>
                <a:spcPts val="130"/>
              </a:spcBef>
            </a:pPr>
            <a:r>
              <a:rPr dirty="0" sz="1450" spc="-65" b="1">
                <a:solidFill>
                  <a:srgbClr val="0053A0"/>
                </a:solidFill>
                <a:latin typeface="Roboto"/>
                <a:cs typeface="Roboto"/>
              </a:rPr>
              <a:t>Fig.</a:t>
            </a:r>
            <a:r>
              <a:rPr dirty="0" sz="145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 b="1">
                <a:solidFill>
                  <a:srgbClr val="0053A0"/>
                </a:solidFill>
                <a:latin typeface="Roboto"/>
                <a:cs typeface="Roboto"/>
              </a:rPr>
              <a:t>1:</a:t>
            </a:r>
            <a:r>
              <a:rPr dirty="0" sz="145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90">
                <a:solidFill>
                  <a:srgbClr val="333333"/>
                </a:solidFill>
                <a:latin typeface="Roboto"/>
                <a:cs typeface="Roboto"/>
              </a:rPr>
              <a:t>Markov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chain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model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states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45">
                <a:solidFill>
                  <a:srgbClr val="333333"/>
                </a:solidFill>
                <a:latin typeface="Roboto"/>
                <a:cs typeface="Roboto"/>
              </a:rPr>
              <a:t>transition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probabilities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influenced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by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inputs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20">
                <a:solidFill>
                  <a:srgbClr val="333333"/>
                </a:solidFill>
                <a:latin typeface="Roboto"/>
                <a:cs typeface="Roboto"/>
              </a:rPr>
              <a:t>user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behavior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117708" y="170180"/>
            <a:ext cx="70612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latin typeface="Roboto"/>
                <a:cs typeface="Roboto"/>
              </a:rPr>
              <a:t>IEEE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Logo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34249" y="1524000"/>
            <a:ext cx="2019300" cy="12572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7484219" y="2168772"/>
            <a:ext cx="652780" cy="406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2230" marR="5080" indent="-50165">
              <a:lnSpc>
                <a:spcPct val="113599"/>
              </a:lnSpc>
              <a:spcBef>
                <a:spcPts val="90"/>
              </a:spcBef>
            </a:pPr>
            <a:r>
              <a:rPr dirty="0" sz="1100" spc="-55" b="1">
                <a:solidFill>
                  <a:srgbClr val="2E7D32"/>
                </a:solidFill>
                <a:latin typeface="Roboto"/>
                <a:cs typeface="Roboto"/>
              </a:rPr>
              <a:t>Connected </a:t>
            </a:r>
            <a:r>
              <a:rPr dirty="0" sz="1100" spc="-10" b="1">
                <a:solidFill>
                  <a:srgbClr val="2E7D32"/>
                </a:solidFill>
                <a:latin typeface="Roboto"/>
                <a:cs typeface="Roboto"/>
              </a:rPr>
              <a:t>Charging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96449" y="1714499"/>
            <a:ext cx="971549" cy="247649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9865469" y="2186336"/>
            <a:ext cx="65278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0" b="1">
                <a:solidFill>
                  <a:srgbClr val="1565BF"/>
                </a:solidFill>
                <a:latin typeface="Roboto"/>
                <a:cs typeface="Roboto"/>
              </a:rPr>
              <a:t>Connected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071447" y="2376836"/>
            <a:ext cx="24066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30" b="1">
                <a:solidFill>
                  <a:srgbClr val="1565BF"/>
                </a:solidFill>
                <a:latin typeface="Roboto"/>
                <a:cs typeface="Roboto"/>
              </a:rPr>
              <a:t>Idle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831386" y="3692772"/>
            <a:ext cx="720725" cy="406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3655">
              <a:lnSpc>
                <a:spcPct val="113599"/>
              </a:lnSpc>
              <a:spcBef>
                <a:spcPts val="90"/>
              </a:spcBef>
            </a:pPr>
            <a:r>
              <a:rPr dirty="0" sz="1100" spc="-20" b="1">
                <a:solidFill>
                  <a:srgbClr val="C62828"/>
                </a:solidFill>
                <a:latin typeface="Roboto"/>
                <a:cs typeface="Roboto"/>
              </a:rPr>
              <a:t>Connected </a:t>
            </a:r>
            <a:r>
              <a:rPr dirty="0" sz="1100" spc="-50" b="1">
                <a:solidFill>
                  <a:srgbClr val="C62828"/>
                </a:solidFill>
                <a:latin typeface="Roboto"/>
                <a:cs typeface="Roboto"/>
              </a:rPr>
              <a:t>Discharging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34249" y="3047999"/>
            <a:ext cx="952499" cy="114299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7400428" y="3805586"/>
            <a:ext cx="820419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45" b="1">
                <a:solidFill>
                  <a:srgbClr val="616161"/>
                </a:solidFill>
                <a:latin typeface="Roboto"/>
                <a:cs typeface="Roboto"/>
              </a:rPr>
              <a:t>Disconnected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553450" y="2090039"/>
            <a:ext cx="21526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10582" sz="1575" spc="-37">
                <a:latin typeface="Roboto"/>
                <a:cs typeface="Roboto"/>
              </a:rPr>
              <a:t>p</a:t>
            </a:r>
            <a:r>
              <a:rPr dirty="0" sz="800" spc="-25">
                <a:latin typeface="Roboto"/>
                <a:cs typeface="Roboto"/>
              </a:rPr>
              <a:t>ci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553450" y="2375789"/>
            <a:ext cx="21526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10582" sz="1575" spc="-37">
                <a:latin typeface="Roboto"/>
                <a:cs typeface="Roboto"/>
              </a:rPr>
              <a:t>p</a:t>
            </a:r>
            <a:r>
              <a:rPr dirty="0" sz="800" spc="-25">
                <a:latin typeface="Roboto"/>
                <a:cs typeface="Roboto"/>
              </a:rPr>
              <a:t>ic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839324" y="3090164"/>
            <a:ext cx="50419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23215" algn="l"/>
              </a:tabLst>
            </a:pPr>
            <a:r>
              <a:rPr dirty="0" baseline="10582" sz="1575" spc="-37">
                <a:latin typeface="Roboto"/>
                <a:cs typeface="Roboto"/>
              </a:rPr>
              <a:t>p</a:t>
            </a:r>
            <a:r>
              <a:rPr dirty="0" sz="800" spc="-25">
                <a:latin typeface="Roboto"/>
                <a:cs typeface="Roboto"/>
              </a:rPr>
              <a:t>id</a:t>
            </a:r>
            <a:r>
              <a:rPr dirty="0" sz="800">
                <a:latin typeface="Roboto"/>
                <a:cs typeface="Roboto"/>
              </a:rPr>
              <a:t>	</a:t>
            </a:r>
            <a:r>
              <a:rPr dirty="0" baseline="10582" sz="1575" spc="-37">
                <a:latin typeface="Roboto"/>
                <a:cs typeface="Roboto"/>
              </a:rPr>
              <a:t>p</a:t>
            </a:r>
            <a:r>
              <a:rPr dirty="0" sz="800" spc="-25">
                <a:latin typeface="Roboto"/>
                <a:cs typeface="Roboto"/>
              </a:rPr>
              <a:t>di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458075" y="3090164"/>
            <a:ext cx="24447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10582" sz="1575" spc="-37">
                <a:latin typeface="Roboto"/>
                <a:cs typeface="Roboto"/>
              </a:rPr>
              <a:t>p</a:t>
            </a:r>
            <a:r>
              <a:rPr dirty="0" sz="800" spc="-25">
                <a:latin typeface="Roboto"/>
                <a:cs typeface="Roboto"/>
              </a:rPr>
              <a:t>dc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8552260" y="3207613"/>
            <a:ext cx="687070" cy="990600"/>
            <a:chOff x="8552260" y="3207613"/>
            <a:chExt cx="687070" cy="990600"/>
          </a:xfrm>
        </p:grpSpPr>
        <p:sp>
          <p:nvSpPr>
            <p:cNvPr id="28" name="object 28" descr=""/>
            <p:cNvSpPr/>
            <p:nvPr/>
          </p:nvSpPr>
          <p:spPr>
            <a:xfrm>
              <a:off x="8552256" y="3207626"/>
              <a:ext cx="687070" cy="990600"/>
            </a:xfrm>
            <a:custGeom>
              <a:avLst/>
              <a:gdLst/>
              <a:ahLst/>
              <a:cxnLst/>
              <a:rect l="l" t="t" r="r" b="b"/>
              <a:pathLst>
                <a:path w="687070" h="990600">
                  <a:moveTo>
                    <a:pt x="158203" y="40398"/>
                  </a:moveTo>
                  <a:lnTo>
                    <a:pt x="36969" y="0"/>
                  </a:lnTo>
                  <a:lnTo>
                    <a:pt x="77381" y="121221"/>
                  </a:lnTo>
                  <a:lnTo>
                    <a:pt x="158203" y="40398"/>
                  </a:lnTo>
                  <a:close/>
                </a:path>
                <a:path w="687070" h="990600">
                  <a:moveTo>
                    <a:pt x="686981" y="316623"/>
                  </a:moveTo>
                  <a:lnTo>
                    <a:pt x="673519" y="303161"/>
                  </a:lnTo>
                  <a:lnTo>
                    <a:pt x="0" y="976680"/>
                  </a:lnTo>
                  <a:lnTo>
                    <a:pt x="13462" y="990142"/>
                  </a:lnTo>
                  <a:lnTo>
                    <a:pt x="686981" y="316623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672511" y="3338512"/>
              <a:ext cx="266700" cy="238125"/>
            </a:xfrm>
            <a:custGeom>
              <a:avLst/>
              <a:gdLst/>
              <a:ahLst/>
              <a:cxnLst/>
              <a:rect l="l" t="t" r="r" b="b"/>
              <a:pathLst>
                <a:path w="266700" h="238125">
                  <a:moveTo>
                    <a:pt x="182153" y="238124"/>
                  </a:moveTo>
                  <a:lnTo>
                    <a:pt x="84546" y="238124"/>
                  </a:lnTo>
                  <a:lnTo>
                    <a:pt x="78662" y="237545"/>
                  </a:lnTo>
                  <a:lnTo>
                    <a:pt x="35275" y="219573"/>
                  </a:lnTo>
                  <a:lnTo>
                    <a:pt x="9161" y="187753"/>
                  </a:lnTo>
                  <a:lnTo>
                    <a:pt x="0" y="153578"/>
                  </a:lnTo>
                  <a:lnTo>
                    <a:pt x="0" y="14763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6" y="0"/>
                  </a:lnTo>
                  <a:lnTo>
                    <a:pt x="182153" y="0"/>
                  </a:lnTo>
                  <a:lnTo>
                    <a:pt x="221542" y="11948"/>
                  </a:lnTo>
                  <a:lnTo>
                    <a:pt x="254750" y="45155"/>
                  </a:lnTo>
                  <a:lnTo>
                    <a:pt x="266699" y="84545"/>
                  </a:lnTo>
                  <a:lnTo>
                    <a:pt x="266699" y="153578"/>
                  </a:lnTo>
                  <a:lnTo>
                    <a:pt x="254749" y="192969"/>
                  </a:lnTo>
                  <a:lnTo>
                    <a:pt x="221543" y="226175"/>
                  </a:lnTo>
                  <a:lnTo>
                    <a:pt x="188037" y="237545"/>
                  </a:lnTo>
                  <a:lnTo>
                    <a:pt x="182153" y="238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672511" y="3338512"/>
              <a:ext cx="266700" cy="238125"/>
            </a:xfrm>
            <a:custGeom>
              <a:avLst/>
              <a:gdLst/>
              <a:ahLst/>
              <a:cxnLst/>
              <a:rect l="l" t="t" r="r" b="b"/>
              <a:pathLst>
                <a:path w="266700" h="238125">
                  <a:moveTo>
                    <a:pt x="0" y="1476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50" y="40215"/>
                  </a:lnTo>
                  <a:lnTo>
                    <a:pt x="18551" y="35275"/>
                  </a:lnTo>
                  <a:lnTo>
                    <a:pt x="22302" y="30704"/>
                  </a:lnTo>
                  <a:lnTo>
                    <a:pt x="26503" y="26503"/>
                  </a:lnTo>
                  <a:lnTo>
                    <a:pt x="30705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2" y="579"/>
                  </a:lnTo>
                  <a:lnTo>
                    <a:pt x="84546" y="0"/>
                  </a:lnTo>
                  <a:lnTo>
                    <a:pt x="90488" y="0"/>
                  </a:lnTo>
                  <a:lnTo>
                    <a:pt x="176213" y="0"/>
                  </a:lnTo>
                  <a:lnTo>
                    <a:pt x="182153" y="0"/>
                  </a:lnTo>
                  <a:lnTo>
                    <a:pt x="188037" y="579"/>
                  </a:lnTo>
                  <a:lnTo>
                    <a:pt x="193864" y="1738"/>
                  </a:lnTo>
                  <a:lnTo>
                    <a:pt x="199691" y="2897"/>
                  </a:lnTo>
                  <a:lnTo>
                    <a:pt x="205349" y="4614"/>
                  </a:lnTo>
                  <a:lnTo>
                    <a:pt x="210838" y="6887"/>
                  </a:lnTo>
                  <a:lnTo>
                    <a:pt x="216328" y="9161"/>
                  </a:lnTo>
                  <a:lnTo>
                    <a:pt x="221542" y="11948"/>
                  </a:lnTo>
                  <a:lnTo>
                    <a:pt x="226483" y="15249"/>
                  </a:lnTo>
                  <a:lnTo>
                    <a:pt x="231424" y="18550"/>
                  </a:lnTo>
                  <a:lnTo>
                    <a:pt x="251449" y="40215"/>
                  </a:lnTo>
                  <a:lnTo>
                    <a:pt x="254750" y="45155"/>
                  </a:lnTo>
                  <a:lnTo>
                    <a:pt x="264960" y="72834"/>
                  </a:lnTo>
                  <a:lnTo>
                    <a:pt x="266119" y="78661"/>
                  </a:lnTo>
                  <a:lnTo>
                    <a:pt x="266699" y="84545"/>
                  </a:lnTo>
                  <a:lnTo>
                    <a:pt x="266700" y="90487"/>
                  </a:lnTo>
                  <a:lnTo>
                    <a:pt x="266700" y="147637"/>
                  </a:lnTo>
                  <a:lnTo>
                    <a:pt x="266699" y="153578"/>
                  </a:lnTo>
                  <a:lnTo>
                    <a:pt x="266119" y="159463"/>
                  </a:lnTo>
                  <a:lnTo>
                    <a:pt x="264959" y="165290"/>
                  </a:lnTo>
                  <a:lnTo>
                    <a:pt x="263800" y="171117"/>
                  </a:lnTo>
                  <a:lnTo>
                    <a:pt x="251449" y="197909"/>
                  </a:lnTo>
                  <a:lnTo>
                    <a:pt x="248148" y="202849"/>
                  </a:lnTo>
                  <a:lnTo>
                    <a:pt x="226483" y="222874"/>
                  </a:lnTo>
                  <a:lnTo>
                    <a:pt x="221543" y="226175"/>
                  </a:lnTo>
                  <a:lnTo>
                    <a:pt x="193865" y="236385"/>
                  </a:lnTo>
                  <a:lnTo>
                    <a:pt x="188037" y="237545"/>
                  </a:lnTo>
                  <a:lnTo>
                    <a:pt x="182153" y="238124"/>
                  </a:lnTo>
                  <a:lnTo>
                    <a:pt x="176213" y="238124"/>
                  </a:lnTo>
                  <a:lnTo>
                    <a:pt x="90488" y="238124"/>
                  </a:lnTo>
                  <a:lnTo>
                    <a:pt x="50370" y="228962"/>
                  </a:lnTo>
                  <a:lnTo>
                    <a:pt x="40215" y="222874"/>
                  </a:lnTo>
                  <a:lnTo>
                    <a:pt x="35275" y="219573"/>
                  </a:lnTo>
                  <a:lnTo>
                    <a:pt x="15250" y="197909"/>
                  </a:lnTo>
                  <a:lnTo>
                    <a:pt x="11948" y="192968"/>
                  </a:lnTo>
                  <a:lnTo>
                    <a:pt x="0" y="153578"/>
                  </a:lnTo>
                  <a:lnTo>
                    <a:pt x="0" y="147637"/>
                  </a:lnTo>
                  <a:close/>
                </a:path>
              </a:pathLst>
            </a:custGeom>
            <a:ln w="9524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8696325" y="3375914"/>
            <a:ext cx="21907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10582" sz="1575" spc="-37">
                <a:latin typeface="Roboto"/>
                <a:cs typeface="Roboto"/>
              </a:rPr>
              <a:t>p</a:t>
            </a:r>
            <a:r>
              <a:rPr dirty="0" sz="800" spc="-25">
                <a:latin typeface="Roboto"/>
                <a:cs typeface="Roboto"/>
              </a:rPr>
              <a:t>id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33" name="object 33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6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37" name="object 3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Control</a:t>
            </a:r>
            <a:r>
              <a:rPr dirty="0" spc="-40"/>
              <a:t> </a:t>
            </a:r>
            <a:r>
              <a:rPr dirty="0" spc="-125"/>
              <a:t>Strategies</a:t>
            </a:r>
            <a:r>
              <a:rPr dirty="0" spc="-40"/>
              <a:t> </a:t>
            </a:r>
            <a:r>
              <a:rPr dirty="0" spc="-120"/>
              <a:t>for</a:t>
            </a:r>
            <a:r>
              <a:rPr dirty="0" spc="-40"/>
              <a:t> </a:t>
            </a:r>
            <a:r>
              <a:rPr dirty="0" spc="-165"/>
              <a:t>EV</a:t>
            </a:r>
            <a:r>
              <a:rPr dirty="0" spc="-40"/>
              <a:t> </a:t>
            </a:r>
            <a:r>
              <a:rPr dirty="0" spc="-100"/>
              <a:t>Integration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68299" y="929894"/>
            <a:ext cx="35521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5" b="1">
                <a:solidFill>
                  <a:srgbClr val="0053A0"/>
                </a:solidFill>
                <a:latin typeface="Roboto"/>
                <a:cs typeface="Roboto"/>
              </a:rPr>
              <a:t>Advanced</a:t>
            </a:r>
            <a:r>
              <a:rPr dirty="0" sz="24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400" spc="-13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24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400" spc="-105" b="1">
                <a:solidFill>
                  <a:srgbClr val="0053A0"/>
                </a:solidFill>
                <a:latin typeface="Roboto"/>
                <a:cs typeface="Roboto"/>
              </a:rPr>
              <a:t>Strategies</a:t>
            </a:r>
            <a:endParaRPr sz="2400">
              <a:latin typeface="Roboto"/>
              <a:cs typeface="Roboto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80999" y="1562099"/>
            <a:ext cx="285750" cy="285750"/>
            <a:chOff x="380999" y="1562099"/>
            <a:chExt cx="285750" cy="285750"/>
          </a:xfrm>
        </p:grpSpPr>
        <p:sp>
          <p:nvSpPr>
            <p:cNvPr id="5" name="object 5" descr=""/>
            <p:cNvSpPr/>
            <p:nvPr/>
          </p:nvSpPr>
          <p:spPr>
            <a:xfrm>
              <a:off x="380999" y="15620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400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8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4"/>
                  </a:lnTo>
                  <a:lnTo>
                    <a:pt x="277401" y="191000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4" y="1612106"/>
              <a:ext cx="190499" cy="1666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749299" y="1444535"/>
            <a:ext cx="4693920" cy="91059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Model</a:t>
            </a:r>
            <a:r>
              <a:rPr dirty="0" sz="1700" spc="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Predictive</a:t>
            </a:r>
            <a:r>
              <a:rPr dirty="0" sz="1700" spc="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700" spc="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(MPC)</a:t>
            </a:r>
            <a:endParaRPr sz="1700">
              <a:latin typeface="Roboto"/>
              <a:cs typeface="Roboto"/>
            </a:endParaRPr>
          </a:p>
          <a:p>
            <a:pPr marL="12700" marR="5080">
              <a:lnSpc>
                <a:spcPct val="107800"/>
              </a:lnSpc>
              <a:spcBef>
                <a:spcPts val="475"/>
              </a:spcBef>
            </a:pP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Optimizes</a:t>
            </a:r>
            <a:r>
              <a:rPr dirty="0" sz="14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actions</a:t>
            </a:r>
            <a:r>
              <a:rPr dirty="0" sz="14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over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0" b="1">
                <a:solidFill>
                  <a:srgbClr val="0053A0"/>
                </a:solidFill>
                <a:latin typeface="Roboto"/>
                <a:cs typeface="Roboto"/>
              </a:rPr>
              <a:t>finite</a:t>
            </a:r>
            <a:r>
              <a:rPr dirty="0" sz="145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 b="1">
                <a:solidFill>
                  <a:srgbClr val="0053A0"/>
                </a:solidFill>
                <a:latin typeface="Roboto"/>
                <a:cs typeface="Roboto"/>
              </a:rPr>
              <a:t>prediction</a:t>
            </a:r>
            <a:r>
              <a:rPr dirty="0" sz="145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5" b="1">
                <a:solidFill>
                  <a:srgbClr val="0053A0"/>
                </a:solidFill>
                <a:latin typeface="Roboto"/>
                <a:cs typeface="Roboto"/>
              </a:rPr>
              <a:t>horizon</a:t>
            </a:r>
            <a:r>
              <a:rPr dirty="0" sz="145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while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respecting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operational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constraints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80999" y="2562224"/>
            <a:ext cx="285750" cy="285750"/>
            <a:chOff x="380999" y="2562224"/>
            <a:chExt cx="285750" cy="285750"/>
          </a:xfrm>
        </p:grpSpPr>
        <p:sp>
          <p:nvSpPr>
            <p:cNvPr id="9" name="object 9" descr=""/>
            <p:cNvSpPr/>
            <p:nvPr/>
          </p:nvSpPr>
          <p:spPr>
            <a:xfrm>
              <a:off x="380999" y="256222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400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8"/>
                  </a:lnTo>
                  <a:lnTo>
                    <a:pt x="227992" y="28121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1" y="191000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4" y="2609849"/>
              <a:ext cx="190499" cy="19049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749299" y="2454185"/>
            <a:ext cx="4238625" cy="113919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00"/>
              </a:spcBef>
            </a:pP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Reinforcement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Learning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(RL)</a:t>
            </a:r>
            <a:endParaRPr sz="1700">
              <a:latin typeface="Roboto"/>
              <a:cs typeface="Roboto"/>
            </a:endParaRPr>
          </a:p>
          <a:p>
            <a:pPr algn="just" marL="12700" marR="5080">
              <a:lnSpc>
                <a:spcPct val="105600"/>
              </a:lnSpc>
              <a:spcBef>
                <a:spcPts val="509"/>
              </a:spcBef>
            </a:pPr>
            <a:r>
              <a:rPr dirty="0" sz="1450" spc="-85" b="1">
                <a:solidFill>
                  <a:srgbClr val="0053A0"/>
                </a:solidFill>
                <a:latin typeface="Roboto"/>
                <a:cs typeface="Roboto"/>
              </a:rPr>
              <a:t>Model-</a:t>
            </a:r>
            <a:r>
              <a:rPr dirty="0" sz="1450" spc="-70" b="1">
                <a:solidFill>
                  <a:srgbClr val="0053A0"/>
                </a:solidFill>
                <a:latin typeface="Roboto"/>
                <a:cs typeface="Roboto"/>
              </a:rPr>
              <a:t>free</a:t>
            </a:r>
            <a:r>
              <a:rPr dirty="0" sz="145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90" b="1">
                <a:solidFill>
                  <a:srgbClr val="0053A0"/>
                </a:solidFill>
                <a:latin typeface="Roboto"/>
                <a:cs typeface="Roboto"/>
              </a:rPr>
              <a:t>approach</a:t>
            </a:r>
            <a:r>
              <a:rPr dirty="0" sz="1450" spc="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that</a:t>
            </a:r>
            <a:r>
              <a:rPr dirty="0" sz="145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learns</a:t>
            </a:r>
            <a:r>
              <a:rPr dirty="0" sz="145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45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policies</a:t>
            </a:r>
            <a:r>
              <a:rPr dirty="0" sz="14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40">
                <a:solidFill>
                  <a:srgbClr val="333333"/>
                </a:solidFill>
                <a:latin typeface="Roboto"/>
                <a:cs typeface="Roboto"/>
              </a:rPr>
              <a:t>through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interaction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environment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using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95">
                <a:solidFill>
                  <a:srgbClr val="333333"/>
                </a:solidFill>
                <a:latin typeface="Roboto"/>
                <a:cs typeface="Roboto"/>
              </a:rPr>
              <a:t>Deep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Q-</a:t>
            </a:r>
            <a:r>
              <a:rPr dirty="0" sz="1450" spc="-25">
                <a:solidFill>
                  <a:srgbClr val="333333"/>
                </a:solidFill>
                <a:latin typeface="Roboto"/>
                <a:cs typeface="Roboto"/>
              </a:rPr>
              <a:t>Networks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(DQN)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80999" y="3800474"/>
            <a:ext cx="285750" cy="285750"/>
            <a:chOff x="380999" y="3800474"/>
            <a:chExt cx="285750" cy="285750"/>
          </a:xfrm>
        </p:grpSpPr>
        <p:sp>
          <p:nvSpPr>
            <p:cNvPr id="13" name="object 13" descr=""/>
            <p:cNvSpPr/>
            <p:nvPr/>
          </p:nvSpPr>
          <p:spPr>
            <a:xfrm>
              <a:off x="380999" y="38004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400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578" y="3859992"/>
              <a:ext cx="178593" cy="16671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749299" y="3692434"/>
            <a:ext cx="4184650" cy="91059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Adaptive</a:t>
            </a:r>
            <a:r>
              <a:rPr dirty="0" sz="1700" spc="-3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endParaRPr sz="1700">
              <a:latin typeface="Roboto"/>
              <a:cs typeface="Roboto"/>
            </a:endParaRPr>
          </a:p>
          <a:p>
            <a:pPr marL="12700" marR="5080">
              <a:lnSpc>
                <a:spcPct val="107800"/>
              </a:lnSpc>
              <a:spcBef>
                <a:spcPts val="475"/>
              </a:spcBef>
            </a:pPr>
            <a:r>
              <a:rPr dirty="0" sz="1450" spc="-80" b="1">
                <a:solidFill>
                  <a:srgbClr val="0053A0"/>
                </a:solidFill>
                <a:latin typeface="Roboto"/>
                <a:cs typeface="Roboto"/>
              </a:rPr>
              <a:t>Online</a:t>
            </a:r>
            <a:r>
              <a:rPr dirty="0" sz="145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80" b="1">
                <a:solidFill>
                  <a:srgbClr val="0053A0"/>
                </a:solidFill>
                <a:latin typeface="Roboto"/>
                <a:cs typeface="Roboto"/>
              </a:rPr>
              <a:t>parameter</a:t>
            </a:r>
            <a:r>
              <a:rPr dirty="0" sz="1450" spc="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5" b="1">
                <a:solidFill>
                  <a:srgbClr val="0053A0"/>
                </a:solidFill>
                <a:latin typeface="Roboto"/>
                <a:cs typeface="Roboto"/>
              </a:rPr>
              <a:t>adaptation</a:t>
            </a:r>
            <a:r>
              <a:rPr dirty="0" sz="1450" spc="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95">
                <a:solidFill>
                  <a:srgbClr val="333333"/>
                </a:solidFill>
                <a:latin typeface="Roboto"/>
                <a:cs typeface="Roboto"/>
              </a:rPr>
              <a:t>Lyapunov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stability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guarantees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handle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uncertainties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40">
                <a:solidFill>
                  <a:srgbClr val="333333"/>
                </a:solidFill>
                <a:latin typeface="Roboto"/>
                <a:cs typeface="Roboto"/>
              </a:rPr>
              <a:t>changes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80999" y="4810124"/>
            <a:ext cx="285750" cy="285750"/>
            <a:chOff x="380999" y="4810124"/>
            <a:chExt cx="285750" cy="285750"/>
          </a:xfrm>
        </p:grpSpPr>
        <p:sp>
          <p:nvSpPr>
            <p:cNvPr id="17" name="object 17" descr=""/>
            <p:cNvSpPr/>
            <p:nvPr/>
          </p:nvSpPr>
          <p:spPr>
            <a:xfrm>
              <a:off x="380999" y="481012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400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4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574" y="4885381"/>
              <a:ext cx="222795" cy="123775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749299" y="4689328"/>
            <a:ext cx="4601845" cy="115189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Progressive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State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Recovery</a:t>
            </a:r>
            <a:endParaRPr sz="1700">
              <a:latin typeface="Roboto"/>
              <a:cs typeface="Roboto"/>
            </a:endParaRPr>
          </a:p>
          <a:p>
            <a:pPr marL="12700" marR="5080">
              <a:lnSpc>
                <a:spcPct val="107800"/>
              </a:lnSpc>
              <a:spcBef>
                <a:spcPts val="475"/>
              </a:spcBef>
            </a:pP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Ensures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gradual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return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user-preferred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states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50">
                <a:solidFill>
                  <a:srgbClr val="333333"/>
                </a:solidFill>
                <a:latin typeface="Roboto"/>
                <a:cs typeface="Roboto"/>
              </a:rPr>
              <a:t>(e.g.,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25">
                <a:solidFill>
                  <a:srgbClr val="333333"/>
                </a:solidFill>
                <a:latin typeface="Roboto"/>
                <a:cs typeface="Roboto"/>
              </a:rPr>
              <a:t>SOC </a:t>
            </a:r>
            <a:r>
              <a:rPr dirty="0" sz="1450" spc="-60">
                <a:solidFill>
                  <a:srgbClr val="333333"/>
                </a:solidFill>
                <a:latin typeface="Roboto"/>
                <a:cs typeface="Roboto"/>
              </a:rPr>
              <a:t>levels)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after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service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provision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while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minimizing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impact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25">
                <a:solidFill>
                  <a:srgbClr val="333333"/>
                </a:solidFill>
                <a:latin typeface="Roboto"/>
                <a:cs typeface="Roboto"/>
              </a:rPr>
              <a:t>on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4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stability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68299" y="6008195"/>
            <a:ext cx="477901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dirty="0" sz="1150" spc="-70" b="1">
                <a:solidFill>
                  <a:srgbClr val="0053A0"/>
                </a:solidFill>
                <a:latin typeface="Roboto"/>
                <a:cs typeface="Roboto"/>
              </a:rPr>
              <a:t>Key</a:t>
            </a:r>
            <a:r>
              <a:rPr dirty="0" sz="115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150" spc="-55" b="1">
                <a:solidFill>
                  <a:srgbClr val="0053A0"/>
                </a:solidFill>
                <a:latin typeface="Roboto"/>
                <a:cs typeface="Roboto"/>
              </a:rPr>
              <a:t>Result:</a:t>
            </a:r>
            <a:r>
              <a:rPr dirty="0" sz="115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150" spc="-85">
                <a:solidFill>
                  <a:srgbClr val="374050"/>
                </a:solidFill>
                <a:latin typeface="Roboto"/>
                <a:cs typeface="Roboto"/>
              </a:rPr>
              <a:t>MPC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achieve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up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5">
                <a:solidFill>
                  <a:srgbClr val="374050"/>
                </a:solidFill>
                <a:latin typeface="Roboto"/>
                <a:cs typeface="Roboto"/>
              </a:rPr>
              <a:t>48%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reduction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frequency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nadir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35%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improvement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374050"/>
                </a:solidFill>
                <a:latin typeface="Roboto"/>
                <a:cs typeface="Roboto"/>
              </a:rPr>
              <a:t>settling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compared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conventional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74050"/>
                </a:solidFill>
                <a:latin typeface="Roboto"/>
                <a:cs typeface="Roboto"/>
              </a:rPr>
              <a:t>AGC</a:t>
            </a:r>
            <a:endParaRPr sz="1150">
              <a:latin typeface="Roboto"/>
              <a:cs typeface="Roboto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1117708" y="177026"/>
            <a:ext cx="70612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0">
                <a:latin typeface="Roboto"/>
                <a:cs typeface="Roboto"/>
              </a:rPr>
              <a:t>IEEE</a:t>
            </a:r>
            <a:r>
              <a:rPr dirty="0" sz="1250" spc="-6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Logo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772274" y="1142999"/>
            <a:ext cx="2095500" cy="1047750"/>
            <a:chOff x="6772274" y="1142999"/>
            <a:chExt cx="2095500" cy="1047750"/>
          </a:xfrm>
        </p:grpSpPr>
        <p:sp>
          <p:nvSpPr>
            <p:cNvPr id="24" name="object 24" descr=""/>
            <p:cNvSpPr/>
            <p:nvPr/>
          </p:nvSpPr>
          <p:spPr>
            <a:xfrm>
              <a:off x="6781799" y="1152524"/>
              <a:ext cx="2076450" cy="1028700"/>
            </a:xfrm>
            <a:custGeom>
              <a:avLst/>
              <a:gdLst/>
              <a:ahLst/>
              <a:cxnLst/>
              <a:rect l="l" t="t" r="r" b="b"/>
              <a:pathLst>
                <a:path w="2076450" h="1028700">
                  <a:moveTo>
                    <a:pt x="2014152" y="1028699"/>
                  </a:moveTo>
                  <a:lnTo>
                    <a:pt x="62296" y="1028699"/>
                  </a:lnTo>
                  <a:lnTo>
                    <a:pt x="57960" y="1028272"/>
                  </a:lnTo>
                  <a:lnTo>
                    <a:pt x="22623" y="1012266"/>
                  </a:lnTo>
                  <a:lnTo>
                    <a:pt x="2134" y="979326"/>
                  </a:lnTo>
                  <a:lnTo>
                    <a:pt x="0" y="966402"/>
                  </a:lnTo>
                  <a:lnTo>
                    <a:pt x="0" y="962024"/>
                  </a:lnTo>
                  <a:lnTo>
                    <a:pt x="0" y="62296"/>
                  </a:lnTo>
                  <a:lnTo>
                    <a:pt x="13667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2014152" y="0"/>
                  </a:lnTo>
                  <a:lnTo>
                    <a:pt x="2050457" y="13668"/>
                  </a:lnTo>
                  <a:lnTo>
                    <a:pt x="2073049" y="45204"/>
                  </a:lnTo>
                  <a:lnTo>
                    <a:pt x="2076449" y="62296"/>
                  </a:lnTo>
                  <a:lnTo>
                    <a:pt x="2076449" y="966402"/>
                  </a:lnTo>
                  <a:lnTo>
                    <a:pt x="2062779" y="1002707"/>
                  </a:lnTo>
                  <a:lnTo>
                    <a:pt x="2031245" y="1025299"/>
                  </a:lnTo>
                  <a:lnTo>
                    <a:pt x="2018488" y="1028272"/>
                  </a:lnTo>
                  <a:lnTo>
                    <a:pt x="2014152" y="102869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781799" y="1152524"/>
              <a:ext cx="2076450" cy="1028700"/>
            </a:xfrm>
            <a:custGeom>
              <a:avLst/>
              <a:gdLst/>
              <a:ahLst/>
              <a:cxnLst/>
              <a:rect l="l" t="t" r="r" b="b"/>
              <a:pathLst>
                <a:path w="2076450" h="1028700">
                  <a:moveTo>
                    <a:pt x="0" y="9620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7" y="25992"/>
                  </a:lnTo>
                  <a:lnTo>
                    <a:pt x="16432" y="22624"/>
                  </a:lnTo>
                  <a:lnTo>
                    <a:pt x="19527" y="19528"/>
                  </a:lnTo>
                  <a:lnTo>
                    <a:pt x="22623" y="16432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2009774" y="0"/>
                  </a:lnTo>
                  <a:lnTo>
                    <a:pt x="2014152" y="0"/>
                  </a:lnTo>
                  <a:lnTo>
                    <a:pt x="2018488" y="427"/>
                  </a:lnTo>
                  <a:lnTo>
                    <a:pt x="2022781" y="1281"/>
                  </a:lnTo>
                  <a:lnTo>
                    <a:pt x="2027075" y="2135"/>
                  </a:lnTo>
                  <a:lnTo>
                    <a:pt x="2046816" y="11236"/>
                  </a:lnTo>
                  <a:lnTo>
                    <a:pt x="2050457" y="13668"/>
                  </a:lnTo>
                  <a:lnTo>
                    <a:pt x="2065211" y="29632"/>
                  </a:lnTo>
                  <a:lnTo>
                    <a:pt x="2067644" y="33272"/>
                  </a:lnTo>
                  <a:lnTo>
                    <a:pt x="2069698" y="37114"/>
                  </a:lnTo>
                  <a:lnTo>
                    <a:pt x="2071373" y="41159"/>
                  </a:lnTo>
                  <a:lnTo>
                    <a:pt x="2073049" y="45204"/>
                  </a:lnTo>
                  <a:lnTo>
                    <a:pt x="2074313" y="49373"/>
                  </a:lnTo>
                  <a:lnTo>
                    <a:pt x="2075167" y="53667"/>
                  </a:lnTo>
                  <a:lnTo>
                    <a:pt x="2076021" y="57961"/>
                  </a:lnTo>
                  <a:lnTo>
                    <a:pt x="2076449" y="62296"/>
                  </a:lnTo>
                  <a:lnTo>
                    <a:pt x="2076449" y="66674"/>
                  </a:lnTo>
                  <a:lnTo>
                    <a:pt x="2076449" y="962024"/>
                  </a:lnTo>
                  <a:lnTo>
                    <a:pt x="2071373" y="987539"/>
                  </a:lnTo>
                  <a:lnTo>
                    <a:pt x="2069698" y="991584"/>
                  </a:lnTo>
                  <a:lnTo>
                    <a:pt x="2067644" y="995427"/>
                  </a:lnTo>
                  <a:lnTo>
                    <a:pt x="2065212" y="999067"/>
                  </a:lnTo>
                  <a:lnTo>
                    <a:pt x="2062779" y="1002707"/>
                  </a:lnTo>
                  <a:lnTo>
                    <a:pt x="2046816" y="1017462"/>
                  </a:lnTo>
                  <a:lnTo>
                    <a:pt x="2043176" y="1019895"/>
                  </a:lnTo>
                  <a:lnTo>
                    <a:pt x="2009774" y="1028699"/>
                  </a:lnTo>
                  <a:lnTo>
                    <a:pt x="66674" y="1028699"/>
                  </a:lnTo>
                  <a:lnTo>
                    <a:pt x="41158" y="1023624"/>
                  </a:lnTo>
                  <a:lnTo>
                    <a:pt x="37113" y="1021948"/>
                  </a:lnTo>
                  <a:lnTo>
                    <a:pt x="33271" y="1019895"/>
                  </a:lnTo>
                  <a:lnTo>
                    <a:pt x="29631" y="1017462"/>
                  </a:lnTo>
                  <a:lnTo>
                    <a:pt x="25991" y="1015030"/>
                  </a:lnTo>
                  <a:lnTo>
                    <a:pt x="3399" y="983495"/>
                  </a:lnTo>
                  <a:lnTo>
                    <a:pt x="1280" y="975032"/>
                  </a:lnTo>
                  <a:lnTo>
                    <a:pt x="426" y="970738"/>
                  </a:lnTo>
                  <a:lnTo>
                    <a:pt x="0" y="966402"/>
                  </a:lnTo>
                  <a:lnTo>
                    <a:pt x="0" y="96202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05724" y="1319212"/>
              <a:ext cx="228600" cy="200025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6958707" y="1548976"/>
            <a:ext cx="1722755" cy="97091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dirty="0" sz="1300" spc="-65" b="1">
                <a:solidFill>
                  <a:srgbClr val="0053A0"/>
                </a:solidFill>
                <a:latin typeface="Roboto"/>
                <a:cs typeface="Roboto"/>
              </a:rPr>
              <a:t>Model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0"/>
                </a:solidFill>
                <a:latin typeface="Roboto"/>
                <a:cs typeface="Roboto"/>
              </a:rPr>
              <a:t>Predictive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3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endParaRPr sz="1300">
              <a:latin typeface="Roboto"/>
              <a:cs typeface="Roboto"/>
            </a:endParaRPr>
          </a:p>
          <a:p>
            <a:pPr algn="ctr" marL="121920" marR="114300">
              <a:lnSpc>
                <a:spcPct val="112000"/>
              </a:lnSpc>
              <a:spcBef>
                <a:spcPts val="395"/>
              </a:spcBef>
            </a:pPr>
            <a:r>
              <a:rPr dirty="0" sz="1200" spc="-70">
                <a:solidFill>
                  <a:srgbClr val="333333"/>
                </a:solidFill>
                <a:latin typeface="Roboto"/>
                <a:cs typeface="Roboto"/>
              </a:rPr>
              <a:t>Optimization-</a:t>
            </a:r>
            <a:r>
              <a:rPr dirty="0" sz="1200" spc="-80">
                <a:solidFill>
                  <a:srgbClr val="333333"/>
                </a:solidFill>
                <a:latin typeface="Roboto"/>
                <a:cs typeface="Roboto"/>
              </a:rPr>
              <a:t>based</a:t>
            </a:r>
            <a:r>
              <a:rPr dirty="0" sz="1200" spc="1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40">
                <a:solidFill>
                  <a:srgbClr val="333333"/>
                </a:solidFill>
                <a:latin typeface="Roboto"/>
                <a:cs typeface="Roboto"/>
              </a:rPr>
              <a:t>with </a:t>
            </a: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constraints</a:t>
            </a: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7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35">
                <a:solidFill>
                  <a:srgbClr val="333333"/>
                </a:solidFill>
                <a:latin typeface="Roboto"/>
                <a:cs typeface="Roboto"/>
              </a:rPr>
              <a:t>prediction </a:t>
            </a: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horizon</a:t>
            </a:r>
            <a:endParaRPr sz="1200">
              <a:latin typeface="Roboto"/>
              <a:cs typeface="Roboto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72274" y="2666999"/>
            <a:ext cx="5429249" cy="1047750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6948437" y="3072976"/>
            <a:ext cx="1743075" cy="77089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 indent="32384">
              <a:lnSpc>
                <a:spcPct val="100000"/>
              </a:lnSpc>
              <a:spcBef>
                <a:spcPts val="750"/>
              </a:spcBef>
            </a:pPr>
            <a:r>
              <a:rPr dirty="0" sz="1300" spc="-55" b="1">
                <a:solidFill>
                  <a:srgbClr val="0053A0"/>
                </a:solidFill>
                <a:latin typeface="Roboto"/>
                <a:cs typeface="Roboto"/>
              </a:rPr>
              <a:t>Reinforcement</a:t>
            </a:r>
            <a:r>
              <a:rPr dirty="0" sz="13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Learning</a:t>
            </a:r>
            <a:endParaRPr sz="1300">
              <a:latin typeface="Roboto"/>
              <a:cs typeface="Roboto"/>
            </a:endParaRPr>
          </a:p>
          <a:p>
            <a:pPr marL="238125" marR="5080" indent="-226060">
              <a:lnSpc>
                <a:spcPct val="114599"/>
              </a:lnSpc>
              <a:spcBef>
                <a:spcPts val="355"/>
              </a:spcBef>
            </a:pP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Learning</a:t>
            </a:r>
            <a:r>
              <a:rPr dirty="0" sz="12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through</a:t>
            </a:r>
            <a:r>
              <a:rPr dirty="0" sz="12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55">
                <a:solidFill>
                  <a:srgbClr val="333333"/>
                </a:solidFill>
                <a:latin typeface="Roboto"/>
                <a:cs typeface="Roboto"/>
              </a:rPr>
              <a:t>interaction </a:t>
            </a:r>
            <a:r>
              <a:rPr dirty="0" sz="1200" spc="-70">
                <a:solidFill>
                  <a:srgbClr val="333333"/>
                </a:solidFill>
                <a:latin typeface="Roboto"/>
                <a:cs typeface="Roboto"/>
              </a:rPr>
              <a:t>using</a:t>
            </a:r>
            <a:r>
              <a:rPr dirty="0" sz="1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100">
                <a:solidFill>
                  <a:srgbClr val="333333"/>
                </a:solidFill>
                <a:latin typeface="Roboto"/>
                <a:cs typeface="Roboto"/>
              </a:rPr>
              <a:t>DQN</a:t>
            </a:r>
            <a:r>
              <a:rPr dirty="0" sz="12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algorithm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6772274" y="4190999"/>
            <a:ext cx="2095500" cy="1047750"/>
            <a:chOff x="6772274" y="4190999"/>
            <a:chExt cx="2095500" cy="1047750"/>
          </a:xfrm>
        </p:grpSpPr>
        <p:sp>
          <p:nvSpPr>
            <p:cNvPr id="31" name="object 31" descr=""/>
            <p:cNvSpPr/>
            <p:nvPr/>
          </p:nvSpPr>
          <p:spPr>
            <a:xfrm>
              <a:off x="6781799" y="4200524"/>
              <a:ext cx="2076450" cy="1028700"/>
            </a:xfrm>
            <a:custGeom>
              <a:avLst/>
              <a:gdLst/>
              <a:ahLst/>
              <a:cxnLst/>
              <a:rect l="l" t="t" r="r" b="b"/>
              <a:pathLst>
                <a:path w="2076450" h="1028700">
                  <a:moveTo>
                    <a:pt x="2014152" y="1028699"/>
                  </a:moveTo>
                  <a:lnTo>
                    <a:pt x="62296" y="1028699"/>
                  </a:lnTo>
                  <a:lnTo>
                    <a:pt x="57960" y="1028271"/>
                  </a:lnTo>
                  <a:lnTo>
                    <a:pt x="22623" y="1012265"/>
                  </a:lnTo>
                  <a:lnTo>
                    <a:pt x="2134" y="979325"/>
                  </a:lnTo>
                  <a:lnTo>
                    <a:pt x="0" y="966402"/>
                  </a:lnTo>
                  <a:lnTo>
                    <a:pt x="0" y="962024"/>
                  </a:lnTo>
                  <a:lnTo>
                    <a:pt x="0" y="62296"/>
                  </a:lnTo>
                  <a:lnTo>
                    <a:pt x="13667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2014152" y="0"/>
                  </a:lnTo>
                  <a:lnTo>
                    <a:pt x="2050457" y="13668"/>
                  </a:lnTo>
                  <a:lnTo>
                    <a:pt x="2073049" y="45203"/>
                  </a:lnTo>
                  <a:lnTo>
                    <a:pt x="2076449" y="62296"/>
                  </a:lnTo>
                  <a:lnTo>
                    <a:pt x="2076449" y="966402"/>
                  </a:lnTo>
                  <a:lnTo>
                    <a:pt x="2062779" y="1002707"/>
                  </a:lnTo>
                  <a:lnTo>
                    <a:pt x="2031245" y="1025299"/>
                  </a:lnTo>
                  <a:lnTo>
                    <a:pt x="2018488" y="1028271"/>
                  </a:lnTo>
                  <a:lnTo>
                    <a:pt x="2014152" y="102869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781799" y="4200524"/>
              <a:ext cx="2076450" cy="1028700"/>
            </a:xfrm>
            <a:custGeom>
              <a:avLst/>
              <a:gdLst/>
              <a:ahLst/>
              <a:cxnLst/>
              <a:rect l="l" t="t" r="r" b="b"/>
              <a:pathLst>
                <a:path w="2076450" h="1028700">
                  <a:moveTo>
                    <a:pt x="0" y="9620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1235" y="29631"/>
                  </a:lnTo>
                  <a:lnTo>
                    <a:pt x="13667" y="25991"/>
                  </a:lnTo>
                  <a:lnTo>
                    <a:pt x="16432" y="22623"/>
                  </a:lnTo>
                  <a:lnTo>
                    <a:pt x="19527" y="19528"/>
                  </a:lnTo>
                  <a:lnTo>
                    <a:pt x="22623" y="16432"/>
                  </a:lnTo>
                  <a:lnTo>
                    <a:pt x="25990" y="13668"/>
                  </a:lnTo>
                  <a:lnTo>
                    <a:pt x="29630" y="11236"/>
                  </a:lnTo>
                  <a:lnTo>
                    <a:pt x="33270" y="8803"/>
                  </a:lnTo>
                  <a:lnTo>
                    <a:pt x="37113" y="6750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66674" y="0"/>
                  </a:lnTo>
                  <a:lnTo>
                    <a:pt x="2009774" y="0"/>
                  </a:lnTo>
                  <a:lnTo>
                    <a:pt x="2014152" y="0"/>
                  </a:lnTo>
                  <a:lnTo>
                    <a:pt x="2018488" y="427"/>
                  </a:lnTo>
                  <a:lnTo>
                    <a:pt x="2022781" y="1281"/>
                  </a:lnTo>
                  <a:lnTo>
                    <a:pt x="2027075" y="2135"/>
                  </a:lnTo>
                  <a:lnTo>
                    <a:pt x="2031245" y="3400"/>
                  </a:lnTo>
                  <a:lnTo>
                    <a:pt x="2035289" y="5075"/>
                  </a:lnTo>
                  <a:lnTo>
                    <a:pt x="2039334" y="6750"/>
                  </a:lnTo>
                  <a:lnTo>
                    <a:pt x="2043176" y="8804"/>
                  </a:lnTo>
                  <a:lnTo>
                    <a:pt x="2046816" y="11236"/>
                  </a:lnTo>
                  <a:lnTo>
                    <a:pt x="2050457" y="13668"/>
                  </a:lnTo>
                  <a:lnTo>
                    <a:pt x="2065211" y="29631"/>
                  </a:lnTo>
                  <a:lnTo>
                    <a:pt x="2067644" y="33272"/>
                  </a:lnTo>
                  <a:lnTo>
                    <a:pt x="2069698" y="37114"/>
                  </a:lnTo>
                  <a:lnTo>
                    <a:pt x="2071373" y="41159"/>
                  </a:lnTo>
                  <a:lnTo>
                    <a:pt x="2073049" y="45204"/>
                  </a:lnTo>
                  <a:lnTo>
                    <a:pt x="2074313" y="49373"/>
                  </a:lnTo>
                  <a:lnTo>
                    <a:pt x="2075167" y="53667"/>
                  </a:lnTo>
                  <a:lnTo>
                    <a:pt x="2076021" y="57960"/>
                  </a:lnTo>
                  <a:lnTo>
                    <a:pt x="2076449" y="62296"/>
                  </a:lnTo>
                  <a:lnTo>
                    <a:pt x="2076449" y="66674"/>
                  </a:lnTo>
                  <a:lnTo>
                    <a:pt x="2076449" y="962024"/>
                  </a:lnTo>
                  <a:lnTo>
                    <a:pt x="2076449" y="966402"/>
                  </a:lnTo>
                  <a:lnTo>
                    <a:pt x="2076021" y="970738"/>
                  </a:lnTo>
                  <a:lnTo>
                    <a:pt x="2075167" y="975031"/>
                  </a:lnTo>
                  <a:lnTo>
                    <a:pt x="2074313" y="979325"/>
                  </a:lnTo>
                  <a:lnTo>
                    <a:pt x="2073049" y="983495"/>
                  </a:lnTo>
                  <a:lnTo>
                    <a:pt x="2071373" y="987539"/>
                  </a:lnTo>
                  <a:lnTo>
                    <a:pt x="2069698" y="991584"/>
                  </a:lnTo>
                  <a:lnTo>
                    <a:pt x="2043176" y="1019894"/>
                  </a:lnTo>
                  <a:lnTo>
                    <a:pt x="2035289" y="1023624"/>
                  </a:lnTo>
                  <a:lnTo>
                    <a:pt x="2031245" y="1025299"/>
                  </a:lnTo>
                  <a:lnTo>
                    <a:pt x="2027075" y="1026564"/>
                  </a:lnTo>
                  <a:lnTo>
                    <a:pt x="2022781" y="1027418"/>
                  </a:lnTo>
                  <a:lnTo>
                    <a:pt x="2018488" y="1028272"/>
                  </a:lnTo>
                  <a:lnTo>
                    <a:pt x="2014152" y="1028699"/>
                  </a:lnTo>
                  <a:lnTo>
                    <a:pt x="2009774" y="1028699"/>
                  </a:lnTo>
                  <a:lnTo>
                    <a:pt x="66674" y="1028699"/>
                  </a:lnTo>
                  <a:lnTo>
                    <a:pt x="41158" y="1023624"/>
                  </a:lnTo>
                  <a:lnTo>
                    <a:pt x="37113" y="1021948"/>
                  </a:lnTo>
                  <a:lnTo>
                    <a:pt x="8803" y="995426"/>
                  </a:lnTo>
                  <a:lnTo>
                    <a:pt x="1280" y="975031"/>
                  </a:lnTo>
                  <a:lnTo>
                    <a:pt x="426" y="970738"/>
                  </a:lnTo>
                  <a:lnTo>
                    <a:pt x="0" y="966402"/>
                  </a:lnTo>
                  <a:lnTo>
                    <a:pt x="0" y="96202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12868" y="4367195"/>
              <a:ext cx="214312" cy="200058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6875660" y="4596976"/>
            <a:ext cx="1889125" cy="77089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dirty="0" sz="1300" spc="-55" b="1">
                <a:solidFill>
                  <a:srgbClr val="0053A0"/>
                </a:solidFill>
                <a:latin typeface="Roboto"/>
                <a:cs typeface="Roboto"/>
              </a:rPr>
              <a:t>Adaptive</a:t>
            </a:r>
            <a:r>
              <a:rPr dirty="0" sz="13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endParaRPr sz="1300">
              <a:latin typeface="Roboto"/>
              <a:cs typeface="Roboto"/>
            </a:endParaRPr>
          </a:p>
          <a:p>
            <a:pPr algn="ctr" marL="12700" marR="5080">
              <a:lnSpc>
                <a:spcPct val="114599"/>
              </a:lnSpc>
              <a:spcBef>
                <a:spcPts val="355"/>
              </a:spcBef>
            </a:pPr>
            <a:r>
              <a:rPr dirty="0" sz="1200" spc="-70">
                <a:solidFill>
                  <a:srgbClr val="333333"/>
                </a:solidFill>
                <a:latin typeface="Roboto"/>
                <a:cs typeface="Roboto"/>
              </a:rPr>
              <a:t>Online</a:t>
            </a:r>
            <a:r>
              <a:rPr dirty="0" sz="12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75">
                <a:solidFill>
                  <a:srgbClr val="333333"/>
                </a:solidFill>
                <a:latin typeface="Roboto"/>
                <a:cs typeface="Roboto"/>
              </a:rPr>
              <a:t>parameter</a:t>
            </a:r>
            <a:r>
              <a:rPr dirty="0" sz="12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333333"/>
                </a:solidFill>
                <a:latin typeface="Roboto"/>
                <a:cs typeface="Roboto"/>
              </a:rPr>
              <a:t>updates</a:t>
            </a:r>
            <a:r>
              <a:rPr dirty="0" sz="12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35">
                <a:solidFill>
                  <a:srgbClr val="333333"/>
                </a:solidFill>
                <a:latin typeface="Roboto"/>
                <a:cs typeface="Roboto"/>
              </a:rPr>
              <a:t>with </a:t>
            </a:r>
            <a:r>
              <a:rPr dirty="0" sz="1200" spc="-55">
                <a:solidFill>
                  <a:srgbClr val="333333"/>
                </a:solidFill>
                <a:latin typeface="Roboto"/>
                <a:cs typeface="Roboto"/>
              </a:rPr>
              <a:t>stability</a:t>
            </a:r>
            <a:r>
              <a:rPr dirty="0" sz="12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guarantees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9608739" y="3072976"/>
            <a:ext cx="995044" cy="56134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dirty="0" sz="1300" spc="-60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300" spc="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30" b="1">
                <a:solidFill>
                  <a:srgbClr val="0053A0"/>
                </a:solidFill>
                <a:latin typeface="Roboto"/>
                <a:cs typeface="Roboto"/>
              </a:rPr>
              <a:t>Signal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u(k)</a:t>
            </a: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333333"/>
                </a:solidFill>
                <a:latin typeface="Roboto"/>
                <a:cs typeface="Roboto"/>
              </a:rPr>
              <a:t>=</a:t>
            </a: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55">
                <a:solidFill>
                  <a:srgbClr val="333333"/>
                </a:solidFill>
                <a:latin typeface="Roboto"/>
                <a:cs typeface="Roboto"/>
              </a:rPr>
              <a:t>f(x,</a:t>
            </a: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Arial"/>
                <a:cs typeface="Arial"/>
              </a:rPr>
              <a:t>Δ</a:t>
            </a:r>
            <a:r>
              <a:rPr dirty="0" sz="1200" spc="-25">
                <a:solidFill>
                  <a:srgbClr val="333333"/>
                </a:solidFill>
                <a:latin typeface="Roboto"/>
                <a:cs typeface="Roboto"/>
              </a:rPr>
              <a:t>f)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1467305" y="3072976"/>
            <a:ext cx="715010" cy="77089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dirty="0" sz="1300" spc="-70" b="1">
                <a:solidFill>
                  <a:srgbClr val="0053A0"/>
                </a:solidFill>
                <a:latin typeface="Roboto"/>
                <a:cs typeface="Roboto"/>
              </a:rPr>
              <a:t>EV</a:t>
            </a:r>
            <a:r>
              <a:rPr dirty="0" sz="13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Aggre</a:t>
            </a:r>
            <a:endParaRPr sz="130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565"/>
              </a:spcBef>
            </a:pPr>
            <a:r>
              <a:rPr dirty="0" sz="1200" spc="-75">
                <a:solidFill>
                  <a:srgbClr val="333333"/>
                </a:solidFill>
                <a:latin typeface="Roboto"/>
                <a:cs typeface="Roboto"/>
              </a:rPr>
              <a:t>10,000+</a:t>
            </a:r>
            <a:r>
              <a:rPr dirty="0" sz="1200" spc="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3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endParaRPr sz="1200">
              <a:latin typeface="Roboto"/>
              <a:cs typeface="Roboto"/>
            </a:endParaRPr>
          </a:p>
          <a:p>
            <a:pPr algn="r" marR="15875">
              <a:lnSpc>
                <a:spcPct val="100000"/>
              </a:lnSpc>
              <a:spcBef>
                <a:spcPts val="210"/>
              </a:spcBef>
            </a:pPr>
            <a:r>
              <a:rPr dirty="0" sz="1200" spc="-20">
                <a:solidFill>
                  <a:srgbClr val="333333"/>
                </a:solidFill>
                <a:latin typeface="Roboto"/>
                <a:cs typeface="Roboto"/>
              </a:rPr>
              <a:t>each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8867774" y="1142999"/>
            <a:ext cx="3333750" cy="762000"/>
            <a:chOff x="8867774" y="1142999"/>
            <a:chExt cx="3333750" cy="762000"/>
          </a:xfrm>
        </p:grpSpPr>
        <p:sp>
          <p:nvSpPr>
            <p:cNvPr id="38" name="object 38" descr=""/>
            <p:cNvSpPr/>
            <p:nvPr/>
          </p:nvSpPr>
          <p:spPr>
            <a:xfrm>
              <a:off x="8867762" y="1609724"/>
              <a:ext cx="685800" cy="114300"/>
            </a:xfrm>
            <a:custGeom>
              <a:avLst/>
              <a:gdLst/>
              <a:ahLst/>
              <a:cxnLst/>
              <a:rect l="l" t="t" r="r" b="b"/>
              <a:pathLst>
                <a:path w="685800" h="114300">
                  <a:moveTo>
                    <a:pt x="685800" y="57150"/>
                  </a:moveTo>
                  <a:lnTo>
                    <a:pt x="571500" y="0"/>
                  </a:lnTo>
                  <a:lnTo>
                    <a:pt x="571500" y="57150"/>
                  </a:lnTo>
                  <a:lnTo>
                    <a:pt x="0" y="57150"/>
                  </a:lnTo>
                  <a:lnTo>
                    <a:pt x="0" y="76200"/>
                  </a:lnTo>
                  <a:lnTo>
                    <a:pt x="571500" y="76200"/>
                  </a:lnTo>
                  <a:lnTo>
                    <a:pt x="571500" y="114300"/>
                  </a:lnTo>
                  <a:lnTo>
                    <a:pt x="685800" y="57150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448798" y="1152524"/>
              <a:ext cx="2743200" cy="742950"/>
            </a:xfrm>
            <a:custGeom>
              <a:avLst/>
              <a:gdLst/>
              <a:ahLst/>
              <a:cxnLst/>
              <a:rect l="l" t="t" r="r" b="b"/>
              <a:pathLst>
                <a:path w="2743200" h="742950">
                  <a:moveTo>
                    <a:pt x="2743201" y="742949"/>
                  </a:moveTo>
                  <a:lnTo>
                    <a:pt x="62297" y="742949"/>
                  </a:lnTo>
                  <a:lnTo>
                    <a:pt x="57961" y="742522"/>
                  </a:lnTo>
                  <a:lnTo>
                    <a:pt x="22624" y="726516"/>
                  </a:lnTo>
                  <a:lnTo>
                    <a:pt x="2135" y="693576"/>
                  </a:lnTo>
                  <a:lnTo>
                    <a:pt x="0" y="680652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2743201" y="0"/>
                  </a:lnTo>
                  <a:lnTo>
                    <a:pt x="2743201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9448798" y="1152524"/>
              <a:ext cx="2743200" cy="742950"/>
            </a:xfrm>
            <a:custGeom>
              <a:avLst/>
              <a:gdLst/>
              <a:ahLst/>
              <a:cxnLst/>
              <a:rect l="l" t="t" r="r" b="b"/>
              <a:pathLst>
                <a:path w="2743200" h="742950">
                  <a:moveTo>
                    <a:pt x="2743201" y="742949"/>
                  </a:moveTo>
                  <a:lnTo>
                    <a:pt x="66675" y="742949"/>
                  </a:lnTo>
                  <a:lnTo>
                    <a:pt x="62297" y="742949"/>
                  </a:lnTo>
                  <a:lnTo>
                    <a:pt x="57961" y="742522"/>
                  </a:lnTo>
                  <a:lnTo>
                    <a:pt x="29632" y="731712"/>
                  </a:lnTo>
                  <a:lnTo>
                    <a:pt x="25992" y="729280"/>
                  </a:lnTo>
                  <a:lnTo>
                    <a:pt x="22624" y="726516"/>
                  </a:lnTo>
                  <a:lnTo>
                    <a:pt x="19529" y="723420"/>
                  </a:lnTo>
                  <a:lnTo>
                    <a:pt x="16433" y="720325"/>
                  </a:lnTo>
                  <a:lnTo>
                    <a:pt x="1281" y="689282"/>
                  </a:lnTo>
                  <a:lnTo>
                    <a:pt x="427" y="684988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2743201" y="0"/>
                  </a:lnTo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 descr=""/>
          <p:cNvGrpSpPr/>
          <p:nvPr/>
        </p:nvGrpSpPr>
        <p:grpSpPr>
          <a:xfrm>
            <a:off x="8861039" y="4145173"/>
            <a:ext cx="3340735" cy="808355"/>
            <a:chOff x="8861039" y="4145173"/>
            <a:chExt cx="3340735" cy="808355"/>
          </a:xfrm>
        </p:grpSpPr>
        <p:sp>
          <p:nvSpPr>
            <p:cNvPr id="42" name="object 42" descr=""/>
            <p:cNvSpPr/>
            <p:nvPr/>
          </p:nvSpPr>
          <p:spPr>
            <a:xfrm>
              <a:off x="8861032" y="4145178"/>
              <a:ext cx="692785" cy="586105"/>
            </a:xfrm>
            <a:custGeom>
              <a:avLst/>
              <a:gdLst/>
              <a:ahLst/>
              <a:cxnLst/>
              <a:rect l="l" t="t" r="r" b="b"/>
              <a:pathLst>
                <a:path w="692784" h="586104">
                  <a:moveTo>
                    <a:pt x="585965" y="13474"/>
                  </a:moveTo>
                  <a:lnTo>
                    <a:pt x="572490" y="0"/>
                  </a:lnTo>
                  <a:lnTo>
                    <a:pt x="0" y="572490"/>
                  </a:lnTo>
                  <a:lnTo>
                    <a:pt x="13474" y="585965"/>
                  </a:lnTo>
                  <a:lnTo>
                    <a:pt x="585965" y="13474"/>
                  </a:lnTo>
                  <a:close/>
                </a:path>
                <a:path w="692784" h="586104">
                  <a:moveTo>
                    <a:pt x="692531" y="169646"/>
                  </a:moveTo>
                  <a:lnTo>
                    <a:pt x="578231" y="112496"/>
                  </a:lnTo>
                  <a:lnTo>
                    <a:pt x="578231" y="226796"/>
                  </a:lnTo>
                  <a:lnTo>
                    <a:pt x="692531" y="169646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448798" y="4200524"/>
              <a:ext cx="2743200" cy="742950"/>
            </a:xfrm>
            <a:custGeom>
              <a:avLst/>
              <a:gdLst/>
              <a:ahLst/>
              <a:cxnLst/>
              <a:rect l="l" t="t" r="r" b="b"/>
              <a:pathLst>
                <a:path w="2743200" h="742950">
                  <a:moveTo>
                    <a:pt x="2743201" y="742949"/>
                  </a:moveTo>
                  <a:lnTo>
                    <a:pt x="62297" y="742949"/>
                  </a:lnTo>
                  <a:lnTo>
                    <a:pt x="57961" y="742522"/>
                  </a:lnTo>
                  <a:lnTo>
                    <a:pt x="22624" y="726516"/>
                  </a:lnTo>
                  <a:lnTo>
                    <a:pt x="2135" y="693575"/>
                  </a:lnTo>
                  <a:lnTo>
                    <a:pt x="0" y="680652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4" y="3399"/>
                  </a:lnTo>
                  <a:lnTo>
                    <a:pt x="2743201" y="0"/>
                  </a:lnTo>
                  <a:lnTo>
                    <a:pt x="2743201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448798" y="4200524"/>
              <a:ext cx="2743200" cy="742950"/>
            </a:xfrm>
            <a:custGeom>
              <a:avLst/>
              <a:gdLst/>
              <a:ahLst/>
              <a:cxnLst/>
              <a:rect l="l" t="t" r="r" b="b"/>
              <a:pathLst>
                <a:path w="2743200" h="742950">
                  <a:moveTo>
                    <a:pt x="2743201" y="742949"/>
                  </a:moveTo>
                  <a:lnTo>
                    <a:pt x="66675" y="742949"/>
                  </a:lnTo>
                  <a:lnTo>
                    <a:pt x="62297" y="742949"/>
                  </a:lnTo>
                  <a:lnTo>
                    <a:pt x="57961" y="742522"/>
                  </a:lnTo>
                  <a:lnTo>
                    <a:pt x="53667" y="741668"/>
                  </a:lnTo>
                  <a:lnTo>
                    <a:pt x="49373" y="740814"/>
                  </a:lnTo>
                  <a:lnTo>
                    <a:pt x="45204" y="739549"/>
                  </a:lnTo>
                  <a:lnTo>
                    <a:pt x="41159" y="737873"/>
                  </a:lnTo>
                  <a:lnTo>
                    <a:pt x="37114" y="736198"/>
                  </a:lnTo>
                  <a:lnTo>
                    <a:pt x="33272" y="734144"/>
                  </a:lnTo>
                  <a:lnTo>
                    <a:pt x="29632" y="731712"/>
                  </a:lnTo>
                  <a:lnTo>
                    <a:pt x="25992" y="729280"/>
                  </a:lnTo>
                  <a:lnTo>
                    <a:pt x="22624" y="726516"/>
                  </a:lnTo>
                  <a:lnTo>
                    <a:pt x="2135" y="693575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667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3"/>
                  </a:lnTo>
                  <a:lnTo>
                    <a:pt x="66675" y="0"/>
                  </a:lnTo>
                  <a:lnTo>
                    <a:pt x="2743201" y="0"/>
                  </a:lnTo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9654629" y="4206451"/>
            <a:ext cx="2554605" cy="77089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 marL="253365">
              <a:lnSpc>
                <a:spcPct val="100000"/>
              </a:lnSpc>
              <a:spcBef>
                <a:spcPts val="750"/>
              </a:spcBef>
            </a:pPr>
            <a:r>
              <a:rPr dirty="0" sz="1300" spc="-60" b="1">
                <a:solidFill>
                  <a:srgbClr val="0053A0"/>
                </a:solidFill>
                <a:latin typeface="Roboto"/>
                <a:cs typeface="Roboto"/>
              </a:rPr>
              <a:t>Progressive</a:t>
            </a:r>
            <a:r>
              <a:rPr dirty="0" sz="130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0053A0"/>
                </a:solidFill>
                <a:latin typeface="Roboto"/>
                <a:cs typeface="Roboto"/>
              </a:rPr>
              <a:t>State</a:t>
            </a:r>
            <a:r>
              <a:rPr dirty="0" sz="13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0053A0"/>
                </a:solidFill>
                <a:latin typeface="Roboto"/>
                <a:cs typeface="Roboto"/>
              </a:rPr>
              <a:t>Recovery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u(k)</a:t>
            </a:r>
            <a:r>
              <a:rPr dirty="0" sz="12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333333"/>
                </a:solidFill>
                <a:latin typeface="Roboto"/>
                <a:cs typeface="Roboto"/>
              </a:rPr>
              <a:t>=</a:t>
            </a:r>
            <a:r>
              <a:rPr dirty="0" sz="1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u</a:t>
            </a:r>
            <a:r>
              <a:rPr dirty="0" baseline="-15432" sz="1350" spc="-97">
                <a:solidFill>
                  <a:srgbClr val="333333"/>
                </a:solidFill>
                <a:latin typeface="Roboto"/>
                <a:cs typeface="Roboto"/>
              </a:rPr>
              <a:t>reg</a:t>
            </a: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(k)</a:t>
            </a:r>
            <a:r>
              <a:rPr dirty="0" sz="12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80">
                <a:solidFill>
                  <a:srgbClr val="333333"/>
                </a:solidFill>
                <a:latin typeface="Roboto"/>
                <a:cs typeface="Roboto"/>
              </a:rPr>
              <a:t>+</a:t>
            </a:r>
            <a:r>
              <a:rPr dirty="0" sz="1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55">
                <a:solidFill>
                  <a:srgbClr val="333333"/>
                </a:solidFill>
                <a:latin typeface="Roboto"/>
                <a:cs typeface="Roboto"/>
              </a:rPr>
              <a:t>u</a:t>
            </a:r>
            <a:r>
              <a:rPr dirty="0" baseline="-15432" sz="1350" spc="-82">
                <a:solidFill>
                  <a:srgbClr val="333333"/>
                </a:solidFill>
                <a:latin typeface="Roboto"/>
                <a:cs typeface="Roboto"/>
              </a:rPr>
              <a:t>rec</a:t>
            </a:r>
            <a:r>
              <a:rPr dirty="0" sz="1200" spc="-55">
                <a:solidFill>
                  <a:srgbClr val="333333"/>
                </a:solidFill>
                <a:latin typeface="Roboto"/>
                <a:cs typeface="Roboto"/>
              </a:rPr>
              <a:t>(k),</a:t>
            </a:r>
            <a:r>
              <a:rPr dirty="0" sz="12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80">
                <a:solidFill>
                  <a:srgbClr val="333333"/>
                </a:solidFill>
                <a:latin typeface="Roboto"/>
                <a:cs typeface="Roboto"/>
              </a:rPr>
              <a:t>where</a:t>
            </a:r>
            <a:r>
              <a:rPr dirty="0" sz="1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u</a:t>
            </a:r>
            <a:r>
              <a:rPr dirty="0" baseline="-15432" sz="1350" spc="-97">
                <a:solidFill>
                  <a:srgbClr val="333333"/>
                </a:solidFill>
                <a:latin typeface="Roboto"/>
                <a:cs typeface="Roboto"/>
              </a:rPr>
              <a:t>rec</a:t>
            </a:r>
            <a:r>
              <a:rPr dirty="0" sz="1200" spc="-65">
                <a:solidFill>
                  <a:srgbClr val="333333"/>
                </a:solidFill>
                <a:latin typeface="Roboto"/>
                <a:cs typeface="Roboto"/>
              </a:rPr>
              <a:t>(k)</a:t>
            </a:r>
            <a:r>
              <a:rPr dirty="0" sz="12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333333"/>
                </a:solidFill>
                <a:latin typeface="Roboto"/>
                <a:cs typeface="Roboto"/>
              </a:rPr>
              <a:t>=</a:t>
            </a:r>
            <a:r>
              <a:rPr dirty="0" sz="12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33333"/>
                </a:solidFill>
                <a:latin typeface="Arial"/>
                <a:cs typeface="Arial"/>
              </a:rPr>
              <a:t>α</a:t>
            </a:r>
            <a:r>
              <a:rPr dirty="0" sz="1200" spc="-25">
                <a:solidFill>
                  <a:srgbClr val="333333"/>
                </a:solidFill>
                <a:latin typeface="Roboto"/>
                <a:cs typeface="Roboto"/>
              </a:rPr>
              <a:t>(x</a:t>
            </a:r>
            <a:endParaRPr sz="1200">
              <a:latin typeface="Roboto"/>
              <a:cs typeface="Roboto"/>
            </a:endParaRPr>
          </a:p>
          <a:p>
            <a:pPr algn="ctr" marL="253365">
              <a:lnSpc>
                <a:spcPct val="100000"/>
              </a:lnSpc>
              <a:spcBef>
                <a:spcPts val="210"/>
              </a:spcBef>
            </a:pPr>
            <a:r>
              <a:rPr dirty="0" sz="1200" spc="-10">
                <a:solidFill>
                  <a:srgbClr val="333333"/>
                </a:solidFill>
                <a:latin typeface="Roboto"/>
                <a:cs typeface="Roboto"/>
              </a:rPr>
              <a:t>x(k))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164464" y="1236980"/>
            <a:ext cx="17881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 b="1">
                <a:solidFill>
                  <a:srgbClr val="0053A0"/>
                </a:solidFill>
                <a:latin typeface="Roboto"/>
                <a:cs typeface="Roboto"/>
              </a:rPr>
              <a:t>Performance</a:t>
            </a:r>
            <a:r>
              <a:rPr dirty="0" sz="13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0053A0"/>
                </a:solidFill>
                <a:latin typeface="Roboto"/>
                <a:cs typeface="Roboto"/>
              </a:rPr>
              <a:t>Comparison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9889579" y="1519586"/>
            <a:ext cx="233807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45" b="1">
                <a:solidFill>
                  <a:srgbClr val="333333"/>
                </a:solidFill>
                <a:latin typeface="Roboto"/>
                <a:cs typeface="Roboto"/>
              </a:rPr>
              <a:t>RL:</a:t>
            </a:r>
            <a:r>
              <a:rPr dirty="0" sz="1100" spc="-2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333333"/>
                </a:solidFill>
                <a:latin typeface="Roboto"/>
                <a:cs typeface="Roboto"/>
              </a:rPr>
              <a:t>48%</a:t>
            </a:r>
            <a:r>
              <a:rPr dirty="0" sz="11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900" spc="55">
                <a:solidFill>
                  <a:srgbClr val="333333"/>
                </a:solidFill>
                <a:latin typeface="Arial"/>
                <a:cs typeface="Arial"/>
              </a:rPr>
              <a:t>↓</a:t>
            </a:r>
            <a:r>
              <a:rPr dirty="0" sz="9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333333"/>
                </a:solidFill>
                <a:latin typeface="Roboto"/>
                <a:cs typeface="Roboto"/>
              </a:rPr>
              <a:t>freq.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333333"/>
                </a:solidFill>
                <a:latin typeface="Roboto"/>
                <a:cs typeface="Roboto"/>
              </a:rPr>
              <a:t>nadir,</a:t>
            </a:r>
            <a:r>
              <a:rPr dirty="0" sz="11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333333"/>
                </a:solidFill>
                <a:latin typeface="Roboto"/>
                <a:cs typeface="Roboto"/>
              </a:rPr>
              <a:t>35%</a:t>
            </a:r>
            <a:r>
              <a:rPr dirty="0" sz="11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900" spc="55">
                <a:solidFill>
                  <a:srgbClr val="333333"/>
                </a:solidFill>
                <a:latin typeface="Arial"/>
                <a:cs typeface="Arial"/>
              </a:rPr>
              <a:t>↓</a:t>
            </a:r>
            <a:r>
              <a:rPr dirty="0" sz="9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333333"/>
                </a:solidFill>
                <a:latin typeface="Roboto"/>
                <a:cs typeface="Roboto"/>
              </a:rPr>
              <a:t>settling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9825285" y="1710086"/>
            <a:ext cx="239776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65" b="1">
                <a:solidFill>
                  <a:srgbClr val="333333"/>
                </a:solidFill>
                <a:latin typeface="Roboto"/>
                <a:cs typeface="Roboto"/>
              </a:rPr>
              <a:t>MPC:</a:t>
            </a:r>
            <a:r>
              <a:rPr dirty="0" sz="1100" spc="-2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333333"/>
                </a:solidFill>
                <a:latin typeface="Roboto"/>
                <a:cs typeface="Roboto"/>
              </a:rPr>
              <a:t>45%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900" spc="55">
                <a:solidFill>
                  <a:srgbClr val="333333"/>
                </a:solidFill>
                <a:latin typeface="Arial"/>
                <a:cs typeface="Arial"/>
              </a:rPr>
              <a:t>↓</a:t>
            </a:r>
            <a:r>
              <a:rPr dirty="0" sz="9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333333"/>
                </a:solidFill>
                <a:latin typeface="Roboto"/>
                <a:cs typeface="Roboto"/>
              </a:rPr>
              <a:t>freq.</a:t>
            </a:r>
            <a:r>
              <a:rPr dirty="0" sz="11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333333"/>
                </a:solidFill>
                <a:latin typeface="Roboto"/>
                <a:cs typeface="Roboto"/>
              </a:rPr>
              <a:t>nadir,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333333"/>
                </a:solidFill>
                <a:latin typeface="Roboto"/>
                <a:cs typeface="Roboto"/>
              </a:rPr>
              <a:t>33%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900" spc="55">
                <a:solidFill>
                  <a:srgbClr val="333333"/>
                </a:solidFill>
                <a:latin typeface="Arial"/>
                <a:cs typeface="Arial"/>
              </a:rPr>
              <a:t>↓</a:t>
            </a:r>
            <a:r>
              <a:rPr dirty="0" sz="9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333333"/>
                </a:solidFill>
                <a:latin typeface="Roboto"/>
                <a:cs typeface="Roboto"/>
              </a:rPr>
              <a:t>settling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333333"/>
                </a:solidFill>
                <a:latin typeface="Roboto"/>
                <a:cs typeface="Roboto"/>
              </a:rPr>
              <a:t>tim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9708752" y="1910111"/>
            <a:ext cx="248602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0" b="1">
                <a:solidFill>
                  <a:srgbClr val="333333"/>
                </a:solidFill>
                <a:latin typeface="Roboto"/>
                <a:cs typeface="Roboto"/>
              </a:rPr>
              <a:t>Adaptive:</a:t>
            </a:r>
            <a:r>
              <a:rPr dirty="0" sz="1100" spc="-1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333333"/>
                </a:solidFill>
                <a:latin typeface="Roboto"/>
                <a:cs typeface="Roboto"/>
              </a:rPr>
              <a:t>41%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900" spc="55">
                <a:solidFill>
                  <a:srgbClr val="333333"/>
                </a:solidFill>
                <a:latin typeface="Arial"/>
                <a:cs typeface="Arial"/>
              </a:rPr>
              <a:t>↓</a:t>
            </a:r>
            <a:r>
              <a:rPr dirty="0" sz="9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333333"/>
                </a:solidFill>
                <a:latin typeface="Roboto"/>
                <a:cs typeface="Roboto"/>
              </a:rPr>
              <a:t>freq.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333333"/>
                </a:solidFill>
                <a:latin typeface="Roboto"/>
                <a:cs typeface="Roboto"/>
              </a:rPr>
              <a:t>nadir,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333333"/>
                </a:solidFill>
                <a:latin typeface="Roboto"/>
                <a:cs typeface="Roboto"/>
              </a:rPr>
              <a:t>30%</a:t>
            </a:r>
            <a:r>
              <a:rPr dirty="0" sz="11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900" spc="55">
                <a:solidFill>
                  <a:srgbClr val="333333"/>
                </a:solidFill>
                <a:latin typeface="Arial"/>
                <a:cs typeface="Arial"/>
              </a:rPr>
              <a:t>↓</a:t>
            </a:r>
            <a:r>
              <a:rPr dirty="0" sz="9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333333"/>
                </a:solidFill>
                <a:latin typeface="Roboto"/>
                <a:cs typeface="Roboto"/>
              </a:rPr>
              <a:t>settling</a:t>
            </a:r>
            <a:r>
              <a:rPr dirty="0" sz="11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333333"/>
                </a:solidFill>
                <a:latin typeface="Roboto"/>
                <a:cs typeface="Roboto"/>
              </a:rPr>
              <a:t>t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0048874" y="3857624"/>
            <a:ext cx="114300" cy="447675"/>
            <a:chOff x="10048874" y="3857624"/>
            <a:chExt cx="114300" cy="447675"/>
          </a:xfrm>
        </p:grpSpPr>
        <p:sp>
          <p:nvSpPr>
            <p:cNvPr id="51" name="object 51" descr=""/>
            <p:cNvSpPr/>
            <p:nvPr/>
          </p:nvSpPr>
          <p:spPr>
            <a:xfrm>
              <a:off x="10106023" y="3857624"/>
              <a:ext cx="19050" cy="333375"/>
            </a:xfrm>
            <a:custGeom>
              <a:avLst/>
              <a:gdLst/>
              <a:ahLst/>
              <a:cxnLst/>
              <a:rect l="l" t="t" r="r" b="b"/>
              <a:pathLst>
                <a:path w="19050" h="333375">
                  <a:moveTo>
                    <a:pt x="19049" y="333374"/>
                  </a:moveTo>
                  <a:lnTo>
                    <a:pt x="0" y="333374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333374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048874" y="419099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299" y="0"/>
                  </a:lnTo>
                  <a:lnTo>
                    <a:pt x="57149" y="114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54" name="object 54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6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58" name="object 5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148844"/>
            <a:ext cx="537273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Simulation</a:t>
            </a:r>
            <a:r>
              <a:rPr dirty="0" spc="5"/>
              <a:t> </a:t>
            </a:r>
            <a:r>
              <a:rPr dirty="0" spc="-140"/>
              <a:t>Scenarios</a:t>
            </a:r>
            <a:r>
              <a:rPr dirty="0" spc="5"/>
              <a:t> </a:t>
            </a:r>
            <a:r>
              <a:rPr dirty="0" spc="-165"/>
              <a:t>&amp;</a:t>
            </a:r>
            <a:r>
              <a:rPr dirty="0" spc="5"/>
              <a:t> </a:t>
            </a:r>
            <a:r>
              <a:rPr dirty="0" spc="-140"/>
              <a:t>Experimental</a:t>
            </a:r>
            <a:r>
              <a:rPr dirty="0" spc="5"/>
              <a:t> </a:t>
            </a:r>
            <a:r>
              <a:rPr dirty="0" spc="-55"/>
              <a:t>Setup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68299" y="1033921"/>
            <a:ext cx="3461385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40" b="1">
                <a:solidFill>
                  <a:srgbClr val="0053A0"/>
                </a:solidFill>
                <a:latin typeface="Roboto"/>
                <a:cs typeface="Roboto"/>
              </a:rPr>
              <a:t>Test</a:t>
            </a:r>
            <a:r>
              <a:rPr dirty="0" sz="26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600" spc="-114" b="1">
                <a:solidFill>
                  <a:srgbClr val="0053A0"/>
                </a:solidFill>
                <a:latin typeface="Roboto"/>
                <a:cs typeface="Roboto"/>
              </a:rPr>
              <a:t>Scenarios</a:t>
            </a:r>
            <a:r>
              <a:rPr dirty="0" sz="26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600" spc="-145" b="1">
                <a:solidFill>
                  <a:srgbClr val="0053A0"/>
                </a:solidFill>
                <a:latin typeface="Roboto"/>
                <a:cs typeface="Roboto"/>
              </a:rPr>
              <a:t>&amp;</a:t>
            </a:r>
            <a:r>
              <a:rPr dirty="0" sz="26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600" spc="-75" b="1">
                <a:solidFill>
                  <a:srgbClr val="0053A0"/>
                </a:solidFill>
                <a:latin typeface="Roboto"/>
                <a:cs typeface="Roboto"/>
              </a:rPr>
              <a:t>Metrics</a:t>
            </a:r>
            <a:endParaRPr sz="260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1856279"/>
            <a:ext cx="182106" cy="18207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70"/>
              </a:spcBef>
            </a:pPr>
            <a:r>
              <a:rPr dirty="0" sz="1750" spc="-130" b="1">
                <a:solidFill>
                  <a:srgbClr val="0053A0"/>
                </a:solidFill>
                <a:latin typeface="Roboto"/>
                <a:cs typeface="Roboto"/>
              </a:rPr>
              <a:t>Test</a:t>
            </a:r>
            <a:r>
              <a:rPr dirty="0" sz="175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50" spc="-114" b="1">
                <a:solidFill>
                  <a:srgbClr val="0053A0"/>
                </a:solidFill>
                <a:latin typeface="Roboto"/>
                <a:cs typeface="Roboto"/>
              </a:rPr>
              <a:t>Cases:</a:t>
            </a:r>
            <a:r>
              <a:rPr dirty="0" sz="175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pc="-90"/>
              <a:t>Load</a:t>
            </a:r>
            <a:r>
              <a:rPr dirty="0" spc="5"/>
              <a:t> </a:t>
            </a:r>
            <a:r>
              <a:rPr dirty="0" spc="-85"/>
              <a:t>step</a:t>
            </a:r>
            <a:r>
              <a:rPr dirty="0"/>
              <a:t> </a:t>
            </a:r>
            <a:r>
              <a:rPr dirty="0" spc="-90"/>
              <a:t>changes</a:t>
            </a:r>
            <a:r>
              <a:rPr dirty="0" spc="5"/>
              <a:t> </a:t>
            </a:r>
            <a:r>
              <a:rPr dirty="0" spc="-80"/>
              <a:t>(±10%),</a:t>
            </a:r>
            <a:r>
              <a:rPr dirty="0"/>
              <a:t> </a:t>
            </a:r>
            <a:r>
              <a:rPr dirty="0" spc="-90"/>
              <a:t>sudden</a:t>
            </a:r>
            <a:r>
              <a:rPr dirty="0" spc="5"/>
              <a:t> </a:t>
            </a:r>
            <a:r>
              <a:rPr dirty="0" spc="-50"/>
              <a:t>generation </a:t>
            </a:r>
            <a:r>
              <a:rPr dirty="0" spc="-75"/>
              <a:t>loss</a:t>
            </a:r>
            <a:r>
              <a:rPr dirty="0" spc="10"/>
              <a:t> </a:t>
            </a:r>
            <a:r>
              <a:rPr dirty="0" spc="-70"/>
              <a:t>(5%),</a:t>
            </a:r>
            <a:r>
              <a:rPr dirty="0" spc="15"/>
              <a:t> </a:t>
            </a:r>
            <a:r>
              <a:rPr dirty="0" spc="-85"/>
              <a:t>stochastic</a:t>
            </a:r>
            <a:r>
              <a:rPr dirty="0" spc="10"/>
              <a:t> </a:t>
            </a:r>
            <a:r>
              <a:rPr dirty="0" spc="-90"/>
              <a:t>renewable</a:t>
            </a:r>
            <a:r>
              <a:rPr dirty="0" spc="15"/>
              <a:t> </a:t>
            </a:r>
            <a:r>
              <a:rPr dirty="0" spc="-75"/>
              <a:t>fluctuations</a:t>
            </a:r>
            <a:r>
              <a:rPr dirty="0" spc="10"/>
              <a:t> </a:t>
            </a:r>
            <a:r>
              <a:rPr dirty="0" spc="-10"/>
              <a:t>(</a:t>
            </a:r>
            <a:r>
              <a:rPr dirty="0" sz="1500" spc="-10">
                <a:latin typeface="Arial"/>
                <a:cs typeface="Arial"/>
              </a:rPr>
              <a:t>σ</a:t>
            </a:r>
            <a:r>
              <a:rPr dirty="0" spc="-10"/>
              <a:t>=3%)</a:t>
            </a:r>
            <a:endParaRPr sz="1500">
              <a:latin typeface="Arial"/>
              <a:cs typeface="Arial"/>
            </a:endParaRPr>
          </a:p>
          <a:p>
            <a:pPr marL="12700" marR="473709">
              <a:lnSpc>
                <a:spcPct val="115300"/>
              </a:lnSpc>
              <a:spcBef>
                <a:spcPts val="1785"/>
              </a:spcBef>
            </a:pPr>
            <a:r>
              <a:rPr dirty="0" sz="1750" spc="-125" b="1">
                <a:solidFill>
                  <a:srgbClr val="0053A0"/>
                </a:solidFill>
                <a:latin typeface="Roboto"/>
                <a:cs typeface="Roboto"/>
              </a:rPr>
              <a:t>EV</a:t>
            </a:r>
            <a:r>
              <a:rPr dirty="0" sz="1750" spc="-3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50" spc="-100" b="1">
                <a:solidFill>
                  <a:srgbClr val="0053A0"/>
                </a:solidFill>
                <a:latin typeface="Roboto"/>
                <a:cs typeface="Roboto"/>
              </a:rPr>
              <a:t>Configuration:</a:t>
            </a:r>
            <a:r>
              <a:rPr dirty="0" sz="175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pc="-85"/>
              <a:t>10,000</a:t>
            </a:r>
            <a:r>
              <a:rPr dirty="0" spc="-20"/>
              <a:t> </a:t>
            </a:r>
            <a:r>
              <a:rPr dirty="0" spc="-90"/>
              <a:t>EVs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15"/>
              <a:t> </a:t>
            </a:r>
            <a:r>
              <a:rPr dirty="0" spc="-110"/>
              <a:t>7kW</a:t>
            </a:r>
            <a:r>
              <a:rPr dirty="0" spc="-20"/>
              <a:t> </a:t>
            </a:r>
            <a:r>
              <a:rPr dirty="0" spc="-10"/>
              <a:t>bidirectional </a:t>
            </a:r>
            <a:r>
              <a:rPr dirty="0" spc="-80"/>
              <a:t>charging/discharging</a:t>
            </a:r>
            <a:r>
              <a:rPr dirty="0" spc="10"/>
              <a:t> </a:t>
            </a:r>
            <a:r>
              <a:rPr dirty="0" spc="-80"/>
              <a:t>capability,</a:t>
            </a:r>
            <a:r>
              <a:rPr dirty="0" spc="15"/>
              <a:t> </a:t>
            </a:r>
            <a:r>
              <a:rPr dirty="0" spc="-95"/>
              <a:t>20</a:t>
            </a:r>
            <a:r>
              <a:rPr dirty="0" spc="10"/>
              <a:t> </a:t>
            </a:r>
            <a:r>
              <a:rPr dirty="0" spc="-105"/>
              <a:t>SOC</a:t>
            </a:r>
            <a:r>
              <a:rPr dirty="0" spc="15"/>
              <a:t> </a:t>
            </a:r>
            <a:r>
              <a:rPr dirty="0" spc="-65"/>
              <a:t>intervals</a:t>
            </a:r>
            <a:r>
              <a:rPr dirty="0" spc="15"/>
              <a:t> </a:t>
            </a:r>
            <a:r>
              <a:rPr dirty="0" spc="-25"/>
              <a:t>(5% </a:t>
            </a:r>
            <a:r>
              <a:rPr dirty="0" spc="-10"/>
              <a:t>increments)</a:t>
            </a:r>
            <a:endParaRPr sz="1750">
              <a:latin typeface="Roboto"/>
              <a:cs typeface="Roboto"/>
            </a:endParaRPr>
          </a:p>
          <a:p>
            <a:pPr marL="12700" marR="140970">
              <a:lnSpc>
                <a:spcPct val="113100"/>
              </a:lnSpc>
              <a:spcBef>
                <a:spcPts val="1835"/>
              </a:spcBef>
            </a:pPr>
            <a:r>
              <a:rPr dirty="0" sz="1750" spc="-110" b="1">
                <a:solidFill>
                  <a:srgbClr val="0053A0"/>
                </a:solidFill>
                <a:latin typeface="Roboto"/>
                <a:cs typeface="Roboto"/>
              </a:rPr>
              <a:t>Performance</a:t>
            </a:r>
            <a:r>
              <a:rPr dirty="0" sz="175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50" spc="-100" b="1">
                <a:solidFill>
                  <a:srgbClr val="0053A0"/>
                </a:solidFill>
                <a:latin typeface="Roboto"/>
                <a:cs typeface="Roboto"/>
              </a:rPr>
              <a:t>Metrics:</a:t>
            </a:r>
            <a:r>
              <a:rPr dirty="0" sz="175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pc="-90"/>
              <a:t>Frequency</a:t>
            </a:r>
            <a:r>
              <a:rPr dirty="0"/>
              <a:t> </a:t>
            </a:r>
            <a:r>
              <a:rPr dirty="0" spc="-70"/>
              <a:t>nadir</a:t>
            </a:r>
            <a:r>
              <a:rPr dirty="0"/>
              <a:t> </a:t>
            </a:r>
            <a:r>
              <a:rPr dirty="0" spc="-65"/>
              <a:t>(Hz),</a:t>
            </a:r>
            <a:r>
              <a:rPr dirty="0"/>
              <a:t> </a:t>
            </a:r>
            <a:r>
              <a:rPr dirty="0" spc="-75"/>
              <a:t>settling</a:t>
            </a:r>
            <a:r>
              <a:rPr dirty="0"/>
              <a:t> </a:t>
            </a:r>
            <a:r>
              <a:rPr dirty="0" spc="-20"/>
              <a:t>time </a:t>
            </a:r>
            <a:r>
              <a:rPr dirty="0" spc="-50"/>
              <a:t>(s),</a:t>
            </a:r>
            <a:r>
              <a:rPr dirty="0" spc="-15"/>
              <a:t> </a:t>
            </a:r>
            <a:r>
              <a:rPr dirty="0" spc="-105"/>
              <a:t>ROCOF</a:t>
            </a:r>
            <a:r>
              <a:rPr dirty="0" spc="-10"/>
              <a:t> </a:t>
            </a:r>
            <a:r>
              <a:rPr dirty="0" spc="-70"/>
              <a:t>(Hz/s),</a:t>
            </a:r>
            <a:r>
              <a:rPr dirty="0" spc="-15"/>
              <a:t> </a:t>
            </a:r>
            <a:r>
              <a:rPr dirty="0" spc="-60"/>
              <a:t>IAE,</a:t>
            </a:r>
            <a:r>
              <a:rPr dirty="0" spc="-10"/>
              <a:t> </a:t>
            </a:r>
            <a:r>
              <a:rPr dirty="0" spc="-60"/>
              <a:t>ISE,</a:t>
            </a:r>
            <a:r>
              <a:rPr dirty="0" spc="-15"/>
              <a:t> </a:t>
            </a:r>
            <a:r>
              <a:rPr dirty="0" spc="-95"/>
              <a:t>ITAE,</a:t>
            </a:r>
            <a:r>
              <a:rPr dirty="0" spc="-10"/>
              <a:t> </a:t>
            </a:r>
            <a:r>
              <a:rPr dirty="0" spc="-80"/>
              <a:t>control</a:t>
            </a:r>
            <a:r>
              <a:rPr dirty="0" spc="-15"/>
              <a:t> </a:t>
            </a:r>
            <a:r>
              <a:rPr dirty="0" spc="-10"/>
              <a:t>effort</a:t>
            </a:r>
            <a:endParaRPr sz="1750">
              <a:latin typeface="Roboto"/>
              <a:cs typeface="Roboto"/>
            </a:endParaRPr>
          </a:p>
          <a:p>
            <a:pPr algn="just" marL="57785" marR="207645">
              <a:lnSpc>
                <a:spcPct val="115300"/>
              </a:lnSpc>
              <a:spcBef>
                <a:spcPts val="1789"/>
              </a:spcBef>
            </a:pPr>
            <a:r>
              <a:rPr dirty="0" sz="1750" spc="-105" b="1">
                <a:solidFill>
                  <a:srgbClr val="0053A0"/>
                </a:solidFill>
                <a:latin typeface="Roboto"/>
                <a:cs typeface="Roboto"/>
              </a:rPr>
              <a:t>Implementation:</a:t>
            </a:r>
            <a:r>
              <a:rPr dirty="0" sz="1750" spc="5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pc="-100"/>
              <a:t>MATLAB/Simulink</a:t>
            </a:r>
            <a:r>
              <a:rPr dirty="0" spc="70"/>
              <a:t> </a:t>
            </a:r>
            <a:r>
              <a:rPr dirty="0" spc="-75"/>
              <a:t>for</a:t>
            </a:r>
            <a:r>
              <a:rPr dirty="0" spc="70"/>
              <a:t> </a:t>
            </a:r>
            <a:r>
              <a:rPr dirty="0" spc="-80"/>
              <a:t>continuous-</a:t>
            </a:r>
            <a:r>
              <a:rPr dirty="0" spc="-20"/>
              <a:t>time </a:t>
            </a:r>
            <a:r>
              <a:rPr dirty="0" spc="-70"/>
              <a:t>simulation,</a:t>
            </a:r>
            <a:r>
              <a:rPr dirty="0" spc="10"/>
              <a:t> </a:t>
            </a:r>
            <a:r>
              <a:rPr dirty="0" spc="-80"/>
              <a:t>Python</a:t>
            </a:r>
            <a:r>
              <a:rPr dirty="0" spc="15"/>
              <a:t> </a:t>
            </a:r>
            <a:r>
              <a:rPr dirty="0" spc="-75"/>
              <a:t>for</a:t>
            </a:r>
            <a:r>
              <a:rPr dirty="0" spc="10"/>
              <a:t> </a:t>
            </a:r>
            <a:r>
              <a:rPr dirty="0" spc="-95"/>
              <a:t>advanced</a:t>
            </a:r>
            <a:r>
              <a:rPr dirty="0" spc="15"/>
              <a:t> </a:t>
            </a:r>
            <a:r>
              <a:rPr dirty="0" spc="-80"/>
              <a:t>control</a:t>
            </a:r>
            <a:r>
              <a:rPr dirty="0" spc="10"/>
              <a:t> </a:t>
            </a:r>
            <a:r>
              <a:rPr dirty="0" spc="-85"/>
              <a:t>algorithms</a:t>
            </a:r>
            <a:r>
              <a:rPr dirty="0" spc="15"/>
              <a:t> </a:t>
            </a:r>
            <a:r>
              <a:rPr dirty="0" spc="-25"/>
              <a:t>and </a:t>
            </a:r>
            <a:r>
              <a:rPr dirty="0" spc="-90"/>
              <a:t>batched</a:t>
            </a:r>
            <a:r>
              <a:rPr dirty="0" spc="25"/>
              <a:t> </a:t>
            </a:r>
            <a:r>
              <a:rPr dirty="0" spc="-10"/>
              <a:t>analysis</a:t>
            </a:r>
            <a:endParaRPr sz="1750">
              <a:latin typeface="Roboto"/>
              <a:cs typeface="Roboto"/>
            </a:endParaRPr>
          </a:p>
          <a:p>
            <a:pPr algn="just" marL="12700" marR="242570">
              <a:lnSpc>
                <a:spcPct val="113100"/>
              </a:lnSpc>
              <a:spcBef>
                <a:spcPts val="1835"/>
              </a:spcBef>
            </a:pPr>
            <a:r>
              <a:rPr dirty="0" sz="1750" spc="-110" b="1">
                <a:solidFill>
                  <a:srgbClr val="0053A0"/>
                </a:solidFill>
                <a:latin typeface="Roboto"/>
                <a:cs typeface="Roboto"/>
              </a:rPr>
              <a:t>Simulation</a:t>
            </a:r>
            <a:r>
              <a:rPr dirty="0" sz="175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50" spc="-114" b="1">
                <a:solidFill>
                  <a:srgbClr val="0053A0"/>
                </a:solidFill>
                <a:latin typeface="Roboto"/>
                <a:cs typeface="Roboto"/>
              </a:rPr>
              <a:t>Parameters:</a:t>
            </a:r>
            <a:r>
              <a:rPr dirty="0" sz="1750" spc="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pc="-120"/>
              <a:t>5ms</a:t>
            </a:r>
            <a:r>
              <a:rPr dirty="0" spc="20"/>
              <a:t> </a:t>
            </a:r>
            <a:r>
              <a:rPr dirty="0" spc="-85"/>
              <a:t>time</a:t>
            </a:r>
            <a:r>
              <a:rPr dirty="0" spc="20"/>
              <a:t> </a:t>
            </a:r>
            <a:r>
              <a:rPr dirty="0" spc="-70"/>
              <a:t>step,</a:t>
            </a:r>
            <a:r>
              <a:rPr dirty="0" spc="20"/>
              <a:t> </a:t>
            </a:r>
            <a:r>
              <a:rPr dirty="0" spc="-95"/>
              <a:t>120s</a:t>
            </a:r>
            <a:r>
              <a:rPr dirty="0" spc="20"/>
              <a:t> </a:t>
            </a:r>
            <a:r>
              <a:rPr dirty="0" spc="-40"/>
              <a:t>simulation </a:t>
            </a:r>
            <a:r>
              <a:rPr dirty="0" spc="-100"/>
              <a:t>window,</a:t>
            </a:r>
            <a:r>
              <a:rPr dirty="0" spc="30"/>
              <a:t> </a:t>
            </a:r>
            <a:r>
              <a:rPr dirty="0" spc="-90"/>
              <a:t>30s</a:t>
            </a:r>
            <a:r>
              <a:rPr dirty="0" spc="30"/>
              <a:t> </a:t>
            </a:r>
            <a:r>
              <a:rPr dirty="0" spc="-80"/>
              <a:t>pre-</a:t>
            </a:r>
            <a:r>
              <a:rPr dirty="0" spc="-85"/>
              <a:t>disturbance</a:t>
            </a:r>
            <a:r>
              <a:rPr dirty="0" spc="30"/>
              <a:t> </a:t>
            </a:r>
            <a:r>
              <a:rPr dirty="0" spc="-10"/>
              <a:t>initialization</a:t>
            </a:r>
            <a:endParaRPr sz="175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999" y="2718196"/>
            <a:ext cx="180974" cy="13573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3830835"/>
            <a:ext cx="180974" cy="15835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0999" y="4669035"/>
            <a:ext cx="226218" cy="15835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999" y="5781674"/>
            <a:ext cx="180974" cy="180974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6286499" y="1428749"/>
            <a:ext cx="5524500" cy="1123950"/>
            <a:chOff x="6286499" y="1428749"/>
            <a:chExt cx="5524500" cy="1123950"/>
          </a:xfrm>
        </p:grpSpPr>
        <p:sp>
          <p:nvSpPr>
            <p:cNvPr id="11" name="object 11" descr=""/>
            <p:cNvSpPr/>
            <p:nvPr/>
          </p:nvSpPr>
          <p:spPr>
            <a:xfrm>
              <a:off x="6296024" y="1438274"/>
              <a:ext cx="5505450" cy="1104900"/>
            </a:xfrm>
            <a:custGeom>
              <a:avLst/>
              <a:gdLst/>
              <a:ahLst/>
              <a:cxnLst/>
              <a:rect l="l" t="t" r="r" b="b"/>
              <a:pathLst>
                <a:path w="5505450" h="1104900">
                  <a:moveTo>
                    <a:pt x="5443152" y="1104899"/>
                  </a:moveTo>
                  <a:lnTo>
                    <a:pt x="62296" y="1104899"/>
                  </a:lnTo>
                  <a:lnTo>
                    <a:pt x="57960" y="1104472"/>
                  </a:lnTo>
                  <a:lnTo>
                    <a:pt x="22623" y="1088466"/>
                  </a:lnTo>
                  <a:lnTo>
                    <a:pt x="2134" y="1055525"/>
                  </a:lnTo>
                  <a:lnTo>
                    <a:pt x="0" y="1042602"/>
                  </a:lnTo>
                  <a:lnTo>
                    <a:pt x="0" y="103822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5443152" y="0"/>
                  </a:lnTo>
                  <a:lnTo>
                    <a:pt x="5479456" y="13668"/>
                  </a:lnTo>
                  <a:lnTo>
                    <a:pt x="5502047" y="45204"/>
                  </a:lnTo>
                  <a:lnTo>
                    <a:pt x="5505448" y="62297"/>
                  </a:lnTo>
                  <a:lnTo>
                    <a:pt x="5505448" y="1042602"/>
                  </a:lnTo>
                  <a:lnTo>
                    <a:pt x="5491778" y="1078907"/>
                  </a:lnTo>
                  <a:lnTo>
                    <a:pt x="5460243" y="1101499"/>
                  </a:lnTo>
                  <a:lnTo>
                    <a:pt x="5447487" y="1104472"/>
                  </a:lnTo>
                  <a:lnTo>
                    <a:pt x="5443152" y="110489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96024" y="1438274"/>
              <a:ext cx="5505450" cy="1104900"/>
            </a:xfrm>
            <a:custGeom>
              <a:avLst/>
              <a:gdLst/>
              <a:ahLst/>
              <a:cxnLst/>
              <a:rect l="l" t="t" r="r" b="b"/>
              <a:pathLst>
                <a:path w="5505450" h="1104900">
                  <a:moveTo>
                    <a:pt x="0" y="10382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8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3" y="16433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49371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5438774" y="0"/>
                  </a:lnTo>
                  <a:lnTo>
                    <a:pt x="5443152" y="0"/>
                  </a:lnTo>
                  <a:lnTo>
                    <a:pt x="5447487" y="427"/>
                  </a:lnTo>
                  <a:lnTo>
                    <a:pt x="5451781" y="1281"/>
                  </a:lnTo>
                  <a:lnTo>
                    <a:pt x="5456074" y="2135"/>
                  </a:lnTo>
                  <a:lnTo>
                    <a:pt x="5460243" y="3399"/>
                  </a:lnTo>
                  <a:lnTo>
                    <a:pt x="5464288" y="5075"/>
                  </a:lnTo>
                  <a:lnTo>
                    <a:pt x="5468333" y="6750"/>
                  </a:lnTo>
                  <a:lnTo>
                    <a:pt x="5485919" y="19528"/>
                  </a:lnTo>
                  <a:lnTo>
                    <a:pt x="5489014" y="22624"/>
                  </a:lnTo>
                  <a:lnTo>
                    <a:pt x="5491778" y="25992"/>
                  </a:lnTo>
                  <a:lnTo>
                    <a:pt x="5494210" y="29632"/>
                  </a:lnTo>
                  <a:lnTo>
                    <a:pt x="5496643" y="33272"/>
                  </a:lnTo>
                  <a:lnTo>
                    <a:pt x="5498696" y="37114"/>
                  </a:lnTo>
                  <a:lnTo>
                    <a:pt x="5500371" y="41159"/>
                  </a:lnTo>
                  <a:lnTo>
                    <a:pt x="5502047" y="45204"/>
                  </a:lnTo>
                  <a:lnTo>
                    <a:pt x="5505449" y="66674"/>
                  </a:lnTo>
                  <a:lnTo>
                    <a:pt x="5505449" y="1038224"/>
                  </a:lnTo>
                  <a:lnTo>
                    <a:pt x="5494211" y="1075267"/>
                  </a:lnTo>
                  <a:lnTo>
                    <a:pt x="5464288" y="1099824"/>
                  </a:lnTo>
                  <a:lnTo>
                    <a:pt x="5438774" y="1104899"/>
                  </a:lnTo>
                  <a:lnTo>
                    <a:pt x="66674" y="1104899"/>
                  </a:lnTo>
                  <a:lnTo>
                    <a:pt x="62296" y="1104899"/>
                  </a:lnTo>
                  <a:lnTo>
                    <a:pt x="57960" y="1104472"/>
                  </a:lnTo>
                  <a:lnTo>
                    <a:pt x="53666" y="1103618"/>
                  </a:lnTo>
                  <a:lnTo>
                    <a:pt x="49371" y="1102764"/>
                  </a:lnTo>
                  <a:lnTo>
                    <a:pt x="19528" y="1085370"/>
                  </a:lnTo>
                  <a:lnTo>
                    <a:pt x="16432" y="1082274"/>
                  </a:lnTo>
                  <a:lnTo>
                    <a:pt x="5074" y="1063739"/>
                  </a:lnTo>
                  <a:lnTo>
                    <a:pt x="3399" y="1059695"/>
                  </a:lnTo>
                  <a:lnTo>
                    <a:pt x="2134" y="1055525"/>
                  </a:lnTo>
                  <a:lnTo>
                    <a:pt x="1280" y="1051232"/>
                  </a:lnTo>
                  <a:lnTo>
                    <a:pt x="426" y="1046938"/>
                  </a:lnTo>
                  <a:lnTo>
                    <a:pt x="0" y="1042602"/>
                  </a:lnTo>
                  <a:lnTo>
                    <a:pt x="0" y="103822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58776" y="1637388"/>
              <a:ext cx="137575" cy="182798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6286499" y="2743199"/>
            <a:ext cx="5524500" cy="1114425"/>
            <a:chOff x="6286499" y="2743199"/>
            <a:chExt cx="5524500" cy="1114425"/>
          </a:xfrm>
        </p:grpSpPr>
        <p:sp>
          <p:nvSpPr>
            <p:cNvPr id="15" name="object 15" descr=""/>
            <p:cNvSpPr/>
            <p:nvPr/>
          </p:nvSpPr>
          <p:spPr>
            <a:xfrm>
              <a:off x="6296024" y="2752724"/>
              <a:ext cx="5505450" cy="1095375"/>
            </a:xfrm>
            <a:custGeom>
              <a:avLst/>
              <a:gdLst/>
              <a:ahLst/>
              <a:cxnLst/>
              <a:rect l="l" t="t" r="r" b="b"/>
              <a:pathLst>
                <a:path w="5505450" h="1095375">
                  <a:moveTo>
                    <a:pt x="5443152" y="1095374"/>
                  </a:moveTo>
                  <a:lnTo>
                    <a:pt x="62296" y="1095374"/>
                  </a:lnTo>
                  <a:lnTo>
                    <a:pt x="57960" y="1094947"/>
                  </a:lnTo>
                  <a:lnTo>
                    <a:pt x="22623" y="1078941"/>
                  </a:lnTo>
                  <a:lnTo>
                    <a:pt x="2134" y="1046001"/>
                  </a:lnTo>
                  <a:lnTo>
                    <a:pt x="0" y="1033077"/>
                  </a:lnTo>
                  <a:lnTo>
                    <a:pt x="0" y="1028699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5443152" y="0"/>
                  </a:lnTo>
                  <a:lnTo>
                    <a:pt x="5479456" y="13668"/>
                  </a:lnTo>
                  <a:lnTo>
                    <a:pt x="5502047" y="45203"/>
                  </a:lnTo>
                  <a:lnTo>
                    <a:pt x="5505448" y="62297"/>
                  </a:lnTo>
                  <a:lnTo>
                    <a:pt x="5505448" y="1033077"/>
                  </a:lnTo>
                  <a:lnTo>
                    <a:pt x="5491778" y="1069382"/>
                  </a:lnTo>
                  <a:lnTo>
                    <a:pt x="5460243" y="1091974"/>
                  </a:lnTo>
                  <a:lnTo>
                    <a:pt x="5447487" y="1094947"/>
                  </a:lnTo>
                  <a:lnTo>
                    <a:pt x="5443152" y="1095374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96024" y="2752724"/>
              <a:ext cx="5505450" cy="1095375"/>
            </a:xfrm>
            <a:custGeom>
              <a:avLst/>
              <a:gdLst/>
              <a:ahLst/>
              <a:cxnLst/>
              <a:rect l="l" t="t" r="r" b="b"/>
              <a:pathLst>
                <a:path w="5505450" h="1095375">
                  <a:moveTo>
                    <a:pt x="0" y="102869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49371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5438774" y="0"/>
                  </a:lnTo>
                  <a:lnTo>
                    <a:pt x="5443152" y="0"/>
                  </a:lnTo>
                  <a:lnTo>
                    <a:pt x="5447487" y="427"/>
                  </a:lnTo>
                  <a:lnTo>
                    <a:pt x="5451781" y="1281"/>
                  </a:lnTo>
                  <a:lnTo>
                    <a:pt x="5456074" y="2135"/>
                  </a:lnTo>
                  <a:lnTo>
                    <a:pt x="5460243" y="3399"/>
                  </a:lnTo>
                  <a:lnTo>
                    <a:pt x="5464288" y="5075"/>
                  </a:lnTo>
                  <a:lnTo>
                    <a:pt x="5468333" y="6750"/>
                  </a:lnTo>
                  <a:lnTo>
                    <a:pt x="5472175" y="8804"/>
                  </a:lnTo>
                  <a:lnTo>
                    <a:pt x="5475816" y="11236"/>
                  </a:lnTo>
                  <a:lnTo>
                    <a:pt x="5479456" y="13668"/>
                  </a:lnTo>
                  <a:lnTo>
                    <a:pt x="5482824" y="16432"/>
                  </a:lnTo>
                  <a:lnTo>
                    <a:pt x="5485919" y="19528"/>
                  </a:lnTo>
                  <a:lnTo>
                    <a:pt x="5489014" y="22623"/>
                  </a:lnTo>
                  <a:lnTo>
                    <a:pt x="5500371" y="41159"/>
                  </a:lnTo>
                  <a:lnTo>
                    <a:pt x="5502047" y="45203"/>
                  </a:lnTo>
                  <a:lnTo>
                    <a:pt x="5505449" y="66674"/>
                  </a:lnTo>
                  <a:lnTo>
                    <a:pt x="5505449" y="1028699"/>
                  </a:lnTo>
                  <a:lnTo>
                    <a:pt x="5500371" y="1054214"/>
                  </a:lnTo>
                  <a:lnTo>
                    <a:pt x="5498696" y="1058259"/>
                  </a:lnTo>
                  <a:lnTo>
                    <a:pt x="5472175" y="1086569"/>
                  </a:lnTo>
                  <a:lnTo>
                    <a:pt x="5464288" y="1090299"/>
                  </a:lnTo>
                  <a:lnTo>
                    <a:pt x="5460243" y="1091974"/>
                  </a:lnTo>
                  <a:lnTo>
                    <a:pt x="5456074" y="1093239"/>
                  </a:lnTo>
                  <a:lnTo>
                    <a:pt x="5451781" y="1094093"/>
                  </a:lnTo>
                  <a:lnTo>
                    <a:pt x="5447487" y="1094947"/>
                  </a:lnTo>
                  <a:lnTo>
                    <a:pt x="5443152" y="1095374"/>
                  </a:lnTo>
                  <a:lnTo>
                    <a:pt x="5438774" y="1095374"/>
                  </a:lnTo>
                  <a:lnTo>
                    <a:pt x="66674" y="1095374"/>
                  </a:lnTo>
                  <a:lnTo>
                    <a:pt x="62296" y="1095374"/>
                  </a:lnTo>
                  <a:lnTo>
                    <a:pt x="57960" y="1094947"/>
                  </a:lnTo>
                  <a:lnTo>
                    <a:pt x="53666" y="1094093"/>
                  </a:lnTo>
                  <a:lnTo>
                    <a:pt x="49371" y="1093239"/>
                  </a:lnTo>
                  <a:lnTo>
                    <a:pt x="45203" y="1091974"/>
                  </a:lnTo>
                  <a:lnTo>
                    <a:pt x="41158" y="1090299"/>
                  </a:lnTo>
                  <a:lnTo>
                    <a:pt x="37113" y="1088623"/>
                  </a:lnTo>
                  <a:lnTo>
                    <a:pt x="19528" y="1075846"/>
                  </a:lnTo>
                  <a:lnTo>
                    <a:pt x="16432" y="1072750"/>
                  </a:lnTo>
                  <a:lnTo>
                    <a:pt x="5074" y="1054214"/>
                  </a:lnTo>
                  <a:lnTo>
                    <a:pt x="3399" y="1050170"/>
                  </a:lnTo>
                  <a:lnTo>
                    <a:pt x="2134" y="1046001"/>
                  </a:lnTo>
                  <a:lnTo>
                    <a:pt x="1280" y="1041707"/>
                  </a:lnTo>
                  <a:lnTo>
                    <a:pt x="426" y="1037413"/>
                  </a:lnTo>
                  <a:lnTo>
                    <a:pt x="0" y="1033077"/>
                  </a:lnTo>
                  <a:lnTo>
                    <a:pt x="0" y="1028699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54080" y="2943224"/>
              <a:ext cx="169664" cy="175319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6286499" y="4048124"/>
            <a:ext cx="5524500" cy="1123950"/>
            <a:chOff x="6286499" y="4048124"/>
            <a:chExt cx="5524500" cy="1123950"/>
          </a:xfrm>
        </p:grpSpPr>
        <p:sp>
          <p:nvSpPr>
            <p:cNvPr id="19" name="object 19" descr=""/>
            <p:cNvSpPr/>
            <p:nvPr/>
          </p:nvSpPr>
          <p:spPr>
            <a:xfrm>
              <a:off x="6296024" y="4057649"/>
              <a:ext cx="5505450" cy="1104900"/>
            </a:xfrm>
            <a:custGeom>
              <a:avLst/>
              <a:gdLst/>
              <a:ahLst/>
              <a:cxnLst/>
              <a:rect l="l" t="t" r="r" b="b"/>
              <a:pathLst>
                <a:path w="5505450" h="1104900">
                  <a:moveTo>
                    <a:pt x="5443152" y="1104899"/>
                  </a:moveTo>
                  <a:lnTo>
                    <a:pt x="62296" y="1104899"/>
                  </a:lnTo>
                  <a:lnTo>
                    <a:pt x="57960" y="1104472"/>
                  </a:lnTo>
                  <a:lnTo>
                    <a:pt x="22623" y="1088466"/>
                  </a:lnTo>
                  <a:lnTo>
                    <a:pt x="2134" y="1055525"/>
                  </a:lnTo>
                  <a:lnTo>
                    <a:pt x="0" y="1042602"/>
                  </a:lnTo>
                  <a:lnTo>
                    <a:pt x="0" y="103822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5443152" y="0"/>
                  </a:lnTo>
                  <a:lnTo>
                    <a:pt x="5479456" y="13668"/>
                  </a:lnTo>
                  <a:lnTo>
                    <a:pt x="5502047" y="45203"/>
                  </a:lnTo>
                  <a:lnTo>
                    <a:pt x="5505448" y="62296"/>
                  </a:lnTo>
                  <a:lnTo>
                    <a:pt x="5505448" y="1042602"/>
                  </a:lnTo>
                  <a:lnTo>
                    <a:pt x="5491778" y="1078907"/>
                  </a:lnTo>
                  <a:lnTo>
                    <a:pt x="5460243" y="1101499"/>
                  </a:lnTo>
                  <a:lnTo>
                    <a:pt x="5447487" y="1104472"/>
                  </a:lnTo>
                  <a:lnTo>
                    <a:pt x="5443152" y="110489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96024" y="4057649"/>
              <a:ext cx="5505450" cy="1104900"/>
            </a:xfrm>
            <a:custGeom>
              <a:avLst/>
              <a:gdLst/>
              <a:ahLst/>
              <a:cxnLst/>
              <a:rect l="l" t="t" r="r" b="b"/>
              <a:pathLst>
                <a:path w="5505450" h="1104900">
                  <a:moveTo>
                    <a:pt x="0" y="10382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5074" y="41158"/>
                  </a:lnTo>
                  <a:lnTo>
                    <a:pt x="6749" y="37113"/>
                  </a:lnTo>
                  <a:lnTo>
                    <a:pt x="8803" y="33271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49371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5438774" y="0"/>
                  </a:lnTo>
                  <a:lnTo>
                    <a:pt x="5443152" y="0"/>
                  </a:lnTo>
                  <a:lnTo>
                    <a:pt x="5447487" y="427"/>
                  </a:lnTo>
                  <a:lnTo>
                    <a:pt x="5451781" y="1281"/>
                  </a:lnTo>
                  <a:lnTo>
                    <a:pt x="5456074" y="2135"/>
                  </a:lnTo>
                  <a:lnTo>
                    <a:pt x="5460243" y="3399"/>
                  </a:lnTo>
                  <a:lnTo>
                    <a:pt x="5464288" y="5075"/>
                  </a:lnTo>
                  <a:lnTo>
                    <a:pt x="5468333" y="6750"/>
                  </a:lnTo>
                  <a:lnTo>
                    <a:pt x="5472175" y="8804"/>
                  </a:lnTo>
                  <a:lnTo>
                    <a:pt x="5475816" y="11236"/>
                  </a:lnTo>
                  <a:lnTo>
                    <a:pt x="5479456" y="13668"/>
                  </a:lnTo>
                  <a:lnTo>
                    <a:pt x="5482824" y="16432"/>
                  </a:lnTo>
                  <a:lnTo>
                    <a:pt x="5485919" y="19528"/>
                  </a:lnTo>
                  <a:lnTo>
                    <a:pt x="5489014" y="22623"/>
                  </a:lnTo>
                  <a:lnTo>
                    <a:pt x="5491778" y="25991"/>
                  </a:lnTo>
                  <a:lnTo>
                    <a:pt x="5494210" y="29631"/>
                  </a:lnTo>
                  <a:lnTo>
                    <a:pt x="5496643" y="33271"/>
                  </a:lnTo>
                  <a:lnTo>
                    <a:pt x="5498696" y="37113"/>
                  </a:lnTo>
                  <a:lnTo>
                    <a:pt x="5500371" y="41158"/>
                  </a:lnTo>
                  <a:lnTo>
                    <a:pt x="5502047" y="45203"/>
                  </a:lnTo>
                  <a:lnTo>
                    <a:pt x="5505449" y="66674"/>
                  </a:lnTo>
                  <a:lnTo>
                    <a:pt x="5505449" y="1038224"/>
                  </a:lnTo>
                  <a:lnTo>
                    <a:pt x="5494211" y="1075267"/>
                  </a:lnTo>
                  <a:lnTo>
                    <a:pt x="5464288" y="1099824"/>
                  </a:lnTo>
                  <a:lnTo>
                    <a:pt x="5460243" y="1101499"/>
                  </a:lnTo>
                  <a:lnTo>
                    <a:pt x="5438774" y="1104899"/>
                  </a:lnTo>
                  <a:lnTo>
                    <a:pt x="66674" y="1104899"/>
                  </a:lnTo>
                  <a:lnTo>
                    <a:pt x="62296" y="1104899"/>
                  </a:lnTo>
                  <a:lnTo>
                    <a:pt x="57960" y="1104472"/>
                  </a:lnTo>
                  <a:lnTo>
                    <a:pt x="53666" y="1103618"/>
                  </a:lnTo>
                  <a:lnTo>
                    <a:pt x="49371" y="1102764"/>
                  </a:lnTo>
                  <a:lnTo>
                    <a:pt x="45203" y="1101499"/>
                  </a:lnTo>
                  <a:lnTo>
                    <a:pt x="41158" y="1099824"/>
                  </a:lnTo>
                  <a:lnTo>
                    <a:pt x="37113" y="1098148"/>
                  </a:lnTo>
                  <a:lnTo>
                    <a:pt x="8803" y="1071626"/>
                  </a:lnTo>
                  <a:lnTo>
                    <a:pt x="5074" y="1063739"/>
                  </a:lnTo>
                  <a:lnTo>
                    <a:pt x="3399" y="1059695"/>
                  </a:lnTo>
                  <a:lnTo>
                    <a:pt x="2134" y="1055525"/>
                  </a:lnTo>
                  <a:lnTo>
                    <a:pt x="1280" y="1051232"/>
                  </a:lnTo>
                  <a:lnTo>
                    <a:pt x="426" y="1046938"/>
                  </a:lnTo>
                  <a:lnTo>
                    <a:pt x="0" y="1042602"/>
                  </a:lnTo>
                  <a:lnTo>
                    <a:pt x="0" y="103822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48424" y="4257674"/>
              <a:ext cx="180974" cy="180974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6273799" y="1023143"/>
            <a:ext cx="5368290" cy="39674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80" b="1">
                <a:solidFill>
                  <a:srgbClr val="1D40AF"/>
                </a:solidFill>
                <a:latin typeface="Roboto"/>
                <a:cs typeface="Roboto"/>
              </a:rPr>
              <a:t>Disturbance</a:t>
            </a:r>
            <a:r>
              <a:rPr dirty="0" sz="1650" spc="-3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40AF"/>
                </a:solidFill>
                <a:latin typeface="Roboto"/>
                <a:cs typeface="Roboto"/>
              </a:rPr>
              <a:t>Scenarios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500">
              <a:latin typeface="Roboto"/>
              <a:cs typeface="Roboto"/>
            </a:endParaRPr>
          </a:p>
          <a:p>
            <a:pPr marL="334010">
              <a:lnSpc>
                <a:spcPct val="100000"/>
              </a:lnSpc>
            </a:pPr>
            <a:r>
              <a:rPr dirty="0" sz="1600" spc="-95" b="1">
                <a:solidFill>
                  <a:srgbClr val="0053A0"/>
                </a:solidFill>
                <a:latin typeface="Roboto"/>
                <a:cs typeface="Roboto"/>
              </a:rPr>
              <a:t>Scenario</a:t>
            </a:r>
            <a:r>
              <a:rPr dirty="0" sz="16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95" b="1">
                <a:solidFill>
                  <a:srgbClr val="0053A0"/>
                </a:solidFill>
                <a:latin typeface="Roboto"/>
                <a:cs typeface="Roboto"/>
              </a:rPr>
              <a:t>S1:</a:t>
            </a:r>
            <a:r>
              <a:rPr dirty="0" sz="16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105" b="1">
                <a:solidFill>
                  <a:srgbClr val="0053A0"/>
                </a:solidFill>
                <a:latin typeface="Roboto"/>
                <a:cs typeface="Roboto"/>
              </a:rPr>
              <a:t>Load</a:t>
            </a:r>
            <a:r>
              <a:rPr dirty="0" sz="16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95" b="1">
                <a:solidFill>
                  <a:srgbClr val="0053A0"/>
                </a:solidFill>
                <a:latin typeface="Roboto"/>
                <a:cs typeface="Roboto"/>
              </a:rPr>
              <a:t>Step</a:t>
            </a:r>
            <a:r>
              <a:rPr dirty="0" sz="16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10" b="1">
                <a:solidFill>
                  <a:srgbClr val="0053A0"/>
                </a:solidFill>
                <a:latin typeface="Roboto"/>
                <a:cs typeface="Roboto"/>
              </a:rPr>
              <a:t>Change</a:t>
            </a:r>
            <a:endParaRPr sz="1600">
              <a:latin typeface="Roboto"/>
              <a:cs typeface="Roboto"/>
            </a:endParaRPr>
          </a:p>
          <a:p>
            <a:pPr marL="173990" marR="53975">
              <a:lnSpc>
                <a:spcPct val="105800"/>
              </a:lnSpc>
              <a:spcBef>
                <a:spcPts val="915"/>
              </a:spcBef>
            </a:pP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Sudden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Roboto"/>
                <a:cs typeface="Roboto"/>
              </a:rPr>
              <a:t>10%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load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increase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33333"/>
                </a:solidFill>
                <a:latin typeface="Roboto"/>
                <a:cs typeface="Roboto"/>
              </a:rPr>
              <a:t>at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t=30s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Area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Roboto"/>
                <a:cs typeface="Roboto"/>
              </a:rPr>
              <a:t>1,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normal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operating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conditions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33333"/>
                </a:solidFill>
                <a:latin typeface="Roboto"/>
                <a:cs typeface="Roboto"/>
              </a:rPr>
              <a:t>in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Area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2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Roboto"/>
              <a:cs typeface="Roboto"/>
            </a:endParaRPr>
          </a:p>
          <a:p>
            <a:pPr marL="356870">
              <a:lnSpc>
                <a:spcPct val="100000"/>
              </a:lnSpc>
            </a:pPr>
            <a:r>
              <a:rPr dirty="0" sz="1600" spc="-95" b="1">
                <a:solidFill>
                  <a:srgbClr val="0053A0"/>
                </a:solidFill>
                <a:latin typeface="Roboto"/>
                <a:cs typeface="Roboto"/>
              </a:rPr>
              <a:t>Scenario</a:t>
            </a:r>
            <a:r>
              <a:rPr dirty="0" sz="16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95" b="1">
                <a:solidFill>
                  <a:srgbClr val="0053A0"/>
                </a:solidFill>
                <a:latin typeface="Roboto"/>
                <a:cs typeface="Roboto"/>
              </a:rPr>
              <a:t>S2:</a:t>
            </a:r>
            <a:r>
              <a:rPr dirty="0" sz="16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90" b="1">
                <a:solidFill>
                  <a:srgbClr val="0053A0"/>
                </a:solidFill>
                <a:latin typeface="Roboto"/>
                <a:cs typeface="Roboto"/>
              </a:rPr>
              <a:t>Generation</a:t>
            </a:r>
            <a:r>
              <a:rPr dirty="0" sz="16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20" b="1">
                <a:solidFill>
                  <a:srgbClr val="0053A0"/>
                </a:solidFill>
                <a:latin typeface="Roboto"/>
                <a:cs typeface="Roboto"/>
              </a:rPr>
              <a:t>Loss</a:t>
            </a:r>
            <a:endParaRPr sz="1600">
              <a:latin typeface="Roboto"/>
              <a:cs typeface="Roboto"/>
            </a:endParaRPr>
          </a:p>
          <a:p>
            <a:pPr marL="173990" marR="5080">
              <a:lnSpc>
                <a:spcPct val="110600"/>
              </a:lnSpc>
              <a:spcBef>
                <a:spcPts val="765"/>
              </a:spcBef>
            </a:pP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Sudden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Roboto"/>
                <a:cs typeface="Roboto"/>
              </a:rPr>
              <a:t>5%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generation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loss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33333"/>
                </a:solidFill>
                <a:latin typeface="Roboto"/>
                <a:cs typeface="Roboto"/>
              </a:rPr>
              <a:t>at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t=30s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Area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Roboto"/>
                <a:cs typeface="Roboto"/>
              </a:rPr>
              <a:t>2,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normal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operating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conditions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33333"/>
                </a:solidFill>
                <a:latin typeface="Roboto"/>
                <a:cs typeface="Roboto"/>
              </a:rPr>
              <a:t>in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Area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1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Roboto"/>
              <a:cs typeface="Roboto"/>
            </a:endParaRPr>
          </a:p>
          <a:p>
            <a:pPr marL="356870">
              <a:lnSpc>
                <a:spcPct val="100000"/>
              </a:lnSpc>
            </a:pPr>
            <a:r>
              <a:rPr dirty="0" sz="1600" spc="-95" b="1">
                <a:solidFill>
                  <a:srgbClr val="0053A0"/>
                </a:solidFill>
                <a:latin typeface="Roboto"/>
                <a:cs typeface="Roboto"/>
              </a:rPr>
              <a:t>Scenario</a:t>
            </a:r>
            <a:r>
              <a:rPr dirty="0" sz="16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95" b="1">
                <a:solidFill>
                  <a:srgbClr val="0053A0"/>
                </a:solidFill>
                <a:latin typeface="Roboto"/>
                <a:cs typeface="Roboto"/>
              </a:rPr>
              <a:t>S3:</a:t>
            </a:r>
            <a:r>
              <a:rPr dirty="0" sz="16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105" b="1">
                <a:solidFill>
                  <a:srgbClr val="0053A0"/>
                </a:solidFill>
                <a:latin typeface="Roboto"/>
                <a:cs typeface="Roboto"/>
              </a:rPr>
              <a:t>Renewable</a:t>
            </a:r>
            <a:r>
              <a:rPr dirty="0" sz="1600" spc="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600" spc="-10" b="1">
                <a:solidFill>
                  <a:srgbClr val="0053A0"/>
                </a:solidFill>
                <a:latin typeface="Roboto"/>
                <a:cs typeface="Roboto"/>
              </a:rPr>
              <a:t>Fluctuation</a:t>
            </a:r>
            <a:endParaRPr sz="1600">
              <a:latin typeface="Roboto"/>
              <a:cs typeface="Roboto"/>
            </a:endParaRPr>
          </a:p>
          <a:p>
            <a:pPr marL="173990" marR="175895">
              <a:lnSpc>
                <a:spcPct val="105800"/>
              </a:lnSpc>
              <a:spcBef>
                <a:spcPts val="915"/>
              </a:spcBef>
            </a:pPr>
            <a:r>
              <a:rPr dirty="0" sz="1300" spc="-75">
                <a:solidFill>
                  <a:srgbClr val="333333"/>
                </a:solidFill>
                <a:latin typeface="Roboto"/>
                <a:cs typeface="Roboto"/>
              </a:rPr>
              <a:t>Random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variation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renewable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generation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(</a:t>
            </a:r>
            <a:r>
              <a:rPr dirty="0" sz="1150" spc="-50">
                <a:solidFill>
                  <a:srgbClr val="333333"/>
                </a:solidFill>
                <a:latin typeface="Arial"/>
                <a:cs typeface="Arial"/>
              </a:rPr>
              <a:t>σ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=3%)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starting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33333"/>
                </a:solidFill>
                <a:latin typeface="Roboto"/>
                <a:cs typeface="Roboto"/>
              </a:rPr>
              <a:t>at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t=30s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both 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areas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273799" y="5337968"/>
            <a:ext cx="171132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0" b="1">
                <a:solidFill>
                  <a:srgbClr val="1D40AF"/>
                </a:solidFill>
                <a:latin typeface="Roboto"/>
                <a:cs typeface="Roboto"/>
              </a:rPr>
              <a:t>System</a:t>
            </a:r>
            <a:r>
              <a:rPr dirty="0" sz="1650" spc="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40AF"/>
                </a:solidFill>
                <a:latin typeface="Roboto"/>
                <a:cs typeface="Roboto"/>
              </a:rPr>
              <a:t>Parameters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286499" y="5819774"/>
            <a:ext cx="5524500" cy="419100"/>
          </a:xfrm>
          <a:prstGeom prst="rect">
            <a:avLst/>
          </a:prstGeom>
          <a:solidFill>
            <a:srgbClr val="0053A0"/>
          </a:solidFill>
        </p:spPr>
        <p:txBody>
          <a:bodyPr wrap="square" lIns="0" tIns="9207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25"/>
              </a:spcBef>
              <a:tabLst>
                <a:tab pos="1353185" algn="l"/>
                <a:tab pos="2696845" algn="l"/>
              </a:tabLst>
            </a:pPr>
            <a:r>
              <a:rPr dirty="0" sz="1300" spc="-10" b="1">
                <a:solidFill>
                  <a:srgbClr val="FFFFFF"/>
                </a:solidFill>
                <a:latin typeface="Roboto"/>
                <a:cs typeface="Roboto"/>
              </a:rPr>
              <a:t>Parameter</a:t>
            </a:r>
            <a:r>
              <a:rPr dirty="0" sz="1300" b="1">
                <a:solidFill>
                  <a:srgbClr val="FFFFFF"/>
                </a:solidFill>
                <a:latin typeface="Roboto"/>
                <a:cs typeface="Roboto"/>
              </a:rPr>
              <a:t>	</a:t>
            </a:r>
            <a:r>
              <a:rPr dirty="0" sz="1300" spc="-10" b="1">
                <a:solidFill>
                  <a:srgbClr val="FFFFFF"/>
                </a:solidFill>
                <a:latin typeface="Roboto"/>
                <a:cs typeface="Roboto"/>
              </a:rPr>
              <a:t>Value</a:t>
            </a:r>
            <a:r>
              <a:rPr dirty="0" sz="1300" b="1">
                <a:solidFill>
                  <a:srgbClr val="FFFFFF"/>
                </a:solidFill>
                <a:latin typeface="Roboto"/>
                <a:cs typeface="Roboto"/>
              </a:rPr>
              <a:t>	</a:t>
            </a:r>
            <a:r>
              <a:rPr dirty="0" sz="1300" spc="-10" b="1">
                <a:solidFill>
                  <a:srgbClr val="FFFFFF"/>
                </a:solidFill>
                <a:latin typeface="Roboto"/>
                <a:cs typeface="Roboto"/>
              </a:rPr>
              <a:t>Description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11117708" y="177026"/>
            <a:ext cx="70612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0">
                <a:latin typeface="Roboto"/>
                <a:cs typeface="Roboto"/>
              </a:rPr>
              <a:t>IEEE</a:t>
            </a:r>
            <a:r>
              <a:rPr dirty="0" sz="1250" spc="-6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Logo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28" name="object 28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6381749" y="6380186"/>
            <a:ext cx="3746500" cy="147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60"/>
              </a:lnSpc>
              <a:tabLst>
                <a:tab pos="356235" algn="l"/>
                <a:tab pos="1257935" algn="l"/>
                <a:tab pos="2601595" algn="l"/>
              </a:tabLst>
            </a:pPr>
            <a:r>
              <a:rPr dirty="0" sz="1150" spc="30" b="1">
                <a:latin typeface="Roboto"/>
                <a:cs typeface="Roboto"/>
              </a:rPr>
              <a:t>H</a:t>
            </a:r>
            <a:r>
              <a:rPr dirty="0" sz="1150" spc="225" b="1">
                <a:latin typeface="Roboto"/>
                <a:cs typeface="Roboto"/>
              </a:rPr>
              <a:t> </a:t>
            </a:r>
            <a:r>
              <a:rPr dirty="0" sz="1150" spc="15" b="1">
                <a:latin typeface="Roboto"/>
                <a:cs typeface="Roboto"/>
              </a:rPr>
              <a:t>,</a:t>
            </a:r>
            <a:r>
              <a:rPr dirty="0" sz="1150" spc="10" b="1">
                <a:latin typeface="Roboto"/>
                <a:cs typeface="Roboto"/>
              </a:rPr>
              <a:t> </a:t>
            </a:r>
            <a:r>
              <a:rPr dirty="0" sz="1150" spc="30" b="1">
                <a:latin typeface="Roboto"/>
                <a:cs typeface="Roboto"/>
              </a:rPr>
              <a:t>H</a:t>
            </a:r>
            <a:r>
              <a:rPr dirty="0" sz="1150" b="1">
                <a:latin typeface="Roboto"/>
                <a:cs typeface="Roboto"/>
              </a:rPr>
              <a:t>		</a:t>
            </a:r>
            <a:r>
              <a:rPr dirty="0" sz="1250" spc="-30">
                <a:latin typeface="Roboto"/>
                <a:cs typeface="Roboto"/>
              </a:rPr>
              <a:t>5s,</a:t>
            </a:r>
            <a:r>
              <a:rPr dirty="0" sz="1250" spc="-15">
                <a:latin typeface="Roboto"/>
                <a:cs typeface="Roboto"/>
              </a:rPr>
              <a:t> </a:t>
            </a:r>
            <a:r>
              <a:rPr dirty="0" sz="1250" spc="-35">
                <a:latin typeface="Roboto"/>
                <a:cs typeface="Roboto"/>
              </a:rPr>
              <a:t>4s</a:t>
            </a:r>
            <a:r>
              <a:rPr dirty="0" sz="1250">
                <a:latin typeface="Roboto"/>
                <a:cs typeface="Roboto"/>
              </a:rPr>
              <a:t>	</a:t>
            </a:r>
            <a:r>
              <a:rPr dirty="0" sz="1250" spc="-20">
                <a:latin typeface="Roboto"/>
                <a:cs typeface="Roboto"/>
              </a:rPr>
              <a:t>Inertia</a:t>
            </a:r>
            <a:r>
              <a:rPr dirty="0" sz="1250" spc="-15">
                <a:latin typeface="Roboto"/>
                <a:cs typeface="Roboto"/>
              </a:rPr>
              <a:t> </a:t>
            </a:r>
            <a:r>
              <a:rPr dirty="0" sz="1250" spc="285">
                <a:latin typeface="Roboto"/>
                <a:cs typeface="Roboto"/>
              </a:rPr>
              <a:t>constant</a:t>
            </a:r>
            <a:r>
              <a:rPr dirty="0" sz="1250" spc="-29875">
                <a:latin typeface="Roboto"/>
                <a:cs typeface="Roboto"/>
              </a:rPr>
              <a:t>s</a:t>
            </a:r>
            <a:r>
              <a:rPr dirty="0" baseline="-16339" sz="1275" spc="427" b="1">
                <a:latin typeface="Arial Nova"/>
                <a:cs typeface="Arial Nova"/>
              </a:rPr>
              <a:t>1</a:t>
            </a:r>
            <a:r>
              <a:rPr dirty="0" baseline="-16339" sz="1275" b="1">
                <a:latin typeface="Arial Nova"/>
                <a:cs typeface="Arial Nova"/>
              </a:rPr>
              <a:t>	</a:t>
            </a:r>
            <a:r>
              <a:rPr dirty="0" baseline="-16339" sz="1275" spc="-690" b="1">
                <a:latin typeface="Arial Nova"/>
                <a:cs typeface="Arial Nova"/>
              </a:rPr>
              <a:t>2</a:t>
            </a:r>
            <a:endParaRPr baseline="-16339" sz="1275">
              <a:latin typeface="Arial Nova"/>
              <a:cs typeface="Arial Nova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8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Results</a:t>
            </a:r>
            <a:r>
              <a:rPr dirty="0" spc="-30"/>
              <a:t> </a:t>
            </a:r>
            <a:r>
              <a:rPr dirty="0" spc="-165"/>
              <a:t>&amp;</a:t>
            </a:r>
            <a:r>
              <a:rPr dirty="0" spc="-25"/>
              <a:t> </a:t>
            </a:r>
            <a:r>
              <a:rPr dirty="0" spc="-130"/>
              <a:t>Analysis:</a:t>
            </a:r>
            <a:r>
              <a:rPr dirty="0" spc="-25"/>
              <a:t> </a:t>
            </a:r>
            <a:r>
              <a:rPr dirty="0" spc="-140"/>
              <a:t>Frequency</a:t>
            </a:r>
            <a:r>
              <a:rPr dirty="0" spc="-30"/>
              <a:t> </a:t>
            </a:r>
            <a:r>
              <a:rPr dirty="0" spc="-135"/>
              <a:t>Control</a:t>
            </a:r>
            <a:r>
              <a:rPr dirty="0" spc="-25"/>
              <a:t> </a:t>
            </a:r>
            <a:r>
              <a:rPr dirty="0" spc="-110"/>
              <a:t>Performance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929894"/>
            <a:ext cx="31508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60" b="1">
                <a:solidFill>
                  <a:srgbClr val="0053A0"/>
                </a:solidFill>
                <a:latin typeface="Roboto"/>
                <a:cs typeface="Roboto"/>
              </a:rPr>
              <a:t>Key</a:t>
            </a:r>
            <a:r>
              <a:rPr dirty="0" sz="24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400" spc="-150" b="1">
                <a:solidFill>
                  <a:srgbClr val="0053A0"/>
                </a:solidFill>
                <a:latin typeface="Roboto"/>
                <a:cs typeface="Roboto"/>
              </a:rPr>
              <a:t>Performance</a:t>
            </a:r>
            <a:r>
              <a:rPr dirty="0" sz="24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400" spc="-95" b="1">
                <a:solidFill>
                  <a:srgbClr val="0053A0"/>
                </a:solidFill>
                <a:latin typeface="Roboto"/>
                <a:cs typeface="Roboto"/>
              </a:rPr>
              <a:t>Results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181" y="1628254"/>
            <a:ext cx="122541" cy="16252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12960" y="1510499"/>
            <a:ext cx="4349750" cy="20161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30"/>
              </a:spcBef>
            </a:pPr>
            <a:r>
              <a:rPr dirty="0" sz="1450" spc="-90">
                <a:solidFill>
                  <a:srgbClr val="333333"/>
                </a:solidFill>
                <a:latin typeface="Roboto"/>
                <a:cs typeface="Roboto"/>
              </a:rPr>
              <a:t>Advanced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strategies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achieved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 b="1">
                <a:solidFill>
                  <a:srgbClr val="0053A0"/>
                </a:solidFill>
                <a:latin typeface="Roboto"/>
                <a:cs typeface="Roboto"/>
              </a:rPr>
              <a:t>up</a:t>
            </a:r>
            <a:r>
              <a:rPr dirty="0" sz="145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5" b="1">
                <a:solidFill>
                  <a:srgbClr val="0053A0"/>
                </a:solidFill>
                <a:latin typeface="Roboto"/>
                <a:cs typeface="Roboto"/>
              </a:rPr>
              <a:t>to</a:t>
            </a:r>
            <a:r>
              <a:rPr dirty="0" sz="145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95" b="1">
                <a:solidFill>
                  <a:srgbClr val="0053A0"/>
                </a:solidFill>
                <a:latin typeface="Roboto"/>
                <a:cs typeface="Roboto"/>
              </a:rPr>
              <a:t>48%</a:t>
            </a:r>
            <a:r>
              <a:rPr dirty="0" sz="145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40" b="1">
                <a:solidFill>
                  <a:srgbClr val="0053A0"/>
                </a:solidFill>
                <a:latin typeface="Roboto"/>
                <a:cs typeface="Roboto"/>
              </a:rPr>
              <a:t>reduction </a:t>
            </a:r>
            <a:r>
              <a:rPr dirty="0" sz="1450" spc="-65" b="1">
                <a:solidFill>
                  <a:srgbClr val="0053A0"/>
                </a:solidFill>
                <a:latin typeface="Roboto"/>
                <a:cs typeface="Roboto"/>
              </a:rPr>
              <a:t>in</a:t>
            </a:r>
            <a:r>
              <a:rPr dirty="0" sz="145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5" b="1">
                <a:solidFill>
                  <a:srgbClr val="0053A0"/>
                </a:solidFill>
                <a:latin typeface="Roboto"/>
                <a:cs typeface="Roboto"/>
              </a:rPr>
              <a:t>frequency</a:t>
            </a:r>
            <a:r>
              <a:rPr dirty="0" sz="145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5" b="1">
                <a:solidFill>
                  <a:srgbClr val="0053A0"/>
                </a:solidFill>
                <a:latin typeface="Roboto"/>
                <a:cs typeface="Roboto"/>
              </a:rPr>
              <a:t>nadir</a:t>
            </a:r>
            <a:r>
              <a:rPr dirty="0" sz="145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95" b="1">
                <a:solidFill>
                  <a:srgbClr val="0053A0"/>
                </a:solidFill>
                <a:latin typeface="Roboto"/>
                <a:cs typeface="Roboto"/>
              </a:rPr>
              <a:t>35%</a:t>
            </a:r>
            <a:r>
              <a:rPr dirty="0" sz="145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80" b="1">
                <a:solidFill>
                  <a:srgbClr val="0053A0"/>
                </a:solidFill>
                <a:latin typeface="Roboto"/>
                <a:cs typeface="Roboto"/>
              </a:rPr>
              <a:t>reduction</a:t>
            </a:r>
            <a:r>
              <a:rPr dirty="0" sz="145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65" b="1">
                <a:solidFill>
                  <a:srgbClr val="0053A0"/>
                </a:solidFill>
                <a:latin typeface="Roboto"/>
                <a:cs typeface="Roboto"/>
              </a:rPr>
              <a:t>in</a:t>
            </a:r>
            <a:r>
              <a:rPr dirty="0" sz="145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 b="1">
                <a:solidFill>
                  <a:srgbClr val="0053A0"/>
                </a:solidFill>
                <a:latin typeface="Roboto"/>
                <a:cs typeface="Roboto"/>
              </a:rPr>
              <a:t>settling</a:t>
            </a:r>
            <a:r>
              <a:rPr dirty="0" sz="145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80" b="1">
                <a:solidFill>
                  <a:srgbClr val="0053A0"/>
                </a:solidFill>
                <a:latin typeface="Roboto"/>
                <a:cs typeface="Roboto"/>
              </a:rPr>
              <a:t>time</a:t>
            </a:r>
            <a:r>
              <a:rPr dirty="0" sz="145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25">
                <a:solidFill>
                  <a:srgbClr val="333333"/>
                </a:solidFill>
                <a:latin typeface="Roboto"/>
                <a:cs typeface="Roboto"/>
              </a:rPr>
              <a:t>vs.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conventional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25">
                <a:solidFill>
                  <a:srgbClr val="333333"/>
                </a:solidFill>
                <a:latin typeface="Roboto"/>
                <a:cs typeface="Roboto"/>
              </a:rPr>
              <a:t>AGC</a:t>
            </a:r>
            <a:endParaRPr sz="1450">
              <a:latin typeface="Roboto"/>
              <a:cs typeface="Roboto"/>
            </a:endParaRPr>
          </a:p>
          <a:p>
            <a:pPr marL="74930" marR="431165">
              <a:lnSpc>
                <a:spcPct val="107800"/>
              </a:lnSpc>
              <a:spcBef>
                <a:spcPts val="1350"/>
              </a:spcBef>
            </a:pPr>
            <a:r>
              <a:rPr dirty="0" sz="1450" spc="-85" b="1">
                <a:solidFill>
                  <a:srgbClr val="0053A0"/>
                </a:solidFill>
                <a:latin typeface="Roboto"/>
                <a:cs typeface="Roboto"/>
              </a:rPr>
              <a:t>RL</a:t>
            </a:r>
            <a:r>
              <a:rPr dirty="0" sz="145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90" b="1">
                <a:solidFill>
                  <a:srgbClr val="0053A0"/>
                </a:solidFill>
                <a:latin typeface="Roboto"/>
                <a:cs typeface="Roboto"/>
              </a:rPr>
              <a:t>and</a:t>
            </a:r>
            <a:r>
              <a:rPr dirty="0" sz="145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105" b="1">
                <a:solidFill>
                  <a:srgbClr val="0053A0"/>
                </a:solidFill>
                <a:latin typeface="Roboto"/>
                <a:cs typeface="Roboto"/>
              </a:rPr>
              <a:t>MPC</a:t>
            </a:r>
            <a:r>
              <a:rPr dirty="0" sz="145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90">
                <a:solidFill>
                  <a:srgbClr val="333333"/>
                </a:solidFill>
                <a:latin typeface="Roboto"/>
                <a:cs typeface="Roboto"/>
              </a:rPr>
              <a:t>showed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best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overall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performance,</a:t>
            </a:r>
            <a:r>
              <a:rPr dirty="0" sz="14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20">
                <a:solidFill>
                  <a:srgbClr val="333333"/>
                </a:solidFill>
                <a:latin typeface="Roboto"/>
                <a:cs typeface="Roboto"/>
              </a:rPr>
              <a:t>with </a:t>
            </a:r>
            <a:r>
              <a:rPr dirty="0" sz="1450" spc="-75" b="1">
                <a:solidFill>
                  <a:srgbClr val="0053A0"/>
                </a:solidFill>
                <a:latin typeface="Roboto"/>
                <a:cs typeface="Roboto"/>
              </a:rPr>
              <a:t>adaptive</a:t>
            </a:r>
            <a:r>
              <a:rPr dirty="0" sz="145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45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following</a:t>
            </a:r>
            <a:r>
              <a:rPr dirty="0" sz="14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closely</a:t>
            </a:r>
            <a:endParaRPr sz="1450">
              <a:latin typeface="Roboto"/>
              <a:cs typeface="Roboto"/>
            </a:endParaRPr>
          </a:p>
          <a:p>
            <a:pPr marL="54610" marR="122555">
              <a:lnSpc>
                <a:spcPct val="107800"/>
              </a:lnSpc>
              <a:spcBef>
                <a:spcPts val="1275"/>
              </a:spcBef>
            </a:pPr>
            <a:r>
              <a:rPr dirty="0" sz="1450" spc="-60">
                <a:solidFill>
                  <a:srgbClr val="333333"/>
                </a:solidFill>
                <a:latin typeface="Roboto"/>
                <a:cs typeface="Roboto"/>
              </a:rPr>
              <a:t>Sensitivity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analysis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reveals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optimal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fleet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size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45" b="1">
                <a:solidFill>
                  <a:srgbClr val="0053A0"/>
                </a:solidFill>
                <a:latin typeface="Roboto"/>
                <a:cs typeface="Roboto"/>
              </a:rPr>
              <a:t>~15,000 </a:t>
            </a:r>
            <a:r>
              <a:rPr dirty="0" sz="1450" spc="-90" b="1">
                <a:solidFill>
                  <a:srgbClr val="0053A0"/>
                </a:solidFill>
                <a:latin typeface="Roboto"/>
                <a:cs typeface="Roboto"/>
              </a:rPr>
              <a:t>EVs</a:t>
            </a:r>
            <a:r>
              <a:rPr dirty="0" sz="145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diminishing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returns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beyond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0">
                <a:solidFill>
                  <a:srgbClr val="333333"/>
                </a:solidFill>
                <a:latin typeface="Roboto"/>
                <a:cs typeface="Roboto"/>
              </a:rPr>
              <a:t>this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point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750" y="2505122"/>
            <a:ext cx="182057" cy="16182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750" y="3153723"/>
            <a:ext cx="167580" cy="14663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750" y="3781425"/>
            <a:ext cx="168595" cy="16862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54930" y="3687000"/>
            <a:ext cx="4098925" cy="4781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60"/>
              </a:spcBef>
            </a:pP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Longer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14">
                <a:solidFill>
                  <a:srgbClr val="333333"/>
                </a:solidFill>
                <a:latin typeface="Roboto"/>
                <a:cs typeface="Roboto"/>
              </a:rPr>
              <a:t>MPC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prediction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horizons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(15-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20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steps)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40">
                <a:solidFill>
                  <a:srgbClr val="333333"/>
                </a:solidFill>
                <a:latin typeface="Roboto"/>
                <a:cs typeface="Roboto"/>
              </a:rPr>
              <a:t>produce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better</a:t>
            </a:r>
            <a:r>
              <a:rPr dirty="0" sz="14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performance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5750" y="4419629"/>
            <a:ext cx="209368" cy="16745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33945" y="4325175"/>
            <a:ext cx="4227830" cy="11258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74930" marR="84455">
              <a:lnSpc>
                <a:spcPct val="103400"/>
              </a:lnSpc>
              <a:spcBef>
                <a:spcPts val="60"/>
              </a:spcBef>
            </a:pP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Progressive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state</a:t>
            </a:r>
            <a:r>
              <a:rPr dirty="0" sz="14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recovery</a:t>
            </a:r>
            <a:r>
              <a:rPr dirty="0" sz="14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successfully</a:t>
            </a:r>
            <a:r>
              <a:rPr dirty="0" sz="14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maintained</a:t>
            </a:r>
            <a:r>
              <a:rPr dirty="0" sz="14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25" b="1">
                <a:solidFill>
                  <a:srgbClr val="0053A0"/>
                </a:solidFill>
                <a:latin typeface="Roboto"/>
                <a:cs typeface="Roboto"/>
              </a:rPr>
              <a:t>EV </a:t>
            </a:r>
            <a:r>
              <a:rPr dirty="0" sz="1450" spc="-75" b="1">
                <a:solidFill>
                  <a:srgbClr val="0053A0"/>
                </a:solidFill>
                <a:latin typeface="Roboto"/>
                <a:cs typeface="Roboto"/>
              </a:rPr>
              <a:t>user</a:t>
            </a:r>
            <a:r>
              <a:rPr dirty="0" sz="1450" spc="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 b="1">
                <a:solidFill>
                  <a:srgbClr val="0053A0"/>
                </a:solidFill>
                <a:latin typeface="Roboto"/>
                <a:cs typeface="Roboto"/>
              </a:rPr>
              <a:t>satisfaction</a:t>
            </a:r>
            <a:r>
              <a:rPr dirty="0" sz="1450" spc="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Roboto"/>
                <a:cs typeface="Roboto"/>
              </a:rPr>
              <a:t>while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providing</a:t>
            </a:r>
            <a:r>
              <a:rPr dirty="0" sz="14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4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services</a:t>
            </a:r>
            <a:endParaRPr sz="1450">
              <a:latin typeface="Roboto"/>
              <a:cs typeface="Roboto"/>
            </a:endParaRPr>
          </a:p>
          <a:p>
            <a:pPr marL="12700" marR="5080">
              <a:lnSpc>
                <a:spcPct val="107800"/>
              </a:lnSpc>
              <a:spcBef>
                <a:spcPts val="1345"/>
              </a:spcBef>
            </a:pP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Communication</a:t>
            </a:r>
            <a:r>
              <a:rPr dirty="0" sz="14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delays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Roboto"/>
                <a:cs typeface="Roboto"/>
              </a:rPr>
              <a:t>up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95">
                <a:solidFill>
                  <a:srgbClr val="333333"/>
                </a:solidFill>
                <a:latin typeface="Roboto"/>
                <a:cs typeface="Roboto"/>
              </a:rPr>
              <a:t>300ms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90">
                <a:solidFill>
                  <a:srgbClr val="333333"/>
                </a:solidFill>
                <a:latin typeface="Roboto"/>
                <a:cs typeface="Roboto"/>
              </a:rPr>
              <a:t>had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minimal</a:t>
            </a:r>
            <a:r>
              <a:rPr dirty="0" sz="14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45">
                <a:solidFill>
                  <a:srgbClr val="333333"/>
                </a:solidFill>
                <a:latin typeface="Roboto"/>
                <a:cs typeface="Roboto"/>
              </a:rPr>
              <a:t>impact 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on</a:t>
            </a:r>
            <a:r>
              <a:rPr dirty="0" sz="14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Roboto"/>
                <a:cs typeface="Roboto"/>
              </a:rPr>
              <a:t>advanced</a:t>
            </a:r>
            <a:r>
              <a:rPr dirty="0" sz="14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Roboto"/>
                <a:cs typeface="Roboto"/>
              </a:rPr>
              <a:t>controllers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5750" y="5067320"/>
            <a:ext cx="141648" cy="16188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117708" y="177026"/>
            <a:ext cx="70612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0">
                <a:latin typeface="Roboto"/>
                <a:cs typeface="Roboto"/>
              </a:rPr>
              <a:t>IEEE</a:t>
            </a:r>
            <a:r>
              <a:rPr dirty="0" sz="1250" spc="-6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Logo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048248" y="952499"/>
            <a:ext cx="3362325" cy="2476500"/>
            <a:chOff x="5048248" y="952499"/>
            <a:chExt cx="3362325" cy="2476500"/>
          </a:xfrm>
        </p:grpSpPr>
        <p:sp>
          <p:nvSpPr>
            <p:cNvPr id="16" name="object 16" descr=""/>
            <p:cNvSpPr/>
            <p:nvPr/>
          </p:nvSpPr>
          <p:spPr>
            <a:xfrm>
              <a:off x="5053011" y="957262"/>
              <a:ext cx="3352800" cy="2466975"/>
            </a:xfrm>
            <a:custGeom>
              <a:avLst/>
              <a:gdLst/>
              <a:ahLst/>
              <a:cxnLst/>
              <a:rect l="l" t="t" r="r" b="b"/>
              <a:pathLst>
                <a:path w="3352800" h="2466975">
                  <a:moveTo>
                    <a:pt x="3286053" y="2466974"/>
                  </a:moveTo>
                  <a:lnTo>
                    <a:pt x="66747" y="2466974"/>
                  </a:lnTo>
                  <a:lnTo>
                    <a:pt x="62101" y="2466516"/>
                  </a:lnTo>
                  <a:lnTo>
                    <a:pt x="24240" y="2449367"/>
                  </a:lnTo>
                  <a:lnTo>
                    <a:pt x="2287" y="2414074"/>
                  </a:lnTo>
                  <a:lnTo>
                    <a:pt x="0" y="2400227"/>
                  </a:lnTo>
                  <a:lnTo>
                    <a:pt x="0" y="2395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286053" y="0"/>
                  </a:lnTo>
                  <a:lnTo>
                    <a:pt x="3324950" y="14645"/>
                  </a:lnTo>
                  <a:lnTo>
                    <a:pt x="3349156" y="48433"/>
                  </a:lnTo>
                  <a:lnTo>
                    <a:pt x="3352799" y="66746"/>
                  </a:lnTo>
                  <a:lnTo>
                    <a:pt x="3352799" y="2400227"/>
                  </a:lnTo>
                  <a:lnTo>
                    <a:pt x="3338154" y="2439125"/>
                  </a:lnTo>
                  <a:lnTo>
                    <a:pt x="3304366" y="2463331"/>
                  </a:lnTo>
                  <a:lnTo>
                    <a:pt x="3290698" y="2466516"/>
                  </a:lnTo>
                  <a:lnTo>
                    <a:pt x="3286053" y="24669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053011" y="957262"/>
              <a:ext cx="3352800" cy="2466975"/>
            </a:xfrm>
            <a:custGeom>
              <a:avLst/>
              <a:gdLst/>
              <a:ahLst/>
              <a:cxnLst/>
              <a:rect l="l" t="t" r="r" b="b"/>
              <a:pathLst>
                <a:path w="3352800" h="2466975">
                  <a:moveTo>
                    <a:pt x="0" y="2395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281362" y="0"/>
                  </a:lnTo>
                  <a:lnTo>
                    <a:pt x="3286053" y="0"/>
                  </a:lnTo>
                  <a:lnTo>
                    <a:pt x="3290698" y="457"/>
                  </a:lnTo>
                  <a:lnTo>
                    <a:pt x="3328558" y="17606"/>
                  </a:lnTo>
                  <a:lnTo>
                    <a:pt x="3340759" y="31748"/>
                  </a:lnTo>
                  <a:lnTo>
                    <a:pt x="3343365" y="35649"/>
                  </a:lnTo>
                  <a:lnTo>
                    <a:pt x="3352800" y="71437"/>
                  </a:lnTo>
                  <a:lnTo>
                    <a:pt x="3352800" y="2395537"/>
                  </a:lnTo>
                  <a:lnTo>
                    <a:pt x="3340759" y="2435225"/>
                  </a:lnTo>
                  <a:lnTo>
                    <a:pt x="3338154" y="2439125"/>
                  </a:lnTo>
                  <a:lnTo>
                    <a:pt x="3304366" y="2463331"/>
                  </a:lnTo>
                  <a:lnTo>
                    <a:pt x="3295298" y="2465601"/>
                  </a:lnTo>
                  <a:lnTo>
                    <a:pt x="3290698" y="2466516"/>
                  </a:lnTo>
                  <a:lnTo>
                    <a:pt x="3286053" y="2466974"/>
                  </a:lnTo>
                  <a:lnTo>
                    <a:pt x="3281362" y="2466974"/>
                  </a:lnTo>
                  <a:lnTo>
                    <a:pt x="71438" y="2466974"/>
                  </a:lnTo>
                  <a:lnTo>
                    <a:pt x="31749" y="2454935"/>
                  </a:lnTo>
                  <a:lnTo>
                    <a:pt x="5437" y="2422874"/>
                  </a:lnTo>
                  <a:lnTo>
                    <a:pt x="1372" y="2409473"/>
                  </a:lnTo>
                  <a:lnTo>
                    <a:pt x="457" y="2404873"/>
                  </a:lnTo>
                  <a:lnTo>
                    <a:pt x="0" y="2400227"/>
                  </a:lnTo>
                  <a:lnTo>
                    <a:pt x="0" y="2395537"/>
                  </a:lnTo>
                  <a:close/>
                </a:path>
              </a:pathLst>
            </a:custGeom>
            <a:ln w="9524">
              <a:solidFill>
                <a:srgbClr val="E1E9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681612" y="1034859"/>
            <a:ext cx="20910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Frequency</a:t>
            </a:r>
            <a:r>
              <a:rPr dirty="0" sz="12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Response</a:t>
            </a:r>
            <a:r>
              <a:rPr dirty="0" sz="12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5" b="1">
                <a:solidFill>
                  <a:srgbClr val="0053A0"/>
                </a:solidFill>
                <a:latin typeface="Roboto"/>
                <a:cs typeface="Roboto"/>
              </a:rPr>
              <a:t>Comparison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048248" y="1314450"/>
            <a:ext cx="3362325" cy="4733925"/>
            <a:chOff x="5048248" y="1314450"/>
            <a:chExt cx="3362325" cy="4733925"/>
          </a:xfrm>
        </p:grpSpPr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53024" y="1314450"/>
              <a:ext cx="3143249" cy="226694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053011" y="3576637"/>
              <a:ext cx="3352800" cy="2466975"/>
            </a:xfrm>
            <a:custGeom>
              <a:avLst/>
              <a:gdLst/>
              <a:ahLst/>
              <a:cxnLst/>
              <a:rect l="l" t="t" r="r" b="b"/>
              <a:pathLst>
                <a:path w="3352800" h="2466975">
                  <a:moveTo>
                    <a:pt x="3286053" y="2466974"/>
                  </a:moveTo>
                  <a:lnTo>
                    <a:pt x="66747" y="2466974"/>
                  </a:lnTo>
                  <a:lnTo>
                    <a:pt x="62101" y="2466517"/>
                  </a:lnTo>
                  <a:lnTo>
                    <a:pt x="24240" y="2449367"/>
                  </a:lnTo>
                  <a:lnTo>
                    <a:pt x="2287" y="2414073"/>
                  </a:lnTo>
                  <a:lnTo>
                    <a:pt x="0" y="2400227"/>
                  </a:lnTo>
                  <a:lnTo>
                    <a:pt x="0" y="2395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286053" y="0"/>
                  </a:lnTo>
                  <a:lnTo>
                    <a:pt x="3324950" y="14644"/>
                  </a:lnTo>
                  <a:lnTo>
                    <a:pt x="3349156" y="48432"/>
                  </a:lnTo>
                  <a:lnTo>
                    <a:pt x="3352799" y="66746"/>
                  </a:lnTo>
                  <a:lnTo>
                    <a:pt x="3352799" y="2400227"/>
                  </a:lnTo>
                  <a:lnTo>
                    <a:pt x="3338154" y="2439125"/>
                  </a:lnTo>
                  <a:lnTo>
                    <a:pt x="3304366" y="2463331"/>
                  </a:lnTo>
                  <a:lnTo>
                    <a:pt x="3290698" y="2466517"/>
                  </a:lnTo>
                  <a:lnTo>
                    <a:pt x="3286053" y="24669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53011" y="3576637"/>
              <a:ext cx="3352800" cy="2466975"/>
            </a:xfrm>
            <a:custGeom>
              <a:avLst/>
              <a:gdLst/>
              <a:ahLst/>
              <a:cxnLst/>
              <a:rect l="l" t="t" r="r" b="b"/>
              <a:pathLst>
                <a:path w="3352800" h="2466975">
                  <a:moveTo>
                    <a:pt x="0" y="2395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281362" y="0"/>
                  </a:lnTo>
                  <a:lnTo>
                    <a:pt x="3286053" y="0"/>
                  </a:lnTo>
                  <a:lnTo>
                    <a:pt x="3290698" y="457"/>
                  </a:lnTo>
                  <a:lnTo>
                    <a:pt x="3295298" y="1372"/>
                  </a:lnTo>
                  <a:lnTo>
                    <a:pt x="3299898" y="2287"/>
                  </a:lnTo>
                  <a:lnTo>
                    <a:pt x="3335192" y="24239"/>
                  </a:lnTo>
                  <a:lnTo>
                    <a:pt x="3340759" y="31748"/>
                  </a:lnTo>
                  <a:lnTo>
                    <a:pt x="3343365" y="35648"/>
                  </a:lnTo>
                  <a:lnTo>
                    <a:pt x="3352800" y="71437"/>
                  </a:lnTo>
                  <a:lnTo>
                    <a:pt x="3352800" y="2395537"/>
                  </a:lnTo>
                  <a:lnTo>
                    <a:pt x="3340759" y="2435225"/>
                  </a:lnTo>
                  <a:lnTo>
                    <a:pt x="3338154" y="2439125"/>
                  </a:lnTo>
                  <a:lnTo>
                    <a:pt x="3304366" y="2463331"/>
                  </a:lnTo>
                  <a:lnTo>
                    <a:pt x="3295298" y="2465601"/>
                  </a:lnTo>
                  <a:lnTo>
                    <a:pt x="3290698" y="2466517"/>
                  </a:lnTo>
                  <a:lnTo>
                    <a:pt x="3286053" y="2466974"/>
                  </a:lnTo>
                  <a:lnTo>
                    <a:pt x="3281362" y="2466974"/>
                  </a:lnTo>
                  <a:lnTo>
                    <a:pt x="71438" y="2466974"/>
                  </a:lnTo>
                  <a:lnTo>
                    <a:pt x="66747" y="2466974"/>
                  </a:lnTo>
                  <a:lnTo>
                    <a:pt x="62101" y="2466517"/>
                  </a:lnTo>
                  <a:lnTo>
                    <a:pt x="57500" y="2465601"/>
                  </a:lnTo>
                  <a:lnTo>
                    <a:pt x="52900" y="2464686"/>
                  </a:lnTo>
                  <a:lnTo>
                    <a:pt x="20923" y="2446050"/>
                  </a:lnTo>
                  <a:lnTo>
                    <a:pt x="17607" y="2442733"/>
                  </a:lnTo>
                  <a:lnTo>
                    <a:pt x="1372" y="2409473"/>
                  </a:lnTo>
                  <a:lnTo>
                    <a:pt x="457" y="2404872"/>
                  </a:lnTo>
                  <a:lnTo>
                    <a:pt x="0" y="2400227"/>
                  </a:lnTo>
                  <a:lnTo>
                    <a:pt x="0" y="2395537"/>
                  </a:lnTo>
                  <a:close/>
                </a:path>
              </a:pathLst>
            </a:custGeom>
            <a:ln w="9524">
              <a:solidFill>
                <a:srgbClr val="E1E9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8553448" y="952499"/>
            <a:ext cx="3352800" cy="2476500"/>
            <a:chOff x="8553448" y="952499"/>
            <a:chExt cx="3352800" cy="2476500"/>
          </a:xfrm>
        </p:grpSpPr>
        <p:sp>
          <p:nvSpPr>
            <p:cNvPr id="24" name="object 24" descr=""/>
            <p:cNvSpPr/>
            <p:nvPr/>
          </p:nvSpPr>
          <p:spPr>
            <a:xfrm>
              <a:off x="8558210" y="957262"/>
              <a:ext cx="3343275" cy="2466975"/>
            </a:xfrm>
            <a:custGeom>
              <a:avLst/>
              <a:gdLst/>
              <a:ahLst/>
              <a:cxnLst/>
              <a:rect l="l" t="t" r="r" b="b"/>
              <a:pathLst>
                <a:path w="3343275" h="2466975">
                  <a:moveTo>
                    <a:pt x="3276528" y="2466974"/>
                  </a:moveTo>
                  <a:lnTo>
                    <a:pt x="66747" y="2466974"/>
                  </a:lnTo>
                  <a:lnTo>
                    <a:pt x="62101" y="2466516"/>
                  </a:lnTo>
                  <a:lnTo>
                    <a:pt x="24240" y="2449367"/>
                  </a:lnTo>
                  <a:lnTo>
                    <a:pt x="2287" y="2414074"/>
                  </a:lnTo>
                  <a:lnTo>
                    <a:pt x="0" y="2400227"/>
                  </a:lnTo>
                  <a:lnTo>
                    <a:pt x="0" y="2395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276528" y="0"/>
                  </a:lnTo>
                  <a:lnTo>
                    <a:pt x="3315423" y="14645"/>
                  </a:lnTo>
                  <a:lnTo>
                    <a:pt x="3339630" y="48433"/>
                  </a:lnTo>
                  <a:lnTo>
                    <a:pt x="3343275" y="66746"/>
                  </a:lnTo>
                  <a:lnTo>
                    <a:pt x="3343275" y="2400227"/>
                  </a:lnTo>
                  <a:lnTo>
                    <a:pt x="3328627" y="2439125"/>
                  </a:lnTo>
                  <a:lnTo>
                    <a:pt x="3294839" y="2463331"/>
                  </a:lnTo>
                  <a:lnTo>
                    <a:pt x="3281173" y="2466516"/>
                  </a:lnTo>
                  <a:lnTo>
                    <a:pt x="3276528" y="24669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558210" y="957262"/>
              <a:ext cx="3343275" cy="2466975"/>
            </a:xfrm>
            <a:custGeom>
              <a:avLst/>
              <a:gdLst/>
              <a:ahLst/>
              <a:cxnLst/>
              <a:rect l="l" t="t" r="r" b="b"/>
              <a:pathLst>
                <a:path w="3343275" h="2466975">
                  <a:moveTo>
                    <a:pt x="0" y="2395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2" y="35649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8" y="9433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271837" y="0"/>
                  </a:lnTo>
                  <a:lnTo>
                    <a:pt x="3276528" y="0"/>
                  </a:lnTo>
                  <a:lnTo>
                    <a:pt x="3281173" y="457"/>
                  </a:lnTo>
                  <a:lnTo>
                    <a:pt x="3285772" y="1372"/>
                  </a:lnTo>
                  <a:lnTo>
                    <a:pt x="3290373" y="2287"/>
                  </a:lnTo>
                  <a:lnTo>
                    <a:pt x="3294839" y="3642"/>
                  </a:lnTo>
                  <a:lnTo>
                    <a:pt x="3299173" y="5437"/>
                  </a:lnTo>
                  <a:lnTo>
                    <a:pt x="3303506" y="7232"/>
                  </a:lnTo>
                  <a:lnTo>
                    <a:pt x="3307622" y="9433"/>
                  </a:lnTo>
                  <a:lnTo>
                    <a:pt x="3311522" y="12039"/>
                  </a:lnTo>
                  <a:lnTo>
                    <a:pt x="3315423" y="14645"/>
                  </a:lnTo>
                  <a:lnTo>
                    <a:pt x="3319032" y="17606"/>
                  </a:lnTo>
                  <a:lnTo>
                    <a:pt x="3322349" y="20923"/>
                  </a:lnTo>
                  <a:lnTo>
                    <a:pt x="3325667" y="24240"/>
                  </a:lnTo>
                  <a:lnTo>
                    <a:pt x="3328628" y="27848"/>
                  </a:lnTo>
                  <a:lnTo>
                    <a:pt x="3331234" y="31748"/>
                  </a:lnTo>
                  <a:lnTo>
                    <a:pt x="3333839" y="35649"/>
                  </a:lnTo>
                  <a:lnTo>
                    <a:pt x="3341900" y="57500"/>
                  </a:lnTo>
                  <a:lnTo>
                    <a:pt x="3342817" y="62101"/>
                  </a:lnTo>
                  <a:lnTo>
                    <a:pt x="3343275" y="66746"/>
                  </a:lnTo>
                  <a:lnTo>
                    <a:pt x="3343275" y="71437"/>
                  </a:lnTo>
                  <a:lnTo>
                    <a:pt x="3343275" y="2395537"/>
                  </a:lnTo>
                  <a:lnTo>
                    <a:pt x="3343275" y="2400227"/>
                  </a:lnTo>
                  <a:lnTo>
                    <a:pt x="3342817" y="2404873"/>
                  </a:lnTo>
                  <a:lnTo>
                    <a:pt x="3341900" y="2409474"/>
                  </a:lnTo>
                  <a:lnTo>
                    <a:pt x="3340985" y="2414074"/>
                  </a:lnTo>
                  <a:lnTo>
                    <a:pt x="3331233" y="2435225"/>
                  </a:lnTo>
                  <a:lnTo>
                    <a:pt x="3328627" y="2439125"/>
                  </a:lnTo>
                  <a:lnTo>
                    <a:pt x="3311522" y="2454934"/>
                  </a:lnTo>
                  <a:lnTo>
                    <a:pt x="3307622" y="2457541"/>
                  </a:lnTo>
                  <a:lnTo>
                    <a:pt x="3285772" y="2465601"/>
                  </a:lnTo>
                  <a:lnTo>
                    <a:pt x="3281173" y="2466516"/>
                  </a:lnTo>
                  <a:lnTo>
                    <a:pt x="3276528" y="2466974"/>
                  </a:lnTo>
                  <a:lnTo>
                    <a:pt x="3271837" y="2466974"/>
                  </a:lnTo>
                  <a:lnTo>
                    <a:pt x="71438" y="2466974"/>
                  </a:lnTo>
                  <a:lnTo>
                    <a:pt x="44099" y="2461536"/>
                  </a:lnTo>
                  <a:lnTo>
                    <a:pt x="39765" y="2459741"/>
                  </a:lnTo>
                  <a:lnTo>
                    <a:pt x="35648" y="2457541"/>
                  </a:lnTo>
                  <a:lnTo>
                    <a:pt x="31749" y="2454935"/>
                  </a:lnTo>
                  <a:lnTo>
                    <a:pt x="27848" y="2452329"/>
                  </a:lnTo>
                  <a:lnTo>
                    <a:pt x="24240" y="2449367"/>
                  </a:lnTo>
                  <a:lnTo>
                    <a:pt x="20923" y="2446051"/>
                  </a:lnTo>
                  <a:lnTo>
                    <a:pt x="17606" y="2442734"/>
                  </a:lnTo>
                  <a:lnTo>
                    <a:pt x="5437" y="2422874"/>
                  </a:lnTo>
                  <a:lnTo>
                    <a:pt x="3642" y="2418541"/>
                  </a:lnTo>
                  <a:lnTo>
                    <a:pt x="2287" y="2414074"/>
                  </a:lnTo>
                  <a:lnTo>
                    <a:pt x="1372" y="2409473"/>
                  </a:lnTo>
                  <a:lnTo>
                    <a:pt x="457" y="2404873"/>
                  </a:lnTo>
                  <a:lnTo>
                    <a:pt x="0" y="2400227"/>
                  </a:lnTo>
                  <a:lnTo>
                    <a:pt x="0" y="2395537"/>
                  </a:lnTo>
                  <a:close/>
                </a:path>
              </a:pathLst>
            </a:custGeom>
            <a:ln w="9524">
              <a:solidFill>
                <a:srgbClr val="E1E9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9518699" y="1034859"/>
            <a:ext cx="14179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5" b="1">
                <a:solidFill>
                  <a:srgbClr val="0053A0"/>
                </a:solidFill>
                <a:latin typeface="Roboto"/>
                <a:cs typeface="Roboto"/>
              </a:rPr>
              <a:t>EV</a:t>
            </a:r>
            <a:r>
              <a:rPr dirty="0" sz="12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85" b="1">
                <a:solidFill>
                  <a:srgbClr val="0053A0"/>
                </a:solidFill>
                <a:latin typeface="Roboto"/>
                <a:cs typeface="Roboto"/>
              </a:rPr>
              <a:t>Power</a:t>
            </a:r>
            <a:r>
              <a:rPr dirty="0" sz="12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5" b="1">
                <a:solidFill>
                  <a:srgbClr val="0053A0"/>
                </a:solidFill>
                <a:latin typeface="Roboto"/>
                <a:cs typeface="Roboto"/>
              </a:rPr>
              <a:t>Contribution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8553448" y="1314450"/>
            <a:ext cx="3352800" cy="4733925"/>
            <a:chOff x="8553448" y="1314450"/>
            <a:chExt cx="3352800" cy="4733925"/>
          </a:xfrm>
        </p:grpSpPr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58224" y="1314450"/>
              <a:ext cx="3143249" cy="2266949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8558210" y="3576637"/>
              <a:ext cx="3343275" cy="2466975"/>
            </a:xfrm>
            <a:custGeom>
              <a:avLst/>
              <a:gdLst/>
              <a:ahLst/>
              <a:cxnLst/>
              <a:rect l="l" t="t" r="r" b="b"/>
              <a:pathLst>
                <a:path w="3343275" h="2466975">
                  <a:moveTo>
                    <a:pt x="3276528" y="2466974"/>
                  </a:moveTo>
                  <a:lnTo>
                    <a:pt x="66747" y="2466974"/>
                  </a:lnTo>
                  <a:lnTo>
                    <a:pt x="62101" y="2466517"/>
                  </a:lnTo>
                  <a:lnTo>
                    <a:pt x="24240" y="2449367"/>
                  </a:lnTo>
                  <a:lnTo>
                    <a:pt x="2287" y="2414073"/>
                  </a:lnTo>
                  <a:lnTo>
                    <a:pt x="0" y="2400227"/>
                  </a:lnTo>
                  <a:lnTo>
                    <a:pt x="0" y="2395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276528" y="0"/>
                  </a:lnTo>
                  <a:lnTo>
                    <a:pt x="3315423" y="14644"/>
                  </a:lnTo>
                  <a:lnTo>
                    <a:pt x="3339630" y="48432"/>
                  </a:lnTo>
                  <a:lnTo>
                    <a:pt x="3343275" y="66746"/>
                  </a:lnTo>
                  <a:lnTo>
                    <a:pt x="3343275" y="2400227"/>
                  </a:lnTo>
                  <a:lnTo>
                    <a:pt x="3328627" y="2439125"/>
                  </a:lnTo>
                  <a:lnTo>
                    <a:pt x="3294839" y="2463331"/>
                  </a:lnTo>
                  <a:lnTo>
                    <a:pt x="3281173" y="2466517"/>
                  </a:lnTo>
                  <a:lnTo>
                    <a:pt x="3276528" y="24669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558210" y="3576637"/>
              <a:ext cx="3343275" cy="2466975"/>
            </a:xfrm>
            <a:custGeom>
              <a:avLst/>
              <a:gdLst/>
              <a:ahLst/>
              <a:cxnLst/>
              <a:rect l="l" t="t" r="r" b="b"/>
              <a:pathLst>
                <a:path w="3343275" h="2466975">
                  <a:moveTo>
                    <a:pt x="0" y="2395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9"/>
                  </a:lnTo>
                  <a:lnTo>
                    <a:pt x="35648" y="9433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271837" y="0"/>
                  </a:lnTo>
                  <a:lnTo>
                    <a:pt x="3276528" y="0"/>
                  </a:lnTo>
                  <a:lnTo>
                    <a:pt x="3281173" y="457"/>
                  </a:lnTo>
                  <a:lnTo>
                    <a:pt x="3285772" y="1372"/>
                  </a:lnTo>
                  <a:lnTo>
                    <a:pt x="3290373" y="2287"/>
                  </a:lnTo>
                  <a:lnTo>
                    <a:pt x="3311522" y="12038"/>
                  </a:lnTo>
                  <a:lnTo>
                    <a:pt x="3315423" y="14644"/>
                  </a:lnTo>
                  <a:lnTo>
                    <a:pt x="3319032" y="17606"/>
                  </a:lnTo>
                  <a:lnTo>
                    <a:pt x="3322349" y="20923"/>
                  </a:lnTo>
                  <a:lnTo>
                    <a:pt x="3325667" y="24239"/>
                  </a:lnTo>
                  <a:lnTo>
                    <a:pt x="3328628" y="27848"/>
                  </a:lnTo>
                  <a:lnTo>
                    <a:pt x="3331234" y="31748"/>
                  </a:lnTo>
                  <a:lnTo>
                    <a:pt x="3333839" y="35648"/>
                  </a:lnTo>
                  <a:lnTo>
                    <a:pt x="3341900" y="57500"/>
                  </a:lnTo>
                  <a:lnTo>
                    <a:pt x="3342817" y="62100"/>
                  </a:lnTo>
                  <a:lnTo>
                    <a:pt x="3343275" y="66746"/>
                  </a:lnTo>
                  <a:lnTo>
                    <a:pt x="3343275" y="71437"/>
                  </a:lnTo>
                  <a:lnTo>
                    <a:pt x="3343275" y="2395537"/>
                  </a:lnTo>
                  <a:lnTo>
                    <a:pt x="3343275" y="2400227"/>
                  </a:lnTo>
                  <a:lnTo>
                    <a:pt x="3342817" y="2404872"/>
                  </a:lnTo>
                  <a:lnTo>
                    <a:pt x="3341900" y="2409473"/>
                  </a:lnTo>
                  <a:lnTo>
                    <a:pt x="3340985" y="2414073"/>
                  </a:lnTo>
                  <a:lnTo>
                    <a:pt x="3331233" y="2435225"/>
                  </a:lnTo>
                  <a:lnTo>
                    <a:pt x="3328627" y="2439125"/>
                  </a:lnTo>
                  <a:lnTo>
                    <a:pt x="3325667" y="2442733"/>
                  </a:lnTo>
                  <a:lnTo>
                    <a:pt x="3322349" y="2446050"/>
                  </a:lnTo>
                  <a:lnTo>
                    <a:pt x="3319032" y="2449367"/>
                  </a:lnTo>
                  <a:lnTo>
                    <a:pt x="3315423" y="2452328"/>
                  </a:lnTo>
                  <a:lnTo>
                    <a:pt x="3311522" y="2454934"/>
                  </a:lnTo>
                  <a:lnTo>
                    <a:pt x="3307622" y="2457540"/>
                  </a:lnTo>
                  <a:lnTo>
                    <a:pt x="3285772" y="2465601"/>
                  </a:lnTo>
                  <a:lnTo>
                    <a:pt x="3281173" y="2466517"/>
                  </a:lnTo>
                  <a:lnTo>
                    <a:pt x="3276528" y="2466974"/>
                  </a:lnTo>
                  <a:lnTo>
                    <a:pt x="3271837" y="2466974"/>
                  </a:lnTo>
                  <a:lnTo>
                    <a:pt x="71438" y="2466974"/>
                  </a:lnTo>
                  <a:lnTo>
                    <a:pt x="66747" y="2466974"/>
                  </a:lnTo>
                  <a:lnTo>
                    <a:pt x="62101" y="2466517"/>
                  </a:lnTo>
                  <a:lnTo>
                    <a:pt x="57501" y="2465601"/>
                  </a:lnTo>
                  <a:lnTo>
                    <a:pt x="52900" y="2464686"/>
                  </a:lnTo>
                  <a:lnTo>
                    <a:pt x="48433" y="2463331"/>
                  </a:lnTo>
                  <a:lnTo>
                    <a:pt x="44099" y="2461536"/>
                  </a:lnTo>
                  <a:lnTo>
                    <a:pt x="39765" y="2459740"/>
                  </a:lnTo>
                  <a:lnTo>
                    <a:pt x="20923" y="2446050"/>
                  </a:lnTo>
                  <a:lnTo>
                    <a:pt x="17606" y="2442733"/>
                  </a:lnTo>
                  <a:lnTo>
                    <a:pt x="5437" y="2422874"/>
                  </a:lnTo>
                  <a:lnTo>
                    <a:pt x="3642" y="2418540"/>
                  </a:lnTo>
                  <a:lnTo>
                    <a:pt x="2287" y="2414073"/>
                  </a:lnTo>
                  <a:lnTo>
                    <a:pt x="1372" y="2409473"/>
                  </a:lnTo>
                  <a:lnTo>
                    <a:pt x="457" y="2404872"/>
                  </a:lnTo>
                  <a:lnTo>
                    <a:pt x="0" y="2400227"/>
                  </a:lnTo>
                  <a:lnTo>
                    <a:pt x="0" y="2395537"/>
                  </a:lnTo>
                  <a:close/>
                </a:path>
              </a:pathLst>
            </a:custGeom>
            <a:ln w="9524">
              <a:solidFill>
                <a:srgbClr val="E1E9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670152" y="3654234"/>
            <a:ext cx="21139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Performance</a:t>
            </a:r>
            <a:r>
              <a:rPr dirty="0" sz="1200" spc="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Metrics</a:t>
            </a:r>
            <a:r>
              <a:rPr dirty="0" sz="1200" spc="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0" b="1">
                <a:solidFill>
                  <a:srgbClr val="0053A0"/>
                </a:solidFill>
                <a:latin typeface="Roboto"/>
                <a:cs typeface="Roboto"/>
              </a:rPr>
              <a:t>Comparison</a:t>
            </a:r>
            <a:endParaRPr sz="1200">
              <a:latin typeface="Roboto"/>
              <a:cs typeface="Roboto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53025" y="3933825"/>
            <a:ext cx="3143249" cy="2266949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9613651" y="3654234"/>
            <a:ext cx="12280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 b="1">
                <a:solidFill>
                  <a:srgbClr val="0053A0"/>
                </a:solidFill>
                <a:latin typeface="Roboto"/>
                <a:cs typeface="Roboto"/>
              </a:rPr>
              <a:t>Sensitivity</a:t>
            </a:r>
            <a:r>
              <a:rPr dirty="0" sz="1200" spc="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0" b="1">
                <a:solidFill>
                  <a:srgbClr val="0053A0"/>
                </a:solidFill>
                <a:latin typeface="Roboto"/>
                <a:cs typeface="Roboto"/>
              </a:rPr>
              <a:t>Analysis</a:t>
            </a:r>
            <a:endParaRPr sz="1200">
              <a:latin typeface="Roboto"/>
              <a:cs typeface="Roboto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58225" y="3933825"/>
            <a:ext cx="3143249" cy="2266949"/>
          </a:xfrm>
          <a:prstGeom prst="rect">
            <a:avLst/>
          </a:prstGeom>
        </p:spPr>
      </p:pic>
      <p:grpSp>
        <p:nvGrpSpPr>
          <p:cNvPr id="35" name="object 35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36" name="object 36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582295">
              <a:lnSpc>
                <a:spcPts val="1295"/>
              </a:lnSpc>
            </a:pPr>
            <a:fld id="{81D60167-4931-47E6-BA6A-407CBD079E47}" type="slidenum">
              <a:rPr dirty="0" sz="1300" spc="-60"/>
              <a:t>9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40" name="object 4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Conclusions</a:t>
            </a:r>
            <a:r>
              <a:rPr dirty="0" spc="-45"/>
              <a:t> </a:t>
            </a:r>
            <a:r>
              <a:rPr dirty="0" spc="-165"/>
              <a:t>&amp;</a:t>
            </a:r>
            <a:r>
              <a:rPr dirty="0" spc="-40"/>
              <a:t> </a:t>
            </a:r>
            <a:r>
              <a:rPr dirty="0" spc="-140"/>
              <a:t>Future</a:t>
            </a:r>
            <a:r>
              <a:rPr dirty="0" spc="-45"/>
              <a:t> </a:t>
            </a:r>
            <a:r>
              <a:rPr dirty="0" spc="-105"/>
              <a:t>Directions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68299" y="1029335"/>
            <a:ext cx="2296795" cy="4324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650" spc="-170" b="1">
                <a:solidFill>
                  <a:srgbClr val="0053A0"/>
                </a:solidFill>
                <a:latin typeface="Roboto"/>
                <a:cs typeface="Roboto"/>
              </a:rPr>
              <a:t>Key</a:t>
            </a:r>
            <a:r>
              <a:rPr dirty="0" sz="2650" spc="-5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650" spc="-130" b="1">
                <a:solidFill>
                  <a:srgbClr val="0053A0"/>
                </a:solidFill>
                <a:latin typeface="Roboto"/>
                <a:cs typeface="Roboto"/>
              </a:rPr>
              <a:t>Conclusions</a:t>
            </a:r>
            <a:endParaRPr sz="265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1857375"/>
            <a:ext cx="180974" cy="1809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93935" y="1736356"/>
            <a:ext cx="4719955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Advanced</a:t>
            </a:r>
            <a:r>
              <a:rPr dirty="0" sz="17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EV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strategies</a:t>
            </a:r>
            <a:r>
              <a:rPr dirty="0" sz="1700" spc="-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significantly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50">
                <a:solidFill>
                  <a:srgbClr val="333333"/>
                </a:solidFill>
                <a:latin typeface="Roboto"/>
                <a:cs typeface="Roboto"/>
              </a:rPr>
              <a:t>enhance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stability,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up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to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5" b="1">
                <a:solidFill>
                  <a:srgbClr val="0053A0"/>
                </a:solidFill>
                <a:latin typeface="Roboto"/>
                <a:cs typeface="Roboto"/>
              </a:rPr>
              <a:t>48%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improvement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in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nadir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5">
                <a:solidFill>
                  <a:srgbClr val="333333"/>
                </a:solidFill>
                <a:latin typeface="Roboto"/>
                <a:cs typeface="Roboto"/>
              </a:rPr>
              <a:t>35%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5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settling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999" y="3002160"/>
            <a:ext cx="180974" cy="15835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93935" y="2900616"/>
            <a:ext cx="493776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Integration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benefits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saturate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5" b="1">
                <a:solidFill>
                  <a:srgbClr val="0053A0"/>
                </a:solidFill>
                <a:latin typeface="Roboto"/>
                <a:cs typeface="Roboto"/>
              </a:rPr>
              <a:t>beyond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90" b="1">
                <a:solidFill>
                  <a:srgbClr val="0053A0"/>
                </a:solidFill>
                <a:latin typeface="Roboto"/>
                <a:cs typeface="Roboto"/>
              </a:rPr>
              <a:t>~15,000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100" b="1">
                <a:solidFill>
                  <a:srgbClr val="0053A0"/>
                </a:solidFill>
                <a:latin typeface="Roboto"/>
                <a:cs typeface="Roboto"/>
              </a:rPr>
              <a:t>EVs</a:t>
            </a:r>
            <a:r>
              <a:rPr dirty="0" sz="17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5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5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3935" y="3165106"/>
            <a:ext cx="505587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test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system,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suggesting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optimal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fleet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sizing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30">
                <a:solidFill>
                  <a:srgbClr val="333333"/>
                </a:solidFill>
                <a:latin typeface="Roboto"/>
                <a:cs typeface="Roboto"/>
              </a:rPr>
              <a:t>frequency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regulation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393" y="4114800"/>
            <a:ext cx="229272" cy="18276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39626" y="3993781"/>
            <a:ext cx="4783455" cy="9207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55"/>
              </a:spcBef>
            </a:pP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Progressive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state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recovery</a:t>
            </a:r>
            <a:r>
              <a:rPr dirty="0" sz="17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successfully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balances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grid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services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user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preferences,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maintaining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owner satisfaction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0363" y="5259585"/>
            <a:ext cx="182247" cy="158353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93935" y="5127256"/>
            <a:ext cx="5144770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90"/>
              </a:spcBef>
            </a:pPr>
            <a:r>
              <a:rPr dirty="0" sz="1700" spc="-80" b="1">
                <a:solidFill>
                  <a:srgbClr val="0053A0"/>
                </a:solidFill>
                <a:latin typeface="Roboto"/>
                <a:cs typeface="Roboto"/>
              </a:rPr>
              <a:t>Implementation</a:t>
            </a:r>
            <a:r>
              <a:rPr dirty="0" sz="1700" spc="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5" b="1">
                <a:solidFill>
                  <a:srgbClr val="0053A0"/>
                </a:solidFill>
                <a:latin typeface="Roboto"/>
                <a:cs typeface="Roboto"/>
              </a:rPr>
              <a:t>challenges</a:t>
            </a:r>
            <a:r>
              <a:rPr dirty="0" sz="1700" spc="2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include</a:t>
            </a:r>
            <a:r>
              <a:rPr dirty="0" sz="1700" spc="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communication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infrastructure,</a:t>
            </a:r>
            <a:r>
              <a:rPr dirty="0" sz="17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latency</a:t>
            </a:r>
            <a:r>
              <a:rPr dirty="0" sz="17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management,</a:t>
            </a:r>
            <a:r>
              <a:rPr dirty="0" sz="17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5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7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creating</a:t>
            </a:r>
            <a:r>
              <a:rPr dirty="0" sz="17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30">
                <a:solidFill>
                  <a:srgbClr val="333333"/>
                </a:solidFill>
                <a:latin typeface="Roboto"/>
                <a:cs typeface="Roboto"/>
              </a:rPr>
              <a:t>effective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financial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incentives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EV</a:t>
            </a:r>
            <a:r>
              <a:rPr dirty="0" sz="17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333333"/>
                </a:solidFill>
                <a:latin typeface="Roboto"/>
                <a:cs typeface="Roboto"/>
              </a:rPr>
              <a:t>owners</a:t>
            </a:r>
            <a:endParaRPr sz="170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374" y="6371554"/>
              <a:ext cx="134634" cy="19131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0" y="6381749"/>
              <a:ext cx="12192000" cy="476250"/>
            </a:xfrm>
            <a:custGeom>
              <a:avLst/>
              <a:gdLst/>
              <a:ahLst/>
              <a:cxnLst/>
              <a:rect l="l" t="t" r="r" b="b"/>
              <a:pathLst>
                <a:path w="12192000" h="476250">
                  <a:moveTo>
                    <a:pt x="12191999" y="476249"/>
                  </a:moveTo>
                  <a:lnTo>
                    <a:pt x="0" y="4762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76249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7597030" y="1142682"/>
            <a:ext cx="28086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0" b="1">
                <a:solidFill>
                  <a:srgbClr val="0053A0"/>
                </a:solidFill>
                <a:latin typeface="Roboto"/>
                <a:cs typeface="Roboto"/>
              </a:rPr>
              <a:t>Future</a:t>
            </a:r>
            <a:r>
              <a:rPr dirty="0" sz="20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000" spc="-114" b="1">
                <a:solidFill>
                  <a:srgbClr val="0053A0"/>
                </a:solidFill>
                <a:latin typeface="Roboto"/>
                <a:cs typeface="Roboto"/>
              </a:rPr>
              <a:t>Research</a:t>
            </a:r>
            <a:r>
              <a:rPr dirty="0" sz="20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2000" spc="-80" b="1">
                <a:solidFill>
                  <a:srgbClr val="0053A0"/>
                </a:solidFill>
                <a:latin typeface="Roboto"/>
                <a:cs typeface="Roboto"/>
              </a:rPr>
              <a:t>Directions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82325" y="190500"/>
            <a:ext cx="152399" cy="15239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1117708" y="177026"/>
            <a:ext cx="70612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0">
                <a:latin typeface="Roboto"/>
                <a:cs typeface="Roboto"/>
              </a:rPr>
              <a:t>IEEE</a:t>
            </a:r>
            <a:r>
              <a:rPr dirty="0" sz="1250" spc="-60">
                <a:latin typeface="Roboto"/>
                <a:cs typeface="Roboto"/>
              </a:rPr>
              <a:t> </a:t>
            </a:r>
            <a:r>
              <a:rPr dirty="0" sz="1250" spc="-20">
                <a:latin typeface="Roboto"/>
                <a:cs typeface="Roboto"/>
              </a:rPr>
              <a:t>Logo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143873" y="1885949"/>
            <a:ext cx="1714500" cy="762000"/>
            <a:chOff x="8143873" y="1885949"/>
            <a:chExt cx="1714500" cy="762000"/>
          </a:xfrm>
        </p:grpSpPr>
        <p:sp>
          <p:nvSpPr>
            <p:cNvPr id="22" name="object 22" descr=""/>
            <p:cNvSpPr/>
            <p:nvPr/>
          </p:nvSpPr>
          <p:spPr>
            <a:xfrm>
              <a:off x="8153398" y="18954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7" y="742949"/>
                  </a:lnTo>
                  <a:lnTo>
                    <a:pt x="57960" y="742522"/>
                  </a:lnTo>
                  <a:lnTo>
                    <a:pt x="22624" y="726516"/>
                  </a:lnTo>
                  <a:lnTo>
                    <a:pt x="2134" y="693575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3"/>
                  </a:lnTo>
                  <a:lnTo>
                    <a:pt x="1695450" y="62296"/>
                  </a:lnTo>
                  <a:lnTo>
                    <a:pt x="1695450" y="680652"/>
                  </a:lnTo>
                  <a:lnTo>
                    <a:pt x="1681780" y="716957"/>
                  </a:lnTo>
                  <a:lnTo>
                    <a:pt x="1650245" y="739549"/>
                  </a:lnTo>
                  <a:lnTo>
                    <a:pt x="1637488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153398" y="18954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1"/>
                  </a:lnTo>
                  <a:lnTo>
                    <a:pt x="13668" y="25991"/>
                  </a:lnTo>
                  <a:lnTo>
                    <a:pt x="16433" y="22624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8" y="427"/>
                  </a:lnTo>
                  <a:lnTo>
                    <a:pt x="1641782" y="1281"/>
                  </a:lnTo>
                  <a:lnTo>
                    <a:pt x="1646076" y="2135"/>
                  </a:lnTo>
                  <a:lnTo>
                    <a:pt x="1650245" y="3399"/>
                  </a:lnTo>
                  <a:lnTo>
                    <a:pt x="1654290" y="5075"/>
                  </a:lnTo>
                  <a:lnTo>
                    <a:pt x="1658335" y="6750"/>
                  </a:lnTo>
                  <a:lnTo>
                    <a:pt x="1686645" y="33272"/>
                  </a:lnTo>
                  <a:lnTo>
                    <a:pt x="1695450" y="62296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95450" y="680652"/>
                  </a:lnTo>
                  <a:lnTo>
                    <a:pt x="1695023" y="684988"/>
                  </a:lnTo>
                  <a:lnTo>
                    <a:pt x="1694169" y="689282"/>
                  </a:lnTo>
                  <a:lnTo>
                    <a:pt x="1693314" y="693575"/>
                  </a:lnTo>
                  <a:lnTo>
                    <a:pt x="1684212" y="713317"/>
                  </a:lnTo>
                  <a:lnTo>
                    <a:pt x="1681780" y="716957"/>
                  </a:lnTo>
                  <a:lnTo>
                    <a:pt x="1654290" y="737874"/>
                  </a:lnTo>
                  <a:lnTo>
                    <a:pt x="1650245" y="739549"/>
                  </a:lnTo>
                  <a:lnTo>
                    <a:pt x="1646076" y="740814"/>
                  </a:lnTo>
                  <a:lnTo>
                    <a:pt x="1641782" y="741668"/>
                  </a:lnTo>
                  <a:lnTo>
                    <a:pt x="1637488" y="742522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7" y="742949"/>
                  </a:lnTo>
                  <a:lnTo>
                    <a:pt x="57960" y="742522"/>
                  </a:lnTo>
                  <a:lnTo>
                    <a:pt x="53667" y="741668"/>
                  </a:lnTo>
                  <a:lnTo>
                    <a:pt x="49373" y="740814"/>
                  </a:lnTo>
                  <a:lnTo>
                    <a:pt x="45203" y="739549"/>
                  </a:lnTo>
                  <a:lnTo>
                    <a:pt x="41159" y="737874"/>
                  </a:lnTo>
                  <a:lnTo>
                    <a:pt x="37114" y="736198"/>
                  </a:lnTo>
                  <a:lnTo>
                    <a:pt x="8804" y="709677"/>
                  </a:lnTo>
                  <a:lnTo>
                    <a:pt x="5075" y="701790"/>
                  </a:lnTo>
                  <a:lnTo>
                    <a:pt x="3399" y="697745"/>
                  </a:lnTo>
                  <a:lnTo>
                    <a:pt x="2134" y="693575"/>
                  </a:lnTo>
                  <a:lnTo>
                    <a:pt x="1280" y="689282"/>
                  </a:lnTo>
                  <a:lnTo>
                    <a:pt x="426" y="684988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892989" y="1970282"/>
              <a:ext cx="208915" cy="277495"/>
            </a:xfrm>
            <a:custGeom>
              <a:avLst/>
              <a:gdLst/>
              <a:ahLst/>
              <a:cxnLst/>
              <a:rect l="l" t="t" r="r" b="b"/>
              <a:pathLst>
                <a:path w="208915" h="277494">
                  <a:moveTo>
                    <a:pt x="49267" y="277075"/>
                  </a:moveTo>
                  <a:lnTo>
                    <a:pt x="36307" y="267650"/>
                  </a:lnTo>
                  <a:lnTo>
                    <a:pt x="33951" y="259082"/>
                  </a:lnTo>
                  <a:lnTo>
                    <a:pt x="37111" y="251745"/>
                  </a:lnTo>
                  <a:lnTo>
                    <a:pt x="78292" y="155674"/>
                  </a:lnTo>
                  <a:lnTo>
                    <a:pt x="11460" y="155674"/>
                  </a:lnTo>
                  <a:lnTo>
                    <a:pt x="5033" y="151176"/>
                  </a:lnTo>
                  <a:lnTo>
                    <a:pt x="0" y="137895"/>
                  </a:lnTo>
                  <a:lnTo>
                    <a:pt x="1927" y="130344"/>
                  </a:lnTo>
                  <a:lnTo>
                    <a:pt x="7283" y="125631"/>
                  </a:lnTo>
                  <a:lnTo>
                    <a:pt x="144374" y="5676"/>
                  </a:lnTo>
                  <a:lnTo>
                    <a:pt x="150426" y="428"/>
                  </a:lnTo>
                  <a:lnTo>
                    <a:pt x="159262" y="0"/>
                  </a:lnTo>
                  <a:lnTo>
                    <a:pt x="172221" y="9425"/>
                  </a:lnTo>
                  <a:lnTo>
                    <a:pt x="174578" y="17993"/>
                  </a:lnTo>
                  <a:lnTo>
                    <a:pt x="171418" y="25329"/>
                  </a:lnTo>
                  <a:lnTo>
                    <a:pt x="130237" y="121454"/>
                  </a:lnTo>
                  <a:lnTo>
                    <a:pt x="197123" y="121454"/>
                  </a:lnTo>
                  <a:lnTo>
                    <a:pt x="203495" y="125899"/>
                  </a:lnTo>
                  <a:lnTo>
                    <a:pt x="208529" y="139180"/>
                  </a:lnTo>
                  <a:lnTo>
                    <a:pt x="206601" y="146731"/>
                  </a:lnTo>
                  <a:lnTo>
                    <a:pt x="201246" y="151443"/>
                  </a:lnTo>
                  <a:lnTo>
                    <a:pt x="64154" y="271399"/>
                  </a:lnTo>
                  <a:lnTo>
                    <a:pt x="58103" y="276647"/>
                  </a:lnTo>
                  <a:lnTo>
                    <a:pt x="49267" y="277075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8204249" y="2387357"/>
            <a:ext cx="15938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 b="1">
                <a:solidFill>
                  <a:srgbClr val="0053A0"/>
                </a:solidFill>
                <a:latin typeface="Roboto"/>
                <a:cs typeface="Roboto"/>
              </a:rPr>
              <a:t>Voltage</a:t>
            </a:r>
            <a:r>
              <a:rPr dirty="0" sz="12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5" b="1">
                <a:solidFill>
                  <a:srgbClr val="0053A0"/>
                </a:solidFill>
                <a:latin typeface="Roboto"/>
                <a:cs typeface="Roboto"/>
              </a:rPr>
              <a:t>Stability</a:t>
            </a:r>
            <a:r>
              <a:rPr dirty="0" sz="1200" spc="-2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40" b="1">
                <a:solidFill>
                  <a:srgbClr val="0053A0"/>
                </a:solidFill>
                <a:latin typeface="Roboto"/>
                <a:cs typeface="Roboto"/>
              </a:rPr>
              <a:t>Analysis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619874" y="2838449"/>
            <a:ext cx="1714500" cy="762000"/>
            <a:chOff x="6619874" y="2838449"/>
            <a:chExt cx="1714500" cy="762000"/>
          </a:xfrm>
        </p:grpSpPr>
        <p:sp>
          <p:nvSpPr>
            <p:cNvPr id="27" name="object 27" descr=""/>
            <p:cNvSpPr/>
            <p:nvPr/>
          </p:nvSpPr>
          <p:spPr>
            <a:xfrm>
              <a:off x="6629399" y="28479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7" y="742949"/>
                  </a:lnTo>
                  <a:lnTo>
                    <a:pt x="57960" y="742522"/>
                  </a:lnTo>
                  <a:lnTo>
                    <a:pt x="22623" y="726516"/>
                  </a:lnTo>
                  <a:lnTo>
                    <a:pt x="2134" y="693575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400"/>
                  </a:lnTo>
                  <a:lnTo>
                    <a:pt x="62297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3"/>
                  </a:lnTo>
                  <a:lnTo>
                    <a:pt x="1695449" y="62297"/>
                  </a:lnTo>
                  <a:lnTo>
                    <a:pt x="1695449" y="680652"/>
                  </a:lnTo>
                  <a:lnTo>
                    <a:pt x="1681779" y="716957"/>
                  </a:lnTo>
                  <a:lnTo>
                    <a:pt x="1650245" y="739549"/>
                  </a:lnTo>
                  <a:lnTo>
                    <a:pt x="1637488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629399" y="28479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6" y="29632"/>
                  </a:lnTo>
                  <a:lnTo>
                    <a:pt x="13668" y="25992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3" y="6750"/>
                  </a:lnTo>
                  <a:lnTo>
                    <a:pt x="41158" y="5075"/>
                  </a:lnTo>
                  <a:lnTo>
                    <a:pt x="45203" y="3400"/>
                  </a:lnTo>
                  <a:lnTo>
                    <a:pt x="49372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8" y="427"/>
                  </a:lnTo>
                  <a:lnTo>
                    <a:pt x="1641782" y="1281"/>
                  </a:lnTo>
                  <a:lnTo>
                    <a:pt x="1646076" y="2135"/>
                  </a:lnTo>
                  <a:lnTo>
                    <a:pt x="1650245" y="3400"/>
                  </a:lnTo>
                  <a:lnTo>
                    <a:pt x="1654290" y="5075"/>
                  </a:lnTo>
                  <a:lnTo>
                    <a:pt x="1658334" y="6750"/>
                  </a:lnTo>
                  <a:lnTo>
                    <a:pt x="1662176" y="8804"/>
                  </a:lnTo>
                  <a:lnTo>
                    <a:pt x="1688697" y="37114"/>
                  </a:lnTo>
                  <a:lnTo>
                    <a:pt x="1690373" y="41159"/>
                  </a:lnTo>
                  <a:lnTo>
                    <a:pt x="1692049" y="45203"/>
                  </a:lnTo>
                  <a:lnTo>
                    <a:pt x="1693314" y="49373"/>
                  </a:lnTo>
                  <a:lnTo>
                    <a:pt x="1694168" y="53667"/>
                  </a:lnTo>
                  <a:lnTo>
                    <a:pt x="1695022" y="57960"/>
                  </a:lnTo>
                  <a:lnTo>
                    <a:pt x="1695449" y="62297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84212" y="713316"/>
                  </a:lnTo>
                  <a:lnTo>
                    <a:pt x="1654289" y="737874"/>
                  </a:lnTo>
                  <a:lnTo>
                    <a:pt x="1650245" y="739549"/>
                  </a:lnTo>
                  <a:lnTo>
                    <a:pt x="1646076" y="740814"/>
                  </a:lnTo>
                  <a:lnTo>
                    <a:pt x="1641782" y="741668"/>
                  </a:lnTo>
                  <a:lnTo>
                    <a:pt x="1637488" y="742522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7" y="742949"/>
                  </a:lnTo>
                  <a:lnTo>
                    <a:pt x="57960" y="742522"/>
                  </a:lnTo>
                  <a:lnTo>
                    <a:pt x="53667" y="741668"/>
                  </a:lnTo>
                  <a:lnTo>
                    <a:pt x="49372" y="740814"/>
                  </a:lnTo>
                  <a:lnTo>
                    <a:pt x="45203" y="739549"/>
                  </a:lnTo>
                  <a:lnTo>
                    <a:pt x="41158" y="737874"/>
                  </a:lnTo>
                  <a:lnTo>
                    <a:pt x="37113" y="736199"/>
                  </a:lnTo>
                  <a:lnTo>
                    <a:pt x="33271" y="734145"/>
                  </a:lnTo>
                  <a:lnTo>
                    <a:pt x="29631" y="731712"/>
                  </a:lnTo>
                  <a:lnTo>
                    <a:pt x="25991" y="729280"/>
                  </a:lnTo>
                  <a:lnTo>
                    <a:pt x="22623" y="726516"/>
                  </a:lnTo>
                  <a:lnTo>
                    <a:pt x="19528" y="723420"/>
                  </a:lnTo>
                  <a:lnTo>
                    <a:pt x="16432" y="720325"/>
                  </a:lnTo>
                  <a:lnTo>
                    <a:pt x="13668" y="716957"/>
                  </a:lnTo>
                  <a:lnTo>
                    <a:pt x="11236" y="713316"/>
                  </a:lnTo>
                  <a:lnTo>
                    <a:pt x="8803" y="709676"/>
                  </a:lnTo>
                  <a:lnTo>
                    <a:pt x="6749" y="705834"/>
                  </a:lnTo>
                  <a:lnTo>
                    <a:pt x="5074" y="701789"/>
                  </a:lnTo>
                  <a:lnTo>
                    <a:pt x="3399" y="697744"/>
                  </a:lnTo>
                  <a:lnTo>
                    <a:pt x="2134" y="693575"/>
                  </a:lnTo>
                  <a:lnTo>
                    <a:pt x="1280" y="689281"/>
                  </a:lnTo>
                  <a:lnTo>
                    <a:pt x="426" y="684988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305675" y="2924219"/>
              <a:ext cx="342900" cy="274320"/>
            </a:xfrm>
            <a:custGeom>
              <a:avLst/>
              <a:gdLst/>
              <a:ahLst/>
              <a:cxnLst/>
              <a:rect l="l" t="t" r="r" b="b"/>
              <a:pathLst>
                <a:path w="342900" h="274319">
                  <a:moveTo>
                    <a:pt x="59981" y="51412"/>
                  </a:moveTo>
                  <a:lnTo>
                    <a:pt x="34275" y="51412"/>
                  </a:lnTo>
                  <a:lnTo>
                    <a:pt x="34275" y="5730"/>
                  </a:lnTo>
                  <a:lnTo>
                    <a:pt x="40005" y="0"/>
                  </a:lnTo>
                  <a:lnTo>
                    <a:pt x="54251" y="0"/>
                  </a:lnTo>
                  <a:lnTo>
                    <a:pt x="59981" y="5730"/>
                  </a:lnTo>
                  <a:lnTo>
                    <a:pt x="59981" y="51412"/>
                  </a:lnTo>
                  <a:close/>
                </a:path>
                <a:path w="342900" h="274319">
                  <a:moveTo>
                    <a:pt x="119962" y="51412"/>
                  </a:moveTo>
                  <a:lnTo>
                    <a:pt x="94256" y="51412"/>
                  </a:lnTo>
                  <a:lnTo>
                    <a:pt x="94256" y="5730"/>
                  </a:lnTo>
                  <a:lnTo>
                    <a:pt x="99986" y="0"/>
                  </a:lnTo>
                  <a:lnTo>
                    <a:pt x="114232" y="0"/>
                  </a:lnTo>
                  <a:lnTo>
                    <a:pt x="119962" y="5730"/>
                  </a:lnTo>
                  <a:lnTo>
                    <a:pt x="119962" y="51412"/>
                  </a:lnTo>
                  <a:close/>
                </a:path>
                <a:path w="342900" h="274319">
                  <a:moveTo>
                    <a:pt x="317044" y="274200"/>
                  </a:moveTo>
                  <a:lnTo>
                    <a:pt x="25706" y="274200"/>
                  </a:lnTo>
                  <a:lnTo>
                    <a:pt x="15702" y="272180"/>
                  </a:lnTo>
                  <a:lnTo>
                    <a:pt x="7531" y="266669"/>
                  </a:lnTo>
                  <a:lnTo>
                    <a:pt x="2020" y="258498"/>
                  </a:lnTo>
                  <a:lnTo>
                    <a:pt x="0" y="248494"/>
                  </a:lnTo>
                  <a:lnTo>
                    <a:pt x="0" y="77119"/>
                  </a:lnTo>
                  <a:lnTo>
                    <a:pt x="2020" y="67115"/>
                  </a:lnTo>
                  <a:lnTo>
                    <a:pt x="7531" y="58943"/>
                  </a:lnTo>
                  <a:lnTo>
                    <a:pt x="15702" y="53433"/>
                  </a:lnTo>
                  <a:lnTo>
                    <a:pt x="25706" y="51412"/>
                  </a:lnTo>
                  <a:lnTo>
                    <a:pt x="154238" y="51412"/>
                  </a:lnTo>
                  <a:lnTo>
                    <a:pt x="154238" y="25706"/>
                  </a:lnTo>
                  <a:lnTo>
                    <a:pt x="156258" y="15702"/>
                  </a:lnTo>
                  <a:lnTo>
                    <a:pt x="161769" y="7531"/>
                  </a:lnTo>
                  <a:lnTo>
                    <a:pt x="169940" y="2020"/>
                  </a:lnTo>
                  <a:lnTo>
                    <a:pt x="179944" y="0"/>
                  </a:lnTo>
                  <a:lnTo>
                    <a:pt x="231357" y="0"/>
                  </a:lnTo>
                  <a:lnTo>
                    <a:pt x="241360" y="2020"/>
                  </a:lnTo>
                  <a:lnTo>
                    <a:pt x="249532" y="7531"/>
                  </a:lnTo>
                  <a:lnTo>
                    <a:pt x="255042" y="15702"/>
                  </a:lnTo>
                  <a:lnTo>
                    <a:pt x="257063" y="25706"/>
                  </a:lnTo>
                  <a:lnTo>
                    <a:pt x="257063" y="34275"/>
                  </a:lnTo>
                  <a:lnTo>
                    <a:pt x="192369" y="34275"/>
                  </a:lnTo>
                  <a:lnTo>
                    <a:pt x="188513" y="38131"/>
                  </a:lnTo>
                  <a:lnTo>
                    <a:pt x="188513" y="64694"/>
                  </a:lnTo>
                  <a:lnTo>
                    <a:pt x="192369" y="68550"/>
                  </a:lnTo>
                  <a:lnTo>
                    <a:pt x="257063" y="68550"/>
                  </a:lnTo>
                  <a:lnTo>
                    <a:pt x="257063" y="85687"/>
                  </a:lnTo>
                  <a:lnTo>
                    <a:pt x="38131" y="85687"/>
                  </a:lnTo>
                  <a:lnTo>
                    <a:pt x="34275" y="89543"/>
                  </a:lnTo>
                  <a:lnTo>
                    <a:pt x="34275" y="116106"/>
                  </a:lnTo>
                  <a:lnTo>
                    <a:pt x="38131" y="119962"/>
                  </a:lnTo>
                  <a:lnTo>
                    <a:pt x="341020" y="119962"/>
                  </a:lnTo>
                  <a:lnTo>
                    <a:pt x="342751" y="128531"/>
                  </a:lnTo>
                  <a:lnTo>
                    <a:pt x="342751" y="137100"/>
                  </a:lnTo>
                  <a:lnTo>
                    <a:pt x="38131" y="137100"/>
                  </a:lnTo>
                  <a:lnTo>
                    <a:pt x="34275" y="140956"/>
                  </a:lnTo>
                  <a:lnTo>
                    <a:pt x="34275" y="167519"/>
                  </a:lnTo>
                  <a:lnTo>
                    <a:pt x="38131" y="171375"/>
                  </a:lnTo>
                  <a:lnTo>
                    <a:pt x="342751" y="171375"/>
                  </a:lnTo>
                  <a:lnTo>
                    <a:pt x="342751" y="188513"/>
                  </a:lnTo>
                  <a:lnTo>
                    <a:pt x="38131" y="188513"/>
                  </a:lnTo>
                  <a:lnTo>
                    <a:pt x="34275" y="192369"/>
                  </a:lnTo>
                  <a:lnTo>
                    <a:pt x="34275" y="218932"/>
                  </a:lnTo>
                  <a:lnTo>
                    <a:pt x="38131" y="222788"/>
                  </a:lnTo>
                  <a:lnTo>
                    <a:pt x="342751" y="222788"/>
                  </a:lnTo>
                  <a:lnTo>
                    <a:pt x="342751" y="248494"/>
                  </a:lnTo>
                  <a:lnTo>
                    <a:pt x="340730" y="258498"/>
                  </a:lnTo>
                  <a:lnTo>
                    <a:pt x="335219" y="266669"/>
                  </a:lnTo>
                  <a:lnTo>
                    <a:pt x="327048" y="272180"/>
                  </a:lnTo>
                  <a:lnTo>
                    <a:pt x="317044" y="274200"/>
                  </a:lnTo>
                  <a:close/>
                </a:path>
                <a:path w="342900" h="274319">
                  <a:moveTo>
                    <a:pt x="257063" y="68550"/>
                  </a:moveTo>
                  <a:lnTo>
                    <a:pt x="218932" y="68550"/>
                  </a:lnTo>
                  <a:lnTo>
                    <a:pt x="222788" y="64694"/>
                  </a:lnTo>
                  <a:lnTo>
                    <a:pt x="222788" y="38131"/>
                  </a:lnTo>
                  <a:lnTo>
                    <a:pt x="218932" y="34275"/>
                  </a:lnTo>
                  <a:lnTo>
                    <a:pt x="257063" y="34275"/>
                  </a:lnTo>
                  <a:lnTo>
                    <a:pt x="257063" y="68550"/>
                  </a:lnTo>
                  <a:close/>
                </a:path>
                <a:path w="342900" h="274319">
                  <a:moveTo>
                    <a:pt x="106681" y="119962"/>
                  </a:moveTo>
                  <a:lnTo>
                    <a:pt x="64694" y="119962"/>
                  </a:lnTo>
                  <a:lnTo>
                    <a:pt x="68550" y="116106"/>
                  </a:lnTo>
                  <a:lnTo>
                    <a:pt x="68550" y="89543"/>
                  </a:lnTo>
                  <a:lnTo>
                    <a:pt x="64694" y="85687"/>
                  </a:lnTo>
                  <a:lnTo>
                    <a:pt x="106681" y="85687"/>
                  </a:lnTo>
                  <a:lnTo>
                    <a:pt x="102825" y="89543"/>
                  </a:lnTo>
                  <a:lnTo>
                    <a:pt x="102825" y="116106"/>
                  </a:lnTo>
                  <a:lnTo>
                    <a:pt x="106681" y="119962"/>
                  </a:lnTo>
                  <a:close/>
                </a:path>
                <a:path w="342900" h="274319">
                  <a:moveTo>
                    <a:pt x="192369" y="119962"/>
                  </a:moveTo>
                  <a:lnTo>
                    <a:pt x="133244" y="119962"/>
                  </a:lnTo>
                  <a:lnTo>
                    <a:pt x="137100" y="116106"/>
                  </a:lnTo>
                  <a:lnTo>
                    <a:pt x="137100" y="89543"/>
                  </a:lnTo>
                  <a:lnTo>
                    <a:pt x="133244" y="85687"/>
                  </a:lnTo>
                  <a:lnTo>
                    <a:pt x="192369" y="85687"/>
                  </a:lnTo>
                  <a:lnTo>
                    <a:pt x="188513" y="89543"/>
                  </a:lnTo>
                  <a:lnTo>
                    <a:pt x="188513" y="116106"/>
                  </a:lnTo>
                  <a:lnTo>
                    <a:pt x="192369" y="119962"/>
                  </a:lnTo>
                  <a:close/>
                </a:path>
                <a:path w="342900" h="274319">
                  <a:moveTo>
                    <a:pt x="341020" y="119962"/>
                  </a:moveTo>
                  <a:lnTo>
                    <a:pt x="218932" y="119962"/>
                  </a:lnTo>
                  <a:lnTo>
                    <a:pt x="222788" y="116106"/>
                  </a:lnTo>
                  <a:lnTo>
                    <a:pt x="222788" y="89543"/>
                  </a:lnTo>
                  <a:lnTo>
                    <a:pt x="218932" y="85687"/>
                  </a:lnTo>
                  <a:lnTo>
                    <a:pt x="257063" y="85687"/>
                  </a:lnTo>
                  <a:lnTo>
                    <a:pt x="257063" y="102825"/>
                  </a:lnTo>
                  <a:lnTo>
                    <a:pt x="317044" y="102825"/>
                  </a:lnTo>
                  <a:lnTo>
                    <a:pt x="327048" y="104846"/>
                  </a:lnTo>
                  <a:lnTo>
                    <a:pt x="335219" y="110356"/>
                  </a:lnTo>
                  <a:lnTo>
                    <a:pt x="340730" y="118527"/>
                  </a:lnTo>
                  <a:lnTo>
                    <a:pt x="341020" y="119962"/>
                  </a:lnTo>
                  <a:close/>
                </a:path>
                <a:path w="342900" h="274319">
                  <a:moveTo>
                    <a:pt x="106681" y="171375"/>
                  </a:moveTo>
                  <a:lnTo>
                    <a:pt x="64694" y="171375"/>
                  </a:lnTo>
                  <a:lnTo>
                    <a:pt x="68550" y="167519"/>
                  </a:lnTo>
                  <a:lnTo>
                    <a:pt x="68550" y="140956"/>
                  </a:lnTo>
                  <a:lnTo>
                    <a:pt x="64694" y="137100"/>
                  </a:lnTo>
                  <a:lnTo>
                    <a:pt x="106681" y="137100"/>
                  </a:lnTo>
                  <a:lnTo>
                    <a:pt x="102825" y="140956"/>
                  </a:lnTo>
                  <a:lnTo>
                    <a:pt x="102825" y="167519"/>
                  </a:lnTo>
                  <a:lnTo>
                    <a:pt x="106681" y="171375"/>
                  </a:lnTo>
                  <a:close/>
                </a:path>
                <a:path w="342900" h="274319">
                  <a:moveTo>
                    <a:pt x="192369" y="171375"/>
                  </a:moveTo>
                  <a:lnTo>
                    <a:pt x="133244" y="171375"/>
                  </a:lnTo>
                  <a:lnTo>
                    <a:pt x="137100" y="167519"/>
                  </a:lnTo>
                  <a:lnTo>
                    <a:pt x="137100" y="140956"/>
                  </a:lnTo>
                  <a:lnTo>
                    <a:pt x="133244" y="137100"/>
                  </a:lnTo>
                  <a:lnTo>
                    <a:pt x="192369" y="137100"/>
                  </a:lnTo>
                  <a:lnTo>
                    <a:pt x="188513" y="140956"/>
                  </a:lnTo>
                  <a:lnTo>
                    <a:pt x="188513" y="167519"/>
                  </a:lnTo>
                  <a:lnTo>
                    <a:pt x="192369" y="171375"/>
                  </a:lnTo>
                  <a:close/>
                </a:path>
                <a:path w="342900" h="274319">
                  <a:moveTo>
                    <a:pt x="278056" y="171375"/>
                  </a:moveTo>
                  <a:lnTo>
                    <a:pt x="218932" y="171375"/>
                  </a:lnTo>
                  <a:lnTo>
                    <a:pt x="222788" y="167519"/>
                  </a:lnTo>
                  <a:lnTo>
                    <a:pt x="222788" y="140956"/>
                  </a:lnTo>
                  <a:lnTo>
                    <a:pt x="218932" y="137100"/>
                  </a:lnTo>
                  <a:lnTo>
                    <a:pt x="278056" y="137100"/>
                  </a:lnTo>
                  <a:lnTo>
                    <a:pt x="274200" y="140956"/>
                  </a:lnTo>
                  <a:lnTo>
                    <a:pt x="274200" y="167519"/>
                  </a:lnTo>
                  <a:lnTo>
                    <a:pt x="278056" y="171375"/>
                  </a:lnTo>
                  <a:close/>
                </a:path>
                <a:path w="342900" h="274319">
                  <a:moveTo>
                    <a:pt x="342751" y="171375"/>
                  </a:moveTo>
                  <a:lnTo>
                    <a:pt x="304620" y="171375"/>
                  </a:lnTo>
                  <a:lnTo>
                    <a:pt x="308476" y="167519"/>
                  </a:lnTo>
                  <a:lnTo>
                    <a:pt x="308476" y="140956"/>
                  </a:lnTo>
                  <a:lnTo>
                    <a:pt x="304620" y="137100"/>
                  </a:lnTo>
                  <a:lnTo>
                    <a:pt x="342751" y="137100"/>
                  </a:lnTo>
                  <a:lnTo>
                    <a:pt x="342751" y="171375"/>
                  </a:lnTo>
                  <a:close/>
                </a:path>
                <a:path w="342900" h="274319">
                  <a:moveTo>
                    <a:pt x="106681" y="222788"/>
                  </a:moveTo>
                  <a:lnTo>
                    <a:pt x="64694" y="222788"/>
                  </a:lnTo>
                  <a:lnTo>
                    <a:pt x="68550" y="218932"/>
                  </a:lnTo>
                  <a:lnTo>
                    <a:pt x="68550" y="192369"/>
                  </a:lnTo>
                  <a:lnTo>
                    <a:pt x="64694" y="188513"/>
                  </a:lnTo>
                  <a:lnTo>
                    <a:pt x="106681" y="188513"/>
                  </a:lnTo>
                  <a:lnTo>
                    <a:pt x="102825" y="192369"/>
                  </a:lnTo>
                  <a:lnTo>
                    <a:pt x="102825" y="218932"/>
                  </a:lnTo>
                  <a:lnTo>
                    <a:pt x="106681" y="222788"/>
                  </a:lnTo>
                  <a:close/>
                </a:path>
                <a:path w="342900" h="274319">
                  <a:moveTo>
                    <a:pt x="278056" y="222788"/>
                  </a:moveTo>
                  <a:lnTo>
                    <a:pt x="133244" y="222788"/>
                  </a:lnTo>
                  <a:lnTo>
                    <a:pt x="137100" y="218932"/>
                  </a:lnTo>
                  <a:lnTo>
                    <a:pt x="137100" y="192369"/>
                  </a:lnTo>
                  <a:lnTo>
                    <a:pt x="133244" y="188513"/>
                  </a:lnTo>
                  <a:lnTo>
                    <a:pt x="278056" y="188513"/>
                  </a:lnTo>
                  <a:lnTo>
                    <a:pt x="274200" y="192369"/>
                  </a:lnTo>
                  <a:lnTo>
                    <a:pt x="274200" y="218932"/>
                  </a:lnTo>
                  <a:lnTo>
                    <a:pt x="278056" y="222788"/>
                  </a:lnTo>
                  <a:close/>
                </a:path>
                <a:path w="342900" h="274319">
                  <a:moveTo>
                    <a:pt x="342751" y="222788"/>
                  </a:moveTo>
                  <a:lnTo>
                    <a:pt x="304620" y="222788"/>
                  </a:lnTo>
                  <a:lnTo>
                    <a:pt x="308476" y="218932"/>
                  </a:lnTo>
                  <a:lnTo>
                    <a:pt x="308476" y="192369"/>
                  </a:lnTo>
                  <a:lnTo>
                    <a:pt x="304620" y="188513"/>
                  </a:lnTo>
                  <a:lnTo>
                    <a:pt x="342751" y="188513"/>
                  </a:lnTo>
                  <a:lnTo>
                    <a:pt x="342751" y="222788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750794" y="3339857"/>
            <a:ext cx="14528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Real</a:t>
            </a:r>
            <a:r>
              <a:rPr dirty="0" sz="12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70" b="1">
                <a:solidFill>
                  <a:srgbClr val="0053A0"/>
                </a:solidFill>
                <a:latin typeface="Roboto"/>
                <a:cs typeface="Roboto"/>
              </a:rPr>
              <a:t>Grid</a:t>
            </a:r>
            <a:r>
              <a:rPr dirty="0" sz="12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60" b="1">
                <a:solidFill>
                  <a:srgbClr val="0053A0"/>
                </a:solidFill>
                <a:latin typeface="Roboto"/>
                <a:cs typeface="Roboto"/>
              </a:rPr>
              <a:t>Pilot</a:t>
            </a:r>
            <a:r>
              <a:rPr dirty="0" sz="120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45" b="1">
                <a:solidFill>
                  <a:srgbClr val="0053A0"/>
                </a:solidFill>
                <a:latin typeface="Roboto"/>
                <a:cs typeface="Roboto"/>
              </a:rPr>
              <a:t>Projects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9667873" y="2838449"/>
            <a:ext cx="1714500" cy="762000"/>
            <a:chOff x="9667873" y="2838449"/>
            <a:chExt cx="1714500" cy="762000"/>
          </a:xfrm>
        </p:grpSpPr>
        <p:sp>
          <p:nvSpPr>
            <p:cNvPr id="32" name="object 32" descr=""/>
            <p:cNvSpPr/>
            <p:nvPr/>
          </p:nvSpPr>
          <p:spPr>
            <a:xfrm>
              <a:off x="9677398" y="28479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6" y="742949"/>
                  </a:lnTo>
                  <a:lnTo>
                    <a:pt x="57960" y="742522"/>
                  </a:lnTo>
                  <a:lnTo>
                    <a:pt x="22624" y="726516"/>
                  </a:lnTo>
                  <a:lnTo>
                    <a:pt x="2134" y="693575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7"/>
                  </a:lnTo>
                  <a:lnTo>
                    <a:pt x="13667" y="25992"/>
                  </a:lnTo>
                  <a:lnTo>
                    <a:pt x="45203" y="3400"/>
                  </a:lnTo>
                  <a:lnTo>
                    <a:pt x="62296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3"/>
                  </a:lnTo>
                  <a:lnTo>
                    <a:pt x="1695450" y="62297"/>
                  </a:lnTo>
                  <a:lnTo>
                    <a:pt x="1695450" y="680652"/>
                  </a:lnTo>
                  <a:lnTo>
                    <a:pt x="1681779" y="716957"/>
                  </a:lnTo>
                  <a:lnTo>
                    <a:pt x="1650245" y="739549"/>
                  </a:lnTo>
                  <a:lnTo>
                    <a:pt x="1637487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677398" y="28479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3" y="6750"/>
                  </a:lnTo>
                  <a:lnTo>
                    <a:pt x="41158" y="5075"/>
                  </a:lnTo>
                  <a:lnTo>
                    <a:pt x="45203" y="3400"/>
                  </a:lnTo>
                  <a:lnTo>
                    <a:pt x="49372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7" y="427"/>
                  </a:lnTo>
                  <a:lnTo>
                    <a:pt x="1641781" y="1281"/>
                  </a:lnTo>
                  <a:lnTo>
                    <a:pt x="1646075" y="2135"/>
                  </a:lnTo>
                  <a:lnTo>
                    <a:pt x="1650245" y="3400"/>
                  </a:lnTo>
                  <a:lnTo>
                    <a:pt x="1654289" y="5075"/>
                  </a:lnTo>
                  <a:lnTo>
                    <a:pt x="1658334" y="6750"/>
                  </a:lnTo>
                  <a:lnTo>
                    <a:pt x="1662176" y="8804"/>
                  </a:lnTo>
                  <a:lnTo>
                    <a:pt x="1665817" y="11236"/>
                  </a:lnTo>
                  <a:lnTo>
                    <a:pt x="1669457" y="13668"/>
                  </a:lnTo>
                  <a:lnTo>
                    <a:pt x="1672825" y="16432"/>
                  </a:lnTo>
                  <a:lnTo>
                    <a:pt x="1675920" y="19528"/>
                  </a:lnTo>
                  <a:lnTo>
                    <a:pt x="1679015" y="22623"/>
                  </a:lnTo>
                  <a:lnTo>
                    <a:pt x="1681779" y="25992"/>
                  </a:lnTo>
                  <a:lnTo>
                    <a:pt x="1684210" y="29632"/>
                  </a:lnTo>
                  <a:lnTo>
                    <a:pt x="1686642" y="33272"/>
                  </a:lnTo>
                  <a:lnTo>
                    <a:pt x="1695450" y="62297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95450" y="680652"/>
                  </a:lnTo>
                  <a:lnTo>
                    <a:pt x="1695022" y="684988"/>
                  </a:lnTo>
                  <a:lnTo>
                    <a:pt x="1679015" y="720325"/>
                  </a:lnTo>
                  <a:lnTo>
                    <a:pt x="1675920" y="723420"/>
                  </a:lnTo>
                  <a:lnTo>
                    <a:pt x="1672825" y="726516"/>
                  </a:lnTo>
                  <a:lnTo>
                    <a:pt x="1669457" y="729280"/>
                  </a:lnTo>
                  <a:lnTo>
                    <a:pt x="1665817" y="731712"/>
                  </a:lnTo>
                  <a:lnTo>
                    <a:pt x="1662176" y="734145"/>
                  </a:lnTo>
                  <a:lnTo>
                    <a:pt x="1658334" y="736199"/>
                  </a:lnTo>
                  <a:lnTo>
                    <a:pt x="1654289" y="737874"/>
                  </a:lnTo>
                  <a:lnTo>
                    <a:pt x="1650245" y="739549"/>
                  </a:lnTo>
                  <a:lnTo>
                    <a:pt x="1646075" y="740814"/>
                  </a:lnTo>
                  <a:lnTo>
                    <a:pt x="1641781" y="741668"/>
                  </a:lnTo>
                  <a:lnTo>
                    <a:pt x="1637487" y="742522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6" y="742949"/>
                  </a:lnTo>
                  <a:lnTo>
                    <a:pt x="57960" y="742522"/>
                  </a:lnTo>
                  <a:lnTo>
                    <a:pt x="53666" y="741668"/>
                  </a:lnTo>
                  <a:lnTo>
                    <a:pt x="49373" y="740814"/>
                  </a:lnTo>
                  <a:lnTo>
                    <a:pt x="45203" y="739549"/>
                  </a:lnTo>
                  <a:lnTo>
                    <a:pt x="41159" y="737874"/>
                  </a:lnTo>
                  <a:lnTo>
                    <a:pt x="37113" y="736199"/>
                  </a:lnTo>
                  <a:lnTo>
                    <a:pt x="33271" y="734145"/>
                  </a:lnTo>
                  <a:lnTo>
                    <a:pt x="29631" y="731712"/>
                  </a:lnTo>
                  <a:lnTo>
                    <a:pt x="25992" y="729280"/>
                  </a:lnTo>
                  <a:lnTo>
                    <a:pt x="22624" y="726516"/>
                  </a:lnTo>
                  <a:lnTo>
                    <a:pt x="19528" y="723420"/>
                  </a:lnTo>
                  <a:lnTo>
                    <a:pt x="16432" y="720325"/>
                  </a:lnTo>
                  <a:lnTo>
                    <a:pt x="13667" y="716957"/>
                  </a:lnTo>
                  <a:lnTo>
                    <a:pt x="11235" y="713316"/>
                  </a:lnTo>
                  <a:lnTo>
                    <a:pt x="8803" y="709676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391774" y="2939489"/>
              <a:ext cx="267335" cy="236220"/>
            </a:xfrm>
            <a:custGeom>
              <a:avLst/>
              <a:gdLst/>
              <a:ahLst/>
              <a:cxnLst/>
              <a:rect l="l" t="t" r="r" b="b"/>
              <a:pathLst>
                <a:path w="267334" h="236219">
                  <a:moveTo>
                    <a:pt x="147935" y="104127"/>
                  </a:moveTo>
                  <a:lnTo>
                    <a:pt x="127099" y="76363"/>
                  </a:lnTo>
                  <a:lnTo>
                    <a:pt x="143351" y="54694"/>
                  </a:lnTo>
                  <a:lnTo>
                    <a:pt x="151367" y="46250"/>
                  </a:lnTo>
                  <a:lnTo>
                    <a:pt x="160990" y="39965"/>
                  </a:lnTo>
                  <a:lnTo>
                    <a:pt x="171794" y="36044"/>
                  </a:lnTo>
                  <a:lnTo>
                    <a:pt x="183356" y="34691"/>
                  </a:lnTo>
                  <a:lnTo>
                    <a:pt x="200025" y="34691"/>
                  </a:lnTo>
                  <a:lnTo>
                    <a:pt x="200025" y="11303"/>
                  </a:lnTo>
                  <a:lnTo>
                    <a:pt x="204088" y="5208"/>
                  </a:lnTo>
                  <a:lnTo>
                    <a:pt x="216589" y="0"/>
                  </a:lnTo>
                  <a:lnTo>
                    <a:pt x="223725" y="1458"/>
                  </a:lnTo>
                  <a:lnTo>
                    <a:pt x="228518" y="6198"/>
                  </a:lnTo>
                  <a:lnTo>
                    <a:pt x="264981" y="42661"/>
                  </a:lnTo>
                  <a:lnTo>
                    <a:pt x="266752" y="46880"/>
                  </a:lnTo>
                  <a:lnTo>
                    <a:pt x="266752" y="55736"/>
                  </a:lnTo>
                  <a:lnTo>
                    <a:pt x="264981" y="59955"/>
                  </a:lnTo>
                  <a:lnTo>
                    <a:pt x="256907" y="68029"/>
                  </a:lnTo>
                  <a:lnTo>
                    <a:pt x="178095" y="68029"/>
                  </a:lnTo>
                  <a:lnTo>
                    <a:pt x="173146" y="70477"/>
                  </a:lnTo>
                  <a:lnTo>
                    <a:pt x="170021" y="74696"/>
                  </a:lnTo>
                  <a:lnTo>
                    <a:pt x="147935" y="104127"/>
                  </a:lnTo>
                  <a:close/>
                </a:path>
                <a:path w="267334" h="236219">
                  <a:moveTo>
                    <a:pt x="216537" y="236071"/>
                  </a:moveTo>
                  <a:lnTo>
                    <a:pt x="204035" y="230862"/>
                  </a:lnTo>
                  <a:lnTo>
                    <a:pt x="199972" y="224819"/>
                  </a:lnTo>
                  <a:lnTo>
                    <a:pt x="199972" y="201379"/>
                  </a:lnTo>
                  <a:lnTo>
                    <a:pt x="183356" y="201379"/>
                  </a:lnTo>
                  <a:lnTo>
                    <a:pt x="143351" y="181376"/>
                  </a:lnTo>
                  <a:lnTo>
                    <a:pt x="63341" y="74696"/>
                  </a:lnTo>
                  <a:lnTo>
                    <a:pt x="60215" y="70477"/>
                  </a:lnTo>
                  <a:lnTo>
                    <a:pt x="55267" y="68029"/>
                  </a:lnTo>
                  <a:lnTo>
                    <a:pt x="7448" y="68029"/>
                  </a:lnTo>
                  <a:lnTo>
                    <a:pt x="0" y="60580"/>
                  </a:lnTo>
                  <a:lnTo>
                    <a:pt x="0" y="42140"/>
                  </a:lnTo>
                  <a:lnTo>
                    <a:pt x="7448" y="34691"/>
                  </a:lnTo>
                  <a:lnTo>
                    <a:pt x="50006" y="34691"/>
                  </a:lnTo>
                  <a:lnTo>
                    <a:pt x="90011" y="54694"/>
                  </a:lnTo>
                  <a:lnTo>
                    <a:pt x="170021" y="161374"/>
                  </a:lnTo>
                  <a:lnTo>
                    <a:pt x="173146" y="165593"/>
                  </a:lnTo>
                  <a:lnTo>
                    <a:pt x="178095" y="168041"/>
                  </a:lnTo>
                  <a:lnTo>
                    <a:pt x="257011" y="168041"/>
                  </a:lnTo>
                  <a:lnTo>
                    <a:pt x="264981" y="176011"/>
                  </a:lnTo>
                  <a:lnTo>
                    <a:pt x="266752" y="180230"/>
                  </a:lnTo>
                  <a:lnTo>
                    <a:pt x="266752" y="189086"/>
                  </a:lnTo>
                  <a:lnTo>
                    <a:pt x="264981" y="193305"/>
                  </a:lnTo>
                  <a:lnTo>
                    <a:pt x="228518" y="229768"/>
                  </a:lnTo>
                  <a:lnTo>
                    <a:pt x="227476" y="230862"/>
                  </a:lnTo>
                  <a:lnTo>
                    <a:pt x="223673" y="234664"/>
                  </a:lnTo>
                  <a:lnTo>
                    <a:pt x="216537" y="236071"/>
                  </a:lnTo>
                  <a:close/>
                </a:path>
                <a:path w="267334" h="236219">
                  <a:moveTo>
                    <a:pt x="216589" y="102616"/>
                  </a:moveTo>
                  <a:lnTo>
                    <a:pt x="204088" y="97408"/>
                  </a:lnTo>
                  <a:lnTo>
                    <a:pt x="200025" y="91365"/>
                  </a:lnTo>
                  <a:lnTo>
                    <a:pt x="200025" y="68029"/>
                  </a:lnTo>
                  <a:lnTo>
                    <a:pt x="256907" y="68029"/>
                  </a:lnTo>
                  <a:lnTo>
                    <a:pt x="223725" y="101210"/>
                  </a:lnTo>
                  <a:lnTo>
                    <a:pt x="216589" y="102616"/>
                  </a:lnTo>
                  <a:close/>
                </a:path>
                <a:path w="267334" h="236219">
                  <a:moveTo>
                    <a:pt x="50006" y="201379"/>
                  </a:moveTo>
                  <a:lnTo>
                    <a:pt x="7448" y="201379"/>
                  </a:lnTo>
                  <a:lnTo>
                    <a:pt x="0" y="193930"/>
                  </a:lnTo>
                  <a:lnTo>
                    <a:pt x="0" y="175490"/>
                  </a:lnTo>
                  <a:lnTo>
                    <a:pt x="7448" y="168041"/>
                  </a:lnTo>
                  <a:lnTo>
                    <a:pt x="55267" y="168041"/>
                  </a:lnTo>
                  <a:lnTo>
                    <a:pt x="60215" y="165593"/>
                  </a:lnTo>
                  <a:lnTo>
                    <a:pt x="63341" y="161374"/>
                  </a:lnTo>
                  <a:lnTo>
                    <a:pt x="85427" y="131943"/>
                  </a:lnTo>
                  <a:lnTo>
                    <a:pt x="106263" y="159707"/>
                  </a:lnTo>
                  <a:lnTo>
                    <a:pt x="90011" y="181376"/>
                  </a:lnTo>
                  <a:lnTo>
                    <a:pt x="81995" y="189820"/>
                  </a:lnTo>
                  <a:lnTo>
                    <a:pt x="72372" y="196105"/>
                  </a:lnTo>
                  <a:lnTo>
                    <a:pt x="61567" y="200026"/>
                  </a:lnTo>
                  <a:lnTo>
                    <a:pt x="50006" y="201379"/>
                  </a:lnTo>
                  <a:close/>
                </a:path>
                <a:path w="267334" h="236219">
                  <a:moveTo>
                    <a:pt x="257011" y="168041"/>
                  </a:moveTo>
                  <a:lnTo>
                    <a:pt x="200025" y="168041"/>
                  </a:lnTo>
                  <a:lnTo>
                    <a:pt x="200025" y="144653"/>
                  </a:lnTo>
                  <a:lnTo>
                    <a:pt x="204088" y="138558"/>
                  </a:lnTo>
                  <a:lnTo>
                    <a:pt x="216589" y="133349"/>
                  </a:lnTo>
                  <a:lnTo>
                    <a:pt x="223725" y="134808"/>
                  </a:lnTo>
                  <a:lnTo>
                    <a:pt x="228518" y="139548"/>
                  </a:lnTo>
                  <a:lnTo>
                    <a:pt x="257011" y="168041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9733160" y="3339857"/>
            <a:ext cx="15836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 b="1">
                <a:solidFill>
                  <a:srgbClr val="0053A0"/>
                </a:solidFill>
                <a:latin typeface="Roboto"/>
                <a:cs typeface="Roboto"/>
              </a:rPr>
              <a:t>Hybrid</a:t>
            </a:r>
            <a:r>
              <a:rPr dirty="0" sz="12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65" b="1">
                <a:solidFill>
                  <a:srgbClr val="0053A0"/>
                </a:solidFill>
                <a:latin typeface="Roboto"/>
                <a:cs typeface="Roboto"/>
              </a:rPr>
              <a:t>Control</a:t>
            </a:r>
            <a:r>
              <a:rPr dirty="0" sz="1200" spc="-3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0" b="1">
                <a:solidFill>
                  <a:srgbClr val="0053A0"/>
                </a:solidFill>
                <a:latin typeface="Roboto"/>
                <a:cs typeface="Roboto"/>
              </a:rPr>
              <a:t>Strategies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6619874" y="3781449"/>
            <a:ext cx="1714500" cy="771525"/>
            <a:chOff x="6619874" y="3781449"/>
            <a:chExt cx="1714500" cy="771525"/>
          </a:xfrm>
        </p:grpSpPr>
        <p:sp>
          <p:nvSpPr>
            <p:cNvPr id="37" name="object 37" descr=""/>
            <p:cNvSpPr/>
            <p:nvPr/>
          </p:nvSpPr>
          <p:spPr>
            <a:xfrm>
              <a:off x="6629399" y="3800475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7" y="742949"/>
                  </a:lnTo>
                  <a:lnTo>
                    <a:pt x="57960" y="742522"/>
                  </a:lnTo>
                  <a:lnTo>
                    <a:pt x="22623" y="726516"/>
                  </a:lnTo>
                  <a:lnTo>
                    <a:pt x="2134" y="693575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3"/>
                  </a:lnTo>
                  <a:lnTo>
                    <a:pt x="1695449" y="62296"/>
                  </a:lnTo>
                  <a:lnTo>
                    <a:pt x="1695449" y="680652"/>
                  </a:lnTo>
                  <a:lnTo>
                    <a:pt x="1681779" y="716957"/>
                  </a:lnTo>
                  <a:lnTo>
                    <a:pt x="1650245" y="739548"/>
                  </a:lnTo>
                  <a:lnTo>
                    <a:pt x="1637488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629399" y="38004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3" y="6750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8" y="427"/>
                  </a:lnTo>
                  <a:lnTo>
                    <a:pt x="1641782" y="1281"/>
                  </a:lnTo>
                  <a:lnTo>
                    <a:pt x="1646076" y="2135"/>
                  </a:lnTo>
                  <a:lnTo>
                    <a:pt x="1679016" y="22623"/>
                  </a:lnTo>
                  <a:lnTo>
                    <a:pt x="1690373" y="41159"/>
                  </a:lnTo>
                  <a:lnTo>
                    <a:pt x="1692049" y="45203"/>
                  </a:lnTo>
                  <a:lnTo>
                    <a:pt x="1693314" y="49372"/>
                  </a:lnTo>
                  <a:lnTo>
                    <a:pt x="1694168" y="53667"/>
                  </a:lnTo>
                  <a:lnTo>
                    <a:pt x="1695022" y="57960"/>
                  </a:lnTo>
                  <a:lnTo>
                    <a:pt x="1695449" y="62296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84212" y="713317"/>
                  </a:lnTo>
                  <a:lnTo>
                    <a:pt x="1654289" y="737874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7" y="742949"/>
                  </a:lnTo>
                  <a:lnTo>
                    <a:pt x="57960" y="742522"/>
                  </a:lnTo>
                  <a:lnTo>
                    <a:pt x="53667" y="741668"/>
                  </a:lnTo>
                  <a:lnTo>
                    <a:pt x="49372" y="740814"/>
                  </a:lnTo>
                  <a:lnTo>
                    <a:pt x="29631" y="731712"/>
                  </a:lnTo>
                  <a:lnTo>
                    <a:pt x="25991" y="729280"/>
                  </a:lnTo>
                  <a:lnTo>
                    <a:pt x="22623" y="726516"/>
                  </a:lnTo>
                  <a:lnTo>
                    <a:pt x="19528" y="723420"/>
                  </a:lnTo>
                  <a:lnTo>
                    <a:pt x="16432" y="720325"/>
                  </a:lnTo>
                  <a:lnTo>
                    <a:pt x="13668" y="716957"/>
                  </a:lnTo>
                  <a:lnTo>
                    <a:pt x="11236" y="713317"/>
                  </a:lnTo>
                  <a:lnTo>
                    <a:pt x="8803" y="709676"/>
                  </a:lnTo>
                  <a:lnTo>
                    <a:pt x="6749" y="705834"/>
                  </a:lnTo>
                  <a:lnTo>
                    <a:pt x="5074" y="701789"/>
                  </a:lnTo>
                  <a:lnTo>
                    <a:pt x="3399" y="697744"/>
                  </a:lnTo>
                  <a:lnTo>
                    <a:pt x="2134" y="693575"/>
                  </a:lnTo>
                  <a:lnTo>
                    <a:pt x="1280" y="689281"/>
                  </a:lnTo>
                  <a:lnTo>
                    <a:pt x="426" y="684988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324725" y="3781449"/>
              <a:ext cx="300355" cy="266700"/>
            </a:xfrm>
            <a:custGeom>
              <a:avLst/>
              <a:gdLst/>
              <a:ahLst/>
              <a:cxnLst/>
              <a:rect l="l" t="t" r="r" b="b"/>
              <a:pathLst>
                <a:path w="300354" h="266700">
                  <a:moveTo>
                    <a:pt x="186671" y="91817"/>
                  </a:moveTo>
                  <a:lnTo>
                    <a:pt x="154522" y="91817"/>
                  </a:lnTo>
                  <a:lnTo>
                    <a:pt x="158220" y="90828"/>
                  </a:lnTo>
                  <a:lnTo>
                    <a:pt x="161345" y="88901"/>
                  </a:lnTo>
                  <a:lnTo>
                    <a:pt x="161813" y="88380"/>
                  </a:lnTo>
                  <a:lnTo>
                    <a:pt x="162022" y="88015"/>
                  </a:lnTo>
                  <a:lnTo>
                    <a:pt x="162230" y="87703"/>
                  </a:lnTo>
                  <a:lnTo>
                    <a:pt x="162360" y="87390"/>
                  </a:lnTo>
                  <a:lnTo>
                    <a:pt x="162438" y="84682"/>
                  </a:lnTo>
                  <a:lnTo>
                    <a:pt x="157387" y="81505"/>
                  </a:lnTo>
                  <a:lnTo>
                    <a:pt x="152908" y="80047"/>
                  </a:lnTo>
                  <a:lnTo>
                    <a:pt x="132232" y="73797"/>
                  </a:lnTo>
                  <a:lnTo>
                    <a:pt x="126295" y="70204"/>
                  </a:lnTo>
                  <a:lnTo>
                    <a:pt x="121171" y="66454"/>
                  </a:lnTo>
                  <a:lnTo>
                    <a:pt x="116751" y="61454"/>
                  </a:lnTo>
                  <a:lnTo>
                    <a:pt x="113639" y="55088"/>
                  </a:lnTo>
                  <a:lnTo>
                    <a:pt x="112664" y="48695"/>
                  </a:lnTo>
                  <a:lnTo>
                    <a:pt x="112552" y="47966"/>
                  </a:lnTo>
                  <a:lnTo>
                    <a:pt x="137388" y="18280"/>
                  </a:lnTo>
                  <a:lnTo>
                    <a:pt x="137388" y="5572"/>
                  </a:lnTo>
                  <a:lnTo>
                    <a:pt x="142960" y="0"/>
                  </a:lnTo>
                  <a:lnTo>
                    <a:pt x="156814" y="0"/>
                  </a:lnTo>
                  <a:lnTo>
                    <a:pt x="162386" y="5572"/>
                  </a:lnTo>
                  <a:lnTo>
                    <a:pt x="162490" y="17967"/>
                  </a:lnTo>
                  <a:lnTo>
                    <a:pt x="165824" y="18592"/>
                  </a:lnTo>
                  <a:lnTo>
                    <a:pt x="169053" y="19373"/>
                  </a:lnTo>
                  <a:lnTo>
                    <a:pt x="178635" y="21925"/>
                  </a:lnTo>
                  <a:lnTo>
                    <a:pt x="182593" y="28800"/>
                  </a:lnTo>
                  <a:lnTo>
                    <a:pt x="179176" y="41664"/>
                  </a:lnTo>
                  <a:lnTo>
                    <a:pt x="145981" y="41664"/>
                  </a:lnTo>
                  <a:lnTo>
                    <a:pt x="142127" y="42601"/>
                  </a:lnTo>
                  <a:lnTo>
                    <a:pt x="137492" y="47236"/>
                  </a:lnTo>
                  <a:lnTo>
                    <a:pt x="137961" y="47966"/>
                  </a:lnTo>
                  <a:lnTo>
                    <a:pt x="139210" y="48695"/>
                  </a:lnTo>
                  <a:lnTo>
                    <a:pt x="142231" y="50518"/>
                  </a:lnTo>
                  <a:lnTo>
                    <a:pt x="146710" y="51924"/>
                  </a:lnTo>
                  <a:lnTo>
                    <a:pt x="153480" y="53955"/>
                  </a:lnTo>
                  <a:lnTo>
                    <a:pt x="153949" y="54111"/>
                  </a:lnTo>
                  <a:lnTo>
                    <a:pt x="186226" y="77606"/>
                  </a:lnTo>
                  <a:lnTo>
                    <a:pt x="187317" y="84682"/>
                  </a:lnTo>
                  <a:lnTo>
                    <a:pt x="187437" y="85463"/>
                  </a:lnTo>
                  <a:lnTo>
                    <a:pt x="186791" y="90828"/>
                  </a:lnTo>
                  <a:lnTo>
                    <a:pt x="186671" y="91817"/>
                  </a:lnTo>
                  <a:close/>
                </a:path>
                <a:path w="300354" h="266700">
                  <a:moveTo>
                    <a:pt x="172177" y="46091"/>
                  </a:moveTo>
                  <a:lnTo>
                    <a:pt x="159834" y="42810"/>
                  </a:lnTo>
                  <a:lnTo>
                    <a:pt x="153991" y="41664"/>
                  </a:lnTo>
                  <a:lnTo>
                    <a:pt x="179176" y="41664"/>
                  </a:lnTo>
                  <a:lnTo>
                    <a:pt x="179052" y="42133"/>
                  </a:lnTo>
                  <a:lnTo>
                    <a:pt x="172177" y="46091"/>
                  </a:lnTo>
                  <a:close/>
                </a:path>
                <a:path w="300354" h="266700">
                  <a:moveTo>
                    <a:pt x="156866" y="133325"/>
                  </a:moveTo>
                  <a:lnTo>
                    <a:pt x="143012" y="133325"/>
                  </a:lnTo>
                  <a:lnTo>
                    <a:pt x="137440" y="127753"/>
                  </a:lnTo>
                  <a:lnTo>
                    <a:pt x="137440" y="114889"/>
                  </a:lnTo>
                  <a:lnTo>
                    <a:pt x="132492" y="113691"/>
                  </a:lnTo>
                  <a:lnTo>
                    <a:pt x="121972" y="110098"/>
                  </a:lnTo>
                  <a:lnTo>
                    <a:pt x="120982" y="109785"/>
                  </a:lnTo>
                  <a:lnTo>
                    <a:pt x="114420" y="107598"/>
                  </a:lnTo>
                  <a:lnTo>
                    <a:pt x="110879" y="100515"/>
                  </a:lnTo>
                  <a:lnTo>
                    <a:pt x="114924" y="88380"/>
                  </a:lnTo>
                  <a:lnTo>
                    <a:pt x="115045" y="88015"/>
                  </a:lnTo>
                  <a:lnTo>
                    <a:pt x="115149" y="87703"/>
                  </a:lnTo>
                  <a:lnTo>
                    <a:pt x="115253" y="87390"/>
                  </a:lnTo>
                  <a:lnTo>
                    <a:pt x="122336" y="83849"/>
                  </a:lnTo>
                  <a:lnTo>
                    <a:pt x="144887" y="91453"/>
                  </a:lnTo>
                  <a:lnTo>
                    <a:pt x="154522" y="91817"/>
                  </a:lnTo>
                  <a:lnTo>
                    <a:pt x="186671" y="91817"/>
                  </a:lnTo>
                  <a:lnTo>
                    <a:pt x="186451" y="93651"/>
                  </a:lnTo>
                  <a:lnTo>
                    <a:pt x="162438" y="115306"/>
                  </a:lnTo>
                  <a:lnTo>
                    <a:pt x="162438" y="127753"/>
                  </a:lnTo>
                  <a:lnTo>
                    <a:pt x="156866" y="133325"/>
                  </a:lnTo>
                  <a:close/>
                </a:path>
                <a:path w="300354" h="266700">
                  <a:moveTo>
                    <a:pt x="192541" y="199988"/>
                  </a:moveTo>
                  <a:lnTo>
                    <a:pt x="35831" y="199988"/>
                  </a:lnTo>
                  <a:lnTo>
                    <a:pt x="59215" y="181239"/>
                  </a:lnTo>
                  <a:lnTo>
                    <a:pt x="68581" y="174962"/>
                  </a:lnTo>
                  <a:lnTo>
                    <a:pt x="78797" y="170394"/>
                  </a:lnTo>
                  <a:lnTo>
                    <a:pt x="89638" y="167602"/>
                  </a:lnTo>
                  <a:lnTo>
                    <a:pt x="100879" y="166657"/>
                  </a:lnTo>
                  <a:lnTo>
                    <a:pt x="192541" y="166657"/>
                  </a:lnTo>
                  <a:lnTo>
                    <a:pt x="199988" y="174104"/>
                  </a:lnTo>
                  <a:lnTo>
                    <a:pt x="199988" y="192541"/>
                  </a:lnTo>
                  <a:lnTo>
                    <a:pt x="192541" y="199988"/>
                  </a:lnTo>
                  <a:close/>
                </a:path>
                <a:path w="300354" h="266700">
                  <a:moveTo>
                    <a:pt x="274674" y="216654"/>
                  </a:moveTo>
                  <a:lnTo>
                    <a:pt x="204467" y="216654"/>
                  </a:lnTo>
                  <a:lnTo>
                    <a:pt x="266807" y="170719"/>
                  </a:lnTo>
                  <a:lnTo>
                    <a:pt x="274308" y="167229"/>
                  </a:lnTo>
                  <a:lnTo>
                    <a:pt x="282282" y="166898"/>
                  </a:lnTo>
                  <a:lnTo>
                    <a:pt x="289797" y="169584"/>
                  </a:lnTo>
                  <a:lnTo>
                    <a:pt x="295920" y="175146"/>
                  </a:lnTo>
                  <a:lnTo>
                    <a:pt x="299411" y="182646"/>
                  </a:lnTo>
                  <a:lnTo>
                    <a:pt x="299742" y="190620"/>
                  </a:lnTo>
                  <a:lnTo>
                    <a:pt x="297056" y="198135"/>
                  </a:lnTo>
                  <a:lnTo>
                    <a:pt x="291494" y="204259"/>
                  </a:lnTo>
                  <a:lnTo>
                    <a:pt x="274674" y="216654"/>
                  </a:lnTo>
                  <a:close/>
                </a:path>
                <a:path w="300354" h="266700">
                  <a:moveTo>
                    <a:pt x="183531" y="266651"/>
                  </a:moveTo>
                  <a:lnTo>
                    <a:pt x="7447" y="266651"/>
                  </a:lnTo>
                  <a:lnTo>
                    <a:pt x="0" y="259204"/>
                  </a:lnTo>
                  <a:lnTo>
                    <a:pt x="0" y="207436"/>
                  </a:lnTo>
                  <a:lnTo>
                    <a:pt x="7447" y="199988"/>
                  </a:lnTo>
                  <a:lnTo>
                    <a:pt x="137075" y="199988"/>
                  </a:lnTo>
                  <a:lnTo>
                    <a:pt x="133325" y="203738"/>
                  </a:lnTo>
                  <a:lnTo>
                    <a:pt x="133325" y="212904"/>
                  </a:lnTo>
                  <a:lnTo>
                    <a:pt x="137075" y="216654"/>
                  </a:lnTo>
                  <a:lnTo>
                    <a:pt x="274674" y="216654"/>
                  </a:lnTo>
                  <a:lnTo>
                    <a:pt x="225560" y="252850"/>
                  </a:lnTo>
                  <a:lnTo>
                    <a:pt x="215983" y="258785"/>
                  </a:lnTo>
                  <a:lnTo>
                    <a:pt x="205659" y="263110"/>
                  </a:lnTo>
                  <a:lnTo>
                    <a:pt x="194778" y="265754"/>
                  </a:lnTo>
                  <a:lnTo>
                    <a:pt x="183531" y="266651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6773118" y="4161203"/>
            <a:ext cx="140843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6080" marR="5080" indent="-374015">
              <a:lnSpc>
                <a:spcPct val="114599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Market</a:t>
            </a:r>
            <a:r>
              <a:rPr dirty="0" sz="12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80" b="1">
                <a:solidFill>
                  <a:srgbClr val="0053A0"/>
                </a:solidFill>
                <a:latin typeface="Roboto"/>
                <a:cs typeface="Roboto"/>
              </a:rPr>
              <a:t>Mechanisms</a:t>
            </a:r>
            <a:r>
              <a:rPr dirty="0" sz="1200" spc="-1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50" b="1">
                <a:solidFill>
                  <a:srgbClr val="0053A0"/>
                </a:solidFill>
                <a:latin typeface="Roboto"/>
                <a:cs typeface="Roboto"/>
              </a:rPr>
              <a:t>&amp; </a:t>
            </a:r>
            <a:r>
              <a:rPr dirty="0" sz="1200" spc="-10" b="1">
                <a:solidFill>
                  <a:srgbClr val="0053A0"/>
                </a:solidFill>
                <a:latin typeface="Roboto"/>
                <a:cs typeface="Roboto"/>
              </a:rPr>
              <a:t>Incentives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9667873" y="3781468"/>
            <a:ext cx="1714500" cy="771525"/>
            <a:chOff x="9667873" y="3781468"/>
            <a:chExt cx="1714500" cy="771525"/>
          </a:xfrm>
        </p:grpSpPr>
        <p:sp>
          <p:nvSpPr>
            <p:cNvPr id="42" name="object 42" descr=""/>
            <p:cNvSpPr/>
            <p:nvPr/>
          </p:nvSpPr>
          <p:spPr>
            <a:xfrm>
              <a:off x="9677398" y="3800475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6" y="742949"/>
                  </a:lnTo>
                  <a:lnTo>
                    <a:pt x="57960" y="742522"/>
                  </a:lnTo>
                  <a:lnTo>
                    <a:pt x="22624" y="726516"/>
                  </a:lnTo>
                  <a:lnTo>
                    <a:pt x="2134" y="693575"/>
                  </a:lnTo>
                  <a:lnTo>
                    <a:pt x="0" y="680652"/>
                  </a:lnTo>
                  <a:lnTo>
                    <a:pt x="0" y="676274"/>
                  </a:lnTo>
                  <a:lnTo>
                    <a:pt x="0" y="62296"/>
                  </a:lnTo>
                  <a:lnTo>
                    <a:pt x="13667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3"/>
                  </a:lnTo>
                  <a:lnTo>
                    <a:pt x="1695450" y="62296"/>
                  </a:lnTo>
                  <a:lnTo>
                    <a:pt x="1695450" y="680652"/>
                  </a:lnTo>
                  <a:lnTo>
                    <a:pt x="1681779" y="716957"/>
                  </a:lnTo>
                  <a:lnTo>
                    <a:pt x="1650245" y="739548"/>
                  </a:lnTo>
                  <a:lnTo>
                    <a:pt x="1637487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677398" y="38004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3" y="6750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7" y="427"/>
                  </a:lnTo>
                  <a:lnTo>
                    <a:pt x="1641781" y="1281"/>
                  </a:lnTo>
                  <a:lnTo>
                    <a:pt x="1646075" y="2135"/>
                  </a:lnTo>
                  <a:lnTo>
                    <a:pt x="1650245" y="3399"/>
                  </a:lnTo>
                  <a:lnTo>
                    <a:pt x="1654289" y="5075"/>
                  </a:lnTo>
                  <a:lnTo>
                    <a:pt x="1658334" y="6750"/>
                  </a:lnTo>
                  <a:lnTo>
                    <a:pt x="1675920" y="19528"/>
                  </a:lnTo>
                  <a:lnTo>
                    <a:pt x="1679015" y="22623"/>
                  </a:lnTo>
                  <a:lnTo>
                    <a:pt x="1681779" y="25992"/>
                  </a:lnTo>
                  <a:lnTo>
                    <a:pt x="1684210" y="29632"/>
                  </a:lnTo>
                  <a:lnTo>
                    <a:pt x="1686642" y="33272"/>
                  </a:lnTo>
                  <a:lnTo>
                    <a:pt x="1694167" y="53667"/>
                  </a:lnTo>
                  <a:lnTo>
                    <a:pt x="1695022" y="57960"/>
                  </a:lnTo>
                  <a:lnTo>
                    <a:pt x="1695450" y="62296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95450" y="680652"/>
                  </a:lnTo>
                  <a:lnTo>
                    <a:pt x="1695022" y="684988"/>
                  </a:lnTo>
                  <a:lnTo>
                    <a:pt x="1679015" y="720325"/>
                  </a:lnTo>
                  <a:lnTo>
                    <a:pt x="1665817" y="731712"/>
                  </a:lnTo>
                  <a:lnTo>
                    <a:pt x="1662176" y="734144"/>
                  </a:lnTo>
                  <a:lnTo>
                    <a:pt x="1658334" y="736198"/>
                  </a:lnTo>
                  <a:lnTo>
                    <a:pt x="1654289" y="737874"/>
                  </a:lnTo>
                  <a:lnTo>
                    <a:pt x="1650245" y="739549"/>
                  </a:lnTo>
                  <a:lnTo>
                    <a:pt x="1646075" y="740814"/>
                  </a:lnTo>
                  <a:lnTo>
                    <a:pt x="1641781" y="741668"/>
                  </a:lnTo>
                  <a:lnTo>
                    <a:pt x="1637487" y="742522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6" y="742949"/>
                  </a:lnTo>
                  <a:lnTo>
                    <a:pt x="57960" y="742522"/>
                  </a:lnTo>
                  <a:lnTo>
                    <a:pt x="53666" y="741668"/>
                  </a:lnTo>
                  <a:lnTo>
                    <a:pt x="49373" y="740814"/>
                  </a:lnTo>
                  <a:lnTo>
                    <a:pt x="45203" y="739549"/>
                  </a:lnTo>
                  <a:lnTo>
                    <a:pt x="41159" y="737874"/>
                  </a:lnTo>
                  <a:lnTo>
                    <a:pt x="37113" y="736198"/>
                  </a:lnTo>
                  <a:lnTo>
                    <a:pt x="19528" y="723420"/>
                  </a:lnTo>
                  <a:lnTo>
                    <a:pt x="16432" y="720325"/>
                  </a:lnTo>
                  <a:lnTo>
                    <a:pt x="13667" y="716957"/>
                  </a:lnTo>
                  <a:lnTo>
                    <a:pt x="11235" y="713317"/>
                  </a:lnTo>
                  <a:lnTo>
                    <a:pt x="8803" y="709676"/>
                  </a:lnTo>
                  <a:lnTo>
                    <a:pt x="0" y="680652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353674" y="3781468"/>
              <a:ext cx="342900" cy="266700"/>
            </a:xfrm>
            <a:custGeom>
              <a:avLst/>
              <a:gdLst/>
              <a:ahLst/>
              <a:cxnLst/>
              <a:rect l="l" t="t" r="r" b="b"/>
              <a:pathLst>
                <a:path w="342900" h="266700">
                  <a:moveTo>
                    <a:pt x="214312" y="99979"/>
                  </a:moveTo>
                  <a:lnTo>
                    <a:pt x="128587" y="99979"/>
                  </a:lnTo>
                  <a:lnTo>
                    <a:pt x="118579" y="98014"/>
                  </a:lnTo>
                  <a:lnTo>
                    <a:pt x="110404" y="92657"/>
                  </a:lnTo>
                  <a:lnTo>
                    <a:pt x="104891" y="84712"/>
                  </a:lnTo>
                  <a:lnTo>
                    <a:pt x="102869" y="74984"/>
                  </a:lnTo>
                  <a:lnTo>
                    <a:pt x="102869" y="24994"/>
                  </a:lnTo>
                  <a:lnTo>
                    <a:pt x="104891" y="15267"/>
                  </a:lnTo>
                  <a:lnTo>
                    <a:pt x="110404" y="7322"/>
                  </a:lnTo>
                  <a:lnTo>
                    <a:pt x="118579" y="1964"/>
                  </a:lnTo>
                  <a:lnTo>
                    <a:pt x="128587" y="0"/>
                  </a:lnTo>
                  <a:lnTo>
                    <a:pt x="214312" y="0"/>
                  </a:lnTo>
                  <a:lnTo>
                    <a:pt x="224320" y="1964"/>
                  </a:lnTo>
                  <a:lnTo>
                    <a:pt x="232495" y="7322"/>
                  </a:lnTo>
                  <a:lnTo>
                    <a:pt x="238008" y="15267"/>
                  </a:lnTo>
                  <a:lnTo>
                    <a:pt x="240029" y="24994"/>
                  </a:lnTo>
                  <a:lnTo>
                    <a:pt x="240029" y="33326"/>
                  </a:lnTo>
                  <a:lnTo>
                    <a:pt x="137159" y="33326"/>
                  </a:lnTo>
                  <a:lnTo>
                    <a:pt x="137159" y="66653"/>
                  </a:lnTo>
                  <a:lnTo>
                    <a:pt x="240029" y="66653"/>
                  </a:lnTo>
                  <a:lnTo>
                    <a:pt x="240029" y="74984"/>
                  </a:lnTo>
                  <a:lnTo>
                    <a:pt x="238008" y="84712"/>
                  </a:lnTo>
                  <a:lnTo>
                    <a:pt x="232495" y="92657"/>
                  </a:lnTo>
                  <a:lnTo>
                    <a:pt x="224320" y="98014"/>
                  </a:lnTo>
                  <a:lnTo>
                    <a:pt x="214312" y="99979"/>
                  </a:lnTo>
                  <a:close/>
                </a:path>
                <a:path w="342900" h="266700">
                  <a:moveTo>
                    <a:pt x="240029" y="66653"/>
                  </a:moveTo>
                  <a:lnTo>
                    <a:pt x="205739" y="66653"/>
                  </a:lnTo>
                  <a:lnTo>
                    <a:pt x="205739" y="33326"/>
                  </a:lnTo>
                  <a:lnTo>
                    <a:pt x="240029" y="33326"/>
                  </a:lnTo>
                  <a:lnTo>
                    <a:pt x="240029" y="66653"/>
                  </a:lnTo>
                  <a:close/>
                </a:path>
                <a:path w="342900" h="266700">
                  <a:moveTo>
                    <a:pt x="188594" y="116643"/>
                  </a:moveTo>
                  <a:lnTo>
                    <a:pt x="154304" y="116643"/>
                  </a:lnTo>
                  <a:lnTo>
                    <a:pt x="154304" y="99979"/>
                  </a:lnTo>
                  <a:lnTo>
                    <a:pt x="188594" y="99979"/>
                  </a:lnTo>
                  <a:lnTo>
                    <a:pt x="188594" y="116643"/>
                  </a:lnTo>
                  <a:close/>
                </a:path>
                <a:path w="342900" h="266700">
                  <a:moveTo>
                    <a:pt x="335238" y="149969"/>
                  </a:moveTo>
                  <a:lnTo>
                    <a:pt x="7661" y="149969"/>
                  </a:lnTo>
                  <a:lnTo>
                    <a:pt x="0" y="142523"/>
                  </a:lnTo>
                  <a:lnTo>
                    <a:pt x="0" y="124089"/>
                  </a:lnTo>
                  <a:lnTo>
                    <a:pt x="7661" y="116643"/>
                  </a:lnTo>
                  <a:lnTo>
                    <a:pt x="335238" y="116643"/>
                  </a:lnTo>
                  <a:lnTo>
                    <a:pt x="342899" y="124089"/>
                  </a:lnTo>
                  <a:lnTo>
                    <a:pt x="342899" y="142523"/>
                  </a:lnTo>
                  <a:lnTo>
                    <a:pt x="335238" y="149969"/>
                  </a:lnTo>
                  <a:close/>
                </a:path>
                <a:path w="342900" h="266700">
                  <a:moveTo>
                    <a:pt x="102869" y="166633"/>
                  </a:moveTo>
                  <a:lnTo>
                    <a:pt x="68579" y="166633"/>
                  </a:lnTo>
                  <a:lnTo>
                    <a:pt x="68579" y="149969"/>
                  </a:lnTo>
                  <a:lnTo>
                    <a:pt x="102869" y="149969"/>
                  </a:lnTo>
                  <a:lnTo>
                    <a:pt x="102869" y="166633"/>
                  </a:lnTo>
                  <a:close/>
                </a:path>
                <a:path w="342900" h="266700">
                  <a:moveTo>
                    <a:pt x="274319" y="166633"/>
                  </a:moveTo>
                  <a:lnTo>
                    <a:pt x="240029" y="166633"/>
                  </a:lnTo>
                  <a:lnTo>
                    <a:pt x="240029" y="149969"/>
                  </a:lnTo>
                  <a:lnTo>
                    <a:pt x="274319" y="149969"/>
                  </a:lnTo>
                  <a:lnTo>
                    <a:pt x="274319" y="166633"/>
                  </a:lnTo>
                  <a:close/>
                </a:path>
                <a:path w="342900" h="266700">
                  <a:moveTo>
                    <a:pt x="128587" y="266613"/>
                  </a:moveTo>
                  <a:lnTo>
                    <a:pt x="42862" y="266613"/>
                  </a:lnTo>
                  <a:lnTo>
                    <a:pt x="32854" y="264648"/>
                  </a:lnTo>
                  <a:lnTo>
                    <a:pt x="24679" y="259290"/>
                  </a:lnTo>
                  <a:lnTo>
                    <a:pt x="19166" y="251345"/>
                  </a:lnTo>
                  <a:lnTo>
                    <a:pt x="17144" y="241618"/>
                  </a:lnTo>
                  <a:lnTo>
                    <a:pt x="17144" y="191628"/>
                  </a:lnTo>
                  <a:lnTo>
                    <a:pt x="19166" y="181901"/>
                  </a:lnTo>
                  <a:lnTo>
                    <a:pt x="24679" y="173955"/>
                  </a:lnTo>
                  <a:lnTo>
                    <a:pt x="32854" y="168598"/>
                  </a:lnTo>
                  <a:lnTo>
                    <a:pt x="42862" y="166633"/>
                  </a:lnTo>
                  <a:lnTo>
                    <a:pt x="128587" y="166633"/>
                  </a:lnTo>
                  <a:lnTo>
                    <a:pt x="138595" y="168598"/>
                  </a:lnTo>
                  <a:lnTo>
                    <a:pt x="146770" y="173955"/>
                  </a:lnTo>
                  <a:lnTo>
                    <a:pt x="152283" y="181901"/>
                  </a:lnTo>
                  <a:lnTo>
                    <a:pt x="154304" y="191628"/>
                  </a:lnTo>
                  <a:lnTo>
                    <a:pt x="154304" y="199959"/>
                  </a:lnTo>
                  <a:lnTo>
                    <a:pt x="51434" y="199959"/>
                  </a:lnTo>
                  <a:lnTo>
                    <a:pt x="51434" y="233286"/>
                  </a:lnTo>
                  <a:lnTo>
                    <a:pt x="154304" y="233286"/>
                  </a:lnTo>
                  <a:lnTo>
                    <a:pt x="154304" y="241618"/>
                  </a:lnTo>
                  <a:lnTo>
                    <a:pt x="152283" y="251345"/>
                  </a:lnTo>
                  <a:lnTo>
                    <a:pt x="146770" y="259290"/>
                  </a:lnTo>
                  <a:lnTo>
                    <a:pt x="138595" y="264648"/>
                  </a:lnTo>
                  <a:lnTo>
                    <a:pt x="128587" y="266613"/>
                  </a:lnTo>
                  <a:close/>
                </a:path>
                <a:path w="342900" h="266700">
                  <a:moveTo>
                    <a:pt x="300037" y="266613"/>
                  </a:moveTo>
                  <a:lnTo>
                    <a:pt x="214312" y="266613"/>
                  </a:lnTo>
                  <a:lnTo>
                    <a:pt x="204304" y="264648"/>
                  </a:lnTo>
                  <a:lnTo>
                    <a:pt x="196129" y="259290"/>
                  </a:lnTo>
                  <a:lnTo>
                    <a:pt x="190616" y="251345"/>
                  </a:lnTo>
                  <a:lnTo>
                    <a:pt x="188594" y="241618"/>
                  </a:lnTo>
                  <a:lnTo>
                    <a:pt x="188594" y="191628"/>
                  </a:lnTo>
                  <a:lnTo>
                    <a:pt x="190616" y="181901"/>
                  </a:lnTo>
                  <a:lnTo>
                    <a:pt x="196129" y="173955"/>
                  </a:lnTo>
                  <a:lnTo>
                    <a:pt x="204304" y="168598"/>
                  </a:lnTo>
                  <a:lnTo>
                    <a:pt x="214312" y="166633"/>
                  </a:lnTo>
                  <a:lnTo>
                    <a:pt x="300037" y="166633"/>
                  </a:lnTo>
                  <a:lnTo>
                    <a:pt x="310045" y="168598"/>
                  </a:lnTo>
                  <a:lnTo>
                    <a:pt x="318220" y="173955"/>
                  </a:lnTo>
                  <a:lnTo>
                    <a:pt x="323733" y="181901"/>
                  </a:lnTo>
                  <a:lnTo>
                    <a:pt x="325754" y="191628"/>
                  </a:lnTo>
                  <a:lnTo>
                    <a:pt x="325754" y="199959"/>
                  </a:lnTo>
                  <a:lnTo>
                    <a:pt x="222884" y="199959"/>
                  </a:lnTo>
                  <a:lnTo>
                    <a:pt x="222884" y="233286"/>
                  </a:lnTo>
                  <a:lnTo>
                    <a:pt x="325754" y="233286"/>
                  </a:lnTo>
                  <a:lnTo>
                    <a:pt x="325754" y="241618"/>
                  </a:lnTo>
                  <a:lnTo>
                    <a:pt x="323733" y="251345"/>
                  </a:lnTo>
                  <a:lnTo>
                    <a:pt x="318220" y="259290"/>
                  </a:lnTo>
                  <a:lnTo>
                    <a:pt x="310045" y="264648"/>
                  </a:lnTo>
                  <a:lnTo>
                    <a:pt x="300037" y="266613"/>
                  </a:lnTo>
                  <a:close/>
                </a:path>
                <a:path w="342900" h="266700">
                  <a:moveTo>
                    <a:pt x="154304" y="233286"/>
                  </a:moveTo>
                  <a:lnTo>
                    <a:pt x="120014" y="233286"/>
                  </a:lnTo>
                  <a:lnTo>
                    <a:pt x="120014" y="199959"/>
                  </a:lnTo>
                  <a:lnTo>
                    <a:pt x="154304" y="199959"/>
                  </a:lnTo>
                  <a:lnTo>
                    <a:pt x="154304" y="233286"/>
                  </a:lnTo>
                  <a:close/>
                </a:path>
                <a:path w="342900" h="266700">
                  <a:moveTo>
                    <a:pt x="325754" y="233286"/>
                  </a:moveTo>
                  <a:lnTo>
                    <a:pt x="291464" y="233286"/>
                  </a:lnTo>
                  <a:lnTo>
                    <a:pt x="291464" y="199959"/>
                  </a:lnTo>
                  <a:lnTo>
                    <a:pt x="325754" y="199959"/>
                  </a:lnTo>
                  <a:lnTo>
                    <a:pt x="325754" y="233286"/>
                  </a:lnTo>
                  <a:close/>
                </a:path>
              </a:pathLst>
            </a:custGeom>
            <a:solidFill>
              <a:srgbClr val="0053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0024267" y="4161203"/>
            <a:ext cx="100203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045" marR="5080" indent="-93980">
              <a:lnSpc>
                <a:spcPct val="114599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Communication </a:t>
            </a:r>
            <a:r>
              <a:rPr dirty="0" sz="1200" spc="-10" b="1">
                <a:solidFill>
                  <a:srgbClr val="0053A0"/>
                </a:solidFill>
                <a:latin typeface="Roboto"/>
                <a:cs typeface="Roboto"/>
              </a:rPr>
              <a:t>Optimization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8143873" y="4743449"/>
            <a:ext cx="1714500" cy="762000"/>
            <a:chOff x="8143873" y="4743449"/>
            <a:chExt cx="1714500" cy="762000"/>
          </a:xfrm>
        </p:grpSpPr>
        <p:sp>
          <p:nvSpPr>
            <p:cNvPr id="47" name="object 47" descr=""/>
            <p:cNvSpPr/>
            <p:nvPr/>
          </p:nvSpPr>
          <p:spPr>
            <a:xfrm>
              <a:off x="8153398" y="47529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1633153" y="742949"/>
                  </a:moveTo>
                  <a:lnTo>
                    <a:pt x="62297" y="742949"/>
                  </a:lnTo>
                  <a:lnTo>
                    <a:pt x="57960" y="742522"/>
                  </a:lnTo>
                  <a:lnTo>
                    <a:pt x="22624" y="726516"/>
                  </a:lnTo>
                  <a:lnTo>
                    <a:pt x="2134" y="693575"/>
                  </a:lnTo>
                  <a:lnTo>
                    <a:pt x="0" y="680651"/>
                  </a:lnTo>
                  <a:lnTo>
                    <a:pt x="0" y="6762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633153" y="0"/>
                  </a:lnTo>
                  <a:lnTo>
                    <a:pt x="1669457" y="13668"/>
                  </a:lnTo>
                  <a:lnTo>
                    <a:pt x="1692049" y="45203"/>
                  </a:lnTo>
                  <a:lnTo>
                    <a:pt x="1695450" y="62296"/>
                  </a:lnTo>
                  <a:lnTo>
                    <a:pt x="1695450" y="680651"/>
                  </a:lnTo>
                  <a:lnTo>
                    <a:pt x="1681780" y="716956"/>
                  </a:lnTo>
                  <a:lnTo>
                    <a:pt x="1650245" y="739548"/>
                  </a:lnTo>
                  <a:lnTo>
                    <a:pt x="1637488" y="742522"/>
                  </a:lnTo>
                  <a:lnTo>
                    <a:pt x="1633153" y="742949"/>
                  </a:lnTo>
                  <a:close/>
                </a:path>
              </a:pathLst>
            </a:custGeom>
            <a:solidFill>
              <a:srgbClr val="E6F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153398" y="4752974"/>
              <a:ext cx="1695450" cy="742950"/>
            </a:xfrm>
            <a:custGeom>
              <a:avLst/>
              <a:gdLst/>
              <a:ahLst/>
              <a:cxnLst/>
              <a:rect l="l" t="t" r="r" b="b"/>
              <a:pathLst>
                <a:path w="1695450" h="742950">
                  <a:moveTo>
                    <a:pt x="0" y="6762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0" y="37114"/>
                  </a:lnTo>
                  <a:lnTo>
                    <a:pt x="8804" y="33271"/>
                  </a:lnTo>
                  <a:lnTo>
                    <a:pt x="11237" y="29631"/>
                  </a:lnTo>
                  <a:lnTo>
                    <a:pt x="13668" y="25991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628775" y="0"/>
                  </a:lnTo>
                  <a:lnTo>
                    <a:pt x="1633153" y="0"/>
                  </a:lnTo>
                  <a:lnTo>
                    <a:pt x="1637488" y="427"/>
                  </a:lnTo>
                  <a:lnTo>
                    <a:pt x="1672825" y="16432"/>
                  </a:lnTo>
                  <a:lnTo>
                    <a:pt x="1684212" y="29631"/>
                  </a:lnTo>
                  <a:lnTo>
                    <a:pt x="1686645" y="33272"/>
                  </a:lnTo>
                  <a:lnTo>
                    <a:pt x="1694169" y="53667"/>
                  </a:lnTo>
                  <a:lnTo>
                    <a:pt x="1695023" y="57960"/>
                  </a:lnTo>
                  <a:lnTo>
                    <a:pt x="1695450" y="62296"/>
                  </a:lnTo>
                  <a:lnTo>
                    <a:pt x="1695450" y="66674"/>
                  </a:lnTo>
                  <a:lnTo>
                    <a:pt x="1695450" y="676274"/>
                  </a:lnTo>
                  <a:lnTo>
                    <a:pt x="1695450" y="680651"/>
                  </a:lnTo>
                  <a:lnTo>
                    <a:pt x="1695023" y="684987"/>
                  </a:lnTo>
                  <a:lnTo>
                    <a:pt x="1679016" y="720325"/>
                  </a:lnTo>
                  <a:lnTo>
                    <a:pt x="1654290" y="737873"/>
                  </a:lnTo>
                  <a:lnTo>
                    <a:pt x="1650245" y="739548"/>
                  </a:lnTo>
                  <a:lnTo>
                    <a:pt x="1646076" y="740813"/>
                  </a:lnTo>
                  <a:lnTo>
                    <a:pt x="1641782" y="741667"/>
                  </a:lnTo>
                  <a:lnTo>
                    <a:pt x="1637488" y="742522"/>
                  </a:lnTo>
                  <a:lnTo>
                    <a:pt x="1633153" y="742949"/>
                  </a:lnTo>
                  <a:lnTo>
                    <a:pt x="1628775" y="742949"/>
                  </a:lnTo>
                  <a:lnTo>
                    <a:pt x="66675" y="742949"/>
                  </a:lnTo>
                  <a:lnTo>
                    <a:pt x="62297" y="742949"/>
                  </a:lnTo>
                  <a:lnTo>
                    <a:pt x="57960" y="742522"/>
                  </a:lnTo>
                  <a:lnTo>
                    <a:pt x="53667" y="741667"/>
                  </a:lnTo>
                  <a:lnTo>
                    <a:pt x="49373" y="740813"/>
                  </a:lnTo>
                  <a:lnTo>
                    <a:pt x="45203" y="739548"/>
                  </a:lnTo>
                  <a:lnTo>
                    <a:pt x="41159" y="737873"/>
                  </a:lnTo>
                  <a:lnTo>
                    <a:pt x="37114" y="736198"/>
                  </a:lnTo>
                  <a:lnTo>
                    <a:pt x="8804" y="709676"/>
                  </a:lnTo>
                  <a:lnTo>
                    <a:pt x="5075" y="701789"/>
                  </a:lnTo>
                  <a:lnTo>
                    <a:pt x="3399" y="697744"/>
                  </a:lnTo>
                  <a:lnTo>
                    <a:pt x="2134" y="693575"/>
                  </a:lnTo>
                  <a:lnTo>
                    <a:pt x="1280" y="689281"/>
                  </a:lnTo>
                  <a:lnTo>
                    <a:pt x="426" y="684987"/>
                  </a:lnTo>
                  <a:lnTo>
                    <a:pt x="0" y="680651"/>
                  </a:lnTo>
                  <a:lnTo>
                    <a:pt x="0" y="676274"/>
                  </a:lnTo>
                  <a:close/>
                </a:path>
              </a:pathLst>
            </a:custGeom>
            <a:ln w="19049">
              <a:solidFill>
                <a:srgbClr val="0053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84443" y="4845843"/>
              <a:ext cx="233362" cy="233362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8263334" y="5244857"/>
            <a:ext cx="1475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0053A0"/>
                </a:solidFill>
                <a:latin typeface="Roboto"/>
                <a:cs typeface="Roboto"/>
              </a:rPr>
              <a:t>Large-Scale</a:t>
            </a:r>
            <a:r>
              <a:rPr dirty="0" sz="1200" spc="40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200" spc="-45" b="1">
                <a:solidFill>
                  <a:srgbClr val="0053A0"/>
                </a:solidFill>
                <a:latin typeface="Roboto"/>
                <a:cs typeface="Roboto"/>
              </a:rPr>
              <a:t>Integration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60945" y="6364478"/>
            <a:ext cx="5170170" cy="488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5">
                <a:solidFill>
                  <a:srgbClr val="333333"/>
                </a:solidFill>
                <a:latin typeface="Roboto"/>
                <a:cs typeface="Roboto"/>
              </a:rPr>
              <a:t>proposed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framework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provides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dirty="0" sz="17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10" b="1">
                <a:solidFill>
                  <a:srgbClr val="0053A0"/>
                </a:solidFill>
                <a:latin typeface="Roboto"/>
                <a:cs typeface="Roboto"/>
              </a:rPr>
              <a:t>comprehensive</a:t>
            </a:r>
            <a:endParaRPr sz="1700">
              <a:latin typeface="Roboto"/>
              <a:cs typeface="Roboto"/>
            </a:endParaRPr>
          </a:p>
          <a:p>
            <a:pPr>
              <a:lnSpc>
                <a:spcPts val="2035"/>
              </a:lnSpc>
              <a:spcBef>
                <a:spcPts val="284"/>
              </a:spcBef>
            </a:pPr>
            <a:r>
              <a:rPr dirty="0" sz="1700" spc="-75" b="1">
                <a:solidFill>
                  <a:srgbClr val="0053A0"/>
                </a:solidFill>
                <a:latin typeface="Roboto"/>
                <a:cs typeface="Roboto"/>
              </a:rPr>
              <a:t>foundation</a:t>
            </a:r>
            <a:r>
              <a:rPr dirty="0" sz="1700" spc="-5" b="1">
                <a:solidFill>
                  <a:srgbClr val="0053A0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integrating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5">
                <a:solidFill>
                  <a:srgbClr val="333333"/>
                </a:solidFill>
                <a:latin typeface="Roboto"/>
                <a:cs typeface="Roboto"/>
              </a:rPr>
              <a:t>large-</a:t>
            </a:r>
            <a:r>
              <a:rPr dirty="0" sz="1700" spc="-80">
                <a:solidFill>
                  <a:srgbClr val="333333"/>
                </a:solidFill>
                <a:latin typeface="Roboto"/>
                <a:cs typeface="Roboto"/>
              </a:rPr>
              <a:t>scale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70">
                <a:solidFill>
                  <a:srgbClr val="333333"/>
                </a:solidFill>
                <a:latin typeface="Roboto"/>
                <a:cs typeface="Roboto"/>
              </a:rPr>
              <a:t>bidirectional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90">
                <a:solidFill>
                  <a:srgbClr val="333333"/>
                </a:solidFill>
                <a:latin typeface="Roboto"/>
                <a:cs typeface="Roboto"/>
              </a:rPr>
              <a:t>EVs</a:t>
            </a:r>
            <a:r>
              <a:rPr dirty="0" sz="17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333333"/>
                </a:solidFill>
                <a:latin typeface="Roboto"/>
                <a:cs typeface="Roboto"/>
              </a:rPr>
              <a:t>into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52" name="object 5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20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  <a:p>
            <a:pPr marL="496570">
              <a:lnSpc>
                <a:spcPts val="1295"/>
              </a:lnSpc>
            </a:pPr>
            <a:fld id="{81D60167-4931-47E6-BA6A-407CBD079E47}" type="slidenum">
              <a:rPr dirty="0" sz="1300" spc="-60"/>
              <a:t>10</a:t>
            </a:fld>
            <a:r>
              <a:rPr dirty="0" sz="1300" spc="-25"/>
              <a:t> </a:t>
            </a:r>
            <a:r>
              <a:rPr dirty="0" sz="1300"/>
              <a:t>/</a:t>
            </a:r>
            <a:r>
              <a:rPr dirty="0" sz="1300" spc="-70"/>
              <a:t> </a:t>
            </a:r>
            <a:r>
              <a:rPr dirty="0" sz="1300" spc="-25"/>
              <a:t>10</a:t>
            </a:r>
            <a:endParaRPr sz="1300"/>
          </a:p>
        </p:txBody>
      </p:sp>
      <p:sp>
        <p:nvSpPr>
          <p:cNvPr id="53" name="object 5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70"/>
              </a:lnSpc>
            </a:pPr>
            <a:r>
              <a:rPr dirty="0" spc="-70"/>
              <a:t>Advanced</a:t>
            </a:r>
            <a:r>
              <a:rPr dirty="0" spc="-10"/>
              <a:t> </a:t>
            </a:r>
            <a:r>
              <a:rPr dirty="0" spc="-55"/>
              <a:t>Modeling</a:t>
            </a:r>
            <a:r>
              <a:rPr dirty="0" spc="-5"/>
              <a:t> </a:t>
            </a:r>
            <a:r>
              <a:rPr dirty="0" spc="-60"/>
              <a:t>and</a:t>
            </a:r>
            <a:r>
              <a:rPr dirty="0" spc="-5"/>
              <a:t> </a:t>
            </a:r>
            <a:r>
              <a:rPr dirty="0" spc="-40"/>
              <a:t>Stability</a:t>
            </a:r>
            <a:r>
              <a:rPr dirty="0" spc="-5"/>
              <a:t> </a:t>
            </a:r>
            <a:r>
              <a:rPr dirty="0" spc="-50"/>
              <a:t>Analysis</a:t>
            </a:r>
            <a:r>
              <a:rPr dirty="0" spc="-5"/>
              <a:t> </a:t>
            </a:r>
            <a:r>
              <a:rPr dirty="0" spc="-50"/>
              <a:t>of</a:t>
            </a:r>
            <a:r>
              <a:rPr dirty="0" spc="-5"/>
              <a:t> </a:t>
            </a:r>
            <a:r>
              <a:rPr dirty="0" spc="-50"/>
              <a:t>Grid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25"/>
              <a:t>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2025-06-15T10:46:47Z</dcterms:created>
  <dcterms:modified xsi:type="dcterms:W3CDTF">2025-06-15T10:46:47Z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2025-06-15T00:00:00Z</vt:filetime>
  </property>
</Properties>
</file>