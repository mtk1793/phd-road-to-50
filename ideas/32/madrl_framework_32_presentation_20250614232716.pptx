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2192000" cy="6857142"/>
  <p:notesSz cx="12192000" cy="967105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220468"/>
            <a:ext cx="10363200" cy="15041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rgbClr val="1D40AF"/>
                </a:solidFill>
                <a:latin typeface="Roboto"/>
                <a:cs typeface="Roboto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4011168"/>
            <a:ext cx="8534400" cy="17907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150" b="0" i="0">
                <a:solidFill>
                  <a:srgbClr val="6A7280"/>
                </a:solidFill>
                <a:latin typeface="Roboto"/>
                <a:cs typeface="Roboto"/>
              </a:defRPr>
            </a:lvl1pPr>
          </a:lstStyle>
          <a:p>
            <a:pPr marL="12700">
              <a:lnSpc>
                <a:spcPts val="1130"/>
              </a:lnSpc>
            </a:pPr>
            <a:r>
              <a:rPr dirty="0" spc="-60"/>
              <a:t>IEEE</a:t>
            </a:r>
            <a:r>
              <a:rPr dirty="0"/>
              <a:t> </a:t>
            </a:r>
            <a:r>
              <a:rPr dirty="0" spc="-70"/>
              <a:t>Power</a:t>
            </a:r>
            <a:r>
              <a:rPr dirty="0" spc="5"/>
              <a:t> </a:t>
            </a:r>
            <a:r>
              <a:rPr dirty="0" spc="-60"/>
              <a:t>Systems</a:t>
            </a:r>
            <a:r>
              <a:rPr dirty="0"/>
              <a:t> </a:t>
            </a:r>
            <a:r>
              <a:rPr dirty="0" spc="-60"/>
              <a:t>Conference</a:t>
            </a:r>
            <a:r>
              <a:rPr dirty="0" spc="5"/>
              <a:t> </a:t>
            </a:r>
            <a:r>
              <a:rPr dirty="0" spc="-30"/>
              <a:t>2023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bg1"/>
                </a:solidFill>
                <a:latin typeface="Roboto"/>
                <a:cs typeface="Roboto"/>
              </a:defRPr>
            </a:lvl1pPr>
          </a:lstStyle>
          <a:p>
            <a:pPr marL="12700">
              <a:lnSpc>
                <a:spcPts val="1130"/>
              </a:lnSpc>
            </a:pPr>
            <a:r>
              <a:rPr dirty="0" spc="-55"/>
              <a:t>Ma</a:t>
            </a:r>
            <a:r>
              <a:rPr dirty="0" spc="-204"/>
              <a:t>d</a:t>
            </a:r>
            <a:r>
              <a:rPr dirty="0" sz="1150" spc="-600">
                <a:solidFill>
                  <a:srgbClr val="6A7280"/>
                </a:solidFill>
              </a:rPr>
              <a:t>S</a:t>
            </a:r>
            <a:r>
              <a:rPr dirty="0" spc="-40"/>
              <a:t>e</a:t>
            </a:r>
            <a:r>
              <a:rPr dirty="0" sz="1150" spc="-110">
                <a:solidFill>
                  <a:srgbClr val="6A7280"/>
                </a:solidFill>
              </a:rPr>
              <a:t>l</a:t>
            </a:r>
            <a:r>
              <a:rPr dirty="0" spc="-755"/>
              <a:t>w</a:t>
            </a:r>
            <a:r>
              <a:rPr dirty="0" sz="1150" spc="-55">
                <a:solidFill>
                  <a:srgbClr val="6A7280"/>
                </a:solidFill>
              </a:rPr>
              <a:t>i</a:t>
            </a:r>
            <a:r>
              <a:rPr dirty="0" sz="1150" spc="-300">
                <a:solidFill>
                  <a:srgbClr val="6A7280"/>
                </a:solidFill>
              </a:rPr>
              <a:t>d</a:t>
            </a:r>
            <a:r>
              <a:rPr dirty="0" spc="-55"/>
              <a:t>i</a:t>
            </a:r>
            <a:r>
              <a:rPr dirty="0" spc="-395"/>
              <a:t>t</a:t>
            </a:r>
            <a:r>
              <a:rPr dirty="0" sz="1150" spc="-350">
                <a:solidFill>
                  <a:srgbClr val="6A7280"/>
                </a:solidFill>
              </a:rPr>
              <a:t>e</a:t>
            </a:r>
            <a:r>
              <a:rPr dirty="0" spc="-30"/>
              <a:t>h</a:t>
            </a:r>
            <a:fld id="{81D60167-4931-47E6-BA6A-407CBD079E47}" type="slidenum">
              <a:rPr dirty="0" sz="1150" spc="-55">
                <a:solidFill>
                  <a:srgbClr val="6A7280"/>
                </a:solidFill>
              </a:rPr>
              <a:t>#</a:t>
            </a:fld>
            <a:r>
              <a:rPr dirty="0" spc="-300"/>
              <a:t>G</a:t>
            </a:r>
            <a:r>
              <a:rPr dirty="0" sz="1150" spc="-300">
                <a:solidFill>
                  <a:srgbClr val="6A7280"/>
                </a:solidFill>
              </a:rPr>
              <a:t>/</a:t>
            </a:r>
            <a:r>
              <a:rPr dirty="0" spc="-350"/>
              <a:t>e</a:t>
            </a:r>
            <a:r>
              <a:rPr dirty="0" sz="1150" spc="-420">
                <a:solidFill>
                  <a:srgbClr val="6A7280"/>
                </a:solidFill>
              </a:rPr>
              <a:t>1</a:t>
            </a:r>
            <a:r>
              <a:rPr dirty="0" spc="-250"/>
              <a:t>n</a:t>
            </a:r>
            <a:r>
              <a:rPr dirty="0" sz="1150" spc="-525">
                <a:solidFill>
                  <a:srgbClr val="6A7280"/>
                </a:solidFill>
              </a:rPr>
              <a:t>0</a:t>
            </a:r>
            <a:r>
              <a:rPr dirty="0" spc="-55"/>
              <a:t>spark</a:t>
            </a:r>
            <a:endParaRPr sz="115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rgbClr val="1D40AF"/>
                </a:solidFill>
                <a:latin typeface="Roboto"/>
                <a:cs typeface="Roboto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150" b="0" i="0">
                <a:solidFill>
                  <a:srgbClr val="6A7280"/>
                </a:solidFill>
                <a:latin typeface="Roboto"/>
                <a:cs typeface="Roboto"/>
              </a:defRPr>
            </a:lvl1pPr>
          </a:lstStyle>
          <a:p>
            <a:pPr marL="12700">
              <a:lnSpc>
                <a:spcPts val="1130"/>
              </a:lnSpc>
            </a:pPr>
            <a:r>
              <a:rPr dirty="0" spc="-60"/>
              <a:t>IEEE</a:t>
            </a:r>
            <a:r>
              <a:rPr dirty="0"/>
              <a:t> </a:t>
            </a:r>
            <a:r>
              <a:rPr dirty="0" spc="-70"/>
              <a:t>Power</a:t>
            </a:r>
            <a:r>
              <a:rPr dirty="0" spc="5"/>
              <a:t> </a:t>
            </a:r>
            <a:r>
              <a:rPr dirty="0" spc="-60"/>
              <a:t>Systems</a:t>
            </a:r>
            <a:r>
              <a:rPr dirty="0"/>
              <a:t> </a:t>
            </a:r>
            <a:r>
              <a:rPr dirty="0" spc="-60"/>
              <a:t>Conference</a:t>
            </a:r>
            <a:r>
              <a:rPr dirty="0" spc="5"/>
              <a:t> </a:t>
            </a:r>
            <a:r>
              <a:rPr dirty="0" spc="-30"/>
              <a:t>2023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bg1"/>
                </a:solidFill>
                <a:latin typeface="Roboto"/>
                <a:cs typeface="Roboto"/>
              </a:defRPr>
            </a:lvl1pPr>
          </a:lstStyle>
          <a:p>
            <a:pPr marL="12700">
              <a:lnSpc>
                <a:spcPts val="1130"/>
              </a:lnSpc>
            </a:pPr>
            <a:r>
              <a:rPr dirty="0" spc="-55"/>
              <a:t>Ma</a:t>
            </a:r>
            <a:r>
              <a:rPr dirty="0" spc="-204"/>
              <a:t>d</a:t>
            </a:r>
            <a:r>
              <a:rPr dirty="0" sz="1150" spc="-600">
                <a:solidFill>
                  <a:srgbClr val="6A7280"/>
                </a:solidFill>
              </a:rPr>
              <a:t>S</a:t>
            </a:r>
            <a:r>
              <a:rPr dirty="0" spc="-40"/>
              <a:t>e</a:t>
            </a:r>
            <a:r>
              <a:rPr dirty="0" sz="1150" spc="-110">
                <a:solidFill>
                  <a:srgbClr val="6A7280"/>
                </a:solidFill>
              </a:rPr>
              <a:t>l</a:t>
            </a:r>
            <a:r>
              <a:rPr dirty="0" spc="-755"/>
              <a:t>w</a:t>
            </a:r>
            <a:r>
              <a:rPr dirty="0" sz="1150" spc="-55">
                <a:solidFill>
                  <a:srgbClr val="6A7280"/>
                </a:solidFill>
              </a:rPr>
              <a:t>i</a:t>
            </a:r>
            <a:r>
              <a:rPr dirty="0" sz="1150" spc="-300">
                <a:solidFill>
                  <a:srgbClr val="6A7280"/>
                </a:solidFill>
              </a:rPr>
              <a:t>d</a:t>
            </a:r>
            <a:r>
              <a:rPr dirty="0" spc="-55"/>
              <a:t>i</a:t>
            </a:r>
            <a:r>
              <a:rPr dirty="0" spc="-395"/>
              <a:t>t</a:t>
            </a:r>
            <a:r>
              <a:rPr dirty="0" sz="1150" spc="-350">
                <a:solidFill>
                  <a:srgbClr val="6A7280"/>
                </a:solidFill>
              </a:rPr>
              <a:t>e</a:t>
            </a:r>
            <a:r>
              <a:rPr dirty="0" spc="-30"/>
              <a:t>h</a:t>
            </a:r>
            <a:fld id="{81D60167-4931-47E6-BA6A-407CBD079E47}" type="slidenum">
              <a:rPr dirty="0" sz="1150" spc="-55">
                <a:solidFill>
                  <a:srgbClr val="6A7280"/>
                </a:solidFill>
              </a:rPr>
              <a:t>#</a:t>
            </a:fld>
            <a:r>
              <a:rPr dirty="0" spc="-300"/>
              <a:t>G</a:t>
            </a:r>
            <a:r>
              <a:rPr dirty="0" sz="1150" spc="-300">
                <a:solidFill>
                  <a:srgbClr val="6A7280"/>
                </a:solidFill>
              </a:rPr>
              <a:t>/</a:t>
            </a:r>
            <a:r>
              <a:rPr dirty="0" spc="-350"/>
              <a:t>e</a:t>
            </a:r>
            <a:r>
              <a:rPr dirty="0" sz="1150" spc="-420">
                <a:solidFill>
                  <a:srgbClr val="6A7280"/>
                </a:solidFill>
              </a:rPr>
              <a:t>1</a:t>
            </a:r>
            <a:r>
              <a:rPr dirty="0" spc="-250"/>
              <a:t>n</a:t>
            </a:r>
            <a:r>
              <a:rPr dirty="0" sz="1150" spc="-525">
                <a:solidFill>
                  <a:srgbClr val="6A7280"/>
                </a:solidFill>
              </a:rPr>
              <a:t>0</a:t>
            </a:r>
            <a:r>
              <a:rPr dirty="0" spc="-55"/>
              <a:t>spark</a:t>
            </a:r>
            <a:endParaRPr sz="115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rgbClr val="1D40AF"/>
                </a:solidFill>
                <a:latin typeface="Roboto"/>
                <a:cs typeface="Roboto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09600" y="1647444"/>
            <a:ext cx="5303520" cy="472744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78880" y="1647444"/>
            <a:ext cx="5303520" cy="472744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150" b="0" i="0">
                <a:solidFill>
                  <a:srgbClr val="6A7280"/>
                </a:solidFill>
                <a:latin typeface="Roboto"/>
                <a:cs typeface="Roboto"/>
              </a:defRPr>
            </a:lvl1pPr>
          </a:lstStyle>
          <a:p>
            <a:pPr marL="12700">
              <a:lnSpc>
                <a:spcPts val="1130"/>
              </a:lnSpc>
            </a:pPr>
            <a:r>
              <a:rPr dirty="0" spc="-60"/>
              <a:t>IEEE</a:t>
            </a:r>
            <a:r>
              <a:rPr dirty="0"/>
              <a:t> </a:t>
            </a:r>
            <a:r>
              <a:rPr dirty="0" spc="-70"/>
              <a:t>Power</a:t>
            </a:r>
            <a:r>
              <a:rPr dirty="0" spc="5"/>
              <a:t> </a:t>
            </a:r>
            <a:r>
              <a:rPr dirty="0" spc="-60"/>
              <a:t>Systems</a:t>
            </a:r>
            <a:r>
              <a:rPr dirty="0"/>
              <a:t> </a:t>
            </a:r>
            <a:r>
              <a:rPr dirty="0" spc="-60"/>
              <a:t>Conference</a:t>
            </a:r>
            <a:r>
              <a:rPr dirty="0" spc="5"/>
              <a:t> </a:t>
            </a:r>
            <a:r>
              <a:rPr dirty="0" spc="-30"/>
              <a:t>2023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bg1"/>
                </a:solidFill>
                <a:latin typeface="Roboto"/>
                <a:cs typeface="Roboto"/>
              </a:defRPr>
            </a:lvl1pPr>
          </a:lstStyle>
          <a:p>
            <a:pPr marL="12700">
              <a:lnSpc>
                <a:spcPts val="1130"/>
              </a:lnSpc>
            </a:pPr>
            <a:r>
              <a:rPr dirty="0" spc="-55"/>
              <a:t>Ma</a:t>
            </a:r>
            <a:r>
              <a:rPr dirty="0" spc="-204"/>
              <a:t>d</a:t>
            </a:r>
            <a:r>
              <a:rPr dirty="0" sz="1150" spc="-600">
                <a:solidFill>
                  <a:srgbClr val="6A7280"/>
                </a:solidFill>
              </a:rPr>
              <a:t>S</a:t>
            </a:r>
            <a:r>
              <a:rPr dirty="0" spc="-40"/>
              <a:t>e</a:t>
            </a:r>
            <a:r>
              <a:rPr dirty="0" sz="1150" spc="-110">
                <a:solidFill>
                  <a:srgbClr val="6A7280"/>
                </a:solidFill>
              </a:rPr>
              <a:t>l</a:t>
            </a:r>
            <a:r>
              <a:rPr dirty="0" spc="-755"/>
              <a:t>w</a:t>
            </a:r>
            <a:r>
              <a:rPr dirty="0" sz="1150" spc="-55">
                <a:solidFill>
                  <a:srgbClr val="6A7280"/>
                </a:solidFill>
              </a:rPr>
              <a:t>i</a:t>
            </a:r>
            <a:r>
              <a:rPr dirty="0" sz="1150" spc="-300">
                <a:solidFill>
                  <a:srgbClr val="6A7280"/>
                </a:solidFill>
              </a:rPr>
              <a:t>d</a:t>
            </a:r>
            <a:r>
              <a:rPr dirty="0" spc="-55"/>
              <a:t>i</a:t>
            </a:r>
            <a:r>
              <a:rPr dirty="0" spc="-395"/>
              <a:t>t</a:t>
            </a:r>
            <a:r>
              <a:rPr dirty="0" sz="1150" spc="-350">
                <a:solidFill>
                  <a:srgbClr val="6A7280"/>
                </a:solidFill>
              </a:rPr>
              <a:t>e</a:t>
            </a:r>
            <a:r>
              <a:rPr dirty="0" spc="-30"/>
              <a:t>h</a:t>
            </a:r>
            <a:fld id="{81D60167-4931-47E6-BA6A-407CBD079E47}" type="slidenum">
              <a:rPr dirty="0" sz="1150" spc="-55">
                <a:solidFill>
                  <a:srgbClr val="6A7280"/>
                </a:solidFill>
              </a:rPr>
              <a:t>#</a:t>
            </a:fld>
            <a:r>
              <a:rPr dirty="0" spc="-300"/>
              <a:t>G</a:t>
            </a:r>
            <a:r>
              <a:rPr dirty="0" sz="1150" spc="-300">
                <a:solidFill>
                  <a:srgbClr val="6A7280"/>
                </a:solidFill>
              </a:rPr>
              <a:t>/</a:t>
            </a:r>
            <a:r>
              <a:rPr dirty="0" spc="-350"/>
              <a:t>e</a:t>
            </a:r>
            <a:r>
              <a:rPr dirty="0" sz="1150" spc="-420">
                <a:solidFill>
                  <a:srgbClr val="6A7280"/>
                </a:solidFill>
              </a:rPr>
              <a:t>1</a:t>
            </a:r>
            <a:r>
              <a:rPr dirty="0" spc="-250"/>
              <a:t>n</a:t>
            </a:r>
            <a:r>
              <a:rPr dirty="0" sz="1150" spc="-525">
                <a:solidFill>
                  <a:srgbClr val="6A7280"/>
                </a:solidFill>
              </a:rPr>
              <a:t>0</a:t>
            </a:r>
            <a:r>
              <a:rPr dirty="0" spc="-55"/>
              <a:t>spark</a:t>
            </a:r>
            <a:endParaRPr sz="115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rgbClr val="1D40AF"/>
                </a:solidFill>
                <a:latin typeface="Roboto"/>
                <a:cs typeface="Roboto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150" b="0" i="0">
                <a:solidFill>
                  <a:srgbClr val="6A7280"/>
                </a:solidFill>
                <a:latin typeface="Roboto"/>
                <a:cs typeface="Roboto"/>
              </a:defRPr>
            </a:lvl1pPr>
          </a:lstStyle>
          <a:p>
            <a:pPr marL="12700">
              <a:lnSpc>
                <a:spcPts val="1130"/>
              </a:lnSpc>
            </a:pPr>
            <a:r>
              <a:rPr dirty="0" spc="-60"/>
              <a:t>IEEE</a:t>
            </a:r>
            <a:r>
              <a:rPr dirty="0"/>
              <a:t> </a:t>
            </a:r>
            <a:r>
              <a:rPr dirty="0" spc="-70"/>
              <a:t>Power</a:t>
            </a:r>
            <a:r>
              <a:rPr dirty="0" spc="5"/>
              <a:t> </a:t>
            </a:r>
            <a:r>
              <a:rPr dirty="0" spc="-60"/>
              <a:t>Systems</a:t>
            </a:r>
            <a:r>
              <a:rPr dirty="0"/>
              <a:t> </a:t>
            </a:r>
            <a:r>
              <a:rPr dirty="0" spc="-60"/>
              <a:t>Conference</a:t>
            </a:r>
            <a:r>
              <a:rPr dirty="0" spc="5"/>
              <a:t> </a:t>
            </a:r>
            <a:r>
              <a:rPr dirty="0" spc="-30"/>
              <a:t>2023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bg1"/>
                </a:solidFill>
                <a:latin typeface="Roboto"/>
                <a:cs typeface="Roboto"/>
              </a:defRPr>
            </a:lvl1pPr>
          </a:lstStyle>
          <a:p>
            <a:pPr marL="12700">
              <a:lnSpc>
                <a:spcPts val="1130"/>
              </a:lnSpc>
            </a:pPr>
            <a:r>
              <a:rPr dirty="0" spc="-55"/>
              <a:t>Ma</a:t>
            </a:r>
            <a:r>
              <a:rPr dirty="0" spc="-204"/>
              <a:t>d</a:t>
            </a:r>
            <a:r>
              <a:rPr dirty="0" sz="1150" spc="-600">
                <a:solidFill>
                  <a:srgbClr val="6A7280"/>
                </a:solidFill>
              </a:rPr>
              <a:t>S</a:t>
            </a:r>
            <a:r>
              <a:rPr dirty="0" spc="-40"/>
              <a:t>e</a:t>
            </a:r>
            <a:r>
              <a:rPr dirty="0" sz="1150" spc="-110">
                <a:solidFill>
                  <a:srgbClr val="6A7280"/>
                </a:solidFill>
              </a:rPr>
              <a:t>l</a:t>
            </a:r>
            <a:r>
              <a:rPr dirty="0" spc="-755"/>
              <a:t>w</a:t>
            </a:r>
            <a:r>
              <a:rPr dirty="0" sz="1150" spc="-55">
                <a:solidFill>
                  <a:srgbClr val="6A7280"/>
                </a:solidFill>
              </a:rPr>
              <a:t>i</a:t>
            </a:r>
            <a:r>
              <a:rPr dirty="0" sz="1150" spc="-300">
                <a:solidFill>
                  <a:srgbClr val="6A7280"/>
                </a:solidFill>
              </a:rPr>
              <a:t>d</a:t>
            </a:r>
            <a:r>
              <a:rPr dirty="0" spc="-55"/>
              <a:t>i</a:t>
            </a:r>
            <a:r>
              <a:rPr dirty="0" spc="-395"/>
              <a:t>t</a:t>
            </a:r>
            <a:r>
              <a:rPr dirty="0" sz="1150" spc="-350">
                <a:solidFill>
                  <a:srgbClr val="6A7280"/>
                </a:solidFill>
              </a:rPr>
              <a:t>e</a:t>
            </a:r>
            <a:r>
              <a:rPr dirty="0" spc="-30"/>
              <a:t>h</a:t>
            </a:r>
            <a:fld id="{81D60167-4931-47E6-BA6A-407CBD079E47}" type="slidenum">
              <a:rPr dirty="0" sz="1150" spc="-55">
                <a:solidFill>
                  <a:srgbClr val="6A7280"/>
                </a:solidFill>
              </a:rPr>
              <a:t>#</a:t>
            </a:fld>
            <a:r>
              <a:rPr dirty="0" spc="-300"/>
              <a:t>G</a:t>
            </a:r>
            <a:r>
              <a:rPr dirty="0" sz="1150" spc="-300">
                <a:solidFill>
                  <a:srgbClr val="6A7280"/>
                </a:solidFill>
              </a:rPr>
              <a:t>/</a:t>
            </a:r>
            <a:r>
              <a:rPr dirty="0" spc="-350"/>
              <a:t>e</a:t>
            </a:r>
            <a:r>
              <a:rPr dirty="0" sz="1150" spc="-420">
                <a:solidFill>
                  <a:srgbClr val="6A7280"/>
                </a:solidFill>
              </a:rPr>
              <a:t>1</a:t>
            </a:r>
            <a:r>
              <a:rPr dirty="0" spc="-250"/>
              <a:t>n</a:t>
            </a:r>
            <a:r>
              <a:rPr dirty="0" sz="1150" spc="-525">
                <a:solidFill>
                  <a:srgbClr val="6A7280"/>
                </a:solidFill>
              </a:rPr>
              <a:t>0</a:t>
            </a:r>
            <a:r>
              <a:rPr dirty="0" spc="-55"/>
              <a:t>spark</a:t>
            </a:r>
            <a:endParaRPr sz="115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150" b="0" i="0">
                <a:solidFill>
                  <a:srgbClr val="6A7280"/>
                </a:solidFill>
                <a:latin typeface="Roboto"/>
                <a:cs typeface="Roboto"/>
              </a:defRPr>
            </a:lvl1pPr>
          </a:lstStyle>
          <a:p>
            <a:pPr marL="12700">
              <a:lnSpc>
                <a:spcPts val="1130"/>
              </a:lnSpc>
            </a:pPr>
            <a:r>
              <a:rPr dirty="0" spc="-60"/>
              <a:t>IEEE</a:t>
            </a:r>
            <a:r>
              <a:rPr dirty="0"/>
              <a:t> </a:t>
            </a:r>
            <a:r>
              <a:rPr dirty="0" spc="-70"/>
              <a:t>Power</a:t>
            </a:r>
            <a:r>
              <a:rPr dirty="0" spc="5"/>
              <a:t> </a:t>
            </a:r>
            <a:r>
              <a:rPr dirty="0" spc="-60"/>
              <a:t>Systems</a:t>
            </a:r>
            <a:r>
              <a:rPr dirty="0"/>
              <a:t> </a:t>
            </a:r>
            <a:r>
              <a:rPr dirty="0" spc="-60"/>
              <a:t>Conference</a:t>
            </a:r>
            <a:r>
              <a:rPr dirty="0" spc="5"/>
              <a:t> </a:t>
            </a:r>
            <a:r>
              <a:rPr dirty="0" spc="-30"/>
              <a:t>2023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bg1"/>
                </a:solidFill>
                <a:latin typeface="Roboto"/>
                <a:cs typeface="Roboto"/>
              </a:defRPr>
            </a:lvl1pPr>
          </a:lstStyle>
          <a:p>
            <a:pPr marL="12700">
              <a:lnSpc>
                <a:spcPts val="1130"/>
              </a:lnSpc>
            </a:pPr>
            <a:r>
              <a:rPr dirty="0" spc="-55"/>
              <a:t>Ma</a:t>
            </a:r>
            <a:r>
              <a:rPr dirty="0" spc="-204"/>
              <a:t>d</a:t>
            </a:r>
            <a:r>
              <a:rPr dirty="0" sz="1150" spc="-600">
                <a:solidFill>
                  <a:srgbClr val="6A7280"/>
                </a:solidFill>
              </a:rPr>
              <a:t>S</a:t>
            </a:r>
            <a:r>
              <a:rPr dirty="0" spc="-40"/>
              <a:t>e</a:t>
            </a:r>
            <a:r>
              <a:rPr dirty="0" sz="1150" spc="-110">
                <a:solidFill>
                  <a:srgbClr val="6A7280"/>
                </a:solidFill>
              </a:rPr>
              <a:t>l</a:t>
            </a:r>
            <a:r>
              <a:rPr dirty="0" spc="-755"/>
              <a:t>w</a:t>
            </a:r>
            <a:r>
              <a:rPr dirty="0" sz="1150" spc="-55">
                <a:solidFill>
                  <a:srgbClr val="6A7280"/>
                </a:solidFill>
              </a:rPr>
              <a:t>i</a:t>
            </a:r>
            <a:r>
              <a:rPr dirty="0" sz="1150" spc="-300">
                <a:solidFill>
                  <a:srgbClr val="6A7280"/>
                </a:solidFill>
              </a:rPr>
              <a:t>d</a:t>
            </a:r>
            <a:r>
              <a:rPr dirty="0" spc="-55"/>
              <a:t>i</a:t>
            </a:r>
            <a:r>
              <a:rPr dirty="0" spc="-395"/>
              <a:t>t</a:t>
            </a:r>
            <a:r>
              <a:rPr dirty="0" sz="1150" spc="-350">
                <a:solidFill>
                  <a:srgbClr val="6A7280"/>
                </a:solidFill>
              </a:rPr>
              <a:t>e</a:t>
            </a:r>
            <a:r>
              <a:rPr dirty="0" spc="-30"/>
              <a:t>h</a:t>
            </a:r>
            <a:fld id="{81D60167-4931-47E6-BA6A-407CBD079E47}" type="slidenum">
              <a:rPr dirty="0" sz="1150" spc="-55">
                <a:solidFill>
                  <a:srgbClr val="6A7280"/>
                </a:solidFill>
              </a:rPr>
              <a:t>#</a:t>
            </a:fld>
            <a:r>
              <a:rPr dirty="0" spc="-300"/>
              <a:t>G</a:t>
            </a:r>
            <a:r>
              <a:rPr dirty="0" sz="1150" spc="-300">
                <a:solidFill>
                  <a:srgbClr val="6A7280"/>
                </a:solidFill>
              </a:rPr>
              <a:t>/</a:t>
            </a:r>
            <a:r>
              <a:rPr dirty="0" spc="-350"/>
              <a:t>e</a:t>
            </a:r>
            <a:r>
              <a:rPr dirty="0" sz="1150" spc="-420">
                <a:solidFill>
                  <a:srgbClr val="6A7280"/>
                </a:solidFill>
              </a:rPr>
              <a:t>1</a:t>
            </a:r>
            <a:r>
              <a:rPr dirty="0" spc="-250"/>
              <a:t>n</a:t>
            </a:r>
            <a:r>
              <a:rPr dirty="0" sz="1150" spc="-525">
                <a:solidFill>
                  <a:srgbClr val="6A7280"/>
                </a:solidFill>
              </a:rPr>
              <a:t>0</a:t>
            </a:r>
            <a:r>
              <a:rPr dirty="0" spc="-55"/>
              <a:t>spark</a:t>
            </a:r>
            <a:endParaRPr sz="115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20700" y="304396"/>
            <a:ext cx="4279265" cy="3309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rgbClr val="1D40AF"/>
                </a:solidFill>
                <a:latin typeface="Roboto"/>
                <a:cs typeface="Roboto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647444"/>
            <a:ext cx="10972800" cy="472744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520700" y="6734395"/>
            <a:ext cx="2289175" cy="2127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50" b="0" i="0">
                <a:solidFill>
                  <a:srgbClr val="6A7280"/>
                </a:solidFill>
                <a:latin typeface="Roboto"/>
                <a:cs typeface="Roboto"/>
              </a:defRPr>
            </a:lvl1pPr>
          </a:lstStyle>
          <a:p>
            <a:pPr marL="12700">
              <a:lnSpc>
                <a:spcPts val="1130"/>
              </a:lnSpc>
            </a:pPr>
            <a:r>
              <a:rPr dirty="0" spc="-60"/>
              <a:t>IEEE</a:t>
            </a:r>
            <a:r>
              <a:rPr dirty="0"/>
              <a:t> </a:t>
            </a:r>
            <a:r>
              <a:rPr dirty="0" spc="-70"/>
              <a:t>Power</a:t>
            </a:r>
            <a:r>
              <a:rPr dirty="0" spc="5"/>
              <a:t> </a:t>
            </a:r>
            <a:r>
              <a:rPr dirty="0" spc="-60"/>
              <a:t>Systems</a:t>
            </a:r>
            <a:r>
              <a:rPr dirty="0"/>
              <a:t> </a:t>
            </a:r>
            <a:r>
              <a:rPr dirty="0" spc="-60"/>
              <a:t>Conference</a:t>
            </a:r>
            <a:r>
              <a:rPr dirty="0" spc="5"/>
              <a:t> </a:t>
            </a:r>
            <a:r>
              <a:rPr dirty="0" spc="-30"/>
              <a:t>2023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9600" y="6661404"/>
            <a:ext cx="2804160" cy="3581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0833000" y="6791545"/>
            <a:ext cx="1066800" cy="269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0" i="0">
                <a:solidFill>
                  <a:schemeClr val="bg1"/>
                </a:solidFill>
                <a:latin typeface="Roboto"/>
                <a:cs typeface="Roboto"/>
              </a:defRPr>
            </a:lvl1pPr>
          </a:lstStyle>
          <a:p>
            <a:pPr marL="12700">
              <a:lnSpc>
                <a:spcPts val="1130"/>
              </a:lnSpc>
            </a:pPr>
            <a:r>
              <a:rPr dirty="0" spc="-55"/>
              <a:t>Ma</a:t>
            </a:r>
            <a:r>
              <a:rPr dirty="0" spc="-204"/>
              <a:t>d</a:t>
            </a:r>
            <a:r>
              <a:rPr dirty="0" sz="1150" spc="-600">
                <a:solidFill>
                  <a:srgbClr val="6A7280"/>
                </a:solidFill>
              </a:rPr>
              <a:t>S</a:t>
            </a:r>
            <a:r>
              <a:rPr dirty="0" spc="-40"/>
              <a:t>e</a:t>
            </a:r>
            <a:r>
              <a:rPr dirty="0" sz="1150" spc="-110">
                <a:solidFill>
                  <a:srgbClr val="6A7280"/>
                </a:solidFill>
              </a:rPr>
              <a:t>l</a:t>
            </a:r>
            <a:r>
              <a:rPr dirty="0" spc="-755"/>
              <a:t>w</a:t>
            </a:r>
            <a:r>
              <a:rPr dirty="0" sz="1150" spc="-55">
                <a:solidFill>
                  <a:srgbClr val="6A7280"/>
                </a:solidFill>
              </a:rPr>
              <a:t>i</a:t>
            </a:r>
            <a:r>
              <a:rPr dirty="0" sz="1150" spc="-300">
                <a:solidFill>
                  <a:srgbClr val="6A7280"/>
                </a:solidFill>
              </a:rPr>
              <a:t>d</a:t>
            </a:r>
            <a:r>
              <a:rPr dirty="0" spc="-55"/>
              <a:t>i</a:t>
            </a:r>
            <a:r>
              <a:rPr dirty="0" spc="-395"/>
              <a:t>t</a:t>
            </a:r>
            <a:r>
              <a:rPr dirty="0" sz="1150" spc="-350">
                <a:solidFill>
                  <a:srgbClr val="6A7280"/>
                </a:solidFill>
              </a:rPr>
              <a:t>e</a:t>
            </a:r>
            <a:r>
              <a:rPr dirty="0" spc="-30"/>
              <a:t>h</a:t>
            </a:r>
            <a:fld id="{81D60167-4931-47E6-BA6A-407CBD079E47}" type="slidenum">
              <a:rPr dirty="0" sz="1150" spc="-55">
                <a:solidFill>
                  <a:srgbClr val="6A7280"/>
                </a:solidFill>
              </a:rPr>
              <a:t>#</a:t>
            </a:fld>
            <a:r>
              <a:rPr dirty="0" spc="-300"/>
              <a:t>G</a:t>
            </a:r>
            <a:r>
              <a:rPr dirty="0" sz="1150" spc="-300">
                <a:solidFill>
                  <a:srgbClr val="6A7280"/>
                </a:solidFill>
              </a:rPr>
              <a:t>/</a:t>
            </a:r>
            <a:r>
              <a:rPr dirty="0" spc="-350"/>
              <a:t>e</a:t>
            </a:r>
            <a:r>
              <a:rPr dirty="0" sz="1150" spc="-420">
                <a:solidFill>
                  <a:srgbClr val="6A7280"/>
                </a:solidFill>
              </a:rPr>
              <a:t>1</a:t>
            </a:r>
            <a:r>
              <a:rPr dirty="0" spc="-250"/>
              <a:t>n</a:t>
            </a:r>
            <a:r>
              <a:rPr dirty="0" sz="1150" spc="-525">
                <a:solidFill>
                  <a:srgbClr val="6A7280"/>
                </a:solidFill>
              </a:rPr>
              <a:t>0</a:t>
            </a:r>
            <a:r>
              <a:rPr dirty="0" spc="-55"/>
              <a:t>spark</a:t>
            </a:r>
            <a:endParaRPr sz="1150"/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Relationship Id="rId7" Type="http://schemas.openxmlformats.org/officeDocument/2006/relationships/image" Target="../media/image15.png"/><Relationship Id="rId8" Type="http://schemas.openxmlformats.org/officeDocument/2006/relationships/image" Target="../media/image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image" Target="../media/image19.png"/><Relationship Id="rId7" Type="http://schemas.openxmlformats.org/officeDocument/2006/relationships/image" Target="../media/image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0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image" Target="../media/image22.png"/><Relationship Id="rId6" Type="http://schemas.openxmlformats.org/officeDocument/2006/relationships/image" Target="../media/image23.png"/><Relationship Id="rId7" Type="http://schemas.openxmlformats.org/officeDocument/2006/relationships/image" Target="../media/image12.png"/><Relationship Id="rId8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3" Type="http://schemas.openxmlformats.org/officeDocument/2006/relationships/image" Target="../media/image24.png"/><Relationship Id="rId4" Type="http://schemas.openxmlformats.org/officeDocument/2006/relationships/image" Target="../media/image25.png"/><Relationship Id="rId5" Type="http://schemas.openxmlformats.org/officeDocument/2006/relationships/image" Target="../media/image26.png"/><Relationship Id="rId6" Type="http://schemas.openxmlformats.org/officeDocument/2006/relationships/image" Target="../media/image27.png"/><Relationship Id="rId7" Type="http://schemas.openxmlformats.org/officeDocument/2006/relationships/image" Target="../media/image28.png"/><Relationship Id="rId8" Type="http://schemas.openxmlformats.org/officeDocument/2006/relationships/image" Target="../media/image29.png"/><Relationship Id="rId9" Type="http://schemas.openxmlformats.org/officeDocument/2006/relationships/image" Target="../media/image30.png"/><Relationship Id="rId10" Type="http://schemas.openxmlformats.org/officeDocument/2006/relationships/image" Target="../media/image31.png"/><Relationship Id="rId11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3" Type="http://schemas.openxmlformats.org/officeDocument/2006/relationships/image" Target="../media/image32.png"/><Relationship Id="rId4" Type="http://schemas.openxmlformats.org/officeDocument/2006/relationships/image" Target="../media/image33.png"/><Relationship Id="rId5" Type="http://schemas.openxmlformats.org/officeDocument/2006/relationships/image" Target="../media/image34.png"/><Relationship Id="rId6" Type="http://schemas.openxmlformats.org/officeDocument/2006/relationships/image" Target="../media/image22.png"/><Relationship Id="rId7" Type="http://schemas.openxmlformats.org/officeDocument/2006/relationships/image" Target="../media/image35.png"/><Relationship Id="rId8" Type="http://schemas.openxmlformats.org/officeDocument/2006/relationships/image" Target="../media/image23.png"/><Relationship Id="rId9" Type="http://schemas.openxmlformats.org/officeDocument/2006/relationships/image" Target="../media/image36.png"/><Relationship Id="rId10" Type="http://schemas.openxmlformats.org/officeDocument/2006/relationships/image" Target="../media/image37.png"/><Relationship Id="rId11" Type="http://schemas.openxmlformats.org/officeDocument/2006/relationships/image" Target="../media/image38.png"/><Relationship Id="rId12" Type="http://schemas.openxmlformats.org/officeDocument/2006/relationships/image" Target="../media/image39.png"/><Relationship Id="rId13" Type="http://schemas.openxmlformats.org/officeDocument/2006/relationships/image" Target="../media/image40.png"/><Relationship Id="rId14" Type="http://schemas.openxmlformats.org/officeDocument/2006/relationships/image" Target="../media/image41.png"/><Relationship Id="rId15" Type="http://schemas.openxmlformats.org/officeDocument/2006/relationships/image" Target="../media/image42.png"/><Relationship Id="rId16" Type="http://schemas.openxmlformats.org/officeDocument/2006/relationships/image" Target="../media/image43.png"/><Relationship Id="rId17" Type="http://schemas.openxmlformats.org/officeDocument/2006/relationships/image" Target="../media/image44.png"/><Relationship Id="rId18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3" Type="http://schemas.openxmlformats.org/officeDocument/2006/relationships/image" Target="../media/image45.png"/><Relationship Id="rId4" Type="http://schemas.openxmlformats.org/officeDocument/2006/relationships/image" Target="../media/image46.png"/><Relationship Id="rId5" Type="http://schemas.openxmlformats.org/officeDocument/2006/relationships/image" Target="../media/image47.png"/><Relationship Id="rId6" Type="http://schemas.openxmlformats.org/officeDocument/2006/relationships/image" Target="../media/image48.png"/><Relationship Id="rId7" Type="http://schemas.openxmlformats.org/officeDocument/2006/relationships/image" Target="../media/image49.png"/><Relationship Id="rId8" Type="http://schemas.openxmlformats.org/officeDocument/2006/relationships/image" Target="../media/image50.png"/><Relationship Id="rId9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1.png"/><Relationship Id="rId3" Type="http://schemas.openxmlformats.org/officeDocument/2006/relationships/image" Target="../media/image52.png"/><Relationship Id="rId4" Type="http://schemas.openxmlformats.org/officeDocument/2006/relationships/image" Target="../media/image53.png"/><Relationship Id="rId5" Type="http://schemas.openxmlformats.org/officeDocument/2006/relationships/image" Target="../media/image54.png"/><Relationship Id="rId6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1.png"/><Relationship Id="rId3" Type="http://schemas.openxmlformats.org/officeDocument/2006/relationships/image" Target="../media/image55.png"/><Relationship Id="rId4" Type="http://schemas.openxmlformats.org/officeDocument/2006/relationships/image" Target="../media/image56.png"/><Relationship Id="rId5" Type="http://schemas.openxmlformats.org/officeDocument/2006/relationships/image" Target="../media/image57.png"/><Relationship Id="rId6" Type="http://schemas.openxmlformats.org/officeDocument/2006/relationships/image" Target="../media/image58.png"/><Relationship Id="rId7" Type="http://schemas.openxmlformats.org/officeDocument/2006/relationships/image" Target="../media/image59.png"/><Relationship Id="rId8" Type="http://schemas.openxmlformats.org/officeDocument/2006/relationships/image" Target="../media/image60.png"/><Relationship Id="rId9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0"/>
            <a:ext cx="12192000" cy="7162800"/>
            <a:chOff x="0" y="0"/>
            <a:chExt cx="12192000" cy="716280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1999" cy="7162799"/>
            </a:xfrm>
            <a:prstGeom prst="rect">
              <a:avLst/>
            </a:prstGeom>
          </p:spPr>
        </p:pic>
        <p:sp>
          <p:nvSpPr>
            <p:cNvPr id="4" name="object 4" descr=""/>
            <p:cNvSpPr/>
            <p:nvPr/>
          </p:nvSpPr>
          <p:spPr>
            <a:xfrm>
              <a:off x="152399" y="152399"/>
              <a:ext cx="11887200" cy="6858000"/>
            </a:xfrm>
            <a:custGeom>
              <a:avLst/>
              <a:gdLst/>
              <a:ahLst/>
              <a:cxnLst/>
              <a:rect l="l" t="t" r="r" b="b"/>
              <a:pathLst>
                <a:path w="11887200" h="6858000">
                  <a:moveTo>
                    <a:pt x="11816002" y="6857998"/>
                  </a:moveTo>
                  <a:lnTo>
                    <a:pt x="71196" y="6857998"/>
                  </a:lnTo>
                  <a:lnTo>
                    <a:pt x="66241" y="6857510"/>
                  </a:lnTo>
                  <a:lnTo>
                    <a:pt x="29705" y="6842377"/>
                  </a:lnTo>
                  <a:lnTo>
                    <a:pt x="3885" y="6806336"/>
                  </a:lnTo>
                  <a:lnTo>
                    <a:pt x="0" y="6786802"/>
                  </a:lnTo>
                  <a:lnTo>
                    <a:pt x="0" y="6781799"/>
                  </a:lnTo>
                  <a:lnTo>
                    <a:pt x="0" y="71196"/>
                  </a:lnTo>
                  <a:lnTo>
                    <a:pt x="15621" y="29705"/>
                  </a:lnTo>
                  <a:lnTo>
                    <a:pt x="51662" y="3885"/>
                  </a:lnTo>
                  <a:lnTo>
                    <a:pt x="71196" y="0"/>
                  </a:lnTo>
                  <a:lnTo>
                    <a:pt x="11816002" y="0"/>
                  </a:lnTo>
                  <a:lnTo>
                    <a:pt x="11857492" y="15621"/>
                  </a:lnTo>
                  <a:lnTo>
                    <a:pt x="11883312" y="51662"/>
                  </a:lnTo>
                  <a:lnTo>
                    <a:pt x="11887197" y="71196"/>
                  </a:lnTo>
                  <a:lnTo>
                    <a:pt x="11887197" y="6786802"/>
                  </a:lnTo>
                  <a:lnTo>
                    <a:pt x="11871575" y="6828293"/>
                  </a:lnTo>
                  <a:lnTo>
                    <a:pt x="11835535" y="6854112"/>
                  </a:lnTo>
                  <a:lnTo>
                    <a:pt x="11820956" y="6857510"/>
                  </a:lnTo>
                  <a:lnTo>
                    <a:pt x="11816002" y="685799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152399" y="152400"/>
              <a:ext cx="11887200" cy="609600"/>
            </a:xfrm>
            <a:custGeom>
              <a:avLst/>
              <a:gdLst/>
              <a:ahLst/>
              <a:cxnLst/>
              <a:rect l="l" t="t" r="r" b="b"/>
              <a:pathLst>
                <a:path w="11887200" h="609600">
                  <a:moveTo>
                    <a:pt x="11887198" y="609599"/>
                  </a:moveTo>
                  <a:lnTo>
                    <a:pt x="0" y="609599"/>
                  </a:lnTo>
                  <a:lnTo>
                    <a:pt x="0" y="76200"/>
                  </a:lnTo>
                  <a:lnTo>
                    <a:pt x="12830" y="33857"/>
                  </a:lnTo>
                  <a:lnTo>
                    <a:pt x="47039" y="5800"/>
                  </a:lnTo>
                  <a:lnTo>
                    <a:pt x="76200" y="0"/>
                  </a:lnTo>
                  <a:lnTo>
                    <a:pt x="11810999" y="0"/>
                  </a:lnTo>
                  <a:lnTo>
                    <a:pt x="11853340" y="12830"/>
                  </a:lnTo>
                  <a:lnTo>
                    <a:pt x="11881397" y="47039"/>
                  </a:lnTo>
                  <a:lnTo>
                    <a:pt x="11887198" y="609599"/>
                  </a:lnTo>
                  <a:close/>
                </a:path>
              </a:pathLst>
            </a:custGeom>
            <a:solidFill>
              <a:srgbClr val="1D3A8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"/>
          <p:cNvSpPr txBox="1"/>
          <p:nvPr/>
        </p:nvSpPr>
        <p:spPr>
          <a:xfrm>
            <a:off x="444500" y="316652"/>
            <a:ext cx="2522855" cy="2476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50" spc="-50" b="0">
                <a:solidFill>
                  <a:srgbClr val="FFFFFF"/>
                </a:solidFill>
                <a:latin typeface="Roboto Medium"/>
                <a:cs typeface="Roboto Medium"/>
              </a:rPr>
              <a:t>IEEE</a:t>
            </a:r>
            <a:r>
              <a:rPr dirty="0" sz="1450" spc="-5" b="0">
                <a:solidFill>
                  <a:srgbClr val="FFFFFF"/>
                </a:solidFill>
                <a:latin typeface="Roboto Medium"/>
                <a:cs typeface="Roboto Medium"/>
              </a:rPr>
              <a:t> </a:t>
            </a:r>
            <a:r>
              <a:rPr dirty="0" sz="1450" spc="-65" b="0">
                <a:solidFill>
                  <a:srgbClr val="FFFFFF"/>
                </a:solidFill>
                <a:latin typeface="Roboto Medium"/>
                <a:cs typeface="Roboto Medium"/>
              </a:rPr>
              <a:t>Power</a:t>
            </a:r>
            <a:r>
              <a:rPr dirty="0" sz="1450" b="0">
                <a:solidFill>
                  <a:srgbClr val="FFFFFF"/>
                </a:solidFill>
                <a:latin typeface="Roboto Medium"/>
                <a:cs typeface="Roboto Medium"/>
              </a:rPr>
              <a:t> </a:t>
            </a:r>
            <a:r>
              <a:rPr dirty="0" sz="1450" spc="-70" b="0">
                <a:solidFill>
                  <a:srgbClr val="FFFFFF"/>
                </a:solidFill>
                <a:latin typeface="Roboto Medium"/>
                <a:cs typeface="Roboto Medium"/>
              </a:rPr>
              <a:t>Systems</a:t>
            </a:r>
            <a:r>
              <a:rPr dirty="0" sz="1450" b="0">
                <a:solidFill>
                  <a:srgbClr val="FFFFFF"/>
                </a:solidFill>
                <a:latin typeface="Roboto Medium"/>
                <a:cs typeface="Roboto Medium"/>
              </a:rPr>
              <a:t> </a:t>
            </a:r>
            <a:r>
              <a:rPr dirty="0" sz="1450" spc="-55" b="0">
                <a:solidFill>
                  <a:srgbClr val="FFFFFF"/>
                </a:solidFill>
                <a:latin typeface="Roboto Medium"/>
                <a:cs typeface="Roboto Medium"/>
              </a:rPr>
              <a:t>Conference</a:t>
            </a:r>
            <a:endParaRPr sz="1450">
              <a:latin typeface="Roboto Medium"/>
              <a:cs typeface="Roboto Medium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10754269" y="322579"/>
            <a:ext cx="993775" cy="22923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300" spc="-65">
                <a:solidFill>
                  <a:srgbClr val="FFFFFF"/>
                </a:solidFill>
                <a:latin typeface="Roboto"/>
                <a:cs typeface="Roboto"/>
              </a:rPr>
              <a:t>Framework</a:t>
            </a:r>
            <a:r>
              <a:rPr dirty="0" sz="1300" spc="-15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1300" spc="-25">
                <a:solidFill>
                  <a:srgbClr val="FFFFFF"/>
                </a:solidFill>
                <a:latin typeface="Roboto"/>
                <a:cs typeface="Roboto"/>
              </a:rPr>
              <a:t>32</a:t>
            </a:r>
            <a:endParaRPr sz="1300">
              <a:latin typeface="Roboto"/>
              <a:cs typeface="Roboto"/>
            </a:endParaRPr>
          </a:p>
        </p:txBody>
      </p:sp>
      <p:grpSp>
        <p:nvGrpSpPr>
          <p:cNvPr id="8" name="object 8" descr=""/>
          <p:cNvGrpSpPr/>
          <p:nvPr/>
        </p:nvGrpSpPr>
        <p:grpSpPr>
          <a:xfrm>
            <a:off x="152399" y="6248399"/>
            <a:ext cx="11887200" cy="762000"/>
            <a:chOff x="152399" y="6248399"/>
            <a:chExt cx="11887200" cy="762000"/>
          </a:xfrm>
        </p:grpSpPr>
        <p:sp>
          <p:nvSpPr>
            <p:cNvPr id="9" name="object 9" descr=""/>
            <p:cNvSpPr/>
            <p:nvPr/>
          </p:nvSpPr>
          <p:spPr>
            <a:xfrm>
              <a:off x="152399" y="6248399"/>
              <a:ext cx="11887200" cy="762000"/>
            </a:xfrm>
            <a:custGeom>
              <a:avLst/>
              <a:gdLst/>
              <a:ahLst/>
              <a:cxnLst/>
              <a:rect l="l" t="t" r="r" b="b"/>
              <a:pathLst>
                <a:path w="11887200" h="762000">
                  <a:moveTo>
                    <a:pt x="11810999" y="761999"/>
                  </a:moveTo>
                  <a:lnTo>
                    <a:pt x="76200" y="761999"/>
                  </a:lnTo>
                  <a:lnTo>
                    <a:pt x="68693" y="761637"/>
                  </a:lnTo>
                  <a:lnTo>
                    <a:pt x="27882" y="744732"/>
                  </a:lnTo>
                  <a:lnTo>
                    <a:pt x="3262" y="707886"/>
                  </a:lnTo>
                  <a:lnTo>
                    <a:pt x="0" y="685800"/>
                  </a:lnTo>
                  <a:lnTo>
                    <a:pt x="0" y="0"/>
                  </a:lnTo>
                  <a:lnTo>
                    <a:pt x="11887199" y="0"/>
                  </a:lnTo>
                  <a:lnTo>
                    <a:pt x="11887199" y="685800"/>
                  </a:lnTo>
                  <a:lnTo>
                    <a:pt x="11874368" y="728141"/>
                  </a:lnTo>
                  <a:lnTo>
                    <a:pt x="11840158" y="756199"/>
                  </a:lnTo>
                  <a:lnTo>
                    <a:pt x="11810999" y="761999"/>
                  </a:lnTo>
                  <a:close/>
                </a:path>
              </a:pathLst>
            </a:custGeom>
            <a:solidFill>
              <a:srgbClr val="F2F4F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152399" y="6248399"/>
              <a:ext cx="11887200" cy="9525"/>
            </a:xfrm>
            <a:custGeom>
              <a:avLst/>
              <a:gdLst/>
              <a:ahLst/>
              <a:cxnLst/>
              <a:rect l="l" t="t" r="r" b="b"/>
              <a:pathLst>
                <a:path w="11887200" h="9525">
                  <a:moveTo>
                    <a:pt x="11887199" y="9524"/>
                  </a:moveTo>
                  <a:lnTo>
                    <a:pt x="0" y="9524"/>
                  </a:lnTo>
                  <a:lnTo>
                    <a:pt x="0" y="0"/>
                  </a:lnTo>
                  <a:lnTo>
                    <a:pt x="11887199" y="0"/>
                  </a:lnTo>
                  <a:lnTo>
                    <a:pt x="11887199" y="9524"/>
                  </a:lnTo>
                  <a:close/>
                </a:path>
              </a:pathLst>
            </a:custGeom>
            <a:solidFill>
              <a:srgbClr val="D0D5D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 descr=""/>
          <p:cNvSpPr txBox="1"/>
          <p:nvPr/>
        </p:nvSpPr>
        <p:spPr>
          <a:xfrm>
            <a:off x="444500" y="6504304"/>
            <a:ext cx="2809875" cy="22923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300" spc="-60">
                <a:solidFill>
                  <a:srgbClr val="4A5462"/>
                </a:solidFill>
                <a:latin typeface="Roboto"/>
                <a:cs typeface="Roboto"/>
              </a:rPr>
              <a:t>IEEE</a:t>
            </a:r>
            <a:r>
              <a:rPr dirty="0" sz="1300" spc="-10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1300" spc="-70">
                <a:solidFill>
                  <a:srgbClr val="4A5462"/>
                </a:solidFill>
                <a:latin typeface="Roboto"/>
                <a:cs typeface="Roboto"/>
              </a:rPr>
              <a:t>Power</a:t>
            </a:r>
            <a:r>
              <a:rPr dirty="0" sz="1300" spc="-10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1300" spc="-45">
                <a:solidFill>
                  <a:srgbClr val="4A5462"/>
                </a:solidFill>
                <a:latin typeface="Roboto"/>
                <a:cs typeface="Roboto"/>
              </a:rPr>
              <a:t>Distribution</a:t>
            </a:r>
            <a:r>
              <a:rPr dirty="0" sz="1300" spc="-10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1300" spc="-55">
                <a:solidFill>
                  <a:srgbClr val="4A5462"/>
                </a:solidFill>
                <a:latin typeface="Roboto"/>
                <a:cs typeface="Roboto"/>
              </a:rPr>
              <a:t>Conference</a:t>
            </a:r>
            <a:r>
              <a:rPr dirty="0" sz="1300" spc="-10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1300" spc="-20">
                <a:solidFill>
                  <a:srgbClr val="4A5462"/>
                </a:solidFill>
                <a:latin typeface="Roboto"/>
                <a:cs typeface="Roboto"/>
              </a:rPr>
              <a:t>2023</a:t>
            </a:r>
            <a:endParaRPr sz="1300">
              <a:latin typeface="Roboto"/>
              <a:cs typeface="Roboto"/>
            </a:endParaRPr>
          </a:p>
        </p:txBody>
      </p:sp>
      <p:sp>
        <p:nvSpPr>
          <p:cNvPr id="12" name="object 12" descr=""/>
          <p:cNvSpPr/>
          <p:nvPr/>
        </p:nvSpPr>
        <p:spPr>
          <a:xfrm>
            <a:off x="8601073" y="6410324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36087" y="457199"/>
                </a:moveTo>
                <a:lnTo>
                  <a:pt x="221114" y="457199"/>
                </a:lnTo>
                <a:lnTo>
                  <a:pt x="213645" y="456832"/>
                </a:lnTo>
                <a:lnTo>
                  <a:pt x="169405" y="449530"/>
                </a:lnTo>
                <a:lnTo>
                  <a:pt x="127441" y="433735"/>
                </a:lnTo>
                <a:lnTo>
                  <a:pt x="89364" y="410058"/>
                </a:lnTo>
                <a:lnTo>
                  <a:pt x="56639" y="379408"/>
                </a:lnTo>
                <a:lnTo>
                  <a:pt x="30522" y="342962"/>
                </a:lnTo>
                <a:lnTo>
                  <a:pt x="12016" y="302122"/>
                </a:lnTo>
                <a:lnTo>
                  <a:pt x="1834" y="258456"/>
                </a:lnTo>
                <a:lnTo>
                  <a:pt x="0" y="236086"/>
                </a:lnTo>
                <a:lnTo>
                  <a:pt x="0" y="221112"/>
                </a:lnTo>
                <a:lnTo>
                  <a:pt x="5852" y="176657"/>
                </a:lnTo>
                <a:lnTo>
                  <a:pt x="20266" y="134200"/>
                </a:lnTo>
                <a:lnTo>
                  <a:pt x="42685" y="95370"/>
                </a:lnTo>
                <a:lnTo>
                  <a:pt x="72249" y="61660"/>
                </a:lnTo>
                <a:lnTo>
                  <a:pt x="107821" y="34365"/>
                </a:lnTo>
                <a:lnTo>
                  <a:pt x="148035" y="14535"/>
                </a:lnTo>
                <a:lnTo>
                  <a:pt x="191345" y="2931"/>
                </a:lnTo>
                <a:lnTo>
                  <a:pt x="221114" y="0"/>
                </a:lnTo>
                <a:lnTo>
                  <a:pt x="236087" y="0"/>
                </a:lnTo>
                <a:lnTo>
                  <a:pt x="280540" y="5852"/>
                </a:lnTo>
                <a:lnTo>
                  <a:pt x="322997" y="20265"/>
                </a:lnTo>
                <a:lnTo>
                  <a:pt x="361827" y="42683"/>
                </a:lnTo>
                <a:lnTo>
                  <a:pt x="395538" y="72248"/>
                </a:lnTo>
                <a:lnTo>
                  <a:pt x="422833" y="107820"/>
                </a:lnTo>
                <a:lnTo>
                  <a:pt x="442664" y="148034"/>
                </a:lnTo>
                <a:lnTo>
                  <a:pt x="454268" y="191344"/>
                </a:lnTo>
                <a:lnTo>
                  <a:pt x="457201" y="221112"/>
                </a:lnTo>
                <a:lnTo>
                  <a:pt x="457200" y="228599"/>
                </a:lnTo>
                <a:lnTo>
                  <a:pt x="457201" y="236086"/>
                </a:lnTo>
                <a:lnTo>
                  <a:pt x="451347" y="280539"/>
                </a:lnTo>
                <a:lnTo>
                  <a:pt x="436933" y="322997"/>
                </a:lnTo>
                <a:lnTo>
                  <a:pt x="414513" y="361827"/>
                </a:lnTo>
                <a:lnTo>
                  <a:pt x="384950" y="395538"/>
                </a:lnTo>
                <a:lnTo>
                  <a:pt x="349377" y="422832"/>
                </a:lnTo>
                <a:lnTo>
                  <a:pt x="309163" y="442663"/>
                </a:lnTo>
                <a:lnTo>
                  <a:pt x="265854" y="454267"/>
                </a:lnTo>
                <a:lnTo>
                  <a:pt x="243556" y="456832"/>
                </a:lnTo>
                <a:lnTo>
                  <a:pt x="236087" y="457199"/>
                </a:lnTo>
                <a:close/>
              </a:path>
            </a:pathLst>
          </a:custGeom>
          <a:solidFill>
            <a:srgbClr val="1D3A8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 descr=""/>
          <p:cNvSpPr txBox="1"/>
          <p:nvPr/>
        </p:nvSpPr>
        <p:spPr>
          <a:xfrm>
            <a:off x="8725743" y="6509381"/>
            <a:ext cx="200660" cy="2228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spc="-25" b="1">
                <a:solidFill>
                  <a:srgbClr val="FFFFFF"/>
                </a:solidFill>
                <a:latin typeface="Arial Nova"/>
                <a:cs typeface="Arial Nova"/>
              </a:rPr>
              <a:t>32</a:t>
            </a:r>
            <a:endParaRPr sz="1300">
              <a:latin typeface="Arial Nova"/>
              <a:cs typeface="Arial Nova"/>
            </a:endParaRPr>
          </a:p>
        </p:txBody>
      </p:sp>
      <p:sp>
        <p:nvSpPr>
          <p:cNvPr id="14" name="object 14" descr=""/>
          <p:cNvSpPr/>
          <p:nvPr/>
        </p:nvSpPr>
        <p:spPr>
          <a:xfrm>
            <a:off x="2533649" y="1581149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499" y="380999"/>
                </a:moveTo>
                <a:lnTo>
                  <a:pt x="144200" y="375289"/>
                </a:lnTo>
                <a:lnTo>
                  <a:pt x="100697" y="358507"/>
                </a:lnTo>
                <a:lnTo>
                  <a:pt x="62575" y="331659"/>
                </a:lnTo>
                <a:lnTo>
                  <a:pt x="32104" y="296335"/>
                </a:lnTo>
                <a:lnTo>
                  <a:pt x="11130" y="254667"/>
                </a:lnTo>
                <a:lnTo>
                  <a:pt x="914" y="209172"/>
                </a:lnTo>
                <a:lnTo>
                  <a:pt x="0" y="190499"/>
                </a:lnTo>
                <a:lnTo>
                  <a:pt x="228" y="181141"/>
                </a:lnTo>
                <a:lnTo>
                  <a:pt x="8200" y="135199"/>
                </a:lnTo>
                <a:lnTo>
                  <a:pt x="27095" y="92572"/>
                </a:lnTo>
                <a:lnTo>
                  <a:pt x="55796" y="55796"/>
                </a:lnTo>
                <a:lnTo>
                  <a:pt x="92572" y="27095"/>
                </a:lnTo>
                <a:lnTo>
                  <a:pt x="135199" y="8200"/>
                </a:lnTo>
                <a:lnTo>
                  <a:pt x="181141" y="228"/>
                </a:lnTo>
                <a:lnTo>
                  <a:pt x="190499" y="0"/>
                </a:lnTo>
                <a:lnTo>
                  <a:pt x="199858" y="228"/>
                </a:lnTo>
                <a:lnTo>
                  <a:pt x="245799" y="8200"/>
                </a:lnTo>
                <a:lnTo>
                  <a:pt x="288426" y="27095"/>
                </a:lnTo>
                <a:lnTo>
                  <a:pt x="325203" y="55796"/>
                </a:lnTo>
                <a:lnTo>
                  <a:pt x="353903" y="92572"/>
                </a:lnTo>
                <a:lnTo>
                  <a:pt x="372799" y="135199"/>
                </a:lnTo>
                <a:lnTo>
                  <a:pt x="380771" y="181141"/>
                </a:lnTo>
                <a:lnTo>
                  <a:pt x="380999" y="190499"/>
                </a:lnTo>
                <a:lnTo>
                  <a:pt x="380771" y="199858"/>
                </a:lnTo>
                <a:lnTo>
                  <a:pt x="372799" y="245799"/>
                </a:lnTo>
                <a:lnTo>
                  <a:pt x="353903" y="288427"/>
                </a:lnTo>
                <a:lnTo>
                  <a:pt x="325203" y="325203"/>
                </a:lnTo>
                <a:lnTo>
                  <a:pt x="288426" y="353904"/>
                </a:lnTo>
                <a:lnTo>
                  <a:pt x="245799" y="372799"/>
                </a:lnTo>
                <a:lnTo>
                  <a:pt x="199858" y="380771"/>
                </a:lnTo>
                <a:lnTo>
                  <a:pt x="190499" y="380999"/>
                </a:lnTo>
                <a:close/>
              </a:path>
            </a:pathLst>
          </a:custGeom>
          <a:solidFill>
            <a:srgbClr val="3181CD">
              <a:alpha val="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 descr=""/>
          <p:cNvSpPr txBox="1"/>
          <p:nvPr/>
        </p:nvSpPr>
        <p:spPr>
          <a:xfrm>
            <a:off x="2663824" y="1642107"/>
            <a:ext cx="113030" cy="2228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spc="-50" b="1">
                <a:solidFill>
                  <a:srgbClr val="FFFFFF"/>
                </a:solidFill>
                <a:latin typeface="Arial Nova"/>
                <a:cs typeface="Arial Nova"/>
              </a:rPr>
              <a:t>1</a:t>
            </a:r>
            <a:endParaRPr sz="1300">
              <a:latin typeface="Arial Nova"/>
              <a:cs typeface="Arial Nova"/>
            </a:endParaRPr>
          </a:p>
        </p:txBody>
      </p:sp>
      <p:sp>
        <p:nvSpPr>
          <p:cNvPr id="16" name="object 16" descr=""/>
          <p:cNvSpPr/>
          <p:nvPr/>
        </p:nvSpPr>
        <p:spPr>
          <a:xfrm>
            <a:off x="4314824" y="2133599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499" y="380999"/>
                </a:moveTo>
                <a:lnTo>
                  <a:pt x="144200" y="375289"/>
                </a:lnTo>
                <a:lnTo>
                  <a:pt x="100697" y="358507"/>
                </a:lnTo>
                <a:lnTo>
                  <a:pt x="62575" y="331659"/>
                </a:lnTo>
                <a:lnTo>
                  <a:pt x="32104" y="296335"/>
                </a:lnTo>
                <a:lnTo>
                  <a:pt x="11130" y="254666"/>
                </a:lnTo>
                <a:lnTo>
                  <a:pt x="914" y="209172"/>
                </a:lnTo>
                <a:lnTo>
                  <a:pt x="0" y="190499"/>
                </a:lnTo>
                <a:lnTo>
                  <a:pt x="228" y="181141"/>
                </a:lnTo>
                <a:lnTo>
                  <a:pt x="8199" y="135199"/>
                </a:lnTo>
                <a:lnTo>
                  <a:pt x="27095" y="92572"/>
                </a:lnTo>
                <a:lnTo>
                  <a:pt x="55795" y="55796"/>
                </a:lnTo>
                <a:lnTo>
                  <a:pt x="92571" y="27095"/>
                </a:lnTo>
                <a:lnTo>
                  <a:pt x="135199" y="8200"/>
                </a:lnTo>
                <a:lnTo>
                  <a:pt x="181141" y="228"/>
                </a:lnTo>
                <a:lnTo>
                  <a:pt x="190499" y="0"/>
                </a:lnTo>
                <a:lnTo>
                  <a:pt x="199858" y="228"/>
                </a:lnTo>
                <a:lnTo>
                  <a:pt x="245799" y="8200"/>
                </a:lnTo>
                <a:lnTo>
                  <a:pt x="288426" y="27095"/>
                </a:lnTo>
                <a:lnTo>
                  <a:pt x="325203" y="55796"/>
                </a:lnTo>
                <a:lnTo>
                  <a:pt x="353903" y="92572"/>
                </a:lnTo>
                <a:lnTo>
                  <a:pt x="372798" y="135199"/>
                </a:lnTo>
                <a:lnTo>
                  <a:pt x="380771" y="181141"/>
                </a:lnTo>
                <a:lnTo>
                  <a:pt x="380999" y="190499"/>
                </a:lnTo>
                <a:lnTo>
                  <a:pt x="380771" y="199858"/>
                </a:lnTo>
                <a:lnTo>
                  <a:pt x="372798" y="245799"/>
                </a:lnTo>
                <a:lnTo>
                  <a:pt x="353903" y="288427"/>
                </a:lnTo>
                <a:lnTo>
                  <a:pt x="325203" y="325203"/>
                </a:lnTo>
                <a:lnTo>
                  <a:pt x="288426" y="353904"/>
                </a:lnTo>
                <a:lnTo>
                  <a:pt x="245799" y="372799"/>
                </a:lnTo>
                <a:lnTo>
                  <a:pt x="199858" y="380771"/>
                </a:lnTo>
                <a:lnTo>
                  <a:pt x="190499" y="380999"/>
                </a:lnTo>
                <a:close/>
              </a:path>
            </a:pathLst>
          </a:custGeom>
          <a:solidFill>
            <a:srgbClr val="3181CD">
              <a:alpha val="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 descr=""/>
          <p:cNvSpPr txBox="1"/>
          <p:nvPr/>
        </p:nvSpPr>
        <p:spPr>
          <a:xfrm>
            <a:off x="4446934" y="2194557"/>
            <a:ext cx="100330" cy="2228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spc="-350" b="1">
                <a:solidFill>
                  <a:srgbClr val="FFFFFF"/>
                </a:solidFill>
                <a:latin typeface="Arial Nova"/>
                <a:cs typeface="Arial Nova"/>
              </a:rPr>
              <a:t>2</a:t>
            </a:r>
            <a:endParaRPr sz="1300">
              <a:latin typeface="Arial Nova"/>
              <a:cs typeface="Arial Nova"/>
            </a:endParaRPr>
          </a:p>
        </p:txBody>
      </p:sp>
      <p:sp>
        <p:nvSpPr>
          <p:cNvPr id="18" name="object 18" descr=""/>
          <p:cNvSpPr/>
          <p:nvPr/>
        </p:nvSpPr>
        <p:spPr>
          <a:xfrm>
            <a:off x="3124199" y="2952749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499" y="380999"/>
                </a:moveTo>
                <a:lnTo>
                  <a:pt x="144200" y="375288"/>
                </a:lnTo>
                <a:lnTo>
                  <a:pt x="100697" y="358507"/>
                </a:lnTo>
                <a:lnTo>
                  <a:pt x="62575" y="331659"/>
                </a:lnTo>
                <a:lnTo>
                  <a:pt x="32104" y="296335"/>
                </a:lnTo>
                <a:lnTo>
                  <a:pt x="11130" y="254667"/>
                </a:lnTo>
                <a:lnTo>
                  <a:pt x="914" y="209172"/>
                </a:lnTo>
                <a:lnTo>
                  <a:pt x="0" y="190499"/>
                </a:lnTo>
                <a:lnTo>
                  <a:pt x="228" y="181141"/>
                </a:lnTo>
                <a:lnTo>
                  <a:pt x="8200" y="135199"/>
                </a:lnTo>
                <a:lnTo>
                  <a:pt x="27095" y="92572"/>
                </a:lnTo>
                <a:lnTo>
                  <a:pt x="55796" y="55796"/>
                </a:lnTo>
                <a:lnTo>
                  <a:pt x="92572" y="27095"/>
                </a:lnTo>
                <a:lnTo>
                  <a:pt x="135199" y="8200"/>
                </a:lnTo>
                <a:lnTo>
                  <a:pt x="181141" y="228"/>
                </a:lnTo>
                <a:lnTo>
                  <a:pt x="190499" y="0"/>
                </a:lnTo>
                <a:lnTo>
                  <a:pt x="199858" y="228"/>
                </a:lnTo>
                <a:lnTo>
                  <a:pt x="245799" y="8200"/>
                </a:lnTo>
                <a:lnTo>
                  <a:pt x="288427" y="27095"/>
                </a:lnTo>
                <a:lnTo>
                  <a:pt x="325203" y="55796"/>
                </a:lnTo>
                <a:lnTo>
                  <a:pt x="353903" y="92572"/>
                </a:lnTo>
                <a:lnTo>
                  <a:pt x="372798" y="135199"/>
                </a:lnTo>
                <a:lnTo>
                  <a:pt x="380771" y="181141"/>
                </a:lnTo>
                <a:lnTo>
                  <a:pt x="380999" y="190499"/>
                </a:lnTo>
                <a:lnTo>
                  <a:pt x="380771" y="199858"/>
                </a:lnTo>
                <a:lnTo>
                  <a:pt x="372798" y="245799"/>
                </a:lnTo>
                <a:lnTo>
                  <a:pt x="353903" y="288427"/>
                </a:lnTo>
                <a:lnTo>
                  <a:pt x="325203" y="325203"/>
                </a:lnTo>
                <a:lnTo>
                  <a:pt x="288427" y="353903"/>
                </a:lnTo>
                <a:lnTo>
                  <a:pt x="245799" y="372799"/>
                </a:lnTo>
                <a:lnTo>
                  <a:pt x="199858" y="380771"/>
                </a:lnTo>
                <a:lnTo>
                  <a:pt x="190499" y="380999"/>
                </a:lnTo>
                <a:close/>
              </a:path>
            </a:pathLst>
          </a:custGeom>
          <a:solidFill>
            <a:srgbClr val="3181CD">
              <a:alpha val="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 descr=""/>
          <p:cNvSpPr txBox="1"/>
          <p:nvPr/>
        </p:nvSpPr>
        <p:spPr>
          <a:xfrm>
            <a:off x="3258244" y="3013707"/>
            <a:ext cx="113030" cy="2228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spc="-50" b="1">
                <a:solidFill>
                  <a:srgbClr val="FFFFFF"/>
                </a:solidFill>
                <a:latin typeface="Arial Nova"/>
                <a:cs typeface="Arial Nova"/>
              </a:rPr>
              <a:t>3</a:t>
            </a:r>
            <a:endParaRPr sz="1300">
              <a:latin typeface="Arial Nova"/>
              <a:cs typeface="Arial Nova"/>
            </a:endParaRPr>
          </a:p>
        </p:txBody>
      </p:sp>
      <p:sp>
        <p:nvSpPr>
          <p:cNvPr id="20" name="object 20" descr=""/>
          <p:cNvSpPr/>
          <p:nvPr/>
        </p:nvSpPr>
        <p:spPr>
          <a:xfrm>
            <a:off x="4905362" y="2409824"/>
            <a:ext cx="1571625" cy="1752600"/>
          </a:xfrm>
          <a:custGeom>
            <a:avLst/>
            <a:gdLst/>
            <a:ahLst/>
            <a:cxnLst/>
            <a:rect l="l" t="t" r="r" b="b"/>
            <a:pathLst>
              <a:path w="1571625" h="1752600">
                <a:moveTo>
                  <a:pt x="381000" y="1562100"/>
                </a:moveTo>
                <a:lnTo>
                  <a:pt x="375297" y="1515808"/>
                </a:lnTo>
                <a:lnTo>
                  <a:pt x="358508" y="1472298"/>
                </a:lnTo>
                <a:lnTo>
                  <a:pt x="331660" y="1434185"/>
                </a:lnTo>
                <a:lnTo>
                  <a:pt x="296341" y="1403705"/>
                </a:lnTo>
                <a:lnTo>
                  <a:pt x="254673" y="1382737"/>
                </a:lnTo>
                <a:lnTo>
                  <a:pt x="209181" y="1372527"/>
                </a:lnTo>
                <a:lnTo>
                  <a:pt x="190500" y="1371600"/>
                </a:lnTo>
                <a:lnTo>
                  <a:pt x="181152" y="1371828"/>
                </a:lnTo>
                <a:lnTo>
                  <a:pt x="135204" y="1379804"/>
                </a:lnTo>
                <a:lnTo>
                  <a:pt x="92583" y="1398701"/>
                </a:lnTo>
                <a:lnTo>
                  <a:pt x="55803" y="1427403"/>
                </a:lnTo>
                <a:lnTo>
                  <a:pt x="27101" y="1464183"/>
                </a:lnTo>
                <a:lnTo>
                  <a:pt x="8204" y="1506804"/>
                </a:lnTo>
                <a:lnTo>
                  <a:pt x="228" y="1552752"/>
                </a:lnTo>
                <a:lnTo>
                  <a:pt x="0" y="1562100"/>
                </a:lnTo>
                <a:lnTo>
                  <a:pt x="228" y="1571459"/>
                </a:lnTo>
                <a:lnTo>
                  <a:pt x="8204" y="1617408"/>
                </a:lnTo>
                <a:lnTo>
                  <a:pt x="27101" y="1660029"/>
                </a:lnTo>
                <a:lnTo>
                  <a:pt x="55803" y="1696808"/>
                </a:lnTo>
                <a:lnTo>
                  <a:pt x="92583" y="1725510"/>
                </a:lnTo>
                <a:lnTo>
                  <a:pt x="135204" y="1744408"/>
                </a:lnTo>
                <a:lnTo>
                  <a:pt x="181152" y="1752371"/>
                </a:lnTo>
                <a:lnTo>
                  <a:pt x="190500" y="1752600"/>
                </a:lnTo>
                <a:lnTo>
                  <a:pt x="199859" y="1752371"/>
                </a:lnTo>
                <a:lnTo>
                  <a:pt x="245808" y="1744408"/>
                </a:lnTo>
                <a:lnTo>
                  <a:pt x="288429" y="1725510"/>
                </a:lnTo>
                <a:lnTo>
                  <a:pt x="325208" y="1696808"/>
                </a:lnTo>
                <a:lnTo>
                  <a:pt x="353910" y="1660029"/>
                </a:lnTo>
                <a:lnTo>
                  <a:pt x="372808" y="1617408"/>
                </a:lnTo>
                <a:lnTo>
                  <a:pt x="380771" y="1571459"/>
                </a:lnTo>
                <a:lnTo>
                  <a:pt x="381000" y="1562100"/>
                </a:lnTo>
                <a:close/>
              </a:path>
              <a:path w="1571625" h="1752600">
                <a:moveTo>
                  <a:pt x="1571625" y="190500"/>
                </a:moveTo>
                <a:lnTo>
                  <a:pt x="1565922" y="144208"/>
                </a:lnTo>
                <a:lnTo>
                  <a:pt x="1549133" y="100698"/>
                </a:lnTo>
                <a:lnTo>
                  <a:pt x="1522285" y="62585"/>
                </a:lnTo>
                <a:lnTo>
                  <a:pt x="1486966" y="32105"/>
                </a:lnTo>
                <a:lnTo>
                  <a:pt x="1445298" y="11137"/>
                </a:lnTo>
                <a:lnTo>
                  <a:pt x="1399806" y="927"/>
                </a:lnTo>
                <a:lnTo>
                  <a:pt x="1381125" y="0"/>
                </a:lnTo>
                <a:lnTo>
                  <a:pt x="1371777" y="228"/>
                </a:lnTo>
                <a:lnTo>
                  <a:pt x="1325829" y="8204"/>
                </a:lnTo>
                <a:lnTo>
                  <a:pt x="1283208" y="27101"/>
                </a:lnTo>
                <a:lnTo>
                  <a:pt x="1246428" y="55803"/>
                </a:lnTo>
                <a:lnTo>
                  <a:pt x="1217726" y="92583"/>
                </a:lnTo>
                <a:lnTo>
                  <a:pt x="1198829" y="135204"/>
                </a:lnTo>
                <a:lnTo>
                  <a:pt x="1190853" y="181152"/>
                </a:lnTo>
                <a:lnTo>
                  <a:pt x="1190625" y="190500"/>
                </a:lnTo>
                <a:lnTo>
                  <a:pt x="1190853" y="199859"/>
                </a:lnTo>
                <a:lnTo>
                  <a:pt x="1198829" y="245808"/>
                </a:lnTo>
                <a:lnTo>
                  <a:pt x="1217726" y="288429"/>
                </a:lnTo>
                <a:lnTo>
                  <a:pt x="1246428" y="325208"/>
                </a:lnTo>
                <a:lnTo>
                  <a:pt x="1283208" y="353910"/>
                </a:lnTo>
                <a:lnTo>
                  <a:pt x="1325829" y="372808"/>
                </a:lnTo>
                <a:lnTo>
                  <a:pt x="1371777" y="380771"/>
                </a:lnTo>
                <a:lnTo>
                  <a:pt x="1381125" y="381000"/>
                </a:lnTo>
                <a:lnTo>
                  <a:pt x="1390484" y="380771"/>
                </a:lnTo>
                <a:lnTo>
                  <a:pt x="1436433" y="372808"/>
                </a:lnTo>
                <a:lnTo>
                  <a:pt x="1479054" y="353910"/>
                </a:lnTo>
                <a:lnTo>
                  <a:pt x="1515833" y="325208"/>
                </a:lnTo>
                <a:lnTo>
                  <a:pt x="1544535" y="288429"/>
                </a:lnTo>
                <a:lnTo>
                  <a:pt x="1563433" y="245808"/>
                </a:lnTo>
                <a:lnTo>
                  <a:pt x="1571396" y="199859"/>
                </a:lnTo>
                <a:lnTo>
                  <a:pt x="1571625" y="190500"/>
                </a:lnTo>
                <a:close/>
              </a:path>
            </a:pathLst>
          </a:custGeom>
          <a:solidFill>
            <a:srgbClr val="3181CD">
              <a:alpha val="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 descr=""/>
          <p:cNvSpPr txBox="1"/>
          <p:nvPr/>
        </p:nvSpPr>
        <p:spPr>
          <a:xfrm>
            <a:off x="6230044" y="2470782"/>
            <a:ext cx="113030" cy="2228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spc="-50" b="1">
                <a:solidFill>
                  <a:srgbClr val="FFFFFF"/>
                </a:solidFill>
                <a:latin typeface="Arial Nova"/>
                <a:cs typeface="Arial Nova"/>
              </a:rPr>
              <a:t>5</a:t>
            </a:r>
            <a:endParaRPr sz="1300">
              <a:latin typeface="Arial Nova"/>
              <a:cs typeface="Arial Nova"/>
            </a:endParaRPr>
          </a:p>
        </p:txBody>
      </p:sp>
      <p:sp>
        <p:nvSpPr>
          <p:cNvPr id="22" name="object 22" descr=""/>
          <p:cNvSpPr/>
          <p:nvPr/>
        </p:nvSpPr>
        <p:spPr>
          <a:xfrm>
            <a:off x="7877174" y="3228974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499" y="380999"/>
                </a:moveTo>
                <a:lnTo>
                  <a:pt x="144199" y="375288"/>
                </a:lnTo>
                <a:lnTo>
                  <a:pt x="100697" y="358507"/>
                </a:lnTo>
                <a:lnTo>
                  <a:pt x="62575" y="331659"/>
                </a:lnTo>
                <a:lnTo>
                  <a:pt x="32105" y="296335"/>
                </a:lnTo>
                <a:lnTo>
                  <a:pt x="11130" y="254666"/>
                </a:lnTo>
                <a:lnTo>
                  <a:pt x="914" y="209172"/>
                </a:lnTo>
                <a:lnTo>
                  <a:pt x="0" y="190499"/>
                </a:lnTo>
                <a:lnTo>
                  <a:pt x="228" y="181141"/>
                </a:lnTo>
                <a:lnTo>
                  <a:pt x="8200" y="135199"/>
                </a:lnTo>
                <a:lnTo>
                  <a:pt x="27095" y="92572"/>
                </a:lnTo>
                <a:lnTo>
                  <a:pt x="55796" y="55796"/>
                </a:lnTo>
                <a:lnTo>
                  <a:pt x="92571" y="27095"/>
                </a:lnTo>
                <a:lnTo>
                  <a:pt x="135198" y="8200"/>
                </a:lnTo>
                <a:lnTo>
                  <a:pt x="181140" y="228"/>
                </a:lnTo>
                <a:lnTo>
                  <a:pt x="190499" y="0"/>
                </a:lnTo>
                <a:lnTo>
                  <a:pt x="199858" y="228"/>
                </a:lnTo>
                <a:lnTo>
                  <a:pt x="245799" y="8200"/>
                </a:lnTo>
                <a:lnTo>
                  <a:pt x="288425" y="27095"/>
                </a:lnTo>
                <a:lnTo>
                  <a:pt x="325202" y="55796"/>
                </a:lnTo>
                <a:lnTo>
                  <a:pt x="353902" y="92572"/>
                </a:lnTo>
                <a:lnTo>
                  <a:pt x="372798" y="135199"/>
                </a:lnTo>
                <a:lnTo>
                  <a:pt x="380771" y="181141"/>
                </a:lnTo>
                <a:lnTo>
                  <a:pt x="380999" y="190499"/>
                </a:lnTo>
                <a:lnTo>
                  <a:pt x="380771" y="199858"/>
                </a:lnTo>
                <a:lnTo>
                  <a:pt x="372798" y="245799"/>
                </a:lnTo>
                <a:lnTo>
                  <a:pt x="353902" y="288427"/>
                </a:lnTo>
                <a:lnTo>
                  <a:pt x="325202" y="325203"/>
                </a:lnTo>
                <a:lnTo>
                  <a:pt x="288425" y="353903"/>
                </a:lnTo>
                <a:lnTo>
                  <a:pt x="245799" y="372798"/>
                </a:lnTo>
                <a:lnTo>
                  <a:pt x="199858" y="380771"/>
                </a:lnTo>
                <a:lnTo>
                  <a:pt x="190499" y="380999"/>
                </a:lnTo>
                <a:close/>
              </a:path>
            </a:pathLst>
          </a:custGeom>
          <a:solidFill>
            <a:srgbClr val="3181CD">
              <a:alpha val="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 descr=""/>
          <p:cNvSpPr txBox="1"/>
          <p:nvPr/>
        </p:nvSpPr>
        <p:spPr>
          <a:xfrm>
            <a:off x="8013005" y="3289932"/>
            <a:ext cx="113030" cy="2228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spc="-50" b="1">
                <a:solidFill>
                  <a:srgbClr val="FFFFFF"/>
                </a:solidFill>
                <a:latin typeface="Arial Nova"/>
                <a:cs typeface="Arial Nova"/>
              </a:rPr>
              <a:t>6</a:t>
            </a:r>
            <a:endParaRPr sz="1300">
              <a:latin typeface="Arial Nova"/>
              <a:cs typeface="Arial Nova"/>
            </a:endParaRPr>
          </a:p>
        </p:txBody>
      </p:sp>
      <p:grpSp>
        <p:nvGrpSpPr>
          <p:cNvPr id="24" name="object 24" descr=""/>
          <p:cNvGrpSpPr/>
          <p:nvPr/>
        </p:nvGrpSpPr>
        <p:grpSpPr>
          <a:xfrm>
            <a:off x="2769309" y="1695774"/>
            <a:ext cx="7015480" cy="3562350"/>
            <a:chOff x="2769309" y="1695774"/>
            <a:chExt cx="7015480" cy="3562350"/>
          </a:xfrm>
        </p:grpSpPr>
        <p:sp>
          <p:nvSpPr>
            <p:cNvPr id="25" name="object 25" descr=""/>
            <p:cNvSpPr/>
            <p:nvPr/>
          </p:nvSpPr>
          <p:spPr>
            <a:xfrm>
              <a:off x="6686537" y="4057649"/>
              <a:ext cx="2762250" cy="1200150"/>
            </a:xfrm>
            <a:custGeom>
              <a:avLst/>
              <a:gdLst/>
              <a:ahLst/>
              <a:cxnLst/>
              <a:rect l="l" t="t" r="r" b="b"/>
              <a:pathLst>
                <a:path w="2762250" h="1200150">
                  <a:moveTo>
                    <a:pt x="381000" y="1009650"/>
                  </a:moveTo>
                  <a:lnTo>
                    <a:pt x="375297" y="963358"/>
                  </a:lnTo>
                  <a:lnTo>
                    <a:pt x="358508" y="919848"/>
                  </a:lnTo>
                  <a:lnTo>
                    <a:pt x="331660" y="881735"/>
                  </a:lnTo>
                  <a:lnTo>
                    <a:pt x="296341" y="851255"/>
                  </a:lnTo>
                  <a:lnTo>
                    <a:pt x="254673" y="830287"/>
                  </a:lnTo>
                  <a:lnTo>
                    <a:pt x="209181" y="820077"/>
                  </a:lnTo>
                  <a:lnTo>
                    <a:pt x="190500" y="819150"/>
                  </a:lnTo>
                  <a:lnTo>
                    <a:pt x="181152" y="819378"/>
                  </a:lnTo>
                  <a:lnTo>
                    <a:pt x="135204" y="827354"/>
                  </a:lnTo>
                  <a:lnTo>
                    <a:pt x="92583" y="846251"/>
                  </a:lnTo>
                  <a:lnTo>
                    <a:pt x="55803" y="874953"/>
                  </a:lnTo>
                  <a:lnTo>
                    <a:pt x="27101" y="911733"/>
                  </a:lnTo>
                  <a:lnTo>
                    <a:pt x="8204" y="954354"/>
                  </a:lnTo>
                  <a:lnTo>
                    <a:pt x="228" y="1000302"/>
                  </a:lnTo>
                  <a:lnTo>
                    <a:pt x="0" y="1009650"/>
                  </a:lnTo>
                  <a:lnTo>
                    <a:pt x="228" y="1019009"/>
                  </a:lnTo>
                  <a:lnTo>
                    <a:pt x="8204" y="1064958"/>
                  </a:lnTo>
                  <a:lnTo>
                    <a:pt x="27101" y="1107579"/>
                  </a:lnTo>
                  <a:lnTo>
                    <a:pt x="55803" y="1144358"/>
                  </a:lnTo>
                  <a:lnTo>
                    <a:pt x="92583" y="1173060"/>
                  </a:lnTo>
                  <a:lnTo>
                    <a:pt x="135204" y="1191958"/>
                  </a:lnTo>
                  <a:lnTo>
                    <a:pt x="181152" y="1199921"/>
                  </a:lnTo>
                  <a:lnTo>
                    <a:pt x="190500" y="1200150"/>
                  </a:lnTo>
                  <a:lnTo>
                    <a:pt x="199859" y="1199921"/>
                  </a:lnTo>
                  <a:lnTo>
                    <a:pt x="245808" y="1191958"/>
                  </a:lnTo>
                  <a:lnTo>
                    <a:pt x="288429" y="1173060"/>
                  </a:lnTo>
                  <a:lnTo>
                    <a:pt x="325208" y="1144358"/>
                  </a:lnTo>
                  <a:lnTo>
                    <a:pt x="353910" y="1107579"/>
                  </a:lnTo>
                  <a:lnTo>
                    <a:pt x="372808" y="1064958"/>
                  </a:lnTo>
                  <a:lnTo>
                    <a:pt x="380771" y="1019009"/>
                  </a:lnTo>
                  <a:lnTo>
                    <a:pt x="381000" y="1009650"/>
                  </a:lnTo>
                  <a:close/>
                </a:path>
                <a:path w="2762250" h="1200150">
                  <a:moveTo>
                    <a:pt x="2762250" y="190500"/>
                  </a:moveTo>
                  <a:lnTo>
                    <a:pt x="2756547" y="144208"/>
                  </a:lnTo>
                  <a:lnTo>
                    <a:pt x="2739758" y="100698"/>
                  </a:lnTo>
                  <a:lnTo>
                    <a:pt x="2712910" y="62585"/>
                  </a:lnTo>
                  <a:lnTo>
                    <a:pt x="2677591" y="32105"/>
                  </a:lnTo>
                  <a:lnTo>
                    <a:pt x="2635923" y="11137"/>
                  </a:lnTo>
                  <a:lnTo>
                    <a:pt x="2590431" y="927"/>
                  </a:lnTo>
                  <a:lnTo>
                    <a:pt x="2571750" y="0"/>
                  </a:lnTo>
                  <a:lnTo>
                    <a:pt x="2562390" y="228"/>
                  </a:lnTo>
                  <a:lnTo>
                    <a:pt x="2516454" y="8204"/>
                  </a:lnTo>
                  <a:lnTo>
                    <a:pt x="2473833" y="27101"/>
                  </a:lnTo>
                  <a:lnTo>
                    <a:pt x="2437053" y="55803"/>
                  </a:lnTo>
                  <a:lnTo>
                    <a:pt x="2408351" y="92583"/>
                  </a:lnTo>
                  <a:lnTo>
                    <a:pt x="2389454" y="135204"/>
                  </a:lnTo>
                  <a:lnTo>
                    <a:pt x="2381478" y="181152"/>
                  </a:lnTo>
                  <a:lnTo>
                    <a:pt x="2381250" y="190500"/>
                  </a:lnTo>
                  <a:lnTo>
                    <a:pt x="2381478" y="199859"/>
                  </a:lnTo>
                  <a:lnTo>
                    <a:pt x="2389454" y="245808"/>
                  </a:lnTo>
                  <a:lnTo>
                    <a:pt x="2408351" y="288429"/>
                  </a:lnTo>
                  <a:lnTo>
                    <a:pt x="2437053" y="325208"/>
                  </a:lnTo>
                  <a:lnTo>
                    <a:pt x="2473833" y="353910"/>
                  </a:lnTo>
                  <a:lnTo>
                    <a:pt x="2516454" y="372808"/>
                  </a:lnTo>
                  <a:lnTo>
                    <a:pt x="2562390" y="380771"/>
                  </a:lnTo>
                  <a:lnTo>
                    <a:pt x="2571750" y="381000"/>
                  </a:lnTo>
                  <a:lnTo>
                    <a:pt x="2581110" y="380771"/>
                  </a:lnTo>
                  <a:lnTo>
                    <a:pt x="2627058" y="372808"/>
                  </a:lnTo>
                  <a:lnTo>
                    <a:pt x="2669679" y="353910"/>
                  </a:lnTo>
                  <a:lnTo>
                    <a:pt x="2706459" y="325208"/>
                  </a:lnTo>
                  <a:lnTo>
                    <a:pt x="2735161" y="288429"/>
                  </a:lnTo>
                  <a:lnTo>
                    <a:pt x="2754058" y="245808"/>
                  </a:lnTo>
                  <a:lnTo>
                    <a:pt x="2762021" y="199859"/>
                  </a:lnTo>
                  <a:lnTo>
                    <a:pt x="2762250" y="190500"/>
                  </a:lnTo>
                  <a:close/>
                </a:path>
              </a:pathLst>
            </a:custGeom>
            <a:solidFill>
              <a:srgbClr val="3181CD">
                <a:alpha val="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 descr=""/>
            <p:cNvSpPr/>
            <p:nvPr/>
          </p:nvSpPr>
          <p:spPr>
            <a:xfrm>
              <a:off x="2769298" y="1695779"/>
              <a:ext cx="7015480" cy="2483485"/>
            </a:xfrm>
            <a:custGeom>
              <a:avLst/>
              <a:gdLst/>
              <a:ahLst/>
              <a:cxnLst/>
              <a:rect l="l" t="t" r="r" b="b"/>
              <a:pathLst>
                <a:path w="7015480" h="2483485">
                  <a:moveTo>
                    <a:pt x="1108989" y="295833"/>
                  </a:moveTo>
                  <a:lnTo>
                    <a:pt x="4940" y="0"/>
                  </a:lnTo>
                  <a:lnTo>
                    <a:pt x="0" y="18402"/>
                  </a:lnTo>
                  <a:lnTo>
                    <a:pt x="1104061" y="314236"/>
                  </a:lnTo>
                  <a:lnTo>
                    <a:pt x="1108989" y="295833"/>
                  </a:lnTo>
                  <a:close/>
                </a:path>
                <a:path w="7015480" h="2483485">
                  <a:moveTo>
                    <a:pt x="1805609" y="1935734"/>
                  </a:moveTo>
                  <a:lnTo>
                    <a:pt x="597039" y="1372171"/>
                  </a:lnTo>
                  <a:lnTo>
                    <a:pt x="589000" y="1389430"/>
                  </a:lnTo>
                  <a:lnTo>
                    <a:pt x="1797558" y="1952993"/>
                  </a:lnTo>
                  <a:lnTo>
                    <a:pt x="1805609" y="1935734"/>
                  </a:lnTo>
                  <a:close/>
                </a:path>
                <a:path w="7015480" h="2483485">
                  <a:moveTo>
                    <a:pt x="2681960" y="244830"/>
                  </a:moveTo>
                  <a:lnTo>
                    <a:pt x="2675445" y="226923"/>
                  </a:lnTo>
                  <a:lnTo>
                    <a:pt x="1780387" y="552704"/>
                  </a:lnTo>
                  <a:lnTo>
                    <a:pt x="1786902" y="570598"/>
                  </a:lnTo>
                  <a:lnTo>
                    <a:pt x="2681960" y="244830"/>
                  </a:lnTo>
                  <a:close/>
                </a:path>
                <a:path w="7015480" h="2483485">
                  <a:moveTo>
                    <a:pt x="3500450" y="1685277"/>
                  </a:moveTo>
                  <a:lnTo>
                    <a:pt x="3492411" y="1668005"/>
                  </a:lnTo>
                  <a:lnTo>
                    <a:pt x="2370175" y="2191321"/>
                  </a:lnTo>
                  <a:lnTo>
                    <a:pt x="2378214" y="2208580"/>
                  </a:lnTo>
                  <a:lnTo>
                    <a:pt x="3500450" y="1685277"/>
                  </a:lnTo>
                  <a:close/>
                </a:path>
                <a:path w="7015480" h="2483485">
                  <a:moveTo>
                    <a:pt x="4559452" y="1391602"/>
                  </a:moveTo>
                  <a:lnTo>
                    <a:pt x="3569576" y="820102"/>
                  </a:lnTo>
                  <a:lnTo>
                    <a:pt x="3560051" y="836599"/>
                  </a:lnTo>
                  <a:lnTo>
                    <a:pt x="4549927" y="1408099"/>
                  </a:lnTo>
                  <a:lnTo>
                    <a:pt x="4559452" y="1391602"/>
                  </a:lnTo>
                  <a:close/>
                </a:path>
                <a:path w="7015480" h="2483485">
                  <a:moveTo>
                    <a:pt x="6333820" y="2006422"/>
                  </a:moveTo>
                  <a:lnTo>
                    <a:pt x="5349252" y="1648079"/>
                  </a:lnTo>
                  <a:lnTo>
                    <a:pt x="5342737" y="1665973"/>
                  </a:lnTo>
                  <a:lnTo>
                    <a:pt x="6327305" y="2024329"/>
                  </a:lnTo>
                  <a:lnTo>
                    <a:pt x="6333820" y="2006422"/>
                  </a:lnTo>
                  <a:close/>
                </a:path>
                <a:path w="7015480" h="2483485">
                  <a:moveTo>
                    <a:pt x="7015048" y="1687537"/>
                  </a:moveTo>
                  <a:lnTo>
                    <a:pt x="7002805" y="1672945"/>
                  </a:lnTo>
                  <a:lnTo>
                    <a:pt x="6054242" y="2468880"/>
                  </a:lnTo>
                  <a:lnTo>
                    <a:pt x="6066498" y="2483472"/>
                  </a:lnTo>
                  <a:lnTo>
                    <a:pt x="7015048" y="1687537"/>
                  </a:lnTo>
                  <a:close/>
                </a:path>
              </a:pathLst>
            </a:custGeom>
            <a:solidFill>
              <a:srgbClr val="A0AEBF">
                <a:alpha val="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7" name="object 27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714347" y="1904598"/>
              <a:ext cx="229403" cy="229403"/>
            </a:xfrm>
            <a:prstGeom prst="rect">
              <a:avLst/>
            </a:prstGeom>
          </p:spPr>
        </p:pic>
        <p:pic>
          <p:nvPicPr>
            <p:cNvPr id="28" name="object 28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477249" y="3552824"/>
              <a:ext cx="228600" cy="228600"/>
            </a:xfrm>
            <a:prstGeom prst="rect">
              <a:avLst/>
            </a:prstGeom>
          </p:spPr>
        </p:pic>
        <p:sp>
          <p:nvSpPr>
            <p:cNvPr id="29" name="object 29" descr=""/>
            <p:cNvSpPr/>
            <p:nvPr/>
          </p:nvSpPr>
          <p:spPr>
            <a:xfrm>
              <a:off x="3295649" y="4457699"/>
              <a:ext cx="609600" cy="609600"/>
            </a:xfrm>
            <a:custGeom>
              <a:avLst/>
              <a:gdLst/>
              <a:ahLst/>
              <a:cxnLst/>
              <a:rect l="l" t="t" r="r" b="b"/>
              <a:pathLst>
                <a:path w="609600" h="609600">
                  <a:moveTo>
                    <a:pt x="304799" y="609599"/>
                  </a:moveTo>
                  <a:lnTo>
                    <a:pt x="260076" y="606301"/>
                  </a:lnTo>
                  <a:lnTo>
                    <a:pt x="216321" y="596475"/>
                  </a:lnTo>
                  <a:lnTo>
                    <a:pt x="174480" y="580335"/>
                  </a:lnTo>
                  <a:lnTo>
                    <a:pt x="135461" y="558230"/>
                  </a:lnTo>
                  <a:lnTo>
                    <a:pt x="100108" y="530641"/>
                  </a:lnTo>
                  <a:lnTo>
                    <a:pt x="69186" y="498163"/>
                  </a:lnTo>
                  <a:lnTo>
                    <a:pt x="43363" y="461498"/>
                  </a:lnTo>
                  <a:lnTo>
                    <a:pt x="23200" y="421441"/>
                  </a:lnTo>
                  <a:lnTo>
                    <a:pt x="9134" y="378859"/>
                  </a:lnTo>
                  <a:lnTo>
                    <a:pt x="1467" y="334675"/>
                  </a:lnTo>
                  <a:lnTo>
                    <a:pt x="0" y="304799"/>
                  </a:lnTo>
                  <a:lnTo>
                    <a:pt x="366" y="289844"/>
                  </a:lnTo>
                  <a:lnTo>
                    <a:pt x="5856" y="245335"/>
                  </a:lnTo>
                  <a:lnTo>
                    <a:pt x="17816" y="202115"/>
                  </a:lnTo>
                  <a:lnTo>
                    <a:pt x="35989" y="161118"/>
                  </a:lnTo>
                  <a:lnTo>
                    <a:pt x="59981" y="123230"/>
                  </a:lnTo>
                  <a:lnTo>
                    <a:pt x="89273" y="89273"/>
                  </a:lnTo>
                  <a:lnTo>
                    <a:pt x="123230" y="59981"/>
                  </a:lnTo>
                  <a:lnTo>
                    <a:pt x="161118" y="35989"/>
                  </a:lnTo>
                  <a:lnTo>
                    <a:pt x="202115" y="17817"/>
                  </a:lnTo>
                  <a:lnTo>
                    <a:pt x="245336" y="5856"/>
                  </a:lnTo>
                  <a:lnTo>
                    <a:pt x="289843" y="367"/>
                  </a:lnTo>
                  <a:lnTo>
                    <a:pt x="304799" y="0"/>
                  </a:lnTo>
                  <a:lnTo>
                    <a:pt x="319755" y="367"/>
                  </a:lnTo>
                  <a:lnTo>
                    <a:pt x="364263" y="5856"/>
                  </a:lnTo>
                  <a:lnTo>
                    <a:pt x="407483" y="17817"/>
                  </a:lnTo>
                  <a:lnTo>
                    <a:pt x="448481" y="35989"/>
                  </a:lnTo>
                  <a:lnTo>
                    <a:pt x="486368" y="59981"/>
                  </a:lnTo>
                  <a:lnTo>
                    <a:pt x="520326" y="89273"/>
                  </a:lnTo>
                  <a:lnTo>
                    <a:pt x="549617" y="123230"/>
                  </a:lnTo>
                  <a:lnTo>
                    <a:pt x="573609" y="161118"/>
                  </a:lnTo>
                  <a:lnTo>
                    <a:pt x="591782" y="202115"/>
                  </a:lnTo>
                  <a:lnTo>
                    <a:pt x="603743" y="245335"/>
                  </a:lnTo>
                  <a:lnTo>
                    <a:pt x="609233" y="289844"/>
                  </a:lnTo>
                  <a:lnTo>
                    <a:pt x="609599" y="304799"/>
                  </a:lnTo>
                  <a:lnTo>
                    <a:pt x="609233" y="319755"/>
                  </a:lnTo>
                  <a:lnTo>
                    <a:pt x="603743" y="364263"/>
                  </a:lnTo>
                  <a:lnTo>
                    <a:pt x="591783" y="407483"/>
                  </a:lnTo>
                  <a:lnTo>
                    <a:pt x="573609" y="448481"/>
                  </a:lnTo>
                  <a:lnTo>
                    <a:pt x="549618" y="486369"/>
                  </a:lnTo>
                  <a:lnTo>
                    <a:pt x="520326" y="520325"/>
                  </a:lnTo>
                  <a:lnTo>
                    <a:pt x="486368" y="549617"/>
                  </a:lnTo>
                  <a:lnTo>
                    <a:pt x="448481" y="573608"/>
                  </a:lnTo>
                  <a:lnTo>
                    <a:pt x="407483" y="591782"/>
                  </a:lnTo>
                  <a:lnTo>
                    <a:pt x="364263" y="603743"/>
                  </a:lnTo>
                  <a:lnTo>
                    <a:pt x="319755" y="609233"/>
                  </a:lnTo>
                  <a:lnTo>
                    <a:pt x="304799" y="609599"/>
                  </a:lnTo>
                  <a:close/>
                </a:path>
              </a:pathLst>
            </a:custGeom>
            <a:solidFill>
              <a:srgbClr val="1C4ED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 descr=""/>
            <p:cNvSpPr/>
            <p:nvPr/>
          </p:nvSpPr>
          <p:spPr>
            <a:xfrm>
              <a:off x="3457574" y="4648199"/>
              <a:ext cx="285750" cy="228600"/>
            </a:xfrm>
            <a:custGeom>
              <a:avLst/>
              <a:gdLst/>
              <a:ahLst/>
              <a:cxnLst/>
              <a:rect l="l" t="t" r="r" b="b"/>
              <a:pathLst>
                <a:path w="285750" h="228600">
                  <a:moveTo>
                    <a:pt x="157162" y="42862"/>
                  </a:moveTo>
                  <a:lnTo>
                    <a:pt x="128587" y="42862"/>
                  </a:lnTo>
                  <a:lnTo>
                    <a:pt x="128587" y="6384"/>
                  </a:lnTo>
                  <a:lnTo>
                    <a:pt x="134972" y="0"/>
                  </a:lnTo>
                  <a:lnTo>
                    <a:pt x="150777" y="0"/>
                  </a:lnTo>
                  <a:lnTo>
                    <a:pt x="157162" y="6384"/>
                  </a:lnTo>
                  <a:lnTo>
                    <a:pt x="157162" y="42862"/>
                  </a:lnTo>
                  <a:close/>
                </a:path>
                <a:path w="285750" h="228600">
                  <a:moveTo>
                    <a:pt x="210740" y="228600"/>
                  </a:moveTo>
                  <a:lnTo>
                    <a:pt x="75009" y="228600"/>
                  </a:lnTo>
                  <a:lnTo>
                    <a:pt x="62489" y="226075"/>
                  </a:lnTo>
                  <a:lnTo>
                    <a:pt x="52272" y="219190"/>
                  </a:lnTo>
                  <a:lnTo>
                    <a:pt x="45386" y="208972"/>
                  </a:lnTo>
                  <a:lnTo>
                    <a:pt x="42862" y="196453"/>
                  </a:lnTo>
                  <a:lnTo>
                    <a:pt x="42862" y="75009"/>
                  </a:lnTo>
                  <a:lnTo>
                    <a:pt x="45386" y="62489"/>
                  </a:lnTo>
                  <a:lnTo>
                    <a:pt x="52272" y="52272"/>
                  </a:lnTo>
                  <a:lnTo>
                    <a:pt x="62489" y="45386"/>
                  </a:lnTo>
                  <a:lnTo>
                    <a:pt x="75009" y="42862"/>
                  </a:lnTo>
                  <a:lnTo>
                    <a:pt x="210740" y="42862"/>
                  </a:lnTo>
                  <a:lnTo>
                    <a:pt x="223260" y="45386"/>
                  </a:lnTo>
                  <a:lnTo>
                    <a:pt x="233477" y="52272"/>
                  </a:lnTo>
                  <a:lnTo>
                    <a:pt x="240363" y="62489"/>
                  </a:lnTo>
                  <a:lnTo>
                    <a:pt x="242887" y="75009"/>
                  </a:lnTo>
                  <a:lnTo>
                    <a:pt x="242887" y="96440"/>
                  </a:lnTo>
                  <a:lnTo>
                    <a:pt x="97644" y="96440"/>
                  </a:lnTo>
                  <a:lnTo>
                    <a:pt x="95366" y="96893"/>
                  </a:lnTo>
                  <a:lnTo>
                    <a:pt x="82153" y="111931"/>
                  </a:lnTo>
                  <a:lnTo>
                    <a:pt x="82153" y="116668"/>
                  </a:lnTo>
                  <a:lnTo>
                    <a:pt x="97644" y="132159"/>
                  </a:lnTo>
                  <a:lnTo>
                    <a:pt x="242887" y="132159"/>
                  </a:lnTo>
                  <a:lnTo>
                    <a:pt x="242887" y="171450"/>
                  </a:lnTo>
                  <a:lnTo>
                    <a:pt x="88939" y="171450"/>
                  </a:lnTo>
                  <a:lnTo>
                    <a:pt x="85725" y="174664"/>
                  </a:lnTo>
                  <a:lnTo>
                    <a:pt x="85725" y="182522"/>
                  </a:lnTo>
                  <a:lnTo>
                    <a:pt x="88939" y="185737"/>
                  </a:lnTo>
                  <a:lnTo>
                    <a:pt x="242887" y="185737"/>
                  </a:lnTo>
                  <a:lnTo>
                    <a:pt x="242887" y="196453"/>
                  </a:lnTo>
                  <a:lnTo>
                    <a:pt x="240363" y="208972"/>
                  </a:lnTo>
                  <a:lnTo>
                    <a:pt x="233477" y="219190"/>
                  </a:lnTo>
                  <a:lnTo>
                    <a:pt x="223260" y="226075"/>
                  </a:lnTo>
                  <a:lnTo>
                    <a:pt x="210740" y="228600"/>
                  </a:lnTo>
                  <a:close/>
                </a:path>
                <a:path w="285750" h="228600">
                  <a:moveTo>
                    <a:pt x="183369" y="132159"/>
                  </a:moveTo>
                  <a:lnTo>
                    <a:pt x="102380" y="132159"/>
                  </a:lnTo>
                  <a:lnTo>
                    <a:pt x="104658" y="131706"/>
                  </a:lnTo>
                  <a:lnTo>
                    <a:pt x="109035" y="129893"/>
                  </a:lnTo>
                  <a:lnTo>
                    <a:pt x="117871" y="116668"/>
                  </a:lnTo>
                  <a:lnTo>
                    <a:pt x="117871" y="111931"/>
                  </a:lnTo>
                  <a:lnTo>
                    <a:pt x="102380" y="96440"/>
                  </a:lnTo>
                  <a:lnTo>
                    <a:pt x="183369" y="96440"/>
                  </a:lnTo>
                  <a:lnTo>
                    <a:pt x="167878" y="111931"/>
                  </a:lnTo>
                  <a:lnTo>
                    <a:pt x="167878" y="116668"/>
                  </a:lnTo>
                  <a:lnTo>
                    <a:pt x="181091" y="131706"/>
                  </a:lnTo>
                  <a:lnTo>
                    <a:pt x="183369" y="132159"/>
                  </a:lnTo>
                  <a:close/>
                </a:path>
                <a:path w="285750" h="228600">
                  <a:moveTo>
                    <a:pt x="242887" y="132159"/>
                  </a:moveTo>
                  <a:lnTo>
                    <a:pt x="188105" y="132159"/>
                  </a:lnTo>
                  <a:lnTo>
                    <a:pt x="190383" y="131706"/>
                  </a:lnTo>
                  <a:lnTo>
                    <a:pt x="194759" y="129893"/>
                  </a:lnTo>
                  <a:lnTo>
                    <a:pt x="203596" y="116668"/>
                  </a:lnTo>
                  <a:lnTo>
                    <a:pt x="203596" y="111931"/>
                  </a:lnTo>
                  <a:lnTo>
                    <a:pt x="188105" y="96440"/>
                  </a:lnTo>
                  <a:lnTo>
                    <a:pt x="242887" y="96440"/>
                  </a:lnTo>
                  <a:lnTo>
                    <a:pt x="242887" y="132159"/>
                  </a:lnTo>
                  <a:close/>
                </a:path>
                <a:path w="285750" h="228600">
                  <a:moveTo>
                    <a:pt x="131802" y="185737"/>
                  </a:moveTo>
                  <a:lnTo>
                    <a:pt x="111085" y="185737"/>
                  </a:lnTo>
                  <a:lnTo>
                    <a:pt x="114300" y="182522"/>
                  </a:lnTo>
                  <a:lnTo>
                    <a:pt x="114300" y="174664"/>
                  </a:lnTo>
                  <a:lnTo>
                    <a:pt x="111085" y="171450"/>
                  </a:lnTo>
                  <a:lnTo>
                    <a:pt x="131802" y="171450"/>
                  </a:lnTo>
                  <a:lnTo>
                    <a:pt x="128587" y="174664"/>
                  </a:lnTo>
                  <a:lnTo>
                    <a:pt x="128587" y="182522"/>
                  </a:lnTo>
                  <a:lnTo>
                    <a:pt x="131802" y="185737"/>
                  </a:lnTo>
                  <a:close/>
                </a:path>
                <a:path w="285750" h="228600">
                  <a:moveTo>
                    <a:pt x="174664" y="185737"/>
                  </a:moveTo>
                  <a:lnTo>
                    <a:pt x="153947" y="185737"/>
                  </a:lnTo>
                  <a:lnTo>
                    <a:pt x="157162" y="182522"/>
                  </a:lnTo>
                  <a:lnTo>
                    <a:pt x="157162" y="174664"/>
                  </a:lnTo>
                  <a:lnTo>
                    <a:pt x="153947" y="171450"/>
                  </a:lnTo>
                  <a:lnTo>
                    <a:pt x="174664" y="171450"/>
                  </a:lnTo>
                  <a:lnTo>
                    <a:pt x="171450" y="174664"/>
                  </a:lnTo>
                  <a:lnTo>
                    <a:pt x="171450" y="182522"/>
                  </a:lnTo>
                  <a:lnTo>
                    <a:pt x="174664" y="185737"/>
                  </a:lnTo>
                  <a:close/>
                </a:path>
                <a:path w="285750" h="228600">
                  <a:moveTo>
                    <a:pt x="242887" y="185737"/>
                  </a:moveTo>
                  <a:lnTo>
                    <a:pt x="196810" y="185737"/>
                  </a:lnTo>
                  <a:lnTo>
                    <a:pt x="200025" y="182522"/>
                  </a:lnTo>
                  <a:lnTo>
                    <a:pt x="200025" y="174664"/>
                  </a:lnTo>
                  <a:lnTo>
                    <a:pt x="196810" y="171450"/>
                  </a:lnTo>
                  <a:lnTo>
                    <a:pt x="242887" y="171450"/>
                  </a:lnTo>
                  <a:lnTo>
                    <a:pt x="242887" y="185737"/>
                  </a:lnTo>
                  <a:close/>
                </a:path>
                <a:path w="285750" h="228600">
                  <a:moveTo>
                    <a:pt x="28575" y="185737"/>
                  </a:moveTo>
                  <a:lnTo>
                    <a:pt x="21431" y="185737"/>
                  </a:lnTo>
                  <a:lnTo>
                    <a:pt x="13091" y="184052"/>
                  </a:lnTo>
                  <a:lnTo>
                    <a:pt x="6278" y="179458"/>
                  </a:lnTo>
                  <a:lnTo>
                    <a:pt x="1684" y="172646"/>
                  </a:lnTo>
                  <a:lnTo>
                    <a:pt x="0" y="164306"/>
                  </a:lnTo>
                  <a:lnTo>
                    <a:pt x="0" y="121443"/>
                  </a:lnTo>
                  <a:lnTo>
                    <a:pt x="1684" y="113103"/>
                  </a:lnTo>
                  <a:lnTo>
                    <a:pt x="6278" y="106291"/>
                  </a:lnTo>
                  <a:lnTo>
                    <a:pt x="13091" y="101697"/>
                  </a:lnTo>
                  <a:lnTo>
                    <a:pt x="21431" y="100012"/>
                  </a:lnTo>
                  <a:lnTo>
                    <a:pt x="28575" y="100012"/>
                  </a:lnTo>
                  <a:lnTo>
                    <a:pt x="28575" y="185737"/>
                  </a:lnTo>
                  <a:close/>
                </a:path>
                <a:path w="285750" h="228600">
                  <a:moveTo>
                    <a:pt x="264318" y="185737"/>
                  </a:moveTo>
                  <a:lnTo>
                    <a:pt x="257175" y="185737"/>
                  </a:lnTo>
                  <a:lnTo>
                    <a:pt x="257175" y="100012"/>
                  </a:lnTo>
                  <a:lnTo>
                    <a:pt x="264318" y="100012"/>
                  </a:lnTo>
                  <a:lnTo>
                    <a:pt x="272658" y="101697"/>
                  </a:lnTo>
                  <a:lnTo>
                    <a:pt x="279471" y="106291"/>
                  </a:lnTo>
                  <a:lnTo>
                    <a:pt x="284065" y="113103"/>
                  </a:lnTo>
                  <a:lnTo>
                    <a:pt x="285750" y="121443"/>
                  </a:lnTo>
                  <a:lnTo>
                    <a:pt x="285750" y="164306"/>
                  </a:lnTo>
                  <a:lnTo>
                    <a:pt x="284065" y="172646"/>
                  </a:lnTo>
                  <a:lnTo>
                    <a:pt x="279471" y="179458"/>
                  </a:lnTo>
                  <a:lnTo>
                    <a:pt x="272658" y="184052"/>
                  </a:lnTo>
                  <a:lnTo>
                    <a:pt x="264318" y="18573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 descr=""/>
            <p:cNvSpPr/>
            <p:nvPr/>
          </p:nvSpPr>
          <p:spPr>
            <a:xfrm>
              <a:off x="5638799" y="4457699"/>
              <a:ext cx="609600" cy="609600"/>
            </a:xfrm>
            <a:custGeom>
              <a:avLst/>
              <a:gdLst/>
              <a:ahLst/>
              <a:cxnLst/>
              <a:rect l="l" t="t" r="r" b="b"/>
              <a:pathLst>
                <a:path w="609600" h="609600">
                  <a:moveTo>
                    <a:pt x="304799" y="609599"/>
                  </a:moveTo>
                  <a:lnTo>
                    <a:pt x="260076" y="606301"/>
                  </a:lnTo>
                  <a:lnTo>
                    <a:pt x="216319" y="596475"/>
                  </a:lnTo>
                  <a:lnTo>
                    <a:pt x="174480" y="580335"/>
                  </a:lnTo>
                  <a:lnTo>
                    <a:pt x="135460" y="558230"/>
                  </a:lnTo>
                  <a:lnTo>
                    <a:pt x="100108" y="530641"/>
                  </a:lnTo>
                  <a:lnTo>
                    <a:pt x="69185" y="498163"/>
                  </a:lnTo>
                  <a:lnTo>
                    <a:pt x="43363" y="461498"/>
                  </a:lnTo>
                  <a:lnTo>
                    <a:pt x="23200" y="421441"/>
                  </a:lnTo>
                  <a:lnTo>
                    <a:pt x="9133" y="378859"/>
                  </a:lnTo>
                  <a:lnTo>
                    <a:pt x="1467" y="334675"/>
                  </a:lnTo>
                  <a:lnTo>
                    <a:pt x="0" y="304799"/>
                  </a:lnTo>
                  <a:lnTo>
                    <a:pt x="367" y="289844"/>
                  </a:lnTo>
                  <a:lnTo>
                    <a:pt x="5856" y="245335"/>
                  </a:lnTo>
                  <a:lnTo>
                    <a:pt x="17816" y="202115"/>
                  </a:lnTo>
                  <a:lnTo>
                    <a:pt x="35989" y="161118"/>
                  </a:lnTo>
                  <a:lnTo>
                    <a:pt x="59981" y="123230"/>
                  </a:lnTo>
                  <a:lnTo>
                    <a:pt x="89273" y="89273"/>
                  </a:lnTo>
                  <a:lnTo>
                    <a:pt x="123230" y="59981"/>
                  </a:lnTo>
                  <a:lnTo>
                    <a:pt x="161116" y="35989"/>
                  </a:lnTo>
                  <a:lnTo>
                    <a:pt x="202114" y="17817"/>
                  </a:lnTo>
                  <a:lnTo>
                    <a:pt x="245335" y="5856"/>
                  </a:lnTo>
                  <a:lnTo>
                    <a:pt x="289844" y="367"/>
                  </a:lnTo>
                  <a:lnTo>
                    <a:pt x="304799" y="0"/>
                  </a:lnTo>
                  <a:lnTo>
                    <a:pt x="319755" y="367"/>
                  </a:lnTo>
                  <a:lnTo>
                    <a:pt x="364263" y="5856"/>
                  </a:lnTo>
                  <a:lnTo>
                    <a:pt x="407484" y="17817"/>
                  </a:lnTo>
                  <a:lnTo>
                    <a:pt x="448481" y="35989"/>
                  </a:lnTo>
                  <a:lnTo>
                    <a:pt x="486368" y="59981"/>
                  </a:lnTo>
                  <a:lnTo>
                    <a:pt x="520325" y="89273"/>
                  </a:lnTo>
                  <a:lnTo>
                    <a:pt x="549617" y="123230"/>
                  </a:lnTo>
                  <a:lnTo>
                    <a:pt x="573609" y="161118"/>
                  </a:lnTo>
                  <a:lnTo>
                    <a:pt x="591782" y="202115"/>
                  </a:lnTo>
                  <a:lnTo>
                    <a:pt x="603742" y="245335"/>
                  </a:lnTo>
                  <a:lnTo>
                    <a:pt x="609233" y="289844"/>
                  </a:lnTo>
                  <a:lnTo>
                    <a:pt x="609599" y="304799"/>
                  </a:lnTo>
                  <a:lnTo>
                    <a:pt x="609233" y="319755"/>
                  </a:lnTo>
                  <a:lnTo>
                    <a:pt x="603742" y="364263"/>
                  </a:lnTo>
                  <a:lnTo>
                    <a:pt x="591782" y="407483"/>
                  </a:lnTo>
                  <a:lnTo>
                    <a:pt x="573609" y="448481"/>
                  </a:lnTo>
                  <a:lnTo>
                    <a:pt x="549617" y="486369"/>
                  </a:lnTo>
                  <a:lnTo>
                    <a:pt x="520325" y="520325"/>
                  </a:lnTo>
                  <a:lnTo>
                    <a:pt x="486368" y="549617"/>
                  </a:lnTo>
                  <a:lnTo>
                    <a:pt x="448481" y="573608"/>
                  </a:lnTo>
                  <a:lnTo>
                    <a:pt x="407484" y="591782"/>
                  </a:lnTo>
                  <a:lnTo>
                    <a:pt x="364263" y="603743"/>
                  </a:lnTo>
                  <a:lnTo>
                    <a:pt x="319755" y="609233"/>
                  </a:lnTo>
                  <a:lnTo>
                    <a:pt x="304799" y="609599"/>
                  </a:lnTo>
                  <a:close/>
                </a:path>
              </a:pathLst>
            </a:custGeom>
            <a:solidFill>
              <a:srgbClr val="04956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2" name="object 32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838825" y="4648199"/>
              <a:ext cx="200025" cy="228600"/>
            </a:xfrm>
            <a:prstGeom prst="rect">
              <a:avLst/>
            </a:prstGeom>
          </p:spPr>
        </p:pic>
        <p:sp>
          <p:nvSpPr>
            <p:cNvPr id="33" name="object 33" descr=""/>
            <p:cNvSpPr/>
            <p:nvPr/>
          </p:nvSpPr>
          <p:spPr>
            <a:xfrm>
              <a:off x="8124823" y="4457699"/>
              <a:ext cx="609600" cy="609600"/>
            </a:xfrm>
            <a:custGeom>
              <a:avLst/>
              <a:gdLst/>
              <a:ahLst/>
              <a:cxnLst/>
              <a:rect l="l" t="t" r="r" b="b"/>
              <a:pathLst>
                <a:path w="609600" h="609600">
                  <a:moveTo>
                    <a:pt x="304799" y="609599"/>
                  </a:moveTo>
                  <a:lnTo>
                    <a:pt x="260075" y="606301"/>
                  </a:lnTo>
                  <a:lnTo>
                    <a:pt x="216321" y="596475"/>
                  </a:lnTo>
                  <a:lnTo>
                    <a:pt x="174480" y="580335"/>
                  </a:lnTo>
                  <a:lnTo>
                    <a:pt x="135461" y="558230"/>
                  </a:lnTo>
                  <a:lnTo>
                    <a:pt x="100108" y="530641"/>
                  </a:lnTo>
                  <a:lnTo>
                    <a:pt x="69185" y="498163"/>
                  </a:lnTo>
                  <a:lnTo>
                    <a:pt x="43363" y="461498"/>
                  </a:lnTo>
                  <a:lnTo>
                    <a:pt x="23200" y="421441"/>
                  </a:lnTo>
                  <a:lnTo>
                    <a:pt x="9133" y="378859"/>
                  </a:lnTo>
                  <a:lnTo>
                    <a:pt x="1467" y="334675"/>
                  </a:lnTo>
                  <a:lnTo>
                    <a:pt x="0" y="304799"/>
                  </a:lnTo>
                  <a:lnTo>
                    <a:pt x="367" y="289844"/>
                  </a:lnTo>
                  <a:lnTo>
                    <a:pt x="5856" y="245335"/>
                  </a:lnTo>
                  <a:lnTo>
                    <a:pt x="17816" y="202115"/>
                  </a:lnTo>
                  <a:lnTo>
                    <a:pt x="35989" y="161118"/>
                  </a:lnTo>
                  <a:lnTo>
                    <a:pt x="59981" y="123230"/>
                  </a:lnTo>
                  <a:lnTo>
                    <a:pt x="89273" y="89273"/>
                  </a:lnTo>
                  <a:lnTo>
                    <a:pt x="123230" y="59981"/>
                  </a:lnTo>
                  <a:lnTo>
                    <a:pt x="161118" y="35989"/>
                  </a:lnTo>
                  <a:lnTo>
                    <a:pt x="202115" y="17817"/>
                  </a:lnTo>
                  <a:lnTo>
                    <a:pt x="245335" y="5856"/>
                  </a:lnTo>
                  <a:lnTo>
                    <a:pt x="289844" y="367"/>
                  </a:lnTo>
                  <a:lnTo>
                    <a:pt x="304799" y="0"/>
                  </a:lnTo>
                  <a:lnTo>
                    <a:pt x="319755" y="367"/>
                  </a:lnTo>
                  <a:lnTo>
                    <a:pt x="364263" y="5856"/>
                  </a:lnTo>
                  <a:lnTo>
                    <a:pt x="407483" y="17817"/>
                  </a:lnTo>
                  <a:lnTo>
                    <a:pt x="448480" y="35989"/>
                  </a:lnTo>
                  <a:lnTo>
                    <a:pt x="486368" y="59981"/>
                  </a:lnTo>
                  <a:lnTo>
                    <a:pt x="520325" y="89273"/>
                  </a:lnTo>
                  <a:lnTo>
                    <a:pt x="549617" y="123230"/>
                  </a:lnTo>
                  <a:lnTo>
                    <a:pt x="573609" y="161118"/>
                  </a:lnTo>
                  <a:lnTo>
                    <a:pt x="591782" y="202115"/>
                  </a:lnTo>
                  <a:lnTo>
                    <a:pt x="603742" y="245335"/>
                  </a:lnTo>
                  <a:lnTo>
                    <a:pt x="609233" y="289844"/>
                  </a:lnTo>
                  <a:lnTo>
                    <a:pt x="609599" y="304799"/>
                  </a:lnTo>
                  <a:lnTo>
                    <a:pt x="609233" y="319755"/>
                  </a:lnTo>
                  <a:lnTo>
                    <a:pt x="603742" y="364263"/>
                  </a:lnTo>
                  <a:lnTo>
                    <a:pt x="591782" y="407483"/>
                  </a:lnTo>
                  <a:lnTo>
                    <a:pt x="573609" y="448481"/>
                  </a:lnTo>
                  <a:lnTo>
                    <a:pt x="549617" y="486369"/>
                  </a:lnTo>
                  <a:lnTo>
                    <a:pt x="520325" y="520325"/>
                  </a:lnTo>
                  <a:lnTo>
                    <a:pt x="486368" y="549617"/>
                  </a:lnTo>
                  <a:lnTo>
                    <a:pt x="448481" y="573608"/>
                  </a:lnTo>
                  <a:lnTo>
                    <a:pt x="407483" y="591782"/>
                  </a:lnTo>
                  <a:lnTo>
                    <a:pt x="364263" y="603743"/>
                  </a:lnTo>
                  <a:lnTo>
                    <a:pt x="319755" y="609233"/>
                  </a:lnTo>
                  <a:lnTo>
                    <a:pt x="304799" y="609599"/>
                  </a:lnTo>
                  <a:close/>
                </a:path>
              </a:pathLst>
            </a:custGeom>
            <a:solidFill>
              <a:srgbClr val="6D28D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4" name="object 34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337931" y="4646994"/>
              <a:ext cx="173861" cy="231010"/>
            </a:xfrm>
            <a:prstGeom prst="rect">
              <a:avLst/>
            </a:prstGeom>
          </p:spPr>
        </p:pic>
        <p:sp>
          <p:nvSpPr>
            <p:cNvPr id="35" name="object 35" descr=""/>
            <p:cNvSpPr/>
            <p:nvPr/>
          </p:nvSpPr>
          <p:spPr>
            <a:xfrm>
              <a:off x="5486399" y="3400424"/>
              <a:ext cx="1219200" cy="38100"/>
            </a:xfrm>
            <a:custGeom>
              <a:avLst/>
              <a:gdLst/>
              <a:ahLst/>
              <a:cxnLst/>
              <a:rect l="l" t="t" r="r" b="b"/>
              <a:pathLst>
                <a:path w="1219200" h="38100">
                  <a:moveTo>
                    <a:pt x="1219199" y="38099"/>
                  </a:moveTo>
                  <a:lnTo>
                    <a:pt x="0" y="38099"/>
                  </a:lnTo>
                  <a:lnTo>
                    <a:pt x="0" y="0"/>
                  </a:lnTo>
                  <a:lnTo>
                    <a:pt x="1219199" y="0"/>
                  </a:lnTo>
                  <a:lnTo>
                    <a:pt x="1219199" y="38099"/>
                  </a:lnTo>
                  <a:close/>
                </a:path>
              </a:pathLst>
            </a:custGeom>
            <a:solidFill>
              <a:srgbClr val="1D40A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6" name="object 36" descr=""/>
          <p:cNvSpPr txBox="1"/>
          <p:nvPr/>
        </p:nvSpPr>
        <p:spPr>
          <a:xfrm>
            <a:off x="3144986" y="5125294"/>
            <a:ext cx="917575" cy="20383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150" spc="-50" b="0">
                <a:solidFill>
                  <a:srgbClr val="4A5462"/>
                </a:solidFill>
                <a:latin typeface="Roboto Medium"/>
                <a:cs typeface="Roboto Medium"/>
              </a:rPr>
              <a:t>Multi-</a:t>
            </a:r>
            <a:r>
              <a:rPr dirty="0" sz="1150" spc="-60" b="0">
                <a:solidFill>
                  <a:srgbClr val="4A5462"/>
                </a:solidFill>
                <a:latin typeface="Roboto Medium"/>
                <a:cs typeface="Roboto Medium"/>
              </a:rPr>
              <a:t>Agent</a:t>
            </a:r>
            <a:r>
              <a:rPr dirty="0" sz="1150" spc="5" b="0">
                <a:solidFill>
                  <a:srgbClr val="4A5462"/>
                </a:solidFill>
                <a:latin typeface="Roboto Medium"/>
                <a:cs typeface="Roboto Medium"/>
              </a:rPr>
              <a:t> </a:t>
            </a:r>
            <a:r>
              <a:rPr dirty="0" sz="1150" spc="-25" b="0">
                <a:solidFill>
                  <a:srgbClr val="4A5462"/>
                </a:solidFill>
                <a:latin typeface="Roboto Medium"/>
                <a:cs typeface="Roboto Medium"/>
              </a:rPr>
              <a:t>RL</a:t>
            </a:r>
            <a:endParaRPr sz="1150">
              <a:latin typeface="Roboto Medium"/>
              <a:cs typeface="Roboto Medium"/>
            </a:endParaRPr>
          </a:p>
        </p:txBody>
      </p:sp>
      <p:sp>
        <p:nvSpPr>
          <p:cNvPr id="37" name="object 37" descr=""/>
          <p:cNvSpPr txBox="1"/>
          <p:nvPr/>
        </p:nvSpPr>
        <p:spPr>
          <a:xfrm>
            <a:off x="4493964" y="4667944"/>
            <a:ext cx="220345" cy="4210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600" spc="20">
                <a:solidFill>
                  <a:srgbClr val="1D40AF"/>
                </a:solidFill>
                <a:latin typeface="Noto Naskh Arabic"/>
                <a:cs typeface="Noto Naskh Arabic"/>
              </a:rPr>
              <a:t>+</a:t>
            </a:r>
            <a:endParaRPr sz="2600">
              <a:latin typeface="Noto Naskh Arabic"/>
              <a:cs typeface="Noto Naskh Arabic"/>
            </a:endParaRPr>
          </a:p>
        </p:txBody>
      </p:sp>
      <p:sp>
        <p:nvSpPr>
          <p:cNvPr id="38" name="object 38" descr=""/>
          <p:cNvSpPr txBox="1"/>
          <p:nvPr/>
        </p:nvSpPr>
        <p:spPr>
          <a:xfrm>
            <a:off x="7164387" y="4667944"/>
            <a:ext cx="213995" cy="4210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600" spc="-50">
                <a:solidFill>
                  <a:srgbClr val="1D40AF"/>
                </a:solidFill>
                <a:latin typeface="Noto Naskh Arabic"/>
                <a:cs typeface="Noto Naskh Arabic"/>
              </a:rPr>
              <a:t>=</a:t>
            </a:r>
            <a:endParaRPr sz="2600">
              <a:latin typeface="Noto Naskh Arabic"/>
              <a:cs typeface="Noto Naskh Arabic"/>
            </a:endParaRPr>
          </a:p>
        </p:txBody>
      </p:sp>
      <p:sp>
        <p:nvSpPr>
          <p:cNvPr id="39" name="object 39" descr=""/>
          <p:cNvSpPr txBox="1"/>
          <p:nvPr/>
        </p:nvSpPr>
        <p:spPr>
          <a:xfrm>
            <a:off x="7809855" y="5125294"/>
            <a:ext cx="1236980" cy="20383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150" spc="-55" b="0">
                <a:solidFill>
                  <a:srgbClr val="4A5462"/>
                </a:solidFill>
                <a:latin typeface="Roboto Medium"/>
                <a:cs typeface="Roboto Medium"/>
              </a:rPr>
              <a:t>Optimized</a:t>
            </a:r>
            <a:r>
              <a:rPr dirty="0" sz="1150" spc="-10" b="0">
                <a:solidFill>
                  <a:srgbClr val="4A5462"/>
                </a:solidFill>
                <a:latin typeface="Roboto Medium"/>
                <a:cs typeface="Roboto Medium"/>
              </a:rPr>
              <a:t> </a:t>
            </a:r>
            <a:r>
              <a:rPr dirty="0" sz="1150" spc="-50" b="0">
                <a:solidFill>
                  <a:srgbClr val="4A5462"/>
                </a:solidFill>
                <a:latin typeface="Roboto Medium"/>
                <a:cs typeface="Roboto Medium"/>
              </a:rPr>
              <a:t>Networks</a:t>
            </a:r>
            <a:endParaRPr sz="1150">
              <a:latin typeface="Roboto Medium"/>
              <a:cs typeface="Roboto Medium"/>
            </a:endParaRPr>
          </a:p>
        </p:txBody>
      </p:sp>
      <p:sp>
        <p:nvSpPr>
          <p:cNvPr id="40" name="object 40" descr=""/>
          <p:cNvSpPr txBox="1"/>
          <p:nvPr/>
        </p:nvSpPr>
        <p:spPr>
          <a:xfrm>
            <a:off x="772368" y="2040717"/>
            <a:ext cx="10647680" cy="6362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4000" spc="-220" b="1">
                <a:latin typeface="Roboto"/>
                <a:cs typeface="Roboto"/>
              </a:rPr>
              <a:t>Adaptive</a:t>
            </a:r>
            <a:r>
              <a:rPr dirty="0" sz="4000" spc="-40" b="1">
                <a:latin typeface="Roboto"/>
                <a:cs typeface="Roboto"/>
              </a:rPr>
              <a:t> </a:t>
            </a:r>
            <a:r>
              <a:rPr dirty="0" sz="4000" spc="-185" b="1">
                <a:latin typeface="Roboto"/>
                <a:cs typeface="Roboto"/>
              </a:rPr>
              <a:t>Multi-</a:t>
            </a:r>
            <a:r>
              <a:rPr dirty="0" sz="4000" spc="-229" b="1">
                <a:latin typeface="Roboto"/>
                <a:cs typeface="Roboto"/>
              </a:rPr>
              <a:t>Agent</a:t>
            </a:r>
            <a:r>
              <a:rPr dirty="0" sz="4000" spc="-40" b="1">
                <a:latin typeface="Roboto"/>
                <a:cs typeface="Roboto"/>
              </a:rPr>
              <a:t> </a:t>
            </a:r>
            <a:r>
              <a:rPr dirty="0" sz="4000" spc="-250" b="1">
                <a:latin typeface="Roboto"/>
                <a:cs typeface="Roboto"/>
              </a:rPr>
              <a:t>Deep</a:t>
            </a:r>
            <a:r>
              <a:rPr dirty="0" sz="4000" spc="-40" b="1">
                <a:latin typeface="Roboto"/>
                <a:cs typeface="Roboto"/>
              </a:rPr>
              <a:t> </a:t>
            </a:r>
            <a:r>
              <a:rPr dirty="0" sz="4000" spc="-220" b="1">
                <a:latin typeface="Roboto"/>
                <a:cs typeface="Roboto"/>
              </a:rPr>
              <a:t>Reinforcement</a:t>
            </a:r>
            <a:r>
              <a:rPr dirty="0" sz="4000" spc="-40" b="1">
                <a:latin typeface="Roboto"/>
                <a:cs typeface="Roboto"/>
              </a:rPr>
              <a:t> </a:t>
            </a:r>
            <a:r>
              <a:rPr dirty="0" sz="4000" spc="-165" b="1">
                <a:latin typeface="Roboto"/>
                <a:cs typeface="Roboto"/>
              </a:rPr>
              <a:t>Learning</a:t>
            </a:r>
            <a:endParaRPr sz="4000">
              <a:latin typeface="Roboto"/>
              <a:cs typeface="Roboto"/>
            </a:endParaRPr>
          </a:p>
        </p:txBody>
      </p:sp>
      <p:sp>
        <p:nvSpPr>
          <p:cNvPr id="41" name="object 41" descr=""/>
          <p:cNvSpPr txBox="1"/>
          <p:nvPr/>
        </p:nvSpPr>
        <p:spPr>
          <a:xfrm>
            <a:off x="4614961" y="2497917"/>
            <a:ext cx="2962275" cy="6362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4000" spc="-254" b="1">
                <a:latin typeface="Roboto"/>
                <a:cs typeface="Roboto"/>
              </a:rPr>
              <a:t>Framework</a:t>
            </a:r>
            <a:r>
              <a:rPr dirty="0" sz="4000" spc="-40" b="1">
                <a:latin typeface="Roboto"/>
                <a:cs typeface="Roboto"/>
              </a:rPr>
              <a:t> </a:t>
            </a:r>
            <a:r>
              <a:rPr dirty="0" sz="4000" spc="-165" b="1">
                <a:latin typeface="Roboto"/>
                <a:cs typeface="Roboto"/>
              </a:rPr>
              <a:t>32</a:t>
            </a:r>
            <a:endParaRPr sz="4000">
              <a:latin typeface="Roboto"/>
              <a:cs typeface="Roboto"/>
            </a:endParaRPr>
          </a:p>
        </p:txBody>
      </p:sp>
      <p:sp>
        <p:nvSpPr>
          <p:cNvPr id="42" name="object 42" descr=""/>
          <p:cNvSpPr txBox="1"/>
          <p:nvPr/>
        </p:nvSpPr>
        <p:spPr>
          <a:xfrm>
            <a:off x="2018407" y="3736578"/>
            <a:ext cx="8155305" cy="873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2500" spc="-130">
                <a:solidFill>
                  <a:srgbClr val="374050"/>
                </a:solidFill>
                <a:latin typeface="Roboto"/>
                <a:cs typeface="Roboto"/>
              </a:rPr>
              <a:t>with</a:t>
            </a:r>
            <a:r>
              <a:rPr dirty="0" sz="2500" spc="-2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2500" spc="-125">
                <a:solidFill>
                  <a:srgbClr val="374050"/>
                </a:solidFill>
                <a:latin typeface="Roboto"/>
                <a:cs typeface="Roboto"/>
              </a:rPr>
              <a:t>Metaheuristic</a:t>
            </a:r>
            <a:r>
              <a:rPr dirty="0" sz="2500" spc="-2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2500" spc="-180">
                <a:solidFill>
                  <a:srgbClr val="374050"/>
                </a:solidFill>
                <a:latin typeface="Roboto"/>
                <a:cs typeface="Roboto"/>
              </a:rPr>
              <a:t>Fine-</a:t>
            </a:r>
            <a:r>
              <a:rPr dirty="0" baseline="14957" sz="1950" spc="-292" b="1">
                <a:solidFill>
                  <a:srgbClr val="FFFFFF"/>
                </a:solidFill>
                <a:latin typeface="Arial Nova"/>
                <a:cs typeface="Arial Nova"/>
              </a:rPr>
              <a:t>4</a:t>
            </a:r>
            <a:r>
              <a:rPr dirty="0" sz="2500" spc="-195">
                <a:solidFill>
                  <a:srgbClr val="374050"/>
                </a:solidFill>
                <a:latin typeface="Roboto"/>
                <a:cs typeface="Roboto"/>
              </a:rPr>
              <a:t>Tuning</a:t>
            </a:r>
            <a:r>
              <a:rPr dirty="0" sz="2500" spc="-2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2500" spc="-114">
                <a:solidFill>
                  <a:srgbClr val="374050"/>
                </a:solidFill>
                <a:latin typeface="Roboto"/>
                <a:cs typeface="Roboto"/>
              </a:rPr>
              <a:t>for</a:t>
            </a:r>
            <a:r>
              <a:rPr dirty="0" sz="2500" spc="-2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2500" spc="-125">
                <a:solidFill>
                  <a:srgbClr val="374050"/>
                </a:solidFill>
                <a:latin typeface="Roboto"/>
                <a:cs typeface="Roboto"/>
              </a:rPr>
              <a:t>Real-</a:t>
            </a:r>
            <a:r>
              <a:rPr dirty="0" sz="2500" spc="-155">
                <a:solidFill>
                  <a:srgbClr val="374050"/>
                </a:solidFill>
                <a:latin typeface="Roboto"/>
                <a:cs typeface="Roboto"/>
              </a:rPr>
              <a:t>Time</a:t>
            </a:r>
            <a:r>
              <a:rPr dirty="0" sz="2500" spc="-2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2500" spc="-135">
                <a:solidFill>
                  <a:srgbClr val="374050"/>
                </a:solidFill>
                <a:latin typeface="Roboto"/>
                <a:cs typeface="Roboto"/>
              </a:rPr>
              <a:t>Reconfiguration</a:t>
            </a:r>
            <a:r>
              <a:rPr dirty="0" sz="2500" spc="-1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2500" spc="-25">
                <a:solidFill>
                  <a:srgbClr val="374050"/>
                </a:solidFill>
                <a:latin typeface="Roboto"/>
                <a:cs typeface="Roboto"/>
              </a:rPr>
              <a:t>of</a:t>
            </a:r>
            <a:endParaRPr sz="2500">
              <a:latin typeface="Roboto"/>
              <a:cs typeface="Roboto"/>
            </a:endParaRPr>
          </a:p>
          <a:p>
            <a:pPr algn="r" marR="863600">
              <a:lnSpc>
                <a:spcPts val="1120"/>
              </a:lnSpc>
            </a:pPr>
            <a:r>
              <a:rPr dirty="0" sz="1300" spc="-50" b="1">
                <a:solidFill>
                  <a:srgbClr val="FFFFFF"/>
                </a:solidFill>
                <a:latin typeface="Arial Nova"/>
                <a:cs typeface="Arial Nova"/>
              </a:rPr>
              <a:t>7</a:t>
            </a:r>
            <a:endParaRPr sz="1300">
              <a:latin typeface="Arial Nova"/>
              <a:cs typeface="Arial Nova"/>
            </a:endParaRPr>
          </a:p>
          <a:p>
            <a:pPr algn="ctr">
              <a:lnSpc>
                <a:spcPts val="2555"/>
              </a:lnSpc>
            </a:pPr>
            <a:r>
              <a:rPr dirty="0" sz="2500" spc="-145">
                <a:solidFill>
                  <a:srgbClr val="374050"/>
                </a:solidFill>
                <a:latin typeface="Roboto"/>
                <a:cs typeface="Roboto"/>
              </a:rPr>
              <a:t>Unbalanced</a:t>
            </a:r>
            <a:r>
              <a:rPr dirty="0" sz="2500" spc="-2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2500" spc="-114">
                <a:solidFill>
                  <a:srgbClr val="374050"/>
                </a:solidFill>
                <a:latin typeface="Roboto"/>
                <a:cs typeface="Roboto"/>
              </a:rPr>
              <a:t>Distribution</a:t>
            </a:r>
            <a:r>
              <a:rPr dirty="0" sz="2500" spc="-2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2500" spc="-145">
                <a:solidFill>
                  <a:srgbClr val="374050"/>
                </a:solidFill>
                <a:latin typeface="Roboto"/>
                <a:cs typeface="Roboto"/>
              </a:rPr>
              <a:t>Networks</a:t>
            </a:r>
            <a:r>
              <a:rPr dirty="0" sz="2500" spc="-2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2500" spc="-130">
                <a:solidFill>
                  <a:srgbClr val="374050"/>
                </a:solidFill>
                <a:latin typeface="Roboto"/>
                <a:cs typeface="Roboto"/>
              </a:rPr>
              <a:t>with</a:t>
            </a:r>
            <a:r>
              <a:rPr dirty="0" sz="2500" spc="-2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2500" spc="-140">
                <a:solidFill>
                  <a:srgbClr val="374050"/>
                </a:solidFill>
                <a:latin typeface="Roboto"/>
                <a:cs typeface="Roboto"/>
              </a:rPr>
              <a:t>High</a:t>
            </a:r>
            <a:r>
              <a:rPr dirty="0" sz="2500" spc="-2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2500" spc="-10">
                <a:solidFill>
                  <a:srgbClr val="374050"/>
                </a:solidFill>
                <a:latin typeface="Roboto"/>
                <a:cs typeface="Roboto"/>
              </a:rPr>
              <a:t>Renewable</a:t>
            </a:r>
            <a:endParaRPr sz="2500">
              <a:latin typeface="Roboto"/>
              <a:cs typeface="Roboto"/>
            </a:endParaRPr>
          </a:p>
        </p:txBody>
      </p:sp>
      <p:sp>
        <p:nvSpPr>
          <p:cNvPr id="43" name="object 43" descr=""/>
          <p:cNvSpPr txBox="1"/>
          <p:nvPr/>
        </p:nvSpPr>
        <p:spPr>
          <a:xfrm>
            <a:off x="5145831" y="4660503"/>
            <a:ext cx="1791335" cy="6686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18440">
              <a:lnSpc>
                <a:spcPts val="2590"/>
              </a:lnSpc>
              <a:spcBef>
                <a:spcPts val="100"/>
              </a:spcBef>
            </a:pPr>
            <a:r>
              <a:rPr dirty="0" sz="2500" spc="-55">
                <a:solidFill>
                  <a:srgbClr val="374050"/>
                </a:solidFill>
                <a:latin typeface="Roboto"/>
                <a:cs typeface="Roboto"/>
              </a:rPr>
              <a:t>Penetration</a:t>
            </a:r>
            <a:endParaRPr sz="2500">
              <a:latin typeface="Roboto"/>
              <a:cs typeface="Roboto"/>
            </a:endParaRPr>
          </a:p>
          <a:p>
            <a:pPr algn="r" marR="5080">
              <a:lnSpc>
                <a:spcPts val="1120"/>
              </a:lnSpc>
            </a:pPr>
            <a:r>
              <a:rPr dirty="0" sz="1300" spc="-50" b="1">
                <a:solidFill>
                  <a:srgbClr val="FFFFFF"/>
                </a:solidFill>
                <a:latin typeface="Arial Nova"/>
                <a:cs typeface="Arial Nova"/>
              </a:rPr>
              <a:t>8</a:t>
            </a:r>
            <a:endParaRPr sz="1300">
              <a:latin typeface="Arial Nova"/>
              <a:cs typeface="Arial Nova"/>
            </a:endParaRPr>
          </a:p>
          <a:p>
            <a:pPr marL="12700">
              <a:lnSpc>
                <a:spcPts val="1350"/>
              </a:lnSpc>
            </a:pPr>
            <a:r>
              <a:rPr dirty="0" sz="1150" spc="-55" b="0">
                <a:solidFill>
                  <a:srgbClr val="4A5462"/>
                </a:solidFill>
                <a:latin typeface="Roboto Medium"/>
                <a:cs typeface="Roboto Medium"/>
              </a:rPr>
              <a:t>Metaheuristic</a:t>
            </a:r>
            <a:r>
              <a:rPr dirty="0" sz="1150" spc="50" b="0">
                <a:solidFill>
                  <a:srgbClr val="4A5462"/>
                </a:solidFill>
                <a:latin typeface="Roboto Medium"/>
                <a:cs typeface="Roboto Medium"/>
              </a:rPr>
              <a:t> </a:t>
            </a:r>
            <a:r>
              <a:rPr dirty="0" sz="1150" spc="-50" b="0">
                <a:solidFill>
                  <a:srgbClr val="4A5462"/>
                </a:solidFill>
                <a:latin typeface="Roboto Medium"/>
                <a:cs typeface="Roboto Medium"/>
              </a:rPr>
              <a:t>Fine-</a:t>
            </a:r>
            <a:r>
              <a:rPr dirty="0" sz="1150" spc="-10" b="0">
                <a:solidFill>
                  <a:srgbClr val="4A5462"/>
                </a:solidFill>
                <a:latin typeface="Roboto Medium"/>
                <a:cs typeface="Roboto Medium"/>
              </a:rPr>
              <a:t>Tuning</a:t>
            </a:r>
            <a:endParaRPr sz="1150">
              <a:latin typeface="Roboto Medium"/>
              <a:cs typeface="Roboto Medium"/>
            </a:endParaRPr>
          </a:p>
        </p:txBody>
      </p:sp>
      <p:grpSp>
        <p:nvGrpSpPr>
          <p:cNvPr id="44" name="object 44" descr=""/>
          <p:cNvGrpSpPr/>
          <p:nvPr/>
        </p:nvGrpSpPr>
        <p:grpSpPr>
          <a:xfrm>
            <a:off x="10544174" y="6648450"/>
            <a:ext cx="1457325" cy="323850"/>
            <a:chOff x="10544174" y="6648450"/>
            <a:chExt cx="1457325" cy="323850"/>
          </a:xfrm>
        </p:grpSpPr>
        <p:sp>
          <p:nvSpPr>
            <p:cNvPr id="45" name="object 45" descr=""/>
            <p:cNvSpPr/>
            <p:nvPr/>
          </p:nvSpPr>
          <p:spPr>
            <a:xfrm>
              <a:off x="10544174" y="6648450"/>
              <a:ext cx="1457325" cy="323850"/>
            </a:xfrm>
            <a:custGeom>
              <a:avLst/>
              <a:gdLst/>
              <a:ahLst/>
              <a:cxnLst/>
              <a:rect l="l" t="t" r="r" b="b"/>
              <a:pathLst>
                <a:path w="1457325" h="323850">
                  <a:moveTo>
                    <a:pt x="1424277" y="323849"/>
                  </a:moveTo>
                  <a:lnTo>
                    <a:pt x="33047" y="323849"/>
                  </a:lnTo>
                  <a:lnTo>
                    <a:pt x="28187" y="322883"/>
                  </a:lnTo>
                  <a:lnTo>
                    <a:pt x="966" y="295662"/>
                  </a:lnTo>
                  <a:lnTo>
                    <a:pt x="0" y="290802"/>
                  </a:lnTo>
                  <a:lnTo>
                    <a:pt x="0" y="285749"/>
                  </a:lnTo>
                  <a:lnTo>
                    <a:pt x="0" y="33047"/>
                  </a:lnTo>
                  <a:lnTo>
                    <a:pt x="28187" y="966"/>
                  </a:lnTo>
                  <a:lnTo>
                    <a:pt x="33047" y="0"/>
                  </a:lnTo>
                  <a:lnTo>
                    <a:pt x="1424277" y="0"/>
                  </a:lnTo>
                  <a:lnTo>
                    <a:pt x="1456357" y="28187"/>
                  </a:lnTo>
                  <a:lnTo>
                    <a:pt x="1457324" y="33047"/>
                  </a:lnTo>
                  <a:lnTo>
                    <a:pt x="1457324" y="290802"/>
                  </a:lnTo>
                  <a:lnTo>
                    <a:pt x="1429137" y="322883"/>
                  </a:lnTo>
                  <a:lnTo>
                    <a:pt x="1424277" y="323849"/>
                  </a:lnTo>
                  <a:close/>
                </a:path>
              </a:pathLst>
            </a:custGeom>
            <a:solidFill>
              <a:srgbClr val="33333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6" name="object 46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0658474" y="6743699"/>
              <a:ext cx="133349" cy="133349"/>
            </a:xfrm>
            <a:prstGeom prst="rect">
              <a:avLst/>
            </a:prstGeom>
          </p:spPr>
        </p:pic>
      </p:grpSp>
      <p:sp>
        <p:nvSpPr>
          <p:cNvPr id="47" name="object 47" descr=""/>
          <p:cNvSpPr txBox="1"/>
          <p:nvPr/>
        </p:nvSpPr>
        <p:spPr>
          <a:xfrm>
            <a:off x="9194254" y="6504304"/>
            <a:ext cx="2705735" cy="38290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300" spc="-70">
                <a:solidFill>
                  <a:srgbClr val="4A5462"/>
                </a:solidFill>
                <a:latin typeface="Roboto"/>
                <a:cs typeface="Roboto"/>
              </a:rPr>
              <a:t>Advanced</a:t>
            </a:r>
            <a:r>
              <a:rPr dirty="0" sz="1300" spc="30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1300" spc="-70">
                <a:solidFill>
                  <a:srgbClr val="4A5462"/>
                </a:solidFill>
                <a:latin typeface="Roboto"/>
                <a:cs typeface="Roboto"/>
              </a:rPr>
              <a:t>Power</a:t>
            </a:r>
            <a:r>
              <a:rPr dirty="0" sz="1300" spc="25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1300" spc="-65">
                <a:solidFill>
                  <a:srgbClr val="4A5462"/>
                </a:solidFill>
                <a:latin typeface="Roboto"/>
                <a:cs typeface="Roboto"/>
              </a:rPr>
              <a:t>Systems</a:t>
            </a:r>
            <a:r>
              <a:rPr dirty="0" sz="1300" spc="30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1300" spc="-10">
                <a:solidFill>
                  <a:srgbClr val="4A5462"/>
                </a:solidFill>
                <a:latin typeface="Roboto"/>
                <a:cs typeface="Roboto"/>
              </a:rPr>
              <a:t>Laboratory</a:t>
            </a:r>
            <a:endParaRPr sz="1300">
              <a:latin typeface="Roboto"/>
              <a:cs typeface="Roboto"/>
            </a:endParaRPr>
          </a:p>
          <a:p>
            <a:pPr marL="1651000">
              <a:lnSpc>
                <a:spcPct val="100000"/>
              </a:lnSpc>
              <a:spcBef>
                <a:spcPts val="15"/>
              </a:spcBef>
            </a:pPr>
            <a:r>
              <a:rPr dirty="0" sz="1000" spc="-75">
                <a:solidFill>
                  <a:srgbClr val="FFFFFF"/>
                </a:solidFill>
                <a:latin typeface="Roboto"/>
                <a:cs typeface="Roboto"/>
              </a:rPr>
              <a:t>Made</a:t>
            </a:r>
            <a:r>
              <a:rPr dirty="0" sz="1000" spc="5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1000" spc="-55">
                <a:solidFill>
                  <a:srgbClr val="FFFFFF"/>
                </a:solidFill>
                <a:latin typeface="Roboto"/>
                <a:cs typeface="Roboto"/>
              </a:rPr>
              <a:t>with</a:t>
            </a:r>
            <a:r>
              <a:rPr dirty="0" sz="1000" spc="5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1000" spc="-50">
                <a:solidFill>
                  <a:srgbClr val="FFFFFF"/>
                </a:solidFill>
                <a:latin typeface="Roboto"/>
                <a:cs typeface="Roboto"/>
              </a:rPr>
              <a:t>Genspark</a:t>
            </a:r>
            <a:endParaRPr sz="10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12192000" cy="9665335"/>
          </a:xfrm>
          <a:custGeom>
            <a:avLst/>
            <a:gdLst/>
            <a:ahLst/>
            <a:cxnLst/>
            <a:rect l="l" t="t" r="r" b="b"/>
            <a:pathLst>
              <a:path w="12192000" h="9665335">
                <a:moveTo>
                  <a:pt x="12191999" y="9665207"/>
                </a:moveTo>
                <a:lnTo>
                  <a:pt x="0" y="9665207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9665207"/>
                </a:lnTo>
                <a:close/>
              </a:path>
            </a:pathLst>
          </a:custGeom>
          <a:solidFill>
            <a:srgbClr val="F7F9FA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" name="object 3" descr=""/>
          <p:cNvGrpSpPr/>
          <p:nvPr/>
        </p:nvGrpSpPr>
        <p:grpSpPr>
          <a:xfrm>
            <a:off x="152399" y="152400"/>
            <a:ext cx="11887200" cy="9353550"/>
            <a:chOff x="152399" y="152400"/>
            <a:chExt cx="11887200" cy="9353550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2399" y="152400"/>
              <a:ext cx="11887199" cy="9353549"/>
            </a:xfrm>
            <a:prstGeom prst="rect">
              <a:avLst/>
            </a:prstGeom>
          </p:spPr>
        </p:pic>
        <p:sp>
          <p:nvSpPr>
            <p:cNvPr id="5" name="object 5" descr=""/>
            <p:cNvSpPr/>
            <p:nvPr/>
          </p:nvSpPr>
          <p:spPr>
            <a:xfrm>
              <a:off x="152399" y="266700"/>
              <a:ext cx="11887200" cy="619125"/>
            </a:xfrm>
            <a:custGeom>
              <a:avLst/>
              <a:gdLst/>
              <a:ahLst/>
              <a:cxnLst/>
              <a:rect l="l" t="t" r="r" b="b"/>
              <a:pathLst>
                <a:path w="11887200" h="619125">
                  <a:moveTo>
                    <a:pt x="11887199" y="619124"/>
                  </a:moveTo>
                  <a:lnTo>
                    <a:pt x="0" y="619124"/>
                  </a:lnTo>
                  <a:lnTo>
                    <a:pt x="0" y="0"/>
                  </a:lnTo>
                  <a:lnTo>
                    <a:pt x="11887199" y="0"/>
                  </a:lnTo>
                  <a:lnTo>
                    <a:pt x="11887199" y="619124"/>
                  </a:lnTo>
                  <a:close/>
                </a:path>
              </a:pathLst>
            </a:custGeom>
            <a:solidFill>
              <a:srgbClr val="F2F4F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152399" y="876300"/>
              <a:ext cx="11887200" cy="9525"/>
            </a:xfrm>
            <a:custGeom>
              <a:avLst/>
              <a:gdLst/>
              <a:ahLst/>
              <a:cxnLst/>
              <a:rect l="l" t="t" r="r" b="b"/>
              <a:pathLst>
                <a:path w="11887200" h="9525">
                  <a:moveTo>
                    <a:pt x="11887199" y="9524"/>
                  </a:moveTo>
                  <a:lnTo>
                    <a:pt x="0" y="9524"/>
                  </a:lnTo>
                  <a:lnTo>
                    <a:pt x="0" y="0"/>
                  </a:lnTo>
                  <a:lnTo>
                    <a:pt x="11887199" y="0"/>
                  </a:lnTo>
                  <a:lnTo>
                    <a:pt x="11887199" y="9524"/>
                  </a:lnTo>
                  <a:close/>
                </a:path>
              </a:pathLst>
            </a:custGeom>
            <a:solidFill>
              <a:srgbClr val="D0D5D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"/>
          <p:cNvSpPr txBox="1"/>
          <p:nvPr/>
        </p:nvSpPr>
        <p:spPr>
          <a:xfrm>
            <a:off x="520700" y="380682"/>
            <a:ext cx="213423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105" b="1">
                <a:solidFill>
                  <a:srgbClr val="1D40AF"/>
                </a:solidFill>
                <a:latin typeface="Roboto"/>
                <a:cs typeface="Roboto"/>
              </a:rPr>
              <a:t>Presentation</a:t>
            </a:r>
            <a:r>
              <a:rPr dirty="0" sz="2000" spc="-55" b="1">
                <a:solidFill>
                  <a:srgbClr val="1D40AF"/>
                </a:solidFill>
                <a:latin typeface="Roboto"/>
                <a:cs typeface="Roboto"/>
              </a:rPr>
              <a:t> </a:t>
            </a:r>
            <a:r>
              <a:rPr dirty="0" sz="2000" spc="-75" b="1">
                <a:solidFill>
                  <a:srgbClr val="1D40AF"/>
                </a:solidFill>
                <a:latin typeface="Roboto"/>
                <a:cs typeface="Roboto"/>
              </a:rPr>
              <a:t>Outline</a:t>
            </a:r>
            <a:endParaRPr sz="2000">
              <a:latin typeface="Roboto"/>
              <a:cs typeface="Roboto"/>
            </a:endParaRPr>
          </a:p>
        </p:txBody>
      </p:sp>
      <p:sp>
        <p:nvSpPr>
          <p:cNvPr id="8" name="object 8" descr=""/>
          <p:cNvSpPr/>
          <p:nvPr/>
        </p:nvSpPr>
        <p:spPr>
          <a:xfrm>
            <a:off x="11353798" y="4191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399" y="304799"/>
                </a:moveTo>
                <a:lnTo>
                  <a:pt x="108158" y="298239"/>
                </a:lnTo>
                <a:lnTo>
                  <a:pt x="67730" y="279115"/>
                </a:lnTo>
                <a:lnTo>
                  <a:pt x="34591" y="249082"/>
                </a:lnTo>
                <a:lnTo>
                  <a:pt x="11599" y="210720"/>
                </a:lnTo>
                <a:lnTo>
                  <a:pt x="731" y="167337"/>
                </a:lnTo>
                <a:lnTo>
                  <a:pt x="0" y="152399"/>
                </a:lnTo>
                <a:lnTo>
                  <a:pt x="182" y="144912"/>
                </a:lnTo>
                <a:lnTo>
                  <a:pt x="8903" y="101066"/>
                </a:lnTo>
                <a:lnTo>
                  <a:pt x="29994" y="61607"/>
                </a:lnTo>
                <a:lnTo>
                  <a:pt x="61607" y="29995"/>
                </a:lnTo>
                <a:lnTo>
                  <a:pt x="101064" y="8904"/>
                </a:lnTo>
                <a:lnTo>
                  <a:pt x="144912" y="183"/>
                </a:lnTo>
                <a:lnTo>
                  <a:pt x="152399" y="0"/>
                </a:lnTo>
                <a:lnTo>
                  <a:pt x="159886" y="183"/>
                </a:lnTo>
                <a:lnTo>
                  <a:pt x="203731" y="8904"/>
                </a:lnTo>
                <a:lnTo>
                  <a:pt x="243190" y="29995"/>
                </a:lnTo>
                <a:lnTo>
                  <a:pt x="274802" y="61607"/>
                </a:lnTo>
                <a:lnTo>
                  <a:pt x="295894" y="101066"/>
                </a:lnTo>
                <a:lnTo>
                  <a:pt x="304616" y="144912"/>
                </a:lnTo>
                <a:lnTo>
                  <a:pt x="304799" y="152399"/>
                </a:lnTo>
                <a:lnTo>
                  <a:pt x="304616" y="159886"/>
                </a:lnTo>
                <a:lnTo>
                  <a:pt x="295894" y="203733"/>
                </a:lnTo>
                <a:lnTo>
                  <a:pt x="274803" y="243192"/>
                </a:lnTo>
                <a:lnTo>
                  <a:pt x="243190" y="274804"/>
                </a:lnTo>
                <a:lnTo>
                  <a:pt x="203731" y="295895"/>
                </a:lnTo>
                <a:lnTo>
                  <a:pt x="159886" y="304616"/>
                </a:lnTo>
                <a:lnTo>
                  <a:pt x="152399" y="304799"/>
                </a:lnTo>
                <a:close/>
              </a:path>
            </a:pathLst>
          </a:custGeom>
          <a:solidFill>
            <a:srgbClr val="1D40A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 txBox="1"/>
          <p:nvPr/>
        </p:nvSpPr>
        <p:spPr>
          <a:xfrm>
            <a:off x="10506173" y="436880"/>
            <a:ext cx="1100455" cy="22923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911860" algn="l"/>
              </a:tabLst>
            </a:pPr>
            <a:r>
              <a:rPr dirty="0" sz="1300" spc="-10">
                <a:solidFill>
                  <a:srgbClr val="6A7280"/>
                </a:solidFill>
                <a:latin typeface="Roboto"/>
                <a:cs typeface="Roboto"/>
              </a:rPr>
              <a:t>Framework</a:t>
            </a:r>
            <a:r>
              <a:rPr dirty="0" sz="1300">
                <a:solidFill>
                  <a:srgbClr val="6A7280"/>
                </a:solidFill>
                <a:latin typeface="Roboto"/>
                <a:cs typeface="Roboto"/>
              </a:rPr>
              <a:t>	</a:t>
            </a:r>
            <a:r>
              <a:rPr dirty="0" sz="1300" spc="-25" b="1">
                <a:solidFill>
                  <a:srgbClr val="FFFFFF"/>
                </a:solidFill>
                <a:latin typeface="Arial Nova"/>
                <a:cs typeface="Arial Nova"/>
              </a:rPr>
              <a:t>32</a:t>
            </a:r>
            <a:endParaRPr sz="1300">
              <a:latin typeface="Arial Nova"/>
              <a:cs typeface="Arial Nova"/>
            </a:endParaRPr>
          </a:p>
        </p:txBody>
      </p:sp>
      <p:sp>
        <p:nvSpPr>
          <p:cNvPr id="10" name="object 10" descr=""/>
          <p:cNvSpPr/>
          <p:nvPr/>
        </p:nvSpPr>
        <p:spPr>
          <a:xfrm>
            <a:off x="152399" y="885825"/>
            <a:ext cx="3962400" cy="8191500"/>
          </a:xfrm>
          <a:custGeom>
            <a:avLst/>
            <a:gdLst/>
            <a:ahLst/>
            <a:cxnLst/>
            <a:rect l="l" t="t" r="r" b="b"/>
            <a:pathLst>
              <a:path w="3962400" h="8191500">
                <a:moveTo>
                  <a:pt x="3962399" y="8191498"/>
                </a:moveTo>
                <a:lnTo>
                  <a:pt x="0" y="8191498"/>
                </a:lnTo>
                <a:lnTo>
                  <a:pt x="0" y="0"/>
                </a:lnTo>
                <a:lnTo>
                  <a:pt x="3962399" y="0"/>
                </a:lnTo>
                <a:lnTo>
                  <a:pt x="3962399" y="8191498"/>
                </a:lnTo>
                <a:close/>
              </a:path>
            </a:pathLst>
          </a:custGeom>
          <a:solidFill>
            <a:srgbClr val="1D3A8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 txBox="1"/>
          <p:nvPr/>
        </p:nvSpPr>
        <p:spPr>
          <a:xfrm>
            <a:off x="520700" y="1212555"/>
            <a:ext cx="1162050" cy="39560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400" spc="-75" b="0">
                <a:solidFill>
                  <a:srgbClr val="FFFFFF"/>
                </a:solidFill>
                <a:latin typeface="Roboto Light"/>
                <a:cs typeface="Roboto Light"/>
              </a:rPr>
              <a:t>Contents</a:t>
            </a:r>
            <a:endParaRPr sz="2400">
              <a:latin typeface="Roboto Light"/>
              <a:cs typeface="Roboto Light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520700" y="1731470"/>
            <a:ext cx="3052445" cy="4064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8700"/>
              </a:lnSpc>
              <a:spcBef>
                <a:spcPts val="95"/>
              </a:spcBef>
            </a:pPr>
            <a:r>
              <a:rPr dirty="0" sz="1150" spc="-55">
                <a:solidFill>
                  <a:srgbClr val="BEDAFE"/>
                </a:solidFill>
                <a:latin typeface="Roboto"/>
                <a:cs typeface="Roboto"/>
              </a:rPr>
              <a:t>Adaptive</a:t>
            </a:r>
            <a:r>
              <a:rPr dirty="0" sz="1150" spc="30">
                <a:solidFill>
                  <a:srgbClr val="BEDAFE"/>
                </a:solidFill>
                <a:latin typeface="Roboto"/>
                <a:cs typeface="Roboto"/>
              </a:rPr>
              <a:t> </a:t>
            </a:r>
            <a:r>
              <a:rPr dirty="0" sz="1150" spc="-50">
                <a:solidFill>
                  <a:srgbClr val="BEDAFE"/>
                </a:solidFill>
                <a:latin typeface="Roboto"/>
                <a:cs typeface="Roboto"/>
              </a:rPr>
              <a:t>Multi-</a:t>
            </a:r>
            <a:r>
              <a:rPr dirty="0" sz="1150" spc="-65">
                <a:solidFill>
                  <a:srgbClr val="BEDAFE"/>
                </a:solidFill>
                <a:latin typeface="Roboto"/>
                <a:cs typeface="Roboto"/>
              </a:rPr>
              <a:t>Agent</a:t>
            </a:r>
            <a:r>
              <a:rPr dirty="0" sz="1150" spc="35">
                <a:solidFill>
                  <a:srgbClr val="BEDAFE"/>
                </a:solidFill>
                <a:latin typeface="Roboto"/>
                <a:cs typeface="Roboto"/>
              </a:rPr>
              <a:t> </a:t>
            </a:r>
            <a:r>
              <a:rPr dirty="0" sz="1150" spc="-70">
                <a:solidFill>
                  <a:srgbClr val="BEDAFE"/>
                </a:solidFill>
                <a:latin typeface="Roboto"/>
                <a:cs typeface="Roboto"/>
              </a:rPr>
              <a:t>Deep</a:t>
            </a:r>
            <a:r>
              <a:rPr dirty="0" sz="1150" spc="35">
                <a:solidFill>
                  <a:srgbClr val="BEDAFE"/>
                </a:solidFill>
                <a:latin typeface="Roboto"/>
                <a:cs typeface="Roboto"/>
              </a:rPr>
              <a:t> </a:t>
            </a:r>
            <a:r>
              <a:rPr dirty="0" sz="1150" spc="-60">
                <a:solidFill>
                  <a:srgbClr val="BEDAFE"/>
                </a:solidFill>
                <a:latin typeface="Roboto"/>
                <a:cs typeface="Roboto"/>
              </a:rPr>
              <a:t>Reinforcement</a:t>
            </a:r>
            <a:r>
              <a:rPr dirty="0" sz="1150" spc="35">
                <a:solidFill>
                  <a:srgbClr val="BEDAFE"/>
                </a:solidFill>
                <a:latin typeface="Roboto"/>
                <a:cs typeface="Roboto"/>
              </a:rPr>
              <a:t> </a:t>
            </a:r>
            <a:r>
              <a:rPr dirty="0" sz="1150" spc="-55">
                <a:solidFill>
                  <a:srgbClr val="BEDAFE"/>
                </a:solidFill>
                <a:latin typeface="Roboto"/>
                <a:cs typeface="Roboto"/>
              </a:rPr>
              <a:t>Learning </a:t>
            </a:r>
            <a:r>
              <a:rPr dirty="0" sz="1150" spc="-65">
                <a:solidFill>
                  <a:srgbClr val="BEDAFE"/>
                </a:solidFill>
                <a:latin typeface="Roboto"/>
                <a:cs typeface="Roboto"/>
              </a:rPr>
              <a:t>Framework</a:t>
            </a:r>
            <a:r>
              <a:rPr dirty="0" sz="1150" spc="5">
                <a:solidFill>
                  <a:srgbClr val="BEDAFE"/>
                </a:solidFill>
                <a:latin typeface="Roboto"/>
                <a:cs typeface="Roboto"/>
              </a:rPr>
              <a:t> </a:t>
            </a:r>
            <a:r>
              <a:rPr dirty="0" sz="1150" spc="-50">
                <a:solidFill>
                  <a:srgbClr val="BEDAFE"/>
                </a:solidFill>
                <a:latin typeface="Roboto"/>
                <a:cs typeface="Roboto"/>
              </a:rPr>
              <a:t>with</a:t>
            </a:r>
            <a:r>
              <a:rPr dirty="0" sz="1150" spc="10">
                <a:solidFill>
                  <a:srgbClr val="BEDAFE"/>
                </a:solidFill>
                <a:latin typeface="Roboto"/>
                <a:cs typeface="Roboto"/>
              </a:rPr>
              <a:t> </a:t>
            </a:r>
            <a:r>
              <a:rPr dirty="0" sz="1150" spc="-50">
                <a:solidFill>
                  <a:srgbClr val="BEDAFE"/>
                </a:solidFill>
                <a:latin typeface="Roboto"/>
                <a:cs typeface="Roboto"/>
              </a:rPr>
              <a:t>Metaheuristic</a:t>
            </a:r>
            <a:r>
              <a:rPr dirty="0" sz="1150" spc="10">
                <a:solidFill>
                  <a:srgbClr val="BEDAFE"/>
                </a:solidFill>
                <a:latin typeface="Roboto"/>
                <a:cs typeface="Roboto"/>
              </a:rPr>
              <a:t> </a:t>
            </a:r>
            <a:r>
              <a:rPr dirty="0" sz="1150" spc="-50">
                <a:solidFill>
                  <a:srgbClr val="BEDAFE"/>
                </a:solidFill>
                <a:latin typeface="Roboto"/>
                <a:cs typeface="Roboto"/>
              </a:rPr>
              <a:t>Fine-</a:t>
            </a:r>
            <a:r>
              <a:rPr dirty="0" sz="1150" spc="-10">
                <a:solidFill>
                  <a:srgbClr val="BEDAFE"/>
                </a:solidFill>
                <a:latin typeface="Roboto"/>
                <a:cs typeface="Roboto"/>
              </a:rPr>
              <a:t>Tuning</a:t>
            </a:r>
            <a:endParaRPr sz="1150">
              <a:latin typeface="Roboto"/>
              <a:cs typeface="Roboto"/>
            </a:endParaRPr>
          </a:p>
        </p:txBody>
      </p:sp>
      <p:grpSp>
        <p:nvGrpSpPr>
          <p:cNvPr id="13" name="object 13" descr=""/>
          <p:cNvGrpSpPr/>
          <p:nvPr/>
        </p:nvGrpSpPr>
        <p:grpSpPr>
          <a:xfrm>
            <a:off x="1828799" y="2066925"/>
            <a:ext cx="3048000" cy="5753100"/>
            <a:chOff x="1828799" y="2066925"/>
            <a:chExt cx="3048000" cy="5753100"/>
          </a:xfrm>
        </p:grpSpPr>
        <p:sp>
          <p:nvSpPr>
            <p:cNvPr id="14" name="object 14" descr=""/>
            <p:cNvSpPr/>
            <p:nvPr/>
          </p:nvSpPr>
          <p:spPr>
            <a:xfrm>
              <a:off x="1828799" y="5343524"/>
              <a:ext cx="609600" cy="609600"/>
            </a:xfrm>
            <a:custGeom>
              <a:avLst/>
              <a:gdLst/>
              <a:ahLst/>
              <a:cxnLst/>
              <a:rect l="l" t="t" r="r" b="b"/>
              <a:pathLst>
                <a:path w="609600" h="609600">
                  <a:moveTo>
                    <a:pt x="304799" y="609599"/>
                  </a:moveTo>
                  <a:lnTo>
                    <a:pt x="260076" y="606301"/>
                  </a:lnTo>
                  <a:lnTo>
                    <a:pt x="216320" y="596475"/>
                  </a:lnTo>
                  <a:lnTo>
                    <a:pt x="174480" y="580335"/>
                  </a:lnTo>
                  <a:lnTo>
                    <a:pt x="135461" y="558230"/>
                  </a:lnTo>
                  <a:lnTo>
                    <a:pt x="100108" y="530642"/>
                  </a:lnTo>
                  <a:lnTo>
                    <a:pt x="69186" y="498163"/>
                  </a:lnTo>
                  <a:lnTo>
                    <a:pt x="43363" y="461498"/>
                  </a:lnTo>
                  <a:lnTo>
                    <a:pt x="23201" y="421441"/>
                  </a:lnTo>
                  <a:lnTo>
                    <a:pt x="9134" y="378860"/>
                  </a:lnTo>
                  <a:lnTo>
                    <a:pt x="1467" y="334675"/>
                  </a:lnTo>
                  <a:lnTo>
                    <a:pt x="0" y="304799"/>
                  </a:lnTo>
                  <a:lnTo>
                    <a:pt x="366" y="289844"/>
                  </a:lnTo>
                  <a:lnTo>
                    <a:pt x="5856" y="245335"/>
                  </a:lnTo>
                  <a:lnTo>
                    <a:pt x="17816" y="202115"/>
                  </a:lnTo>
                  <a:lnTo>
                    <a:pt x="35990" y="161118"/>
                  </a:lnTo>
                  <a:lnTo>
                    <a:pt x="59981" y="123230"/>
                  </a:lnTo>
                  <a:lnTo>
                    <a:pt x="89273" y="89273"/>
                  </a:lnTo>
                  <a:lnTo>
                    <a:pt x="123230" y="59981"/>
                  </a:lnTo>
                  <a:lnTo>
                    <a:pt x="161118" y="35989"/>
                  </a:lnTo>
                  <a:lnTo>
                    <a:pt x="202115" y="17817"/>
                  </a:lnTo>
                  <a:lnTo>
                    <a:pt x="245336" y="5856"/>
                  </a:lnTo>
                  <a:lnTo>
                    <a:pt x="289844" y="367"/>
                  </a:lnTo>
                  <a:lnTo>
                    <a:pt x="304799" y="0"/>
                  </a:lnTo>
                  <a:lnTo>
                    <a:pt x="319755" y="367"/>
                  </a:lnTo>
                  <a:lnTo>
                    <a:pt x="364263" y="5856"/>
                  </a:lnTo>
                  <a:lnTo>
                    <a:pt x="407483" y="17817"/>
                  </a:lnTo>
                  <a:lnTo>
                    <a:pt x="448481" y="35989"/>
                  </a:lnTo>
                  <a:lnTo>
                    <a:pt x="486369" y="59981"/>
                  </a:lnTo>
                  <a:lnTo>
                    <a:pt x="520326" y="89273"/>
                  </a:lnTo>
                  <a:lnTo>
                    <a:pt x="549617" y="123230"/>
                  </a:lnTo>
                  <a:lnTo>
                    <a:pt x="573609" y="161118"/>
                  </a:lnTo>
                  <a:lnTo>
                    <a:pt x="591782" y="202115"/>
                  </a:lnTo>
                  <a:lnTo>
                    <a:pt x="603742" y="245335"/>
                  </a:lnTo>
                  <a:lnTo>
                    <a:pt x="609232" y="289844"/>
                  </a:lnTo>
                  <a:lnTo>
                    <a:pt x="609599" y="304799"/>
                  </a:lnTo>
                  <a:lnTo>
                    <a:pt x="609232" y="319755"/>
                  </a:lnTo>
                  <a:lnTo>
                    <a:pt x="603742" y="364263"/>
                  </a:lnTo>
                  <a:lnTo>
                    <a:pt x="591782" y="407483"/>
                  </a:lnTo>
                  <a:lnTo>
                    <a:pt x="573609" y="448481"/>
                  </a:lnTo>
                  <a:lnTo>
                    <a:pt x="549617" y="486369"/>
                  </a:lnTo>
                  <a:lnTo>
                    <a:pt x="520326" y="520325"/>
                  </a:lnTo>
                  <a:lnTo>
                    <a:pt x="486369" y="549617"/>
                  </a:lnTo>
                  <a:lnTo>
                    <a:pt x="448481" y="573609"/>
                  </a:lnTo>
                  <a:lnTo>
                    <a:pt x="407483" y="591782"/>
                  </a:lnTo>
                  <a:lnTo>
                    <a:pt x="364263" y="603743"/>
                  </a:lnTo>
                  <a:lnTo>
                    <a:pt x="319755" y="609233"/>
                  </a:lnTo>
                  <a:lnTo>
                    <a:pt x="304799" y="609599"/>
                  </a:lnTo>
                  <a:close/>
                </a:path>
              </a:pathLst>
            </a:custGeom>
            <a:solidFill>
              <a:srgbClr val="1C4ED8">
                <a:alpha val="501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1990724" y="5534024"/>
              <a:ext cx="285750" cy="228600"/>
            </a:xfrm>
            <a:custGeom>
              <a:avLst/>
              <a:gdLst/>
              <a:ahLst/>
              <a:cxnLst/>
              <a:rect l="l" t="t" r="r" b="b"/>
              <a:pathLst>
                <a:path w="285750" h="228600">
                  <a:moveTo>
                    <a:pt x="157162" y="42862"/>
                  </a:moveTo>
                  <a:lnTo>
                    <a:pt x="128587" y="42862"/>
                  </a:lnTo>
                  <a:lnTo>
                    <a:pt x="128587" y="6384"/>
                  </a:lnTo>
                  <a:lnTo>
                    <a:pt x="134972" y="0"/>
                  </a:lnTo>
                  <a:lnTo>
                    <a:pt x="150777" y="0"/>
                  </a:lnTo>
                  <a:lnTo>
                    <a:pt x="157162" y="6384"/>
                  </a:lnTo>
                  <a:lnTo>
                    <a:pt x="157162" y="42862"/>
                  </a:lnTo>
                  <a:close/>
                </a:path>
                <a:path w="285750" h="228600">
                  <a:moveTo>
                    <a:pt x="210740" y="228600"/>
                  </a:moveTo>
                  <a:lnTo>
                    <a:pt x="75009" y="228600"/>
                  </a:lnTo>
                  <a:lnTo>
                    <a:pt x="62489" y="226075"/>
                  </a:lnTo>
                  <a:lnTo>
                    <a:pt x="52272" y="219190"/>
                  </a:lnTo>
                  <a:lnTo>
                    <a:pt x="45386" y="208972"/>
                  </a:lnTo>
                  <a:lnTo>
                    <a:pt x="42862" y="196453"/>
                  </a:lnTo>
                  <a:lnTo>
                    <a:pt x="42862" y="75009"/>
                  </a:lnTo>
                  <a:lnTo>
                    <a:pt x="45386" y="62489"/>
                  </a:lnTo>
                  <a:lnTo>
                    <a:pt x="52272" y="52272"/>
                  </a:lnTo>
                  <a:lnTo>
                    <a:pt x="62489" y="45386"/>
                  </a:lnTo>
                  <a:lnTo>
                    <a:pt x="75009" y="42862"/>
                  </a:lnTo>
                  <a:lnTo>
                    <a:pt x="210740" y="42862"/>
                  </a:lnTo>
                  <a:lnTo>
                    <a:pt x="223260" y="45386"/>
                  </a:lnTo>
                  <a:lnTo>
                    <a:pt x="233477" y="52272"/>
                  </a:lnTo>
                  <a:lnTo>
                    <a:pt x="240363" y="62489"/>
                  </a:lnTo>
                  <a:lnTo>
                    <a:pt x="242887" y="75009"/>
                  </a:lnTo>
                  <a:lnTo>
                    <a:pt x="242887" y="96440"/>
                  </a:lnTo>
                  <a:lnTo>
                    <a:pt x="97644" y="96440"/>
                  </a:lnTo>
                  <a:lnTo>
                    <a:pt x="95366" y="96893"/>
                  </a:lnTo>
                  <a:lnTo>
                    <a:pt x="82153" y="111931"/>
                  </a:lnTo>
                  <a:lnTo>
                    <a:pt x="82153" y="116668"/>
                  </a:lnTo>
                  <a:lnTo>
                    <a:pt x="97644" y="132159"/>
                  </a:lnTo>
                  <a:lnTo>
                    <a:pt x="242887" y="132159"/>
                  </a:lnTo>
                  <a:lnTo>
                    <a:pt x="242887" y="171450"/>
                  </a:lnTo>
                  <a:lnTo>
                    <a:pt x="88939" y="171450"/>
                  </a:lnTo>
                  <a:lnTo>
                    <a:pt x="85725" y="174664"/>
                  </a:lnTo>
                  <a:lnTo>
                    <a:pt x="85725" y="182522"/>
                  </a:lnTo>
                  <a:lnTo>
                    <a:pt x="88939" y="185737"/>
                  </a:lnTo>
                  <a:lnTo>
                    <a:pt x="242887" y="185737"/>
                  </a:lnTo>
                  <a:lnTo>
                    <a:pt x="242887" y="196453"/>
                  </a:lnTo>
                  <a:lnTo>
                    <a:pt x="240363" y="208972"/>
                  </a:lnTo>
                  <a:lnTo>
                    <a:pt x="233477" y="219190"/>
                  </a:lnTo>
                  <a:lnTo>
                    <a:pt x="223260" y="226075"/>
                  </a:lnTo>
                  <a:lnTo>
                    <a:pt x="210740" y="228600"/>
                  </a:lnTo>
                  <a:close/>
                </a:path>
                <a:path w="285750" h="228600">
                  <a:moveTo>
                    <a:pt x="183369" y="132159"/>
                  </a:moveTo>
                  <a:lnTo>
                    <a:pt x="102380" y="132159"/>
                  </a:lnTo>
                  <a:lnTo>
                    <a:pt x="104658" y="131706"/>
                  </a:lnTo>
                  <a:lnTo>
                    <a:pt x="109035" y="129893"/>
                  </a:lnTo>
                  <a:lnTo>
                    <a:pt x="117871" y="116668"/>
                  </a:lnTo>
                  <a:lnTo>
                    <a:pt x="117871" y="111931"/>
                  </a:lnTo>
                  <a:lnTo>
                    <a:pt x="102380" y="96440"/>
                  </a:lnTo>
                  <a:lnTo>
                    <a:pt x="183369" y="96440"/>
                  </a:lnTo>
                  <a:lnTo>
                    <a:pt x="167878" y="111931"/>
                  </a:lnTo>
                  <a:lnTo>
                    <a:pt x="167878" y="116668"/>
                  </a:lnTo>
                  <a:lnTo>
                    <a:pt x="181091" y="131706"/>
                  </a:lnTo>
                  <a:lnTo>
                    <a:pt x="183369" y="132159"/>
                  </a:lnTo>
                  <a:close/>
                </a:path>
                <a:path w="285750" h="228600">
                  <a:moveTo>
                    <a:pt x="242887" y="132159"/>
                  </a:moveTo>
                  <a:lnTo>
                    <a:pt x="188105" y="132159"/>
                  </a:lnTo>
                  <a:lnTo>
                    <a:pt x="190383" y="131706"/>
                  </a:lnTo>
                  <a:lnTo>
                    <a:pt x="194759" y="129893"/>
                  </a:lnTo>
                  <a:lnTo>
                    <a:pt x="203596" y="116668"/>
                  </a:lnTo>
                  <a:lnTo>
                    <a:pt x="203596" y="111931"/>
                  </a:lnTo>
                  <a:lnTo>
                    <a:pt x="188105" y="96440"/>
                  </a:lnTo>
                  <a:lnTo>
                    <a:pt x="242887" y="96440"/>
                  </a:lnTo>
                  <a:lnTo>
                    <a:pt x="242887" y="132159"/>
                  </a:lnTo>
                  <a:close/>
                </a:path>
                <a:path w="285750" h="228600">
                  <a:moveTo>
                    <a:pt x="131802" y="185737"/>
                  </a:moveTo>
                  <a:lnTo>
                    <a:pt x="111085" y="185737"/>
                  </a:lnTo>
                  <a:lnTo>
                    <a:pt x="114300" y="182522"/>
                  </a:lnTo>
                  <a:lnTo>
                    <a:pt x="114300" y="174664"/>
                  </a:lnTo>
                  <a:lnTo>
                    <a:pt x="111085" y="171450"/>
                  </a:lnTo>
                  <a:lnTo>
                    <a:pt x="131802" y="171450"/>
                  </a:lnTo>
                  <a:lnTo>
                    <a:pt x="128587" y="174664"/>
                  </a:lnTo>
                  <a:lnTo>
                    <a:pt x="128587" y="182522"/>
                  </a:lnTo>
                  <a:lnTo>
                    <a:pt x="131802" y="185737"/>
                  </a:lnTo>
                  <a:close/>
                </a:path>
                <a:path w="285750" h="228600">
                  <a:moveTo>
                    <a:pt x="174664" y="185737"/>
                  </a:moveTo>
                  <a:lnTo>
                    <a:pt x="153947" y="185737"/>
                  </a:lnTo>
                  <a:lnTo>
                    <a:pt x="157162" y="182522"/>
                  </a:lnTo>
                  <a:lnTo>
                    <a:pt x="157162" y="174664"/>
                  </a:lnTo>
                  <a:lnTo>
                    <a:pt x="153947" y="171450"/>
                  </a:lnTo>
                  <a:lnTo>
                    <a:pt x="174664" y="171450"/>
                  </a:lnTo>
                  <a:lnTo>
                    <a:pt x="171450" y="174664"/>
                  </a:lnTo>
                  <a:lnTo>
                    <a:pt x="171450" y="182522"/>
                  </a:lnTo>
                  <a:lnTo>
                    <a:pt x="174664" y="185737"/>
                  </a:lnTo>
                  <a:close/>
                </a:path>
                <a:path w="285750" h="228600">
                  <a:moveTo>
                    <a:pt x="242887" y="185737"/>
                  </a:moveTo>
                  <a:lnTo>
                    <a:pt x="196810" y="185737"/>
                  </a:lnTo>
                  <a:lnTo>
                    <a:pt x="200025" y="182522"/>
                  </a:lnTo>
                  <a:lnTo>
                    <a:pt x="200025" y="174664"/>
                  </a:lnTo>
                  <a:lnTo>
                    <a:pt x="196810" y="171450"/>
                  </a:lnTo>
                  <a:lnTo>
                    <a:pt x="242887" y="171450"/>
                  </a:lnTo>
                  <a:lnTo>
                    <a:pt x="242887" y="185737"/>
                  </a:lnTo>
                  <a:close/>
                </a:path>
                <a:path w="285750" h="228600">
                  <a:moveTo>
                    <a:pt x="28575" y="185737"/>
                  </a:moveTo>
                  <a:lnTo>
                    <a:pt x="21431" y="185737"/>
                  </a:lnTo>
                  <a:lnTo>
                    <a:pt x="13091" y="184052"/>
                  </a:lnTo>
                  <a:lnTo>
                    <a:pt x="6278" y="179458"/>
                  </a:lnTo>
                  <a:lnTo>
                    <a:pt x="1684" y="172646"/>
                  </a:lnTo>
                  <a:lnTo>
                    <a:pt x="0" y="164306"/>
                  </a:lnTo>
                  <a:lnTo>
                    <a:pt x="0" y="121443"/>
                  </a:lnTo>
                  <a:lnTo>
                    <a:pt x="1684" y="113103"/>
                  </a:lnTo>
                  <a:lnTo>
                    <a:pt x="6278" y="106291"/>
                  </a:lnTo>
                  <a:lnTo>
                    <a:pt x="13091" y="101697"/>
                  </a:lnTo>
                  <a:lnTo>
                    <a:pt x="21431" y="100012"/>
                  </a:lnTo>
                  <a:lnTo>
                    <a:pt x="28575" y="100012"/>
                  </a:lnTo>
                  <a:lnTo>
                    <a:pt x="28575" y="185737"/>
                  </a:lnTo>
                  <a:close/>
                </a:path>
                <a:path w="285750" h="228600">
                  <a:moveTo>
                    <a:pt x="264318" y="185737"/>
                  </a:moveTo>
                  <a:lnTo>
                    <a:pt x="257175" y="185737"/>
                  </a:lnTo>
                  <a:lnTo>
                    <a:pt x="257175" y="100012"/>
                  </a:lnTo>
                  <a:lnTo>
                    <a:pt x="264318" y="100012"/>
                  </a:lnTo>
                  <a:lnTo>
                    <a:pt x="272658" y="101697"/>
                  </a:lnTo>
                  <a:lnTo>
                    <a:pt x="279471" y="106291"/>
                  </a:lnTo>
                  <a:lnTo>
                    <a:pt x="284065" y="113103"/>
                  </a:lnTo>
                  <a:lnTo>
                    <a:pt x="285750" y="121443"/>
                  </a:lnTo>
                  <a:lnTo>
                    <a:pt x="285750" y="164306"/>
                  </a:lnTo>
                  <a:lnTo>
                    <a:pt x="284065" y="172646"/>
                  </a:lnTo>
                  <a:lnTo>
                    <a:pt x="279471" y="179458"/>
                  </a:lnTo>
                  <a:lnTo>
                    <a:pt x="272658" y="184052"/>
                  </a:lnTo>
                  <a:lnTo>
                    <a:pt x="264318" y="18573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1904999" y="6105524"/>
              <a:ext cx="457200" cy="19050"/>
            </a:xfrm>
            <a:custGeom>
              <a:avLst/>
              <a:gdLst/>
              <a:ahLst/>
              <a:cxnLst/>
              <a:rect l="l" t="t" r="r" b="b"/>
              <a:pathLst>
                <a:path w="457200" h="19050">
                  <a:moveTo>
                    <a:pt x="457199" y="19049"/>
                  </a:moveTo>
                  <a:lnTo>
                    <a:pt x="0" y="19049"/>
                  </a:lnTo>
                  <a:lnTo>
                    <a:pt x="0" y="0"/>
                  </a:lnTo>
                  <a:lnTo>
                    <a:pt x="457199" y="0"/>
                  </a:lnTo>
                  <a:lnTo>
                    <a:pt x="457199" y="19049"/>
                  </a:lnTo>
                  <a:close/>
                </a:path>
              </a:pathLst>
            </a:custGeom>
            <a:solidFill>
              <a:srgbClr val="93C4F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1828799" y="6276974"/>
              <a:ext cx="609600" cy="609600"/>
            </a:xfrm>
            <a:custGeom>
              <a:avLst/>
              <a:gdLst/>
              <a:ahLst/>
              <a:cxnLst/>
              <a:rect l="l" t="t" r="r" b="b"/>
              <a:pathLst>
                <a:path w="609600" h="609600">
                  <a:moveTo>
                    <a:pt x="304799" y="609599"/>
                  </a:moveTo>
                  <a:lnTo>
                    <a:pt x="260076" y="606301"/>
                  </a:lnTo>
                  <a:lnTo>
                    <a:pt x="216320" y="596473"/>
                  </a:lnTo>
                  <a:lnTo>
                    <a:pt x="174480" y="580335"/>
                  </a:lnTo>
                  <a:lnTo>
                    <a:pt x="135461" y="558230"/>
                  </a:lnTo>
                  <a:lnTo>
                    <a:pt x="100108" y="530641"/>
                  </a:lnTo>
                  <a:lnTo>
                    <a:pt x="69186" y="498162"/>
                  </a:lnTo>
                  <a:lnTo>
                    <a:pt x="43363" y="461497"/>
                  </a:lnTo>
                  <a:lnTo>
                    <a:pt x="23201" y="421440"/>
                  </a:lnTo>
                  <a:lnTo>
                    <a:pt x="9134" y="378859"/>
                  </a:lnTo>
                  <a:lnTo>
                    <a:pt x="1467" y="334675"/>
                  </a:lnTo>
                  <a:lnTo>
                    <a:pt x="0" y="304799"/>
                  </a:lnTo>
                  <a:lnTo>
                    <a:pt x="366" y="289844"/>
                  </a:lnTo>
                  <a:lnTo>
                    <a:pt x="5856" y="245335"/>
                  </a:lnTo>
                  <a:lnTo>
                    <a:pt x="17816" y="202115"/>
                  </a:lnTo>
                  <a:lnTo>
                    <a:pt x="35990" y="161117"/>
                  </a:lnTo>
                  <a:lnTo>
                    <a:pt x="59981" y="123230"/>
                  </a:lnTo>
                  <a:lnTo>
                    <a:pt x="89273" y="89273"/>
                  </a:lnTo>
                  <a:lnTo>
                    <a:pt x="123230" y="59981"/>
                  </a:lnTo>
                  <a:lnTo>
                    <a:pt x="161118" y="35990"/>
                  </a:lnTo>
                  <a:lnTo>
                    <a:pt x="202115" y="17817"/>
                  </a:lnTo>
                  <a:lnTo>
                    <a:pt x="245336" y="5856"/>
                  </a:lnTo>
                  <a:lnTo>
                    <a:pt x="289844" y="367"/>
                  </a:lnTo>
                  <a:lnTo>
                    <a:pt x="304799" y="0"/>
                  </a:lnTo>
                  <a:lnTo>
                    <a:pt x="319755" y="367"/>
                  </a:lnTo>
                  <a:lnTo>
                    <a:pt x="364263" y="5856"/>
                  </a:lnTo>
                  <a:lnTo>
                    <a:pt x="407483" y="17817"/>
                  </a:lnTo>
                  <a:lnTo>
                    <a:pt x="448481" y="35990"/>
                  </a:lnTo>
                  <a:lnTo>
                    <a:pt x="486369" y="59981"/>
                  </a:lnTo>
                  <a:lnTo>
                    <a:pt x="520326" y="89273"/>
                  </a:lnTo>
                  <a:lnTo>
                    <a:pt x="549617" y="123230"/>
                  </a:lnTo>
                  <a:lnTo>
                    <a:pt x="573609" y="161117"/>
                  </a:lnTo>
                  <a:lnTo>
                    <a:pt x="591782" y="202115"/>
                  </a:lnTo>
                  <a:lnTo>
                    <a:pt x="603742" y="245335"/>
                  </a:lnTo>
                  <a:lnTo>
                    <a:pt x="609232" y="289844"/>
                  </a:lnTo>
                  <a:lnTo>
                    <a:pt x="609599" y="304799"/>
                  </a:lnTo>
                  <a:lnTo>
                    <a:pt x="609232" y="319755"/>
                  </a:lnTo>
                  <a:lnTo>
                    <a:pt x="603742" y="364263"/>
                  </a:lnTo>
                  <a:lnTo>
                    <a:pt x="591782" y="407482"/>
                  </a:lnTo>
                  <a:lnTo>
                    <a:pt x="573609" y="448480"/>
                  </a:lnTo>
                  <a:lnTo>
                    <a:pt x="549617" y="486368"/>
                  </a:lnTo>
                  <a:lnTo>
                    <a:pt x="520326" y="520325"/>
                  </a:lnTo>
                  <a:lnTo>
                    <a:pt x="486369" y="549617"/>
                  </a:lnTo>
                  <a:lnTo>
                    <a:pt x="448481" y="573609"/>
                  </a:lnTo>
                  <a:lnTo>
                    <a:pt x="407483" y="591781"/>
                  </a:lnTo>
                  <a:lnTo>
                    <a:pt x="364263" y="603742"/>
                  </a:lnTo>
                  <a:lnTo>
                    <a:pt x="319755" y="609232"/>
                  </a:lnTo>
                  <a:lnTo>
                    <a:pt x="304799" y="609599"/>
                  </a:lnTo>
                  <a:close/>
                </a:path>
              </a:pathLst>
            </a:custGeom>
            <a:solidFill>
              <a:srgbClr val="049569">
                <a:alpha val="501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8" name="object 18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038349" y="6467474"/>
              <a:ext cx="200025" cy="228600"/>
            </a:xfrm>
            <a:prstGeom prst="rect">
              <a:avLst/>
            </a:prstGeom>
          </p:spPr>
        </p:pic>
        <p:sp>
          <p:nvSpPr>
            <p:cNvPr id="19" name="object 19" descr=""/>
            <p:cNvSpPr/>
            <p:nvPr/>
          </p:nvSpPr>
          <p:spPr>
            <a:xfrm>
              <a:off x="1904999" y="7038974"/>
              <a:ext cx="457200" cy="19050"/>
            </a:xfrm>
            <a:custGeom>
              <a:avLst/>
              <a:gdLst/>
              <a:ahLst/>
              <a:cxnLst/>
              <a:rect l="l" t="t" r="r" b="b"/>
              <a:pathLst>
                <a:path w="457200" h="19050">
                  <a:moveTo>
                    <a:pt x="457199" y="19049"/>
                  </a:moveTo>
                  <a:lnTo>
                    <a:pt x="0" y="19049"/>
                  </a:lnTo>
                  <a:lnTo>
                    <a:pt x="0" y="0"/>
                  </a:lnTo>
                  <a:lnTo>
                    <a:pt x="457199" y="0"/>
                  </a:lnTo>
                  <a:lnTo>
                    <a:pt x="457199" y="19049"/>
                  </a:lnTo>
                  <a:close/>
                </a:path>
              </a:pathLst>
            </a:custGeom>
            <a:solidFill>
              <a:srgbClr val="93C4F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1828799" y="7210424"/>
              <a:ext cx="609600" cy="609600"/>
            </a:xfrm>
            <a:custGeom>
              <a:avLst/>
              <a:gdLst/>
              <a:ahLst/>
              <a:cxnLst/>
              <a:rect l="l" t="t" r="r" b="b"/>
              <a:pathLst>
                <a:path w="609600" h="609600">
                  <a:moveTo>
                    <a:pt x="304799" y="609599"/>
                  </a:moveTo>
                  <a:lnTo>
                    <a:pt x="260076" y="606300"/>
                  </a:lnTo>
                  <a:lnTo>
                    <a:pt x="216320" y="596475"/>
                  </a:lnTo>
                  <a:lnTo>
                    <a:pt x="174480" y="580336"/>
                  </a:lnTo>
                  <a:lnTo>
                    <a:pt x="135461" y="558230"/>
                  </a:lnTo>
                  <a:lnTo>
                    <a:pt x="100108" y="530642"/>
                  </a:lnTo>
                  <a:lnTo>
                    <a:pt x="69186" y="498163"/>
                  </a:lnTo>
                  <a:lnTo>
                    <a:pt x="43363" y="461498"/>
                  </a:lnTo>
                  <a:lnTo>
                    <a:pt x="23201" y="421441"/>
                  </a:lnTo>
                  <a:lnTo>
                    <a:pt x="9134" y="378860"/>
                  </a:lnTo>
                  <a:lnTo>
                    <a:pt x="1467" y="334675"/>
                  </a:lnTo>
                  <a:lnTo>
                    <a:pt x="0" y="304799"/>
                  </a:lnTo>
                  <a:lnTo>
                    <a:pt x="366" y="289844"/>
                  </a:lnTo>
                  <a:lnTo>
                    <a:pt x="5856" y="245335"/>
                  </a:lnTo>
                  <a:lnTo>
                    <a:pt x="17816" y="202115"/>
                  </a:lnTo>
                  <a:lnTo>
                    <a:pt x="35990" y="161117"/>
                  </a:lnTo>
                  <a:lnTo>
                    <a:pt x="59981" y="123229"/>
                  </a:lnTo>
                  <a:lnTo>
                    <a:pt x="89273" y="89273"/>
                  </a:lnTo>
                  <a:lnTo>
                    <a:pt x="123230" y="59981"/>
                  </a:lnTo>
                  <a:lnTo>
                    <a:pt x="161118" y="35989"/>
                  </a:lnTo>
                  <a:lnTo>
                    <a:pt x="202115" y="17816"/>
                  </a:lnTo>
                  <a:lnTo>
                    <a:pt x="245336" y="5856"/>
                  </a:lnTo>
                  <a:lnTo>
                    <a:pt x="289844" y="367"/>
                  </a:lnTo>
                  <a:lnTo>
                    <a:pt x="304799" y="0"/>
                  </a:lnTo>
                  <a:lnTo>
                    <a:pt x="319755" y="367"/>
                  </a:lnTo>
                  <a:lnTo>
                    <a:pt x="364263" y="5856"/>
                  </a:lnTo>
                  <a:lnTo>
                    <a:pt x="407483" y="17816"/>
                  </a:lnTo>
                  <a:lnTo>
                    <a:pt x="448481" y="35990"/>
                  </a:lnTo>
                  <a:lnTo>
                    <a:pt x="486369" y="59981"/>
                  </a:lnTo>
                  <a:lnTo>
                    <a:pt x="520326" y="89273"/>
                  </a:lnTo>
                  <a:lnTo>
                    <a:pt x="549617" y="123229"/>
                  </a:lnTo>
                  <a:lnTo>
                    <a:pt x="573609" y="161117"/>
                  </a:lnTo>
                  <a:lnTo>
                    <a:pt x="591782" y="202115"/>
                  </a:lnTo>
                  <a:lnTo>
                    <a:pt x="603742" y="245335"/>
                  </a:lnTo>
                  <a:lnTo>
                    <a:pt x="609232" y="289844"/>
                  </a:lnTo>
                  <a:lnTo>
                    <a:pt x="609599" y="304799"/>
                  </a:lnTo>
                  <a:lnTo>
                    <a:pt x="609232" y="319755"/>
                  </a:lnTo>
                  <a:lnTo>
                    <a:pt x="603742" y="364263"/>
                  </a:lnTo>
                  <a:lnTo>
                    <a:pt x="591782" y="407483"/>
                  </a:lnTo>
                  <a:lnTo>
                    <a:pt x="573609" y="448481"/>
                  </a:lnTo>
                  <a:lnTo>
                    <a:pt x="549617" y="486369"/>
                  </a:lnTo>
                  <a:lnTo>
                    <a:pt x="520326" y="520325"/>
                  </a:lnTo>
                  <a:lnTo>
                    <a:pt x="486369" y="549617"/>
                  </a:lnTo>
                  <a:lnTo>
                    <a:pt x="448481" y="573609"/>
                  </a:lnTo>
                  <a:lnTo>
                    <a:pt x="407483" y="591781"/>
                  </a:lnTo>
                  <a:lnTo>
                    <a:pt x="364263" y="603742"/>
                  </a:lnTo>
                  <a:lnTo>
                    <a:pt x="319755" y="609233"/>
                  </a:lnTo>
                  <a:lnTo>
                    <a:pt x="304799" y="609599"/>
                  </a:lnTo>
                  <a:close/>
                </a:path>
              </a:pathLst>
            </a:custGeom>
            <a:solidFill>
              <a:srgbClr val="6D28D9">
                <a:alpha val="501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1" name="object 21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051431" y="7399719"/>
              <a:ext cx="173861" cy="231010"/>
            </a:xfrm>
            <a:prstGeom prst="rect">
              <a:avLst/>
            </a:prstGeom>
          </p:spPr>
        </p:pic>
        <p:sp>
          <p:nvSpPr>
            <p:cNvPr id="22" name="object 22" descr=""/>
            <p:cNvSpPr/>
            <p:nvPr/>
          </p:nvSpPr>
          <p:spPr>
            <a:xfrm>
              <a:off x="4571999" y="2066925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399" y="304799"/>
                  </a:moveTo>
                  <a:lnTo>
                    <a:pt x="108159" y="298239"/>
                  </a:lnTo>
                  <a:lnTo>
                    <a:pt x="67730" y="279115"/>
                  </a:lnTo>
                  <a:lnTo>
                    <a:pt x="34591" y="249082"/>
                  </a:lnTo>
                  <a:lnTo>
                    <a:pt x="11600" y="210720"/>
                  </a:lnTo>
                  <a:lnTo>
                    <a:pt x="731" y="167337"/>
                  </a:lnTo>
                  <a:lnTo>
                    <a:pt x="0" y="152399"/>
                  </a:lnTo>
                  <a:lnTo>
                    <a:pt x="182" y="144912"/>
                  </a:lnTo>
                  <a:lnTo>
                    <a:pt x="8904" y="101066"/>
                  </a:lnTo>
                  <a:lnTo>
                    <a:pt x="29995" y="61607"/>
                  </a:lnTo>
                  <a:lnTo>
                    <a:pt x="61606" y="29995"/>
                  </a:lnTo>
                  <a:lnTo>
                    <a:pt x="101065" y="8904"/>
                  </a:lnTo>
                  <a:lnTo>
                    <a:pt x="144912" y="183"/>
                  </a:lnTo>
                  <a:lnTo>
                    <a:pt x="152399" y="0"/>
                  </a:lnTo>
                  <a:lnTo>
                    <a:pt x="159886" y="183"/>
                  </a:lnTo>
                  <a:lnTo>
                    <a:pt x="203733" y="8904"/>
                  </a:lnTo>
                  <a:lnTo>
                    <a:pt x="243192" y="29995"/>
                  </a:lnTo>
                  <a:lnTo>
                    <a:pt x="274803" y="61607"/>
                  </a:lnTo>
                  <a:lnTo>
                    <a:pt x="295894" y="101066"/>
                  </a:lnTo>
                  <a:lnTo>
                    <a:pt x="304616" y="144912"/>
                  </a:lnTo>
                  <a:lnTo>
                    <a:pt x="304799" y="152399"/>
                  </a:lnTo>
                  <a:lnTo>
                    <a:pt x="304616" y="159886"/>
                  </a:lnTo>
                  <a:lnTo>
                    <a:pt x="295894" y="203733"/>
                  </a:lnTo>
                  <a:lnTo>
                    <a:pt x="274803" y="243192"/>
                  </a:lnTo>
                  <a:lnTo>
                    <a:pt x="243192" y="274803"/>
                  </a:lnTo>
                  <a:lnTo>
                    <a:pt x="203733" y="295894"/>
                  </a:lnTo>
                  <a:lnTo>
                    <a:pt x="159886" y="304616"/>
                  </a:lnTo>
                  <a:lnTo>
                    <a:pt x="152399" y="304799"/>
                  </a:lnTo>
                  <a:close/>
                </a:path>
              </a:pathLst>
            </a:custGeom>
            <a:solidFill>
              <a:srgbClr val="1D40A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" name="object 23" descr=""/>
          <p:cNvSpPr txBox="1"/>
          <p:nvPr/>
        </p:nvSpPr>
        <p:spPr>
          <a:xfrm>
            <a:off x="520700" y="8094170"/>
            <a:ext cx="2948940" cy="5969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8700"/>
              </a:lnSpc>
              <a:spcBef>
                <a:spcPts val="95"/>
              </a:spcBef>
            </a:pPr>
            <a:r>
              <a:rPr dirty="0" sz="1150" spc="-75">
                <a:solidFill>
                  <a:srgbClr val="BEDAFE"/>
                </a:solidFill>
                <a:latin typeface="Roboto"/>
                <a:cs typeface="Roboto"/>
              </a:rPr>
              <a:t>A</a:t>
            </a:r>
            <a:r>
              <a:rPr dirty="0" sz="1150">
                <a:solidFill>
                  <a:srgbClr val="BEDAFE"/>
                </a:solidFill>
                <a:latin typeface="Roboto"/>
                <a:cs typeface="Roboto"/>
              </a:rPr>
              <a:t> </a:t>
            </a:r>
            <a:r>
              <a:rPr dirty="0" sz="1150" spc="-55">
                <a:solidFill>
                  <a:srgbClr val="BEDAFE"/>
                </a:solidFill>
                <a:latin typeface="Roboto"/>
                <a:cs typeface="Roboto"/>
              </a:rPr>
              <a:t>hybrid</a:t>
            </a:r>
            <a:r>
              <a:rPr dirty="0" sz="1150">
                <a:solidFill>
                  <a:srgbClr val="BEDAFE"/>
                </a:solidFill>
                <a:latin typeface="Roboto"/>
                <a:cs typeface="Roboto"/>
              </a:rPr>
              <a:t> </a:t>
            </a:r>
            <a:r>
              <a:rPr dirty="0" sz="1150" spc="-60">
                <a:solidFill>
                  <a:srgbClr val="BEDAFE"/>
                </a:solidFill>
                <a:latin typeface="Roboto"/>
                <a:cs typeface="Roboto"/>
              </a:rPr>
              <a:t>approach</a:t>
            </a:r>
            <a:r>
              <a:rPr dirty="0" sz="1150">
                <a:solidFill>
                  <a:srgbClr val="BEDAFE"/>
                </a:solidFill>
                <a:latin typeface="Roboto"/>
                <a:cs typeface="Roboto"/>
              </a:rPr>
              <a:t> </a:t>
            </a:r>
            <a:r>
              <a:rPr dirty="0" sz="1150" spc="-55">
                <a:solidFill>
                  <a:srgbClr val="BEDAFE"/>
                </a:solidFill>
                <a:latin typeface="Roboto"/>
                <a:cs typeface="Roboto"/>
              </a:rPr>
              <a:t>combining</a:t>
            </a:r>
            <a:r>
              <a:rPr dirty="0" sz="1150">
                <a:solidFill>
                  <a:srgbClr val="BEDAFE"/>
                </a:solidFill>
                <a:latin typeface="Roboto"/>
                <a:cs typeface="Roboto"/>
              </a:rPr>
              <a:t> </a:t>
            </a:r>
            <a:r>
              <a:rPr dirty="0" sz="1150" spc="-65">
                <a:solidFill>
                  <a:srgbClr val="BEDAFE"/>
                </a:solidFill>
                <a:latin typeface="Roboto"/>
                <a:cs typeface="Roboto"/>
              </a:rPr>
              <a:t>deep</a:t>
            </a:r>
            <a:r>
              <a:rPr dirty="0" sz="1150">
                <a:solidFill>
                  <a:srgbClr val="BEDAFE"/>
                </a:solidFill>
                <a:latin typeface="Roboto"/>
                <a:cs typeface="Roboto"/>
              </a:rPr>
              <a:t> </a:t>
            </a:r>
            <a:r>
              <a:rPr dirty="0" sz="1150" spc="-60">
                <a:solidFill>
                  <a:srgbClr val="BEDAFE"/>
                </a:solidFill>
                <a:latin typeface="Roboto"/>
                <a:cs typeface="Roboto"/>
              </a:rPr>
              <a:t>reinforcement </a:t>
            </a:r>
            <a:r>
              <a:rPr dirty="0" sz="1150" spc="-45">
                <a:solidFill>
                  <a:srgbClr val="BEDAFE"/>
                </a:solidFill>
                <a:latin typeface="Roboto"/>
                <a:cs typeface="Roboto"/>
              </a:rPr>
              <a:t>learning</a:t>
            </a:r>
            <a:r>
              <a:rPr dirty="0" sz="1150" spc="10">
                <a:solidFill>
                  <a:srgbClr val="BEDAFE"/>
                </a:solidFill>
                <a:latin typeface="Roboto"/>
                <a:cs typeface="Roboto"/>
              </a:rPr>
              <a:t> </a:t>
            </a:r>
            <a:r>
              <a:rPr dirty="0" sz="1150" spc="-50">
                <a:solidFill>
                  <a:srgbClr val="BEDAFE"/>
                </a:solidFill>
                <a:latin typeface="Roboto"/>
                <a:cs typeface="Roboto"/>
              </a:rPr>
              <a:t>with</a:t>
            </a:r>
            <a:r>
              <a:rPr dirty="0" sz="1150" spc="10">
                <a:solidFill>
                  <a:srgbClr val="BEDAFE"/>
                </a:solidFill>
                <a:latin typeface="Roboto"/>
                <a:cs typeface="Roboto"/>
              </a:rPr>
              <a:t> </a:t>
            </a:r>
            <a:r>
              <a:rPr dirty="0" sz="1150" spc="-55">
                <a:solidFill>
                  <a:srgbClr val="BEDAFE"/>
                </a:solidFill>
                <a:latin typeface="Roboto"/>
                <a:cs typeface="Roboto"/>
              </a:rPr>
              <a:t>metaheuristic</a:t>
            </a:r>
            <a:r>
              <a:rPr dirty="0" sz="1150" spc="10">
                <a:solidFill>
                  <a:srgbClr val="BEDAFE"/>
                </a:solidFill>
                <a:latin typeface="Roboto"/>
                <a:cs typeface="Roboto"/>
              </a:rPr>
              <a:t> </a:t>
            </a:r>
            <a:r>
              <a:rPr dirty="0" sz="1150" spc="-50">
                <a:solidFill>
                  <a:srgbClr val="BEDAFE"/>
                </a:solidFill>
                <a:latin typeface="Roboto"/>
                <a:cs typeface="Roboto"/>
              </a:rPr>
              <a:t>optimization</a:t>
            </a:r>
            <a:r>
              <a:rPr dirty="0" sz="1150" spc="10">
                <a:solidFill>
                  <a:srgbClr val="BEDAFE"/>
                </a:solidFill>
                <a:latin typeface="Roboto"/>
                <a:cs typeface="Roboto"/>
              </a:rPr>
              <a:t> </a:t>
            </a:r>
            <a:r>
              <a:rPr dirty="0" sz="1150" spc="-25">
                <a:solidFill>
                  <a:srgbClr val="BEDAFE"/>
                </a:solidFill>
                <a:latin typeface="Roboto"/>
                <a:cs typeface="Roboto"/>
              </a:rPr>
              <a:t>for </a:t>
            </a:r>
            <a:r>
              <a:rPr dirty="0" sz="1150" spc="-45">
                <a:solidFill>
                  <a:srgbClr val="BEDAFE"/>
                </a:solidFill>
                <a:latin typeface="Roboto"/>
                <a:cs typeface="Roboto"/>
              </a:rPr>
              <a:t>distribution</a:t>
            </a:r>
            <a:r>
              <a:rPr dirty="0" sz="1150" spc="15">
                <a:solidFill>
                  <a:srgbClr val="BEDAFE"/>
                </a:solidFill>
                <a:latin typeface="Roboto"/>
                <a:cs typeface="Roboto"/>
              </a:rPr>
              <a:t> </a:t>
            </a:r>
            <a:r>
              <a:rPr dirty="0" sz="1150" spc="-55">
                <a:solidFill>
                  <a:srgbClr val="BEDAFE"/>
                </a:solidFill>
                <a:latin typeface="Roboto"/>
                <a:cs typeface="Roboto"/>
              </a:rPr>
              <a:t>network</a:t>
            </a:r>
            <a:r>
              <a:rPr dirty="0" sz="1150" spc="15">
                <a:solidFill>
                  <a:srgbClr val="BEDAFE"/>
                </a:solidFill>
                <a:latin typeface="Roboto"/>
                <a:cs typeface="Roboto"/>
              </a:rPr>
              <a:t> </a:t>
            </a:r>
            <a:r>
              <a:rPr dirty="0" sz="1150" spc="-10">
                <a:solidFill>
                  <a:srgbClr val="BEDAFE"/>
                </a:solidFill>
                <a:latin typeface="Roboto"/>
                <a:cs typeface="Roboto"/>
              </a:rPr>
              <a:t>reconfiguration.</a:t>
            </a:r>
            <a:endParaRPr sz="1150">
              <a:latin typeface="Roboto"/>
              <a:cs typeface="Roboto"/>
            </a:endParaRPr>
          </a:p>
        </p:txBody>
      </p:sp>
      <p:sp>
        <p:nvSpPr>
          <p:cNvPr id="24" name="object 24" descr=""/>
          <p:cNvSpPr txBox="1"/>
          <p:nvPr/>
        </p:nvSpPr>
        <p:spPr>
          <a:xfrm>
            <a:off x="4559300" y="1283427"/>
            <a:ext cx="2941320" cy="40195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2450" spc="-114" b="1">
                <a:solidFill>
                  <a:srgbClr val="1F2937"/>
                </a:solidFill>
                <a:latin typeface="Roboto"/>
                <a:cs typeface="Roboto"/>
              </a:rPr>
              <a:t>Presentation</a:t>
            </a:r>
            <a:r>
              <a:rPr dirty="0" sz="2450" spc="55" b="1">
                <a:solidFill>
                  <a:srgbClr val="1F2937"/>
                </a:solidFill>
                <a:latin typeface="Roboto"/>
                <a:cs typeface="Roboto"/>
              </a:rPr>
              <a:t> </a:t>
            </a:r>
            <a:r>
              <a:rPr dirty="0" sz="2450" spc="-85" b="1">
                <a:solidFill>
                  <a:srgbClr val="1F2937"/>
                </a:solidFill>
                <a:latin typeface="Roboto"/>
                <a:cs typeface="Roboto"/>
              </a:rPr>
              <a:t>Structure</a:t>
            </a:r>
            <a:endParaRPr sz="2450">
              <a:latin typeface="Roboto"/>
              <a:cs typeface="Roboto"/>
            </a:endParaRPr>
          </a:p>
        </p:txBody>
      </p:sp>
      <p:sp>
        <p:nvSpPr>
          <p:cNvPr id="25" name="object 25" descr=""/>
          <p:cNvSpPr txBox="1"/>
          <p:nvPr/>
        </p:nvSpPr>
        <p:spPr>
          <a:xfrm>
            <a:off x="4667944" y="2089782"/>
            <a:ext cx="113030" cy="2228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spc="-50" b="1">
                <a:solidFill>
                  <a:srgbClr val="FFFFFF"/>
                </a:solidFill>
                <a:latin typeface="Arial Nova"/>
                <a:cs typeface="Arial Nova"/>
              </a:rPr>
              <a:t>1</a:t>
            </a:r>
            <a:endParaRPr sz="1300">
              <a:latin typeface="Arial Nova"/>
              <a:cs typeface="Arial Nova"/>
            </a:endParaRPr>
          </a:p>
        </p:txBody>
      </p:sp>
      <p:sp>
        <p:nvSpPr>
          <p:cNvPr id="26" name="object 26" descr=""/>
          <p:cNvSpPr txBox="1"/>
          <p:nvPr/>
        </p:nvSpPr>
        <p:spPr>
          <a:xfrm>
            <a:off x="5016499" y="1939210"/>
            <a:ext cx="2365375" cy="503555"/>
          </a:xfrm>
          <a:prstGeom prst="rect">
            <a:avLst/>
          </a:prstGeom>
        </p:spPr>
        <p:txBody>
          <a:bodyPr wrap="square" lIns="0" tIns="419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30"/>
              </a:spcBef>
            </a:pPr>
            <a:r>
              <a:rPr dirty="0" sz="1650" spc="-10" b="0">
                <a:solidFill>
                  <a:srgbClr val="1F2937"/>
                </a:solidFill>
                <a:latin typeface="Roboto Medium"/>
                <a:cs typeface="Roboto Medium"/>
              </a:rPr>
              <a:t>Introduction</a:t>
            </a:r>
            <a:endParaRPr sz="1650">
              <a:latin typeface="Roboto Medium"/>
              <a:cs typeface="Roboto Medium"/>
            </a:endParaRPr>
          </a:p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dirty="0" sz="1150" spc="-50">
                <a:solidFill>
                  <a:srgbClr val="4A5462"/>
                </a:solidFill>
                <a:latin typeface="Roboto"/>
                <a:cs typeface="Roboto"/>
              </a:rPr>
              <a:t>Challenges,</a:t>
            </a:r>
            <a:r>
              <a:rPr dirty="0" sz="1150" spc="-5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1150" spc="-50">
                <a:solidFill>
                  <a:srgbClr val="4A5462"/>
                </a:solidFill>
                <a:latin typeface="Roboto"/>
                <a:cs typeface="Roboto"/>
              </a:rPr>
              <a:t>importance,</a:t>
            </a:r>
            <a:r>
              <a:rPr dirty="0" sz="1150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1150" spc="-60">
                <a:solidFill>
                  <a:srgbClr val="4A5462"/>
                </a:solidFill>
                <a:latin typeface="Roboto"/>
                <a:cs typeface="Roboto"/>
              </a:rPr>
              <a:t>and</a:t>
            </a:r>
            <a:r>
              <a:rPr dirty="0" sz="1150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1150" spc="-45">
                <a:solidFill>
                  <a:srgbClr val="4A5462"/>
                </a:solidFill>
                <a:latin typeface="Roboto"/>
                <a:cs typeface="Roboto"/>
              </a:rPr>
              <a:t>motivation</a:t>
            </a:r>
            <a:endParaRPr sz="1150">
              <a:latin typeface="Roboto"/>
              <a:cs typeface="Roboto"/>
            </a:endParaRPr>
          </a:p>
        </p:txBody>
      </p:sp>
      <p:sp>
        <p:nvSpPr>
          <p:cNvPr id="27" name="object 27" descr=""/>
          <p:cNvSpPr/>
          <p:nvPr/>
        </p:nvSpPr>
        <p:spPr>
          <a:xfrm>
            <a:off x="4571999" y="2752725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399" y="304799"/>
                </a:moveTo>
                <a:lnTo>
                  <a:pt x="108159" y="298239"/>
                </a:lnTo>
                <a:lnTo>
                  <a:pt x="67730" y="279115"/>
                </a:lnTo>
                <a:lnTo>
                  <a:pt x="34591" y="249082"/>
                </a:lnTo>
                <a:lnTo>
                  <a:pt x="11600" y="210720"/>
                </a:lnTo>
                <a:lnTo>
                  <a:pt x="731" y="167337"/>
                </a:lnTo>
                <a:lnTo>
                  <a:pt x="0" y="152399"/>
                </a:lnTo>
                <a:lnTo>
                  <a:pt x="182" y="144912"/>
                </a:lnTo>
                <a:lnTo>
                  <a:pt x="8904" y="101065"/>
                </a:lnTo>
                <a:lnTo>
                  <a:pt x="29995" y="61607"/>
                </a:lnTo>
                <a:lnTo>
                  <a:pt x="61606" y="29995"/>
                </a:lnTo>
                <a:lnTo>
                  <a:pt x="101065" y="8904"/>
                </a:lnTo>
                <a:lnTo>
                  <a:pt x="144912" y="183"/>
                </a:lnTo>
                <a:lnTo>
                  <a:pt x="152399" y="0"/>
                </a:lnTo>
                <a:lnTo>
                  <a:pt x="159886" y="183"/>
                </a:lnTo>
                <a:lnTo>
                  <a:pt x="203733" y="8904"/>
                </a:lnTo>
                <a:lnTo>
                  <a:pt x="243192" y="29995"/>
                </a:lnTo>
                <a:lnTo>
                  <a:pt x="274803" y="61607"/>
                </a:lnTo>
                <a:lnTo>
                  <a:pt x="295894" y="101065"/>
                </a:lnTo>
                <a:lnTo>
                  <a:pt x="304616" y="144912"/>
                </a:lnTo>
                <a:lnTo>
                  <a:pt x="304799" y="152399"/>
                </a:lnTo>
                <a:lnTo>
                  <a:pt x="304616" y="159886"/>
                </a:lnTo>
                <a:lnTo>
                  <a:pt x="295894" y="203733"/>
                </a:lnTo>
                <a:lnTo>
                  <a:pt x="274803" y="243191"/>
                </a:lnTo>
                <a:lnTo>
                  <a:pt x="243192" y="274803"/>
                </a:lnTo>
                <a:lnTo>
                  <a:pt x="203733" y="295895"/>
                </a:lnTo>
                <a:lnTo>
                  <a:pt x="159886" y="304616"/>
                </a:lnTo>
                <a:lnTo>
                  <a:pt x="152399" y="304799"/>
                </a:lnTo>
                <a:close/>
              </a:path>
            </a:pathLst>
          </a:custGeom>
          <a:solidFill>
            <a:srgbClr val="1D40A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 descr=""/>
          <p:cNvSpPr txBox="1"/>
          <p:nvPr/>
        </p:nvSpPr>
        <p:spPr>
          <a:xfrm>
            <a:off x="4667944" y="2775582"/>
            <a:ext cx="113030" cy="2228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spc="-50" b="1">
                <a:solidFill>
                  <a:srgbClr val="FFFFFF"/>
                </a:solidFill>
                <a:latin typeface="Arial Nova"/>
                <a:cs typeface="Arial Nova"/>
              </a:rPr>
              <a:t>2</a:t>
            </a:r>
            <a:endParaRPr sz="1300">
              <a:latin typeface="Arial Nova"/>
              <a:cs typeface="Arial Nova"/>
            </a:endParaRPr>
          </a:p>
        </p:txBody>
      </p:sp>
      <p:sp>
        <p:nvSpPr>
          <p:cNvPr id="29" name="object 29" descr=""/>
          <p:cNvSpPr txBox="1"/>
          <p:nvPr/>
        </p:nvSpPr>
        <p:spPr>
          <a:xfrm>
            <a:off x="5016499" y="2625010"/>
            <a:ext cx="3054985" cy="503555"/>
          </a:xfrm>
          <a:prstGeom prst="rect">
            <a:avLst/>
          </a:prstGeom>
        </p:spPr>
        <p:txBody>
          <a:bodyPr wrap="square" lIns="0" tIns="419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30"/>
              </a:spcBef>
            </a:pPr>
            <a:r>
              <a:rPr dirty="0" sz="1650" spc="-95" b="0">
                <a:solidFill>
                  <a:srgbClr val="1F2937"/>
                </a:solidFill>
                <a:latin typeface="Roboto Medium"/>
                <a:cs typeface="Roboto Medium"/>
              </a:rPr>
              <a:t>Problem</a:t>
            </a:r>
            <a:r>
              <a:rPr dirty="0" sz="1650" spc="15" b="0">
                <a:solidFill>
                  <a:srgbClr val="1F2937"/>
                </a:solidFill>
                <a:latin typeface="Roboto Medium"/>
                <a:cs typeface="Roboto Medium"/>
              </a:rPr>
              <a:t> </a:t>
            </a:r>
            <a:r>
              <a:rPr dirty="0" sz="1650" spc="-10" b="0">
                <a:solidFill>
                  <a:srgbClr val="1F2937"/>
                </a:solidFill>
                <a:latin typeface="Roboto Medium"/>
                <a:cs typeface="Roboto Medium"/>
              </a:rPr>
              <a:t>Formulation</a:t>
            </a:r>
            <a:endParaRPr sz="1650">
              <a:latin typeface="Roboto Medium"/>
              <a:cs typeface="Roboto Medium"/>
            </a:endParaRPr>
          </a:p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dirty="0" sz="1150" spc="-50">
                <a:solidFill>
                  <a:srgbClr val="4A5462"/>
                </a:solidFill>
                <a:latin typeface="Roboto"/>
                <a:cs typeface="Roboto"/>
              </a:rPr>
              <a:t>Objectives,</a:t>
            </a:r>
            <a:r>
              <a:rPr dirty="0" sz="1150" spc="-5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1150" spc="-50">
                <a:solidFill>
                  <a:srgbClr val="4A5462"/>
                </a:solidFill>
                <a:latin typeface="Roboto"/>
                <a:cs typeface="Roboto"/>
              </a:rPr>
              <a:t>modeling,</a:t>
            </a:r>
            <a:r>
              <a:rPr dirty="0" sz="1150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1150" spc="-45">
                <a:solidFill>
                  <a:srgbClr val="4A5462"/>
                </a:solidFill>
                <a:latin typeface="Roboto"/>
                <a:cs typeface="Roboto"/>
              </a:rPr>
              <a:t>constraints,</a:t>
            </a:r>
            <a:r>
              <a:rPr dirty="0" sz="1150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1150" spc="-60">
                <a:solidFill>
                  <a:srgbClr val="4A5462"/>
                </a:solidFill>
                <a:latin typeface="Roboto"/>
                <a:cs typeface="Roboto"/>
              </a:rPr>
              <a:t>and</a:t>
            </a:r>
            <a:r>
              <a:rPr dirty="0" sz="1150" spc="-5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1150" spc="-50">
                <a:solidFill>
                  <a:srgbClr val="4A5462"/>
                </a:solidFill>
                <a:latin typeface="Roboto"/>
                <a:cs typeface="Roboto"/>
              </a:rPr>
              <a:t>test</a:t>
            </a:r>
            <a:r>
              <a:rPr dirty="0" sz="1150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1150" spc="-50">
                <a:solidFill>
                  <a:srgbClr val="4A5462"/>
                </a:solidFill>
                <a:latin typeface="Roboto"/>
                <a:cs typeface="Roboto"/>
              </a:rPr>
              <a:t>systems</a:t>
            </a:r>
            <a:endParaRPr sz="1150">
              <a:latin typeface="Roboto"/>
              <a:cs typeface="Roboto"/>
            </a:endParaRPr>
          </a:p>
        </p:txBody>
      </p:sp>
      <p:sp>
        <p:nvSpPr>
          <p:cNvPr id="30" name="object 30" descr=""/>
          <p:cNvSpPr/>
          <p:nvPr/>
        </p:nvSpPr>
        <p:spPr>
          <a:xfrm>
            <a:off x="4571999" y="3438525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399" y="304799"/>
                </a:moveTo>
                <a:lnTo>
                  <a:pt x="108159" y="298238"/>
                </a:lnTo>
                <a:lnTo>
                  <a:pt x="67730" y="279115"/>
                </a:lnTo>
                <a:lnTo>
                  <a:pt x="34591" y="249081"/>
                </a:lnTo>
                <a:lnTo>
                  <a:pt x="11600" y="210720"/>
                </a:lnTo>
                <a:lnTo>
                  <a:pt x="731" y="167337"/>
                </a:lnTo>
                <a:lnTo>
                  <a:pt x="0" y="152399"/>
                </a:lnTo>
                <a:lnTo>
                  <a:pt x="182" y="144912"/>
                </a:lnTo>
                <a:lnTo>
                  <a:pt x="8904" y="101065"/>
                </a:lnTo>
                <a:lnTo>
                  <a:pt x="29995" y="61607"/>
                </a:lnTo>
                <a:lnTo>
                  <a:pt x="61606" y="29995"/>
                </a:lnTo>
                <a:lnTo>
                  <a:pt x="101065" y="8904"/>
                </a:lnTo>
                <a:lnTo>
                  <a:pt x="144912" y="183"/>
                </a:lnTo>
                <a:lnTo>
                  <a:pt x="152399" y="0"/>
                </a:lnTo>
                <a:lnTo>
                  <a:pt x="159886" y="183"/>
                </a:lnTo>
                <a:lnTo>
                  <a:pt x="203733" y="8904"/>
                </a:lnTo>
                <a:lnTo>
                  <a:pt x="243192" y="29995"/>
                </a:lnTo>
                <a:lnTo>
                  <a:pt x="274803" y="61607"/>
                </a:lnTo>
                <a:lnTo>
                  <a:pt x="295894" y="101065"/>
                </a:lnTo>
                <a:lnTo>
                  <a:pt x="304616" y="144912"/>
                </a:lnTo>
                <a:lnTo>
                  <a:pt x="304799" y="152399"/>
                </a:lnTo>
                <a:lnTo>
                  <a:pt x="304616" y="159886"/>
                </a:lnTo>
                <a:lnTo>
                  <a:pt x="295894" y="203733"/>
                </a:lnTo>
                <a:lnTo>
                  <a:pt x="274803" y="243191"/>
                </a:lnTo>
                <a:lnTo>
                  <a:pt x="243192" y="274803"/>
                </a:lnTo>
                <a:lnTo>
                  <a:pt x="203733" y="295894"/>
                </a:lnTo>
                <a:lnTo>
                  <a:pt x="159886" y="304616"/>
                </a:lnTo>
                <a:lnTo>
                  <a:pt x="152399" y="304799"/>
                </a:lnTo>
                <a:close/>
              </a:path>
            </a:pathLst>
          </a:custGeom>
          <a:solidFill>
            <a:srgbClr val="1D40A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 descr=""/>
          <p:cNvSpPr txBox="1"/>
          <p:nvPr/>
        </p:nvSpPr>
        <p:spPr>
          <a:xfrm>
            <a:off x="4667944" y="3461382"/>
            <a:ext cx="113030" cy="2228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spc="-50" b="1">
                <a:solidFill>
                  <a:srgbClr val="FFFFFF"/>
                </a:solidFill>
                <a:latin typeface="Arial Nova"/>
                <a:cs typeface="Arial Nova"/>
              </a:rPr>
              <a:t>3</a:t>
            </a:r>
            <a:endParaRPr sz="1300">
              <a:latin typeface="Arial Nova"/>
              <a:cs typeface="Arial Nova"/>
            </a:endParaRPr>
          </a:p>
        </p:txBody>
      </p:sp>
      <p:sp>
        <p:nvSpPr>
          <p:cNvPr id="32" name="object 32" descr=""/>
          <p:cNvSpPr txBox="1"/>
          <p:nvPr/>
        </p:nvSpPr>
        <p:spPr>
          <a:xfrm>
            <a:off x="5016499" y="3310811"/>
            <a:ext cx="3224530" cy="503555"/>
          </a:xfrm>
          <a:prstGeom prst="rect">
            <a:avLst/>
          </a:prstGeom>
        </p:spPr>
        <p:txBody>
          <a:bodyPr wrap="square" lIns="0" tIns="419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30"/>
              </a:spcBef>
            </a:pPr>
            <a:r>
              <a:rPr dirty="0" sz="1650" spc="-85" b="0">
                <a:solidFill>
                  <a:srgbClr val="1F2937"/>
                </a:solidFill>
                <a:latin typeface="Roboto Medium"/>
                <a:cs typeface="Roboto Medium"/>
              </a:rPr>
              <a:t>Methodology</a:t>
            </a:r>
            <a:r>
              <a:rPr dirty="0" sz="1650" spc="-30" b="0">
                <a:solidFill>
                  <a:srgbClr val="1F2937"/>
                </a:solidFill>
                <a:latin typeface="Roboto Medium"/>
                <a:cs typeface="Roboto Medium"/>
              </a:rPr>
              <a:t> </a:t>
            </a:r>
            <a:r>
              <a:rPr dirty="0" sz="1650" spc="-10" b="0">
                <a:solidFill>
                  <a:srgbClr val="1F2937"/>
                </a:solidFill>
                <a:latin typeface="Roboto Medium"/>
                <a:cs typeface="Roboto Medium"/>
              </a:rPr>
              <a:t>Overview</a:t>
            </a:r>
            <a:endParaRPr sz="1650">
              <a:latin typeface="Roboto Medium"/>
              <a:cs typeface="Roboto Medium"/>
            </a:endParaRPr>
          </a:p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dirty="0" sz="1150" spc="-80">
                <a:solidFill>
                  <a:srgbClr val="4A5462"/>
                </a:solidFill>
                <a:latin typeface="Roboto"/>
                <a:cs typeface="Roboto"/>
              </a:rPr>
              <a:t>MDP</a:t>
            </a:r>
            <a:r>
              <a:rPr dirty="0" sz="1150" spc="20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1150" spc="-50">
                <a:solidFill>
                  <a:srgbClr val="4A5462"/>
                </a:solidFill>
                <a:latin typeface="Roboto"/>
                <a:cs typeface="Roboto"/>
              </a:rPr>
              <a:t>formulation,</a:t>
            </a:r>
            <a:r>
              <a:rPr dirty="0" sz="1150" spc="20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1150" spc="-50">
                <a:solidFill>
                  <a:srgbClr val="4A5462"/>
                </a:solidFill>
                <a:latin typeface="Roboto"/>
                <a:cs typeface="Roboto"/>
              </a:rPr>
              <a:t>Multi-</a:t>
            </a:r>
            <a:r>
              <a:rPr dirty="0" sz="1150" spc="-60">
                <a:solidFill>
                  <a:srgbClr val="4A5462"/>
                </a:solidFill>
                <a:latin typeface="Roboto"/>
                <a:cs typeface="Roboto"/>
              </a:rPr>
              <a:t>agent</a:t>
            </a:r>
            <a:r>
              <a:rPr dirty="0" sz="1150" spc="20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1150" spc="-65">
                <a:solidFill>
                  <a:srgbClr val="4A5462"/>
                </a:solidFill>
                <a:latin typeface="Roboto"/>
                <a:cs typeface="Roboto"/>
              </a:rPr>
              <a:t>DQN,</a:t>
            </a:r>
            <a:r>
              <a:rPr dirty="0" sz="1150" spc="20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1150" spc="-60">
                <a:solidFill>
                  <a:srgbClr val="4A5462"/>
                </a:solidFill>
                <a:latin typeface="Roboto"/>
                <a:cs typeface="Roboto"/>
              </a:rPr>
              <a:t>and</a:t>
            </a:r>
            <a:r>
              <a:rPr dirty="0" sz="1150" spc="20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1150" spc="-80">
                <a:solidFill>
                  <a:srgbClr val="4A5462"/>
                </a:solidFill>
                <a:latin typeface="Roboto"/>
                <a:cs typeface="Roboto"/>
              </a:rPr>
              <a:t>GA</a:t>
            </a:r>
            <a:r>
              <a:rPr dirty="0" sz="1150" spc="20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1150" spc="-55">
                <a:solidFill>
                  <a:srgbClr val="4A5462"/>
                </a:solidFill>
                <a:latin typeface="Roboto"/>
                <a:cs typeface="Roboto"/>
              </a:rPr>
              <a:t>fine-</a:t>
            </a:r>
            <a:r>
              <a:rPr dirty="0" sz="1150" spc="-40">
                <a:solidFill>
                  <a:srgbClr val="4A5462"/>
                </a:solidFill>
                <a:latin typeface="Roboto"/>
                <a:cs typeface="Roboto"/>
              </a:rPr>
              <a:t>tuning</a:t>
            </a:r>
            <a:endParaRPr sz="1150">
              <a:latin typeface="Roboto"/>
              <a:cs typeface="Roboto"/>
            </a:endParaRPr>
          </a:p>
        </p:txBody>
      </p:sp>
      <p:sp>
        <p:nvSpPr>
          <p:cNvPr id="33" name="object 33" descr=""/>
          <p:cNvSpPr/>
          <p:nvPr/>
        </p:nvSpPr>
        <p:spPr>
          <a:xfrm>
            <a:off x="4571999" y="4124325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399" y="304799"/>
                </a:moveTo>
                <a:lnTo>
                  <a:pt x="108159" y="298239"/>
                </a:lnTo>
                <a:lnTo>
                  <a:pt x="67730" y="279115"/>
                </a:lnTo>
                <a:lnTo>
                  <a:pt x="34591" y="249082"/>
                </a:lnTo>
                <a:lnTo>
                  <a:pt x="11600" y="210720"/>
                </a:lnTo>
                <a:lnTo>
                  <a:pt x="731" y="167337"/>
                </a:lnTo>
                <a:lnTo>
                  <a:pt x="0" y="152399"/>
                </a:lnTo>
                <a:lnTo>
                  <a:pt x="182" y="144912"/>
                </a:lnTo>
                <a:lnTo>
                  <a:pt x="8904" y="101065"/>
                </a:lnTo>
                <a:lnTo>
                  <a:pt x="29995" y="61607"/>
                </a:lnTo>
                <a:lnTo>
                  <a:pt x="61606" y="29995"/>
                </a:lnTo>
                <a:lnTo>
                  <a:pt x="101065" y="8904"/>
                </a:lnTo>
                <a:lnTo>
                  <a:pt x="144912" y="183"/>
                </a:lnTo>
                <a:lnTo>
                  <a:pt x="152399" y="0"/>
                </a:lnTo>
                <a:lnTo>
                  <a:pt x="159886" y="183"/>
                </a:lnTo>
                <a:lnTo>
                  <a:pt x="203733" y="8904"/>
                </a:lnTo>
                <a:lnTo>
                  <a:pt x="243192" y="29995"/>
                </a:lnTo>
                <a:lnTo>
                  <a:pt x="274803" y="61606"/>
                </a:lnTo>
                <a:lnTo>
                  <a:pt x="295894" y="101065"/>
                </a:lnTo>
                <a:lnTo>
                  <a:pt x="304616" y="144912"/>
                </a:lnTo>
                <a:lnTo>
                  <a:pt x="304799" y="152399"/>
                </a:lnTo>
                <a:lnTo>
                  <a:pt x="304616" y="159886"/>
                </a:lnTo>
                <a:lnTo>
                  <a:pt x="295894" y="203733"/>
                </a:lnTo>
                <a:lnTo>
                  <a:pt x="274803" y="243192"/>
                </a:lnTo>
                <a:lnTo>
                  <a:pt x="243192" y="274803"/>
                </a:lnTo>
                <a:lnTo>
                  <a:pt x="203733" y="295894"/>
                </a:lnTo>
                <a:lnTo>
                  <a:pt x="159886" y="304616"/>
                </a:lnTo>
                <a:lnTo>
                  <a:pt x="152399" y="304799"/>
                </a:lnTo>
                <a:close/>
              </a:path>
            </a:pathLst>
          </a:custGeom>
          <a:solidFill>
            <a:srgbClr val="1D40A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 descr=""/>
          <p:cNvSpPr txBox="1"/>
          <p:nvPr/>
        </p:nvSpPr>
        <p:spPr>
          <a:xfrm>
            <a:off x="4667944" y="4147181"/>
            <a:ext cx="113030" cy="2228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spc="-50" b="1">
                <a:solidFill>
                  <a:srgbClr val="FFFFFF"/>
                </a:solidFill>
                <a:latin typeface="Arial Nova"/>
                <a:cs typeface="Arial Nova"/>
              </a:rPr>
              <a:t>4</a:t>
            </a:r>
            <a:endParaRPr sz="1300">
              <a:latin typeface="Arial Nova"/>
              <a:cs typeface="Arial Nova"/>
            </a:endParaRPr>
          </a:p>
        </p:txBody>
      </p:sp>
      <p:sp>
        <p:nvSpPr>
          <p:cNvPr id="35" name="object 35" descr=""/>
          <p:cNvSpPr txBox="1"/>
          <p:nvPr/>
        </p:nvSpPr>
        <p:spPr>
          <a:xfrm>
            <a:off x="5016499" y="3996610"/>
            <a:ext cx="3308350" cy="503555"/>
          </a:xfrm>
          <a:prstGeom prst="rect">
            <a:avLst/>
          </a:prstGeom>
        </p:spPr>
        <p:txBody>
          <a:bodyPr wrap="square" lIns="0" tIns="419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30"/>
              </a:spcBef>
            </a:pPr>
            <a:r>
              <a:rPr dirty="0" sz="1650" spc="-100" b="0">
                <a:solidFill>
                  <a:srgbClr val="1F2937"/>
                </a:solidFill>
                <a:latin typeface="Roboto Medium"/>
                <a:cs typeface="Roboto Medium"/>
              </a:rPr>
              <a:t>Framework</a:t>
            </a:r>
            <a:r>
              <a:rPr dirty="0" sz="1650" spc="30" b="0">
                <a:solidFill>
                  <a:srgbClr val="1F2937"/>
                </a:solidFill>
                <a:latin typeface="Roboto Medium"/>
                <a:cs typeface="Roboto Medium"/>
              </a:rPr>
              <a:t> </a:t>
            </a:r>
            <a:r>
              <a:rPr dirty="0" sz="1650" spc="-10" b="0">
                <a:solidFill>
                  <a:srgbClr val="1F2937"/>
                </a:solidFill>
                <a:latin typeface="Roboto Medium"/>
                <a:cs typeface="Roboto Medium"/>
              </a:rPr>
              <a:t>Architecture</a:t>
            </a:r>
            <a:endParaRPr sz="1650">
              <a:latin typeface="Roboto Medium"/>
              <a:cs typeface="Roboto Medium"/>
            </a:endParaRPr>
          </a:p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dirty="0" sz="1150" spc="-60">
                <a:solidFill>
                  <a:srgbClr val="4A5462"/>
                </a:solidFill>
                <a:latin typeface="Roboto"/>
                <a:cs typeface="Roboto"/>
              </a:rPr>
              <a:t>System</a:t>
            </a:r>
            <a:r>
              <a:rPr dirty="0" sz="1150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1150" spc="-55">
                <a:solidFill>
                  <a:srgbClr val="4A5462"/>
                </a:solidFill>
                <a:latin typeface="Roboto"/>
                <a:cs typeface="Roboto"/>
              </a:rPr>
              <a:t>components,</a:t>
            </a:r>
            <a:r>
              <a:rPr dirty="0" sz="1150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1150" spc="-60">
                <a:solidFill>
                  <a:srgbClr val="4A5462"/>
                </a:solidFill>
                <a:latin typeface="Roboto"/>
                <a:cs typeface="Roboto"/>
              </a:rPr>
              <a:t>data</a:t>
            </a:r>
            <a:r>
              <a:rPr dirty="0" sz="1150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1150" spc="-65">
                <a:solidFill>
                  <a:srgbClr val="4A5462"/>
                </a:solidFill>
                <a:latin typeface="Roboto"/>
                <a:cs typeface="Roboto"/>
              </a:rPr>
              <a:t>flow,</a:t>
            </a:r>
            <a:r>
              <a:rPr dirty="0" sz="1150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1150" spc="-60">
                <a:solidFill>
                  <a:srgbClr val="4A5462"/>
                </a:solidFill>
                <a:latin typeface="Roboto"/>
                <a:cs typeface="Roboto"/>
              </a:rPr>
              <a:t>and</a:t>
            </a:r>
            <a:r>
              <a:rPr dirty="0" sz="1150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1150" spc="-50">
                <a:solidFill>
                  <a:srgbClr val="4A5462"/>
                </a:solidFill>
                <a:latin typeface="Roboto"/>
                <a:cs typeface="Roboto"/>
              </a:rPr>
              <a:t>integration</a:t>
            </a:r>
            <a:r>
              <a:rPr dirty="0" sz="1150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1150" spc="-45">
                <a:solidFill>
                  <a:srgbClr val="4A5462"/>
                </a:solidFill>
                <a:latin typeface="Roboto"/>
                <a:cs typeface="Roboto"/>
              </a:rPr>
              <a:t>strategy</a:t>
            </a:r>
            <a:endParaRPr sz="1150">
              <a:latin typeface="Roboto"/>
              <a:cs typeface="Roboto"/>
            </a:endParaRPr>
          </a:p>
        </p:txBody>
      </p:sp>
      <p:sp>
        <p:nvSpPr>
          <p:cNvPr id="36" name="object 36" descr=""/>
          <p:cNvSpPr/>
          <p:nvPr/>
        </p:nvSpPr>
        <p:spPr>
          <a:xfrm>
            <a:off x="4571999" y="4810125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399" y="304799"/>
                </a:moveTo>
                <a:lnTo>
                  <a:pt x="108159" y="298238"/>
                </a:lnTo>
                <a:lnTo>
                  <a:pt x="67730" y="279115"/>
                </a:lnTo>
                <a:lnTo>
                  <a:pt x="34591" y="249082"/>
                </a:lnTo>
                <a:lnTo>
                  <a:pt x="11600" y="210720"/>
                </a:lnTo>
                <a:lnTo>
                  <a:pt x="731" y="167337"/>
                </a:lnTo>
                <a:lnTo>
                  <a:pt x="0" y="152399"/>
                </a:lnTo>
                <a:lnTo>
                  <a:pt x="182" y="144912"/>
                </a:lnTo>
                <a:lnTo>
                  <a:pt x="8904" y="101065"/>
                </a:lnTo>
                <a:lnTo>
                  <a:pt x="29995" y="61607"/>
                </a:lnTo>
                <a:lnTo>
                  <a:pt x="61606" y="29995"/>
                </a:lnTo>
                <a:lnTo>
                  <a:pt x="101065" y="8904"/>
                </a:lnTo>
                <a:lnTo>
                  <a:pt x="144912" y="183"/>
                </a:lnTo>
                <a:lnTo>
                  <a:pt x="152399" y="0"/>
                </a:lnTo>
                <a:lnTo>
                  <a:pt x="159886" y="183"/>
                </a:lnTo>
                <a:lnTo>
                  <a:pt x="203733" y="8904"/>
                </a:lnTo>
                <a:lnTo>
                  <a:pt x="243192" y="29995"/>
                </a:lnTo>
                <a:lnTo>
                  <a:pt x="274803" y="61607"/>
                </a:lnTo>
                <a:lnTo>
                  <a:pt x="295894" y="101065"/>
                </a:lnTo>
                <a:lnTo>
                  <a:pt x="304616" y="144912"/>
                </a:lnTo>
                <a:lnTo>
                  <a:pt x="304799" y="152399"/>
                </a:lnTo>
                <a:lnTo>
                  <a:pt x="304616" y="159886"/>
                </a:lnTo>
                <a:lnTo>
                  <a:pt x="295894" y="203732"/>
                </a:lnTo>
                <a:lnTo>
                  <a:pt x="274803" y="243191"/>
                </a:lnTo>
                <a:lnTo>
                  <a:pt x="243192" y="274803"/>
                </a:lnTo>
                <a:lnTo>
                  <a:pt x="203733" y="295894"/>
                </a:lnTo>
                <a:lnTo>
                  <a:pt x="159886" y="304616"/>
                </a:lnTo>
                <a:lnTo>
                  <a:pt x="152399" y="304799"/>
                </a:lnTo>
                <a:close/>
              </a:path>
            </a:pathLst>
          </a:custGeom>
          <a:solidFill>
            <a:srgbClr val="1D40A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 descr=""/>
          <p:cNvSpPr txBox="1"/>
          <p:nvPr/>
        </p:nvSpPr>
        <p:spPr>
          <a:xfrm>
            <a:off x="4667944" y="4832981"/>
            <a:ext cx="113030" cy="2228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spc="-50" b="1">
                <a:solidFill>
                  <a:srgbClr val="FFFFFF"/>
                </a:solidFill>
                <a:latin typeface="Arial Nova"/>
                <a:cs typeface="Arial Nova"/>
              </a:rPr>
              <a:t>5</a:t>
            </a:r>
            <a:endParaRPr sz="1300">
              <a:latin typeface="Arial Nova"/>
              <a:cs typeface="Arial Nova"/>
            </a:endParaRPr>
          </a:p>
        </p:txBody>
      </p:sp>
      <p:sp>
        <p:nvSpPr>
          <p:cNvPr id="38" name="object 38" descr=""/>
          <p:cNvSpPr txBox="1"/>
          <p:nvPr/>
        </p:nvSpPr>
        <p:spPr>
          <a:xfrm>
            <a:off x="5016499" y="4682410"/>
            <a:ext cx="3339465" cy="503555"/>
          </a:xfrm>
          <a:prstGeom prst="rect">
            <a:avLst/>
          </a:prstGeom>
        </p:spPr>
        <p:txBody>
          <a:bodyPr wrap="square" lIns="0" tIns="419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30"/>
              </a:spcBef>
            </a:pPr>
            <a:r>
              <a:rPr dirty="0" sz="1650" spc="-85" b="0">
                <a:solidFill>
                  <a:srgbClr val="1F2937"/>
                </a:solidFill>
                <a:latin typeface="Roboto Medium"/>
                <a:cs typeface="Roboto Medium"/>
              </a:rPr>
              <a:t>Implementation</a:t>
            </a:r>
            <a:r>
              <a:rPr dirty="0" sz="1650" spc="30" b="0">
                <a:solidFill>
                  <a:srgbClr val="1F2937"/>
                </a:solidFill>
                <a:latin typeface="Roboto Medium"/>
                <a:cs typeface="Roboto Medium"/>
              </a:rPr>
              <a:t> </a:t>
            </a:r>
            <a:r>
              <a:rPr dirty="0" sz="1650" spc="-10" b="0">
                <a:solidFill>
                  <a:srgbClr val="1F2937"/>
                </a:solidFill>
                <a:latin typeface="Roboto Medium"/>
                <a:cs typeface="Roboto Medium"/>
              </a:rPr>
              <a:t>Details</a:t>
            </a:r>
            <a:endParaRPr sz="1650">
              <a:latin typeface="Roboto Medium"/>
              <a:cs typeface="Roboto Medium"/>
            </a:endParaRPr>
          </a:p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dirty="0" sz="1150" spc="-60">
                <a:solidFill>
                  <a:srgbClr val="4A5462"/>
                </a:solidFill>
                <a:latin typeface="Roboto"/>
                <a:cs typeface="Roboto"/>
              </a:rPr>
              <a:t>Python</a:t>
            </a:r>
            <a:r>
              <a:rPr dirty="0" sz="1150" spc="30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1150" spc="-55">
                <a:solidFill>
                  <a:srgbClr val="4A5462"/>
                </a:solidFill>
                <a:latin typeface="Roboto"/>
                <a:cs typeface="Roboto"/>
              </a:rPr>
              <a:t>implementation,</a:t>
            </a:r>
            <a:r>
              <a:rPr dirty="0" sz="1150" spc="35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1150" spc="-55">
                <a:solidFill>
                  <a:srgbClr val="4A5462"/>
                </a:solidFill>
                <a:latin typeface="Roboto"/>
                <a:cs typeface="Roboto"/>
              </a:rPr>
              <a:t>environment,</a:t>
            </a:r>
            <a:r>
              <a:rPr dirty="0" sz="1150" spc="30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1150" spc="-60">
                <a:solidFill>
                  <a:srgbClr val="4A5462"/>
                </a:solidFill>
                <a:latin typeface="Roboto"/>
                <a:cs typeface="Roboto"/>
              </a:rPr>
              <a:t>agent</a:t>
            </a:r>
            <a:r>
              <a:rPr dirty="0" sz="1150" spc="35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1150" spc="-45">
                <a:solidFill>
                  <a:srgbClr val="4A5462"/>
                </a:solidFill>
                <a:latin typeface="Roboto"/>
                <a:cs typeface="Roboto"/>
              </a:rPr>
              <a:t>architecture</a:t>
            </a:r>
            <a:endParaRPr sz="1150">
              <a:latin typeface="Roboto"/>
              <a:cs typeface="Roboto"/>
            </a:endParaRPr>
          </a:p>
        </p:txBody>
      </p:sp>
      <p:sp>
        <p:nvSpPr>
          <p:cNvPr id="39" name="object 39" descr=""/>
          <p:cNvSpPr/>
          <p:nvPr/>
        </p:nvSpPr>
        <p:spPr>
          <a:xfrm>
            <a:off x="4571999" y="5495924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399" y="304799"/>
                </a:moveTo>
                <a:lnTo>
                  <a:pt x="108159" y="298238"/>
                </a:lnTo>
                <a:lnTo>
                  <a:pt x="67730" y="279114"/>
                </a:lnTo>
                <a:lnTo>
                  <a:pt x="34591" y="249081"/>
                </a:lnTo>
                <a:lnTo>
                  <a:pt x="11600" y="210720"/>
                </a:lnTo>
                <a:lnTo>
                  <a:pt x="731" y="167337"/>
                </a:lnTo>
                <a:lnTo>
                  <a:pt x="0" y="152399"/>
                </a:lnTo>
                <a:lnTo>
                  <a:pt x="182" y="144912"/>
                </a:lnTo>
                <a:lnTo>
                  <a:pt x="8904" y="101065"/>
                </a:lnTo>
                <a:lnTo>
                  <a:pt x="29995" y="61607"/>
                </a:lnTo>
                <a:lnTo>
                  <a:pt x="61606" y="29995"/>
                </a:lnTo>
                <a:lnTo>
                  <a:pt x="101065" y="8904"/>
                </a:lnTo>
                <a:lnTo>
                  <a:pt x="144912" y="183"/>
                </a:lnTo>
                <a:lnTo>
                  <a:pt x="152399" y="0"/>
                </a:lnTo>
                <a:lnTo>
                  <a:pt x="159886" y="183"/>
                </a:lnTo>
                <a:lnTo>
                  <a:pt x="203733" y="8904"/>
                </a:lnTo>
                <a:lnTo>
                  <a:pt x="243192" y="29995"/>
                </a:lnTo>
                <a:lnTo>
                  <a:pt x="274803" y="61607"/>
                </a:lnTo>
                <a:lnTo>
                  <a:pt x="295894" y="101065"/>
                </a:lnTo>
                <a:lnTo>
                  <a:pt x="304616" y="144912"/>
                </a:lnTo>
                <a:lnTo>
                  <a:pt x="304799" y="152399"/>
                </a:lnTo>
                <a:lnTo>
                  <a:pt x="304616" y="159886"/>
                </a:lnTo>
                <a:lnTo>
                  <a:pt x="295894" y="203732"/>
                </a:lnTo>
                <a:lnTo>
                  <a:pt x="274803" y="243191"/>
                </a:lnTo>
                <a:lnTo>
                  <a:pt x="243192" y="274803"/>
                </a:lnTo>
                <a:lnTo>
                  <a:pt x="203733" y="295894"/>
                </a:lnTo>
                <a:lnTo>
                  <a:pt x="159886" y="304616"/>
                </a:lnTo>
                <a:lnTo>
                  <a:pt x="152399" y="304799"/>
                </a:lnTo>
                <a:close/>
              </a:path>
            </a:pathLst>
          </a:custGeom>
          <a:solidFill>
            <a:srgbClr val="1D40A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 descr=""/>
          <p:cNvSpPr txBox="1"/>
          <p:nvPr/>
        </p:nvSpPr>
        <p:spPr>
          <a:xfrm>
            <a:off x="4667944" y="5518781"/>
            <a:ext cx="113030" cy="2228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spc="-50" b="1">
                <a:solidFill>
                  <a:srgbClr val="FFFFFF"/>
                </a:solidFill>
                <a:latin typeface="Arial Nova"/>
                <a:cs typeface="Arial Nova"/>
              </a:rPr>
              <a:t>6</a:t>
            </a:r>
            <a:endParaRPr sz="1300">
              <a:latin typeface="Arial Nova"/>
              <a:cs typeface="Arial Nova"/>
            </a:endParaRPr>
          </a:p>
        </p:txBody>
      </p:sp>
      <p:sp>
        <p:nvSpPr>
          <p:cNvPr id="41" name="object 41" descr=""/>
          <p:cNvSpPr txBox="1"/>
          <p:nvPr/>
        </p:nvSpPr>
        <p:spPr>
          <a:xfrm>
            <a:off x="5016499" y="5368210"/>
            <a:ext cx="2350135" cy="503555"/>
          </a:xfrm>
          <a:prstGeom prst="rect">
            <a:avLst/>
          </a:prstGeom>
        </p:spPr>
        <p:txBody>
          <a:bodyPr wrap="square" lIns="0" tIns="419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30"/>
              </a:spcBef>
            </a:pPr>
            <a:r>
              <a:rPr dirty="0" sz="1650" spc="-85" b="0">
                <a:solidFill>
                  <a:srgbClr val="1F2937"/>
                </a:solidFill>
                <a:latin typeface="Roboto Medium"/>
                <a:cs typeface="Roboto Medium"/>
              </a:rPr>
              <a:t>Results</a:t>
            </a:r>
            <a:r>
              <a:rPr dirty="0" sz="1650" spc="15" b="0">
                <a:solidFill>
                  <a:srgbClr val="1F2937"/>
                </a:solidFill>
                <a:latin typeface="Roboto Medium"/>
                <a:cs typeface="Roboto Medium"/>
              </a:rPr>
              <a:t> </a:t>
            </a:r>
            <a:r>
              <a:rPr dirty="0" sz="1650" spc="-10" b="0">
                <a:solidFill>
                  <a:srgbClr val="1F2937"/>
                </a:solidFill>
                <a:latin typeface="Roboto Medium"/>
                <a:cs typeface="Roboto Medium"/>
              </a:rPr>
              <a:t>Analysis</a:t>
            </a:r>
            <a:endParaRPr sz="1650">
              <a:latin typeface="Roboto Medium"/>
              <a:cs typeface="Roboto Medium"/>
            </a:endParaRPr>
          </a:p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dirty="0" sz="1150" spc="-45">
                <a:solidFill>
                  <a:srgbClr val="4A5462"/>
                </a:solidFill>
                <a:latin typeface="Roboto"/>
                <a:cs typeface="Roboto"/>
              </a:rPr>
              <a:t>Metrics,</a:t>
            </a:r>
            <a:r>
              <a:rPr dirty="0" sz="1150" spc="-5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1150" spc="-55">
                <a:solidFill>
                  <a:srgbClr val="4A5462"/>
                </a:solidFill>
                <a:latin typeface="Roboto"/>
                <a:cs typeface="Roboto"/>
              </a:rPr>
              <a:t>performance,</a:t>
            </a:r>
            <a:r>
              <a:rPr dirty="0" sz="1150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1150" spc="-60">
                <a:solidFill>
                  <a:srgbClr val="4A5462"/>
                </a:solidFill>
                <a:latin typeface="Roboto"/>
                <a:cs typeface="Roboto"/>
              </a:rPr>
              <a:t>and</a:t>
            </a:r>
            <a:r>
              <a:rPr dirty="0" sz="1150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1150" spc="-45">
                <a:solidFill>
                  <a:srgbClr val="4A5462"/>
                </a:solidFill>
                <a:latin typeface="Roboto"/>
                <a:cs typeface="Roboto"/>
              </a:rPr>
              <a:t>visualization</a:t>
            </a:r>
            <a:endParaRPr sz="1150">
              <a:latin typeface="Roboto"/>
              <a:cs typeface="Roboto"/>
            </a:endParaRPr>
          </a:p>
        </p:txBody>
      </p:sp>
      <p:sp>
        <p:nvSpPr>
          <p:cNvPr id="42" name="object 42" descr=""/>
          <p:cNvSpPr/>
          <p:nvPr/>
        </p:nvSpPr>
        <p:spPr>
          <a:xfrm>
            <a:off x="4571999" y="6181724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399" y="304799"/>
                </a:moveTo>
                <a:lnTo>
                  <a:pt x="108159" y="298238"/>
                </a:lnTo>
                <a:lnTo>
                  <a:pt x="67730" y="279114"/>
                </a:lnTo>
                <a:lnTo>
                  <a:pt x="34591" y="249082"/>
                </a:lnTo>
                <a:lnTo>
                  <a:pt x="11600" y="210720"/>
                </a:lnTo>
                <a:lnTo>
                  <a:pt x="731" y="167337"/>
                </a:lnTo>
                <a:lnTo>
                  <a:pt x="0" y="152399"/>
                </a:lnTo>
                <a:lnTo>
                  <a:pt x="182" y="144912"/>
                </a:lnTo>
                <a:lnTo>
                  <a:pt x="8904" y="101065"/>
                </a:lnTo>
                <a:lnTo>
                  <a:pt x="29995" y="61606"/>
                </a:lnTo>
                <a:lnTo>
                  <a:pt x="61606" y="29995"/>
                </a:lnTo>
                <a:lnTo>
                  <a:pt x="101065" y="8904"/>
                </a:lnTo>
                <a:lnTo>
                  <a:pt x="144912" y="183"/>
                </a:lnTo>
                <a:lnTo>
                  <a:pt x="152399" y="0"/>
                </a:lnTo>
                <a:lnTo>
                  <a:pt x="159886" y="183"/>
                </a:lnTo>
                <a:lnTo>
                  <a:pt x="203733" y="8904"/>
                </a:lnTo>
                <a:lnTo>
                  <a:pt x="243192" y="29995"/>
                </a:lnTo>
                <a:lnTo>
                  <a:pt x="274803" y="61606"/>
                </a:lnTo>
                <a:lnTo>
                  <a:pt x="295894" y="101065"/>
                </a:lnTo>
                <a:lnTo>
                  <a:pt x="304616" y="144912"/>
                </a:lnTo>
                <a:lnTo>
                  <a:pt x="304799" y="152399"/>
                </a:lnTo>
                <a:lnTo>
                  <a:pt x="304616" y="159886"/>
                </a:lnTo>
                <a:lnTo>
                  <a:pt x="295894" y="203733"/>
                </a:lnTo>
                <a:lnTo>
                  <a:pt x="274803" y="243191"/>
                </a:lnTo>
                <a:lnTo>
                  <a:pt x="243192" y="274803"/>
                </a:lnTo>
                <a:lnTo>
                  <a:pt x="203733" y="295894"/>
                </a:lnTo>
                <a:lnTo>
                  <a:pt x="159886" y="304616"/>
                </a:lnTo>
                <a:lnTo>
                  <a:pt x="152399" y="304799"/>
                </a:lnTo>
                <a:close/>
              </a:path>
            </a:pathLst>
          </a:custGeom>
          <a:solidFill>
            <a:srgbClr val="1D40A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" name="object 43" descr=""/>
          <p:cNvSpPr txBox="1"/>
          <p:nvPr/>
        </p:nvSpPr>
        <p:spPr>
          <a:xfrm>
            <a:off x="4667944" y="6204581"/>
            <a:ext cx="113030" cy="2228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spc="-50" b="1">
                <a:solidFill>
                  <a:srgbClr val="FFFFFF"/>
                </a:solidFill>
                <a:latin typeface="Arial Nova"/>
                <a:cs typeface="Arial Nova"/>
              </a:rPr>
              <a:t>7</a:t>
            </a:r>
            <a:endParaRPr sz="1300">
              <a:latin typeface="Arial Nova"/>
              <a:cs typeface="Arial Nova"/>
            </a:endParaRPr>
          </a:p>
        </p:txBody>
      </p:sp>
      <p:sp>
        <p:nvSpPr>
          <p:cNvPr id="44" name="object 44" descr=""/>
          <p:cNvSpPr txBox="1"/>
          <p:nvPr/>
        </p:nvSpPr>
        <p:spPr>
          <a:xfrm>
            <a:off x="5016499" y="6054010"/>
            <a:ext cx="2665730" cy="503555"/>
          </a:xfrm>
          <a:prstGeom prst="rect">
            <a:avLst/>
          </a:prstGeom>
        </p:spPr>
        <p:txBody>
          <a:bodyPr wrap="square" lIns="0" tIns="419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30"/>
              </a:spcBef>
            </a:pPr>
            <a:r>
              <a:rPr dirty="0" sz="1650" spc="-85" b="0">
                <a:solidFill>
                  <a:srgbClr val="1F2937"/>
                </a:solidFill>
                <a:latin typeface="Roboto Medium"/>
                <a:cs typeface="Roboto Medium"/>
              </a:rPr>
              <a:t>Performance</a:t>
            </a:r>
            <a:r>
              <a:rPr dirty="0" sz="1650" spc="-20" b="0">
                <a:solidFill>
                  <a:srgbClr val="1F2937"/>
                </a:solidFill>
                <a:latin typeface="Roboto Medium"/>
                <a:cs typeface="Roboto Medium"/>
              </a:rPr>
              <a:t> </a:t>
            </a:r>
            <a:r>
              <a:rPr dirty="0" sz="1650" spc="-10" b="0">
                <a:solidFill>
                  <a:srgbClr val="1F2937"/>
                </a:solidFill>
                <a:latin typeface="Roboto Medium"/>
                <a:cs typeface="Roboto Medium"/>
              </a:rPr>
              <a:t>Comparison</a:t>
            </a:r>
            <a:endParaRPr sz="1650">
              <a:latin typeface="Roboto Medium"/>
              <a:cs typeface="Roboto Medium"/>
            </a:endParaRPr>
          </a:p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dirty="0" sz="1150" spc="-60">
                <a:solidFill>
                  <a:srgbClr val="4A5462"/>
                </a:solidFill>
                <a:latin typeface="Roboto"/>
                <a:cs typeface="Roboto"/>
              </a:rPr>
              <a:t>Comparative</a:t>
            </a:r>
            <a:r>
              <a:rPr dirty="0" sz="1150" spc="5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1150" spc="-55">
                <a:solidFill>
                  <a:srgbClr val="4A5462"/>
                </a:solidFill>
                <a:latin typeface="Roboto"/>
                <a:cs typeface="Roboto"/>
              </a:rPr>
              <a:t>analysis</a:t>
            </a:r>
            <a:r>
              <a:rPr dirty="0" sz="1150" spc="5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1150" spc="-50">
                <a:solidFill>
                  <a:srgbClr val="4A5462"/>
                </a:solidFill>
                <a:latin typeface="Roboto"/>
                <a:cs typeface="Roboto"/>
              </a:rPr>
              <a:t>with</a:t>
            </a:r>
            <a:r>
              <a:rPr dirty="0" sz="1150" spc="5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1150" spc="-50">
                <a:solidFill>
                  <a:srgbClr val="4A5462"/>
                </a:solidFill>
                <a:latin typeface="Roboto"/>
                <a:cs typeface="Roboto"/>
              </a:rPr>
              <a:t>baseline</a:t>
            </a:r>
            <a:r>
              <a:rPr dirty="0" sz="1150" spc="5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1150" spc="-45">
                <a:solidFill>
                  <a:srgbClr val="4A5462"/>
                </a:solidFill>
                <a:latin typeface="Roboto"/>
                <a:cs typeface="Roboto"/>
              </a:rPr>
              <a:t>methods</a:t>
            </a:r>
            <a:endParaRPr sz="1150">
              <a:latin typeface="Roboto"/>
              <a:cs typeface="Roboto"/>
            </a:endParaRPr>
          </a:p>
        </p:txBody>
      </p:sp>
      <p:sp>
        <p:nvSpPr>
          <p:cNvPr id="45" name="object 45" descr=""/>
          <p:cNvSpPr/>
          <p:nvPr/>
        </p:nvSpPr>
        <p:spPr>
          <a:xfrm>
            <a:off x="4571999" y="6867524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399" y="304799"/>
                </a:moveTo>
                <a:lnTo>
                  <a:pt x="108159" y="298238"/>
                </a:lnTo>
                <a:lnTo>
                  <a:pt x="67730" y="279115"/>
                </a:lnTo>
                <a:lnTo>
                  <a:pt x="34591" y="249082"/>
                </a:lnTo>
                <a:lnTo>
                  <a:pt x="11600" y="210720"/>
                </a:lnTo>
                <a:lnTo>
                  <a:pt x="731" y="167338"/>
                </a:lnTo>
                <a:lnTo>
                  <a:pt x="0" y="152399"/>
                </a:lnTo>
                <a:lnTo>
                  <a:pt x="182" y="144912"/>
                </a:lnTo>
                <a:lnTo>
                  <a:pt x="8904" y="101065"/>
                </a:lnTo>
                <a:lnTo>
                  <a:pt x="29995" y="61606"/>
                </a:lnTo>
                <a:lnTo>
                  <a:pt x="61606" y="29995"/>
                </a:lnTo>
                <a:lnTo>
                  <a:pt x="101065" y="8904"/>
                </a:lnTo>
                <a:lnTo>
                  <a:pt x="144912" y="183"/>
                </a:lnTo>
                <a:lnTo>
                  <a:pt x="152399" y="0"/>
                </a:lnTo>
                <a:lnTo>
                  <a:pt x="159886" y="183"/>
                </a:lnTo>
                <a:lnTo>
                  <a:pt x="203733" y="8904"/>
                </a:lnTo>
                <a:lnTo>
                  <a:pt x="243192" y="29995"/>
                </a:lnTo>
                <a:lnTo>
                  <a:pt x="274803" y="61606"/>
                </a:lnTo>
                <a:lnTo>
                  <a:pt x="295894" y="101065"/>
                </a:lnTo>
                <a:lnTo>
                  <a:pt x="304616" y="144912"/>
                </a:lnTo>
                <a:lnTo>
                  <a:pt x="304799" y="152399"/>
                </a:lnTo>
                <a:lnTo>
                  <a:pt x="304616" y="159887"/>
                </a:lnTo>
                <a:lnTo>
                  <a:pt x="295894" y="203733"/>
                </a:lnTo>
                <a:lnTo>
                  <a:pt x="274803" y="243191"/>
                </a:lnTo>
                <a:lnTo>
                  <a:pt x="243192" y="274803"/>
                </a:lnTo>
                <a:lnTo>
                  <a:pt x="203733" y="295894"/>
                </a:lnTo>
                <a:lnTo>
                  <a:pt x="159886" y="304616"/>
                </a:lnTo>
                <a:lnTo>
                  <a:pt x="152399" y="304799"/>
                </a:lnTo>
                <a:close/>
              </a:path>
            </a:pathLst>
          </a:custGeom>
          <a:solidFill>
            <a:srgbClr val="1D40A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6" name="object 46" descr=""/>
          <p:cNvSpPr txBox="1"/>
          <p:nvPr/>
        </p:nvSpPr>
        <p:spPr>
          <a:xfrm>
            <a:off x="4667944" y="6890381"/>
            <a:ext cx="113030" cy="2228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spc="-50" b="1">
                <a:solidFill>
                  <a:srgbClr val="FFFFFF"/>
                </a:solidFill>
                <a:latin typeface="Arial Nova"/>
                <a:cs typeface="Arial Nova"/>
              </a:rPr>
              <a:t>8</a:t>
            </a:r>
            <a:endParaRPr sz="1300">
              <a:latin typeface="Arial Nova"/>
              <a:cs typeface="Arial Nova"/>
            </a:endParaRPr>
          </a:p>
        </p:txBody>
      </p:sp>
      <p:sp>
        <p:nvSpPr>
          <p:cNvPr id="47" name="object 47" descr=""/>
          <p:cNvSpPr txBox="1"/>
          <p:nvPr/>
        </p:nvSpPr>
        <p:spPr>
          <a:xfrm>
            <a:off x="5016499" y="6739810"/>
            <a:ext cx="2564130" cy="503555"/>
          </a:xfrm>
          <a:prstGeom prst="rect">
            <a:avLst/>
          </a:prstGeom>
        </p:spPr>
        <p:txBody>
          <a:bodyPr wrap="square" lIns="0" tIns="419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30"/>
              </a:spcBef>
            </a:pPr>
            <a:r>
              <a:rPr dirty="0" sz="1650" spc="-95" b="0">
                <a:solidFill>
                  <a:srgbClr val="1F2937"/>
                </a:solidFill>
                <a:latin typeface="Roboto Medium"/>
                <a:cs typeface="Roboto Medium"/>
              </a:rPr>
              <a:t>Case</a:t>
            </a:r>
            <a:r>
              <a:rPr dirty="0" sz="1650" spc="-15" b="0">
                <a:solidFill>
                  <a:srgbClr val="1F2937"/>
                </a:solidFill>
                <a:latin typeface="Roboto Medium"/>
                <a:cs typeface="Roboto Medium"/>
              </a:rPr>
              <a:t> </a:t>
            </a:r>
            <a:r>
              <a:rPr dirty="0" sz="1650" spc="-10" b="0">
                <a:solidFill>
                  <a:srgbClr val="1F2937"/>
                </a:solidFill>
                <a:latin typeface="Roboto Medium"/>
                <a:cs typeface="Roboto Medium"/>
              </a:rPr>
              <a:t>Studies</a:t>
            </a:r>
            <a:endParaRPr sz="1650">
              <a:latin typeface="Roboto Medium"/>
              <a:cs typeface="Roboto Medium"/>
            </a:endParaRPr>
          </a:p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dirty="0" sz="1150" spc="-60">
                <a:solidFill>
                  <a:srgbClr val="4A5462"/>
                </a:solidFill>
                <a:latin typeface="Roboto"/>
                <a:cs typeface="Roboto"/>
              </a:rPr>
              <a:t>IEEE</a:t>
            </a:r>
            <a:r>
              <a:rPr dirty="0" sz="1150" spc="5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1150" spc="-55">
                <a:solidFill>
                  <a:srgbClr val="4A5462"/>
                </a:solidFill>
                <a:latin typeface="Roboto"/>
                <a:cs typeface="Roboto"/>
              </a:rPr>
              <a:t>33-</a:t>
            </a:r>
            <a:r>
              <a:rPr dirty="0" sz="1150" spc="-60">
                <a:solidFill>
                  <a:srgbClr val="4A5462"/>
                </a:solidFill>
                <a:latin typeface="Roboto"/>
                <a:cs typeface="Roboto"/>
              </a:rPr>
              <a:t>bus</a:t>
            </a:r>
            <a:r>
              <a:rPr dirty="0" sz="1150" spc="10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1150" spc="-60">
                <a:solidFill>
                  <a:srgbClr val="4A5462"/>
                </a:solidFill>
                <a:latin typeface="Roboto"/>
                <a:cs typeface="Roboto"/>
              </a:rPr>
              <a:t>and</a:t>
            </a:r>
            <a:r>
              <a:rPr dirty="0" sz="1150" spc="10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1150" spc="-60">
                <a:solidFill>
                  <a:srgbClr val="4A5462"/>
                </a:solidFill>
                <a:latin typeface="Roboto"/>
                <a:cs typeface="Roboto"/>
              </a:rPr>
              <a:t>123-bus</a:t>
            </a:r>
            <a:r>
              <a:rPr dirty="0" sz="1150" spc="10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1150" spc="-65">
                <a:solidFill>
                  <a:srgbClr val="4A5462"/>
                </a:solidFill>
                <a:latin typeface="Roboto"/>
                <a:cs typeface="Roboto"/>
              </a:rPr>
              <a:t>system</a:t>
            </a:r>
            <a:r>
              <a:rPr dirty="0" sz="1150" spc="10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1150" spc="-50">
                <a:solidFill>
                  <a:srgbClr val="4A5462"/>
                </a:solidFill>
                <a:latin typeface="Roboto"/>
                <a:cs typeface="Roboto"/>
              </a:rPr>
              <a:t>examples</a:t>
            </a:r>
            <a:endParaRPr sz="1150">
              <a:latin typeface="Roboto"/>
              <a:cs typeface="Roboto"/>
            </a:endParaRPr>
          </a:p>
        </p:txBody>
      </p:sp>
      <p:sp>
        <p:nvSpPr>
          <p:cNvPr id="48" name="object 48" descr=""/>
          <p:cNvSpPr/>
          <p:nvPr/>
        </p:nvSpPr>
        <p:spPr>
          <a:xfrm>
            <a:off x="4571999" y="7553324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399" y="304799"/>
                </a:moveTo>
                <a:lnTo>
                  <a:pt x="108159" y="298238"/>
                </a:lnTo>
                <a:lnTo>
                  <a:pt x="67730" y="279114"/>
                </a:lnTo>
                <a:lnTo>
                  <a:pt x="34591" y="249081"/>
                </a:lnTo>
                <a:lnTo>
                  <a:pt x="11600" y="210719"/>
                </a:lnTo>
                <a:lnTo>
                  <a:pt x="731" y="167337"/>
                </a:lnTo>
                <a:lnTo>
                  <a:pt x="0" y="152399"/>
                </a:lnTo>
                <a:lnTo>
                  <a:pt x="182" y="144912"/>
                </a:lnTo>
                <a:lnTo>
                  <a:pt x="8904" y="101064"/>
                </a:lnTo>
                <a:lnTo>
                  <a:pt x="29995" y="61606"/>
                </a:lnTo>
                <a:lnTo>
                  <a:pt x="61606" y="29995"/>
                </a:lnTo>
                <a:lnTo>
                  <a:pt x="101065" y="8903"/>
                </a:lnTo>
                <a:lnTo>
                  <a:pt x="144912" y="183"/>
                </a:lnTo>
                <a:lnTo>
                  <a:pt x="152399" y="0"/>
                </a:lnTo>
                <a:lnTo>
                  <a:pt x="159886" y="183"/>
                </a:lnTo>
                <a:lnTo>
                  <a:pt x="203733" y="8903"/>
                </a:lnTo>
                <a:lnTo>
                  <a:pt x="243192" y="29995"/>
                </a:lnTo>
                <a:lnTo>
                  <a:pt x="274803" y="61606"/>
                </a:lnTo>
                <a:lnTo>
                  <a:pt x="295894" y="101064"/>
                </a:lnTo>
                <a:lnTo>
                  <a:pt x="304616" y="144912"/>
                </a:lnTo>
                <a:lnTo>
                  <a:pt x="304799" y="152399"/>
                </a:lnTo>
                <a:lnTo>
                  <a:pt x="304616" y="159886"/>
                </a:lnTo>
                <a:lnTo>
                  <a:pt x="295894" y="203732"/>
                </a:lnTo>
                <a:lnTo>
                  <a:pt x="274803" y="243191"/>
                </a:lnTo>
                <a:lnTo>
                  <a:pt x="243192" y="274803"/>
                </a:lnTo>
                <a:lnTo>
                  <a:pt x="203733" y="295894"/>
                </a:lnTo>
                <a:lnTo>
                  <a:pt x="159886" y="304616"/>
                </a:lnTo>
                <a:lnTo>
                  <a:pt x="152399" y="304799"/>
                </a:lnTo>
                <a:close/>
              </a:path>
            </a:pathLst>
          </a:custGeom>
          <a:solidFill>
            <a:srgbClr val="1D40A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9" name="object 49" descr=""/>
          <p:cNvSpPr txBox="1"/>
          <p:nvPr/>
        </p:nvSpPr>
        <p:spPr>
          <a:xfrm>
            <a:off x="4667944" y="7576181"/>
            <a:ext cx="113030" cy="2228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spc="-50" b="1">
                <a:solidFill>
                  <a:srgbClr val="FFFFFF"/>
                </a:solidFill>
                <a:latin typeface="Arial Nova"/>
                <a:cs typeface="Arial Nova"/>
              </a:rPr>
              <a:t>9</a:t>
            </a:r>
            <a:endParaRPr sz="1300">
              <a:latin typeface="Arial Nova"/>
              <a:cs typeface="Arial Nova"/>
            </a:endParaRPr>
          </a:p>
        </p:txBody>
      </p:sp>
      <p:sp>
        <p:nvSpPr>
          <p:cNvPr id="50" name="object 50" descr=""/>
          <p:cNvSpPr txBox="1"/>
          <p:nvPr/>
        </p:nvSpPr>
        <p:spPr>
          <a:xfrm>
            <a:off x="5016499" y="7425610"/>
            <a:ext cx="2484120" cy="503555"/>
          </a:xfrm>
          <a:prstGeom prst="rect">
            <a:avLst/>
          </a:prstGeom>
        </p:spPr>
        <p:txBody>
          <a:bodyPr wrap="square" lIns="0" tIns="419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30"/>
              </a:spcBef>
            </a:pPr>
            <a:r>
              <a:rPr dirty="0" sz="1650" spc="-10" b="0">
                <a:solidFill>
                  <a:srgbClr val="1F2937"/>
                </a:solidFill>
                <a:latin typeface="Roboto Medium"/>
                <a:cs typeface="Roboto Medium"/>
              </a:rPr>
              <a:t>Conclusions</a:t>
            </a:r>
            <a:endParaRPr sz="1650">
              <a:latin typeface="Roboto Medium"/>
              <a:cs typeface="Roboto Medium"/>
            </a:endParaRPr>
          </a:p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dirty="0" sz="1150" spc="-70">
                <a:solidFill>
                  <a:srgbClr val="4A5462"/>
                </a:solidFill>
                <a:latin typeface="Roboto"/>
                <a:cs typeface="Roboto"/>
              </a:rPr>
              <a:t>Summary,</a:t>
            </a:r>
            <a:r>
              <a:rPr dirty="0" sz="1150" spc="10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1150" spc="-45">
                <a:solidFill>
                  <a:srgbClr val="4A5462"/>
                </a:solidFill>
                <a:latin typeface="Roboto"/>
                <a:cs typeface="Roboto"/>
              </a:rPr>
              <a:t>limitations,</a:t>
            </a:r>
            <a:r>
              <a:rPr dirty="0" sz="1150" spc="15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1150" spc="-60">
                <a:solidFill>
                  <a:srgbClr val="4A5462"/>
                </a:solidFill>
                <a:latin typeface="Roboto"/>
                <a:cs typeface="Roboto"/>
              </a:rPr>
              <a:t>and</a:t>
            </a:r>
            <a:r>
              <a:rPr dirty="0" sz="1150" spc="15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1150" spc="-55">
                <a:solidFill>
                  <a:srgbClr val="4A5462"/>
                </a:solidFill>
                <a:latin typeface="Roboto"/>
                <a:cs typeface="Roboto"/>
              </a:rPr>
              <a:t>future</a:t>
            </a:r>
            <a:r>
              <a:rPr dirty="0" sz="1150" spc="15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1150" spc="-50">
                <a:solidFill>
                  <a:srgbClr val="4A5462"/>
                </a:solidFill>
                <a:latin typeface="Roboto"/>
                <a:cs typeface="Roboto"/>
              </a:rPr>
              <a:t>research</a:t>
            </a:r>
            <a:endParaRPr sz="1150">
              <a:latin typeface="Roboto"/>
              <a:cs typeface="Roboto"/>
            </a:endParaRPr>
          </a:p>
        </p:txBody>
      </p:sp>
      <p:sp>
        <p:nvSpPr>
          <p:cNvPr id="51" name="object 51" descr=""/>
          <p:cNvSpPr/>
          <p:nvPr/>
        </p:nvSpPr>
        <p:spPr>
          <a:xfrm>
            <a:off x="4571999" y="8239124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399" y="304799"/>
                </a:moveTo>
                <a:lnTo>
                  <a:pt x="108159" y="298238"/>
                </a:lnTo>
                <a:lnTo>
                  <a:pt x="67730" y="279114"/>
                </a:lnTo>
                <a:lnTo>
                  <a:pt x="34591" y="249081"/>
                </a:lnTo>
                <a:lnTo>
                  <a:pt x="11600" y="210720"/>
                </a:lnTo>
                <a:lnTo>
                  <a:pt x="731" y="167337"/>
                </a:lnTo>
                <a:lnTo>
                  <a:pt x="0" y="152399"/>
                </a:lnTo>
                <a:lnTo>
                  <a:pt x="182" y="144912"/>
                </a:lnTo>
                <a:lnTo>
                  <a:pt x="8904" y="101065"/>
                </a:lnTo>
                <a:lnTo>
                  <a:pt x="29995" y="61606"/>
                </a:lnTo>
                <a:lnTo>
                  <a:pt x="61606" y="29994"/>
                </a:lnTo>
                <a:lnTo>
                  <a:pt x="101065" y="8904"/>
                </a:lnTo>
                <a:lnTo>
                  <a:pt x="144912" y="183"/>
                </a:lnTo>
                <a:lnTo>
                  <a:pt x="152399" y="0"/>
                </a:lnTo>
                <a:lnTo>
                  <a:pt x="159886" y="183"/>
                </a:lnTo>
                <a:lnTo>
                  <a:pt x="203733" y="8904"/>
                </a:lnTo>
                <a:lnTo>
                  <a:pt x="243192" y="29995"/>
                </a:lnTo>
                <a:lnTo>
                  <a:pt x="274803" y="61606"/>
                </a:lnTo>
                <a:lnTo>
                  <a:pt x="295894" y="101065"/>
                </a:lnTo>
                <a:lnTo>
                  <a:pt x="304616" y="144912"/>
                </a:lnTo>
                <a:lnTo>
                  <a:pt x="304799" y="152399"/>
                </a:lnTo>
                <a:lnTo>
                  <a:pt x="304616" y="159886"/>
                </a:lnTo>
                <a:lnTo>
                  <a:pt x="295894" y="203732"/>
                </a:lnTo>
                <a:lnTo>
                  <a:pt x="274803" y="243191"/>
                </a:lnTo>
                <a:lnTo>
                  <a:pt x="243192" y="274803"/>
                </a:lnTo>
                <a:lnTo>
                  <a:pt x="203733" y="295893"/>
                </a:lnTo>
                <a:lnTo>
                  <a:pt x="159886" y="304616"/>
                </a:lnTo>
                <a:lnTo>
                  <a:pt x="152399" y="304799"/>
                </a:lnTo>
                <a:close/>
              </a:path>
            </a:pathLst>
          </a:custGeom>
          <a:solidFill>
            <a:srgbClr val="1D40A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2" name="object 52" descr=""/>
          <p:cNvSpPr txBox="1"/>
          <p:nvPr/>
        </p:nvSpPr>
        <p:spPr>
          <a:xfrm>
            <a:off x="4624189" y="8261981"/>
            <a:ext cx="200660" cy="2228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spc="-25" b="1">
                <a:solidFill>
                  <a:srgbClr val="FFFFFF"/>
                </a:solidFill>
                <a:latin typeface="Arial Nova"/>
                <a:cs typeface="Arial Nova"/>
              </a:rPr>
              <a:t>10</a:t>
            </a:r>
            <a:endParaRPr sz="1300">
              <a:latin typeface="Arial Nova"/>
              <a:cs typeface="Arial Nova"/>
            </a:endParaRPr>
          </a:p>
        </p:txBody>
      </p:sp>
      <p:sp>
        <p:nvSpPr>
          <p:cNvPr id="53" name="object 53" descr=""/>
          <p:cNvSpPr txBox="1"/>
          <p:nvPr/>
        </p:nvSpPr>
        <p:spPr>
          <a:xfrm>
            <a:off x="5016499" y="8111410"/>
            <a:ext cx="1673860" cy="503555"/>
          </a:xfrm>
          <a:prstGeom prst="rect">
            <a:avLst/>
          </a:prstGeom>
        </p:spPr>
        <p:txBody>
          <a:bodyPr wrap="square" lIns="0" tIns="419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30"/>
              </a:spcBef>
            </a:pPr>
            <a:r>
              <a:rPr dirty="0" sz="1650" spc="-10" b="0">
                <a:solidFill>
                  <a:srgbClr val="1F2937"/>
                </a:solidFill>
                <a:latin typeface="Roboto Medium"/>
                <a:cs typeface="Roboto Medium"/>
              </a:rPr>
              <a:t>References</a:t>
            </a:r>
            <a:endParaRPr sz="1650">
              <a:latin typeface="Roboto Medium"/>
              <a:cs typeface="Roboto Medium"/>
            </a:endParaRPr>
          </a:p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dirty="0" sz="1150" spc="-80">
                <a:solidFill>
                  <a:srgbClr val="4A5462"/>
                </a:solidFill>
                <a:latin typeface="Roboto"/>
                <a:cs typeface="Roboto"/>
              </a:rPr>
              <a:t>Key</a:t>
            </a:r>
            <a:r>
              <a:rPr dirty="0" sz="1150" spc="-10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1150" spc="-45">
                <a:solidFill>
                  <a:srgbClr val="4A5462"/>
                </a:solidFill>
                <a:latin typeface="Roboto"/>
                <a:cs typeface="Roboto"/>
              </a:rPr>
              <a:t>literature</a:t>
            </a:r>
            <a:r>
              <a:rPr dirty="0" sz="1150" spc="-5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1150" spc="-60">
                <a:solidFill>
                  <a:srgbClr val="4A5462"/>
                </a:solidFill>
                <a:latin typeface="Roboto"/>
                <a:cs typeface="Roboto"/>
              </a:rPr>
              <a:t>and</a:t>
            </a:r>
            <a:r>
              <a:rPr dirty="0" sz="1150" spc="-10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1150" spc="-50">
                <a:solidFill>
                  <a:srgbClr val="4A5462"/>
                </a:solidFill>
                <a:latin typeface="Roboto"/>
                <a:cs typeface="Roboto"/>
              </a:rPr>
              <a:t>resources</a:t>
            </a:r>
            <a:endParaRPr sz="1150">
              <a:latin typeface="Roboto"/>
              <a:cs typeface="Roboto"/>
            </a:endParaRPr>
          </a:p>
        </p:txBody>
      </p:sp>
      <p:grpSp>
        <p:nvGrpSpPr>
          <p:cNvPr id="54" name="object 54" descr=""/>
          <p:cNvGrpSpPr/>
          <p:nvPr/>
        </p:nvGrpSpPr>
        <p:grpSpPr>
          <a:xfrm>
            <a:off x="152399" y="9077324"/>
            <a:ext cx="11887200" cy="428625"/>
            <a:chOff x="152399" y="9077324"/>
            <a:chExt cx="11887200" cy="428625"/>
          </a:xfrm>
        </p:grpSpPr>
        <p:sp>
          <p:nvSpPr>
            <p:cNvPr id="55" name="object 55" descr=""/>
            <p:cNvSpPr/>
            <p:nvPr/>
          </p:nvSpPr>
          <p:spPr>
            <a:xfrm>
              <a:off x="152399" y="9077324"/>
              <a:ext cx="11887200" cy="428625"/>
            </a:xfrm>
            <a:custGeom>
              <a:avLst/>
              <a:gdLst/>
              <a:ahLst/>
              <a:cxnLst/>
              <a:rect l="l" t="t" r="r" b="b"/>
              <a:pathLst>
                <a:path w="11887200" h="428625">
                  <a:moveTo>
                    <a:pt x="11810999" y="428624"/>
                  </a:moveTo>
                  <a:lnTo>
                    <a:pt x="76200" y="428624"/>
                  </a:lnTo>
                  <a:lnTo>
                    <a:pt x="68693" y="428262"/>
                  </a:lnTo>
                  <a:lnTo>
                    <a:pt x="27882" y="411356"/>
                  </a:lnTo>
                  <a:lnTo>
                    <a:pt x="3262" y="374511"/>
                  </a:lnTo>
                  <a:lnTo>
                    <a:pt x="0" y="352425"/>
                  </a:lnTo>
                  <a:lnTo>
                    <a:pt x="0" y="0"/>
                  </a:lnTo>
                  <a:lnTo>
                    <a:pt x="11887199" y="0"/>
                  </a:lnTo>
                  <a:lnTo>
                    <a:pt x="11887199" y="352425"/>
                  </a:lnTo>
                  <a:lnTo>
                    <a:pt x="11874368" y="394766"/>
                  </a:lnTo>
                  <a:lnTo>
                    <a:pt x="11840158" y="422823"/>
                  </a:lnTo>
                  <a:lnTo>
                    <a:pt x="11810999" y="428624"/>
                  </a:lnTo>
                  <a:close/>
                </a:path>
              </a:pathLst>
            </a:custGeom>
            <a:solidFill>
              <a:srgbClr val="F2F4F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6" name="object 56" descr=""/>
            <p:cNvSpPr/>
            <p:nvPr/>
          </p:nvSpPr>
          <p:spPr>
            <a:xfrm>
              <a:off x="152399" y="9077324"/>
              <a:ext cx="11887200" cy="9525"/>
            </a:xfrm>
            <a:custGeom>
              <a:avLst/>
              <a:gdLst/>
              <a:ahLst/>
              <a:cxnLst/>
              <a:rect l="l" t="t" r="r" b="b"/>
              <a:pathLst>
                <a:path w="11887200" h="9525">
                  <a:moveTo>
                    <a:pt x="11887199" y="9524"/>
                  </a:moveTo>
                  <a:lnTo>
                    <a:pt x="0" y="9524"/>
                  </a:lnTo>
                  <a:lnTo>
                    <a:pt x="0" y="0"/>
                  </a:lnTo>
                  <a:lnTo>
                    <a:pt x="11887199" y="0"/>
                  </a:lnTo>
                  <a:lnTo>
                    <a:pt x="11887199" y="9524"/>
                  </a:lnTo>
                  <a:close/>
                </a:path>
              </a:pathLst>
            </a:custGeom>
            <a:solidFill>
              <a:srgbClr val="D0D5D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 descr=""/>
            <p:cNvSpPr/>
            <p:nvPr/>
          </p:nvSpPr>
          <p:spPr>
            <a:xfrm>
              <a:off x="10544174" y="9143999"/>
              <a:ext cx="1457325" cy="323850"/>
            </a:xfrm>
            <a:custGeom>
              <a:avLst/>
              <a:gdLst/>
              <a:ahLst/>
              <a:cxnLst/>
              <a:rect l="l" t="t" r="r" b="b"/>
              <a:pathLst>
                <a:path w="1457325" h="323850">
                  <a:moveTo>
                    <a:pt x="1424277" y="323849"/>
                  </a:moveTo>
                  <a:lnTo>
                    <a:pt x="33047" y="323849"/>
                  </a:lnTo>
                  <a:lnTo>
                    <a:pt x="28187" y="322883"/>
                  </a:lnTo>
                  <a:lnTo>
                    <a:pt x="966" y="295662"/>
                  </a:lnTo>
                  <a:lnTo>
                    <a:pt x="0" y="290802"/>
                  </a:lnTo>
                  <a:lnTo>
                    <a:pt x="0" y="285749"/>
                  </a:lnTo>
                  <a:lnTo>
                    <a:pt x="0" y="33047"/>
                  </a:lnTo>
                  <a:lnTo>
                    <a:pt x="28187" y="966"/>
                  </a:lnTo>
                  <a:lnTo>
                    <a:pt x="33047" y="0"/>
                  </a:lnTo>
                  <a:lnTo>
                    <a:pt x="1424277" y="0"/>
                  </a:lnTo>
                  <a:lnTo>
                    <a:pt x="1456357" y="28187"/>
                  </a:lnTo>
                  <a:lnTo>
                    <a:pt x="1457324" y="33047"/>
                  </a:lnTo>
                  <a:lnTo>
                    <a:pt x="1457324" y="290802"/>
                  </a:lnTo>
                  <a:lnTo>
                    <a:pt x="1429137" y="322883"/>
                  </a:lnTo>
                  <a:lnTo>
                    <a:pt x="1424277" y="323849"/>
                  </a:lnTo>
                  <a:close/>
                </a:path>
              </a:pathLst>
            </a:custGeom>
            <a:solidFill>
              <a:srgbClr val="33333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8" name="object 58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658474" y="9239249"/>
              <a:ext cx="133349" cy="133349"/>
            </a:xfrm>
            <a:prstGeom prst="rect">
              <a:avLst/>
            </a:prstGeom>
          </p:spPr>
        </p:pic>
      </p:grpSp>
      <p:sp>
        <p:nvSpPr>
          <p:cNvPr id="59" name="object 59" descr=""/>
          <p:cNvSpPr txBox="1"/>
          <p:nvPr/>
        </p:nvSpPr>
        <p:spPr>
          <a:xfrm>
            <a:off x="520700" y="9229944"/>
            <a:ext cx="2289175" cy="15557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30"/>
              </a:lnSpc>
            </a:pPr>
            <a:r>
              <a:rPr dirty="0" sz="1150" spc="-60">
                <a:solidFill>
                  <a:srgbClr val="6A7280"/>
                </a:solidFill>
                <a:latin typeface="Roboto"/>
                <a:cs typeface="Roboto"/>
              </a:rPr>
              <a:t>IEEE</a:t>
            </a:r>
            <a:r>
              <a:rPr dirty="0" sz="1150">
                <a:solidFill>
                  <a:srgbClr val="6A7280"/>
                </a:solidFill>
                <a:latin typeface="Roboto"/>
                <a:cs typeface="Roboto"/>
              </a:rPr>
              <a:t> </a:t>
            </a:r>
            <a:r>
              <a:rPr dirty="0" sz="1150" spc="-70">
                <a:solidFill>
                  <a:srgbClr val="6A7280"/>
                </a:solidFill>
                <a:latin typeface="Roboto"/>
                <a:cs typeface="Roboto"/>
              </a:rPr>
              <a:t>Power</a:t>
            </a:r>
            <a:r>
              <a:rPr dirty="0" sz="1150" spc="5">
                <a:solidFill>
                  <a:srgbClr val="6A7280"/>
                </a:solidFill>
                <a:latin typeface="Roboto"/>
                <a:cs typeface="Roboto"/>
              </a:rPr>
              <a:t> </a:t>
            </a:r>
            <a:r>
              <a:rPr dirty="0" sz="1150" spc="-60">
                <a:solidFill>
                  <a:srgbClr val="6A7280"/>
                </a:solidFill>
                <a:latin typeface="Roboto"/>
                <a:cs typeface="Roboto"/>
              </a:rPr>
              <a:t>Systems</a:t>
            </a:r>
            <a:r>
              <a:rPr dirty="0" sz="1150">
                <a:solidFill>
                  <a:srgbClr val="6A7280"/>
                </a:solidFill>
                <a:latin typeface="Roboto"/>
                <a:cs typeface="Roboto"/>
              </a:rPr>
              <a:t> </a:t>
            </a:r>
            <a:r>
              <a:rPr dirty="0" sz="1150" spc="-60">
                <a:solidFill>
                  <a:srgbClr val="6A7280"/>
                </a:solidFill>
                <a:latin typeface="Roboto"/>
                <a:cs typeface="Roboto"/>
              </a:rPr>
              <a:t>Conference</a:t>
            </a:r>
            <a:r>
              <a:rPr dirty="0" sz="1150" spc="5">
                <a:solidFill>
                  <a:srgbClr val="6A7280"/>
                </a:solidFill>
                <a:latin typeface="Roboto"/>
                <a:cs typeface="Roboto"/>
              </a:rPr>
              <a:t> </a:t>
            </a:r>
            <a:r>
              <a:rPr dirty="0" sz="1150" spc="-30">
                <a:solidFill>
                  <a:srgbClr val="6A7280"/>
                </a:solidFill>
                <a:latin typeface="Roboto"/>
                <a:cs typeface="Roboto"/>
              </a:rPr>
              <a:t>2023</a:t>
            </a:r>
            <a:endParaRPr sz="1150">
              <a:latin typeface="Roboto"/>
              <a:cs typeface="Roboto"/>
            </a:endParaRPr>
          </a:p>
        </p:txBody>
      </p:sp>
      <p:sp>
        <p:nvSpPr>
          <p:cNvPr id="60" name="object 60" descr=""/>
          <p:cNvSpPr txBox="1"/>
          <p:nvPr/>
        </p:nvSpPr>
        <p:spPr>
          <a:xfrm>
            <a:off x="10833000" y="9229944"/>
            <a:ext cx="1066800" cy="15557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30"/>
              </a:lnSpc>
            </a:pPr>
            <a:r>
              <a:rPr dirty="0" sz="1000" spc="-55">
                <a:solidFill>
                  <a:srgbClr val="FFFFFF"/>
                </a:solidFill>
                <a:latin typeface="Roboto"/>
                <a:cs typeface="Roboto"/>
              </a:rPr>
              <a:t>Ma</a:t>
            </a:r>
            <a:r>
              <a:rPr dirty="0" sz="1000" spc="-204">
                <a:solidFill>
                  <a:srgbClr val="FFFFFF"/>
                </a:solidFill>
                <a:latin typeface="Roboto"/>
                <a:cs typeface="Roboto"/>
              </a:rPr>
              <a:t>d</a:t>
            </a:r>
            <a:r>
              <a:rPr dirty="0" sz="1150" spc="-600">
                <a:solidFill>
                  <a:srgbClr val="6A7280"/>
                </a:solidFill>
                <a:latin typeface="Roboto"/>
                <a:cs typeface="Roboto"/>
              </a:rPr>
              <a:t>S</a:t>
            </a:r>
            <a:r>
              <a:rPr dirty="0" sz="1000" spc="-40">
                <a:solidFill>
                  <a:srgbClr val="FFFFFF"/>
                </a:solidFill>
                <a:latin typeface="Roboto"/>
                <a:cs typeface="Roboto"/>
              </a:rPr>
              <a:t>e</a:t>
            </a:r>
            <a:r>
              <a:rPr dirty="0" sz="1150" spc="-110">
                <a:solidFill>
                  <a:srgbClr val="6A7280"/>
                </a:solidFill>
                <a:latin typeface="Roboto"/>
                <a:cs typeface="Roboto"/>
              </a:rPr>
              <a:t>l</a:t>
            </a:r>
            <a:r>
              <a:rPr dirty="0" sz="1000" spc="-755">
                <a:solidFill>
                  <a:srgbClr val="FFFFFF"/>
                </a:solidFill>
                <a:latin typeface="Roboto"/>
                <a:cs typeface="Roboto"/>
              </a:rPr>
              <a:t>w</a:t>
            </a:r>
            <a:r>
              <a:rPr dirty="0" sz="1150" spc="-55">
                <a:solidFill>
                  <a:srgbClr val="6A7280"/>
                </a:solidFill>
                <a:latin typeface="Roboto"/>
                <a:cs typeface="Roboto"/>
              </a:rPr>
              <a:t>i</a:t>
            </a:r>
            <a:r>
              <a:rPr dirty="0" sz="1150" spc="-300">
                <a:solidFill>
                  <a:srgbClr val="6A7280"/>
                </a:solidFill>
                <a:latin typeface="Roboto"/>
                <a:cs typeface="Roboto"/>
              </a:rPr>
              <a:t>d</a:t>
            </a:r>
            <a:r>
              <a:rPr dirty="0" sz="1000" spc="-55">
                <a:solidFill>
                  <a:srgbClr val="FFFFFF"/>
                </a:solidFill>
                <a:latin typeface="Roboto"/>
                <a:cs typeface="Roboto"/>
              </a:rPr>
              <a:t>i</a:t>
            </a:r>
            <a:r>
              <a:rPr dirty="0" sz="1000" spc="-395">
                <a:solidFill>
                  <a:srgbClr val="FFFFFF"/>
                </a:solidFill>
                <a:latin typeface="Roboto"/>
                <a:cs typeface="Roboto"/>
              </a:rPr>
              <a:t>t</a:t>
            </a:r>
            <a:r>
              <a:rPr dirty="0" sz="1150" spc="-350">
                <a:solidFill>
                  <a:srgbClr val="6A7280"/>
                </a:solidFill>
                <a:latin typeface="Roboto"/>
                <a:cs typeface="Roboto"/>
              </a:rPr>
              <a:t>e</a:t>
            </a:r>
            <a:r>
              <a:rPr dirty="0" sz="1000" spc="-30">
                <a:solidFill>
                  <a:srgbClr val="FFFFFF"/>
                </a:solidFill>
                <a:latin typeface="Roboto"/>
                <a:cs typeface="Roboto"/>
              </a:rPr>
              <a:t>h</a:t>
            </a:r>
            <a:fld id="{81D60167-4931-47E6-BA6A-407CBD079E47}" type="slidenum">
              <a:rPr dirty="0" sz="1150" spc="-55">
                <a:solidFill>
                  <a:srgbClr val="6A7280"/>
                </a:solidFill>
                <a:latin typeface="Roboto"/>
                <a:cs typeface="Roboto"/>
              </a:rPr>
              <a:t>2</a:t>
            </a:fld>
            <a:r>
              <a:rPr dirty="0" sz="1000" spc="-300">
                <a:solidFill>
                  <a:srgbClr val="FFFFFF"/>
                </a:solidFill>
                <a:latin typeface="Roboto"/>
                <a:cs typeface="Roboto"/>
              </a:rPr>
              <a:t>G</a:t>
            </a:r>
            <a:r>
              <a:rPr dirty="0" sz="1150" spc="-300">
                <a:solidFill>
                  <a:srgbClr val="6A7280"/>
                </a:solidFill>
                <a:latin typeface="Roboto"/>
                <a:cs typeface="Roboto"/>
              </a:rPr>
              <a:t>/</a:t>
            </a:r>
            <a:r>
              <a:rPr dirty="0" sz="1000" spc="-350">
                <a:solidFill>
                  <a:srgbClr val="FFFFFF"/>
                </a:solidFill>
                <a:latin typeface="Roboto"/>
                <a:cs typeface="Roboto"/>
              </a:rPr>
              <a:t>e</a:t>
            </a:r>
            <a:r>
              <a:rPr dirty="0" sz="1150" spc="-420">
                <a:solidFill>
                  <a:srgbClr val="6A7280"/>
                </a:solidFill>
                <a:latin typeface="Roboto"/>
                <a:cs typeface="Roboto"/>
              </a:rPr>
              <a:t>1</a:t>
            </a:r>
            <a:r>
              <a:rPr dirty="0" sz="1000" spc="-250">
                <a:solidFill>
                  <a:srgbClr val="FFFFFF"/>
                </a:solidFill>
                <a:latin typeface="Roboto"/>
                <a:cs typeface="Roboto"/>
              </a:rPr>
              <a:t>n</a:t>
            </a:r>
            <a:r>
              <a:rPr dirty="0" sz="1150" spc="-525">
                <a:solidFill>
                  <a:srgbClr val="6A7280"/>
                </a:solidFill>
                <a:latin typeface="Roboto"/>
                <a:cs typeface="Roboto"/>
              </a:rPr>
              <a:t>0</a:t>
            </a:r>
            <a:r>
              <a:rPr dirty="0" sz="1000" spc="-55">
                <a:solidFill>
                  <a:srgbClr val="FFFFFF"/>
                </a:solidFill>
                <a:latin typeface="Roboto"/>
                <a:cs typeface="Roboto"/>
              </a:rPr>
              <a:t>spark</a:t>
            </a:r>
            <a:endParaRPr sz="10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12192000" cy="7226934"/>
          </a:xfrm>
          <a:custGeom>
            <a:avLst/>
            <a:gdLst/>
            <a:ahLst/>
            <a:cxnLst/>
            <a:rect l="l" t="t" r="r" b="b"/>
            <a:pathLst>
              <a:path w="12192000" h="7226934">
                <a:moveTo>
                  <a:pt x="12191999" y="7226807"/>
                </a:moveTo>
                <a:lnTo>
                  <a:pt x="0" y="7226807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7226807"/>
                </a:lnTo>
                <a:close/>
              </a:path>
            </a:pathLst>
          </a:custGeom>
          <a:solidFill>
            <a:srgbClr val="F5F6FA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" name="object 3" descr=""/>
          <p:cNvGrpSpPr/>
          <p:nvPr/>
        </p:nvGrpSpPr>
        <p:grpSpPr>
          <a:xfrm>
            <a:off x="152399" y="152399"/>
            <a:ext cx="11887200" cy="6915150"/>
            <a:chOff x="152399" y="152399"/>
            <a:chExt cx="11887200" cy="6915150"/>
          </a:xfrm>
        </p:grpSpPr>
        <p:sp>
          <p:nvSpPr>
            <p:cNvPr id="4" name="object 4" descr=""/>
            <p:cNvSpPr/>
            <p:nvPr/>
          </p:nvSpPr>
          <p:spPr>
            <a:xfrm>
              <a:off x="152399" y="152399"/>
              <a:ext cx="11887200" cy="6915150"/>
            </a:xfrm>
            <a:custGeom>
              <a:avLst/>
              <a:gdLst/>
              <a:ahLst/>
              <a:cxnLst/>
              <a:rect l="l" t="t" r="r" b="b"/>
              <a:pathLst>
                <a:path w="11887200" h="6915150">
                  <a:moveTo>
                    <a:pt x="11816002" y="6915148"/>
                  </a:moveTo>
                  <a:lnTo>
                    <a:pt x="71196" y="6915148"/>
                  </a:lnTo>
                  <a:lnTo>
                    <a:pt x="66241" y="6914660"/>
                  </a:lnTo>
                  <a:lnTo>
                    <a:pt x="29705" y="6899527"/>
                  </a:lnTo>
                  <a:lnTo>
                    <a:pt x="3885" y="6863486"/>
                  </a:lnTo>
                  <a:lnTo>
                    <a:pt x="0" y="6843952"/>
                  </a:lnTo>
                  <a:lnTo>
                    <a:pt x="0" y="6838949"/>
                  </a:lnTo>
                  <a:lnTo>
                    <a:pt x="0" y="71196"/>
                  </a:lnTo>
                  <a:lnTo>
                    <a:pt x="15621" y="29705"/>
                  </a:lnTo>
                  <a:lnTo>
                    <a:pt x="51662" y="3885"/>
                  </a:lnTo>
                  <a:lnTo>
                    <a:pt x="71196" y="0"/>
                  </a:lnTo>
                  <a:lnTo>
                    <a:pt x="11816002" y="0"/>
                  </a:lnTo>
                  <a:lnTo>
                    <a:pt x="11857492" y="15621"/>
                  </a:lnTo>
                  <a:lnTo>
                    <a:pt x="11883312" y="51662"/>
                  </a:lnTo>
                  <a:lnTo>
                    <a:pt x="11887197" y="71196"/>
                  </a:lnTo>
                  <a:lnTo>
                    <a:pt x="11887197" y="6843952"/>
                  </a:lnTo>
                  <a:lnTo>
                    <a:pt x="11871575" y="6885443"/>
                  </a:lnTo>
                  <a:lnTo>
                    <a:pt x="11835535" y="6911262"/>
                  </a:lnTo>
                  <a:lnTo>
                    <a:pt x="11820956" y="6914660"/>
                  </a:lnTo>
                  <a:lnTo>
                    <a:pt x="11816002" y="691514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2399" y="152399"/>
              <a:ext cx="11887199" cy="76199"/>
            </a:xfrm>
            <a:prstGeom prst="rect">
              <a:avLst/>
            </a:prstGeom>
          </p:spPr>
        </p:pic>
        <p:sp>
          <p:nvSpPr>
            <p:cNvPr id="6" name="object 6" descr=""/>
            <p:cNvSpPr/>
            <p:nvPr/>
          </p:nvSpPr>
          <p:spPr>
            <a:xfrm>
              <a:off x="152399" y="228599"/>
              <a:ext cx="11887200" cy="542925"/>
            </a:xfrm>
            <a:custGeom>
              <a:avLst/>
              <a:gdLst/>
              <a:ahLst/>
              <a:cxnLst/>
              <a:rect l="l" t="t" r="r" b="b"/>
              <a:pathLst>
                <a:path w="11887200" h="542925">
                  <a:moveTo>
                    <a:pt x="11887199" y="542924"/>
                  </a:moveTo>
                  <a:lnTo>
                    <a:pt x="0" y="542924"/>
                  </a:lnTo>
                  <a:lnTo>
                    <a:pt x="0" y="0"/>
                  </a:lnTo>
                  <a:lnTo>
                    <a:pt x="11887199" y="0"/>
                  </a:lnTo>
                  <a:lnTo>
                    <a:pt x="11887199" y="542924"/>
                  </a:lnTo>
                  <a:close/>
                </a:path>
              </a:pathLst>
            </a:custGeom>
            <a:solidFill>
              <a:srgbClr val="F2F4F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152399" y="761999"/>
              <a:ext cx="11887200" cy="9525"/>
            </a:xfrm>
            <a:custGeom>
              <a:avLst/>
              <a:gdLst/>
              <a:ahLst/>
              <a:cxnLst/>
              <a:rect l="l" t="t" r="r" b="b"/>
              <a:pathLst>
                <a:path w="11887200" h="9525">
                  <a:moveTo>
                    <a:pt x="11887199" y="9524"/>
                  </a:moveTo>
                  <a:lnTo>
                    <a:pt x="0" y="9524"/>
                  </a:lnTo>
                  <a:lnTo>
                    <a:pt x="0" y="0"/>
                  </a:lnTo>
                  <a:lnTo>
                    <a:pt x="11887199" y="0"/>
                  </a:lnTo>
                  <a:lnTo>
                    <a:pt x="11887199" y="9524"/>
                  </a:lnTo>
                  <a:close/>
                </a:path>
              </a:pathLst>
            </a:custGeom>
            <a:solidFill>
              <a:srgbClr val="D0D5D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95"/>
              <a:t>Introduction</a:t>
            </a:r>
          </a:p>
        </p:txBody>
      </p:sp>
      <p:sp>
        <p:nvSpPr>
          <p:cNvPr id="9" name="object 9" descr=""/>
          <p:cNvSpPr/>
          <p:nvPr/>
        </p:nvSpPr>
        <p:spPr>
          <a:xfrm>
            <a:off x="11353798" y="342899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399" y="304799"/>
                </a:moveTo>
                <a:lnTo>
                  <a:pt x="108158" y="298239"/>
                </a:lnTo>
                <a:lnTo>
                  <a:pt x="67730" y="279115"/>
                </a:lnTo>
                <a:lnTo>
                  <a:pt x="34591" y="249082"/>
                </a:lnTo>
                <a:lnTo>
                  <a:pt x="11599" y="210720"/>
                </a:lnTo>
                <a:lnTo>
                  <a:pt x="731" y="167337"/>
                </a:lnTo>
                <a:lnTo>
                  <a:pt x="0" y="152399"/>
                </a:lnTo>
                <a:lnTo>
                  <a:pt x="182" y="144912"/>
                </a:lnTo>
                <a:lnTo>
                  <a:pt x="8903" y="101066"/>
                </a:lnTo>
                <a:lnTo>
                  <a:pt x="29994" y="61607"/>
                </a:lnTo>
                <a:lnTo>
                  <a:pt x="61607" y="29995"/>
                </a:lnTo>
                <a:lnTo>
                  <a:pt x="101064" y="8904"/>
                </a:lnTo>
                <a:lnTo>
                  <a:pt x="144912" y="183"/>
                </a:lnTo>
                <a:lnTo>
                  <a:pt x="152399" y="0"/>
                </a:lnTo>
                <a:lnTo>
                  <a:pt x="159886" y="183"/>
                </a:lnTo>
                <a:lnTo>
                  <a:pt x="203731" y="8904"/>
                </a:lnTo>
                <a:lnTo>
                  <a:pt x="243190" y="29995"/>
                </a:lnTo>
                <a:lnTo>
                  <a:pt x="274802" y="61607"/>
                </a:lnTo>
                <a:lnTo>
                  <a:pt x="295894" y="101066"/>
                </a:lnTo>
                <a:lnTo>
                  <a:pt x="304616" y="144912"/>
                </a:lnTo>
                <a:lnTo>
                  <a:pt x="304799" y="152399"/>
                </a:lnTo>
                <a:lnTo>
                  <a:pt x="304616" y="159886"/>
                </a:lnTo>
                <a:lnTo>
                  <a:pt x="295894" y="203733"/>
                </a:lnTo>
                <a:lnTo>
                  <a:pt x="274803" y="243192"/>
                </a:lnTo>
                <a:lnTo>
                  <a:pt x="243190" y="274804"/>
                </a:lnTo>
                <a:lnTo>
                  <a:pt x="203731" y="295895"/>
                </a:lnTo>
                <a:lnTo>
                  <a:pt x="159886" y="304616"/>
                </a:lnTo>
                <a:lnTo>
                  <a:pt x="152399" y="304799"/>
                </a:lnTo>
                <a:close/>
              </a:path>
            </a:pathLst>
          </a:custGeom>
          <a:solidFill>
            <a:srgbClr val="1D40A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 txBox="1"/>
          <p:nvPr/>
        </p:nvSpPr>
        <p:spPr>
          <a:xfrm>
            <a:off x="10518873" y="360679"/>
            <a:ext cx="1087755" cy="22923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35"/>
              </a:spcBef>
              <a:tabLst>
                <a:tab pos="899160" algn="l"/>
              </a:tabLst>
            </a:pPr>
            <a:r>
              <a:rPr dirty="0" sz="1300" spc="-10">
                <a:solidFill>
                  <a:srgbClr val="6A7280"/>
                </a:solidFill>
                <a:latin typeface="Roboto"/>
                <a:cs typeface="Roboto"/>
              </a:rPr>
              <a:t>Framework</a:t>
            </a:r>
            <a:r>
              <a:rPr dirty="0" sz="1300">
                <a:solidFill>
                  <a:srgbClr val="6A7280"/>
                </a:solidFill>
                <a:latin typeface="Roboto"/>
                <a:cs typeface="Roboto"/>
              </a:rPr>
              <a:t>	</a:t>
            </a:r>
            <a:r>
              <a:rPr dirty="0" sz="1300" spc="-25" b="1">
                <a:solidFill>
                  <a:srgbClr val="FFFFFF"/>
                </a:solidFill>
                <a:latin typeface="Arial Nova"/>
                <a:cs typeface="Arial Nova"/>
              </a:rPr>
              <a:t>32</a:t>
            </a:r>
            <a:endParaRPr sz="1300">
              <a:latin typeface="Arial Nova"/>
              <a:cs typeface="Arial Nova"/>
            </a:endParaRPr>
          </a:p>
        </p:txBody>
      </p:sp>
      <p:grpSp>
        <p:nvGrpSpPr>
          <p:cNvPr id="11" name="object 11" descr=""/>
          <p:cNvGrpSpPr/>
          <p:nvPr/>
        </p:nvGrpSpPr>
        <p:grpSpPr>
          <a:xfrm>
            <a:off x="533399" y="1152524"/>
            <a:ext cx="8553450" cy="5105400"/>
            <a:chOff x="533399" y="1152524"/>
            <a:chExt cx="8553450" cy="5105400"/>
          </a:xfrm>
        </p:grpSpPr>
        <p:sp>
          <p:nvSpPr>
            <p:cNvPr id="12" name="object 12" descr=""/>
            <p:cNvSpPr/>
            <p:nvPr/>
          </p:nvSpPr>
          <p:spPr>
            <a:xfrm>
              <a:off x="533399" y="1152524"/>
              <a:ext cx="38100" cy="1676400"/>
            </a:xfrm>
            <a:custGeom>
              <a:avLst/>
              <a:gdLst/>
              <a:ahLst/>
              <a:cxnLst/>
              <a:rect l="l" t="t" r="r" b="b"/>
              <a:pathLst>
                <a:path w="38100" h="1676400">
                  <a:moveTo>
                    <a:pt x="38099" y="1676399"/>
                  </a:moveTo>
                  <a:lnTo>
                    <a:pt x="0" y="1676399"/>
                  </a:lnTo>
                  <a:lnTo>
                    <a:pt x="0" y="0"/>
                  </a:lnTo>
                  <a:lnTo>
                    <a:pt x="38099" y="0"/>
                  </a:lnTo>
                  <a:lnTo>
                    <a:pt x="38099" y="167639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723899" y="1190624"/>
              <a:ext cx="285750" cy="381000"/>
            </a:xfrm>
            <a:custGeom>
              <a:avLst/>
              <a:gdLst/>
              <a:ahLst/>
              <a:cxnLst/>
              <a:rect l="l" t="t" r="r" b="b"/>
              <a:pathLst>
                <a:path w="285750" h="381000">
                  <a:moveTo>
                    <a:pt x="252702" y="380999"/>
                  </a:moveTo>
                  <a:lnTo>
                    <a:pt x="33047" y="380999"/>
                  </a:lnTo>
                  <a:lnTo>
                    <a:pt x="28187" y="380033"/>
                  </a:lnTo>
                  <a:lnTo>
                    <a:pt x="966" y="352812"/>
                  </a:lnTo>
                  <a:lnTo>
                    <a:pt x="0" y="347952"/>
                  </a:lnTo>
                  <a:lnTo>
                    <a:pt x="0" y="342899"/>
                  </a:lnTo>
                  <a:lnTo>
                    <a:pt x="0" y="33047"/>
                  </a:lnTo>
                  <a:lnTo>
                    <a:pt x="28187" y="966"/>
                  </a:lnTo>
                  <a:lnTo>
                    <a:pt x="33047" y="0"/>
                  </a:lnTo>
                  <a:lnTo>
                    <a:pt x="252702" y="0"/>
                  </a:lnTo>
                  <a:lnTo>
                    <a:pt x="284783" y="28187"/>
                  </a:lnTo>
                  <a:lnTo>
                    <a:pt x="285749" y="33047"/>
                  </a:lnTo>
                  <a:lnTo>
                    <a:pt x="285749" y="347952"/>
                  </a:lnTo>
                  <a:lnTo>
                    <a:pt x="257562" y="380033"/>
                  </a:lnTo>
                  <a:lnTo>
                    <a:pt x="252702" y="380999"/>
                  </a:lnTo>
                  <a:close/>
                </a:path>
              </a:pathLst>
            </a:custGeom>
            <a:solidFill>
              <a:srgbClr val="2562E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4" name="object 1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08821" y="1294596"/>
              <a:ext cx="115907" cy="154007"/>
            </a:xfrm>
            <a:prstGeom prst="rect">
              <a:avLst/>
            </a:prstGeom>
          </p:spPr>
        </p:pic>
        <p:sp>
          <p:nvSpPr>
            <p:cNvPr id="15" name="object 15" descr=""/>
            <p:cNvSpPr/>
            <p:nvPr/>
          </p:nvSpPr>
          <p:spPr>
            <a:xfrm>
              <a:off x="866762" y="1733549"/>
              <a:ext cx="47625" cy="962025"/>
            </a:xfrm>
            <a:custGeom>
              <a:avLst/>
              <a:gdLst/>
              <a:ahLst/>
              <a:cxnLst/>
              <a:rect l="l" t="t" r="r" b="b"/>
              <a:pathLst>
                <a:path w="47625" h="962025">
                  <a:moveTo>
                    <a:pt x="47625" y="935062"/>
                  </a:moveTo>
                  <a:lnTo>
                    <a:pt x="26974" y="914400"/>
                  </a:lnTo>
                  <a:lnTo>
                    <a:pt x="20662" y="914400"/>
                  </a:lnTo>
                  <a:lnTo>
                    <a:pt x="0" y="935062"/>
                  </a:lnTo>
                  <a:lnTo>
                    <a:pt x="0" y="941374"/>
                  </a:lnTo>
                  <a:lnTo>
                    <a:pt x="20662" y="962025"/>
                  </a:lnTo>
                  <a:lnTo>
                    <a:pt x="26974" y="962025"/>
                  </a:lnTo>
                  <a:lnTo>
                    <a:pt x="47625" y="941374"/>
                  </a:lnTo>
                  <a:lnTo>
                    <a:pt x="47625" y="938212"/>
                  </a:lnTo>
                  <a:lnTo>
                    <a:pt x="47625" y="935062"/>
                  </a:lnTo>
                  <a:close/>
                </a:path>
                <a:path w="47625" h="962025">
                  <a:moveTo>
                    <a:pt x="47625" y="630262"/>
                  </a:moveTo>
                  <a:lnTo>
                    <a:pt x="26974" y="609600"/>
                  </a:lnTo>
                  <a:lnTo>
                    <a:pt x="20662" y="609600"/>
                  </a:lnTo>
                  <a:lnTo>
                    <a:pt x="0" y="630262"/>
                  </a:lnTo>
                  <a:lnTo>
                    <a:pt x="0" y="636574"/>
                  </a:lnTo>
                  <a:lnTo>
                    <a:pt x="20662" y="657225"/>
                  </a:lnTo>
                  <a:lnTo>
                    <a:pt x="26974" y="657225"/>
                  </a:lnTo>
                  <a:lnTo>
                    <a:pt x="47625" y="636574"/>
                  </a:lnTo>
                  <a:lnTo>
                    <a:pt x="47625" y="633412"/>
                  </a:lnTo>
                  <a:lnTo>
                    <a:pt x="47625" y="630262"/>
                  </a:lnTo>
                  <a:close/>
                </a:path>
                <a:path w="47625" h="962025">
                  <a:moveTo>
                    <a:pt x="47625" y="325462"/>
                  </a:moveTo>
                  <a:lnTo>
                    <a:pt x="26974" y="304800"/>
                  </a:lnTo>
                  <a:lnTo>
                    <a:pt x="20662" y="304800"/>
                  </a:lnTo>
                  <a:lnTo>
                    <a:pt x="0" y="325462"/>
                  </a:lnTo>
                  <a:lnTo>
                    <a:pt x="0" y="331774"/>
                  </a:lnTo>
                  <a:lnTo>
                    <a:pt x="20662" y="352425"/>
                  </a:lnTo>
                  <a:lnTo>
                    <a:pt x="26974" y="352425"/>
                  </a:lnTo>
                  <a:lnTo>
                    <a:pt x="47625" y="331774"/>
                  </a:lnTo>
                  <a:lnTo>
                    <a:pt x="47625" y="328612"/>
                  </a:lnTo>
                  <a:lnTo>
                    <a:pt x="47625" y="325462"/>
                  </a:lnTo>
                  <a:close/>
                </a:path>
                <a:path w="47625" h="962025">
                  <a:moveTo>
                    <a:pt x="47625" y="20662"/>
                  </a:moveTo>
                  <a:lnTo>
                    <a:pt x="26974" y="0"/>
                  </a:lnTo>
                  <a:lnTo>
                    <a:pt x="20662" y="0"/>
                  </a:lnTo>
                  <a:lnTo>
                    <a:pt x="0" y="20662"/>
                  </a:lnTo>
                  <a:lnTo>
                    <a:pt x="0" y="26974"/>
                  </a:lnTo>
                  <a:lnTo>
                    <a:pt x="20662" y="47625"/>
                  </a:lnTo>
                  <a:lnTo>
                    <a:pt x="26974" y="47625"/>
                  </a:lnTo>
                  <a:lnTo>
                    <a:pt x="47625" y="26974"/>
                  </a:lnTo>
                  <a:lnTo>
                    <a:pt x="47625" y="23812"/>
                  </a:lnTo>
                  <a:lnTo>
                    <a:pt x="47625" y="20662"/>
                  </a:lnTo>
                  <a:close/>
                </a:path>
              </a:pathLst>
            </a:custGeom>
            <a:solidFill>
              <a:srgbClr val="37405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6286499" y="1152524"/>
              <a:ext cx="38100" cy="1676400"/>
            </a:xfrm>
            <a:custGeom>
              <a:avLst/>
              <a:gdLst/>
              <a:ahLst/>
              <a:cxnLst/>
              <a:rect l="l" t="t" r="r" b="b"/>
              <a:pathLst>
                <a:path w="38100" h="1676400">
                  <a:moveTo>
                    <a:pt x="38099" y="1676399"/>
                  </a:moveTo>
                  <a:lnTo>
                    <a:pt x="0" y="1676399"/>
                  </a:lnTo>
                  <a:lnTo>
                    <a:pt x="0" y="0"/>
                  </a:lnTo>
                  <a:lnTo>
                    <a:pt x="38099" y="0"/>
                  </a:lnTo>
                  <a:lnTo>
                    <a:pt x="38099" y="167639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6476998" y="1190624"/>
              <a:ext cx="304800" cy="381000"/>
            </a:xfrm>
            <a:custGeom>
              <a:avLst/>
              <a:gdLst/>
              <a:ahLst/>
              <a:cxnLst/>
              <a:rect l="l" t="t" r="r" b="b"/>
              <a:pathLst>
                <a:path w="304800" h="381000">
                  <a:moveTo>
                    <a:pt x="271752" y="380999"/>
                  </a:moveTo>
                  <a:lnTo>
                    <a:pt x="33047" y="380999"/>
                  </a:lnTo>
                  <a:lnTo>
                    <a:pt x="28187" y="380033"/>
                  </a:lnTo>
                  <a:lnTo>
                    <a:pt x="966" y="352812"/>
                  </a:lnTo>
                  <a:lnTo>
                    <a:pt x="0" y="347952"/>
                  </a:lnTo>
                  <a:lnTo>
                    <a:pt x="0" y="342899"/>
                  </a:lnTo>
                  <a:lnTo>
                    <a:pt x="0" y="33047"/>
                  </a:lnTo>
                  <a:lnTo>
                    <a:pt x="28187" y="966"/>
                  </a:lnTo>
                  <a:lnTo>
                    <a:pt x="33047" y="0"/>
                  </a:lnTo>
                  <a:lnTo>
                    <a:pt x="271752" y="0"/>
                  </a:lnTo>
                  <a:lnTo>
                    <a:pt x="303833" y="28187"/>
                  </a:lnTo>
                  <a:lnTo>
                    <a:pt x="304799" y="33047"/>
                  </a:lnTo>
                  <a:lnTo>
                    <a:pt x="304799" y="347952"/>
                  </a:lnTo>
                  <a:lnTo>
                    <a:pt x="276612" y="380033"/>
                  </a:lnTo>
                  <a:lnTo>
                    <a:pt x="271752" y="380999"/>
                  </a:lnTo>
                  <a:close/>
                </a:path>
              </a:pathLst>
            </a:custGeom>
            <a:solidFill>
              <a:srgbClr val="04956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8" name="object 18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557962" y="1304913"/>
              <a:ext cx="142874" cy="133372"/>
            </a:xfrm>
            <a:prstGeom prst="rect">
              <a:avLst/>
            </a:prstGeom>
          </p:spPr>
        </p:pic>
        <p:sp>
          <p:nvSpPr>
            <p:cNvPr id="19" name="object 19" descr=""/>
            <p:cNvSpPr/>
            <p:nvPr/>
          </p:nvSpPr>
          <p:spPr>
            <a:xfrm>
              <a:off x="6619862" y="1733549"/>
              <a:ext cx="47625" cy="962025"/>
            </a:xfrm>
            <a:custGeom>
              <a:avLst/>
              <a:gdLst/>
              <a:ahLst/>
              <a:cxnLst/>
              <a:rect l="l" t="t" r="r" b="b"/>
              <a:pathLst>
                <a:path w="47625" h="962025">
                  <a:moveTo>
                    <a:pt x="47625" y="935062"/>
                  </a:moveTo>
                  <a:lnTo>
                    <a:pt x="26974" y="914400"/>
                  </a:lnTo>
                  <a:lnTo>
                    <a:pt x="20662" y="914400"/>
                  </a:lnTo>
                  <a:lnTo>
                    <a:pt x="0" y="935062"/>
                  </a:lnTo>
                  <a:lnTo>
                    <a:pt x="0" y="941374"/>
                  </a:lnTo>
                  <a:lnTo>
                    <a:pt x="20662" y="962025"/>
                  </a:lnTo>
                  <a:lnTo>
                    <a:pt x="26974" y="962025"/>
                  </a:lnTo>
                  <a:lnTo>
                    <a:pt x="47625" y="941374"/>
                  </a:lnTo>
                  <a:lnTo>
                    <a:pt x="47625" y="938212"/>
                  </a:lnTo>
                  <a:lnTo>
                    <a:pt x="47625" y="935062"/>
                  </a:lnTo>
                  <a:close/>
                </a:path>
                <a:path w="47625" h="962025">
                  <a:moveTo>
                    <a:pt x="47625" y="630262"/>
                  </a:moveTo>
                  <a:lnTo>
                    <a:pt x="26974" y="609600"/>
                  </a:lnTo>
                  <a:lnTo>
                    <a:pt x="20662" y="609600"/>
                  </a:lnTo>
                  <a:lnTo>
                    <a:pt x="0" y="630262"/>
                  </a:lnTo>
                  <a:lnTo>
                    <a:pt x="0" y="636574"/>
                  </a:lnTo>
                  <a:lnTo>
                    <a:pt x="20662" y="657225"/>
                  </a:lnTo>
                  <a:lnTo>
                    <a:pt x="26974" y="657225"/>
                  </a:lnTo>
                  <a:lnTo>
                    <a:pt x="47625" y="636574"/>
                  </a:lnTo>
                  <a:lnTo>
                    <a:pt x="47625" y="633412"/>
                  </a:lnTo>
                  <a:lnTo>
                    <a:pt x="47625" y="630262"/>
                  </a:lnTo>
                  <a:close/>
                </a:path>
                <a:path w="47625" h="962025">
                  <a:moveTo>
                    <a:pt x="47625" y="325462"/>
                  </a:moveTo>
                  <a:lnTo>
                    <a:pt x="26974" y="304800"/>
                  </a:lnTo>
                  <a:lnTo>
                    <a:pt x="20662" y="304800"/>
                  </a:lnTo>
                  <a:lnTo>
                    <a:pt x="0" y="325462"/>
                  </a:lnTo>
                  <a:lnTo>
                    <a:pt x="0" y="331774"/>
                  </a:lnTo>
                  <a:lnTo>
                    <a:pt x="20662" y="352425"/>
                  </a:lnTo>
                  <a:lnTo>
                    <a:pt x="26974" y="352425"/>
                  </a:lnTo>
                  <a:lnTo>
                    <a:pt x="47625" y="331774"/>
                  </a:lnTo>
                  <a:lnTo>
                    <a:pt x="47625" y="328612"/>
                  </a:lnTo>
                  <a:lnTo>
                    <a:pt x="47625" y="325462"/>
                  </a:lnTo>
                  <a:close/>
                </a:path>
                <a:path w="47625" h="962025">
                  <a:moveTo>
                    <a:pt x="47625" y="20662"/>
                  </a:moveTo>
                  <a:lnTo>
                    <a:pt x="26974" y="0"/>
                  </a:lnTo>
                  <a:lnTo>
                    <a:pt x="20662" y="0"/>
                  </a:lnTo>
                  <a:lnTo>
                    <a:pt x="0" y="20662"/>
                  </a:lnTo>
                  <a:lnTo>
                    <a:pt x="0" y="26974"/>
                  </a:lnTo>
                  <a:lnTo>
                    <a:pt x="20662" y="47625"/>
                  </a:lnTo>
                  <a:lnTo>
                    <a:pt x="26974" y="47625"/>
                  </a:lnTo>
                  <a:lnTo>
                    <a:pt x="47625" y="26974"/>
                  </a:lnTo>
                  <a:lnTo>
                    <a:pt x="47625" y="23812"/>
                  </a:lnTo>
                  <a:lnTo>
                    <a:pt x="47625" y="20662"/>
                  </a:lnTo>
                  <a:close/>
                </a:path>
              </a:pathLst>
            </a:custGeom>
            <a:solidFill>
              <a:srgbClr val="37405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533399" y="3057524"/>
              <a:ext cx="38100" cy="1676400"/>
            </a:xfrm>
            <a:custGeom>
              <a:avLst/>
              <a:gdLst/>
              <a:ahLst/>
              <a:cxnLst/>
              <a:rect l="l" t="t" r="r" b="b"/>
              <a:pathLst>
                <a:path w="38100" h="1676400">
                  <a:moveTo>
                    <a:pt x="38099" y="1676399"/>
                  </a:moveTo>
                  <a:lnTo>
                    <a:pt x="0" y="1676399"/>
                  </a:lnTo>
                  <a:lnTo>
                    <a:pt x="0" y="0"/>
                  </a:lnTo>
                  <a:lnTo>
                    <a:pt x="38099" y="0"/>
                  </a:lnTo>
                  <a:lnTo>
                    <a:pt x="38099" y="167639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723899" y="3095624"/>
              <a:ext cx="304800" cy="381000"/>
            </a:xfrm>
            <a:custGeom>
              <a:avLst/>
              <a:gdLst/>
              <a:ahLst/>
              <a:cxnLst/>
              <a:rect l="l" t="t" r="r" b="b"/>
              <a:pathLst>
                <a:path w="304800" h="381000">
                  <a:moveTo>
                    <a:pt x="271752" y="380999"/>
                  </a:moveTo>
                  <a:lnTo>
                    <a:pt x="33047" y="380999"/>
                  </a:lnTo>
                  <a:lnTo>
                    <a:pt x="28187" y="380033"/>
                  </a:lnTo>
                  <a:lnTo>
                    <a:pt x="966" y="352812"/>
                  </a:lnTo>
                  <a:lnTo>
                    <a:pt x="0" y="347952"/>
                  </a:lnTo>
                  <a:lnTo>
                    <a:pt x="0" y="342899"/>
                  </a:lnTo>
                  <a:lnTo>
                    <a:pt x="0" y="33047"/>
                  </a:lnTo>
                  <a:lnTo>
                    <a:pt x="28187" y="966"/>
                  </a:lnTo>
                  <a:lnTo>
                    <a:pt x="33047" y="0"/>
                  </a:lnTo>
                  <a:lnTo>
                    <a:pt x="271752" y="0"/>
                  </a:lnTo>
                  <a:lnTo>
                    <a:pt x="303833" y="28187"/>
                  </a:lnTo>
                  <a:lnTo>
                    <a:pt x="304799" y="33047"/>
                  </a:lnTo>
                  <a:lnTo>
                    <a:pt x="304799" y="347952"/>
                  </a:lnTo>
                  <a:lnTo>
                    <a:pt x="276612" y="380033"/>
                  </a:lnTo>
                  <a:lnTo>
                    <a:pt x="271752" y="380999"/>
                  </a:lnTo>
                  <a:close/>
                </a:path>
              </a:pathLst>
            </a:custGeom>
            <a:solidFill>
              <a:srgbClr val="DB252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2" name="object 22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99564" y="3209924"/>
              <a:ext cx="153471" cy="133349"/>
            </a:xfrm>
            <a:prstGeom prst="rect">
              <a:avLst/>
            </a:prstGeom>
          </p:spPr>
        </p:pic>
        <p:sp>
          <p:nvSpPr>
            <p:cNvPr id="23" name="object 23" descr=""/>
            <p:cNvSpPr/>
            <p:nvPr/>
          </p:nvSpPr>
          <p:spPr>
            <a:xfrm>
              <a:off x="866762" y="3638549"/>
              <a:ext cx="47625" cy="962025"/>
            </a:xfrm>
            <a:custGeom>
              <a:avLst/>
              <a:gdLst/>
              <a:ahLst/>
              <a:cxnLst/>
              <a:rect l="l" t="t" r="r" b="b"/>
              <a:pathLst>
                <a:path w="47625" h="962025">
                  <a:moveTo>
                    <a:pt x="47625" y="935062"/>
                  </a:moveTo>
                  <a:lnTo>
                    <a:pt x="26974" y="914400"/>
                  </a:lnTo>
                  <a:lnTo>
                    <a:pt x="20662" y="914400"/>
                  </a:lnTo>
                  <a:lnTo>
                    <a:pt x="0" y="935062"/>
                  </a:lnTo>
                  <a:lnTo>
                    <a:pt x="0" y="941374"/>
                  </a:lnTo>
                  <a:lnTo>
                    <a:pt x="20662" y="962025"/>
                  </a:lnTo>
                  <a:lnTo>
                    <a:pt x="26974" y="962025"/>
                  </a:lnTo>
                  <a:lnTo>
                    <a:pt x="47625" y="941374"/>
                  </a:lnTo>
                  <a:lnTo>
                    <a:pt x="47625" y="938212"/>
                  </a:lnTo>
                  <a:lnTo>
                    <a:pt x="47625" y="935062"/>
                  </a:lnTo>
                  <a:close/>
                </a:path>
                <a:path w="47625" h="962025">
                  <a:moveTo>
                    <a:pt x="47625" y="630262"/>
                  </a:moveTo>
                  <a:lnTo>
                    <a:pt x="26974" y="609600"/>
                  </a:lnTo>
                  <a:lnTo>
                    <a:pt x="20662" y="609600"/>
                  </a:lnTo>
                  <a:lnTo>
                    <a:pt x="0" y="630262"/>
                  </a:lnTo>
                  <a:lnTo>
                    <a:pt x="0" y="636574"/>
                  </a:lnTo>
                  <a:lnTo>
                    <a:pt x="20662" y="657225"/>
                  </a:lnTo>
                  <a:lnTo>
                    <a:pt x="26974" y="657225"/>
                  </a:lnTo>
                  <a:lnTo>
                    <a:pt x="47625" y="636574"/>
                  </a:lnTo>
                  <a:lnTo>
                    <a:pt x="47625" y="633412"/>
                  </a:lnTo>
                  <a:lnTo>
                    <a:pt x="47625" y="630262"/>
                  </a:lnTo>
                  <a:close/>
                </a:path>
                <a:path w="47625" h="962025">
                  <a:moveTo>
                    <a:pt x="47625" y="325462"/>
                  </a:moveTo>
                  <a:lnTo>
                    <a:pt x="26974" y="304800"/>
                  </a:lnTo>
                  <a:lnTo>
                    <a:pt x="20662" y="304800"/>
                  </a:lnTo>
                  <a:lnTo>
                    <a:pt x="0" y="325462"/>
                  </a:lnTo>
                  <a:lnTo>
                    <a:pt x="0" y="331774"/>
                  </a:lnTo>
                  <a:lnTo>
                    <a:pt x="20662" y="352425"/>
                  </a:lnTo>
                  <a:lnTo>
                    <a:pt x="26974" y="352425"/>
                  </a:lnTo>
                  <a:lnTo>
                    <a:pt x="47625" y="331774"/>
                  </a:lnTo>
                  <a:lnTo>
                    <a:pt x="47625" y="328612"/>
                  </a:lnTo>
                  <a:lnTo>
                    <a:pt x="47625" y="325462"/>
                  </a:lnTo>
                  <a:close/>
                </a:path>
                <a:path w="47625" h="962025">
                  <a:moveTo>
                    <a:pt x="47625" y="20662"/>
                  </a:moveTo>
                  <a:lnTo>
                    <a:pt x="26974" y="0"/>
                  </a:lnTo>
                  <a:lnTo>
                    <a:pt x="20662" y="0"/>
                  </a:lnTo>
                  <a:lnTo>
                    <a:pt x="0" y="20662"/>
                  </a:lnTo>
                  <a:lnTo>
                    <a:pt x="0" y="26974"/>
                  </a:lnTo>
                  <a:lnTo>
                    <a:pt x="20662" y="47625"/>
                  </a:lnTo>
                  <a:lnTo>
                    <a:pt x="26974" y="47625"/>
                  </a:lnTo>
                  <a:lnTo>
                    <a:pt x="47625" y="26974"/>
                  </a:lnTo>
                  <a:lnTo>
                    <a:pt x="47625" y="23812"/>
                  </a:lnTo>
                  <a:lnTo>
                    <a:pt x="47625" y="20662"/>
                  </a:lnTo>
                  <a:close/>
                </a:path>
              </a:pathLst>
            </a:custGeom>
            <a:solidFill>
              <a:srgbClr val="37405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6286499" y="3057524"/>
              <a:ext cx="38100" cy="1676400"/>
            </a:xfrm>
            <a:custGeom>
              <a:avLst/>
              <a:gdLst/>
              <a:ahLst/>
              <a:cxnLst/>
              <a:rect l="l" t="t" r="r" b="b"/>
              <a:pathLst>
                <a:path w="38100" h="1676400">
                  <a:moveTo>
                    <a:pt x="38099" y="1676399"/>
                  </a:moveTo>
                  <a:lnTo>
                    <a:pt x="0" y="1676399"/>
                  </a:lnTo>
                  <a:lnTo>
                    <a:pt x="0" y="0"/>
                  </a:lnTo>
                  <a:lnTo>
                    <a:pt x="38099" y="0"/>
                  </a:lnTo>
                  <a:lnTo>
                    <a:pt x="38099" y="167639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6476998" y="3095624"/>
              <a:ext cx="266700" cy="381000"/>
            </a:xfrm>
            <a:custGeom>
              <a:avLst/>
              <a:gdLst/>
              <a:ahLst/>
              <a:cxnLst/>
              <a:rect l="l" t="t" r="r" b="b"/>
              <a:pathLst>
                <a:path w="266700" h="381000">
                  <a:moveTo>
                    <a:pt x="233652" y="380999"/>
                  </a:moveTo>
                  <a:lnTo>
                    <a:pt x="33047" y="380999"/>
                  </a:lnTo>
                  <a:lnTo>
                    <a:pt x="28187" y="380033"/>
                  </a:lnTo>
                  <a:lnTo>
                    <a:pt x="966" y="352812"/>
                  </a:lnTo>
                  <a:lnTo>
                    <a:pt x="0" y="347952"/>
                  </a:lnTo>
                  <a:lnTo>
                    <a:pt x="0" y="342899"/>
                  </a:lnTo>
                  <a:lnTo>
                    <a:pt x="0" y="33047"/>
                  </a:lnTo>
                  <a:lnTo>
                    <a:pt x="28187" y="966"/>
                  </a:lnTo>
                  <a:lnTo>
                    <a:pt x="33047" y="0"/>
                  </a:lnTo>
                  <a:lnTo>
                    <a:pt x="233652" y="0"/>
                  </a:lnTo>
                  <a:lnTo>
                    <a:pt x="265733" y="28187"/>
                  </a:lnTo>
                  <a:lnTo>
                    <a:pt x="266699" y="33047"/>
                  </a:lnTo>
                  <a:lnTo>
                    <a:pt x="266699" y="347952"/>
                  </a:lnTo>
                  <a:lnTo>
                    <a:pt x="238512" y="380033"/>
                  </a:lnTo>
                  <a:lnTo>
                    <a:pt x="233652" y="380999"/>
                  </a:lnTo>
                  <a:close/>
                </a:path>
              </a:pathLst>
            </a:custGeom>
            <a:solidFill>
              <a:srgbClr val="7C3AE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6" name="object 26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557962" y="3200399"/>
              <a:ext cx="104768" cy="152399"/>
            </a:xfrm>
            <a:prstGeom prst="rect">
              <a:avLst/>
            </a:prstGeom>
          </p:spPr>
        </p:pic>
        <p:sp>
          <p:nvSpPr>
            <p:cNvPr id="27" name="object 27" descr=""/>
            <p:cNvSpPr/>
            <p:nvPr/>
          </p:nvSpPr>
          <p:spPr>
            <a:xfrm>
              <a:off x="6619862" y="3638549"/>
              <a:ext cx="47625" cy="962025"/>
            </a:xfrm>
            <a:custGeom>
              <a:avLst/>
              <a:gdLst/>
              <a:ahLst/>
              <a:cxnLst/>
              <a:rect l="l" t="t" r="r" b="b"/>
              <a:pathLst>
                <a:path w="47625" h="962025">
                  <a:moveTo>
                    <a:pt x="47625" y="935062"/>
                  </a:moveTo>
                  <a:lnTo>
                    <a:pt x="26974" y="914400"/>
                  </a:lnTo>
                  <a:lnTo>
                    <a:pt x="20662" y="914400"/>
                  </a:lnTo>
                  <a:lnTo>
                    <a:pt x="0" y="935062"/>
                  </a:lnTo>
                  <a:lnTo>
                    <a:pt x="0" y="941374"/>
                  </a:lnTo>
                  <a:lnTo>
                    <a:pt x="20662" y="962025"/>
                  </a:lnTo>
                  <a:lnTo>
                    <a:pt x="26974" y="962025"/>
                  </a:lnTo>
                  <a:lnTo>
                    <a:pt x="47625" y="941374"/>
                  </a:lnTo>
                  <a:lnTo>
                    <a:pt x="47625" y="938212"/>
                  </a:lnTo>
                  <a:lnTo>
                    <a:pt x="47625" y="935062"/>
                  </a:lnTo>
                  <a:close/>
                </a:path>
                <a:path w="47625" h="962025">
                  <a:moveTo>
                    <a:pt x="47625" y="630262"/>
                  </a:moveTo>
                  <a:lnTo>
                    <a:pt x="26974" y="609600"/>
                  </a:lnTo>
                  <a:lnTo>
                    <a:pt x="20662" y="609600"/>
                  </a:lnTo>
                  <a:lnTo>
                    <a:pt x="0" y="630262"/>
                  </a:lnTo>
                  <a:lnTo>
                    <a:pt x="0" y="636574"/>
                  </a:lnTo>
                  <a:lnTo>
                    <a:pt x="20662" y="657225"/>
                  </a:lnTo>
                  <a:lnTo>
                    <a:pt x="26974" y="657225"/>
                  </a:lnTo>
                  <a:lnTo>
                    <a:pt x="47625" y="636574"/>
                  </a:lnTo>
                  <a:lnTo>
                    <a:pt x="47625" y="633412"/>
                  </a:lnTo>
                  <a:lnTo>
                    <a:pt x="47625" y="630262"/>
                  </a:lnTo>
                  <a:close/>
                </a:path>
                <a:path w="47625" h="962025">
                  <a:moveTo>
                    <a:pt x="47625" y="325462"/>
                  </a:moveTo>
                  <a:lnTo>
                    <a:pt x="26974" y="304800"/>
                  </a:lnTo>
                  <a:lnTo>
                    <a:pt x="20662" y="304800"/>
                  </a:lnTo>
                  <a:lnTo>
                    <a:pt x="0" y="325462"/>
                  </a:lnTo>
                  <a:lnTo>
                    <a:pt x="0" y="331774"/>
                  </a:lnTo>
                  <a:lnTo>
                    <a:pt x="20662" y="352425"/>
                  </a:lnTo>
                  <a:lnTo>
                    <a:pt x="26974" y="352425"/>
                  </a:lnTo>
                  <a:lnTo>
                    <a:pt x="47625" y="331774"/>
                  </a:lnTo>
                  <a:lnTo>
                    <a:pt x="47625" y="328612"/>
                  </a:lnTo>
                  <a:lnTo>
                    <a:pt x="47625" y="325462"/>
                  </a:lnTo>
                  <a:close/>
                </a:path>
                <a:path w="47625" h="962025">
                  <a:moveTo>
                    <a:pt x="47625" y="20662"/>
                  </a:moveTo>
                  <a:lnTo>
                    <a:pt x="26974" y="0"/>
                  </a:lnTo>
                  <a:lnTo>
                    <a:pt x="20662" y="0"/>
                  </a:lnTo>
                  <a:lnTo>
                    <a:pt x="0" y="20662"/>
                  </a:lnTo>
                  <a:lnTo>
                    <a:pt x="0" y="26974"/>
                  </a:lnTo>
                  <a:lnTo>
                    <a:pt x="20662" y="47625"/>
                  </a:lnTo>
                  <a:lnTo>
                    <a:pt x="26974" y="47625"/>
                  </a:lnTo>
                  <a:lnTo>
                    <a:pt x="47625" y="26974"/>
                  </a:lnTo>
                  <a:lnTo>
                    <a:pt x="47625" y="23812"/>
                  </a:lnTo>
                  <a:lnTo>
                    <a:pt x="47625" y="20662"/>
                  </a:lnTo>
                  <a:close/>
                </a:path>
              </a:pathLst>
            </a:custGeom>
            <a:solidFill>
              <a:srgbClr val="37405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8" name="object 28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105149" y="4962524"/>
              <a:ext cx="5981699" cy="1295399"/>
            </a:xfrm>
            <a:prstGeom prst="rect">
              <a:avLst/>
            </a:prstGeom>
          </p:spPr>
        </p:pic>
      </p:grpSp>
      <p:sp>
        <p:nvSpPr>
          <p:cNvPr id="29" name="object 29" descr=""/>
          <p:cNvSpPr txBox="1"/>
          <p:nvPr/>
        </p:nvSpPr>
        <p:spPr>
          <a:xfrm>
            <a:off x="1111250" y="1223096"/>
            <a:ext cx="3107055" cy="28003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650" spc="-80" b="1">
                <a:solidFill>
                  <a:srgbClr val="1D40AF"/>
                </a:solidFill>
                <a:latin typeface="Roboto"/>
                <a:cs typeface="Roboto"/>
              </a:rPr>
              <a:t>Challenges</a:t>
            </a:r>
            <a:r>
              <a:rPr dirty="0" sz="1650" spc="-30" b="1">
                <a:solidFill>
                  <a:srgbClr val="1D40AF"/>
                </a:solidFill>
                <a:latin typeface="Roboto"/>
                <a:cs typeface="Roboto"/>
              </a:rPr>
              <a:t> </a:t>
            </a:r>
            <a:r>
              <a:rPr dirty="0" sz="1650" spc="-65" b="1">
                <a:solidFill>
                  <a:srgbClr val="1D40AF"/>
                </a:solidFill>
                <a:latin typeface="Roboto"/>
                <a:cs typeface="Roboto"/>
              </a:rPr>
              <a:t>in</a:t>
            </a:r>
            <a:r>
              <a:rPr dirty="0" sz="1650" spc="-30" b="1">
                <a:solidFill>
                  <a:srgbClr val="1D40AF"/>
                </a:solidFill>
                <a:latin typeface="Roboto"/>
                <a:cs typeface="Roboto"/>
              </a:rPr>
              <a:t> </a:t>
            </a:r>
            <a:r>
              <a:rPr dirty="0" sz="1650" spc="-85" b="1">
                <a:solidFill>
                  <a:srgbClr val="1D40AF"/>
                </a:solidFill>
                <a:latin typeface="Roboto"/>
                <a:cs typeface="Roboto"/>
              </a:rPr>
              <a:t>Unbalanced</a:t>
            </a:r>
            <a:r>
              <a:rPr dirty="0" sz="1650" spc="-25" b="1">
                <a:solidFill>
                  <a:srgbClr val="1D40AF"/>
                </a:solidFill>
                <a:latin typeface="Roboto"/>
                <a:cs typeface="Roboto"/>
              </a:rPr>
              <a:t> </a:t>
            </a:r>
            <a:r>
              <a:rPr dirty="0" sz="1650" spc="-75" b="1">
                <a:solidFill>
                  <a:srgbClr val="1D40AF"/>
                </a:solidFill>
                <a:latin typeface="Roboto"/>
                <a:cs typeface="Roboto"/>
              </a:rPr>
              <a:t>Networks</a:t>
            </a:r>
            <a:endParaRPr sz="1650">
              <a:latin typeface="Roboto"/>
              <a:cs typeface="Roboto"/>
            </a:endParaRPr>
          </a:p>
        </p:txBody>
      </p:sp>
      <p:sp>
        <p:nvSpPr>
          <p:cNvPr id="30" name="object 30" descr=""/>
          <p:cNvSpPr txBox="1"/>
          <p:nvPr/>
        </p:nvSpPr>
        <p:spPr>
          <a:xfrm>
            <a:off x="1016000" y="1627504"/>
            <a:ext cx="3061335" cy="22923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300" spc="-65">
                <a:solidFill>
                  <a:srgbClr val="374050"/>
                </a:solidFill>
                <a:latin typeface="Roboto"/>
                <a:cs typeface="Roboto"/>
              </a:rPr>
              <a:t>Phase</a:t>
            </a:r>
            <a:r>
              <a:rPr dirty="0" sz="1300" spc="-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55">
                <a:solidFill>
                  <a:srgbClr val="374050"/>
                </a:solidFill>
                <a:latin typeface="Roboto"/>
                <a:cs typeface="Roboto"/>
              </a:rPr>
              <a:t>imbalances</a:t>
            </a:r>
            <a:r>
              <a:rPr dirty="0" sz="1300" spc="-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60">
                <a:solidFill>
                  <a:srgbClr val="374050"/>
                </a:solidFill>
                <a:latin typeface="Roboto"/>
                <a:cs typeface="Roboto"/>
              </a:rPr>
              <a:t>causing</a:t>
            </a:r>
            <a:r>
              <a:rPr dirty="0" sz="130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50">
                <a:solidFill>
                  <a:srgbClr val="374050"/>
                </a:solidFill>
                <a:latin typeface="Roboto"/>
                <a:cs typeface="Roboto"/>
              </a:rPr>
              <a:t>voltage</a:t>
            </a:r>
            <a:r>
              <a:rPr dirty="0" sz="1300" spc="-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30">
                <a:solidFill>
                  <a:srgbClr val="374050"/>
                </a:solidFill>
                <a:latin typeface="Roboto"/>
                <a:cs typeface="Roboto"/>
              </a:rPr>
              <a:t>instability</a:t>
            </a:r>
            <a:endParaRPr sz="1300">
              <a:latin typeface="Roboto"/>
              <a:cs typeface="Roboto"/>
            </a:endParaRPr>
          </a:p>
        </p:txBody>
      </p:sp>
      <p:sp>
        <p:nvSpPr>
          <p:cNvPr id="31" name="object 31" descr=""/>
          <p:cNvSpPr txBox="1"/>
          <p:nvPr/>
        </p:nvSpPr>
        <p:spPr>
          <a:xfrm>
            <a:off x="1016000" y="1932304"/>
            <a:ext cx="3321050" cy="22923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300" spc="-55">
                <a:solidFill>
                  <a:srgbClr val="374050"/>
                </a:solidFill>
                <a:latin typeface="Roboto"/>
                <a:cs typeface="Roboto"/>
              </a:rPr>
              <a:t>Stochastic</a:t>
            </a:r>
            <a:r>
              <a:rPr dirty="0" sz="1300" spc="-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55">
                <a:solidFill>
                  <a:srgbClr val="374050"/>
                </a:solidFill>
                <a:latin typeface="Roboto"/>
                <a:cs typeface="Roboto"/>
              </a:rPr>
              <a:t>renewable</a:t>
            </a:r>
            <a:r>
              <a:rPr dirty="0" sz="1300" spc="-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55">
                <a:solidFill>
                  <a:srgbClr val="374050"/>
                </a:solidFill>
                <a:latin typeface="Roboto"/>
                <a:cs typeface="Roboto"/>
              </a:rPr>
              <a:t>generation</a:t>
            </a:r>
            <a:r>
              <a:rPr dirty="0" sz="1300" spc="-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45">
                <a:solidFill>
                  <a:srgbClr val="374050"/>
                </a:solidFill>
                <a:latin typeface="Roboto"/>
                <a:cs typeface="Roboto"/>
              </a:rPr>
              <a:t>(solar</a:t>
            </a:r>
            <a:r>
              <a:rPr dirty="0" sz="1300" spc="-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105">
                <a:solidFill>
                  <a:srgbClr val="374050"/>
                </a:solidFill>
                <a:latin typeface="Roboto"/>
                <a:cs typeface="Roboto"/>
              </a:rPr>
              <a:t>PV,</a:t>
            </a:r>
            <a:r>
              <a:rPr dirty="0" sz="1300" spc="-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10">
                <a:solidFill>
                  <a:srgbClr val="374050"/>
                </a:solidFill>
                <a:latin typeface="Roboto"/>
                <a:cs typeface="Roboto"/>
              </a:rPr>
              <a:t>wind)</a:t>
            </a:r>
            <a:endParaRPr sz="1300">
              <a:latin typeface="Roboto"/>
              <a:cs typeface="Roboto"/>
            </a:endParaRPr>
          </a:p>
        </p:txBody>
      </p:sp>
      <p:sp>
        <p:nvSpPr>
          <p:cNvPr id="32" name="object 32" descr=""/>
          <p:cNvSpPr txBox="1"/>
          <p:nvPr/>
        </p:nvSpPr>
        <p:spPr>
          <a:xfrm>
            <a:off x="1016000" y="2237104"/>
            <a:ext cx="3177540" cy="22923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300" spc="-50">
                <a:solidFill>
                  <a:srgbClr val="374050"/>
                </a:solidFill>
                <a:latin typeface="Roboto"/>
                <a:cs typeface="Roboto"/>
              </a:rPr>
              <a:t>Bidirectional</a:t>
            </a:r>
            <a:r>
              <a:rPr dirty="0" sz="1300" spc="1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65">
                <a:solidFill>
                  <a:srgbClr val="374050"/>
                </a:solidFill>
                <a:latin typeface="Roboto"/>
                <a:cs typeface="Roboto"/>
              </a:rPr>
              <a:t>power</a:t>
            </a:r>
            <a:r>
              <a:rPr dirty="0" sz="1300" spc="1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65">
                <a:solidFill>
                  <a:srgbClr val="374050"/>
                </a:solidFill>
                <a:latin typeface="Roboto"/>
                <a:cs typeface="Roboto"/>
              </a:rPr>
              <a:t>flows</a:t>
            </a:r>
            <a:r>
              <a:rPr dirty="0" sz="1300" spc="1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45">
                <a:solidFill>
                  <a:srgbClr val="374050"/>
                </a:solidFill>
                <a:latin typeface="Roboto"/>
                <a:cs typeface="Roboto"/>
              </a:rPr>
              <a:t>disrupting</a:t>
            </a:r>
            <a:r>
              <a:rPr dirty="0" sz="1300" spc="1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35">
                <a:solidFill>
                  <a:srgbClr val="374050"/>
                </a:solidFill>
                <a:latin typeface="Roboto"/>
                <a:cs typeface="Roboto"/>
              </a:rPr>
              <a:t>protection</a:t>
            </a:r>
            <a:endParaRPr sz="1300">
              <a:latin typeface="Roboto"/>
              <a:cs typeface="Roboto"/>
            </a:endParaRPr>
          </a:p>
        </p:txBody>
      </p:sp>
      <p:sp>
        <p:nvSpPr>
          <p:cNvPr id="33" name="object 33" descr=""/>
          <p:cNvSpPr txBox="1"/>
          <p:nvPr/>
        </p:nvSpPr>
        <p:spPr>
          <a:xfrm>
            <a:off x="1016000" y="2541904"/>
            <a:ext cx="3187700" cy="22923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300" spc="-55">
                <a:solidFill>
                  <a:srgbClr val="374050"/>
                </a:solidFill>
                <a:latin typeface="Roboto"/>
                <a:cs typeface="Roboto"/>
              </a:rPr>
              <a:t>Voltage</a:t>
            </a:r>
            <a:r>
              <a:rPr dirty="0" sz="1300" spc="-1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50">
                <a:solidFill>
                  <a:srgbClr val="374050"/>
                </a:solidFill>
                <a:latin typeface="Roboto"/>
                <a:cs typeface="Roboto"/>
              </a:rPr>
              <a:t>fluctuations</a:t>
            </a:r>
            <a:r>
              <a:rPr dirty="0" sz="1300" spc="-1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60">
                <a:solidFill>
                  <a:srgbClr val="374050"/>
                </a:solidFill>
                <a:latin typeface="Roboto"/>
                <a:cs typeface="Roboto"/>
              </a:rPr>
              <a:t>from</a:t>
            </a:r>
            <a:r>
              <a:rPr dirty="0" sz="1300" spc="-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55">
                <a:solidFill>
                  <a:srgbClr val="374050"/>
                </a:solidFill>
                <a:latin typeface="Roboto"/>
                <a:cs typeface="Roboto"/>
              </a:rPr>
              <a:t>generation</a:t>
            </a:r>
            <a:r>
              <a:rPr dirty="0" sz="1300" spc="-1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30">
                <a:solidFill>
                  <a:srgbClr val="374050"/>
                </a:solidFill>
                <a:latin typeface="Roboto"/>
                <a:cs typeface="Roboto"/>
              </a:rPr>
              <a:t>variability</a:t>
            </a:r>
            <a:endParaRPr sz="1300">
              <a:latin typeface="Roboto"/>
              <a:cs typeface="Roboto"/>
            </a:endParaRPr>
          </a:p>
        </p:txBody>
      </p:sp>
      <p:sp>
        <p:nvSpPr>
          <p:cNvPr id="34" name="object 34" descr=""/>
          <p:cNvSpPr txBox="1"/>
          <p:nvPr/>
        </p:nvSpPr>
        <p:spPr>
          <a:xfrm>
            <a:off x="6883400" y="1223168"/>
            <a:ext cx="3585210" cy="28003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650" spc="-80" b="1">
                <a:solidFill>
                  <a:srgbClr val="055E45"/>
                </a:solidFill>
                <a:latin typeface="Roboto"/>
                <a:cs typeface="Roboto"/>
              </a:rPr>
              <a:t>Importance</a:t>
            </a:r>
            <a:r>
              <a:rPr dirty="0" sz="1650" spc="-25" b="1">
                <a:solidFill>
                  <a:srgbClr val="055E45"/>
                </a:solidFill>
                <a:latin typeface="Roboto"/>
                <a:cs typeface="Roboto"/>
              </a:rPr>
              <a:t> </a:t>
            </a:r>
            <a:r>
              <a:rPr dirty="0" sz="1650" spc="-80" b="1">
                <a:solidFill>
                  <a:srgbClr val="055E45"/>
                </a:solidFill>
                <a:latin typeface="Roboto"/>
                <a:cs typeface="Roboto"/>
              </a:rPr>
              <a:t>of</a:t>
            </a:r>
            <a:r>
              <a:rPr dirty="0" sz="1650" spc="-25" b="1">
                <a:solidFill>
                  <a:srgbClr val="055E45"/>
                </a:solidFill>
                <a:latin typeface="Roboto"/>
                <a:cs typeface="Roboto"/>
              </a:rPr>
              <a:t> </a:t>
            </a:r>
            <a:r>
              <a:rPr dirty="0" sz="1650" spc="-75" b="1">
                <a:solidFill>
                  <a:srgbClr val="055E45"/>
                </a:solidFill>
                <a:latin typeface="Roboto"/>
                <a:cs typeface="Roboto"/>
              </a:rPr>
              <a:t>Real-</a:t>
            </a:r>
            <a:r>
              <a:rPr dirty="0" sz="1650" spc="-100" b="1">
                <a:solidFill>
                  <a:srgbClr val="055E45"/>
                </a:solidFill>
                <a:latin typeface="Roboto"/>
                <a:cs typeface="Roboto"/>
              </a:rPr>
              <a:t>Time</a:t>
            </a:r>
            <a:r>
              <a:rPr dirty="0" sz="1650" spc="-25" b="1">
                <a:solidFill>
                  <a:srgbClr val="055E45"/>
                </a:solidFill>
                <a:latin typeface="Roboto"/>
                <a:cs typeface="Roboto"/>
              </a:rPr>
              <a:t> </a:t>
            </a:r>
            <a:r>
              <a:rPr dirty="0" sz="1650" spc="-70" b="1">
                <a:solidFill>
                  <a:srgbClr val="055E45"/>
                </a:solidFill>
                <a:latin typeface="Roboto"/>
                <a:cs typeface="Roboto"/>
              </a:rPr>
              <a:t>Reconfiguration</a:t>
            </a:r>
            <a:endParaRPr sz="1650">
              <a:latin typeface="Roboto"/>
              <a:cs typeface="Roboto"/>
            </a:endParaRPr>
          </a:p>
        </p:txBody>
      </p:sp>
      <p:sp>
        <p:nvSpPr>
          <p:cNvPr id="35" name="object 35" descr=""/>
          <p:cNvSpPr txBox="1"/>
          <p:nvPr/>
        </p:nvSpPr>
        <p:spPr>
          <a:xfrm>
            <a:off x="6769100" y="1627504"/>
            <a:ext cx="3416935" cy="22923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300" spc="-70">
                <a:solidFill>
                  <a:srgbClr val="374050"/>
                </a:solidFill>
                <a:latin typeface="Roboto"/>
                <a:cs typeface="Roboto"/>
              </a:rPr>
              <a:t>Power</a:t>
            </a:r>
            <a:r>
              <a:rPr dirty="0" sz="1300" spc="-1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55">
                <a:solidFill>
                  <a:srgbClr val="374050"/>
                </a:solidFill>
                <a:latin typeface="Roboto"/>
                <a:cs typeface="Roboto"/>
              </a:rPr>
              <a:t>loss</a:t>
            </a:r>
            <a:r>
              <a:rPr dirty="0" sz="1300" spc="-1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50">
                <a:solidFill>
                  <a:srgbClr val="374050"/>
                </a:solidFill>
                <a:latin typeface="Roboto"/>
                <a:cs typeface="Roboto"/>
              </a:rPr>
              <a:t>reduction</a:t>
            </a:r>
            <a:r>
              <a:rPr dirty="0" sz="1300" spc="-1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60">
                <a:solidFill>
                  <a:srgbClr val="374050"/>
                </a:solidFill>
                <a:latin typeface="Roboto"/>
                <a:cs typeface="Roboto"/>
              </a:rPr>
              <a:t>(30%</a:t>
            </a:r>
            <a:r>
              <a:rPr dirty="0" sz="1300" spc="-1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60">
                <a:solidFill>
                  <a:srgbClr val="374050"/>
                </a:solidFill>
                <a:latin typeface="Roboto"/>
                <a:cs typeface="Roboto"/>
              </a:rPr>
              <a:t>improvement</a:t>
            </a:r>
            <a:r>
              <a:rPr dirty="0" sz="1300" spc="-1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25">
                <a:solidFill>
                  <a:srgbClr val="374050"/>
                </a:solidFill>
                <a:latin typeface="Roboto"/>
                <a:cs typeface="Roboto"/>
              </a:rPr>
              <a:t>possible)</a:t>
            </a:r>
            <a:endParaRPr sz="1300">
              <a:latin typeface="Roboto"/>
              <a:cs typeface="Roboto"/>
            </a:endParaRPr>
          </a:p>
        </p:txBody>
      </p:sp>
      <p:sp>
        <p:nvSpPr>
          <p:cNvPr id="36" name="object 36" descr=""/>
          <p:cNvSpPr txBox="1"/>
          <p:nvPr/>
        </p:nvSpPr>
        <p:spPr>
          <a:xfrm>
            <a:off x="6769100" y="1932304"/>
            <a:ext cx="3829685" cy="22923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300" spc="-55">
                <a:solidFill>
                  <a:srgbClr val="374050"/>
                </a:solidFill>
                <a:latin typeface="Roboto"/>
                <a:cs typeface="Roboto"/>
              </a:rPr>
              <a:t>Voltage</a:t>
            </a:r>
            <a:r>
              <a:rPr dirty="0" sz="1300" spc="-1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50">
                <a:solidFill>
                  <a:srgbClr val="374050"/>
                </a:solidFill>
                <a:latin typeface="Roboto"/>
                <a:cs typeface="Roboto"/>
              </a:rPr>
              <a:t>profile</a:t>
            </a:r>
            <a:r>
              <a:rPr dirty="0" sz="1300" spc="-1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60">
                <a:solidFill>
                  <a:srgbClr val="374050"/>
                </a:solidFill>
                <a:latin typeface="Roboto"/>
                <a:cs typeface="Roboto"/>
              </a:rPr>
              <a:t>enhancement</a:t>
            </a:r>
            <a:r>
              <a:rPr dirty="0" sz="1300" spc="-1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50">
                <a:solidFill>
                  <a:srgbClr val="374050"/>
                </a:solidFill>
                <a:latin typeface="Roboto"/>
                <a:cs typeface="Roboto"/>
              </a:rPr>
              <a:t>(deviation</a:t>
            </a:r>
            <a:r>
              <a:rPr dirty="0" sz="1300" spc="-1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55">
                <a:solidFill>
                  <a:srgbClr val="374050"/>
                </a:solidFill>
                <a:latin typeface="Roboto"/>
                <a:cs typeface="Roboto"/>
              </a:rPr>
              <a:t>reduced</a:t>
            </a:r>
            <a:r>
              <a:rPr dirty="0" sz="1300" spc="-1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55">
                <a:solidFill>
                  <a:srgbClr val="374050"/>
                </a:solidFill>
                <a:latin typeface="Roboto"/>
                <a:cs typeface="Roboto"/>
              </a:rPr>
              <a:t>by</a:t>
            </a:r>
            <a:r>
              <a:rPr dirty="0" sz="1300" spc="-1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20">
                <a:solidFill>
                  <a:srgbClr val="374050"/>
                </a:solidFill>
                <a:latin typeface="Roboto"/>
                <a:cs typeface="Roboto"/>
              </a:rPr>
              <a:t>50%)</a:t>
            </a:r>
            <a:endParaRPr sz="1300">
              <a:latin typeface="Roboto"/>
              <a:cs typeface="Roboto"/>
            </a:endParaRPr>
          </a:p>
        </p:txBody>
      </p:sp>
      <p:sp>
        <p:nvSpPr>
          <p:cNvPr id="37" name="object 37" descr=""/>
          <p:cNvSpPr txBox="1"/>
          <p:nvPr/>
        </p:nvSpPr>
        <p:spPr>
          <a:xfrm>
            <a:off x="6769100" y="2237104"/>
            <a:ext cx="3334385" cy="22923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300" spc="-65">
                <a:solidFill>
                  <a:srgbClr val="374050"/>
                </a:solidFill>
                <a:latin typeface="Roboto"/>
                <a:cs typeface="Roboto"/>
              </a:rPr>
              <a:t>Accommodation</a:t>
            </a:r>
            <a:r>
              <a:rPr dirty="0" sz="1300" spc="-1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50">
                <a:solidFill>
                  <a:srgbClr val="374050"/>
                </a:solidFill>
                <a:latin typeface="Roboto"/>
                <a:cs typeface="Roboto"/>
              </a:rPr>
              <a:t>of</a:t>
            </a:r>
            <a:r>
              <a:rPr dirty="0" sz="1300" spc="-1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45">
                <a:solidFill>
                  <a:srgbClr val="374050"/>
                </a:solidFill>
                <a:latin typeface="Roboto"/>
                <a:cs typeface="Roboto"/>
              </a:rPr>
              <a:t>higher</a:t>
            </a:r>
            <a:r>
              <a:rPr dirty="0" sz="1300" spc="-1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55">
                <a:solidFill>
                  <a:srgbClr val="374050"/>
                </a:solidFill>
                <a:latin typeface="Roboto"/>
                <a:cs typeface="Roboto"/>
              </a:rPr>
              <a:t>renewable</a:t>
            </a:r>
            <a:r>
              <a:rPr dirty="0" sz="1300" spc="-1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35">
                <a:solidFill>
                  <a:srgbClr val="374050"/>
                </a:solidFill>
                <a:latin typeface="Roboto"/>
                <a:cs typeface="Roboto"/>
              </a:rPr>
              <a:t>penetration</a:t>
            </a:r>
            <a:endParaRPr sz="1300">
              <a:latin typeface="Roboto"/>
              <a:cs typeface="Roboto"/>
            </a:endParaRPr>
          </a:p>
        </p:txBody>
      </p:sp>
      <p:sp>
        <p:nvSpPr>
          <p:cNvPr id="38" name="object 38" descr=""/>
          <p:cNvSpPr txBox="1"/>
          <p:nvPr/>
        </p:nvSpPr>
        <p:spPr>
          <a:xfrm>
            <a:off x="6769100" y="2541904"/>
            <a:ext cx="3044825" cy="22923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300" spc="-45">
                <a:solidFill>
                  <a:srgbClr val="374050"/>
                </a:solidFill>
                <a:latin typeface="Roboto"/>
                <a:cs typeface="Roboto"/>
              </a:rPr>
              <a:t>Adaptability</a:t>
            </a:r>
            <a:r>
              <a:rPr dirty="0" sz="1300" spc="-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55">
                <a:solidFill>
                  <a:srgbClr val="374050"/>
                </a:solidFill>
                <a:latin typeface="Roboto"/>
                <a:cs typeface="Roboto"/>
              </a:rPr>
              <a:t>to</a:t>
            </a:r>
            <a:r>
              <a:rPr dirty="0" sz="1300" spc="-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55">
                <a:solidFill>
                  <a:srgbClr val="374050"/>
                </a:solidFill>
                <a:latin typeface="Roboto"/>
                <a:cs typeface="Roboto"/>
              </a:rPr>
              <a:t>dynamic</a:t>
            </a:r>
            <a:r>
              <a:rPr dirty="0" sz="130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60">
                <a:solidFill>
                  <a:srgbClr val="374050"/>
                </a:solidFill>
                <a:latin typeface="Roboto"/>
                <a:cs typeface="Roboto"/>
              </a:rPr>
              <a:t>operating</a:t>
            </a:r>
            <a:r>
              <a:rPr dirty="0" sz="1300" spc="-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40">
                <a:solidFill>
                  <a:srgbClr val="374050"/>
                </a:solidFill>
                <a:latin typeface="Roboto"/>
                <a:cs typeface="Roboto"/>
              </a:rPr>
              <a:t>conditions</a:t>
            </a:r>
            <a:endParaRPr sz="1300">
              <a:latin typeface="Roboto"/>
              <a:cs typeface="Roboto"/>
            </a:endParaRPr>
          </a:p>
        </p:txBody>
      </p:sp>
      <p:sp>
        <p:nvSpPr>
          <p:cNvPr id="39" name="object 39" descr=""/>
          <p:cNvSpPr txBox="1"/>
          <p:nvPr/>
        </p:nvSpPr>
        <p:spPr>
          <a:xfrm>
            <a:off x="1130300" y="3128168"/>
            <a:ext cx="3011170" cy="28003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650" spc="-75" b="1">
                <a:solidFill>
                  <a:srgbClr val="991B1B"/>
                </a:solidFill>
                <a:latin typeface="Roboto"/>
                <a:cs typeface="Roboto"/>
              </a:rPr>
              <a:t>Limitations</a:t>
            </a:r>
            <a:r>
              <a:rPr dirty="0" sz="1650" spc="-15" b="1">
                <a:solidFill>
                  <a:srgbClr val="991B1B"/>
                </a:solidFill>
                <a:latin typeface="Roboto"/>
                <a:cs typeface="Roboto"/>
              </a:rPr>
              <a:t> </a:t>
            </a:r>
            <a:r>
              <a:rPr dirty="0" sz="1650" spc="-80" b="1">
                <a:solidFill>
                  <a:srgbClr val="991B1B"/>
                </a:solidFill>
                <a:latin typeface="Roboto"/>
                <a:cs typeface="Roboto"/>
              </a:rPr>
              <a:t>of</a:t>
            </a:r>
            <a:r>
              <a:rPr dirty="0" sz="1650" spc="-10" b="1">
                <a:solidFill>
                  <a:srgbClr val="991B1B"/>
                </a:solidFill>
                <a:latin typeface="Roboto"/>
                <a:cs typeface="Roboto"/>
              </a:rPr>
              <a:t> </a:t>
            </a:r>
            <a:r>
              <a:rPr dirty="0" sz="1650" spc="-80" b="1">
                <a:solidFill>
                  <a:srgbClr val="991B1B"/>
                </a:solidFill>
                <a:latin typeface="Roboto"/>
                <a:cs typeface="Roboto"/>
              </a:rPr>
              <a:t>Existing</a:t>
            </a:r>
            <a:r>
              <a:rPr dirty="0" sz="1650" spc="-15" b="1">
                <a:solidFill>
                  <a:srgbClr val="991B1B"/>
                </a:solidFill>
                <a:latin typeface="Roboto"/>
                <a:cs typeface="Roboto"/>
              </a:rPr>
              <a:t> </a:t>
            </a:r>
            <a:r>
              <a:rPr dirty="0" sz="1650" spc="-80" b="1">
                <a:solidFill>
                  <a:srgbClr val="991B1B"/>
                </a:solidFill>
                <a:latin typeface="Roboto"/>
                <a:cs typeface="Roboto"/>
              </a:rPr>
              <a:t>Approaches</a:t>
            </a:r>
            <a:endParaRPr sz="1650">
              <a:latin typeface="Roboto"/>
              <a:cs typeface="Roboto"/>
            </a:endParaRPr>
          </a:p>
        </p:txBody>
      </p:sp>
      <p:sp>
        <p:nvSpPr>
          <p:cNvPr id="40" name="object 40" descr=""/>
          <p:cNvSpPr txBox="1"/>
          <p:nvPr/>
        </p:nvSpPr>
        <p:spPr>
          <a:xfrm>
            <a:off x="1016000" y="3532504"/>
            <a:ext cx="3756025" cy="22923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300" spc="-55">
                <a:solidFill>
                  <a:srgbClr val="374050"/>
                </a:solidFill>
                <a:latin typeface="Roboto"/>
                <a:cs typeface="Roboto"/>
              </a:rPr>
              <a:t>Computational</a:t>
            </a:r>
            <a:r>
              <a:rPr dirty="0" sz="1300" spc="-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50">
                <a:solidFill>
                  <a:srgbClr val="374050"/>
                </a:solidFill>
                <a:latin typeface="Roboto"/>
                <a:cs typeface="Roboto"/>
              </a:rPr>
              <a:t>complexity</a:t>
            </a:r>
            <a:r>
              <a:rPr dirty="0" sz="1300" spc="-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50">
                <a:solidFill>
                  <a:srgbClr val="374050"/>
                </a:solidFill>
                <a:latin typeface="Roboto"/>
                <a:cs typeface="Roboto"/>
              </a:rPr>
              <a:t>of</a:t>
            </a:r>
            <a:r>
              <a:rPr dirty="0" sz="1300" spc="-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65">
                <a:solidFill>
                  <a:srgbClr val="374050"/>
                </a:solidFill>
                <a:latin typeface="Roboto"/>
                <a:cs typeface="Roboto"/>
              </a:rPr>
              <a:t>MILP/MINLP</a:t>
            </a:r>
            <a:r>
              <a:rPr dirty="0" sz="1300" spc="-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40">
                <a:solidFill>
                  <a:srgbClr val="374050"/>
                </a:solidFill>
                <a:latin typeface="Roboto"/>
                <a:cs typeface="Roboto"/>
              </a:rPr>
              <a:t>for</a:t>
            </a:r>
            <a:r>
              <a:rPr dirty="0" sz="1300" spc="-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50">
                <a:solidFill>
                  <a:srgbClr val="374050"/>
                </a:solidFill>
                <a:latin typeface="Roboto"/>
                <a:cs typeface="Roboto"/>
              </a:rPr>
              <a:t>real-</a:t>
            </a:r>
            <a:r>
              <a:rPr dirty="0" sz="1300" spc="-20">
                <a:solidFill>
                  <a:srgbClr val="374050"/>
                </a:solidFill>
                <a:latin typeface="Roboto"/>
                <a:cs typeface="Roboto"/>
              </a:rPr>
              <a:t>time</a:t>
            </a:r>
            <a:endParaRPr sz="1300">
              <a:latin typeface="Roboto"/>
              <a:cs typeface="Roboto"/>
            </a:endParaRPr>
          </a:p>
        </p:txBody>
      </p:sp>
      <p:sp>
        <p:nvSpPr>
          <p:cNvPr id="41" name="object 41" descr=""/>
          <p:cNvSpPr txBox="1"/>
          <p:nvPr/>
        </p:nvSpPr>
        <p:spPr>
          <a:xfrm>
            <a:off x="1016000" y="3837304"/>
            <a:ext cx="2733040" cy="22923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300" spc="-50">
                <a:solidFill>
                  <a:srgbClr val="374050"/>
                </a:solidFill>
                <a:latin typeface="Roboto"/>
                <a:cs typeface="Roboto"/>
              </a:rPr>
              <a:t>Heuristics</a:t>
            </a:r>
            <a:r>
              <a:rPr dirty="0" sz="1300" spc="-1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70">
                <a:solidFill>
                  <a:srgbClr val="374050"/>
                </a:solidFill>
                <a:latin typeface="Roboto"/>
                <a:cs typeface="Roboto"/>
              </a:rPr>
              <a:t>may</a:t>
            </a:r>
            <a:r>
              <a:rPr dirty="0" sz="1300" spc="-1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45">
                <a:solidFill>
                  <a:srgbClr val="374050"/>
                </a:solidFill>
                <a:latin typeface="Roboto"/>
                <a:cs typeface="Roboto"/>
              </a:rPr>
              <a:t>get</a:t>
            </a:r>
            <a:r>
              <a:rPr dirty="0" sz="1300" spc="-1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60">
                <a:solidFill>
                  <a:srgbClr val="374050"/>
                </a:solidFill>
                <a:latin typeface="Roboto"/>
                <a:cs typeface="Roboto"/>
              </a:rPr>
              <a:t>stuck</a:t>
            </a:r>
            <a:r>
              <a:rPr dirty="0" sz="1300" spc="-1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30">
                <a:solidFill>
                  <a:srgbClr val="374050"/>
                </a:solidFill>
                <a:latin typeface="Roboto"/>
                <a:cs typeface="Roboto"/>
              </a:rPr>
              <a:t>in</a:t>
            </a:r>
            <a:r>
              <a:rPr dirty="0" sz="1300" spc="-1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50">
                <a:solidFill>
                  <a:srgbClr val="374050"/>
                </a:solidFill>
                <a:latin typeface="Roboto"/>
                <a:cs typeface="Roboto"/>
              </a:rPr>
              <a:t>local</a:t>
            </a:r>
            <a:r>
              <a:rPr dirty="0" sz="1300" spc="-1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35">
                <a:solidFill>
                  <a:srgbClr val="374050"/>
                </a:solidFill>
                <a:latin typeface="Roboto"/>
                <a:cs typeface="Roboto"/>
              </a:rPr>
              <a:t>optima</a:t>
            </a:r>
            <a:endParaRPr sz="1300">
              <a:latin typeface="Roboto"/>
              <a:cs typeface="Roboto"/>
            </a:endParaRPr>
          </a:p>
        </p:txBody>
      </p:sp>
      <p:sp>
        <p:nvSpPr>
          <p:cNvPr id="42" name="object 42" descr=""/>
          <p:cNvSpPr txBox="1"/>
          <p:nvPr/>
        </p:nvSpPr>
        <p:spPr>
          <a:xfrm>
            <a:off x="1016000" y="4142104"/>
            <a:ext cx="3381375" cy="22923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300" spc="-55">
                <a:solidFill>
                  <a:srgbClr val="374050"/>
                </a:solidFill>
                <a:latin typeface="Roboto"/>
                <a:cs typeface="Roboto"/>
              </a:rPr>
              <a:t>Traditional</a:t>
            </a:r>
            <a:r>
              <a:rPr dirty="0" sz="1300" spc="-2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60">
                <a:solidFill>
                  <a:srgbClr val="374050"/>
                </a:solidFill>
                <a:latin typeface="Roboto"/>
                <a:cs typeface="Roboto"/>
              </a:rPr>
              <a:t>methods</a:t>
            </a:r>
            <a:r>
              <a:rPr dirty="0" sz="1300" spc="-1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55">
                <a:solidFill>
                  <a:srgbClr val="374050"/>
                </a:solidFill>
                <a:latin typeface="Roboto"/>
                <a:cs typeface="Roboto"/>
              </a:rPr>
              <a:t>designed</a:t>
            </a:r>
            <a:r>
              <a:rPr dirty="0" sz="1300" spc="-1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40">
                <a:solidFill>
                  <a:srgbClr val="374050"/>
                </a:solidFill>
                <a:latin typeface="Roboto"/>
                <a:cs typeface="Roboto"/>
              </a:rPr>
              <a:t>for</a:t>
            </a:r>
            <a:r>
              <a:rPr dirty="0" sz="1300" spc="-1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40">
                <a:solidFill>
                  <a:srgbClr val="374050"/>
                </a:solidFill>
                <a:latin typeface="Roboto"/>
                <a:cs typeface="Roboto"/>
              </a:rPr>
              <a:t>static</a:t>
            </a:r>
            <a:r>
              <a:rPr dirty="0" sz="1300" spc="-2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40">
                <a:solidFill>
                  <a:srgbClr val="374050"/>
                </a:solidFill>
                <a:latin typeface="Roboto"/>
                <a:cs typeface="Roboto"/>
              </a:rPr>
              <a:t>scenarios</a:t>
            </a:r>
            <a:endParaRPr sz="1300">
              <a:latin typeface="Roboto"/>
              <a:cs typeface="Roboto"/>
            </a:endParaRPr>
          </a:p>
        </p:txBody>
      </p:sp>
      <p:sp>
        <p:nvSpPr>
          <p:cNvPr id="43" name="object 43" descr=""/>
          <p:cNvSpPr txBox="1"/>
          <p:nvPr/>
        </p:nvSpPr>
        <p:spPr>
          <a:xfrm>
            <a:off x="1016000" y="4446904"/>
            <a:ext cx="3415665" cy="22923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300" spc="-65">
                <a:solidFill>
                  <a:srgbClr val="374050"/>
                </a:solidFill>
                <a:latin typeface="Roboto"/>
                <a:cs typeface="Roboto"/>
              </a:rPr>
              <a:t>Poor</a:t>
            </a:r>
            <a:r>
              <a:rPr dirty="0" sz="1300" spc="-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50">
                <a:solidFill>
                  <a:srgbClr val="374050"/>
                </a:solidFill>
                <a:latin typeface="Roboto"/>
                <a:cs typeface="Roboto"/>
              </a:rPr>
              <a:t>handling</a:t>
            </a:r>
            <a:r>
              <a:rPr dirty="0" sz="130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50">
                <a:solidFill>
                  <a:srgbClr val="374050"/>
                </a:solidFill>
                <a:latin typeface="Roboto"/>
                <a:cs typeface="Roboto"/>
              </a:rPr>
              <a:t>of</a:t>
            </a:r>
            <a:r>
              <a:rPr dirty="0" sz="1300" spc="-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55">
                <a:solidFill>
                  <a:srgbClr val="374050"/>
                </a:solidFill>
                <a:latin typeface="Roboto"/>
                <a:cs typeface="Roboto"/>
              </a:rPr>
              <a:t>unbalanced</a:t>
            </a:r>
            <a:r>
              <a:rPr dirty="0" sz="130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50">
                <a:solidFill>
                  <a:srgbClr val="374050"/>
                </a:solidFill>
                <a:latin typeface="Roboto"/>
                <a:cs typeface="Roboto"/>
              </a:rPr>
              <a:t>three-</a:t>
            </a:r>
            <a:r>
              <a:rPr dirty="0" sz="1300" spc="-65">
                <a:solidFill>
                  <a:srgbClr val="374050"/>
                </a:solidFill>
                <a:latin typeface="Roboto"/>
                <a:cs typeface="Roboto"/>
              </a:rPr>
              <a:t>phase</a:t>
            </a:r>
            <a:r>
              <a:rPr dirty="0" sz="130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40">
                <a:solidFill>
                  <a:srgbClr val="374050"/>
                </a:solidFill>
                <a:latin typeface="Roboto"/>
                <a:cs typeface="Roboto"/>
              </a:rPr>
              <a:t>systems</a:t>
            </a:r>
            <a:endParaRPr sz="1300">
              <a:latin typeface="Roboto"/>
              <a:cs typeface="Roboto"/>
            </a:endParaRPr>
          </a:p>
        </p:txBody>
      </p:sp>
      <p:sp>
        <p:nvSpPr>
          <p:cNvPr id="44" name="object 44" descr=""/>
          <p:cNvSpPr txBox="1"/>
          <p:nvPr/>
        </p:nvSpPr>
        <p:spPr>
          <a:xfrm>
            <a:off x="6845300" y="3128168"/>
            <a:ext cx="2777490" cy="28003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650" spc="-90" b="1">
                <a:solidFill>
                  <a:srgbClr val="5B20B5"/>
                </a:solidFill>
                <a:latin typeface="Roboto"/>
                <a:cs typeface="Roboto"/>
              </a:rPr>
              <a:t>Our</a:t>
            </a:r>
            <a:r>
              <a:rPr dirty="0" sz="1650" spc="-25" b="1">
                <a:solidFill>
                  <a:srgbClr val="5B20B5"/>
                </a:solidFill>
                <a:latin typeface="Roboto"/>
                <a:cs typeface="Roboto"/>
              </a:rPr>
              <a:t> </a:t>
            </a:r>
            <a:r>
              <a:rPr dirty="0" sz="1650" spc="-85" b="1">
                <a:solidFill>
                  <a:srgbClr val="5B20B5"/>
                </a:solidFill>
                <a:latin typeface="Roboto"/>
                <a:cs typeface="Roboto"/>
              </a:rPr>
              <a:t>Hybrid</a:t>
            </a:r>
            <a:r>
              <a:rPr dirty="0" sz="1650" spc="-20" b="1">
                <a:solidFill>
                  <a:srgbClr val="5B20B5"/>
                </a:solidFill>
                <a:latin typeface="Roboto"/>
                <a:cs typeface="Roboto"/>
              </a:rPr>
              <a:t> </a:t>
            </a:r>
            <a:r>
              <a:rPr dirty="0" sz="1650" spc="-95" b="1">
                <a:solidFill>
                  <a:srgbClr val="5B20B5"/>
                </a:solidFill>
                <a:latin typeface="Roboto"/>
                <a:cs typeface="Roboto"/>
              </a:rPr>
              <a:t>Approach</a:t>
            </a:r>
            <a:r>
              <a:rPr dirty="0" sz="1650" spc="-25" b="1">
                <a:solidFill>
                  <a:srgbClr val="5B20B5"/>
                </a:solidFill>
                <a:latin typeface="Roboto"/>
                <a:cs typeface="Roboto"/>
              </a:rPr>
              <a:t> </a:t>
            </a:r>
            <a:r>
              <a:rPr dirty="0" sz="1650" spc="-65" b="1">
                <a:solidFill>
                  <a:srgbClr val="5B20B5"/>
                </a:solidFill>
                <a:latin typeface="Roboto"/>
                <a:cs typeface="Roboto"/>
              </a:rPr>
              <a:t>Motivation</a:t>
            </a:r>
            <a:endParaRPr sz="1650">
              <a:latin typeface="Roboto"/>
              <a:cs typeface="Roboto"/>
            </a:endParaRPr>
          </a:p>
        </p:txBody>
      </p:sp>
      <p:sp>
        <p:nvSpPr>
          <p:cNvPr id="45" name="object 45" descr=""/>
          <p:cNvSpPr txBox="1"/>
          <p:nvPr/>
        </p:nvSpPr>
        <p:spPr>
          <a:xfrm>
            <a:off x="6769100" y="3532504"/>
            <a:ext cx="3334385" cy="22923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300" spc="-50">
                <a:solidFill>
                  <a:srgbClr val="374050"/>
                </a:solidFill>
                <a:latin typeface="Roboto"/>
                <a:cs typeface="Roboto"/>
              </a:rPr>
              <a:t>Multi-</a:t>
            </a:r>
            <a:r>
              <a:rPr dirty="0" sz="1300" spc="-60">
                <a:solidFill>
                  <a:srgbClr val="374050"/>
                </a:solidFill>
                <a:latin typeface="Roboto"/>
                <a:cs typeface="Roboto"/>
              </a:rPr>
              <a:t>agent</a:t>
            </a:r>
            <a:r>
              <a:rPr dirty="0" sz="1300" spc="1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70">
                <a:solidFill>
                  <a:srgbClr val="374050"/>
                </a:solidFill>
                <a:latin typeface="Roboto"/>
                <a:cs typeface="Roboto"/>
              </a:rPr>
              <a:t>RL</a:t>
            </a:r>
            <a:r>
              <a:rPr dirty="0" sz="1300" spc="1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40">
                <a:solidFill>
                  <a:srgbClr val="374050"/>
                </a:solidFill>
                <a:latin typeface="Roboto"/>
                <a:cs typeface="Roboto"/>
              </a:rPr>
              <a:t>for</a:t>
            </a:r>
            <a:r>
              <a:rPr dirty="0" sz="1300" spc="1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45">
                <a:solidFill>
                  <a:srgbClr val="374050"/>
                </a:solidFill>
                <a:latin typeface="Roboto"/>
                <a:cs typeface="Roboto"/>
              </a:rPr>
              <a:t>fast,</a:t>
            </a:r>
            <a:r>
              <a:rPr dirty="0" sz="1300" spc="1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50">
                <a:solidFill>
                  <a:srgbClr val="374050"/>
                </a:solidFill>
                <a:latin typeface="Roboto"/>
                <a:cs typeface="Roboto"/>
              </a:rPr>
              <a:t>adaptive</a:t>
            </a:r>
            <a:r>
              <a:rPr dirty="0" sz="1300" spc="1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55">
                <a:solidFill>
                  <a:srgbClr val="374050"/>
                </a:solidFill>
                <a:latin typeface="Roboto"/>
                <a:cs typeface="Roboto"/>
              </a:rPr>
              <a:t>decision-</a:t>
            </a:r>
            <a:r>
              <a:rPr dirty="0" sz="1300" spc="-40">
                <a:solidFill>
                  <a:srgbClr val="374050"/>
                </a:solidFill>
                <a:latin typeface="Roboto"/>
                <a:cs typeface="Roboto"/>
              </a:rPr>
              <a:t>making</a:t>
            </a:r>
            <a:endParaRPr sz="1300">
              <a:latin typeface="Roboto"/>
              <a:cs typeface="Roboto"/>
            </a:endParaRPr>
          </a:p>
        </p:txBody>
      </p:sp>
      <p:sp>
        <p:nvSpPr>
          <p:cNvPr id="46" name="object 46" descr=""/>
          <p:cNvSpPr txBox="1"/>
          <p:nvPr/>
        </p:nvSpPr>
        <p:spPr>
          <a:xfrm>
            <a:off x="6769100" y="3837304"/>
            <a:ext cx="3088640" cy="22923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300" spc="-50">
                <a:solidFill>
                  <a:srgbClr val="374050"/>
                </a:solidFill>
                <a:latin typeface="Roboto"/>
                <a:cs typeface="Roboto"/>
              </a:rPr>
              <a:t>Metaheuristic</a:t>
            </a:r>
            <a:r>
              <a:rPr dirty="0" sz="1300" spc="-1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55">
                <a:solidFill>
                  <a:srgbClr val="374050"/>
                </a:solidFill>
                <a:latin typeface="Roboto"/>
                <a:cs typeface="Roboto"/>
              </a:rPr>
              <a:t>fine-</a:t>
            </a:r>
            <a:r>
              <a:rPr dirty="0" sz="1300" spc="-45">
                <a:solidFill>
                  <a:srgbClr val="374050"/>
                </a:solidFill>
                <a:latin typeface="Roboto"/>
                <a:cs typeface="Roboto"/>
              </a:rPr>
              <a:t>tuning</a:t>
            </a:r>
            <a:r>
              <a:rPr dirty="0" sz="1300" spc="-1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55">
                <a:solidFill>
                  <a:srgbClr val="374050"/>
                </a:solidFill>
                <a:latin typeface="Roboto"/>
                <a:cs typeface="Roboto"/>
              </a:rPr>
              <a:t>to</a:t>
            </a:r>
            <a:r>
              <a:rPr dirty="0" sz="1300" spc="-1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55">
                <a:solidFill>
                  <a:srgbClr val="374050"/>
                </a:solidFill>
                <a:latin typeface="Roboto"/>
                <a:cs typeface="Roboto"/>
              </a:rPr>
              <a:t>ensure</a:t>
            </a:r>
            <a:r>
              <a:rPr dirty="0" sz="1300" spc="-1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35">
                <a:solidFill>
                  <a:srgbClr val="374050"/>
                </a:solidFill>
                <a:latin typeface="Roboto"/>
                <a:cs typeface="Roboto"/>
              </a:rPr>
              <a:t>optimality</a:t>
            </a:r>
            <a:endParaRPr sz="1300">
              <a:latin typeface="Roboto"/>
              <a:cs typeface="Roboto"/>
            </a:endParaRPr>
          </a:p>
        </p:txBody>
      </p:sp>
      <p:sp>
        <p:nvSpPr>
          <p:cNvPr id="47" name="object 47" descr=""/>
          <p:cNvSpPr txBox="1"/>
          <p:nvPr/>
        </p:nvSpPr>
        <p:spPr>
          <a:xfrm>
            <a:off x="6769100" y="4142104"/>
            <a:ext cx="2767330" cy="22923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300" spc="-45">
                <a:solidFill>
                  <a:srgbClr val="374050"/>
                </a:solidFill>
                <a:latin typeface="Roboto"/>
                <a:cs typeface="Roboto"/>
              </a:rPr>
              <a:t>Distributed</a:t>
            </a:r>
            <a:r>
              <a:rPr dirty="0" sz="1300" spc="-2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50">
                <a:solidFill>
                  <a:srgbClr val="374050"/>
                </a:solidFill>
                <a:latin typeface="Roboto"/>
                <a:cs typeface="Roboto"/>
              </a:rPr>
              <a:t>decision</a:t>
            </a:r>
            <a:r>
              <a:rPr dirty="0" sz="1300" spc="-1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65">
                <a:solidFill>
                  <a:srgbClr val="374050"/>
                </a:solidFill>
                <a:latin typeface="Roboto"/>
                <a:cs typeface="Roboto"/>
              </a:rPr>
              <a:t>space</a:t>
            </a:r>
            <a:r>
              <a:rPr dirty="0" sz="1300" spc="-1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40">
                <a:solidFill>
                  <a:srgbClr val="374050"/>
                </a:solidFill>
                <a:latin typeface="Roboto"/>
                <a:cs typeface="Roboto"/>
              </a:rPr>
              <a:t>for</a:t>
            </a:r>
            <a:r>
              <a:rPr dirty="0" sz="1300" spc="-1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35">
                <a:solidFill>
                  <a:srgbClr val="374050"/>
                </a:solidFill>
                <a:latin typeface="Roboto"/>
                <a:cs typeface="Roboto"/>
              </a:rPr>
              <a:t>scalability</a:t>
            </a:r>
            <a:endParaRPr sz="1300">
              <a:latin typeface="Roboto"/>
              <a:cs typeface="Roboto"/>
            </a:endParaRPr>
          </a:p>
        </p:txBody>
      </p:sp>
      <p:sp>
        <p:nvSpPr>
          <p:cNvPr id="48" name="object 48" descr=""/>
          <p:cNvSpPr txBox="1"/>
          <p:nvPr/>
        </p:nvSpPr>
        <p:spPr>
          <a:xfrm>
            <a:off x="6769100" y="4446904"/>
            <a:ext cx="3346450" cy="22923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300" spc="-40">
                <a:solidFill>
                  <a:srgbClr val="374050"/>
                </a:solidFill>
                <a:latin typeface="Roboto"/>
                <a:cs typeface="Roboto"/>
              </a:rPr>
              <a:t>Ability</a:t>
            </a:r>
            <a:r>
              <a:rPr dirty="0" sz="1300" spc="-1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55">
                <a:solidFill>
                  <a:srgbClr val="374050"/>
                </a:solidFill>
                <a:latin typeface="Roboto"/>
                <a:cs typeface="Roboto"/>
              </a:rPr>
              <a:t>to</a:t>
            </a:r>
            <a:r>
              <a:rPr dirty="0" sz="1300" spc="-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50">
                <a:solidFill>
                  <a:srgbClr val="374050"/>
                </a:solidFill>
                <a:latin typeface="Roboto"/>
                <a:cs typeface="Roboto"/>
              </a:rPr>
              <a:t>learn</a:t>
            </a:r>
            <a:r>
              <a:rPr dirty="0" sz="1300" spc="-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65">
                <a:solidFill>
                  <a:srgbClr val="374050"/>
                </a:solidFill>
                <a:latin typeface="Roboto"/>
                <a:cs typeface="Roboto"/>
              </a:rPr>
              <a:t>complex</a:t>
            </a:r>
            <a:r>
              <a:rPr dirty="0" sz="1300" spc="-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50">
                <a:solidFill>
                  <a:srgbClr val="374050"/>
                </a:solidFill>
                <a:latin typeface="Roboto"/>
                <a:cs typeface="Roboto"/>
              </a:rPr>
              <a:t>patterns</a:t>
            </a:r>
            <a:r>
              <a:rPr dirty="0" sz="1300" spc="-1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60">
                <a:solidFill>
                  <a:srgbClr val="374050"/>
                </a:solidFill>
                <a:latin typeface="Roboto"/>
                <a:cs typeface="Roboto"/>
              </a:rPr>
              <a:t>from</a:t>
            </a:r>
            <a:r>
              <a:rPr dirty="0" sz="1300" spc="-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40">
                <a:solidFill>
                  <a:srgbClr val="374050"/>
                </a:solidFill>
                <a:latin typeface="Roboto"/>
                <a:cs typeface="Roboto"/>
              </a:rPr>
              <a:t>experience</a:t>
            </a:r>
            <a:endParaRPr sz="1300">
              <a:latin typeface="Roboto"/>
              <a:cs typeface="Roboto"/>
            </a:endParaRPr>
          </a:p>
        </p:txBody>
      </p:sp>
      <p:sp>
        <p:nvSpPr>
          <p:cNvPr id="49" name="object 49" descr=""/>
          <p:cNvSpPr txBox="1"/>
          <p:nvPr/>
        </p:nvSpPr>
        <p:spPr>
          <a:xfrm>
            <a:off x="3435498" y="5622766"/>
            <a:ext cx="674370" cy="48323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2065" marR="5080" indent="-635">
              <a:lnSpc>
                <a:spcPct val="100000"/>
              </a:lnSpc>
              <a:spcBef>
                <a:spcPts val="100"/>
              </a:spcBef>
            </a:pPr>
            <a:r>
              <a:rPr dirty="0" sz="1000" spc="-10">
                <a:latin typeface="Roboto"/>
                <a:cs typeface="Roboto"/>
              </a:rPr>
              <a:t>Traditional </a:t>
            </a:r>
            <a:r>
              <a:rPr dirty="0" sz="1000" spc="-55">
                <a:latin typeface="Roboto"/>
                <a:cs typeface="Roboto"/>
              </a:rPr>
              <a:t>Optimization</a:t>
            </a:r>
            <a:r>
              <a:rPr dirty="0" sz="1000" spc="500">
                <a:latin typeface="Roboto"/>
                <a:cs typeface="Roboto"/>
              </a:rPr>
              <a:t> </a:t>
            </a:r>
            <a:r>
              <a:rPr dirty="0" sz="1000" spc="-60">
                <a:solidFill>
                  <a:srgbClr val="DB2525"/>
                </a:solidFill>
                <a:latin typeface="Roboto"/>
                <a:cs typeface="Roboto"/>
              </a:rPr>
              <a:t>Slow,</a:t>
            </a:r>
            <a:r>
              <a:rPr dirty="0" sz="1000" spc="-15">
                <a:solidFill>
                  <a:srgbClr val="DB2525"/>
                </a:solidFill>
                <a:latin typeface="Roboto"/>
                <a:cs typeface="Roboto"/>
              </a:rPr>
              <a:t> </a:t>
            </a:r>
            <a:r>
              <a:rPr dirty="0" sz="1000" spc="-10">
                <a:solidFill>
                  <a:srgbClr val="DB2525"/>
                </a:solidFill>
                <a:latin typeface="Roboto"/>
                <a:cs typeface="Roboto"/>
              </a:rPr>
              <a:t>static</a:t>
            </a:r>
            <a:endParaRPr sz="1000">
              <a:latin typeface="Roboto"/>
              <a:cs typeface="Roboto"/>
            </a:endParaRPr>
          </a:p>
        </p:txBody>
      </p:sp>
      <p:sp>
        <p:nvSpPr>
          <p:cNvPr id="50" name="object 50" descr=""/>
          <p:cNvSpPr txBox="1"/>
          <p:nvPr/>
        </p:nvSpPr>
        <p:spPr>
          <a:xfrm>
            <a:off x="4826892" y="5622766"/>
            <a:ext cx="729615" cy="48323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70485" marR="63500">
              <a:lnSpc>
                <a:spcPct val="100000"/>
              </a:lnSpc>
              <a:spcBef>
                <a:spcPts val="100"/>
              </a:spcBef>
            </a:pPr>
            <a:r>
              <a:rPr dirty="0" sz="1000" spc="-50">
                <a:latin typeface="Roboto"/>
                <a:cs typeface="Roboto"/>
              </a:rPr>
              <a:t>Multi-</a:t>
            </a:r>
            <a:r>
              <a:rPr dirty="0" sz="1000" spc="-60">
                <a:latin typeface="Roboto"/>
                <a:cs typeface="Roboto"/>
              </a:rPr>
              <a:t>Agent</a:t>
            </a:r>
            <a:r>
              <a:rPr dirty="0" sz="1000" spc="-25">
                <a:latin typeface="Roboto"/>
                <a:cs typeface="Roboto"/>
              </a:rPr>
              <a:t> DRL</a:t>
            </a:r>
            <a:endParaRPr sz="1000">
              <a:latin typeface="Roboto"/>
              <a:cs typeface="Roboto"/>
            </a:endParaRPr>
          </a:p>
          <a:p>
            <a:pPr algn="ctr">
              <a:lnSpc>
                <a:spcPct val="100000"/>
              </a:lnSpc>
            </a:pPr>
            <a:r>
              <a:rPr dirty="0" sz="1000" spc="-50">
                <a:solidFill>
                  <a:srgbClr val="2562EB"/>
                </a:solidFill>
                <a:latin typeface="Roboto"/>
                <a:cs typeface="Roboto"/>
              </a:rPr>
              <a:t>Fast,</a:t>
            </a:r>
            <a:r>
              <a:rPr dirty="0" sz="1000" spc="-15">
                <a:solidFill>
                  <a:srgbClr val="2562EB"/>
                </a:solidFill>
                <a:latin typeface="Roboto"/>
                <a:cs typeface="Roboto"/>
              </a:rPr>
              <a:t> </a:t>
            </a:r>
            <a:r>
              <a:rPr dirty="0" sz="1000" spc="-35">
                <a:solidFill>
                  <a:srgbClr val="2562EB"/>
                </a:solidFill>
                <a:latin typeface="Roboto"/>
                <a:cs typeface="Roboto"/>
              </a:rPr>
              <a:t>adaptive</a:t>
            </a:r>
            <a:endParaRPr sz="1000">
              <a:latin typeface="Roboto"/>
              <a:cs typeface="Roboto"/>
            </a:endParaRPr>
          </a:p>
        </p:txBody>
      </p:sp>
      <p:sp>
        <p:nvSpPr>
          <p:cNvPr id="51" name="object 51" descr=""/>
          <p:cNvSpPr txBox="1"/>
          <p:nvPr/>
        </p:nvSpPr>
        <p:spPr>
          <a:xfrm>
            <a:off x="6273948" y="5622766"/>
            <a:ext cx="1014094" cy="48323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58115" marR="150495">
              <a:lnSpc>
                <a:spcPct val="100000"/>
              </a:lnSpc>
              <a:spcBef>
                <a:spcPts val="100"/>
              </a:spcBef>
            </a:pPr>
            <a:r>
              <a:rPr dirty="0" sz="1000" spc="-55">
                <a:latin typeface="Roboto"/>
                <a:cs typeface="Roboto"/>
              </a:rPr>
              <a:t>Metaheuristic</a:t>
            </a:r>
            <a:r>
              <a:rPr dirty="0" sz="1000" spc="500">
                <a:latin typeface="Roboto"/>
                <a:cs typeface="Roboto"/>
              </a:rPr>
              <a:t> </a:t>
            </a:r>
            <a:r>
              <a:rPr dirty="0" sz="1000" spc="-50">
                <a:latin typeface="Roboto"/>
                <a:cs typeface="Roboto"/>
              </a:rPr>
              <a:t>Fine-</a:t>
            </a:r>
            <a:r>
              <a:rPr dirty="0" sz="1000" spc="-10">
                <a:latin typeface="Roboto"/>
                <a:cs typeface="Roboto"/>
              </a:rPr>
              <a:t>tuning</a:t>
            </a:r>
            <a:endParaRPr sz="1000">
              <a:latin typeface="Roboto"/>
              <a:cs typeface="Roboto"/>
            </a:endParaRPr>
          </a:p>
          <a:p>
            <a:pPr algn="ctr">
              <a:lnSpc>
                <a:spcPct val="100000"/>
              </a:lnSpc>
            </a:pPr>
            <a:r>
              <a:rPr dirty="0" sz="1000" spc="-55">
                <a:solidFill>
                  <a:srgbClr val="049569"/>
                </a:solidFill>
                <a:latin typeface="Roboto"/>
                <a:cs typeface="Roboto"/>
              </a:rPr>
              <a:t>Global</a:t>
            </a:r>
            <a:r>
              <a:rPr dirty="0" sz="1000" spc="30">
                <a:solidFill>
                  <a:srgbClr val="049569"/>
                </a:solidFill>
                <a:latin typeface="Roboto"/>
                <a:cs typeface="Roboto"/>
              </a:rPr>
              <a:t> </a:t>
            </a:r>
            <a:r>
              <a:rPr dirty="0" sz="1000" spc="-40">
                <a:solidFill>
                  <a:srgbClr val="049569"/>
                </a:solidFill>
                <a:latin typeface="Roboto"/>
                <a:cs typeface="Roboto"/>
              </a:rPr>
              <a:t>optimization</a:t>
            </a:r>
            <a:endParaRPr sz="1000">
              <a:latin typeface="Roboto"/>
              <a:cs typeface="Roboto"/>
            </a:endParaRPr>
          </a:p>
        </p:txBody>
      </p:sp>
      <p:sp>
        <p:nvSpPr>
          <p:cNvPr id="52" name="object 52" descr=""/>
          <p:cNvSpPr txBox="1"/>
          <p:nvPr/>
        </p:nvSpPr>
        <p:spPr>
          <a:xfrm>
            <a:off x="8005266" y="5622766"/>
            <a:ext cx="751840" cy="48323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2700" marR="5080" indent="-635">
              <a:lnSpc>
                <a:spcPct val="100000"/>
              </a:lnSpc>
              <a:spcBef>
                <a:spcPts val="100"/>
              </a:spcBef>
            </a:pPr>
            <a:r>
              <a:rPr dirty="0" sz="1000" spc="-10">
                <a:latin typeface="Roboto"/>
                <a:cs typeface="Roboto"/>
              </a:rPr>
              <a:t>Hybrid </a:t>
            </a:r>
            <a:r>
              <a:rPr dirty="0" sz="1000" spc="-60">
                <a:latin typeface="Roboto"/>
                <a:cs typeface="Roboto"/>
              </a:rPr>
              <a:t>Framework</a:t>
            </a:r>
            <a:r>
              <a:rPr dirty="0" sz="1000" spc="-15">
                <a:latin typeface="Roboto"/>
                <a:cs typeface="Roboto"/>
              </a:rPr>
              <a:t> </a:t>
            </a:r>
            <a:r>
              <a:rPr dirty="0" sz="1000" spc="-85">
                <a:latin typeface="Roboto"/>
                <a:cs typeface="Roboto"/>
              </a:rPr>
              <a:t>32</a:t>
            </a:r>
            <a:r>
              <a:rPr dirty="0" sz="1000" spc="500">
                <a:latin typeface="Roboto"/>
                <a:cs typeface="Roboto"/>
              </a:rPr>
              <a:t> </a:t>
            </a:r>
            <a:r>
              <a:rPr dirty="0" sz="1000" spc="-60">
                <a:solidFill>
                  <a:srgbClr val="7C3AEC"/>
                </a:solidFill>
                <a:latin typeface="Roboto"/>
                <a:cs typeface="Roboto"/>
              </a:rPr>
              <a:t>Best</a:t>
            </a:r>
            <a:r>
              <a:rPr dirty="0" sz="1000" spc="-10">
                <a:solidFill>
                  <a:srgbClr val="7C3AEC"/>
                </a:solidFill>
                <a:latin typeface="Roboto"/>
                <a:cs typeface="Roboto"/>
              </a:rPr>
              <a:t> </a:t>
            </a:r>
            <a:r>
              <a:rPr dirty="0" sz="1000" spc="-50">
                <a:solidFill>
                  <a:srgbClr val="7C3AEC"/>
                </a:solidFill>
                <a:latin typeface="Roboto"/>
                <a:cs typeface="Roboto"/>
              </a:rPr>
              <a:t>of</a:t>
            </a:r>
            <a:r>
              <a:rPr dirty="0" sz="1000" spc="-5">
                <a:solidFill>
                  <a:srgbClr val="7C3AEC"/>
                </a:solidFill>
                <a:latin typeface="Roboto"/>
                <a:cs typeface="Roboto"/>
              </a:rPr>
              <a:t> </a:t>
            </a:r>
            <a:r>
              <a:rPr dirty="0" sz="1000" spc="-20">
                <a:solidFill>
                  <a:srgbClr val="7C3AEC"/>
                </a:solidFill>
                <a:latin typeface="Roboto"/>
                <a:cs typeface="Roboto"/>
              </a:rPr>
              <a:t>both</a:t>
            </a:r>
            <a:endParaRPr sz="1000">
              <a:latin typeface="Roboto"/>
              <a:cs typeface="Roboto"/>
            </a:endParaRPr>
          </a:p>
        </p:txBody>
      </p:sp>
      <p:grpSp>
        <p:nvGrpSpPr>
          <p:cNvPr id="53" name="object 53" descr=""/>
          <p:cNvGrpSpPr/>
          <p:nvPr/>
        </p:nvGrpSpPr>
        <p:grpSpPr>
          <a:xfrm>
            <a:off x="152399" y="6638924"/>
            <a:ext cx="11887200" cy="428625"/>
            <a:chOff x="152399" y="6638924"/>
            <a:chExt cx="11887200" cy="428625"/>
          </a:xfrm>
        </p:grpSpPr>
        <p:sp>
          <p:nvSpPr>
            <p:cNvPr id="54" name="object 54" descr=""/>
            <p:cNvSpPr/>
            <p:nvPr/>
          </p:nvSpPr>
          <p:spPr>
            <a:xfrm>
              <a:off x="152399" y="6638924"/>
              <a:ext cx="11887200" cy="428625"/>
            </a:xfrm>
            <a:custGeom>
              <a:avLst/>
              <a:gdLst/>
              <a:ahLst/>
              <a:cxnLst/>
              <a:rect l="l" t="t" r="r" b="b"/>
              <a:pathLst>
                <a:path w="11887200" h="428625">
                  <a:moveTo>
                    <a:pt x="11810999" y="428624"/>
                  </a:moveTo>
                  <a:lnTo>
                    <a:pt x="76200" y="428624"/>
                  </a:lnTo>
                  <a:lnTo>
                    <a:pt x="68693" y="428262"/>
                  </a:lnTo>
                  <a:lnTo>
                    <a:pt x="27882" y="411358"/>
                  </a:lnTo>
                  <a:lnTo>
                    <a:pt x="3262" y="374511"/>
                  </a:lnTo>
                  <a:lnTo>
                    <a:pt x="0" y="352425"/>
                  </a:lnTo>
                  <a:lnTo>
                    <a:pt x="0" y="0"/>
                  </a:lnTo>
                  <a:lnTo>
                    <a:pt x="11887199" y="0"/>
                  </a:lnTo>
                  <a:lnTo>
                    <a:pt x="11887199" y="352425"/>
                  </a:lnTo>
                  <a:lnTo>
                    <a:pt x="11874368" y="394767"/>
                  </a:lnTo>
                  <a:lnTo>
                    <a:pt x="11840158" y="422824"/>
                  </a:lnTo>
                  <a:lnTo>
                    <a:pt x="11810999" y="428624"/>
                  </a:lnTo>
                  <a:close/>
                </a:path>
              </a:pathLst>
            </a:custGeom>
            <a:solidFill>
              <a:srgbClr val="F2F4F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5" name="object 55" descr=""/>
            <p:cNvSpPr/>
            <p:nvPr/>
          </p:nvSpPr>
          <p:spPr>
            <a:xfrm>
              <a:off x="152399" y="6638924"/>
              <a:ext cx="11887200" cy="9525"/>
            </a:xfrm>
            <a:custGeom>
              <a:avLst/>
              <a:gdLst/>
              <a:ahLst/>
              <a:cxnLst/>
              <a:rect l="l" t="t" r="r" b="b"/>
              <a:pathLst>
                <a:path w="11887200" h="9525">
                  <a:moveTo>
                    <a:pt x="11887199" y="9524"/>
                  </a:moveTo>
                  <a:lnTo>
                    <a:pt x="0" y="9524"/>
                  </a:lnTo>
                  <a:lnTo>
                    <a:pt x="0" y="0"/>
                  </a:lnTo>
                  <a:lnTo>
                    <a:pt x="11887199" y="0"/>
                  </a:lnTo>
                  <a:lnTo>
                    <a:pt x="11887199" y="9524"/>
                  </a:lnTo>
                  <a:close/>
                </a:path>
              </a:pathLst>
            </a:custGeom>
            <a:solidFill>
              <a:srgbClr val="D0D5D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6" name="object 56" descr=""/>
            <p:cNvSpPr/>
            <p:nvPr/>
          </p:nvSpPr>
          <p:spPr>
            <a:xfrm>
              <a:off x="10544174" y="6705600"/>
              <a:ext cx="1457325" cy="323850"/>
            </a:xfrm>
            <a:custGeom>
              <a:avLst/>
              <a:gdLst/>
              <a:ahLst/>
              <a:cxnLst/>
              <a:rect l="l" t="t" r="r" b="b"/>
              <a:pathLst>
                <a:path w="1457325" h="323850">
                  <a:moveTo>
                    <a:pt x="1424277" y="323849"/>
                  </a:moveTo>
                  <a:lnTo>
                    <a:pt x="33047" y="323849"/>
                  </a:lnTo>
                  <a:lnTo>
                    <a:pt x="28187" y="322883"/>
                  </a:lnTo>
                  <a:lnTo>
                    <a:pt x="966" y="295662"/>
                  </a:lnTo>
                  <a:lnTo>
                    <a:pt x="0" y="290802"/>
                  </a:lnTo>
                  <a:lnTo>
                    <a:pt x="0" y="285749"/>
                  </a:lnTo>
                  <a:lnTo>
                    <a:pt x="0" y="33047"/>
                  </a:lnTo>
                  <a:lnTo>
                    <a:pt x="28187" y="966"/>
                  </a:lnTo>
                  <a:lnTo>
                    <a:pt x="33047" y="0"/>
                  </a:lnTo>
                  <a:lnTo>
                    <a:pt x="1424277" y="0"/>
                  </a:lnTo>
                  <a:lnTo>
                    <a:pt x="1456357" y="28187"/>
                  </a:lnTo>
                  <a:lnTo>
                    <a:pt x="1457324" y="33047"/>
                  </a:lnTo>
                  <a:lnTo>
                    <a:pt x="1457324" y="290802"/>
                  </a:lnTo>
                  <a:lnTo>
                    <a:pt x="1429137" y="322883"/>
                  </a:lnTo>
                  <a:lnTo>
                    <a:pt x="1424277" y="323849"/>
                  </a:lnTo>
                  <a:close/>
                </a:path>
              </a:pathLst>
            </a:custGeom>
            <a:solidFill>
              <a:srgbClr val="33333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7" name="object 57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0658474" y="6800850"/>
              <a:ext cx="133349" cy="133349"/>
            </a:xfrm>
            <a:prstGeom prst="rect">
              <a:avLst/>
            </a:prstGeom>
          </p:spPr>
        </p:pic>
      </p:grpSp>
      <p:sp>
        <p:nvSpPr>
          <p:cNvPr id="58" name="object 58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57150" rIns="0" bIns="0" rtlCol="0" vert="horz">
            <a:spAutoFit/>
          </a:bodyPr>
          <a:lstStyle/>
          <a:p>
            <a:pPr marL="12700">
              <a:lnSpc>
                <a:spcPts val="1130"/>
              </a:lnSpc>
            </a:pPr>
            <a:r>
              <a:rPr dirty="0" spc="-60"/>
              <a:t>IEEE</a:t>
            </a:r>
            <a:r>
              <a:rPr dirty="0"/>
              <a:t> </a:t>
            </a:r>
            <a:r>
              <a:rPr dirty="0" spc="-70"/>
              <a:t>Power</a:t>
            </a:r>
            <a:r>
              <a:rPr dirty="0" spc="5"/>
              <a:t> </a:t>
            </a:r>
            <a:r>
              <a:rPr dirty="0" spc="-60"/>
              <a:t>Systems</a:t>
            </a:r>
            <a:r>
              <a:rPr dirty="0"/>
              <a:t> </a:t>
            </a:r>
            <a:r>
              <a:rPr dirty="0" spc="-60"/>
              <a:t>Conference</a:t>
            </a:r>
            <a:r>
              <a:rPr dirty="0" spc="5"/>
              <a:t> </a:t>
            </a:r>
            <a:r>
              <a:rPr dirty="0" spc="-30"/>
              <a:t>2023</a:t>
            </a:r>
          </a:p>
        </p:txBody>
      </p:sp>
      <p:sp>
        <p:nvSpPr>
          <p:cNvPr id="59" name="object 59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30"/>
              </a:lnSpc>
            </a:pPr>
            <a:r>
              <a:rPr dirty="0" spc="-55"/>
              <a:t>Ma</a:t>
            </a:r>
            <a:r>
              <a:rPr dirty="0" spc="-204"/>
              <a:t>d</a:t>
            </a:r>
            <a:r>
              <a:rPr dirty="0" sz="1150" spc="-600">
                <a:solidFill>
                  <a:srgbClr val="6A7280"/>
                </a:solidFill>
              </a:rPr>
              <a:t>S</a:t>
            </a:r>
            <a:r>
              <a:rPr dirty="0" spc="-40"/>
              <a:t>e</a:t>
            </a:r>
            <a:r>
              <a:rPr dirty="0" sz="1150" spc="-110">
                <a:solidFill>
                  <a:srgbClr val="6A7280"/>
                </a:solidFill>
              </a:rPr>
              <a:t>l</a:t>
            </a:r>
            <a:r>
              <a:rPr dirty="0" spc="-755"/>
              <a:t>w</a:t>
            </a:r>
            <a:r>
              <a:rPr dirty="0" sz="1150" spc="-55">
                <a:solidFill>
                  <a:srgbClr val="6A7280"/>
                </a:solidFill>
              </a:rPr>
              <a:t>i</a:t>
            </a:r>
            <a:r>
              <a:rPr dirty="0" sz="1150" spc="-300">
                <a:solidFill>
                  <a:srgbClr val="6A7280"/>
                </a:solidFill>
              </a:rPr>
              <a:t>d</a:t>
            </a:r>
            <a:r>
              <a:rPr dirty="0" spc="-55"/>
              <a:t>i</a:t>
            </a:r>
            <a:r>
              <a:rPr dirty="0" spc="-395"/>
              <a:t>t</a:t>
            </a:r>
            <a:r>
              <a:rPr dirty="0" sz="1150" spc="-350">
                <a:solidFill>
                  <a:srgbClr val="6A7280"/>
                </a:solidFill>
              </a:rPr>
              <a:t>e</a:t>
            </a:r>
            <a:r>
              <a:rPr dirty="0" spc="-30"/>
              <a:t>h</a:t>
            </a:r>
            <a:fld id="{81D60167-4931-47E6-BA6A-407CBD079E47}" type="slidenum">
              <a:rPr dirty="0" sz="1150" spc="-55">
                <a:solidFill>
                  <a:srgbClr val="6A7280"/>
                </a:solidFill>
              </a:rPr>
              <a:t>3</a:t>
            </a:fld>
            <a:r>
              <a:rPr dirty="0" spc="-300"/>
              <a:t>G</a:t>
            </a:r>
            <a:r>
              <a:rPr dirty="0" sz="1150" spc="-300">
                <a:solidFill>
                  <a:srgbClr val="6A7280"/>
                </a:solidFill>
              </a:rPr>
              <a:t>/</a:t>
            </a:r>
            <a:r>
              <a:rPr dirty="0" spc="-350"/>
              <a:t>e</a:t>
            </a:r>
            <a:r>
              <a:rPr dirty="0" sz="1150" spc="-420">
                <a:solidFill>
                  <a:srgbClr val="6A7280"/>
                </a:solidFill>
              </a:rPr>
              <a:t>1</a:t>
            </a:r>
            <a:r>
              <a:rPr dirty="0" spc="-250"/>
              <a:t>n</a:t>
            </a:r>
            <a:r>
              <a:rPr dirty="0" sz="1150" spc="-525">
                <a:solidFill>
                  <a:srgbClr val="6A7280"/>
                </a:solidFill>
              </a:rPr>
              <a:t>0</a:t>
            </a:r>
            <a:r>
              <a:rPr dirty="0" spc="-55"/>
              <a:t>spark</a:t>
            </a:r>
            <a:endParaRPr sz="115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12192000" cy="8293734"/>
          </a:xfrm>
          <a:custGeom>
            <a:avLst/>
            <a:gdLst/>
            <a:ahLst/>
            <a:cxnLst/>
            <a:rect l="l" t="t" r="r" b="b"/>
            <a:pathLst>
              <a:path w="12192000" h="8293734">
                <a:moveTo>
                  <a:pt x="12191999" y="8293607"/>
                </a:moveTo>
                <a:lnTo>
                  <a:pt x="0" y="8293607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8293607"/>
                </a:lnTo>
                <a:close/>
              </a:path>
            </a:pathLst>
          </a:custGeom>
          <a:solidFill>
            <a:srgbClr val="F5F6FA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" name="object 3" descr=""/>
          <p:cNvGrpSpPr/>
          <p:nvPr/>
        </p:nvGrpSpPr>
        <p:grpSpPr>
          <a:xfrm>
            <a:off x="152399" y="152399"/>
            <a:ext cx="11887200" cy="7981950"/>
            <a:chOff x="152399" y="152399"/>
            <a:chExt cx="11887200" cy="7981950"/>
          </a:xfrm>
        </p:grpSpPr>
        <p:sp>
          <p:nvSpPr>
            <p:cNvPr id="4" name="object 4" descr=""/>
            <p:cNvSpPr/>
            <p:nvPr/>
          </p:nvSpPr>
          <p:spPr>
            <a:xfrm>
              <a:off x="152399" y="152399"/>
              <a:ext cx="11887200" cy="7981950"/>
            </a:xfrm>
            <a:custGeom>
              <a:avLst/>
              <a:gdLst/>
              <a:ahLst/>
              <a:cxnLst/>
              <a:rect l="l" t="t" r="r" b="b"/>
              <a:pathLst>
                <a:path w="11887200" h="7981950">
                  <a:moveTo>
                    <a:pt x="11816002" y="7981948"/>
                  </a:moveTo>
                  <a:lnTo>
                    <a:pt x="71196" y="7981948"/>
                  </a:lnTo>
                  <a:lnTo>
                    <a:pt x="66241" y="7981460"/>
                  </a:lnTo>
                  <a:lnTo>
                    <a:pt x="29705" y="7966327"/>
                  </a:lnTo>
                  <a:lnTo>
                    <a:pt x="3885" y="7930286"/>
                  </a:lnTo>
                  <a:lnTo>
                    <a:pt x="0" y="7910751"/>
                  </a:lnTo>
                  <a:lnTo>
                    <a:pt x="0" y="7905749"/>
                  </a:lnTo>
                  <a:lnTo>
                    <a:pt x="0" y="71196"/>
                  </a:lnTo>
                  <a:lnTo>
                    <a:pt x="15621" y="29705"/>
                  </a:lnTo>
                  <a:lnTo>
                    <a:pt x="51662" y="3885"/>
                  </a:lnTo>
                  <a:lnTo>
                    <a:pt x="71196" y="0"/>
                  </a:lnTo>
                  <a:lnTo>
                    <a:pt x="11816002" y="0"/>
                  </a:lnTo>
                  <a:lnTo>
                    <a:pt x="11857492" y="15621"/>
                  </a:lnTo>
                  <a:lnTo>
                    <a:pt x="11883312" y="51662"/>
                  </a:lnTo>
                  <a:lnTo>
                    <a:pt x="11887197" y="71196"/>
                  </a:lnTo>
                  <a:lnTo>
                    <a:pt x="11887197" y="7910751"/>
                  </a:lnTo>
                  <a:lnTo>
                    <a:pt x="11871575" y="7952243"/>
                  </a:lnTo>
                  <a:lnTo>
                    <a:pt x="11835535" y="7978062"/>
                  </a:lnTo>
                  <a:lnTo>
                    <a:pt x="11820956" y="7981460"/>
                  </a:lnTo>
                  <a:lnTo>
                    <a:pt x="11816002" y="798194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2399" y="152399"/>
              <a:ext cx="11887199" cy="76199"/>
            </a:xfrm>
            <a:prstGeom prst="rect">
              <a:avLst/>
            </a:prstGeom>
          </p:spPr>
        </p:pic>
        <p:sp>
          <p:nvSpPr>
            <p:cNvPr id="6" name="object 6" descr=""/>
            <p:cNvSpPr/>
            <p:nvPr/>
          </p:nvSpPr>
          <p:spPr>
            <a:xfrm>
              <a:off x="152399" y="228599"/>
              <a:ext cx="11887200" cy="542925"/>
            </a:xfrm>
            <a:custGeom>
              <a:avLst/>
              <a:gdLst/>
              <a:ahLst/>
              <a:cxnLst/>
              <a:rect l="l" t="t" r="r" b="b"/>
              <a:pathLst>
                <a:path w="11887200" h="542925">
                  <a:moveTo>
                    <a:pt x="11887199" y="542924"/>
                  </a:moveTo>
                  <a:lnTo>
                    <a:pt x="0" y="542924"/>
                  </a:lnTo>
                  <a:lnTo>
                    <a:pt x="0" y="0"/>
                  </a:lnTo>
                  <a:lnTo>
                    <a:pt x="11887199" y="0"/>
                  </a:lnTo>
                  <a:lnTo>
                    <a:pt x="11887199" y="542924"/>
                  </a:lnTo>
                  <a:close/>
                </a:path>
              </a:pathLst>
            </a:custGeom>
            <a:solidFill>
              <a:srgbClr val="F2F4F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152399" y="761999"/>
              <a:ext cx="11887200" cy="9525"/>
            </a:xfrm>
            <a:custGeom>
              <a:avLst/>
              <a:gdLst/>
              <a:ahLst/>
              <a:cxnLst/>
              <a:rect l="l" t="t" r="r" b="b"/>
              <a:pathLst>
                <a:path w="11887200" h="9525">
                  <a:moveTo>
                    <a:pt x="11887199" y="9524"/>
                  </a:moveTo>
                  <a:lnTo>
                    <a:pt x="0" y="9524"/>
                  </a:lnTo>
                  <a:lnTo>
                    <a:pt x="0" y="0"/>
                  </a:lnTo>
                  <a:lnTo>
                    <a:pt x="11887199" y="0"/>
                  </a:lnTo>
                  <a:lnTo>
                    <a:pt x="11887199" y="9524"/>
                  </a:lnTo>
                  <a:close/>
                </a:path>
              </a:pathLst>
            </a:custGeom>
            <a:solidFill>
              <a:srgbClr val="D0D5D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25"/>
              <a:t>Problem</a:t>
            </a:r>
            <a:r>
              <a:rPr dirty="0" spc="-20"/>
              <a:t> </a:t>
            </a:r>
            <a:r>
              <a:rPr dirty="0" spc="-95"/>
              <a:t>Formulation</a:t>
            </a:r>
          </a:p>
        </p:txBody>
      </p:sp>
      <p:sp>
        <p:nvSpPr>
          <p:cNvPr id="9" name="object 9" descr=""/>
          <p:cNvSpPr/>
          <p:nvPr/>
        </p:nvSpPr>
        <p:spPr>
          <a:xfrm>
            <a:off x="11353798" y="342899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399" y="304799"/>
                </a:moveTo>
                <a:lnTo>
                  <a:pt x="108158" y="298239"/>
                </a:lnTo>
                <a:lnTo>
                  <a:pt x="67730" y="279115"/>
                </a:lnTo>
                <a:lnTo>
                  <a:pt x="34591" y="249082"/>
                </a:lnTo>
                <a:lnTo>
                  <a:pt x="11599" y="210720"/>
                </a:lnTo>
                <a:lnTo>
                  <a:pt x="731" y="167337"/>
                </a:lnTo>
                <a:lnTo>
                  <a:pt x="0" y="152399"/>
                </a:lnTo>
                <a:lnTo>
                  <a:pt x="182" y="144912"/>
                </a:lnTo>
                <a:lnTo>
                  <a:pt x="8903" y="101066"/>
                </a:lnTo>
                <a:lnTo>
                  <a:pt x="29994" y="61607"/>
                </a:lnTo>
                <a:lnTo>
                  <a:pt x="61607" y="29995"/>
                </a:lnTo>
                <a:lnTo>
                  <a:pt x="101064" y="8904"/>
                </a:lnTo>
                <a:lnTo>
                  <a:pt x="144912" y="183"/>
                </a:lnTo>
                <a:lnTo>
                  <a:pt x="152399" y="0"/>
                </a:lnTo>
                <a:lnTo>
                  <a:pt x="159886" y="183"/>
                </a:lnTo>
                <a:lnTo>
                  <a:pt x="203731" y="8904"/>
                </a:lnTo>
                <a:lnTo>
                  <a:pt x="243190" y="29995"/>
                </a:lnTo>
                <a:lnTo>
                  <a:pt x="274802" y="61607"/>
                </a:lnTo>
                <a:lnTo>
                  <a:pt x="295894" y="101066"/>
                </a:lnTo>
                <a:lnTo>
                  <a:pt x="304616" y="144912"/>
                </a:lnTo>
                <a:lnTo>
                  <a:pt x="304799" y="152399"/>
                </a:lnTo>
                <a:lnTo>
                  <a:pt x="304616" y="159886"/>
                </a:lnTo>
                <a:lnTo>
                  <a:pt x="295894" y="203733"/>
                </a:lnTo>
                <a:lnTo>
                  <a:pt x="274803" y="243192"/>
                </a:lnTo>
                <a:lnTo>
                  <a:pt x="243190" y="274804"/>
                </a:lnTo>
                <a:lnTo>
                  <a:pt x="203731" y="295895"/>
                </a:lnTo>
                <a:lnTo>
                  <a:pt x="159886" y="304616"/>
                </a:lnTo>
                <a:lnTo>
                  <a:pt x="152399" y="304799"/>
                </a:lnTo>
                <a:close/>
              </a:path>
            </a:pathLst>
          </a:custGeom>
          <a:solidFill>
            <a:srgbClr val="1D40A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 txBox="1"/>
          <p:nvPr/>
        </p:nvSpPr>
        <p:spPr>
          <a:xfrm>
            <a:off x="10506173" y="360679"/>
            <a:ext cx="1100455" cy="22923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911860" algn="l"/>
              </a:tabLst>
            </a:pPr>
            <a:r>
              <a:rPr dirty="0" sz="1300" spc="-10">
                <a:solidFill>
                  <a:srgbClr val="6A7280"/>
                </a:solidFill>
                <a:latin typeface="Roboto"/>
                <a:cs typeface="Roboto"/>
              </a:rPr>
              <a:t>Framework</a:t>
            </a:r>
            <a:r>
              <a:rPr dirty="0" sz="1300">
                <a:solidFill>
                  <a:srgbClr val="6A7280"/>
                </a:solidFill>
                <a:latin typeface="Roboto"/>
                <a:cs typeface="Roboto"/>
              </a:rPr>
              <a:t>	</a:t>
            </a:r>
            <a:r>
              <a:rPr dirty="0" sz="1300" spc="-25" b="1">
                <a:solidFill>
                  <a:srgbClr val="FFFFFF"/>
                </a:solidFill>
                <a:latin typeface="Arial Nova"/>
                <a:cs typeface="Arial Nova"/>
              </a:rPr>
              <a:t>32</a:t>
            </a:r>
            <a:endParaRPr sz="1300">
              <a:latin typeface="Arial Nova"/>
              <a:cs typeface="Arial Nova"/>
            </a:endParaRPr>
          </a:p>
        </p:txBody>
      </p:sp>
      <p:grpSp>
        <p:nvGrpSpPr>
          <p:cNvPr id="11" name="object 11" descr=""/>
          <p:cNvGrpSpPr/>
          <p:nvPr/>
        </p:nvGrpSpPr>
        <p:grpSpPr>
          <a:xfrm>
            <a:off x="533399" y="1152524"/>
            <a:ext cx="11125200" cy="6172200"/>
            <a:chOff x="533399" y="1152524"/>
            <a:chExt cx="11125200" cy="6172200"/>
          </a:xfrm>
        </p:grpSpPr>
        <p:sp>
          <p:nvSpPr>
            <p:cNvPr id="12" name="object 12" descr=""/>
            <p:cNvSpPr/>
            <p:nvPr/>
          </p:nvSpPr>
          <p:spPr>
            <a:xfrm>
              <a:off x="533399" y="6257923"/>
              <a:ext cx="11125200" cy="1066800"/>
            </a:xfrm>
            <a:custGeom>
              <a:avLst/>
              <a:gdLst/>
              <a:ahLst/>
              <a:cxnLst/>
              <a:rect l="l" t="t" r="r" b="b"/>
              <a:pathLst>
                <a:path w="11125200" h="1066800">
                  <a:moveTo>
                    <a:pt x="11054001" y="1066799"/>
                  </a:moveTo>
                  <a:lnTo>
                    <a:pt x="71196" y="1066799"/>
                  </a:lnTo>
                  <a:lnTo>
                    <a:pt x="66241" y="1066311"/>
                  </a:lnTo>
                  <a:lnTo>
                    <a:pt x="29705" y="1051176"/>
                  </a:lnTo>
                  <a:lnTo>
                    <a:pt x="3885" y="1015136"/>
                  </a:lnTo>
                  <a:lnTo>
                    <a:pt x="0" y="995602"/>
                  </a:lnTo>
                  <a:lnTo>
                    <a:pt x="0" y="990599"/>
                  </a:lnTo>
                  <a:lnTo>
                    <a:pt x="0" y="71196"/>
                  </a:lnTo>
                  <a:lnTo>
                    <a:pt x="15621" y="29704"/>
                  </a:lnTo>
                  <a:lnTo>
                    <a:pt x="51661" y="3885"/>
                  </a:lnTo>
                  <a:lnTo>
                    <a:pt x="71196" y="0"/>
                  </a:lnTo>
                  <a:lnTo>
                    <a:pt x="11054001" y="0"/>
                  </a:lnTo>
                  <a:lnTo>
                    <a:pt x="11095492" y="15621"/>
                  </a:lnTo>
                  <a:lnTo>
                    <a:pt x="11121310" y="51660"/>
                  </a:lnTo>
                  <a:lnTo>
                    <a:pt x="11125197" y="71196"/>
                  </a:lnTo>
                  <a:lnTo>
                    <a:pt x="11125197" y="995602"/>
                  </a:lnTo>
                  <a:lnTo>
                    <a:pt x="11109575" y="1037092"/>
                  </a:lnTo>
                  <a:lnTo>
                    <a:pt x="11073535" y="1062912"/>
                  </a:lnTo>
                  <a:lnTo>
                    <a:pt x="11058956" y="1066311"/>
                  </a:lnTo>
                  <a:lnTo>
                    <a:pt x="11054001" y="1066799"/>
                  </a:lnTo>
                  <a:close/>
                </a:path>
              </a:pathLst>
            </a:custGeom>
            <a:solidFill>
              <a:srgbClr val="F2F4F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538162" y="1157287"/>
              <a:ext cx="5400675" cy="2409825"/>
            </a:xfrm>
            <a:custGeom>
              <a:avLst/>
              <a:gdLst/>
              <a:ahLst/>
              <a:cxnLst/>
              <a:rect l="l" t="t" r="r" b="b"/>
              <a:pathLst>
                <a:path w="5400675" h="2409825">
                  <a:moveTo>
                    <a:pt x="5333927" y="2409824"/>
                  </a:moveTo>
                  <a:lnTo>
                    <a:pt x="66746" y="2409824"/>
                  </a:lnTo>
                  <a:lnTo>
                    <a:pt x="62101" y="2409367"/>
                  </a:lnTo>
                  <a:lnTo>
                    <a:pt x="24240" y="2392217"/>
                  </a:lnTo>
                  <a:lnTo>
                    <a:pt x="2287" y="2356924"/>
                  </a:lnTo>
                  <a:lnTo>
                    <a:pt x="0" y="2343077"/>
                  </a:lnTo>
                  <a:lnTo>
                    <a:pt x="0" y="2338387"/>
                  </a:lnTo>
                  <a:lnTo>
                    <a:pt x="0" y="66746"/>
                  </a:lnTo>
                  <a:lnTo>
                    <a:pt x="14645" y="27848"/>
                  </a:lnTo>
                  <a:lnTo>
                    <a:pt x="48433" y="3642"/>
                  </a:lnTo>
                  <a:lnTo>
                    <a:pt x="66746" y="0"/>
                  </a:lnTo>
                  <a:lnTo>
                    <a:pt x="5333927" y="0"/>
                  </a:lnTo>
                  <a:lnTo>
                    <a:pt x="5372824" y="14645"/>
                  </a:lnTo>
                  <a:lnTo>
                    <a:pt x="5397031" y="48433"/>
                  </a:lnTo>
                  <a:lnTo>
                    <a:pt x="5400673" y="66746"/>
                  </a:lnTo>
                  <a:lnTo>
                    <a:pt x="5400673" y="2343077"/>
                  </a:lnTo>
                  <a:lnTo>
                    <a:pt x="5386028" y="2381975"/>
                  </a:lnTo>
                  <a:lnTo>
                    <a:pt x="5352240" y="2406181"/>
                  </a:lnTo>
                  <a:lnTo>
                    <a:pt x="5338572" y="2409367"/>
                  </a:lnTo>
                  <a:lnTo>
                    <a:pt x="5333927" y="2409824"/>
                  </a:lnTo>
                  <a:close/>
                </a:path>
              </a:pathLst>
            </a:custGeom>
            <a:solidFill>
              <a:srgbClr val="EFF5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538162" y="1157287"/>
              <a:ext cx="5400675" cy="2409825"/>
            </a:xfrm>
            <a:custGeom>
              <a:avLst/>
              <a:gdLst/>
              <a:ahLst/>
              <a:cxnLst/>
              <a:rect l="l" t="t" r="r" b="b"/>
              <a:pathLst>
                <a:path w="5400675" h="2409825">
                  <a:moveTo>
                    <a:pt x="0" y="2338387"/>
                  </a:moveTo>
                  <a:lnTo>
                    <a:pt x="0" y="71437"/>
                  </a:lnTo>
                  <a:lnTo>
                    <a:pt x="0" y="66746"/>
                  </a:lnTo>
                  <a:lnTo>
                    <a:pt x="457" y="62101"/>
                  </a:lnTo>
                  <a:lnTo>
                    <a:pt x="17606" y="24240"/>
                  </a:lnTo>
                  <a:lnTo>
                    <a:pt x="20923" y="20923"/>
                  </a:lnTo>
                  <a:lnTo>
                    <a:pt x="24240" y="17606"/>
                  </a:lnTo>
                  <a:lnTo>
                    <a:pt x="57500" y="1372"/>
                  </a:lnTo>
                  <a:lnTo>
                    <a:pt x="62101" y="457"/>
                  </a:lnTo>
                  <a:lnTo>
                    <a:pt x="66746" y="0"/>
                  </a:lnTo>
                  <a:lnTo>
                    <a:pt x="71437" y="0"/>
                  </a:lnTo>
                  <a:lnTo>
                    <a:pt x="5329236" y="0"/>
                  </a:lnTo>
                  <a:lnTo>
                    <a:pt x="5333927" y="0"/>
                  </a:lnTo>
                  <a:lnTo>
                    <a:pt x="5338572" y="457"/>
                  </a:lnTo>
                  <a:lnTo>
                    <a:pt x="5343173" y="1372"/>
                  </a:lnTo>
                  <a:lnTo>
                    <a:pt x="5347773" y="2287"/>
                  </a:lnTo>
                  <a:lnTo>
                    <a:pt x="5379750" y="20923"/>
                  </a:lnTo>
                  <a:lnTo>
                    <a:pt x="5383067" y="24240"/>
                  </a:lnTo>
                  <a:lnTo>
                    <a:pt x="5395236" y="44099"/>
                  </a:lnTo>
                  <a:lnTo>
                    <a:pt x="5397031" y="48433"/>
                  </a:lnTo>
                  <a:lnTo>
                    <a:pt x="5398386" y="52900"/>
                  </a:lnTo>
                  <a:lnTo>
                    <a:pt x="5399301" y="57500"/>
                  </a:lnTo>
                  <a:lnTo>
                    <a:pt x="5400216" y="62101"/>
                  </a:lnTo>
                  <a:lnTo>
                    <a:pt x="5400673" y="66746"/>
                  </a:lnTo>
                  <a:lnTo>
                    <a:pt x="5400674" y="71437"/>
                  </a:lnTo>
                  <a:lnTo>
                    <a:pt x="5400674" y="2338387"/>
                  </a:lnTo>
                  <a:lnTo>
                    <a:pt x="5400673" y="2343077"/>
                  </a:lnTo>
                  <a:lnTo>
                    <a:pt x="5400216" y="2347723"/>
                  </a:lnTo>
                  <a:lnTo>
                    <a:pt x="5399301" y="2352323"/>
                  </a:lnTo>
                  <a:lnTo>
                    <a:pt x="5398386" y="2356924"/>
                  </a:lnTo>
                  <a:lnTo>
                    <a:pt x="5397031" y="2361391"/>
                  </a:lnTo>
                  <a:lnTo>
                    <a:pt x="5395236" y="2365724"/>
                  </a:lnTo>
                  <a:lnTo>
                    <a:pt x="5393441" y="2370058"/>
                  </a:lnTo>
                  <a:lnTo>
                    <a:pt x="5365024" y="2400390"/>
                  </a:lnTo>
                  <a:lnTo>
                    <a:pt x="5333927" y="2409824"/>
                  </a:lnTo>
                  <a:lnTo>
                    <a:pt x="5329236" y="2409824"/>
                  </a:lnTo>
                  <a:lnTo>
                    <a:pt x="71437" y="2409824"/>
                  </a:lnTo>
                  <a:lnTo>
                    <a:pt x="66746" y="2409824"/>
                  </a:lnTo>
                  <a:lnTo>
                    <a:pt x="62101" y="2409367"/>
                  </a:lnTo>
                  <a:lnTo>
                    <a:pt x="57500" y="2408451"/>
                  </a:lnTo>
                  <a:lnTo>
                    <a:pt x="52900" y="2407536"/>
                  </a:lnTo>
                  <a:lnTo>
                    <a:pt x="31748" y="2397784"/>
                  </a:lnTo>
                  <a:lnTo>
                    <a:pt x="27848" y="2395178"/>
                  </a:lnTo>
                  <a:lnTo>
                    <a:pt x="3642" y="2361391"/>
                  </a:lnTo>
                  <a:lnTo>
                    <a:pt x="0" y="2343077"/>
                  </a:lnTo>
                  <a:lnTo>
                    <a:pt x="0" y="2338387"/>
                  </a:lnTo>
                </a:path>
              </a:pathLst>
            </a:custGeom>
            <a:ln w="9524">
              <a:solidFill>
                <a:srgbClr val="BEDAF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733424" y="1733549"/>
              <a:ext cx="5010150" cy="762000"/>
            </a:xfrm>
            <a:custGeom>
              <a:avLst/>
              <a:gdLst/>
              <a:ahLst/>
              <a:cxnLst/>
              <a:rect l="l" t="t" r="r" b="b"/>
              <a:pathLst>
                <a:path w="5010150" h="762000">
                  <a:moveTo>
                    <a:pt x="5010149" y="761999"/>
                  </a:moveTo>
                  <a:lnTo>
                    <a:pt x="0" y="761999"/>
                  </a:lnTo>
                  <a:lnTo>
                    <a:pt x="0" y="0"/>
                  </a:lnTo>
                  <a:lnTo>
                    <a:pt x="5010149" y="0"/>
                  </a:lnTo>
                  <a:lnTo>
                    <a:pt x="5010149" y="761999"/>
                  </a:lnTo>
                  <a:close/>
                </a:path>
              </a:pathLst>
            </a:custGeom>
            <a:solidFill>
              <a:srgbClr val="F7FA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733424" y="1733549"/>
              <a:ext cx="38100" cy="762000"/>
            </a:xfrm>
            <a:custGeom>
              <a:avLst/>
              <a:gdLst/>
              <a:ahLst/>
              <a:cxnLst/>
              <a:rect l="l" t="t" r="r" b="b"/>
              <a:pathLst>
                <a:path w="38100" h="762000">
                  <a:moveTo>
                    <a:pt x="38099" y="761999"/>
                  </a:moveTo>
                  <a:lnTo>
                    <a:pt x="0" y="761999"/>
                  </a:lnTo>
                  <a:lnTo>
                    <a:pt x="0" y="0"/>
                  </a:lnTo>
                  <a:lnTo>
                    <a:pt x="38099" y="0"/>
                  </a:lnTo>
                  <a:lnTo>
                    <a:pt x="38099" y="761999"/>
                  </a:lnTo>
                  <a:close/>
                </a:path>
              </a:pathLst>
            </a:custGeom>
            <a:solidFill>
              <a:srgbClr val="3181C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733424" y="2609849"/>
              <a:ext cx="5010150" cy="762000"/>
            </a:xfrm>
            <a:custGeom>
              <a:avLst/>
              <a:gdLst/>
              <a:ahLst/>
              <a:cxnLst/>
              <a:rect l="l" t="t" r="r" b="b"/>
              <a:pathLst>
                <a:path w="5010150" h="762000">
                  <a:moveTo>
                    <a:pt x="5010149" y="761999"/>
                  </a:moveTo>
                  <a:lnTo>
                    <a:pt x="0" y="761999"/>
                  </a:lnTo>
                  <a:lnTo>
                    <a:pt x="0" y="0"/>
                  </a:lnTo>
                  <a:lnTo>
                    <a:pt x="5010149" y="0"/>
                  </a:lnTo>
                  <a:lnTo>
                    <a:pt x="5010149" y="761999"/>
                  </a:lnTo>
                  <a:close/>
                </a:path>
              </a:pathLst>
            </a:custGeom>
            <a:solidFill>
              <a:srgbClr val="F7FA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733424" y="2609849"/>
              <a:ext cx="38100" cy="762000"/>
            </a:xfrm>
            <a:custGeom>
              <a:avLst/>
              <a:gdLst/>
              <a:ahLst/>
              <a:cxnLst/>
              <a:rect l="l" t="t" r="r" b="b"/>
              <a:pathLst>
                <a:path w="38100" h="762000">
                  <a:moveTo>
                    <a:pt x="38099" y="761999"/>
                  </a:moveTo>
                  <a:lnTo>
                    <a:pt x="0" y="761999"/>
                  </a:lnTo>
                  <a:lnTo>
                    <a:pt x="0" y="0"/>
                  </a:lnTo>
                  <a:lnTo>
                    <a:pt x="38099" y="0"/>
                  </a:lnTo>
                  <a:lnTo>
                    <a:pt x="38099" y="761999"/>
                  </a:lnTo>
                  <a:close/>
                </a:path>
              </a:pathLst>
            </a:custGeom>
            <a:solidFill>
              <a:srgbClr val="3181C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538162" y="3805236"/>
              <a:ext cx="5400675" cy="2219325"/>
            </a:xfrm>
            <a:custGeom>
              <a:avLst/>
              <a:gdLst/>
              <a:ahLst/>
              <a:cxnLst/>
              <a:rect l="l" t="t" r="r" b="b"/>
              <a:pathLst>
                <a:path w="5400675" h="2219325">
                  <a:moveTo>
                    <a:pt x="5333927" y="2219324"/>
                  </a:moveTo>
                  <a:lnTo>
                    <a:pt x="66746" y="2219324"/>
                  </a:lnTo>
                  <a:lnTo>
                    <a:pt x="62101" y="2218867"/>
                  </a:lnTo>
                  <a:lnTo>
                    <a:pt x="24240" y="2201717"/>
                  </a:lnTo>
                  <a:lnTo>
                    <a:pt x="2287" y="2166423"/>
                  </a:lnTo>
                  <a:lnTo>
                    <a:pt x="0" y="2152577"/>
                  </a:lnTo>
                  <a:lnTo>
                    <a:pt x="0" y="2147887"/>
                  </a:lnTo>
                  <a:lnTo>
                    <a:pt x="0" y="66746"/>
                  </a:lnTo>
                  <a:lnTo>
                    <a:pt x="14645" y="27848"/>
                  </a:lnTo>
                  <a:lnTo>
                    <a:pt x="48433" y="3642"/>
                  </a:lnTo>
                  <a:lnTo>
                    <a:pt x="66746" y="0"/>
                  </a:lnTo>
                  <a:lnTo>
                    <a:pt x="5333927" y="0"/>
                  </a:lnTo>
                  <a:lnTo>
                    <a:pt x="5372824" y="14644"/>
                  </a:lnTo>
                  <a:lnTo>
                    <a:pt x="5397031" y="48432"/>
                  </a:lnTo>
                  <a:lnTo>
                    <a:pt x="5400673" y="66746"/>
                  </a:lnTo>
                  <a:lnTo>
                    <a:pt x="5400673" y="2152577"/>
                  </a:lnTo>
                  <a:lnTo>
                    <a:pt x="5386028" y="2191475"/>
                  </a:lnTo>
                  <a:lnTo>
                    <a:pt x="5352240" y="2215680"/>
                  </a:lnTo>
                  <a:lnTo>
                    <a:pt x="5338572" y="2218867"/>
                  </a:lnTo>
                  <a:lnTo>
                    <a:pt x="5333927" y="2219324"/>
                  </a:lnTo>
                  <a:close/>
                </a:path>
              </a:pathLst>
            </a:custGeom>
            <a:solidFill>
              <a:srgbClr val="FE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538162" y="3805236"/>
              <a:ext cx="5400675" cy="2219325"/>
            </a:xfrm>
            <a:custGeom>
              <a:avLst/>
              <a:gdLst/>
              <a:ahLst/>
              <a:cxnLst/>
              <a:rect l="l" t="t" r="r" b="b"/>
              <a:pathLst>
                <a:path w="5400675" h="2219325">
                  <a:moveTo>
                    <a:pt x="0" y="2147887"/>
                  </a:moveTo>
                  <a:lnTo>
                    <a:pt x="0" y="71437"/>
                  </a:lnTo>
                  <a:lnTo>
                    <a:pt x="0" y="66746"/>
                  </a:lnTo>
                  <a:lnTo>
                    <a:pt x="457" y="62100"/>
                  </a:lnTo>
                  <a:lnTo>
                    <a:pt x="1372" y="57499"/>
                  </a:lnTo>
                  <a:lnTo>
                    <a:pt x="2287" y="52899"/>
                  </a:lnTo>
                  <a:lnTo>
                    <a:pt x="3642" y="48432"/>
                  </a:lnTo>
                  <a:lnTo>
                    <a:pt x="5437" y="44099"/>
                  </a:lnTo>
                  <a:lnTo>
                    <a:pt x="7232" y="39765"/>
                  </a:lnTo>
                  <a:lnTo>
                    <a:pt x="20923" y="20923"/>
                  </a:lnTo>
                  <a:lnTo>
                    <a:pt x="24240" y="17606"/>
                  </a:lnTo>
                  <a:lnTo>
                    <a:pt x="27848" y="14644"/>
                  </a:lnTo>
                  <a:lnTo>
                    <a:pt x="31748" y="12038"/>
                  </a:lnTo>
                  <a:lnTo>
                    <a:pt x="35649" y="9432"/>
                  </a:lnTo>
                  <a:lnTo>
                    <a:pt x="66746" y="0"/>
                  </a:lnTo>
                  <a:lnTo>
                    <a:pt x="71437" y="0"/>
                  </a:lnTo>
                  <a:lnTo>
                    <a:pt x="5329236" y="0"/>
                  </a:lnTo>
                  <a:lnTo>
                    <a:pt x="5333927" y="0"/>
                  </a:lnTo>
                  <a:lnTo>
                    <a:pt x="5338572" y="457"/>
                  </a:lnTo>
                  <a:lnTo>
                    <a:pt x="5376433" y="17606"/>
                  </a:lnTo>
                  <a:lnTo>
                    <a:pt x="5379750" y="20923"/>
                  </a:lnTo>
                  <a:lnTo>
                    <a:pt x="5383067" y="24240"/>
                  </a:lnTo>
                  <a:lnTo>
                    <a:pt x="5395236" y="44099"/>
                  </a:lnTo>
                  <a:lnTo>
                    <a:pt x="5397031" y="48432"/>
                  </a:lnTo>
                  <a:lnTo>
                    <a:pt x="5398386" y="52899"/>
                  </a:lnTo>
                  <a:lnTo>
                    <a:pt x="5399301" y="57500"/>
                  </a:lnTo>
                  <a:lnTo>
                    <a:pt x="5400216" y="62100"/>
                  </a:lnTo>
                  <a:lnTo>
                    <a:pt x="5400673" y="66746"/>
                  </a:lnTo>
                  <a:lnTo>
                    <a:pt x="5400674" y="71437"/>
                  </a:lnTo>
                  <a:lnTo>
                    <a:pt x="5400674" y="2147887"/>
                  </a:lnTo>
                  <a:lnTo>
                    <a:pt x="5400673" y="2152577"/>
                  </a:lnTo>
                  <a:lnTo>
                    <a:pt x="5400216" y="2157222"/>
                  </a:lnTo>
                  <a:lnTo>
                    <a:pt x="5399301" y="2161822"/>
                  </a:lnTo>
                  <a:lnTo>
                    <a:pt x="5398386" y="2166423"/>
                  </a:lnTo>
                  <a:lnTo>
                    <a:pt x="5397031" y="2170891"/>
                  </a:lnTo>
                  <a:lnTo>
                    <a:pt x="5395236" y="2175224"/>
                  </a:lnTo>
                  <a:lnTo>
                    <a:pt x="5393441" y="2179557"/>
                  </a:lnTo>
                  <a:lnTo>
                    <a:pt x="5379750" y="2198400"/>
                  </a:lnTo>
                  <a:lnTo>
                    <a:pt x="5376433" y="2201717"/>
                  </a:lnTo>
                  <a:lnTo>
                    <a:pt x="5343173" y="2217951"/>
                  </a:lnTo>
                  <a:lnTo>
                    <a:pt x="5338572" y="2218867"/>
                  </a:lnTo>
                  <a:lnTo>
                    <a:pt x="5333927" y="2219324"/>
                  </a:lnTo>
                  <a:lnTo>
                    <a:pt x="5329236" y="2219324"/>
                  </a:lnTo>
                  <a:lnTo>
                    <a:pt x="71437" y="2219324"/>
                  </a:lnTo>
                  <a:lnTo>
                    <a:pt x="66746" y="2219324"/>
                  </a:lnTo>
                  <a:lnTo>
                    <a:pt x="62101" y="2218867"/>
                  </a:lnTo>
                  <a:lnTo>
                    <a:pt x="57500" y="2217951"/>
                  </a:lnTo>
                  <a:lnTo>
                    <a:pt x="52900" y="2217035"/>
                  </a:lnTo>
                  <a:lnTo>
                    <a:pt x="20923" y="2198400"/>
                  </a:lnTo>
                  <a:lnTo>
                    <a:pt x="17606" y="2195083"/>
                  </a:lnTo>
                  <a:lnTo>
                    <a:pt x="1372" y="2161822"/>
                  </a:lnTo>
                  <a:lnTo>
                    <a:pt x="457" y="2157222"/>
                  </a:lnTo>
                  <a:lnTo>
                    <a:pt x="0" y="2152577"/>
                  </a:lnTo>
                  <a:lnTo>
                    <a:pt x="0" y="2147887"/>
                  </a:lnTo>
                </a:path>
              </a:pathLst>
            </a:custGeom>
            <a:ln w="9524">
              <a:solidFill>
                <a:srgbClr val="FECACA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1" name="object 21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33571" y="1390649"/>
              <a:ext cx="190206" cy="190499"/>
            </a:xfrm>
            <a:prstGeom prst="rect">
              <a:avLst/>
            </a:prstGeom>
          </p:spPr>
        </p:pic>
      </p:grpSp>
      <p:sp>
        <p:nvSpPr>
          <p:cNvPr id="22" name="object 22" descr=""/>
          <p:cNvSpPr txBox="1"/>
          <p:nvPr/>
        </p:nvSpPr>
        <p:spPr>
          <a:xfrm>
            <a:off x="1034770" y="1327943"/>
            <a:ext cx="926465" cy="28003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650" spc="-75" b="1">
                <a:solidFill>
                  <a:srgbClr val="1D40AF"/>
                </a:solidFill>
                <a:latin typeface="Roboto"/>
                <a:cs typeface="Roboto"/>
              </a:rPr>
              <a:t>Objectives</a:t>
            </a:r>
            <a:endParaRPr sz="1650">
              <a:latin typeface="Roboto"/>
              <a:cs typeface="Roboto"/>
            </a:endParaRPr>
          </a:p>
        </p:txBody>
      </p:sp>
      <p:grpSp>
        <p:nvGrpSpPr>
          <p:cNvPr id="23" name="object 23" descr=""/>
          <p:cNvGrpSpPr/>
          <p:nvPr/>
        </p:nvGrpSpPr>
        <p:grpSpPr>
          <a:xfrm>
            <a:off x="733425" y="1152524"/>
            <a:ext cx="10925175" cy="4581525"/>
            <a:chOff x="733425" y="1152524"/>
            <a:chExt cx="10925175" cy="4581525"/>
          </a:xfrm>
        </p:grpSpPr>
        <p:pic>
          <p:nvPicPr>
            <p:cNvPr id="24" name="object 24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33425" y="4038599"/>
              <a:ext cx="190499" cy="190499"/>
            </a:xfrm>
            <a:prstGeom prst="rect">
              <a:avLst/>
            </a:prstGeom>
          </p:spPr>
        </p:pic>
        <p:sp>
          <p:nvSpPr>
            <p:cNvPr id="25" name="object 25" descr=""/>
            <p:cNvSpPr/>
            <p:nvPr/>
          </p:nvSpPr>
          <p:spPr>
            <a:xfrm>
              <a:off x="800087" y="4467224"/>
              <a:ext cx="47625" cy="1266825"/>
            </a:xfrm>
            <a:custGeom>
              <a:avLst/>
              <a:gdLst/>
              <a:ahLst/>
              <a:cxnLst/>
              <a:rect l="l" t="t" r="r" b="b"/>
              <a:pathLst>
                <a:path w="47625" h="1266825">
                  <a:moveTo>
                    <a:pt x="47625" y="1239862"/>
                  </a:moveTo>
                  <a:lnTo>
                    <a:pt x="26974" y="1219200"/>
                  </a:lnTo>
                  <a:lnTo>
                    <a:pt x="20662" y="1219200"/>
                  </a:lnTo>
                  <a:lnTo>
                    <a:pt x="0" y="1239862"/>
                  </a:lnTo>
                  <a:lnTo>
                    <a:pt x="0" y="1246174"/>
                  </a:lnTo>
                  <a:lnTo>
                    <a:pt x="20662" y="1266825"/>
                  </a:lnTo>
                  <a:lnTo>
                    <a:pt x="26974" y="1266825"/>
                  </a:lnTo>
                  <a:lnTo>
                    <a:pt x="47625" y="1246174"/>
                  </a:lnTo>
                  <a:lnTo>
                    <a:pt x="47625" y="1243012"/>
                  </a:lnTo>
                  <a:lnTo>
                    <a:pt x="47625" y="1239862"/>
                  </a:lnTo>
                  <a:close/>
                </a:path>
                <a:path w="47625" h="1266825">
                  <a:moveTo>
                    <a:pt x="47625" y="935062"/>
                  </a:moveTo>
                  <a:lnTo>
                    <a:pt x="26974" y="914400"/>
                  </a:lnTo>
                  <a:lnTo>
                    <a:pt x="20662" y="914400"/>
                  </a:lnTo>
                  <a:lnTo>
                    <a:pt x="0" y="935062"/>
                  </a:lnTo>
                  <a:lnTo>
                    <a:pt x="0" y="941374"/>
                  </a:lnTo>
                  <a:lnTo>
                    <a:pt x="20662" y="962025"/>
                  </a:lnTo>
                  <a:lnTo>
                    <a:pt x="26974" y="962025"/>
                  </a:lnTo>
                  <a:lnTo>
                    <a:pt x="47625" y="941374"/>
                  </a:lnTo>
                  <a:lnTo>
                    <a:pt x="47625" y="938212"/>
                  </a:lnTo>
                  <a:lnTo>
                    <a:pt x="47625" y="935062"/>
                  </a:lnTo>
                  <a:close/>
                </a:path>
                <a:path w="47625" h="1266825">
                  <a:moveTo>
                    <a:pt x="47625" y="630262"/>
                  </a:moveTo>
                  <a:lnTo>
                    <a:pt x="26974" y="609600"/>
                  </a:lnTo>
                  <a:lnTo>
                    <a:pt x="20662" y="609600"/>
                  </a:lnTo>
                  <a:lnTo>
                    <a:pt x="0" y="630262"/>
                  </a:lnTo>
                  <a:lnTo>
                    <a:pt x="0" y="636574"/>
                  </a:lnTo>
                  <a:lnTo>
                    <a:pt x="20662" y="657225"/>
                  </a:lnTo>
                  <a:lnTo>
                    <a:pt x="26974" y="657225"/>
                  </a:lnTo>
                  <a:lnTo>
                    <a:pt x="47625" y="636574"/>
                  </a:lnTo>
                  <a:lnTo>
                    <a:pt x="47625" y="633412"/>
                  </a:lnTo>
                  <a:lnTo>
                    <a:pt x="47625" y="630262"/>
                  </a:lnTo>
                  <a:close/>
                </a:path>
                <a:path w="47625" h="1266825">
                  <a:moveTo>
                    <a:pt x="47625" y="325462"/>
                  </a:moveTo>
                  <a:lnTo>
                    <a:pt x="26974" y="304800"/>
                  </a:lnTo>
                  <a:lnTo>
                    <a:pt x="20662" y="304800"/>
                  </a:lnTo>
                  <a:lnTo>
                    <a:pt x="0" y="325462"/>
                  </a:lnTo>
                  <a:lnTo>
                    <a:pt x="0" y="331774"/>
                  </a:lnTo>
                  <a:lnTo>
                    <a:pt x="20662" y="352425"/>
                  </a:lnTo>
                  <a:lnTo>
                    <a:pt x="26974" y="352425"/>
                  </a:lnTo>
                  <a:lnTo>
                    <a:pt x="47625" y="331774"/>
                  </a:lnTo>
                  <a:lnTo>
                    <a:pt x="47625" y="328612"/>
                  </a:lnTo>
                  <a:lnTo>
                    <a:pt x="47625" y="325462"/>
                  </a:lnTo>
                  <a:close/>
                </a:path>
                <a:path w="47625" h="1266825">
                  <a:moveTo>
                    <a:pt x="47625" y="20662"/>
                  </a:moveTo>
                  <a:lnTo>
                    <a:pt x="26974" y="0"/>
                  </a:lnTo>
                  <a:lnTo>
                    <a:pt x="20662" y="0"/>
                  </a:lnTo>
                  <a:lnTo>
                    <a:pt x="0" y="20662"/>
                  </a:lnTo>
                  <a:lnTo>
                    <a:pt x="0" y="26974"/>
                  </a:lnTo>
                  <a:lnTo>
                    <a:pt x="20662" y="47625"/>
                  </a:lnTo>
                  <a:lnTo>
                    <a:pt x="26974" y="47625"/>
                  </a:lnTo>
                  <a:lnTo>
                    <a:pt x="47625" y="26974"/>
                  </a:lnTo>
                  <a:lnTo>
                    <a:pt x="47625" y="23812"/>
                  </a:lnTo>
                  <a:lnTo>
                    <a:pt x="47625" y="20662"/>
                  </a:lnTo>
                  <a:close/>
                </a:path>
              </a:pathLst>
            </a:custGeom>
            <a:solidFill>
              <a:srgbClr val="37405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 descr=""/>
            <p:cNvSpPr/>
            <p:nvPr/>
          </p:nvSpPr>
          <p:spPr>
            <a:xfrm>
              <a:off x="6253160" y="1157287"/>
              <a:ext cx="5400675" cy="2219325"/>
            </a:xfrm>
            <a:custGeom>
              <a:avLst/>
              <a:gdLst/>
              <a:ahLst/>
              <a:cxnLst/>
              <a:rect l="l" t="t" r="r" b="b"/>
              <a:pathLst>
                <a:path w="5400675" h="2219325">
                  <a:moveTo>
                    <a:pt x="5333927" y="2219324"/>
                  </a:moveTo>
                  <a:lnTo>
                    <a:pt x="66747" y="2219324"/>
                  </a:lnTo>
                  <a:lnTo>
                    <a:pt x="62102" y="2218866"/>
                  </a:lnTo>
                  <a:lnTo>
                    <a:pt x="24240" y="2201717"/>
                  </a:lnTo>
                  <a:lnTo>
                    <a:pt x="2287" y="2166423"/>
                  </a:lnTo>
                  <a:lnTo>
                    <a:pt x="0" y="2152577"/>
                  </a:lnTo>
                  <a:lnTo>
                    <a:pt x="0" y="2147887"/>
                  </a:lnTo>
                  <a:lnTo>
                    <a:pt x="0" y="66746"/>
                  </a:lnTo>
                  <a:lnTo>
                    <a:pt x="14645" y="27848"/>
                  </a:lnTo>
                  <a:lnTo>
                    <a:pt x="48433" y="3642"/>
                  </a:lnTo>
                  <a:lnTo>
                    <a:pt x="66747" y="0"/>
                  </a:lnTo>
                  <a:lnTo>
                    <a:pt x="5333927" y="0"/>
                  </a:lnTo>
                  <a:lnTo>
                    <a:pt x="5372824" y="14645"/>
                  </a:lnTo>
                  <a:lnTo>
                    <a:pt x="5397030" y="48433"/>
                  </a:lnTo>
                  <a:lnTo>
                    <a:pt x="5400674" y="66746"/>
                  </a:lnTo>
                  <a:lnTo>
                    <a:pt x="5400674" y="2152577"/>
                  </a:lnTo>
                  <a:lnTo>
                    <a:pt x="5386028" y="2191475"/>
                  </a:lnTo>
                  <a:lnTo>
                    <a:pt x="5352239" y="2215681"/>
                  </a:lnTo>
                  <a:lnTo>
                    <a:pt x="5338572" y="2218866"/>
                  </a:lnTo>
                  <a:lnTo>
                    <a:pt x="5333927" y="2219324"/>
                  </a:lnTo>
                  <a:close/>
                </a:path>
              </a:pathLst>
            </a:custGeom>
            <a:solidFill>
              <a:srgbClr val="ECFDF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 descr=""/>
            <p:cNvSpPr/>
            <p:nvPr/>
          </p:nvSpPr>
          <p:spPr>
            <a:xfrm>
              <a:off x="6253160" y="1157287"/>
              <a:ext cx="5400675" cy="2219325"/>
            </a:xfrm>
            <a:custGeom>
              <a:avLst/>
              <a:gdLst/>
              <a:ahLst/>
              <a:cxnLst/>
              <a:rect l="l" t="t" r="r" b="b"/>
              <a:pathLst>
                <a:path w="5400675" h="2219325">
                  <a:moveTo>
                    <a:pt x="0" y="2147887"/>
                  </a:moveTo>
                  <a:lnTo>
                    <a:pt x="0" y="71437"/>
                  </a:lnTo>
                  <a:lnTo>
                    <a:pt x="0" y="66746"/>
                  </a:lnTo>
                  <a:lnTo>
                    <a:pt x="457" y="62101"/>
                  </a:lnTo>
                  <a:lnTo>
                    <a:pt x="1372" y="57500"/>
                  </a:lnTo>
                  <a:lnTo>
                    <a:pt x="2287" y="52900"/>
                  </a:lnTo>
                  <a:lnTo>
                    <a:pt x="3642" y="48433"/>
                  </a:lnTo>
                  <a:lnTo>
                    <a:pt x="5438" y="44099"/>
                  </a:lnTo>
                  <a:lnTo>
                    <a:pt x="7232" y="39765"/>
                  </a:lnTo>
                  <a:lnTo>
                    <a:pt x="9433" y="35648"/>
                  </a:lnTo>
                  <a:lnTo>
                    <a:pt x="12039" y="31748"/>
                  </a:lnTo>
                  <a:lnTo>
                    <a:pt x="14645" y="27848"/>
                  </a:lnTo>
                  <a:lnTo>
                    <a:pt x="17607" y="24240"/>
                  </a:lnTo>
                  <a:lnTo>
                    <a:pt x="20923" y="20923"/>
                  </a:lnTo>
                  <a:lnTo>
                    <a:pt x="24240" y="17606"/>
                  </a:lnTo>
                  <a:lnTo>
                    <a:pt x="57501" y="1372"/>
                  </a:lnTo>
                  <a:lnTo>
                    <a:pt x="62102" y="457"/>
                  </a:lnTo>
                  <a:lnTo>
                    <a:pt x="66747" y="0"/>
                  </a:lnTo>
                  <a:lnTo>
                    <a:pt x="71438" y="0"/>
                  </a:lnTo>
                  <a:lnTo>
                    <a:pt x="5329237" y="0"/>
                  </a:lnTo>
                  <a:lnTo>
                    <a:pt x="5333927" y="0"/>
                  </a:lnTo>
                  <a:lnTo>
                    <a:pt x="5338572" y="457"/>
                  </a:lnTo>
                  <a:lnTo>
                    <a:pt x="5343172" y="1372"/>
                  </a:lnTo>
                  <a:lnTo>
                    <a:pt x="5347772" y="2287"/>
                  </a:lnTo>
                  <a:lnTo>
                    <a:pt x="5352239" y="3642"/>
                  </a:lnTo>
                  <a:lnTo>
                    <a:pt x="5356572" y="5437"/>
                  </a:lnTo>
                  <a:lnTo>
                    <a:pt x="5360906" y="7232"/>
                  </a:lnTo>
                  <a:lnTo>
                    <a:pt x="5365023" y="9433"/>
                  </a:lnTo>
                  <a:lnTo>
                    <a:pt x="5368923" y="12039"/>
                  </a:lnTo>
                  <a:lnTo>
                    <a:pt x="5372824" y="14645"/>
                  </a:lnTo>
                  <a:lnTo>
                    <a:pt x="5376432" y="17606"/>
                  </a:lnTo>
                  <a:lnTo>
                    <a:pt x="5379749" y="20923"/>
                  </a:lnTo>
                  <a:lnTo>
                    <a:pt x="5383066" y="24240"/>
                  </a:lnTo>
                  <a:lnTo>
                    <a:pt x="5386026" y="27848"/>
                  </a:lnTo>
                  <a:lnTo>
                    <a:pt x="5388632" y="31748"/>
                  </a:lnTo>
                  <a:lnTo>
                    <a:pt x="5391238" y="35648"/>
                  </a:lnTo>
                  <a:lnTo>
                    <a:pt x="5393439" y="39765"/>
                  </a:lnTo>
                  <a:lnTo>
                    <a:pt x="5395234" y="44099"/>
                  </a:lnTo>
                  <a:lnTo>
                    <a:pt x="5397030" y="48433"/>
                  </a:lnTo>
                  <a:lnTo>
                    <a:pt x="5398386" y="52900"/>
                  </a:lnTo>
                  <a:lnTo>
                    <a:pt x="5399301" y="57500"/>
                  </a:lnTo>
                  <a:lnTo>
                    <a:pt x="5400216" y="62101"/>
                  </a:lnTo>
                  <a:lnTo>
                    <a:pt x="5400674" y="66746"/>
                  </a:lnTo>
                  <a:lnTo>
                    <a:pt x="5400674" y="71437"/>
                  </a:lnTo>
                  <a:lnTo>
                    <a:pt x="5400674" y="2147887"/>
                  </a:lnTo>
                  <a:lnTo>
                    <a:pt x="5400674" y="2152577"/>
                  </a:lnTo>
                  <a:lnTo>
                    <a:pt x="5400216" y="2157223"/>
                  </a:lnTo>
                  <a:lnTo>
                    <a:pt x="5399301" y="2161823"/>
                  </a:lnTo>
                  <a:lnTo>
                    <a:pt x="5398386" y="2166423"/>
                  </a:lnTo>
                  <a:lnTo>
                    <a:pt x="5397030" y="2170890"/>
                  </a:lnTo>
                  <a:lnTo>
                    <a:pt x="5395234" y="2175224"/>
                  </a:lnTo>
                  <a:lnTo>
                    <a:pt x="5393439" y="2179558"/>
                  </a:lnTo>
                  <a:lnTo>
                    <a:pt x="5391239" y="2183674"/>
                  </a:lnTo>
                  <a:lnTo>
                    <a:pt x="5388633" y="2187574"/>
                  </a:lnTo>
                  <a:lnTo>
                    <a:pt x="5386028" y="2191475"/>
                  </a:lnTo>
                  <a:lnTo>
                    <a:pt x="5352239" y="2215681"/>
                  </a:lnTo>
                  <a:lnTo>
                    <a:pt x="5343172" y="2217951"/>
                  </a:lnTo>
                  <a:lnTo>
                    <a:pt x="5338572" y="2218866"/>
                  </a:lnTo>
                  <a:lnTo>
                    <a:pt x="5333927" y="2219324"/>
                  </a:lnTo>
                  <a:lnTo>
                    <a:pt x="5329237" y="2219324"/>
                  </a:lnTo>
                  <a:lnTo>
                    <a:pt x="71438" y="2219324"/>
                  </a:lnTo>
                  <a:lnTo>
                    <a:pt x="31748" y="2207284"/>
                  </a:lnTo>
                  <a:lnTo>
                    <a:pt x="27848" y="2204678"/>
                  </a:lnTo>
                  <a:lnTo>
                    <a:pt x="12039" y="2187574"/>
                  </a:lnTo>
                  <a:lnTo>
                    <a:pt x="9433" y="2183674"/>
                  </a:lnTo>
                  <a:lnTo>
                    <a:pt x="7232" y="2179558"/>
                  </a:lnTo>
                  <a:lnTo>
                    <a:pt x="5438" y="2175224"/>
                  </a:lnTo>
                  <a:lnTo>
                    <a:pt x="3642" y="2170890"/>
                  </a:lnTo>
                  <a:lnTo>
                    <a:pt x="2287" y="2166423"/>
                  </a:lnTo>
                  <a:lnTo>
                    <a:pt x="1372" y="2161823"/>
                  </a:lnTo>
                  <a:lnTo>
                    <a:pt x="457" y="2157223"/>
                  </a:lnTo>
                  <a:lnTo>
                    <a:pt x="0" y="2152577"/>
                  </a:lnTo>
                  <a:lnTo>
                    <a:pt x="0" y="2147887"/>
                  </a:lnTo>
                </a:path>
              </a:pathLst>
            </a:custGeom>
            <a:ln w="9524">
              <a:solidFill>
                <a:srgbClr val="A6F2D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 descr=""/>
            <p:cNvSpPr/>
            <p:nvPr/>
          </p:nvSpPr>
          <p:spPr>
            <a:xfrm>
              <a:off x="6253160" y="3614736"/>
              <a:ext cx="5400675" cy="2085975"/>
            </a:xfrm>
            <a:custGeom>
              <a:avLst/>
              <a:gdLst/>
              <a:ahLst/>
              <a:cxnLst/>
              <a:rect l="l" t="t" r="r" b="b"/>
              <a:pathLst>
                <a:path w="5400675" h="2085975">
                  <a:moveTo>
                    <a:pt x="5333927" y="2085974"/>
                  </a:moveTo>
                  <a:lnTo>
                    <a:pt x="66747" y="2085974"/>
                  </a:lnTo>
                  <a:lnTo>
                    <a:pt x="62102" y="2085517"/>
                  </a:lnTo>
                  <a:lnTo>
                    <a:pt x="24240" y="2068367"/>
                  </a:lnTo>
                  <a:lnTo>
                    <a:pt x="2287" y="2033074"/>
                  </a:lnTo>
                  <a:lnTo>
                    <a:pt x="0" y="2019228"/>
                  </a:lnTo>
                  <a:lnTo>
                    <a:pt x="0" y="2014537"/>
                  </a:lnTo>
                  <a:lnTo>
                    <a:pt x="0" y="66746"/>
                  </a:lnTo>
                  <a:lnTo>
                    <a:pt x="14645" y="27848"/>
                  </a:lnTo>
                  <a:lnTo>
                    <a:pt x="48433" y="3642"/>
                  </a:lnTo>
                  <a:lnTo>
                    <a:pt x="66747" y="0"/>
                  </a:lnTo>
                  <a:lnTo>
                    <a:pt x="5333927" y="0"/>
                  </a:lnTo>
                  <a:lnTo>
                    <a:pt x="5372824" y="14645"/>
                  </a:lnTo>
                  <a:lnTo>
                    <a:pt x="5397030" y="48432"/>
                  </a:lnTo>
                  <a:lnTo>
                    <a:pt x="5400674" y="66746"/>
                  </a:lnTo>
                  <a:lnTo>
                    <a:pt x="5400674" y="2019228"/>
                  </a:lnTo>
                  <a:lnTo>
                    <a:pt x="5386028" y="2058125"/>
                  </a:lnTo>
                  <a:lnTo>
                    <a:pt x="5352239" y="2082331"/>
                  </a:lnTo>
                  <a:lnTo>
                    <a:pt x="5338572" y="2085517"/>
                  </a:lnTo>
                  <a:lnTo>
                    <a:pt x="5333927" y="2085974"/>
                  </a:lnTo>
                  <a:close/>
                </a:path>
              </a:pathLst>
            </a:custGeom>
            <a:solidFill>
              <a:srgbClr val="F5F2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 descr=""/>
            <p:cNvSpPr/>
            <p:nvPr/>
          </p:nvSpPr>
          <p:spPr>
            <a:xfrm>
              <a:off x="6253160" y="3614736"/>
              <a:ext cx="5400675" cy="2085975"/>
            </a:xfrm>
            <a:custGeom>
              <a:avLst/>
              <a:gdLst/>
              <a:ahLst/>
              <a:cxnLst/>
              <a:rect l="l" t="t" r="r" b="b"/>
              <a:pathLst>
                <a:path w="5400675" h="2085975">
                  <a:moveTo>
                    <a:pt x="0" y="2014537"/>
                  </a:moveTo>
                  <a:lnTo>
                    <a:pt x="0" y="71437"/>
                  </a:lnTo>
                  <a:lnTo>
                    <a:pt x="0" y="66746"/>
                  </a:lnTo>
                  <a:lnTo>
                    <a:pt x="457" y="62101"/>
                  </a:lnTo>
                  <a:lnTo>
                    <a:pt x="1372" y="57500"/>
                  </a:lnTo>
                  <a:lnTo>
                    <a:pt x="2287" y="52899"/>
                  </a:lnTo>
                  <a:lnTo>
                    <a:pt x="3642" y="48432"/>
                  </a:lnTo>
                  <a:lnTo>
                    <a:pt x="5438" y="44099"/>
                  </a:lnTo>
                  <a:lnTo>
                    <a:pt x="7232" y="39765"/>
                  </a:lnTo>
                  <a:lnTo>
                    <a:pt x="20923" y="20923"/>
                  </a:lnTo>
                  <a:lnTo>
                    <a:pt x="24240" y="17606"/>
                  </a:lnTo>
                  <a:lnTo>
                    <a:pt x="27848" y="14645"/>
                  </a:lnTo>
                  <a:lnTo>
                    <a:pt x="31748" y="12039"/>
                  </a:lnTo>
                  <a:lnTo>
                    <a:pt x="35648" y="9432"/>
                  </a:lnTo>
                  <a:lnTo>
                    <a:pt x="66747" y="0"/>
                  </a:lnTo>
                  <a:lnTo>
                    <a:pt x="71438" y="0"/>
                  </a:lnTo>
                  <a:lnTo>
                    <a:pt x="5329237" y="0"/>
                  </a:lnTo>
                  <a:lnTo>
                    <a:pt x="5333927" y="0"/>
                  </a:lnTo>
                  <a:lnTo>
                    <a:pt x="5338572" y="457"/>
                  </a:lnTo>
                  <a:lnTo>
                    <a:pt x="5368923" y="12039"/>
                  </a:lnTo>
                  <a:lnTo>
                    <a:pt x="5372824" y="14645"/>
                  </a:lnTo>
                  <a:lnTo>
                    <a:pt x="5376432" y="17606"/>
                  </a:lnTo>
                  <a:lnTo>
                    <a:pt x="5379749" y="20923"/>
                  </a:lnTo>
                  <a:lnTo>
                    <a:pt x="5383066" y="24240"/>
                  </a:lnTo>
                  <a:lnTo>
                    <a:pt x="5386026" y="27848"/>
                  </a:lnTo>
                  <a:lnTo>
                    <a:pt x="5388632" y="31748"/>
                  </a:lnTo>
                  <a:lnTo>
                    <a:pt x="5391238" y="35648"/>
                  </a:lnTo>
                  <a:lnTo>
                    <a:pt x="5393439" y="39765"/>
                  </a:lnTo>
                  <a:lnTo>
                    <a:pt x="5395234" y="44099"/>
                  </a:lnTo>
                  <a:lnTo>
                    <a:pt x="5397030" y="48432"/>
                  </a:lnTo>
                  <a:lnTo>
                    <a:pt x="5398386" y="52899"/>
                  </a:lnTo>
                  <a:lnTo>
                    <a:pt x="5399301" y="57500"/>
                  </a:lnTo>
                  <a:lnTo>
                    <a:pt x="5400216" y="62101"/>
                  </a:lnTo>
                  <a:lnTo>
                    <a:pt x="5400674" y="66746"/>
                  </a:lnTo>
                  <a:lnTo>
                    <a:pt x="5400674" y="71437"/>
                  </a:lnTo>
                  <a:lnTo>
                    <a:pt x="5400674" y="2014537"/>
                  </a:lnTo>
                  <a:lnTo>
                    <a:pt x="5400674" y="2019228"/>
                  </a:lnTo>
                  <a:lnTo>
                    <a:pt x="5400216" y="2023873"/>
                  </a:lnTo>
                  <a:lnTo>
                    <a:pt x="5399301" y="2028474"/>
                  </a:lnTo>
                  <a:lnTo>
                    <a:pt x="5398386" y="2033074"/>
                  </a:lnTo>
                  <a:lnTo>
                    <a:pt x="5397030" y="2037541"/>
                  </a:lnTo>
                  <a:lnTo>
                    <a:pt x="5395234" y="2041874"/>
                  </a:lnTo>
                  <a:lnTo>
                    <a:pt x="5393439" y="2046208"/>
                  </a:lnTo>
                  <a:lnTo>
                    <a:pt x="5391239" y="2050325"/>
                  </a:lnTo>
                  <a:lnTo>
                    <a:pt x="5388633" y="2054224"/>
                  </a:lnTo>
                  <a:lnTo>
                    <a:pt x="5386028" y="2058125"/>
                  </a:lnTo>
                  <a:lnTo>
                    <a:pt x="5383066" y="2061733"/>
                  </a:lnTo>
                  <a:lnTo>
                    <a:pt x="5379749" y="2065050"/>
                  </a:lnTo>
                  <a:lnTo>
                    <a:pt x="5376432" y="2068367"/>
                  </a:lnTo>
                  <a:lnTo>
                    <a:pt x="5356572" y="2080536"/>
                  </a:lnTo>
                  <a:lnTo>
                    <a:pt x="5352239" y="2082331"/>
                  </a:lnTo>
                  <a:lnTo>
                    <a:pt x="5347772" y="2083686"/>
                  </a:lnTo>
                  <a:lnTo>
                    <a:pt x="5343172" y="2084601"/>
                  </a:lnTo>
                  <a:lnTo>
                    <a:pt x="5338572" y="2085517"/>
                  </a:lnTo>
                  <a:lnTo>
                    <a:pt x="5333927" y="2085974"/>
                  </a:lnTo>
                  <a:lnTo>
                    <a:pt x="5329237" y="2085974"/>
                  </a:lnTo>
                  <a:lnTo>
                    <a:pt x="71438" y="2085974"/>
                  </a:lnTo>
                  <a:lnTo>
                    <a:pt x="66747" y="2085974"/>
                  </a:lnTo>
                  <a:lnTo>
                    <a:pt x="62102" y="2085517"/>
                  </a:lnTo>
                  <a:lnTo>
                    <a:pt x="57501" y="2084601"/>
                  </a:lnTo>
                  <a:lnTo>
                    <a:pt x="52900" y="2083686"/>
                  </a:lnTo>
                  <a:lnTo>
                    <a:pt x="48433" y="2082331"/>
                  </a:lnTo>
                  <a:lnTo>
                    <a:pt x="44099" y="2080536"/>
                  </a:lnTo>
                  <a:lnTo>
                    <a:pt x="39765" y="2078741"/>
                  </a:lnTo>
                  <a:lnTo>
                    <a:pt x="35648" y="2076540"/>
                  </a:lnTo>
                  <a:lnTo>
                    <a:pt x="31748" y="2073934"/>
                  </a:lnTo>
                  <a:lnTo>
                    <a:pt x="27848" y="2071328"/>
                  </a:lnTo>
                  <a:lnTo>
                    <a:pt x="24240" y="2068367"/>
                  </a:lnTo>
                  <a:lnTo>
                    <a:pt x="20923" y="2065050"/>
                  </a:lnTo>
                  <a:lnTo>
                    <a:pt x="17607" y="2061733"/>
                  </a:lnTo>
                  <a:lnTo>
                    <a:pt x="14645" y="2058125"/>
                  </a:lnTo>
                  <a:lnTo>
                    <a:pt x="12039" y="2054224"/>
                  </a:lnTo>
                  <a:lnTo>
                    <a:pt x="9433" y="2050325"/>
                  </a:lnTo>
                  <a:lnTo>
                    <a:pt x="7232" y="2046208"/>
                  </a:lnTo>
                  <a:lnTo>
                    <a:pt x="5438" y="2041874"/>
                  </a:lnTo>
                  <a:lnTo>
                    <a:pt x="3642" y="2037541"/>
                  </a:lnTo>
                  <a:lnTo>
                    <a:pt x="2287" y="2033074"/>
                  </a:lnTo>
                  <a:lnTo>
                    <a:pt x="1372" y="2028474"/>
                  </a:lnTo>
                  <a:lnTo>
                    <a:pt x="457" y="2023873"/>
                  </a:lnTo>
                  <a:lnTo>
                    <a:pt x="0" y="2019228"/>
                  </a:lnTo>
                  <a:lnTo>
                    <a:pt x="0" y="2014537"/>
                  </a:lnTo>
                </a:path>
              </a:pathLst>
            </a:custGeom>
            <a:ln w="9524">
              <a:solidFill>
                <a:srgbClr val="DDD5FE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0" name="object 30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448424" y="1402556"/>
              <a:ext cx="214312" cy="166687"/>
            </a:xfrm>
            <a:prstGeom prst="rect">
              <a:avLst/>
            </a:prstGeom>
          </p:spPr>
        </p:pic>
      </p:grpSp>
      <p:sp>
        <p:nvSpPr>
          <p:cNvPr id="31" name="object 31" descr=""/>
          <p:cNvSpPr txBox="1"/>
          <p:nvPr/>
        </p:nvSpPr>
        <p:spPr>
          <a:xfrm>
            <a:off x="1034770" y="3978759"/>
            <a:ext cx="1015365" cy="2768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50" spc="-75" b="1">
                <a:solidFill>
                  <a:srgbClr val="991B1B"/>
                </a:solidFill>
                <a:latin typeface="Roboto"/>
                <a:cs typeface="Roboto"/>
              </a:rPr>
              <a:t>Constraints</a:t>
            </a:r>
            <a:endParaRPr sz="1650">
              <a:latin typeface="Roboto"/>
              <a:cs typeface="Roboto"/>
            </a:endParaRPr>
          </a:p>
        </p:txBody>
      </p:sp>
      <p:sp>
        <p:nvSpPr>
          <p:cNvPr id="32" name="object 32" descr=""/>
          <p:cNvSpPr txBox="1"/>
          <p:nvPr/>
        </p:nvSpPr>
        <p:spPr>
          <a:xfrm>
            <a:off x="949325" y="4361122"/>
            <a:ext cx="3970020" cy="22923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300" spc="-45" b="1">
                <a:solidFill>
                  <a:srgbClr val="374050"/>
                </a:solidFill>
                <a:latin typeface="Roboto"/>
                <a:cs typeface="Roboto"/>
              </a:rPr>
              <a:t>Radiality:</a:t>
            </a:r>
            <a:r>
              <a:rPr dirty="0" sz="1300" spc="-15" b="1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65">
                <a:solidFill>
                  <a:srgbClr val="374050"/>
                </a:solidFill>
                <a:latin typeface="Roboto"/>
                <a:cs typeface="Roboto"/>
              </a:rPr>
              <a:t>Network</a:t>
            </a:r>
            <a:r>
              <a:rPr dirty="0" sz="1300" spc="-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65">
                <a:solidFill>
                  <a:srgbClr val="374050"/>
                </a:solidFill>
                <a:latin typeface="Roboto"/>
                <a:cs typeface="Roboto"/>
              </a:rPr>
              <a:t>must</a:t>
            </a:r>
            <a:r>
              <a:rPr dirty="0" sz="1300" spc="-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55">
                <a:solidFill>
                  <a:srgbClr val="374050"/>
                </a:solidFill>
                <a:latin typeface="Roboto"/>
                <a:cs typeface="Roboto"/>
              </a:rPr>
              <a:t>remain</a:t>
            </a:r>
            <a:r>
              <a:rPr dirty="0" sz="1300" spc="-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60">
                <a:solidFill>
                  <a:srgbClr val="374050"/>
                </a:solidFill>
                <a:latin typeface="Roboto"/>
                <a:cs typeface="Roboto"/>
              </a:rPr>
              <a:t>a</a:t>
            </a:r>
            <a:r>
              <a:rPr dirty="0" sz="1300" spc="-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55">
                <a:solidFill>
                  <a:srgbClr val="374050"/>
                </a:solidFill>
                <a:latin typeface="Roboto"/>
                <a:cs typeface="Roboto"/>
              </a:rPr>
              <a:t>spanning</a:t>
            </a:r>
            <a:r>
              <a:rPr dirty="0" sz="1300" spc="-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50">
                <a:solidFill>
                  <a:srgbClr val="374050"/>
                </a:solidFill>
                <a:latin typeface="Roboto"/>
                <a:cs typeface="Roboto"/>
              </a:rPr>
              <a:t>tree</a:t>
            </a:r>
            <a:r>
              <a:rPr dirty="0" sz="1300" spc="-1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55">
                <a:solidFill>
                  <a:srgbClr val="374050"/>
                </a:solidFill>
                <a:latin typeface="Roboto"/>
                <a:cs typeface="Roboto"/>
              </a:rPr>
              <a:t>(no</a:t>
            </a:r>
            <a:r>
              <a:rPr dirty="0" sz="1300" spc="-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25">
                <a:solidFill>
                  <a:srgbClr val="374050"/>
                </a:solidFill>
                <a:latin typeface="Roboto"/>
                <a:cs typeface="Roboto"/>
              </a:rPr>
              <a:t>loops)</a:t>
            </a:r>
            <a:endParaRPr sz="1300">
              <a:latin typeface="Roboto"/>
              <a:cs typeface="Roboto"/>
            </a:endParaRPr>
          </a:p>
        </p:txBody>
      </p:sp>
      <p:sp>
        <p:nvSpPr>
          <p:cNvPr id="33" name="object 33" descr=""/>
          <p:cNvSpPr txBox="1"/>
          <p:nvPr/>
        </p:nvSpPr>
        <p:spPr>
          <a:xfrm>
            <a:off x="949325" y="5580322"/>
            <a:ext cx="4270375" cy="22923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300" spc="-55" b="1">
                <a:solidFill>
                  <a:srgbClr val="374050"/>
                </a:solidFill>
                <a:latin typeface="Roboto"/>
                <a:cs typeface="Roboto"/>
              </a:rPr>
              <a:t>Switch</a:t>
            </a:r>
            <a:r>
              <a:rPr dirty="0" sz="1300" spc="-10" b="1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45" b="1">
                <a:solidFill>
                  <a:srgbClr val="374050"/>
                </a:solidFill>
                <a:latin typeface="Roboto"/>
                <a:cs typeface="Roboto"/>
              </a:rPr>
              <a:t>feasibility:</a:t>
            </a:r>
            <a:r>
              <a:rPr dirty="0" sz="1300" spc="-10" b="1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75">
                <a:solidFill>
                  <a:srgbClr val="374050"/>
                </a:solidFill>
                <a:latin typeface="Roboto"/>
                <a:cs typeface="Roboto"/>
              </a:rPr>
              <a:t>Some</a:t>
            </a:r>
            <a:r>
              <a:rPr dirty="0" sz="130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55">
                <a:solidFill>
                  <a:srgbClr val="374050"/>
                </a:solidFill>
                <a:latin typeface="Roboto"/>
                <a:cs typeface="Roboto"/>
              </a:rPr>
              <a:t>switches</a:t>
            </a:r>
            <a:r>
              <a:rPr dirty="0" sz="1300" spc="-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65">
                <a:solidFill>
                  <a:srgbClr val="374050"/>
                </a:solidFill>
                <a:latin typeface="Roboto"/>
                <a:cs typeface="Roboto"/>
              </a:rPr>
              <a:t>have</a:t>
            </a:r>
            <a:r>
              <a:rPr dirty="0" sz="130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50">
                <a:solidFill>
                  <a:srgbClr val="374050"/>
                </a:solidFill>
                <a:latin typeface="Roboto"/>
                <a:cs typeface="Roboto"/>
              </a:rPr>
              <a:t>operational</a:t>
            </a:r>
            <a:r>
              <a:rPr dirty="0" sz="1300" spc="-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35">
                <a:solidFill>
                  <a:srgbClr val="374050"/>
                </a:solidFill>
                <a:latin typeface="Roboto"/>
                <a:cs typeface="Roboto"/>
              </a:rPr>
              <a:t>restrictions</a:t>
            </a:r>
            <a:endParaRPr sz="1300">
              <a:latin typeface="Roboto"/>
              <a:cs typeface="Roboto"/>
            </a:endParaRPr>
          </a:p>
        </p:txBody>
      </p:sp>
      <p:sp>
        <p:nvSpPr>
          <p:cNvPr id="34" name="object 34" descr=""/>
          <p:cNvSpPr txBox="1"/>
          <p:nvPr/>
        </p:nvSpPr>
        <p:spPr>
          <a:xfrm>
            <a:off x="6768601" y="1327871"/>
            <a:ext cx="2747645" cy="28003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650" spc="-90" b="1">
                <a:solidFill>
                  <a:srgbClr val="055E45"/>
                </a:solidFill>
                <a:latin typeface="Roboto"/>
                <a:cs typeface="Roboto"/>
              </a:rPr>
              <a:t>Three-</a:t>
            </a:r>
            <a:r>
              <a:rPr dirty="0" sz="1650" spc="-95" b="1">
                <a:solidFill>
                  <a:srgbClr val="055E45"/>
                </a:solidFill>
                <a:latin typeface="Roboto"/>
                <a:cs typeface="Roboto"/>
              </a:rPr>
              <a:t>Phase</a:t>
            </a:r>
            <a:r>
              <a:rPr dirty="0" sz="1650" spc="35" b="1">
                <a:solidFill>
                  <a:srgbClr val="055E45"/>
                </a:solidFill>
                <a:latin typeface="Roboto"/>
                <a:cs typeface="Roboto"/>
              </a:rPr>
              <a:t> </a:t>
            </a:r>
            <a:r>
              <a:rPr dirty="0" sz="1650" spc="-95" b="1">
                <a:solidFill>
                  <a:srgbClr val="055E45"/>
                </a:solidFill>
                <a:latin typeface="Roboto"/>
                <a:cs typeface="Roboto"/>
              </a:rPr>
              <a:t>Network</a:t>
            </a:r>
            <a:r>
              <a:rPr dirty="0" sz="1650" spc="40" b="1">
                <a:solidFill>
                  <a:srgbClr val="055E45"/>
                </a:solidFill>
                <a:latin typeface="Roboto"/>
                <a:cs typeface="Roboto"/>
              </a:rPr>
              <a:t> </a:t>
            </a:r>
            <a:r>
              <a:rPr dirty="0" sz="1650" spc="-70" b="1">
                <a:solidFill>
                  <a:srgbClr val="055E45"/>
                </a:solidFill>
                <a:latin typeface="Roboto"/>
                <a:cs typeface="Roboto"/>
              </a:rPr>
              <a:t>Modeling</a:t>
            </a:r>
            <a:endParaRPr sz="1650">
              <a:latin typeface="Roboto"/>
              <a:cs typeface="Roboto"/>
            </a:endParaRPr>
          </a:p>
        </p:txBody>
      </p:sp>
      <p:grpSp>
        <p:nvGrpSpPr>
          <p:cNvPr id="35" name="object 35" descr=""/>
          <p:cNvGrpSpPr/>
          <p:nvPr/>
        </p:nvGrpSpPr>
        <p:grpSpPr>
          <a:xfrm>
            <a:off x="6448423" y="1819274"/>
            <a:ext cx="2428875" cy="3686175"/>
            <a:chOff x="6448423" y="1819274"/>
            <a:chExt cx="2428875" cy="3686175"/>
          </a:xfrm>
        </p:grpSpPr>
        <p:sp>
          <p:nvSpPr>
            <p:cNvPr id="36" name="object 36" descr=""/>
            <p:cNvSpPr/>
            <p:nvPr/>
          </p:nvSpPr>
          <p:spPr>
            <a:xfrm>
              <a:off x="6515087" y="1819274"/>
              <a:ext cx="47625" cy="1266825"/>
            </a:xfrm>
            <a:custGeom>
              <a:avLst/>
              <a:gdLst/>
              <a:ahLst/>
              <a:cxnLst/>
              <a:rect l="l" t="t" r="r" b="b"/>
              <a:pathLst>
                <a:path w="47625" h="1266825">
                  <a:moveTo>
                    <a:pt x="47625" y="1239862"/>
                  </a:moveTo>
                  <a:lnTo>
                    <a:pt x="26974" y="1219200"/>
                  </a:lnTo>
                  <a:lnTo>
                    <a:pt x="20662" y="1219200"/>
                  </a:lnTo>
                  <a:lnTo>
                    <a:pt x="0" y="1239862"/>
                  </a:lnTo>
                  <a:lnTo>
                    <a:pt x="0" y="1246174"/>
                  </a:lnTo>
                  <a:lnTo>
                    <a:pt x="20662" y="1266825"/>
                  </a:lnTo>
                  <a:lnTo>
                    <a:pt x="26974" y="1266825"/>
                  </a:lnTo>
                  <a:lnTo>
                    <a:pt x="47625" y="1246174"/>
                  </a:lnTo>
                  <a:lnTo>
                    <a:pt x="47625" y="1243012"/>
                  </a:lnTo>
                  <a:lnTo>
                    <a:pt x="47625" y="1239862"/>
                  </a:lnTo>
                  <a:close/>
                </a:path>
                <a:path w="47625" h="1266825">
                  <a:moveTo>
                    <a:pt x="47625" y="935062"/>
                  </a:moveTo>
                  <a:lnTo>
                    <a:pt x="26974" y="914400"/>
                  </a:lnTo>
                  <a:lnTo>
                    <a:pt x="20662" y="914400"/>
                  </a:lnTo>
                  <a:lnTo>
                    <a:pt x="0" y="935062"/>
                  </a:lnTo>
                  <a:lnTo>
                    <a:pt x="0" y="941374"/>
                  </a:lnTo>
                  <a:lnTo>
                    <a:pt x="20662" y="962025"/>
                  </a:lnTo>
                  <a:lnTo>
                    <a:pt x="26974" y="962025"/>
                  </a:lnTo>
                  <a:lnTo>
                    <a:pt x="47625" y="941374"/>
                  </a:lnTo>
                  <a:lnTo>
                    <a:pt x="47625" y="938212"/>
                  </a:lnTo>
                  <a:lnTo>
                    <a:pt x="47625" y="935062"/>
                  </a:lnTo>
                  <a:close/>
                </a:path>
                <a:path w="47625" h="1266825">
                  <a:moveTo>
                    <a:pt x="47625" y="630262"/>
                  </a:moveTo>
                  <a:lnTo>
                    <a:pt x="26974" y="609600"/>
                  </a:lnTo>
                  <a:lnTo>
                    <a:pt x="20662" y="609600"/>
                  </a:lnTo>
                  <a:lnTo>
                    <a:pt x="0" y="630262"/>
                  </a:lnTo>
                  <a:lnTo>
                    <a:pt x="0" y="636574"/>
                  </a:lnTo>
                  <a:lnTo>
                    <a:pt x="20662" y="657225"/>
                  </a:lnTo>
                  <a:lnTo>
                    <a:pt x="26974" y="657225"/>
                  </a:lnTo>
                  <a:lnTo>
                    <a:pt x="47625" y="636574"/>
                  </a:lnTo>
                  <a:lnTo>
                    <a:pt x="47625" y="633412"/>
                  </a:lnTo>
                  <a:lnTo>
                    <a:pt x="47625" y="630262"/>
                  </a:lnTo>
                  <a:close/>
                </a:path>
                <a:path w="47625" h="1266825">
                  <a:moveTo>
                    <a:pt x="47625" y="325462"/>
                  </a:moveTo>
                  <a:lnTo>
                    <a:pt x="26974" y="304800"/>
                  </a:lnTo>
                  <a:lnTo>
                    <a:pt x="20662" y="304800"/>
                  </a:lnTo>
                  <a:lnTo>
                    <a:pt x="0" y="325462"/>
                  </a:lnTo>
                  <a:lnTo>
                    <a:pt x="0" y="331774"/>
                  </a:lnTo>
                  <a:lnTo>
                    <a:pt x="20662" y="352425"/>
                  </a:lnTo>
                  <a:lnTo>
                    <a:pt x="26974" y="352425"/>
                  </a:lnTo>
                  <a:lnTo>
                    <a:pt x="47625" y="331774"/>
                  </a:lnTo>
                  <a:lnTo>
                    <a:pt x="47625" y="328612"/>
                  </a:lnTo>
                  <a:lnTo>
                    <a:pt x="47625" y="325462"/>
                  </a:lnTo>
                  <a:close/>
                </a:path>
                <a:path w="47625" h="1266825">
                  <a:moveTo>
                    <a:pt x="47625" y="20662"/>
                  </a:moveTo>
                  <a:lnTo>
                    <a:pt x="26974" y="0"/>
                  </a:lnTo>
                  <a:lnTo>
                    <a:pt x="20662" y="0"/>
                  </a:lnTo>
                  <a:lnTo>
                    <a:pt x="0" y="20662"/>
                  </a:lnTo>
                  <a:lnTo>
                    <a:pt x="0" y="26974"/>
                  </a:lnTo>
                  <a:lnTo>
                    <a:pt x="20662" y="47625"/>
                  </a:lnTo>
                  <a:lnTo>
                    <a:pt x="26974" y="47625"/>
                  </a:lnTo>
                  <a:lnTo>
                    <a:pt x="47625" y="26974"/>
                  </a:lnTo>
                  <a:lnTo>
                    <a:pt x="47625" y="23812"/>
                  </a:lnTo>
                  <a:lnTo>
                    <a:pt x="47625" y="20662"/>
                  </a:lnTo>
                  <a:close/>
                </a:path>
              </a:pathLst>
            </a:custGeom>
            <a:solidFill>
              <a:srgbClr val="37405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7" name="object 37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448424" y="3848099"/>
              <a:ext cx="166687" cy="190499"/>
            </a:xfrm>
            <a:prstGeom prst="rect">
              <a:avLst/>
            </a:prstGeom>
          </p:spPr>
        </p:pic>
        <p:sp>
          <p:nvSpPr>
            <p:cNvPr id="38" name="object 38" descr=""/>
            <p:cNvSpPr/>
            <p:nvPr/>
          </p:nvSpPr>
          <p:spPr>
            <a:xfrm>
              <a:off x="6453185" y="4195761"/>
              <a:ext cx="2419350" cy="1304925"/>
            </a:xfrm>
            <a:custGeom>
              <a:avLst/>
              <a:gdLst/>
              <a:ahLst/>
              <a:cxnLst/>
              <a:rect l="l" t="t" r="r" b="b"/>
              <a:pathLst>
                <a:path w="2419350" h="1304925">
                  <a:moveTo>
                    <a:pt x="2390432" y="1304924"/>
                  </a:moveTo>
                  <a:lnTo>
                    <a:pt x="28916" y="1304924"/>
                  </a:lnTo>
                  <a:lnTo>
                    <a:pt x="24663" y="1304078"/>
                  </a:lnTo>
                  <a:lnTo>
                    <a:pt x="0" y="1276007"/>
                  </a:lnTo>
                  <a:lnTo>
                    <a:pt x="0" y="1271587"/>
                  </a:lnTo>
                  <a:lnTo>
                    <a:pt x="0" y="28916"/>
                  </a:lnTo>
                  <a:lnTo>
                    <a:pt x="28916" y="0"/>
                  </a:lnTo>
                  <a:lnTo>
                    <a:pt x="2390432" y="0"/>
                  </a:lnTo>
                  <a:lnTo>
                    <a:pt x="2419349" y="28916"/>
                  </a:lnTo>
                  <a:lnTo>
                    <a:pt x="2419349" y="1276007"/>
                  </a:lnTo>
                  <a:lnTo>
                    <a:pt x="2394684" y="1304078"/>
                  </a:lnTo>
                  <a:lnTo>
                    <a:pt x="2390432" y="13049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 descr=""/>
            <p:cNvSpPr/>
            <p:nvPr/>
          </p:nvSpPr>
          <p:spPr>
            <a:xfrm>
              <a:off x="6453185" y="4195761"/>
              <a:ext cx="2419350" cy="1304925"/>
            </a:xfrm>
            <a:custGeom>
              <a:avLst/>
              <a:gdLst/>
              <a:ahLst/>
              <a:cxnLst/>
              <a:rect l="l" t="t" r="r" b="b"/>
              <a:pathLst>
                <a:path w="2419350" h="1304925">
                  <a:moveTo>
                    <a:pt x="0" y="1271587"/>
                  </a:moveTo>
                  <a:lnTo>
                    <a:pt x="0" y="33337"/>
                  </a:lnTo>
                  <a:lnTo>
                    <a:pt x="0" y="28916"/>
                  </a:lnTo>
                  <a:lnTo>
                    <a:pt x="845" y="24663"/>
                  </a:lnTo>
                  <a:lnTo>
                    <a:pt x="2537" y="20579"/>
                  </a:lnTo>
                  <a:lnTo>
                    <a:pt x="4228" y="16494"/>
                  </a:lnTo>
                  <a:lnTo>
                    <a:pt x="6637" y="12889"/>
                  </a:lnTo>
                  <a:lnTo>
                    <a:pt x="9764" y="9763"/>
                  </a:lnTo>
                  <a:lnTo>
                    <a:pt x="12890" y="6637"/>
                  </a:lnTo>
                  <a:lnTo>
                    <a:pt x="16495" y="4228"/>
                  </a:lnTo>
                  <a:lnTo>
                    <a:pt x="20579" y="2537"/>
                  </a:lnTo>
                  <a:lnTo>
                    <a:pt x="24663" y="845"/>
                  </a:lnTo>
                  <a:lnTo>
                    <a:pt x="28916" y="0"/>
                  </a:lnTo>
                  <a:lnTo>
                    <a:pt x="33338" y="0"/>
                  </a:lnTo>
                  <a:lnTo>
                    <a:pt x="2386012" y="0"/>
                  </a:lnTo>
                  <a:lnTo>
                    <a:pt x="2390432" y="0"/>
                  </a:lnTo>
                  <a:lnTo>
                    <a:pt x="2394684" y="845"/>
                  </a:lnTo>
                  <a:lnTo>
                    <a:pt x="2398768" y="2537"/>
                  </a:lnTo>
                  <a:lnTo>
                    <a:pt x="2402853" y="4228"/>
                  </a:lnTo>
                  <a:lnTo>
                    <a:pt x="2406458" y="6637"/>
                  </a:lnTo>
                  <a:lnTo>
                    <a:pt x="2409585" y="9763"/>
                  </a:lnTo>
                  <a:lnTo>
                    <a:pt x="2412711" y="12889"/>
                  </a:lnTo>
                  <a:lnTo>
                    <a:pt x="2419350" y="33337"/>
                  </a:lnTo>
                  <a:lnTo>
                    <a:pt x="2419350" y="1271587"/>
                  </a:lnTo>
                  <a:lnTo>
                    <a:pt x="2394684" y="1304078"/>
                  </a:lnTo>
                  <a:lnTo>
                    <a:pt x="2386012" y="1304924"/>
                  </a:lnTo>
                  <a:lnTo>
                    <a:pt x="33338" y="1304924"/>
                  </a:lnTo>
                  <a:lnTo>
                    <a:pt x="9764" y="1295159"/>
                  </a:lnTo>
                  <a:lnTo>
                    <a:pt x="6637" y="1292033"/>
                  </a:lnTo>
                  <a:lnTo>
                    <a:pt x="4228" y="1288428"/>
                  </a:lnTo>
                  <a:lnTo>
                    <a:pt x="2537" y="1284344"/>
                  </a:lnTo>
                  <a:lnTo>
                    <a:pt x="845" y="1280260"/>
                  </a:lnTo>
                  <a:lnTo>
                    <a:pt x="0" y="1276007"/>
                  </a:lnTo>
                  <a:lnTo>
                    <a:pt x="0" y="1271587"/>
                  </a:lnTo>
                </a:path>
              </a:pathLst>
            </a:custGeom>
            <a:ln w="9524">
              <a:solidFill>
                <a:srgbClr val="E4E7E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0" name="object 40" descr=""/>
          <p:cNvSpPr txBox="1"/>
          <p:nvPr/>
        </p:nvSpPr>
        <p:spPr>
          <a:xfrm>
            <a:off x="6664325" y="1713172"/>
            <a:ext cx="4159885" cy="22923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300" spc="-60" b="1">
                <a:solidFill>
                  <a:srgbClr val="374050"/>
                </a:solidFill>
                <a:latin typeface="Roboto"/>
                <a:cs typeface="Roboto"/>
              </a:rPr>
              <a:t>Unbalanced</a:t>
            </a:r>
            <a:r>
              <a:rPr dirty="0" sz="1300" spc="15" b="1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50" b="1">
                <a:solidFill>
                  <a:srgbClr val="374050"/>
                </a:solidFill>
                <a:latin typeface="Roboto"/>
                <a:cs typeface="Roboto"/>
              </a:rPr>
              <a:t>operation:</a:t>
            </a:r>
            <a:r>
              <a:rPr dirty="0" sz="1300" spc="20" b="1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55">
                <a:solidFill>
                  <a:srgbClr val="374050"/>
                </a:solidFill>
                <a:latin typeface="Roboto"/>
                <a:cs typeface="Roboto"/>
              </a:rPr>
              <a:t>Asymmetrical</a:t>
            </a:r>
            <a:r>
              <a:rPr dirty="0" sz="1300" spc="2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55">
                <a:solidFill>
                  <a:srgbClr val="374050"/>
                </a:solidFill>
                <a:latin typeface="Roboto"/>
                <a:cs typeface="Roboto"/>
              </a:rPr>
              <a:t>single/two-</a:t>
            </a:r>
            <a:r>
              <a:rPr dirty="0" sz="1300" spc="-65">
                <a:solidFill>
                  <a:srgbClr val="374050"/>
                </a:solidFill>
                <a:latin typeface="Roboto"/>
                <a:cs typeface="Roboto"/>
              </a:rPr>
              <a:t>phase</a:t>
            </a:r>
            <a:r>
              <a:rPr dirty="0" sz="1300" spc="2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20">
                <a:solidFill>
                  <a:srgbClr val="374050"/>
                </a:solidFill>
                <a:latin typeface="Roboto"/>
                <a:cs typeface="Roboto"/>
              </a:rPr>
              <a:t>loads</a:t>
            </a:r>
            <a:endParaRPr sz="1300">
              <a:latin typeface="Roboto"/>
              <a:cs typeface="Roboto"/>
            </a:endParaRPr>
          </a:p>
        </p:txBody>
      </p:sp>
      <p:sp>
        <p:nvSpPr>
          <p:cNvPr id="41" name="object 41" descr=""/>
          <p:cNvSpPr txBox="1"/>
          <p:nvPr/>
        </p:nvSpPr>
        <p:spPr>
          <a:xfrm>
            <a:off x="6664325" y="2017972"/>
            <a:ext cx="3892550" cy="22923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300" spc="-65" b="1">
                <a:solidFill>
                  <a:srgbClr val="374050"/>
                </a:solidFill>
                <a:latin typeface="Roboto"/>
                <a:cs typeface="Roboto"/>
              </a:rPr>
              <a:t>Phase</a:t>
            </a:r>
            <a:r>
              <a:rPr dirty="0" sz="1300" spc="5" b="1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50" b="1">
                <a:solidFill>
                  <a:srgbClr val="374050"/>
                </a:solidFill>
                <a:latin typeface="Roboto"/>
                <a:cs typeface="Roboto"/>
              </a:rPr>
              <a:t>interactions:</a:t>
            </a:r>
            <a:r>
              <a:rPr dirty="0" sz="1300" spc="10" b="1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60">
                <a:solidFill>
                  <a:srgbClr val="374050"/>
                </a:solidFill>
                <a:latin typeface="Roboto"/>
                <a:cs typeface="Roboto"/>
              </a:rPr>
              <a:t>Mutual</a:t>
            </a:r>
            <a:r>
              <a:rPr dirty="0" sz="1300" spc="1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50">
                <a:solidFill>
                  <a:srgbClr val="374050"/>
                </a:solidFill>
                <a:latin typeface="Roboto"/>
                <a:cs typeface="Roboto"/>
              </a:rPr>
              <a:t>coupling</a:t>
            </a:r>
            <a:r>
              <a:rPr dirty="0" sz="1300" spc="1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65">
                <a:solidFill>
                  <a:srgbClr val="374050"/>
                </a:solidFill>
                <a:latin typeface="Roboto"/>
                <a:cs typeface="Roboto"/>
              </a:rPr>
              <a:t>between</a:t>
            </a:r>
            <a:r>
              <a:rPr dirty="0" sz="1300" spc="1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40">
                <a:solidFill>
                  <a:srgbClr val="374050"/>
                </a:solidFill>
                <a:latin typeface="Roboto"/>
                <a:cs typeface="Roboto"/>
              </a:rPr>
              <a:t>conductors</a:t>
            </a:r>
            <a:endParaRPr sz="1300">
              <a:latin typeface="Roboto"/>
              <a:cs typeface="Roboto"/>
            </a:endParaRPr>
          </a:p>
        </p:txBody>
      </p:sp>
      <p:sp>
        <p:nvSpPr>
          <p:cNvPr id="42" name="object 42" descr=""/>
          <p:cNvSpPr txBox="1"/>
          <p:nvPr/>
        </p:nvSpPr>
        <p:spPr>
          <a:xfrm>
            <a:off x="6664325" y="2322772"/>
            <a:ext cx="4258310" cy="22923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300" spc="-60" b="1">
                <a:solidFill>
                  <a:srgbClr val="374050"/>
                </a:solidFill>
                <a:latin typeface="Roboto"/>
                <a:cs typeface="Roboto"/>
              </a:rPr>
              <a:t>Network</a:t>
            </a:r>
            <a:r>
              <a:rPr dirty="0" sz="1300" spc="-10" b="1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55" b="1">
                <a:solidFill>
                  <a:srgbClr val="374050"/>
                </a:solidFill>
                <a:latin typeface="Roboto"/>
                <a:cs typeface="Roboto"/>
              </a:rPr>
              <a:t>representation:</a:t>
            </a:r>
            <a:r>
              <a:rPr dirty="0" sz="1300" spc="-5" b="1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65">
                <a:solidFill>
                  <a:srgbClr val="374050"/>
                </a:solidFill>
                <a:latin typeface="Roboto"/>
                <a:cs typeface="Roboto"/>
              </a:rPr>
              <a:t>Graph</a:t>
            </a:r>
            <a:r>
              <a:rPr dirty="0" sz="130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50">
                <a:solidFill>
                  <a:srgbClr val="374050"/>
                </a:solidFill>
                <a:latin typeface="Roboto"/>
                <a:cs typeface="Roboto"/>
              </a:rPr>
              <a:t>G(B,E)</a:t>
            </a:r>
            <a:r>
              <a:rPr dirty="0" sz="1300" spc="-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50">
                <a:solidFill>
                  <a:srgbClr val="374050"/>
                </a:solidFill>
                <a:latin typeface="Roboto"/>
                <a:cs typeface="Roboto"/>
              </a:rPr>
              <a:t>with</a:t>
            </a:r>
            <a:r>
              <a:rPr dirty="0" sz="130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65">
                <a:solidFill>
                  <a:srgbClr val="374050"/>
                </a:solidFill>
                <a:latin typeface="Roboto"/>
                <a:cs typeface="Roboto"/>
              </a:rPr>
              <a:t>buses</a:t>
            </a:r>
            <a:r>
              <a:rPr dirty="0" sz="130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70">
                <a:solidFill>
                  <a:srgbClr val="374050"/>
                </a:solidFill>
                <a:latin typeface="Roboto"/>
                <a:cs typeface="Roboto"/>
              </a:rPr>
              <a:t>B</a:t>
            </a:r>
            <a:r>
              <a:rPr dirty="0" sz="130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60">
                <a:solidFill>
                  <a:srgbClr val="374050"/>
                </a:solidFill>
                <a:latin typeface="Roboto"/>
                <a:cs typeface="Roboto"/>
              </a:rPr>
              <a:t>and</a:t>
            </a:r>
            <a:r>
              <a:rPr dirty="0" sz="1300" spc="-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50">
                <a:solidFill>
                  <a:srgbClr val="374050"/>
                </a:solidFill>
                <a:latin typeface="Roboto"/>
                <a:cs typeface="Roboto"/>
              </a:rPr>
              <a:t>lines</a:t>
            </a:r>
            <a:r>
              <a:rPr dirty="0" sz="130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50">
                <a:solidFill>
                  <a:srgbClr val="374050"/>
                </a:solidFill>
                <a:latin typeface="Roboto"/>
                <a:cs typeface="Roboto"/>
              </a:rPr>
              <a:t>E</a:t>
            </a:r>
            <a:endParaRPr sz="1300">
              <a:latin typeface="Roboto"/>
              <a:cs typeface="Roboto"/>
            </a:endParaRPr>
          </a:p>
        </p:txBody>
      </p:sp>
      <p:sp>
        <p:nvSpPr>
          <p:cNvPr id="43" name="object 43" descr=""/>
          <p:cNvSpPr txBox="1"/>
          <p:nvPr/>
        </p:nvSpPr>
        <p:spPr>
          <a:xfrm>
            <a:off x="6720976" y="3791811"/>
            <a:ext cx="1188720" cy="27241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600" spc="-75" b="1">
                <a:solidFill>
                  <a:srgbClr val="5B20B5"/>
                </a:solidFill>
                <a:latin typeface="Roboto"/>
                <a:cs typeface="Roboto"/>
              </a:rPr>
              <a:t>Test</a:t>
            </a:r>
            <a:r>
              <a:rPr dirty="0" sz="1600" spc="-25" b="1">
                <a:solidFill>
                  <a:srgbClr val="5B20B5"/>
                </a:solidFill>
                <a:latin typeface="Roboto"/>
                <a:cs typeface="Roboto"/>
              </a:rPr>
              <a:t> </a:t>
            </a:r>
            <a:r>
              <a:rPr dirty="0" sz="1600" spc="-50" b="1">
                <a:solidFill>
                  <a:srgbClr val="5B20B5"/>
                </a:solidFill>
                <a:latin typeface="Roboto"/>
                <a:cs typeface="Roboto"/>
              </a:rPr>
              <a:t>Systems</a:t>
            </a:r>
            <a:endParaRPr sz="1600">
              <a:latin typeface="Roboto"/>
              <a:cs typeface="Roboto"/>
            </a:endParaRPr>
          </a:p>
        </p:txBody>
      </p:sp>
      <p:sp>
        <p:nvSpPr>
          <p:cNvPr id="44" name="object 44" descr=""/>
          <p:cNvSpPr txBox="1"/>
          <p:nvPr/>
        </p:nvSpPr>
        <p:spPr>
          <a:xfrm>
            <a:off x="6559550" y="4299606"/>
            <a:ext cx="849630" cy="2228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spc="-55" b="0">
                <a:solidFill>
                  <a:srgbClr val="1F2937"/>
                </a:solidFill>
                <a:latin typeface="Roboto Medium"/>
                <a:cs typeface="Roboto Medium"/>
              </a:rPr>
              <a:t>IEEE</a:t>
            </a:r>
            <a:r>
              <a:rPr dirty="0" sz="1300" spc="5" b="0">
                <a:solidFill>
                  <a:srgbClr val="1F2937"/>
                </a:solidFill>
                <a:latin typeface="Roboto Medium"/>
                <a:cs typeface="Roboto Medium"/>
              </a:rPr>
              <a:t> </a:t>
            </a:r>
            <a:r>
              <a:rPr dirty="0" sz="1300" spc="-60" b="0">
                <a:solidFill>
                  <a:srgbClr val="1F2937"/>
                </a:solidFill>
                <a:latin typeface="Roboto Medium"/>
                <a:cs typeface="Roboto Medium"/>
              </a:rPr>
              <a:t>33-</a:t>
            </a:r>
            <a:r>
              <a:rPr dirty="0" sz="1300" spc="-40" b="0">
                <a:solidFill>
                  <a:srgbClr val="1F2937"/>
                </a:solidFill>
                <a:latin typeface="Roboto Medium"/>
                <a:cs typeface="Roboto Medium"/>
              </a:rPr>
              <a:t>Bus</a:t>
            </a:r>
            <a:endParaRPr sz="1300">
              <a:latin typeface="Roboto Medium"/>
              <a:cs typeface="Roboto Medium"/>
            </a:endParaRPr>
          </a:p>
        </p:txBody>
      </p:sp>
      <p:grpSp>
        <p:nvGrpSpPr>
          <p:cNvPr id="45" name="object 45" descr=""/>
          <p:cNvGrpSpPr/>
          <p:nvPr/>
        </p:nvGrpSpPr>
        <p:grpSpPr>
          <a:xfrm>
            <a:off x="6619873" y="4190999"/>
            <a:ext cx="4838700" cy="1314450"/>
            <a:chOff x="6619873" y="4190999"/>
            <a:chExt cx="4838700" cy="1314450"/>
          </a:xfrm>
        </p:grpSpPr>
        <p:sp>
          <p:nvSpPr>
            <p:cNvPr id="46" name="object 46" descr=""/>
            <p:cNvSpPr/>
            <p:nvPr/>
          </p:nvSpPr>
          <p:spPr>
            <a:xfrm>
              <a:off x="6619862" y="4705349"/>
              <a:ext cx="38100" cy="609600"/>
            </a:xfrm>
            <a:custGeom>
              <a:avLst/>
              <a:gdLst/>
              <a:ahLst/>
              <a:cxnLst/>
              <a:rect l="l" t="t" r="r" b="b"/>
              <a:pathLst>
                <a:path w="38100" h="609600">
                  <a:moveTo>
                    <a:pt x="38100" y="588035"/>
                  </a:moveTo>
                  <a:lnTo>
                    <a:pt x="21577" y="571500"/>
                  </a:lnTo>
                  <a:lnTo>
                    <a:pt x="16522" y="571500"/>
                  </a:lnTo>
                  <a:lnTo>
                    <a:pt x="0" y="588035"/>
                  </a:lnTo>
                  <a:lnTo>
                    <a:pt x="0" y="593077"/>
                  </a:lnTo>
                  <a:lnTo>
                    <a:pt x="16522" y="609600"/>
                  </a:lnTo>
                  <a:lnTo>
                    <a:pt x="21577" y="609600"/>
                  </a:lnTo>
                  <a:lnTo>
                    <a:pt x="38100" y="593077"/>
                  </a:lnTo>
                  <a:lnTo>
                    <a:pt x="38100" y="590550"/>
                  </a:lnTo>
                  <a:lnTo>
                    <a:pt x="38100" y="588035"/>
                  </a:lnTo>
                  <a:close/>
                </a:path>
                <a:path w="38100" h="609600">
                  <a:moveTo>
                    <a:pt x="38100" y="397535"/>
                  </a:moveTo>
                  <a:lnTo>
                    <a:pt x="21577" y="381000"/>
                  </a:lnTo>
                  <a:lnTo>
                    <a:pt x="16522" y="381000"/>
                  </a:lnTo>
                  <a:lnTo>
                    <a:pt x="0" y="397535"/>
                  </a:lnTo>
                  <a:lnTo>
                    <a:pt x="0" y="402577"/>
                  </a:lnTo>
                  <a:lnTo>
                    <a:pt x="16522" y="419100"/>
                  </a:lnTo>
                  <a:lnTo>
                    <a:pt x="21577" y="419100"/>
                  </a:lnTo>
                  <a:lnTo>
                    <a:pt x="38100" y="402577"/>
                  </a:lnTo>
                  <a:lnTo>
                    <a:pt x="38100" y="400050"/>
                  </a:lnTo>
                  <a:lnTo>
                    <a:pt x="38100" y="397535"/>
                  </a:lnTo>
                  <a:close/>
                </a:path>
                <a:path w="38100" h="609600">
                  <a:moveTo>
                    <a:pt x="38100" y="207035"/>
                  </a:moveTo>
                  <a:lnTo>
                    <a:pt x="21577" y="190500"/>
                  </a:lnTo>
                  <a:lnTo>
                    <a:pt x="16522" y="190500"/>
                  </a:lnTo>
                  <a:lnTo>
                    <a:pt x="0" y="207035"/>
                  </a:lnTo>
                  <a:lnTo>
                    <a:pt x="0" y="212077"/>
                  </a:lnTo>
                  <a:lnTo>
                    <a:pt x="16522" y="228600"/>
                  </a:lnTo>
                  <a:lnTo>
                    <a:pt x="21577" y="228600"/>
                  </a:lnTo>
                  <a:lnTo>
                    <a:pt x="38100" y="212077"/>
                  </a:lnTo>
                  <a:lnTo>
                    <a:pt x="38100" y="209550"/>
                  </a:lnTo>
                  <a:lnTo>
                    <a:pt x="38100" y="207035"/>
                  </a:lnTo>
                  <a:close/>
                </a:path>
                <a:path w="38100" h="609600">
                  <a:moveTo>
                    <a:pt x="38100" y="16535"/>
                  </a:moveTo>
                  <a:lnTo>
                    <a:pt x="21577" y="0"/>
                  </a:lnTo>
                  <a:lnTo>
                    <a:pt x="16522" y="0"/>
                  </a:lnTo>
                  <a:lnTo>
                    <a:pt x="0" y="16535"/>
                  </a:lnTo>
                  <a:lnTo>
                    <a:pt x="0" y="21577"/>
                  </a:lnTo>
                  <a:lnTo>
                    <a:pt x="16522" y="38100"/>
                  </a:lnTo>
                  <a:lnTo>
                    <a:pt x="21577" y="38100"/>
                  </a:lnTo>
                  <a:lnTo>
                    <a:pt x="38100" y="21577"/>
                  </a:lnTo>
                  <a:lnTo>
                    <a:pt x="38100" y="19050"/>
                  </a:lnTo>
                  <a:lnTo>
                    <a:pt x="38100" y="16535"/>
                  </a:lnTo>
                  <a:close/>
                </a:path>
              </a:pathLst>
            </a:custGeom>
            <a:solidFill>
              <a:srgbClr val="4A546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 descr=""/>
            <p:cNvSpPr/>
            <p:nvPr/>
          </p:nvSpPr>
          <p:spPr>
            <a:xfrm>
              <a:off x="9034460" y="4195761"/>
              <a:ext cx="2419350" cy="1304925"/>
            </a:xfrm>
            <a:custGeom>
              <a:avLst/>
              <a:gdLst/>
              <a:ahLst/>
              <a:cxnLst/>
              <a:rect l="l" t="t" r="r" b="b"/>
              <a:pathLst>
                <a:path w="2419350" h="1304925">
                  <a:moveTo>
                    <a:pt x="2390432" y="1304924"/>
                  </a:moveTo>
                  <a:lnTo>
                    <a:pt x="28916" y="1304924"/>
                  </a:lnTo>
                  <a:lnTo>
                    <a:pt x="24663" y="1304078"/>
                  </a:lnTo>
                  <a:lnTo>
                    <a:pt x="0" y="1276007"/>
                  </a:lnTo>
                  <a:lnTo>
                    <a:pt x="0" y="1271587"/>
                  </a:lnTo>
                  <a:lnTo>
                    <a:pt x="0" y="28916"/>
                  </a:lnTo>
                  <a:lnTo>
                    <a:pt x="28916" y="0"/>
                  </a:lnTo>
                  <a:lnTo>
                    <a:pt x="2390432" y="0"/>
                  </a:lnTo>
                  <a:lnTo>
                    <a:pt x="2419349" y="28916"/>
                  </a:lnTo>
                  <a:lnTo>
                    <a:pt x="2419349" y="1276007"/>
                  </a:lnTo>
                  <a:lnTo>
                    <a:pt x="2394684" y="1304078"/>
                  </a:lnTo>
                  <a:lnTo>
                    <a:pt x="2390432" y="13049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 descr=""/>
            <p:cNvSpPr/>
            <p:nvPr/>
          </p:nvSpPr>
          <p:spPr>
            <a:xfrm>
              <a:off x="9034460" y="4195761"/>
              <a:ext cx="2419350" cy="1304925"/>
            </a:xfrm>
            <a:custGeom>
              <a:avLst/>
              <a:gdLst/>
              <a:ahLst/>
              <a:cxnLst/>
              <a:rect l="l" t="t" r="r" b="b"/>
              <a:pathLst>
                <a:path w="2419350" h="1304925">
                  <a:moveTo>
                    <a:pt x="0" y="1271587"/>
                  </a:moveTo>
                  <a:lnTo>
                    <a:pt x="0" y="33337"/>
                  </a:lnTo>
                  <a:lnTo>
                    <a:pt x="0" y="28916"/>
                  </a:lnTo>
                  <a:lnTo>
                    <a:pt x="845" y="24663"/>
                  </a:lnTo>
                  <a:lnTo>
                    <a:pt x="2537" y="20579"/>
                  </a:lnTo>
                  <a:lnTo>
                    <a:pt x="4228" y="16494"/>
                  </a:lnTo>
                  <a:lnTo>
                    <a:pt x="6637" y="12889"/>
                  </a:lnTo>
                  <a:lnTo>
                    <a:pt x="9764" y="9763"/>
                  </a:lnTo>
                  <a:lnTo>
                    <a:pt x="12889" y="6637"/>
                  </a:lnTo>
                  <a:lnTo>
                    <a:pt x="16494" y="4228"/>
                  </a:lnTo>
                  <a:lnTo>
                    <a:pt x="20578" y="2537"/>
                  </a:lnTo>
                  <a:lnTo>
                    <a:pt x="24663" y="845"/>
                  </a:lnTo>
                  <a:lnTo>
                    <a:pt x="28916" y="0"/>
                  </a:lnTo>
                  <a:lnTo>
                    <a:pt x="33338" y="0"/>
                  </a:lnTo>
                  <a:lnTo>
                    <a:pt x="2386012" y="0"/>
                  </a:lnTo>
                  <a:lnTo>
                    <a:pt x="2390432" y="0"/>
                  </a:lnTo>
                  <a:lnTo>
                    <a:pt x="2394684" y="845"/>
                  </a:lnTo>
                  <a:lnTo>
                    <a:pt x="2419350" y="33337"/>
                  </a:lnTo>
                  <a:lnTo>
                    <a:pt x="2419350" y="1271587"/>
                  </a:lnTo>
                  <a:lnTo>
                    <a:pt x="2394684" y="1304078"/>
                  </a:lnTo>
                  <a:lnTo>
                    <a:pt x="2386012" y="1304924"/>
                  </a:lnTo>
                  <a:lnTo>
                    <a:pt x="33338" y="1304924"/>
                  </a:lnTo>
                  <a:lnTo>
                    <a:pt x="9764" y="1295159"/>
                  </a:lnTo>
                  <a:lnTo>
                    <a:pt x="6637" y="1292033"/>
                  </a:lnTo>
                  <a:lnTo>
                    <a:pt x="4228" y="1288428"/>
                  </a:lnTo>
                  <a:lnTo>
                    <a:pt x="2537" y="1284344"/>
                  </a:lnTo>
                  <a:lnTo>
                    <a:pt x="845" y="1280260"/>
                  </a:lnTo>
                  <a:lnTo>
                    <a:pt x="0" y="1276007"/>
                  </a:lnTo>
                  <a:lnTo>
                    <a:pt x="0" y="1271587"/>
                  </a:lnTo>
                </a:path>
              </a:pathLst>
            </a:custGeom>
            <a:ln w="9524">
              <a:solidFill>
                <a:srgbClr val="E4E7E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9" name="object 49" descr=""/>
          <p:cNvSpPr txBox="1"/>
          <p:nvPr/>
        </p:nvSpPr>
        <p:spPr>
          <a:xfrm>
            <a:off x="6750050" y="4588969"/>
            <a:ext cx="1751330" cy="7874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60325">
              <a:lnSpc>
                <a:spcPct val="108700"/>
              </a:lnSpc>
              <a:spcBef>
                <a:spcPts val="95"/>
              </a:spcBef>
            </a:pPr>
            <a:r>
              <a:rPr dirty="0" sz="1150" spc="-60">
                <a:solidFill>
                  <a:srgbClr val="4A5462"/>
                </a:solidFill>
                <a:latin typeface="Roboto"/>
                <a:cs typeface="Roboto"/>
              </a:rPr>
              <a:t>12.66</a:t>
            </a:r>
            <a:r>
              <a:rPr dirty="0" sz="1150" spc="-5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1150" spc="-60">
                <a:solidFill>
                  <a:srgbClr val="4A5462"/>
                </a:solidFill>
                <a:latin typeface="Roboto"/>
                <a:cs typeface="Roboto"/>
              </a:rPr>
              <a:t>kV</a:t>
            </a:r>
            <a:r>
              <a:rPr dirty="0" sz="1150" spc="-5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1150" spc="-55">
                <a:solidFill>
                  <a:srgbClr val="4A5462"/>
                </a:solidFill>
                <a:latin typeface="Roboto"/>
                <a:cs typeface="Roboto"/>
              </a:rPr>
              <a:t>balanced</a:t>
            </a:r>
            <a:r>
              <a:rPr dirty="0" sz="1150" spc="-5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1150" spc="-10">
                <a:solidFill>
                  <a:srgbClr val="4A5462"/>
                </a:solidFill>
                <a:latin typeface="Roboto"/>
                <a:cs typeface="Roboto"/>
              </a:rPr>
              <a:t>system </a:t>
            </a:r>
            <a:r>
              <a:rPr dirty="0" sz="1150" spc="-60">
                <a:solidFill>
                  <a:srgbClr val="4A5462"/>
                </a:solidFill>
                <a:latin typeface="Roboto"/>
                <a:cs typeface="Roboto"/>
              </a:rPr>
              <a:t>37</a:t>
            </a:r>
            <a:r>
              <a:rPr dirty="0" sz="1150" spc="-15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1150" spc="-60">
                <a:solidFill>
                  <a:srgbClr val="4A5462"/>
                </a:solidFill>
                <a:latin typeface="Roboto"/>
                <a:cs typeface="Roboto"/>
              </a:rPr>
              <a:t>branches</a:t>
            </a:r>
            <a:r>
              <a:rPr dirty="0" sz="1150" spc="-10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1150" spc="-55">
                <a:solidFill>
                  <a:srgbClr val="4A5462"/>
                </a:solidFill>
                <a:latin typeface="Roboto"/>
                <a:cs typeface="Roboto"/>
              </a:rPr>
              <a:t>(5</a:t>
            </a:r>
            <a:r>
              <a:rPr dirty="0" sz="1150" spc="-10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1150" spc="-40">
                <a:solidFill>
                  <a:srgbClr val="4A5462"/>
                </a:solidFill>
                <a:latin typeface="Roboto"/>
                <a:cs typeface="Roboto"/>
              </a:rPr>
              <a:t>tie</a:t>
            </a:r>
            <a:r>
              <a:rPr dirty="0" sz="1150" spc="-10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1150" spc="-55">
                <a:solidFill>
                  <a:srgbClr val="4A5462"/>
                </a:solidFill>
                <a:latin typeface="Roboto"/>
                <a:cs typeface="Roboto"/>
              </a:rPr>
              <a:t>switches</a:t>
            </a:r>
            <a:r>
              <a:rPr dirty="0" sz="1150" spc="-55">
                <a:solidFill>
                  <a:srgbClr val="4A5462"/>
                </a:solidFill>
                <a:latin typeface="Roboto"/>
                <a:cs typeface="Roboto"/>
              </a:rPr>
              <a:t>)</a:t>
            </a:r>
            <a:endParaRPr sz="115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150" spc="-50">
                <a:solidFill>
                  <a:srgbClr val="4A5462"/>
                </a:solidFill>
                <a:latin typeface="Roboto"/>
                <a:cs typeface="Roboto"/>
              </a:rPr>
              <a:t>3.7</a:t>
            </a:r>
            <a:r>
              <a:rPr dirty="0" sz="1150" spc="-5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1150" spc="-100">
                <a:solidFill>
                  <a:srgbClr val="4A5462"/>
                </a:solidFill>
                <a:latin typeface="Roboto"/>
                <a:cs typeface="Roboto"/>
              </a:rPr>
              <a:t>MW,</a:t>
            </a:r>
            <a:r>
              <a:rPr dirty="0" sz="1150" spc="-5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1150" spc="-50">
                <a:solidFill>
                  <a:srgbClr val="4A5462"/>
                </a:solidFill>
                <a:latin typeface="Roboto"/>
                <a:cs typeface="Roboto"/>
              </a:rPr>
              <a:t>2.3</a:t>
            </a:r>
            <a:r>
              <a:rPr dirty="0" sz="1150" spc="-5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1150" spc="-70">
                <a:solidFill>
                  <a:srgbClr val="4A5462"/>
                </a:solidFill>
                <a:latin typeface="Roboto"/>
                <a:cs typeface="Roboto"/>
              </a:rPr>
              <a:t>Mvar</a:t>
            </a:r>
            <a:r>
              <a:rPr dirty="0" sz="1150" spc="-5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1150" spc="-50">
                <a:solidFill>
                  <a:srgbClr val="4A5462"/>
                </a:solidFill>
                <a:latin typeface="Roboto"/>
                <a:cs typeface="Roboto"/>
              </a:rPr>
              <a:t>total</a:t>
            </a:r>
            <a:r>
              <a:rPr dirty="0" sz="1150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1150" spc="-20">
                <a:solidFill>
                  <a:srgbClr val="4A5462"/>
                </a:solidFill>
                <a:latin typeface="Roboto"/>
                <a:cs typeface="Roboto"/>
              </a:rPr>
              <a:t>load</a:t>
            </a:r>
            <a:endParaRPr sz="115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150" spc="-50">
                <a:solidFill>
                  <a:srgbClr val="4A5462"/>
                </a:solidFill>
                <a:latin typeface="Roboto"/>
                <a:cs typeface="Roboto"/>
              </a:rPr>
              <a:t>1.5</a:t>
            </a:r>
            <a:r>
              <a:rPr dirty="0" sz="1150" spc="-10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1150" spc="-105">
                <a:solidFill>
                  <a:srgbClr val="4A5462"/>
                </a:solidFill>
                <a:latin typeface="Roboto"/>
                <a:cs typeface="Roboto"/>
              </a:rPr>
              <a:t>MW</a:t>
            </a:r>
            <a:r>
              <a:rPr dirty="0" sz="1150" spc="-10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1150" spc="-45">
                <a:solidFill>
                  <a:srgbClr val="4A5462"/>
                </a:solidFill>
                <a:latin typeface="Roboto"/>
                <a:cs typeface="Roboto"/>
              </a:rPr>
              <a:t>distributed</a:t>
            </a:r>
            <a:r>
              <a:rPr dirty="0" sz="1150" spc="-5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1150" spc="-65">
                <a:solidFill>
                  <a:srgbClr val="4A5462"/>
                </a:solidFill>
                <a:latin typeface="Roboto"/>
                <a:cs typeface="Roboto"/>
              </a:rPr>
              <a:t>PV</a:t>
            </a:r>
            <a:r>
              <a:rPr dirty="0" sz="1150" spc="-10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1150" spc="-55">
                <a:solidFill>
                  <a:srgbClr val="4A5462"/>
                </a:solidFill>
                <a:latin typeface="Roboto"/>
                <a:cs typeface="Roboto"/>
              </a:rPr>
              <a:t>added</a:t>
            </a:r>
            <a:endParaRPr sz="1150">
              <a:latin typeface="Roboto"/>
              <a:cs typeface="Roboto"/>
            </a:endParaRPr>
          </a:p>
        </p:txBody>
      </p:sp>
      <p:sp>
        <p:nvSpPr>
          <p:cNvPr id="50" name="object 50" descr=""/>
          <p:cNvSpPr txBox="1"/>
          <p:nvPr/>
        </p:nvSpPr>
        <p:spPr>
          <a:xfrm>
            <a:off x="9140825" y="4299606"/>
            <a:ext cx="935990" cy="2228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spc="-55" b="0">
                <a:solidFill>
                  <a:srgbClr val="1F2937"/>
                </a:solidFill>
                <a:latin typeface="Roboto Medium"/>
                <a:cs typeface="Roboto Medium"/>
              </a:rPr>
              <a:t>IEEE</a:t>
            </a:r>
            <a:r>
              <a:rPr dirty="0" sz="1300" spc="15" b="0">
                <a:solidFill>
                  <a:srgbClr val="1F2937"/>
                </a:solidFill>
                <a:latin typeface="Roboto Medium"/>
                <a:cs typeface="Roboto Medium"/>
              </a:rPr>
              <a:t> </a:t>
            </a:r>
            <a:r>
              <a:rPr dirty="0" sz="1300" spc="-65" b="0">
                <a:solidFill>
                  <a:srgbClr val="1F2937"/>
                </a:solidFill>
                <a:latin typeface="Roboto Medium"/>
                <a:cs typeface="Roboto Medium"/>
              </a:rPr>
              <a:t>123-</a:t>
            </a:r>
            <a:r>
              <a:rPr dirty="0" sz="1300" spc="-35" b="0">
                <a:solidFill>
                  <a:srgbClr val="1F2937"/>
                </a:solidFill>
                <a:latin typeface="Roboto Medium"/>
                <a:cs typeface="Roboto Medium"/>
              </a:rPr>
              <a:t>Bus</a:t>
            </a:r>
            <a:endParaRPr sz="1300">
              <a:latin typeface="Roboto Medium"/>
              <a:cs typeface="Roboto Medium"/>
            </a:endParaRPr>
          </a:p>
        </p:txBody>
      </p:sp>
      <p:grpSp>
        <p:nvGrpSpPr>
          <p:cNvPr id="51" name="object 51" descr=""/>
          <p:cNvGrpSpPr/>
          <p:nvPr/>
        </p:nvGrpSpPr>
        <p:grpSpPr>
          <a:xfrm>
            <a:off x="152399" y="4705349"/>
            <a:ext cx="11887200" cy="3429000"/>
            <a:chOff x="152399" y="4705349"/>
            <a:chExt cx="11887200" cy="3429000"/>
          </a:xfrm>
        </p:grpSpPr>
        <p:sp>
          <p:nvSpPr>
            <p:cNvPr id="52" name="object 52" descr=""/>
            <p:cNvSpPr/>
            <p:nvPr/>
          </p:nvSpPr>
          <p:spPr>
            <a:xfrm>
              <a:off x="9201137" y="4705349"/>
              <a:ext cx="38100" cy="609600"/>
            </a:xfrm>
            <a:custGeom>
              <a:avLst/>
              <a:gdLst/>
              <a:ahLst/>
              <a:cxnLst/>
              <a:rect l="l" t="t" r="r" b="b"/>
              <a:pathLst>
                <a:path w="38100" h="609600">
                  <a:moveTo>
                    <a:pt x="38100" y="588035"/>
                  </a:moveTo>
                  <a:lnTo>
                    <a:pt x="21577" y="571500"/>
                  </a:lnTo>
                  <a:lnTo>
                    <a:pt x="16522" y="571500"/>
                  </a:lnTo>
                  <a:lnTo>
                    <a:pt x="0" y="588035"/>
                  </a:lnTo>
                  <a:lnTo>
                    <a:pt x="0" y="593077"/>
                  </a:lnTo>
                  <a:lnTo>
                    <a:pt x="16522" y="609600"/>
                  </a:lnTo>
                  <a:lnTo>
                    <a:pt x="21577" y="609600"/>
                  </a:lnTo>
                  <a:lnTo>
                    <a:pt x="38100" y="593077"/>
                  </a:lnTo>
                  <a:lnTo>
                    <a:pt x="38100" y="590550"/>
                  </a:lnTo>
                  <a:lnTo>
                    <a:pt x="38100" y="588035"/>
                  </a:lnTo>
                  <a:close/>
                </a:path>
                <a:path w="38100" h="609600">
                  <a:moveTo>
                    <a:pt x="38100" y="397535"/>
                  </a:moveTo>
                  <a:lnTo>
                    <a:pt x="21577" y="381000"/>
                  </a:lnTo>
                  <a:lnTo>
                    <a:pt x="16522" y="381000"/>
                  </a:lnTo>
                  <a:lnTo>
                    <a:pt x="0" y="397535"/>
                  </a:lnTo>
                  <a:lnTo>
                    <a:pt x="0" y="402577"/>
                  </a:lnTo>
                  <a:lnTo>
                    <a:pt x="16522" y="419100"/>
                  </a:lnTo>
                  <a:lnTo>
                    <a:pt x="21577" y="419100"/>
                  </a:lnTo>
                  <a:lnTo>
                    <a:pt x="38100" y="402577"/>
                  </a:lnTo>
                  <a:lnTo>
                    <a:pt x="38100" y="400050"/>
                  </a:lnTo>
                  <a:lnTo>
                    <a:pt x="38100" y="397535"/>
                  </a:lnTo>
                  <a:close/>
                </a:path>
                <a:path w="38100" h="609600">
                  <a:moveTo>
                    <a:pt x="38100" y="207035"/>
                  </a:moveTo>
                  <a:lnTo>
                    <a:pt x="21577" y="190500"/>
                  </a:lnTo>
                  <a:lnTo>
                    <a:pt x="16522" y="190500"/>
                  </a:lnTo>
                  <a:lnTo>
                    <a:pt x="0" y="207035"/>
                  </a:lnTo>
                  <a:lnTo>
                    <a:pt x="0" y="212077"/>
                  </a:lnTo>
                  <a:lnTo>
                    <a:pt x="16522" y="228600"/>
                  </a:lnTo>
                  <a:lnTo>
                    <a:pt x="21577" y="228600"/>
                  </a:lnTo>
                  <a:lnTo>
                    <a:pt x="38100" y="212077"/>
                  </a:lnTo>
                  <a:lnTo>
                    <a:pt x="38100" y="209550"/>
                  </a:lnTo>
                  <a:lnTo>
                    <a:pt x="38100" y="207035"/>
                  </a:lnTo>
                  <a:close/>
                </a:path>
                <a:path w="38100" h="609600">
                  <a:moveTo>
                    <a:pt x="38100" y="16535"/>
                  </a:moveTo>
                  <a:lnTo>
                    <a:pt x="21577" y="0"/>
                  </a:lnTo>
                  <a:lnTo>
                    <a:pt x="16522" y="0"/>
                  </a:lnTo>
                  <a:lnTo>
                    <a:pt x="0" y="16535"/>
                  </a:lnTo>
                  <a:lnTo>
                    <a:pt x="0" y="21577"/>
                  </a:lnTo>
                  <a:lnTo>
                    <a:pt x="16522" y="38100"/>
                  </a:lnTo>
                  <a:lnTo>
                    <a:pt x="21577" y="38100"/>
                  </a:lnTo>
                  <a:lnTo>
                    <a:pt x="38100" y="21577"/>
                  </a:lnTo>
                  <a:lnTo>
                    <a:pt x="38100" y="19050"/>
                  </a:lnTo>
                  <a:lnTo>
                    <a:pt x="38100" y="16535"/>
                  </a:lnTo>
                  <a:close/>
                </a:path>
              </a:pathLst>
            </a:custGeom>
            <a:solidFill>
              <a:srgbClr val="4A546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 descr=""/>
            <p:cNvSpPr/>
            <p:nvPr/>
          </p:nvSpPr>
          <p:spPr>
            <a:xfrm>
              <a:off x="152399" y="7705724"/>
              <a:ext cx="11887200" cy="428625"/>
            </a:xfrm>
            <a:custGeom>
              <a:avLst/>
              <a:gdLst/>
              <a:ahLst/>
              <a:cxnLst/>
              <a:rect l="l" t="t" r="r" b="b"/>
              <a:pathLst>
                <a:path w="11887200" h="428625">
                  <a:moveTo>
                    <a:pt x="11810999" y="428624"/>
                  </a:moveTo>
                  <a:lnTo>
                    <a:pt x="76200" y="428624"/>
                  </a:lnTo>
                  <a:lnTo>
                    <a:pt x="68693" y="428262"/>
                  </a:lnTo>
                  <a:lnTo>
                    <a:pt x="27882" y="411357"/>
                  </a:lnTo>
                  <a:lnTo>
                    <a:pt x="3262" y="374511"/>
                  </a:lnTo>
                  <a:lnTo>
                    <a:pt x="0" y="352425"/>
                  </a:lnTo>
                  <a:lnTo>
                    <a:pt x="0" y="0"/>
                  </a:lnTo>
                  <a:lnTo>
                    <a:pt x="11887199" y="0"/>
                  </a:lnTo>
                  <a:lnTo>
                    <a:pt x="11887199" y="352425"/>
                  </a:lnTo>
                  <a:lnTo>
                    <a:pt x="11874368" y="394766"/>
                  </a:lnTo>
                  <a:lnTo>
                    <a:pt x="11840158" y="422824"/>
                  </a:lnTo>
                  <a:lnTo>
                    <a:pt x="11810999" y="428624"/>
                  </a:lnTo>
                  <a:close/>
                </a:path>
              </a:pathLst>
            </a:custGeom>
            <a:solidFill>
              <a:srgbClr val="F2F4F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4" name="object 54" descr=""/>
            <p:cNvSpPr/>
            <p:nvPr/>
          </p:nvSpPr>
          <p:spPr>
            <a:xfrm>
              <a:off x="152399" y="7705723"/>
              <a:ext cx="11887200" cy="9525"/>
            </a:xfrm>
            <a:custGeom>
              <a:avLst/>
              <a:gdLst/>
              <a:ahLst/>
              <a:cxnLst/>
              <a:rect l="l" t="t" r="r" b="b"/>
              <a:pathLst>
                <a:path w="11887200" h="9525">
                  <a:moveTo>
                    <a:pt x="11887199" y="9524"/>
                  </a:moveTo>
                  <a:lnTo>
                    <a:pt x="0" y="9524"/>
                  </a:lnTo>
                  <a:lnTo>
                    <a:pt x="0" y="0"/>
                  </a:lnTo>
                  <a:lnTo>
                    <a:pt x="11887199" y="0"/>
                  </a:lnTo>
                  <a:lnTo>
                    <a:pt x="11887199" y="9524"/>
                  </a:lnTo>
                  <a:close/>
                </a:path>
              </a:pathLst>
            </a:custGeom>
            <a:solidFill>
              <a:srgbClr val="D0D5D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5" name="object 55" descr=""/>
            <p:cNvSpPr/>
            <p:nvPr/>
          </p:nvSpPr>
          <p:spPr>
            <a:xfrm>
              <a:off x="10544174" y="7772399"/>
              <a:ext cx="1457325" cy="323850"/>
            </a:xfrm>
            <a:custGeom>
              <a:avLst/>
              <a:gdLst/>
              <a:ahLst/>
              <a:cxnLst/>
              <a:rect l="l" t="t" r="r" b="b"/>
              <a:pathLst>
                <a:path w="1457325" h="323850">
                  <a:moveTo>
                    <a:pt x="1424277" y="323849"/>
                  </a:moveTo>
                  <a:lnTo>
                    <a:pt x="33047" y="323849"/>
                  </a:lnTo>
                  <a:lnTo>
                    <a:pt x="28187" y="322883"/>
                  </a:lnTo>
                  <a:lnTo>
                    <a:pt x="966" y="295662"/>
                  </a:lnTo>
                  <a:lnTo>
                    <a:pt x="0" y="290802"/>
                  </a:lnTo>
                  <a:lnTo>
                    <a:pt x="0" y="285749"/>
                  </a:lnTo>
                  <a:lnTo>
                    <a:pt x="0" y="33047"/>
                  </a:lnTo>
                  <a:lnTo>
                    <a:pt x="28187" y="966"/>
                  </a:lnTo>
                  <a:lnTo>
                    <a:pt x="33047" y="0"/>
                  </a:lnTo>
                  <a:lnTo>
                    <a:pt x="1424277" y="0"/>
                  </a:lnTo>
                  <a:lnTo>
                    <a:pt x="1456357" y="28187"/>
                  </a:lnTo>
                  <a:lnTo>
                    <a:pt x="1457324" y="33047"/>
                  </a:lnTo>
                  <a:lnTo>
                    <a:pt x="1457324" y="290802"/>
                  </a:lnTo>
                  <a:lnTo>
                    <a:pt x="1429137" y="322883"/>
                  </a:lnTo>
                  <a:lnTo>
                    <a:pt x="1424277" y="323849"/>
                  </a:lnTo>
                  <a:close/>
                </a:path>
              </a:pathLst>
            </a:custGeom>
            <a:solidFill>
              <a:srgbClr val="33333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6" name="object 56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0658474" y="7867649"/>
              <a:ext cx="133349" cy="133349"/>
            </a:xfrm>
            <a:prstGeom prst="rect">
              <a:avLst/>
            </a:prstGeom>
          </p:spPr>
        </p:pic>
      </p:grpSp>
      <p:sp>
        <p:nvSpPr>
          <p:cNvPr id="57" name="object 57" descr=""/>
          <p:cNvSpPr txBox="1"/>
          <p:nvPr/>
        </p:nvSpPr>
        <p:spPr>
          <a:xfrm>
            <a:off x="9331324" y="4588969"/>
            <a:ext cx="1675130" cy="7874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21590">
              <a:lnSpc>
                <a:spcPct val="108700"/>
              </a:lnSpc>
              <a:spcBef>
                <a:spcPts val="95"/>
              </a:spcBef>
            </a:pPr>
            <a:r>
              <a:rPr dirty="0" sz="1150" spc="-55">
                <a:solidFill>
                  <a:srgbClr val="4A5462"/>
                </a:solidFill>
                <a:latin typeface="Roboto"/>
                <a:cs typeface="Roboto"/>
              </a:rPr>
              <a:t>4.16</a:t>
            </a:r>
            <a:r>
              <a:rPr dirty="0" sz="1150" spc="-15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1150" spc="-60">
                <a:solidFill>
                  <a:srgbClr val="4A5462"/>
                </a:solidFill>
                <a:latin typeface="Roboto"/>
                <a:cs typeface="Roboto"/>
              </a:rPr>
              <a:t>kV</a:t>
            </a:r>
            <a:r>
              <a:rPr dirty="0" sz="1150" spc="-10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1150" spc="-55">
                <a:solidFill>
                  <a:srgbClr val="4A5462"/>
                </a:solidFill>
                <a:latin typeface="Roboto"/>
                <a:cs typeface="Roboto"/>
              </a:rPr>
              <a:t>unbalanced</a:t>
            </a:r>
            <a:r>
              <a:rPr dirty="0" sz="1150" spc="-10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1150" spc="-70">
                <a:solidFill>
                  <a:srgbClr val="4A5462"/>
                </a:solidFill>
                <a:latin typeface="Roboto"/>
                <a:cs typeface="Roboto"/>
              </a:rPr>
              <a:t>syste</a:t>
            </a:r>
            <a:r>
              <a:rPr dirty="0" sz="1150" spc="-70">
                <a:solidFill>
                  <a:srgbClr val="4A5462"/>
                </a:solidFill>
                <a:latin typeface="Roboto"/>
                <a:cs typeface="Roboto"/>
              </a:rPr>
              <a:t>m</a:t>
            </a:r>
            <a:r>
              <a:rPr dirty="0" sz="1150" spc="-70">
                <a:solidFill>
                  <a:srgbClr val="4A5462"/>
                </a:solidFill>
                <a:latin typeface="Roboto"/>
                <a:cs typeface="Roboto"/>
              </a:rPr>
              <a:t> Complex</a:t>
            </a:r>
            <a:r>
              <a:rPr dirty="0" sz="1150" spc="5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1150" spc="-45">
                <a:solidFill>
                  <a:srgbClr val="4A5462"/>
                </a:solidFill>
                <a:latin typeface="Roboto"/>
                <a:cs typeface="Roboto"/>
              </a:rPr>
              <a:t>laterals</a:t>
            </a:r>
            <a:r>
              <a:rPr dirty="0" sz="1150" spc="5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1150" spc="-10">
                <a:solidFill>
                  <a:srgbClr val="4A5462"/>
                </a:solidFill>
                <a:latin typeface="Roboto"/>
                <a:cs typeface="Roboto"/>
              </a:rPr>
              <a:t>structure</a:t>
            </a:r>
            <a:endParaRPr sz="115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150" spc="-50">
                <a:solidFill>
                  <a:srgbClr val="4A5462"/>
                </a:solidFill>
                <a:latin typeface="Roboto"/>
                <a:cs typeface="Roboto"/>
              </a:rPr>
              <a:t>3.5</a:t>
            </a:r>
            <a:r>
              <a:rPr dirty="0" sz="1150" spc="-5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1150" spc="-105">
                <a:solidFill>
                  <a:srgbClr val="4A5462"/>
                </a:solidFill>
                <a:latin typeface="Roboto"/>
                <a:cs typeface="Roboto"/>
              </a:rPr>
              <a:t>MW</a:t>
            </a:r>
            <a:r>
              <a:rPr dirty="0" sz="1150" spc="-5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1150" spc="-45">
                <a:solidFill>
                  <a:srgbClr val="4A5462"/>
                </a:solidFill>
                <a:latin typeface="Roboto"/>
                <a:cs typeface="Roboto"/>
              </a:rPr>
              <a:t>distributed</a:t>
            </a:r>
            <a:r>
              <a:rPr dirty="0" sz="1150" spc="-5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1150" spc="-20">
                <a:solidFill>
                  <a:srgbClr val="4A5462"/>
                </a:solidFill>
                <a:latin typeface="Roboto"/>
                <a:cs typeface="Roboto"/>
              </a:rPr>
              <a:t>load</a:t>
            </a:r>
            <a:endParaRPr sz="115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150" spc="-60">
                <a:solidFill>
                  <a:srgbClr val="4A5462"/>
                </a:solidFill>
                <a:latin typeface="Roboto"/>
                <a:cs typeface="Roboto"/>
              </a:rPr>
              <a:t>2</a:t>
            </a:r>
            <a:r>
              <a:rPr dirty="0" sz="1150" spc="-20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1150" spc="-105">
                <a:solidFill>
                  <a:srgbClr val="4A5462"/>
                </a:solidFill>
                <a:latin typeface="Roboto"/>
                <a:cs typeface="Roboto"/>
              </a:rPr>
              <a:t>MW</a:t>
            </a:r>
            <a:r>
              <a:rPr dirty="0" sz="1150" spc="-20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1150" spc="-55">
                <a:solidFill>
                  <a:srgbClr val="4A5462"/>
                </a:solidFill>
                <a:latin typeface="Roboto"/>
                <a:cs typeface="Roboto"/>
              </a:rPr>
              <a:t>renewable</a:t>
            </a:r>
            <a:r>
              <a:rPr dirty="0" sz="1150" spc="-15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1150" spc="-50">
                <a:solidFill>
                  <a:srgbClr val="4A5462"/>
                </a:solidFill>
                <a:latin typeface="Roboto"/>
                <a:cs typeface="Roboto"/>
              </a:rPr>
              <a:t>generation</a:t>
            </a:r>
            <a:endParaRPr sz="1150">
              <a:latin typeface="Roboto"/>
              <a:cs typeface="Roboto"/>
            </a:endParaRPr>
          </a:p>
        </p:txBody>
      </p:sp>
      <p:sp>
        <p:nvSpPr>
          <p:cNvPr id="71" name="object 71" descr=""/>
          <p:cNvSpPr txBox="1"/>
          <p:nvPr/>
        </p:nvSpPr>
        <p:spPr>
          <a:xfrm>
            <a:off x="520700" y="7858345"/>
            <a:ext cx="2289175" cy="15557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30"/>
              </a:lnSpc>
            </a:pPr>
            <a:r>
              <a:rPr dirty="0" sz="1150" spc="-60">
                <a:solidFill>
                  <a:srgbClr val="6A7280"/>
                </a:solidFill>
                <a:latin typeface="Roboto"/>
                <a:cs typeface="Roboto"/>
              </a:rPr>
              <a:t>IEEE</a:t>
            </a:r>
            <a:r>
              <a:rPr dirty="0" sz="1150">
                <a:solidFill>
                  <a:srgbClr val="6A7280"/>
                </a:solidFill>
                <a:latin typeface="Roboto"/>
                <a:cs typeface="Roboto"/>
              </a:rPr>
              <a:t> </a:t>
            </a:r>
            <a:r>
              <a:rPr dirty="0" sz="1150" spc="-70">
                <a:solidFill>
                  <a:srgbClr val="6A7280"/>
                </a:solidFill>
                <a:latin typeface="Roboto"/>
                <a:cs typeface="Roboto"/>
              </a:rPr>
              <a:t>Power</a:t>
            </a:r>
            <a:r>
              <a:rPr dirty="0" sz="1150" spc="5">
                <a:solidFill>
                  <a:srgbClr val="6A7280"/>
                </a:solidFill>
                <a:latin typeface="Roboto"/>
                <a:cs typeface="Roboto"/>
              </a:rPr>
              <a:t> </a:t>
            </a:r>
            <a:r>
              <a:rPr dirty="0" sz="1150" spc="-60">
                <a:solidFill>
                  <a:srgbClr val="6A7280"/>
                </a:solidFill>
                <a:latin typeface="Roboto"/>
                <a:cs typeface="Roboto"/>
              </a:rPr>
              <a:t>Systems</a:t>
            </a:r>
            <a:r>
              <a:rPr dirty="0" sz="1150">
                <a:solidFill>
                  <a:srgbClr val="6A7280"/>
                </a:solidFill>
                <a:latin typeface="Roboto"/>
                <a:cs typeface="Roboto"/>
              </a:rPr>
              <a:t> </a:t>
            </a:r>
            <a:r>
              <a:rPr dirty="0" sz="1150" spc="-60">
                <a:solidFill>
                  <a:srgbClr val="6A7280"/>
                </a:solidFill>
                <a:latin typeface="Roboto"/>
                <a:cs typeface="Roboto"/>
              </a:rPr>
              <a:t>Conference</a:t>
            </a:r>
            <a:r>
              <a:rPr dirty="0" sz="1150" spc="5">
                <a:solidFill>
                  <a:srgbClr val="6A7280"/>
                </a:solidFill>
                <a:latin typeface="Roboto"/>
                <a:cs typeface="Roboto"/>
              </a:rPr>
              <a:t> </a:t>
            </a:r>
            <a:r>
              <a:rPr dirty="0" sz="1150" spc="-30">
                <a:solidFill>
                  <a:srgbClr val="6A7280"/>
                </a:solidFill>
                <a:latin typeface="Roboto"/>
                <a:cs typeface="Roboto"/>
              </a:rPr>
              <a:t>2023</a:t>
            </a:r>
            <a:endParaRPr sz="1150">
              <a:latin typeface="Roboto"/>
              <a:cs typeface="Roboto"/>
            </a:endParaRPr>
          </a:p>
        </p:txBody>
      </p:sp>
      <p:sp>
        <p:nvSpPr>
          <p:cNvPr id="72" name="object 72" descr=""/>
          <p:cNvSpPr txBox="1"/>
          <p:nvPr/>
        </p:nvSpPr>
        <p:spPr>
          <a:xfrm>
            <a:off x="10833000" y="7858345"/>
            <a:ext cx="1066800" cy="15557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30"/>
              </a:lnSpc>
            </a:pPr>
            <a:r>
              <a:rPr dirty="0" sz="1000" spc="-55">
                <a:solidFill>
                  <a:srgbClr val="FFFFFF"/>
                </a:solidFill>
                <a:latin typeface="Roboto"/>
                <a:cs typeface="Roboto"/>
              </a:rPr>
              <a:t>Ma</a:t>
            </a:r>
            <a:r>
              <a:rPr dirty="0" sz="1000" spc="-204">
                <a:solidFill>
                  <a:srgbClr val="FFFFFF"/>
                </a:solidFill>
                <a:latin typeface="Roboto"/>
                <a:cs typeface="Roboto"/>
              </a:rPr>
              <a:t>d</a:t>
            </a:r>
            <a:r>
              <a:rPr dirty="0" sz="1150" spc="-600">
                <a:solidFill>
                  <a:srgbClr val="6A7280"/>
                </a:solidFill>
                <a:latin typeface="Roboto"/>
                <a:cs typeface="Roboto"/>
              </a:rPr>
              <a:t>S</a:t>
            </a:r>
            <a:r>
              <a:rPr dirty="0" sz="1000" spc="-40">
                <a:solidFill>
                  <a:srgbClr val="FFFFFF"/>
                </a:solidFill>
                <a:latin typeface="Roboto"/>
                <a:cs typeface="Roboto"/>
              </a:rPr>
              <a:t>e</a:t>
            </a:r>
            <a:r>
              <a:rPr dirty="0" sz="1150" spc="-110">
                <a:solidFill>
                  <a:srgbClr val="6A7280"/>
                </a:solidFill>
                <a:latin typeface="Roboto"/>
                <a:cs typeface="Roboto"/>
              </a:rPr>
              <a:t>l</a:t>
            </a:r>
            <a:r>
              <a:rPr dirty="0" sz="1000" spc="-755">
                <a:solidFill>
                  <a:srgbClr val="FFFFFF"/>
                </a:solidFill>
                <a:latin typeface="Roboto"/>
                <a:cs typeface="Roboto"/>
              </a:rPr>
              <a:t>w</a:t>
            </a:r>
            <a:r>
              <a:rPr dirty="0" sz="1150" spc="-55">
                <a:solidFill>
                  <a:srgbClr val="6A7280"/>
                </a:solidFill>
                <a:latin typeface="Roboto"/>
                <a:cs typeface="Roboto"/>
              </a:rPr>
              <a:t>i</a:t>
            </a:r>
            <a:r>
              <a:rPr dirty="0" sz="1150" spc="-300">
                <a:solidFill>
                  <a:srgbClr val="6A7280"/>
                </a:solidFill>
                <a:latin typeface="Roboto"/>
                <a:cs typeface="Roboto"/>
              </a:rPr>
              <a:t>d</a:t>
            </a:r>
            <a:r>
              <a:rPr dirty="0" sz="1000" spc="-55">
                <a:solidFill>
                  <a:srgbClr val="FFFFFF"/>
                </a:solidFill>
                <a:latin typeface="Roboto"/>
                <a:cs typeface="Roboto"/>
              </a:rPr>
              <a:t>i</a:t>
            </a:r>
            <a:r>
              <a:rPr dirty="0" sz="1000" spc="-395">
                <a:solidFill>
                  <a:srgbClr val="FFFFFF"/>
                </a:solidFill>
                <a:latin typeface="Roboto"/>
                <a:cs typeface="Roboto"/>
              </a:rPr>
              <a:t>t</a:t>
            </a:r>
            <a:r>
              <a:rPr dirty="0" sz="1150" spc="-350">
                <a:solidFill>
                  <a:srgbClr val="6A7280"/>
                </a:solidFill>
                <a:latin typeface="Roboto"/>
                <a:cs typeface="Roboto"/>
              </a:rPr>
              <a:t>e</a:t>
            </a:r>
            <a:r>
              <a:rPr dirty="0" sz="1000" spc="-30">
                <a:solidFill>
                  <a:srgbClr val="FFFFFF"/>
                </a:solidFill>
                <a:latin typeface="Roboto"/>
                <a:cs typeface="Roboto"/>
              </a:rPr>
              <a:t>h</a:t>
            </a:r>
            <a:fld id="{81D60167-4931-47E6-BA6A-407CBD079E47}" type="slidenum">
              <a:rPr dirty="0" sz="1150" spc="-55">
                <a:solidFill>
                  <a:srgbClr val="6A7280"/>
                </a:solidFill>
                <a:latin typeface="Roboto"/>
                <a:cs typeface="Roboto"/>
              </a:rPr>
              <a:t>4</a:t>
            </a:fld>
            <a:r>
              <a:rPr dirty="0" sz="1000" spc="-300">
                <a:solidFill>
                  <a:srgbClr val="FFFFFF"/>
                </a:solidFill>
                <a:latin typeface="Roboto"/>
                <a:cs typeface="Roboto"/>
              </a:rPr>
              <a:t>G</a:t>
            </a:r>
            <a:r>
              <a:rPr dirty="0" sz="1150" spc="-300">
                <a:solidFill>
                  <a:srgbClr val="6A7280"/>
                </a:solidFill>
                <a:latin typeface="Roboto"/>
                <a:cs typeface="Roboto"/>
              </a:rPr>
              <a:t>/</a:t>
            </a:r>
            <a:r>
              <a:rPr dirty="0" sz="1000" spc="-350">
                <a:solidFill>
                  <a:srgbClr val="FFFFFF"/>
                </a:solidFill>
                <a:latin typeface="Roboto"/>
                <a:cs typeface="Roboto"/>
              </a:rPr>
              <a:t>e</a:t>
            </a:r>
            <a:r>
              <a:rPr dirty="0" sz="1150" spc="-420">
                <a:solidFill>
                  <a:srgbClr val="6A7280"/>
                </a:solidFill>
                <a:latin typeface="Roboto"/>
                <a:cs typeface="Roboto"/>
              </a:rPr>
              <a:t>1</a:t>
            </a:r>
            <a:r>
              <a:rPr dirty="0" sz="1000" spc="-250">
                <a:solidFill>
                  <a:srgbClr val="FFFFFF"/>
                </a:solidFill>
                <a:latin typeface="Roboto"/>
                <a:cs typeface="Roboto"/>
              </a:rPr>
              <a:t>n</a:t>
            </a:r>
            <a:r>
              <a:rPr dirty="0" sz="1150" spc="-525">
                <a:solidFill>
                  <a:srgbClr val="6A7280"/>
                </a:solidFill>
                <a:latin typeface="Roboto"/>
                <a:cs typeface="Roboto"/>
              </a:rPr>
              <a:t>0</a:t>
            </a:r>
            <a:r>
              <a:rPr dirty="0" sz="1000" spc="-55">
                <a:solidFill>
                  <a:srgbClr val="FFFFFF"/>
                </a:solidFill>
                <a:latin typeface="Roboto"/>
                <a:cs typeface="Roboto"/>
              </a:rPr>
              <a:t>spark</a:t>
            </a:r>
            <a:endParaRPr sz="1000">
              <a:latin typeface="Roboto"/>
              <a:cs typeface="Roboto"/>
            </a:endParaRPr>
          </a:p>
        </p:txBody>
      </p:sp>
      <p:sp>
        <p:nvSpPr>
          <p:cNvPr id="58" name="object 58" descr=""/>
          <p:cNvSpPr txBox="1"/>
          <p:nvPr/>
        </p:nvSpPr>
        <p:spPr>
          <a:xfrm>
            <a:off x="5308054" y="6397386"/>
            <a:ext cx="1576070" cy="2546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90" b="0">
                <a:solidFill>
                  <a:srgbClr val="374050"/>
                </a:solidFill>
                <a:latin typeface="Roboto Medium"/>
                <a:cs typeface="Roboto Medium"/>
              </a:rPr>
              <a:t>Problem</a:t>
            </a:r>
            <a:r>
              <a:rPr dirty="0" sz="1500" spc="-35" b="0">
                <a:solidFill>
                  <a:srgbClr val="374050"/>
                </a:solidFill>
                <a:latin typeface="Roboto Medium"/>
                <a:cs typeface="Roboto Medium"/>
              </a:rPr>
              <a:t> </a:t>
            </a:r>
            <a:r>
              <a:rPr dirty="0" sz="1500" spc="-75" b="0">
                <a:solidFill>
                  <a:srgbClr val="374050"/>
                </a:solidFill>
                <a:latin typeface="Roboto Medium"/>
                <a:cs typeface="Roboto Medium"/>
              </a:rPr>
              <a:t>Complexity</a:t>
            </a:r>
            <a:endParaRPr sz="1500">
              <a:latin typeface="Roboto Medium"/>
              <a:cs typeface="Roboto Medium"/>
            </a:endParaRPr>
          </a:p>
        </p:txBody>
      </p:sp>
      <p:sp>
        <p:nvSpPr>
          <p:cNvPr id="59" name="object 59" descr=""/>
          <p:cNvSpPr txBox="1"/>
          <p:nvPr/>
        </p:nvSpPr>
        <p:spPr>
          <a:xfrm>
            <a:off x="2452935" y="6732904"/>
            <a:ext cx="621030" cy="22923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300" spc="-65" b="1">
                <a:solidFill>
                  <a:srgbClr val="DB2525"/>
                </a:solidFill>
                <a:latin typeface="Roboto"/>
                <a:cs typeface="Roboto"/>
              </a:rPr>
              <a:t>NP-</a:t>
            </a:r>
            <a:r>
              <a:rPr dirty="0" sz="1300" spc="-45" b="1">
                <a:solidFill>
                  <a:srgbClr val="DB2525"/>
                </a:solidFill>
                <a:latin typeface="Roboto"/>
                <a:cs typeface="Roboto"/>
              </a:rPr>
              <a:t>Hard</a:t>
            </a:r>
            <a:endParaRPr sz="1300">
              <a:latin typeface="Roboto"/>
              <a:cs typeface="Roboto"/>
            </a:endParaRPr>
          </a:p>
        </p:txBody>
      </p:sp>
      <p:sp>
        <p:nvSpPr>
          <p:cNvPr id="60" name="object 60" descr=""/>
          <p:cNvSpPr txBox="1"/>
          <p:nvPr/>
        </p:nvSpPr>
        <p:spPr>
          <a:xfrm>
            <a:off x="2127894" y="6963647"/>
            <a:ext cx="1271270" cy="20383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150" spc="-55">
                <a:solidFill>
                  <a:srgbClr val="4A5462"/>
                </a:solidFill>
                <a:latin typeface="Roboto"/>
                <a:cs typeface="Roboto"/>
              </a:rPr>
              <a:t>Combinatorial</a:t>
            </a:r>
            <a:r>
              <a:rPr dirty="0" sz="1150" spc="25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1150" spc="-40">
                <a:solidFill>
                  <a:srgbClr val="4A5462"/>
                </a:solidFill>
                <a:latin typeface="Roboto"/>
                <a:cs typeface="Roboto"/>
              </a:rPr>
              <a:t>nature</a:t>
            </a:r>
            <a:endParaRPr sz="1150">
              <a:latin typeface="Roboto"/>
              <a:cs typeface="Roboto"/>
            </a:endParaRPr>
          </a:p>
        </p:txBody>
      </p:sp>
      <p:sp>
        <p:nvSpPr>
          <p:cNvPr id="61" name="object 61" descr=""/>
          <p:cNvSpPr txBox="1"/>
          <p:nvPr/>
        </p:nvSpPr>
        <p:spPr>
          <a:xfrm>
            <a:off x="4108499" y="6732904"/>
            <a:ext cx="750570" cy="22923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300" spc="-65" b="1">
                <a:latin typeface="Roboto"/>
                <a:cs typeface="Roboto"/>
              </a:rPr>
              <a:t>Non-</a:t>
            </a:r>
            <a:r>
              <a:rPr dirty="0" sz="1300" spc="-35" b="1">
                <a:latin typeface="Roboto"/>
                <a:cs typeface="Roboto"/>
              </a:rPr>
              <a:t>linear</a:t>
            </a:r>
            <a:endParaRPr sz="1300">
              <a:latin typeface="Roboto"/>
              <a:cs typeface="Roboto"/>
            </a:endParaRPr>
          </a:p>
        </p:txBody>
      </p:sp>
      <p:sp>
        <p:nvSpPr>
          <p:cNvPr id="62" name="object 62" descr=""/>
          <p:cNvSpPr txBox="1"/>
          <p:nvPr/>
        </p:nvSpPr>
        <p:spPr>
          <a:xfrm>
            <a:off x="3830488" y="6963647"/>
            <a:ext cx="1306195" cy="20383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150" spc="-70">
                <a:solidFill>
                  <a:srgbClr val="4A5462"/>
                </a:solidFill>
                <a:latin typeface="Roboto"/>
                <a:cs typeface="Roboto"/>
              </a:rPr>
              <a:t>Power</a:t>
            </a:r>
            <a:r>
              <a:rPr dirty="0" sz="1150" spc="5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1150" spc="-60">
                <a:solidFill>
                  <a:srgbClr val="4A5462"/>
                </a:solidFill>
                <a:latin typeface="Roboto"/>
                <a:cs typeface="Roboto"/>
              </a:rPr>
              <a:t>flow</a:t>
            </a:r>
            <a:r>
              <a:rPr dirty="0" sz="1150" spc="10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1150" spc="-45">
                <a:solidFill>
                  <a:srgbClr val="4A5462"/>
                </a:solidFill>
                <a:latin typeface="Roboto"/>
                <a:cs typeface="Roboto"/>
              </a:rPr>
              <a:t>equations</a:t>
            </a:r>
            <a:endParaRPr sz="1150">
              <a:latin typeface="Roboto"/>
              <a:cs typeface="Roboto"/>
            </a:endParaRPr>
          </a:p>
        </p:txBody>
      </p:sp>
      <p:sp>
        <p:nvSpPr>
          <p:cNvPr id="63" name="object 63" descr=""/>
          <p:cNvSpPr txBox="1"/>
          <p:nvPr/>
        </p:nvSpPr>
        <p:spPr>
          <a:xfrm>
            <a:off x="5568503" y="6703914"/>
            <a:ext cx="1443355" cy="463550"/>
          </a:xfrm>
          <a:prstGeom prst="rect">
            <a:avLst/>
          </a:prstGeom>
        </p:spPr>
        <p:txBody>
          <a:bodyPr wrap="square" lIns="0" tIns="4572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360"/>
              </a:spcBef>
            </a:pPr>
            <a:r>
              <a:rPr dirty="0" sz="1300" spc="-10" b="1">
                <a:solidFill>
                  <a:srgbClr val="D97705"/>
                </a:solidFill>
                <a:latin typeface="Roboto"/>
                <a:cs typeface="Roboto"/>
              </a:rPr>
              <a:t>Dynamic</a:t>
            </a:r>
            <a:endParaRPr sz="1300">
              <a:latin typeface="Roboto"/>
              <a:cs typeface="Roboto"/>
            </a:endParaRPr>
          </a:p>
          <a:p>
            <a:pPr algn="ctr">
              <a:lnSpc>
                <a:spcPct val="100000"/>
              </a:lnSpc>
              <a:spcBef>
                <a:spcPts val="240"/>
              </a:spcBef>
            </a:pPr>
            <a:r>
              <a:rPr dirty="0" sz="1150" spc="-60">
                <a:solidFill>
                  <a:srgbClr val="4A5462"/>
                </a:solidFill>
                <a:latin typeface="Roboto"/>
                <a:cs typeface="Roboto"/>
              </a:rPr>
              <a:t>Time-</a:t>
            </a:r>
            <a:r>
              <a:rPr dirty="0" sz="1150" spc="-50">
                <a:solidFill>
                  <a:srgbClr val="4A5462"/>
                </a:solidFill>
                <a:latin typeface="Roboto"/>
                <a:cs typeface="Roboto"/>
              </a:rPr>
              <a:t>varying</a:t>
            </a:r>
            <a:r>
              <a:rPr dirty="0" sz="1150" spc="15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1150" spc="-35">
                <a:solidFill>
                  <a:srgbClr val="4A5462"/>
                </a:solidFill>
                <a:latin typeface="Roboto"/>
                <a:cs typeface="Roboto"/>
              </a:rPr>
              <a:t>conditions</a:t>
            </a:r>
            <a:endParaRPr sz="1150">
              <a:latin typeface="Roboto"/>
              <a:cs typeface="Roboto"/>
            </a:endParaRPr>
          </a:p>
        </p:txBody>
      </p:sp>
      <p:sp>
        <p:nvSpPr>
          <p:cNvPr id="64" name="object 64" descr=""/>
          <p:cNvSpPr txBox="1"/>
          <p:nvPr/>
        </p:nvSpPr>
        <p:spPr>
          <a:xfrm>
            <a:off x="7443589" y="6701717"/>
            <a:ext cx="1120775" cy="465455"/>
          </a:xfrm>
          <a:prstGeom prst="rect">
            <a:avLst/>
          </a:prstGeom>
        </p:spPr>
        <p:txBody>
          <a:bodyPr wrap="square" lIns="0" tIns="48260" rIns="0" bIns="0" rtlCol="0" vert="horz">
            <a:spAutoFit/>
          </a:bodyPr>
          <a:lstStyle/>
          <a:p>
            <a:pPr marL="42545">
              <a:lnSpc>
                <a:spcPct val="100000"/>
              </a:lnSpc>
              <a:spcBef>
                <a:spcPts val="380"/>
              </a:spcBef>
            </a:pPr>
            <a:r>
              <a:rPr dirty="0" sz="1300" spc="-50" b="1">
                <a:solidFill>
                  <a:srgbClr val="049569"/>
                </a:solidFill>
                <a:latin typeface="Roboto"/>
                <a:cs typeface="Roboto"/>
              </a:rPr>
              <a:t>Multi-</a:t>
            </a:r>
            <a:r>
              <a:rPr dirty="0" sz="1300" spc="-20" b="1">
                <a:solidFill>
                  <a:srgbClr val="049569"/>
                </a:solidFill>
                <a:latin typeface="Roboto"/>
                <a:cs typeface="Roboto"/>
              </a:rPr>
              <a:t>objective</a:t>
            </a:r>
            <a:endParaRPr sz="13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dirty="0" sz="1150" spc="-60">
                <a:solidFill>
                  <a:srgbClr val="4A5462"/>
                </a:solidFill>
                <a:latin typeface="Roboto"/>
                <a:cs typeface="Roboto"/>
              </a:rPr>
              <a:t>Competing</a:t>
            </a:r>
            <a:r>
              <a:rPr dirty="0" sz="1150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1150" spc="-35">
                <a:solidFill>
                  <a:srgbClr val="4A5462"/>
                </a:solidFill>
                <a:latin typeface="Roboto"/>
                <a:cs typeface="Roboto"/>
              </a:rPr>
              <a:t>criteria</a:t>
            </a:r>
            <a:endParaRPr sz="1150">
              <a:latin typeface="Roboto"/>
              <a:cs typeface="Roboto"/>
            </a:endParaRPr>
          </a:p>
        </p:txBody>
      </p:sp>
      <p:sp>
        <p:nvSpPr>
          <p:cNvPr id="65" name="object 65" descr=""/>
          <p:cNvSpPr txBox="1"/>
          <p:nvPr/>
        </p:nvSpPr>
        <p:spPr>
          <a:xfrm>
            <a:off x="9102278" y="6732904"/>
            <a:ext cx="855344" cy="22923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300" spc="-55" b="1">
                <a:solidFill>
                  <a:srgbClr val="2562EB"/>
                </a:solidFill>
                <a:latin typeface="Roboto"/>
                <a:cs typeface="Roboto"/>
              </a:rPr>
              <a:t>Constrained</a:t>
            </a:r>
            <a:endParaRPr sz="1300">
              <a:latin typeface="Roboto"/>
              <a:cs typeface="Roboto"/>
            </a:endParaRPr>
          </a:p>
        </p:txBody>
      </p:sp>
      <p:sp>
        <p:nvSpPr>
          <p:cNvPr id="66" name="object 66" descr=""/>
          <p:cNvSpPr txBox="1"/>
          <p:nvPr/>
        </p:nvSpPr>
        <p:spPr>
          <a:xfrm>
            <a:off x="8995717" y="6963647"/>
            <a:ext cx="1068705" cy="20383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150" spc="-55">
                <a:solidFill>
                  <a:srgbClr val="4A5462"/>
                </a:solidFill>
                <a:latin typeface="Roboto"/>
                <a:cs typeface="Roboto"/>
              </a:rPr>
              <a:t>Operational</a:t>
            </a:r>
            <a:r>
              <a:rPr dirty="0" sz="1150" spc="20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1150" spc="-30">
                <a:solidFill>
                  <a:srgbClr val="4A5462"/>
                </a:solidFill>
                <a:latin typeface="Roboto"/>
                <a:cs typeface="Roboto"/>
              </a:rPr>
              <a:t>limits</a:t>
            </a:r>
            <a:endParaRPr sz="1150">
              <a:latin typeface="Roboto"/>
              <a:cs typeface="Roboto"/>
            </a:endParaRPr>
          </a:p>
        </p:txBody>
      </p:sp>
      <p:sp>
        <p:nvSpPr>
          <p:cNvPr id="67" name="object 67" descr=""/>
          <p:cNvSpPr txBox="1"/>
          <p:nvPr/>
        </p:nvSpPr>
        <p:spPr>
          <a:xfrm>
            <a:off x="746124" y="1766308"/>
            <a:ext cx="5022850" cy="615950"/>
          </a:xfrm>
          <a:prstGeom prst="rect">
            <a:avLst/>
          </a:prstGeom>
        </p:spPr>
        <p:txBody>
          <a:bodyPr wrap="square" lIns="0" tIns="93980" rIns="0" bIns="0" rtlCol="0" vert="horz">
            <a:spAutoFit/>
          </a:bodyPr>
          <a:lstStyle/>
          <a:p>
            <a:pPr marL="139700">
              <a:lnSpc>
                <a:spcPct val="100000"/>
              </a:lnSpc>
              <a:spcBef>
                <a:spcPts val="740"/>
              </a:spcBef>
            </a:pPr>
            <a:r>
              <a:rPr dirty="0" sz="1400" spc="-25">
                <a:latin typeface="Times New Roman"/>
                <a:cs typeface="Times New Roman"/>
              </a:rPr>
              <a:t>Minimize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 spc="-20">
                <a:latin typeface="Times New Roman"/>
                <a:cs typeface="Times New Roman"/>
              </a:rPr>
              <a:t>power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 spc="-20">
                <a:latin typeface="Times New Roman"/>
                <a:cs typeface="Times New Roman"/>
              </a:rPr>
              <a:t>loss:</a:t>
            </a:r>
            <a:endParaRPr sz="1400">
              <a:latin typeface="Times New Roman"/>
              <a:cs typeface="Times New Roman"/>
            </a:endParaRPr>
          </a:p>
          <a:p>
            <a:pPr marL="139700">
              <a:lnSpc>
                <a:spcPct val="100000"/>
              </a:lnSpc>
              <a:spcBef>
                <a:spcPts val="645"/>
              </a:spcBef>
            </a:pPr>
            <a:r>
              <a:rPr dirty="0" baseline="7936" sz="2100" i="1">
                <a:latin typeface="Times New Roman"/>
                <a:cs typeface="Times New Roman"/>
              </a:rPr>
              <a:t>P</a:t>
            </a:r>
            <a:r>
              <a:rPr dirty="0" sz="1050" i="1">
                <a:latin typeface="Times New Roman"/>
                <a:cs typeface="Times New Roman"/>
              </a:rPr>
              <a:t>loss</a:t>
            </a:r>
            <a:r>
              <a:rPr dirty="0" sz="1050" spc="25" i="1">
                <a:latin typeface="Times New Roman"/>
                <a:cs typeface="Times New Roman"/>
              </a:rPr>
              <a:t> </a:t>
            </a:r>
            <a:r>
              <a:rPr dirty="0" baseline="7936" sz="2100" i="1">
                <a:latin typeface="Times New Roman"/>
                <a:cs typeface="Times New Roman"/>
              </a:rPr>
              <a:t>=</a:t>
            </a:r>
            <a:r>
              <a:rPr dirty="0" baseline="7936" sz="2100" spc="-89" i="1">
                <a:latin typeface="Times New Roman"/>
                <a:cs typeface="Times New Roman"/>
              </a:rPr>
              <a:t> </a:t>
            </a:r>
            <a:r>
              <a:rPr dirty="0" baseline="9259" sz="1800" i="1">
                <a:latin typeface="Times New Roman"/>
                <a:cs typeface="Times New Roman"/>
              </a:rPr>
              <a:t>Σ</a:t>
            </a:r>
            <a:r>
              <a:rPr dirty="0" sz="1050" i="1">
                <a:latin typeface="Times New Roman"/>
                <a:cs typeface="Times New Roman"/>
              </a:rPr>
              <a:t>(i,j)</a:t>
            </a:r>
            <a:r>
              <a:rPr dirty="0" sz="1000" i="1">
                <a:latin typeface="DejaVu Sans"/>
                <a:cs typeface="DejaVu Sans"/>
              </a:rPr>
              <a:t>∈</a:t>
            </a:r>
            <a:r>
              <a:rPr dirty="0" sz="1050" i="1">
                <a:latin typeface="Times New Roman"/>
                <a:cs typeface="Times New Roman"/>
              </a:rPr>
              <a:t>E</a:t>
            </a:r>
            <a:r>
              <a:rPr dirty="0" sz="1050" spc="30" i="1">
                <a:latin typeface="Times New Roman"/>
                <a:cs typeface="Times New Roman"/>
              </a:rPr>
              <a:t> </a:t>
            </a:r>
            <a:r>
              <a:rPr dirty="0" baseline="7936" sz="2100" spc="-15" i="1">
                <a:latin typeface="Times New Roman"/>
                <a:cs typeface="Times New Roman"/>
              </a:rPr>
              <a:t>R</a:t>
            </a:r>
            <a:r>
              <a:rPr dirty="0" sz="1050" spc="-10" i="1">
                <a:latin typeface="Times New Roman"/>
                <a:cs typeface="Times New Roman"/>
              </a:rPr>
              <a:t>ij</a:t>
            </a:r>
            <a:r>
              <a:rPr dirty="0" baseline="7936" sz="2100" spc="-15" i="1">
                <a:latin typeface="Times New Roman"/>
                <a:cs typeface="Times New Roman"/>
              </a:rPr>
              <a:t>(P</a:t>
            </a:r>
            <a:r>
              <a:rPr dirty="0" sz="1050" spc="-10" i="1">
                <a:latin typeface="Times New Roman"/>
                <a:cs typeface="Times New Roman"/>
              </a:rPr>
              <a:t>ij</a:t>
            </a:r>
            <a:r>
              <a:rPr dirty="0" baseline="39682" sz="1575" spc="-15" i="1">
                <a:latin typeface="Times New Roman"/>
                <a:cs typeface="Times New Roman"/>
              </a:rPr>
              <a:t>2</a:t>
            </a:r>
            <a:r>
              <a:rPr dirty="0" baseline="39682" sz="1575" spc="44" i="1">
                <a:latin typeface="Times New Roman"/>
                <a:cs typeface="Times New Roman"/>
              </a:rPr>
              <a:t> </a:t>
            </a:r>
            <a:r>
              <a:rPr dirty="0" baseline="7936" sz="2100" i="1">
                <a:latin typeface="Times New Roman"/>
                <a:cs typeface="Times New Roman"/>
              </a:rPr>
              <a:t>+</a:t>
            </a:r>
            <a:r>
              <a:rPr dirty="0" baseline="7936" sz="2100" spc="-89" i="1">
                <a:latin typeface="Times New Roman"/>
                <a:cs typeface="Times New Roman"/>
              </a:rPr>
              <a:t> </a:t>
            </a:r>
            <a:r>
              <a:rPr dirty="0" baseline="7936" sz="2100" spc="-15" i="1">
                <a:latin typeface="Times New Roman"/>
                <a:cs typeface="Times New Roman"/>
              </a:rPr>
              <a:t>Q</a:t>
            </a:r>
            <a:r>
              <a:rPr dirty="0" sz="1050" spc="-10" i="1">
                <a:latin typeface="Times New Roman"/>
                <a:cs typeface="Times New Roman"/>
              </a:rPr>
              <a:t>ij</a:t>
            </a:r>
            <a:r>
              <a:rPr dirty="0" baseline="39682" sz="1575" spc="-15" i="1">
                <a:latin typeface="Times New Roman"/>
                <a:cs typeface="Times New Roman"/>
              </a:rPr>
              <a:t>2</a:t>
            </a:r>
            <a:r>
              <a:rPr dirty="0" baseline="7936" sz="2100" spc="-15" i="1">
                <a:latin typeface="Times New Roman"/>
                <a:cs typeface="Times New Roman"/>
              </a:rPr>
              <a:t>)/V</a:t>
            </a:r>
            <a:r>
              <a:rPr dirty="0" sz="1050" spc="-10" i="1">
                <a:latin typeface="Times New Roman"/>
                <a:cs typeface="Times New Roman"/>
              </a:rPr>
              <a:t>i</a:t>
            </a:r>
            <a:r>
              <a:rPr dirty="0" baseline="39682" sz="1575" spc="-15" i="1">
                <a:latin typeface="Times New Roman"/>
                <a:cs typeface="Times New Roman"/>
              </a:rPr>
              <a:t>2</a:t>
            </a:r>
            <a:endParaRPr baseline="39682" sz="1575">
              <a:latin typeface="Times New Roman"/>
              <a:cs typeface="Times New Roman"/>
            </a:endParaRPr>
          </a:p>
        </p:txBody>
      </p:sp>
      <p:sp>
        <p:nvSpPr>
          <p:cNvPr id="68" name="object 68" descr=""/>
          <p:cNvSpPr txBox="1"/>
          <p:nvPr/>
        </p:nvSpPr>
        <p:spPr>
          <a:xfrm>
            <a:off x="746124" y="2671183"/>
            <a:ext cx="5022850" cy="558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39700" marR="3199130">
              <a:lnSpc>
                <a:spcPct val="125000"/>
              </a:lnSpc>
              <a:spcBef>
                <a:spcPts val="95"/>
              </a:spcBef>
            </a:pPr>
            <a:r>
              <a:rPr dirty="0" sz="1400" spc="-25">
                <a:latin typeface="Times New Roman"/>
                <a:cs typeface="Times New Roman"/>
              </a:rPr>
              <a:t>Improve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 spc="-20">
                <a:latin typeface="Times New Roman"/>
                <a:cs typeface="Times New Roman"/>
              </a:rPr>
              <a:t>voltage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 spc="-25">
                <a:latin typeface="Times New Roman"/>
                <a:cs typeface="Times New Roman"/>
              </a:rPr>
              <a:t>profile: </a:t>
            </a:r>
            <a:r>
              <a:rPr dirty="0" sz="1200" i="1">
                <a:latin typeface="Times New Roman"/>
                <a:cs typeface="Times New Roman"/>
              </a:rPr>
              <a:t>Δ</a:t>
            </a:r>
            <a:r>
              <a:rPr dirty="0" sz="1400" i="1">
                <a:latin typeface="Times New Roman"/>
                <a:cs typeface="Times New Roman"/>
              </a:rPr>
              <a:t>V</a:t>
            </a:r>
            <a:r>
              <a:rPr dirty="0" sz="1400" spc="-45" i="1">
                <a:latin typeface="Times New Roman"/>
                <a:cs typeface="Times New Roman"/>
              </a:rPr>
              <a:t> </a:t>
            </a:r>
            <a:r>
              <a:rPr dirty="0" sz="1400" i="1">
                <a:latin typeface="Times New Roman"/>
                <a:cs typeface="Times New Roman"/>
              </a:rPr>
              <a:t>=</a:t>
            </a:r>
            <a:r>
              <a:rPr dirty="0" sz="1400" spc="-15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Σ</a:t>
            </a:r>
            <a:r>
              <a:rPr dirty="0" baseline="-13227" sz="1575" i="1">
                <a:latin typeface="Times New Roman"/>
                <a:cs typeface="Times New Roman"/>
              </a:rPr>
              <a:t>i</a:t>
            </a:r>
            <a:r>
              <a:rPr dirty="0" baseline="-13888" sz="1500" i="1">
                <a:latin typeface="DejaVu Sans"/>
                <a:cs typeface="DejaVu Sans"/>
              </a:rPr>
              <a:t>∈</a:t>
            </a:r>
            <a:r>
              <a:rPr dirty="0" baseline="-13227" sz="1575" i="1">
                <a:latin typeface="Times New Roman"/>
                <a:cs typeface="Times New Roman"/>
              </a:rPr>
              <a:t>B</a:t>
            </a:r>
            <a:r>
              <a:rPr dirty="0" baseline="-13227" sz="1575" spc="112" i="1">
                <a:latin typeface="Times New Roman"/>
                <a:cs typeface="Times New Roman"/>
              </a:rPr>
              <a:t> </a:t>
            </a:r>
            <a:r>
              <a:rPr dirty="0" sz="1400" i="1">
                <a:latin typeface="Times New Roman"/>
                <a:cs typeface="Times New Roman"/>
              </a:rPr>
              <a:t>|V</a:t>
            </a:r>
            <a:r>
              <a:rPr dirty="0" baseline="-13227" sz="1575" i="1">
                <a:latin typeface="Times New Roman"/>
                <a:cs typeface="Times New Roman"/>
              </a:rPr>
              <a:t>i</a:t>
            </a:r>
            <a:r>
              <a:rPr dirty="0" baseline="-13227" sz="1575" spc="112" i="1">
                <a:latin typeface="Times New Roman"/>
                <a:cs typeface="Times New Roman"/>
              </a:rPr>
              <a:t> </a:t>
            </a:r>
            <a:r>
              <a:rPr dirty="0" sz="1400" i="1">
                <a:latin typeface="Times New Roman"/>
                <a:cs typeface="Times New Roman"/>
              </a:rPr>
              <a:t>-</a:t>
            </a:r>
            <a:r>
              <a:rPr dirty="0" sz="1400" spc="-15" i="1">
                <a:latin typeface="Times New Roman"/>
                <a:cs typeface="Times New Roman"/>
              </a:rPr>
              <a:t> </a:t>
            </a:r>
            <a:r>
              <a:rPr dirty="0" sz="1400" spc="-20" i="1">
                <a:latin typeface="Times New Roman"/>
                <a:cs typeface="Times New Roman"/>
              </a:rPr>
              <a:t>V</a:t>
            </a:r>
            <a:r>
              <a:rPr dirty="0" baseline="-13227" sz="1575" spc="-30" i="1">
                <a:latin typeface="Times New Roman"/>
                <a:cs typeface="Times New Roman"/>
              </a:rPr>
              <a:t>nom</a:t>
            </a:r>
            <a:r>
              <a:rPr dirty="0" sz="1400" spc="-20" i="1">
                <a:latin typeface="Times New Roman"/>
                <a:cs typeface="Times New Roman"/>
              </a:rPr>
              <a:t>|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69" name="object 69" descr=""/>
          <p:cNvSpPr txBox="1"/>
          <p:nvPr/>
        </p:nvSpPr>
        <p:spPr>
          <a:xfrm>
            <a:off x="923925" y="4564645"/>
            <a:ext cx="4183379" cy="93980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 marR="415925">
              <a:lnSpc>
                <a:spcPct val="153800"/>
              </a:lnSpc>
              <a:spcBef>
                <a:spcPts val="90"/>
              </a:spcBef>
            </a:pPr>
            <a:r>
              <a:rPr dirty="0" sz="1300" spc="-65" b="1">
                <a:solidFill>
                  <a:srgbClr val="374050"/>
                </a:solidFill>
                <a:latin typeface="Roboto"/>
                <a:cs typeface="Roboto"/>
              </a:rPr>
              <a:t>Voltage</a:t>
            </a:r>
            <a:r>
              <a:rPr dirty="0" sz="1300" spc="-30" b="1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40" b="1">
                <a:solidFill>
                  <a:srgbClr val="374050"/>
                </a:solidFill>
                <a:latin typeface="Roboto"/>
                <a:cs typeface="Roboto"/>
              </a:rPr>
              <a:t>limits:</a:t>
            </a:r>
            <a:r>
              <a:rPr dirty="0" sz="1300" spc="-45" b="1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50">
                <a:solidFill>
                  <a:srgbClr val="374050"/>
                </a:solidFill>
                <a:latin typeface="Roboto"/>
                <a:cs typeface="Roboto"/>
              </a:rPr>
              <a:t>V</a:t>
            </a:r>
            <a:r>
              <a:rPr dirty="0" baseline="-13888" sz="1500" spc="-75">
                <a:solidFill>
                  <a:srgbClr val="374050"/>
                </a:solidFill>
                <a:latin typeface="Roboto"/>
                <a:cs typeface="Roboto"/>
              </a:rPr>
              <a:t>min</a:t>
            </a:r>
            <a:r>
              <a:rPr dirty="0" baseline="-13888" sz="1500" spc="44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150">
                <a:solidFill>
                  <a:srgbClr val="374050"/>
                </a:solidFill>
                <a:latin typeface="Arial"/>
                <a:cs typeface="Arial"/>
              </a:rPr>
              <a:t>≤</a:t>
            </a:r>
            <a:r>
              <a:rPr dirty="0" sz="1150" spc="-35">
                <a:solidFill>
                  <a:srgbClr val="37405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374050"/>
                </a:solidFill>
                <a:latin typeface="Roboto"/>
                <a:cs typeface="Roboto"/>
              </a:rPr>
              <a:t>V</a:t>
            </a:r>
            <a:r>
              <a:rPr dirty="0" baseline="-13888" sz="1500">
                <a:solidFill>
                  <a:srgbClr val="374050"/>
                </a:solidFill>
                <a:latin typeface="Roboto"/>
                <a:cs typeface="Roboto"/>
              </a:rPr>
              <a:t>i</a:t>
            </a:r>
            <a:r>
              <a:rPr dirty="0" baseline="-13888" sz="1500" spc="6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150">
                <a:solidFill>
                  <a:srgbClr val="374050"/>
                </a:solidFill>
                <a:latin typeface="Arial"/>
                <a:cs typeface="Arial"/>
              </a:rPr>
              <a:t>≤</a:t>
            </a:r>
            <a:r>
              <a:rPr dirty="0" sz="1150" spc="-35">
                <a:solidFill>
                  <a:srgbClr val="374050"/>
                </a:solidFill>
                <a:latin typeface="Arial"/>
                <a:cs typeface="Arial"/>
              </a:rPr>
              <a:t> </a:t>
            </a:r>
            <a:r>
              <a:rPr dirty="0" sz="1300" spc="-55">
                <a:solidFill>
                  <a:srgbClr val="374050"/>
                </a:solidFill>
                <a:latin typeface="Roboto"/>
                <a:cs typeface="Roboto"/>
              </a:rPr>
              <a:t>V</a:t>
            </a:r>
            <a:r>
              <a:rPr dirty="0" baseline="-13888" sz="1500" spc="-82">
                <a:solidFill>
                  <a:srgbClr val="374050"/>
                </a:solidFill>
                <a:latin typeface="Roboto"/>
                <a:cs typeface="Roboto"/>
              </a:rPr>
              <a:t>max</a:t>
            </a:r>
            <a:r>
              <a:rPr dirty="0" baseline="-13888" sz="1500" spc="6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40">
                <a:solidFill>
                  <a:srgbClr val="374050"/>
                </a:solidFill>
                <a:latin typeface="Roboto"/>
                <a:cs typeface="Roboto"/>
              </a:rPr>
              <a:t>(typically</a:t>
            </a:r>
            <a:r>
              <a:rPr dirty="0" sz="1300" spc="-3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50">
                <a:solidFill>
                  <a:srgbClr val="374050"/>
                </a:solidFill>
                <a:latin typeface="Roboto"/>
                <a:cs typeface="Roboto"/>
              </a:rPr>
              <a:t>0.95-</a:t>
            </a:r>
            <a:r>
              <a:rPr dirty="0" sz="1300" spc="-55">
                <a:solidFill>
                  <a:srgbClr val="374050"/>
                </a:solidFill>
                <a:latin typeface="Roboto"/>
                <a:cs typeface="Roboto"/>
              </a:rPr>
              <a:t>1.05</a:t>
            </a:r>
            <a:r>
              <a:rPr dirty="0" sz="1300" spc="-2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30">
                <a:solidFill>
                  <a:srgbClr val="374050"/>
                </a:solidFill>
                <a:latin typeface="Roboto"/>
                <a:cs typeface="Roboto"/>
              </a:rPr>
              <a:t>p.u.) </a:t>
            </a:r>
            <a:r>
              <a:rPr dirty="0" sz="1300" spc="-55" b="1">
                <a:solidFill>
                  <a:srgbClr val="374050"/>
                </a:solidFill>
                <a:latin typeface="Roboto"/>
                <a:cs typeface="Roboto"/>
              </a:rPr>
              <a:t>Current</a:t>
            </a:r>
            <a:r>
              <a:rPr dirty="0" sz="1300" spc="-30" b="1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40" b="1">
                <a:solidFill>
                  <a:srgbClr val="374050"/>
                </a:solidFill>
                <a:latin typeface="Roboto"/>
                <a:cs typeface="Roboto"/>
              </a:rPr>
              <a:t>limits:</a:t>
            </a:r>
            <a:r>
              <a:rPr dirty="0" sz="1300" spc="-45" b="1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>
                <a:solidFill>
                  <a:srgbClr val="374050"/>
                </a:solidFill>
                <a:latin typeface="Roboto"/>
                <a:cs typeface="Roboto"/>
              </a:rPr>
              <a:t>I</a:t>
            </a:r>
            <a:r>
              <a:rPr dirty="0" baseline="-13888" sz="1500">
                <a:solidFill>
                  <a:srgbClr val="374050"/>
                </a:solidFill>
                <a:latin typeface="Roboto"/>
                <a:cs typeface="Roboto"/>
              </a:rPr>
              <a:t>ij</a:t>
            </a:r>
            <a:r>
              <a:rPr dirty="0" baseline="-13888" sz="1500" spc="-1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150">
                <a:solidFill>
                  <a:srgbClr val="374050"/>
                </a:solidFill>
                <a:latin typeface="Arial"/>
                <a:cs typeface="Arial"/>
              </a:rPr>
              <a:t>≤</a:t>
            </a:r>
            <a:r>
              <a:rPr dirty="0" sz="1150" spc="-45">
                <a:solidFill>
                  <a:srgbClr val="374050"/>
                </a:solidFill>
                <a:latin typeface="Arial"/>
                <a:cs typeface="Arial"/>
              </a:rPr>
              <a:t> </a:t>
            </a:r>
            <a:r>
              <a:rPr dirty="0" sz="1300" spc="-35">
                <a:solidFill>
                  <a:srgbClr val="374050"/>
                </a:solidFill>
                <a:latin typeface="Roboto"/>
                <a:cs typeface="Roboto"/>
              </a:rPr>
              <a:t>I</a:t>
            </a:r>
            <a:r>
              <a:rPr dirty="0" baseline="-13888" sz="1500" spc="-52">
                <a:solidFill>
                  <a:srgbClr val="374050"/>
                </a:solidFill>
                <a:latin typeface="Roboto"/>
                <a:cs typeface="Roboto"/>
              </a:rPr>
              <a:t>ij</a:t>
            </a:r>
            <a:r>
              <a:rPr dirty="0" baseline="25000" sz="1500" spc="-52">
                <a:solidFill>
                  <a:srgbClr val="374050"/>
                </a:solidFill>
                <a:latin typeface="Roboto"/>
                <a:cs typeface="Roboto"/>
              </a:rPr>
              <a:t>max</a:t>
            </a:r>
            <a:r>
              <a:rPr dirty="0" baseline="25000" sz="1500" spc="44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50">
                <a:solidFill>
                  <a:srgbClr val="374050"/>
                </a:solidFill>
                <a:latin typeface="Roboto"/>
                <a:cs typeface="Roboto"/>
              </a:rPr>
              <a:t>(thermal</a:t>
            </a:r>
            <a:r>
              <a:rPr dirty="0" sz="1300" spc="-3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10">
                <a:solidFill>
                  <a:srgbClr val="374050"/>
                </a:solidFill>
                <a:latin typeface="Roboto"/>
                <a:cs typeface="Roboto"/>
              </a:rPr>
              <a:t>constraints)</a:t>
            </a:r>
            <a:endParaRPr sz="1300">
              <a:latin typeface="Roboto"/>
              <a:cs typeface="Roboto"/>
            </a:endParaRPr>
          </a:p>
          <a:p>
            <a:pPr marL="38100">
              <a:lnSpc>
                <a:spcPct val="100000"/>
              </a:lnSpc>
              <a:spcBef>
                <a:spcPts val="840"/>
              </a:spcBef>
            </a:pPr>
            <a:r>
              <a:rPr dirty="0" sz="1300" spc="-70" b="1">
                <a:solidFill>
                  <a:srgbClr val="374050"/>
                </a:solidFill>
                <a:latin typeface="Roboto"/>
                <a:cs typeface="Roboto"/>
              </a:rPr>
              <a:t>Power</a:t>
            </a:r>
            <a:r>
              <a:rPr dirty="0" sz="1300" spc="-10" b="1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50" b="1">
                <a:solidFill>
                  <a:srgbClr val="374050"/>
                </a:solidFill>
                <a:latin typeface="Roboto"/>
                <a:cs typeface="Roboto"/>
              </a:rPr>
              <a:t>balance:</a:t>
            </a:r>
            <a:r>
              <a:rPr dirty="0" sz="1300" spc="-5" b="1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70">
                <a:solidFill>
                  <a:srgbClr val="374050"/>
                </a:solidFill>
                <a:latin typeface="Roboto"/>
                <a:cs typeface="Roboto"/>
              </a:rPr>
              <a:t>Node</a:t>
            </a:r>
            <a:r>
              <a:rPr dirty="0" sz="130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45">
                <a:solidFill>
                  <a:srgbClr val="374050"/>
                </a:solidFill>
                <a:latin typeface="Roboto"/>
                <a:cs typeface="Roboto"/>
              </a:rPr>
              <a:t>injections</a:t>
            </a:r>
            <a:r>
              <a:rPr dirty="0" sz="1300" spc="-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60">
                <a:solidFill>
                  <a:srgbClr val="374050"/>
                </a:solidFill>
                <a:latin typeface="Roboto"/>
                <a:cs typeface="Roboto"/>
              </a:rPr>
              <a:t>equal</a:t>
            </a:r>
            <a:r>
              <a:rPr dirty="0" sz="130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75">
                <a:solidFill>
                  <a:srgbClr val="374050"/>
                </a:solidFill>
                <a:latin typeface="Roboto"/>
                <a:cs typeface="Roboto"/>
              </a:rPr>
              <a:t>sum</a:t>
            </a:r>
            <a:r>
              <a:rPr dirty="0" sz="130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50">
                <a:solidFill>
                  <a:srgbClr val="374050"/>
                </a:solidFill>
                <a:latin typeface="Roboto"/>
                <a:cs typeface="Roboto"/>
              </a:rPr>
              <a:t>of</a:t>
            </a:r>
            <a:r>
              <a:rPr dirty="0" sz="1300" spc="-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60">
                <a:solidFill>
                  <a:srgbClr val="374050"/>
                </a:solidFill>
                <a:latin typeface="Roboto"/>
                <a:cs typeface="Roboto"/>
              </a:rPr>
              <a:t>outgoing</a:t>
            </a:r>
            <a:r>
              <a:rPr dirty="0" sz="130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10">
                <a:solidFill>
                  <a:srgbClr val="374050"/>
                </a:solidFill>
                <a:latin typeface="Roboto"/>
                <a:cs typeface="Roboto"/>
              </a:rPr>
              <a:t>flows</a:t>
            </a:r>
            <a:endParaRPr sz="1300">
              <a:latin typeface="Roboto"/>
              <a:cs typeface="Roboto"/>
            </a:endParaRPr>
          </a:p>
        </p:txBody>
      </p:sp>
      <p:sp>
        <p:nvSpPr>
          <p:cNvPr id="70" name="object 70" descr=""/>
          <p:cNvSpPr txBox="1"/>
          <p:nvPr/>
        </p:nvSpPr>
        <p:spPr>
          <a:xfrm>
            <a:off x="6638925" y="2526295"/>
            <a:ext cx="4321175" cy="635000"/>
          </a:xfrm>
          <a:prstGeom prst="rect">
            <a:avLst/>
          </a:prstGeom>
        </p:spPr>
        <p:txBody>
          <a:bodyPr wrap="square" lIns="0" tIns="11811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30"/>
              </a:spcBef>
            </a:pPr>
            <a:r>
              <a:rPr dirty="0" sz="1300" spc="-55" b="1">
                <a:solidFill>
                  <a:srgbClr val="374050"/>
                </a:solidFill>
                <a:latin typeface="Roboto"/>
                <a:cs typeface="Roboto"/>
              </a:rPr>
              <a:t>Switch</a:t>
            </a:r>
            <a:r>
              <a:rPr dirty="0" sz="1300" spc="-25" b="1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55" b="1">
                <a:solidFill>
                  <a:srgbClr val="374050"/>
                </a:solidFill>
                <a:latin typeface="Roboto"/>
                <a:cs typeface="Roboto"/>
              </a:rPr>
              <a:t>representation:</a:t>
            </a:r>
            <a:r>
              <a:rPr dirty="0" sz="1300" spc="-20" b="1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50">
                <a:solidFill>
                  <a:srgbClr val="374050"/>
                </a:solidFill>
                <a:latin typeface="Roboto"/>
                <a:cs typeface="Roboto"/>
              </a:rPr>
              <a:t>Binary</a:t>
            </a:r>
            <a:r>
              <a:rPr dirty="0" sz="1300" spc="-2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50">
                <a:solidFill>
                  <a:srgbClr val="374050"/>
                </a:solidFill>
                <a:latin typeface="Roboto"/>
                <a:cs typeface="Roboto"/>
              </a:rPr>
              <a:t>variables</a:t>
            </a:r>
            <a:r>
              <a:rPr dirty="0" sz="1300" spc="-1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>
                <a:solidFill>
                  <a:srgbClr val="374050"/>
                </a:solidFill>
                <a:latin typeface="Roboto"/>
                <a:cs typeface="Roboto"/>
              </a:rPr>
              <a:t>x</a:t>
            </a:r>
            <a:r>
              <a:rPr dirty="0" baseline="-13888" sz="1500">
                <a:solidFill>
                  <a:srgbClr val="374050"/>
                </a:solidFill>
                <a:latin typeface="Roboto"/>
                <a:cs typeface="Roboto"/>
              </a:rPr>
              <a:t>ij</a:t>
            </a:r>
            <a:r>
              <a:rPr dirty="0" baseline="-13888" sz="1500" spc="82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150" spc="125">
                <a:solidFill>
                  <a:srgbClr val="374050"/>
                </a:solidFill>
                <a:latin typeface="Lucida Sans Unicode"/>
                <a:cs typeface="Lucida Sans Unicode"/>
              </a:rPr>
              <a:t>∈</a:t>
            </a:r>
            <a:r>
              <a:rPr dirty="0" sz="1150" spc="-60">
                <a:solidFill>
                  <a:srgbClr val="374050"/>
                </a:solidFill>
                <a:latin typeface="Lucida Sans Unicode"/>
                <a:cs typeface="Lucida Sans Unicode"/>
              </a:rPr>
              <a:t> </a:t>
            </a:r>
            <a:r>
              <a:rPr dirty="0" sz="1300" spc="-10">
                <a:solidFill>
                  <a:srgbClr val="374050"/>
                </a:solidFill>
                <a:latin typeface="Roboto"/>
                <a:cs typeface="Roboto"/>
              </a:rPr>
              <a:t>{0,1}</a:t>
            </a:r>
            <a:endParaRPr sz="1300">
              <a:latin typeface="Roboto"/>
              <a:cs typeface="Roboto"/>
            </a:endParaRPr>
          </a:p>
          <a:p>
            <a:pPr marL="38100">
              <a:lnSpc>
                <a:spcPct val="100000"/>
              </a:lnSpc>
              <a:spcBef>
                <a:spcPts val="840"/>
              </a:spcBef>
            </a:pPr>
            <a:r>
              <a:rPr dirty="0" sz="1300" spc="-70" b="1">
                <a:solidFill>
                  <a:srgbClr val="374050"/>
                </a:solidFill>
                <a:latin typeface="Roboto"/>
                <a:cs typeface="Roboto"/>
              </a:rPr>
              <a:t>Power</a:t>
            </a:r>
            <a:r>
              <a:rPr dirty="0" sz="1300" spc="15" b="1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55" b="1">
                <a:solidFill>
                  <a:srgbClr val="374050"/>
                </a:solidFill>
                <a:latin typeface="Roboto"/>
                <a:cs typeface="Roboto"/>
              </a:rPr>
              <a:t>flow:</a:t>
            </a:r>
            <a:r>
              <a:rPr dirty="0" sz="1300" spc="15" b="1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45">
                <a:solidFill>
                  <a:srgbClr val="374050"/>
                </a:solidFill>
                <a:latin typeface="Roboto"/>
                <a:cs typeface="Roboto"/>
              </a:rPr>
              <a:t>Full</a:t>
            </a:r>
            <a:r>
              <a:rPr dirty="0" sz="1300" spc="2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50">
                <a:solidFill>
                  <a:srgbClr val="374050"/>
                </a:solidFill>
                <a:latin typeface="Roboto"/>
                <a:cs typeface="Roboto"/>
              </a:rPr>
              <a:t>three-</a:t>
            </a:r>
            <a:r>
              <a:rPr dirty="0" sz="1300" spc="-65">
                <a:solidFill>
                  <a:srgbClr val="374050"/>
                </a:solidFill>
                <a:latin typeface="Roboto"/>
                <a:cs typeface="Roboto"/>
              </a:rPr>
              <a:t>phase</a:t>
            </a:r>
            <a:r>
              <a:rPr dirty="0" sz="1300" spc="2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60">
                <a:solidFill>
                  <a:srgbClr val="374050"/>
                </a:solidFill>
                <a:latin typeface="Roboto"/>
                <a:cs typeface="Roboto"/>
              </a:rPr>
              <a:t>forward/backward</a:t>
            </a:r>
            <a:r>
              <a:rPr dirty="0" sz="1300" spc="2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70">
                <a:solidFill>
                  <a:srgbClr val="374050"/>
                </a:solidFill>
                <a:latin typeface="Roboto"/>
                <a:cs typeface="Roboto"/>
              </a:rPr>
              <a:t>sweep</a:t>
            </a:r>
            <a:r>
              <a:rPr dirty="0" sz="1300" spc="2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10">
                <a:solidFill>
                  <a:srgbClr val="374050"/>
                </a:solidFill>
                <a:latin typeface="Roboto"/>
                <a:cs typeface="Roboto"/>
              </a:rPr>
              <a:t>method</a:t>
            </a:r>
            <a:endParaRPr sz="13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12192000" cy="7339965"/>
          </a:xfrm>
          <a:custGeom>
            <a:avLst/>
            <a:gdLst/>
            <a:ahLst/>
            <a:cxnLst/>
            <a:rect l="l" t="t" r="r" b="b"/>
            <a:pathLst>
              <a:path w="12192000" h="7339965">
                <a:moveTo>
                  <a:pt x="12191999" y="7339583"/>
                </a:moveTo>
                <a:lnTo>
                  <a:pt x="0" y="7339583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7339583"/>
                </a:lnTo>
                <a:close/>
              </a:path>
            </a:pathLst>
          </a:custGeom>
          <a:solidFill>
            <a:srgbClr val="F5F6FA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" name="object 3" descr=""/>
          <p:cNvGrpSpPr/>
          <p:nvPr/>
        </p:nvGrpSpPr>
        <p:grpSpPr>
          <a:xfrm>
            <a:off x="152399" y="152399"/>
            <a:ext cx="11887200" cy="7029450"/>
            <a:chOff x="152399" y="152399"/>
            <a:chExt cx="11887200" cy="7029450"/>
          </a:xfrm>
        </p:grpSpPr>
        <p:sp>
          <p:nvSpPr>
            <p:cNvPr id="4" name="object 4" descr=""/>
            <p:cNvSpPr/>
            <p:nvPr/>
          </p:nvSpPr>
          <p:spPr>
            <a:xfrm>
              <a:off x="152399" y="152400"/>
              <a:ext cx="11887200" cy="7029450"/>
            </a:xfrm>
            <a:custGeom>
              <a:avLst/>
              <a:gdLst/>
              <a:ahLst/>
              <a:cxnLst/>
              <a:rect l="l" t="t" r="r" b="b"/>
              <a:pathLst>
                <a:path w="11887200" h="7029450">
                  <a:moveTo>
                    <a:pt x="11816002" y="7029449"/>
                  </a:moveTo>
                  <a:lnTo>
                    <a:pt x="71196" y="7029449"/>
                  </a:lnTo>
                  <a:lnTo>
                    <a:pt x="66241" y="7028961"/>
                  </a:lnTo>
                  <a:lnTo>
                    <a:pt x="29705" y="7013826"/>
                  </a:lnTo>
                  <a:lnTo>
                    <a:pt x="3885" y="6977786"/>
                  </a:lnTo>
                  <a:lnTo>
                    <a:pt x="0" y="6958252"/>
                  </a:lnTo>
                  <a:lnTo>
                    <a:pt x="0" y="6953249"/>
                  </a:lnTo>
                  <a:lnTo>
                    <a:pt x="0" y="71196"/>
                  </a:lnTo>
                  <a:lnTo>
                    <a:pt x="15621" y="29705"/>
                  </a:lnTo>
                  <a:lnTo>
                    <a:pt x="51662" y="3885"/>
                  </a:lnTo>
                  <a:lnTo>
                    <a:pt x="71196" y="0"/>
                  </a:lnTo>
                  <a:lnTo>
                    <a:pt x="11816002" y="0"/>
                  </a:lnTo>
                  <a:lnTo>
                    <a:pt x="11857492" y="15621"/>
                  </a:lnTo>
                  <a:lnTo>
                    <a:pt x="11883312" y="51662"/>
                  </a:lnTo>
                  <a:lnTo>
                    <a:pt x="11887197" y="71196"/>
                  </a:lnTo>
                  <a:lnTo>
                    <a:pt x="11887197" y="6958252"/>
                  </a:lnTo>
                  <a:lnTo>
                    <a:pt x="11871575" y="6999743"/>
                  </a:lnTo>
                  <a:lnTo>
                    <a:pt x="11835535" y="7025563"/>
                  </a:lnTo>
                  <a:lnTo>
                    <a:pt x="11820956" y="7028961"/>
                  </a:lnTo>
                  <a:lnTo>
                    <a:pt x="11816002" y="702944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2399" y="152399"/>
              <a:ext cx="11887199" cy="76199"/>
            </a:xfrm>
            <a:prstGeom prst="rect">
              <a:avLst/>
            </a:prstGeom>
          </p:spPr>
        </p:pic>
        <p:sp>
          <p:nvSpPr>
            <p:cNvPr id="6" name="object 6" descr=""/>
            <p:cNvSpPr/>
            <p:nvPr/>
          </p:nvSpPr>
          <p:spPr>
            <a:xfrm>
              <a:off x="152399" y="228599"/>
              <a:ext cx="11887200" cy="542925"/>
            </a:xfrm>
            <a:custGeom>
              <a:avLst/>
              <a:gdLst/>
              <a:ahLst/>
              <a:cxnLst/>
              <a:rect l="l" t="t" r="r" b="b"/>
              <a:pathLst>
                <a:path w="11887200" h="542925">
                  <a:moveTo>
                    <a:pt x="11887199" y="542924"/>
                  </a:moveTo>
                  <a:lnTo>
                    <a:pt x="0" y="542924"/>
                  </a:lnTo>
                  <a:lnTo>
                    <a:pt x="0" y="0"/>
                  </a:lnTo>
                  <a:lnTo>
                    <a:pt x="11887199" y="0"/>
                  </a:lnTo>
                  <a:lnTo>
                    <a:pt x="11887199" y="542924"/>
                  </a:lnTo>
                  <a:close/>
                </a:path>
              </a:pathLst>
            </a:custGeom>
            <a:solidFill>
              <a:srgbClr val="F2F4F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152399" y="761999"/>
              <a:ext cx="11887200" cy="9525"/>
            </a:xfrm>
            <a:custGeom>
              <a:avLst/>
              <a:gdLst/>
              <a:ahLst/>
              <a:cxnLst/>
              <a:rect l="l" t="t" r="r" b="b"/>
              <a:pathLst>
                <a:path w="11887200" h="9525">
                  <a:moveTo>
                    <a:pt x="11887199" y="9524"/>
                  </a:moveTo>
                  <a:lnTo>
                    <a:pt x="0" y="9524"/>
                  </a:lnTo>
                  <a:lnTo>
                    <a:pt x="0" y="0"/>
                  </a:lnTo>
                  <a:lnTo>
                    <a:pt x="11887199" y="0"/>
                  </a:lnTo>
                  <a:lnTo>
                    <a:pt x="11887199" y="9524"/>
                  </a:lnTo>
                  <a:close/>
                </a:path>
              </a:pathLst>
            </a:custGeom>
            <a:solidFill>
              <a:srgbClr val="D0D5D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10"/>
              <a:t>Methodology</a:t>
            </a:r>
            <a:r>
              <a:rPr dirty="0" spc="-55"/>
              <a:t> </a:t>
            </a:r>
            <a:r>
              <a:rPr dirty="0" spc="-95"/>
              <a:t>Overview</a:t>
            </a:r>
          </a:p>
        </p:txBody>
      </p:sp>
      <p:sp>
        <p:nvSpPr>
          <p:cNvPr id="9" name="object 9" descr=""/>
          <p:cNvSpPr/>
          <p:nvPr/>
        </p:nvSpPr>
        <p:spPr>
          <a:xfrm>
            <a:off x="11353798" y="342899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399" y="304799"/>
                </a:moveTo>
                <a:lnTo>
                  <a:pt x="108158" y="298239"/>
                </a:lnTo>
                <a:lnTo>
                  <a:pt x="67730" y="279115"/>
                </a:lnTo>
                <a:lnTo>
                  <a:pt x="34591" y="249082"/>
                </a:lnTo>
                <a:lnTo>
                  <a:pt x="11599" y="210720"/>
                </a:lnTo>
                <a:lnTo>
                  <a:pt x="731" y="167337"/>
                </a:lnTo>
                <a:lnTo>
                  <a:pt x="0" y="152399"/>
                </a:lnTo>
                <a:lnTo>
                  <a:pt x="182" y="144912"/>
                </a:lnTo>
                <a:lnTo>
                  <a:pt x="8903" y="101066"/>
                </a:lnTo>
                <a:lnTo>
                  <a:pt x="29994" y="61607"/>
                </a:lnTo>
                <a:lnTo>
                  <a:pt x="61607" y="29995"/>
                </a:lnTo>
                <a:lnTo>
                  <a:pt x="101064" y="8904"/>
                </a:lnTo>
                <a:lnTo>
                  <a:pt x="144912" y="183"/>
                </a:lnTo>
                <a:lnTo>
                  <a:pt x="152399" y="0"/>
                </a:lnTo>
                <a:lnTo>
                  <a:pt x="159886" y="183"/>
                </a:lnTo>
                <a:lnTo>
                  <a:pt x="203731" y="8904"/>
                </a:lnTo>
                <a:lnTo>
                  <a:pt x="243190" y="29995"/>
                </a:lnTo>
                <a:lnTo>
                  <a:pt x="274802" y="61607"/>
                </a:lnTo>
                <a:lnTo>
                  <a:pt x="295894" y="101066"/>
                </a:lnTo>
                <a:lnTo>
                  <a:pt x="304616" y="144912"/>
                </a:lnTo>
                <a:lnTo>
                  <a:pt x="304799" y="152399"/>
                </a:lnTo>
                <a:lnTo>
                  <a:pt x="304616" y="159886"/>
                </a:lnTo>
                <a:lnTo>
                  <a:pt x="295894" y="203733"/>
                </a:lnTo>
                <a:lnTo>
                  <a:pt x="274803" y="243192"/>
                </a:lnTo>
                <a:lnTo>
                  <a:pt x="243190" y="274804"/>
                </a:lnTo>
                <a:lnTo>
                  <a:pt x="203731" y="295895"/>
                </a:lnTo>
                <a:lnTo>
                  <a:pt x="159886" y="304616"/>
                </a:lnTo>
                <a:lnTo>
                  <a:pt x="152399" y="304799"/>
                </a:lnTo>
                <a:close/>
              </a:path>
            </a:pathLst>
          </a:custGeom>
          <a:solidFill>
            <a:srgbClr val="1D40A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 txBox="1"/>
          <p:nvPr/>
        </p:nvSpPr>
        <p:spPr>
          <a:xfrm>
            <a:off x="10518873" y="360679"/>
            <a:ext cx="1087755" cy="22923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35"/>
              </a:spcBef>
              <a:tabLst>
                <a:tab pos="899160" algn="l"/>
              </a:tabLst>
            </a:pPr>
            <a:r>
              <a:rPr dirty="0" sz="1300" spc="-10">
                <a:solidFill>
                  <a:srgbClr val="6A7280"/>
                </a:solidFill>
                <a:latin typeface="Roboto"/>
                <a:cs typeface="Roboto"/>
              </a:rPr>
              <a:t>Framework</a:t>
            </a:r>
            <a:r>
              <a:rPr dirty="0" sz="1300">
                <a:solidFill>
                  <a:srgbClr val="6A7280"/>
                </a:solidFill>
                <a:latin typeface="Roboto"/>
                <a:cs typeface="Roboto"/>
              </a:rPr>
              <a:t>	</a:t>
            </a:r>
            <a:r>
              <a:rPr dirty="0" sz="1300" spc="-25" b="1">
                <a:solidFill>
                  <a:srgbClr val="FFFFFF"/>
                </a:solidFill>
                <a:latin typeface="Arial Nova"/>
                <a:cs typeface="Arial Nova"/>
              </a:rPr>
              <a:t>32</a:t>
            </a:r>
            <a:endParaRPr sz="1300">
              <a:latin typeface="Arial Nova"/>
              <a:cs typeface="Arial Nova"/>
            </a:endParaRPr>
          </a:p>
        </p:txBody>
      </p:sp>
      <p:grpSp>
        <p:nvGrpSpPr>
          <p:cNvPr id="11" name="object 11" descr=""/>
          <p:cNvGrpSpPr/>
          <p:nvPr/>
        </p:nvGrpSpPr>
        <p:grpSpPr>
          <a:xfrm>
            <a:off x="533399" y="1152524"/>
            <a:ext cx="11125200" cy="5219700"/>
            <a:chOff x="533399" y="1152524"/>
            <a:chExt cx="11125200" cy="5219700"/>
          </a:xfrm>
        </p:grpSpPr>
        <p:sp>
          <p:nvSpPr>
            <p:cNvPr id="12" name="object 12" descr=""/>
            <p:cNvSpPr/>
            <p:nvPr/>
          </p:nvSpPr>
          <p:spPr>
            <a:xfrm>
              <a:off x="552449" y="1152524"/>
              <a:ext cx="5391150" cy="1190625"/>
            </a:xfrm>
            <a:custGeom>
              <a:avLst/>
              <a:gdLst/>
              <a:ahLst/>
              <a:cxnLst/>
              <a:rect l="l" t="t" r="r" b="b"/>
              <a:pathLst>
                <a:path w="5391150" h="1190625">
                  <a:moveTo>
                    <a:pt x="5319952" y="1190624"/>
                  </a:moveTo>
                  <a:lnTo>
                    <a:pt x="53397" y="1190624"/>
                  </a:lnTo>
                  <a:lnTo>
                    <a:pt x="49681" y="1190136"/>
                  </a:lnTo>
                  <a:lnTo>
                    <a:pt x="14085" y="1164768"/>
                  </a:lnTo>
                  <a:lnTo>
                    <a:pt x="366" y="1124383"/>
                  </a:lnTo>
                  <a:lnTo>
                    <a:pt x="0" y="1119428"/>
                  </a:lnTo>
                  <a:lnTo>
                    <a:pt x="0" y="1114424"/>
                  </a:lnTo>
                  <a:lnTo>
                    <a:pt x="0" y="71196"/>
                  </a:lnTo>
                  <a:lnTo>
                    <a:pt x="11716" y="29705"/>
                  </a:lnTo>
                  <a:lnTo>
                    <a:pt x="42320" y="2440"/>
                  </a:lnTo>
                  <a:lnTo>
                    <a:pt x="53397" y="0"/>
                  </a:lnTo>
                  <a:lnTo>
                    <a:pt x="5319952" y="0"/>
                  </a:lnTo>
                  <a:lnTo>
                    <a:pt x="5361443" y="15621"/>
                  </a:lnTo>
                  <a:lnTo>
                    <a:pt x="5387262" y="51661"/>
                  </a:lnTo>
                  <a:lnTo>
                    <a:pt x="5391148" y="71196"/>
                  </a:lnTo>
                  <a:lnTo>
                    <a:pt x="5391148" y="1119428"/>
                  </a:lnTo>
                  <a:lnTo>
                    <a:pt x="5375527" y="1160919"/>
                  </a:lnTo>
                  <a:lnTo>
                    <a:pt x="5339486" y="1186739"/>
                  </a:lnTo>
                  <a:lnTo>
                    <a:pt x="5324907" y="1190136"/>
                  </a:lnTo>
                  <a:lnTo>
                    <a:pt x="5319952" y="1190624"/>
                  </a:lnTo>
                  <a:close/>
                </a:path>
              </a:pathLst>
            </a:custGeom>
            <a:solidFill>
              <a:srgbClr val="EFF5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533387" y="1152803"/>
              <a:ext cx="514350" cy="1190625"/>
            </a:xfrm>
            <a:custGeom>
              <a:avLst/>
              <a:gdLst/>
              <a:ahLst/>
              <a:cxnLst/>
              <a:rect l="l" t="t" r="r" b="b"/>
              <a:pathLst>
                <a:path w="514350" h="1190625">
                  <a:moveTo>
                    <a:pt x="70459" y="0"/>
                  </a:moveTo>
                  <a:lnTo>
                    <a:pt x="33858" y="12560"/>
                  </a:lnTo>
                  <a:lnTo>
                    <a:pt x="5803" y="46761"/>
                  </a:lnTo>
                  <a:lnTo>
                    <a:pt x="0" y="75920"/>
                  </a:lnTo>
                  <a:lnTo>
                    <a:pt x="0" y="1114145"/>
                  </a:lnTo>
                  <a:lnTo>
                    <a:pt x="12839" y="1156500"/>
                  </a:lnTo>
                  <a:lnTo>
                    <a:pt x="47040" y="1184554"/>
                  </a:lnTo>
                  <a:lnTo>
                    <a:pt x="70459" y="1190078"/>
                  </a:lnTo>
                  <a:lnTo>
                    <a:pt x="66294" y="1188415"/>
                  </a:lnTo>
                  <a:lnTo>
                    <a:pt x="56959" y="1180680"/>
                  </a:lnTo>
                  <a:lnTo>
                    <a:pt x="41008" y="1143317"/>
                  </a:lnTo>
                  <a:lnTo>
                    <a:pt x="38100" y="1114145"/>
                  </a:lnTo>
                  <a:lnTo>
                    <a:pt x="38100" y="75920"/>
                  </a:lnTo>
                  <a:lnTo>
                    <a:pt x="44526" y="33578"/>
                  </a:lnTo>
                  <a:lnTo>
                    <a:pt x="66294" y="1663"/>
                  </a:lnTo>
                  <a:lnTo>
                    <a:pt x="70459" y="0"/>
                  </a:lnTo>
                  <a:close/>
                </a:path>
                <a:path w="514350" h="1190625">
                  <a:moveTo>
                    <a:pt x="514350" y="314045"/>
                  </a:moveTo>
                  <a:lnTo>
                    <a:pt x="509498" y="274701"/>
                  </a:lnTo>
                  <a:lnTo>
                    <a:pt x="495236" y="237718"/>
                  </a:lnTo>
                  <a:lnTo>
                    <a:pt x="472414" y="205320"/>
                  </a:lnTo>
                  <a:lnTo>
                    <a:pt x="442391" y="179412"/>
                  </a:lnTo>
                  <a:lnTo>
                    <a:pt x="406971" y="161582"/>
                  </a:lnTo>
                  <a:lnTo>
                    <a:pt x="368300" y="152908"/>
                  </a:lnTo>
                  <a:lnTo>
                    <a:pt x="352425" y="152120"/>
                  </a:lnTo>
                  <a:lnTo>
                    <a:pt x="344474" y="152323"/>
                  </a:lnTo>
                  <a:lnTo>
                    <a:pt x="305422" y="159092"/>
                  </a:lnTo>
                  <a:lnTo>
                    <a:pt x="269189" y="175158"/>
                  </a:lnTo>
                  <a:lnTo>
                    <a:pt x="237934" y="199555"/>
                  </a:lnTo>
                  <a:lnTo>
                    <a:pt x="213537" y="230809"/>
                  </a:lnTo>
                  <a:lnTo>
                    <a:pt x="197472" y="267042"/>
                  </a:lnTo>
                  <a:lnTo>
                    <a:pt x="190703" y="306095"/>
                  </a:lnTo>
                  <a:lnTo>
                    <a:pt x="190500" y="314045"/>
                  </a:lnTo>
                  <a:lnTo>
                    <a:pt x="190500" y="371195"/>
                  </a:lnTo>
                  <a:lnTo>
                    <a:pt x="195364" y="410552"/>
                  </a:lnTo>
                  <a:lnTo>
                    <a:pt x="209626" y="447535"/>
                  </a:lnTo>
                  <a:lnTo>
                    <a:pt x="232448" y="479933"/>
                  </a:lnTo>
                  <a:lnTo>
                    <a:pt x="262470" y="505841"/>
                  </a:lnTo>
                  <a:lnTo>
                    <a:pt x="297891" y="523659"/>
                  </a:lnTo>
                  <a:lnTo>
                    <a:pt x="336562" y="532345"/>
                  </a:lnTo>
                  <a:lnTo>
                    <a:pt x="352425" y="533120"/>
                  </a:lnTo>
                  <a:lnTo>
                    <a:pt x="360387" y="532930"/>
                  </a:lnTo>
                  <a:lnTo>
                    <a:pt x="399440" y="526161"/>
                  </a:lnTo>
                  <a:lnTo>
                    <a:pt x="435673" y="510095"/>
                  </a:lnTo>
                  <a:lnTo>
                    <a:pt x="466928" y="485698"/>
                  </a:lnTo>
                  <a:lnTo>
                    <a:pt x="491324" y="454444"/>
                  </a:lnTo>
                  <a:lnTo>
                    <a:pt x="507390" y="418211"/>
                  </a:lnTo>
                  <a:lnTo>
                    <a:pt x="514159" y="379158"/>
                  </a:lnTo>
                  <a:lnTo>
                    <a:pt x="514350" y="371195"/>
                  </a:lnTo>
                  <a:lnTo>
                    <a:pt x="514350" y="314045"/>
                  </a:lnTo>
                  <a:close/>
                </a:path>
              </a:pathLst>
            </a:custGeom>
            <a:solidFill>
              <a:srgbClr val="2562E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4" name="object 1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00100" y="1419225"/>
              <a:ext cx="171449" cy="133349"/>
            </a:xfrm>
            <a:prstGeom prst="rect">
              <a:avLst/>
            </a:prstGeom>
          </p:spPr>
        </p:pic>
        <p:pic>
          <p:nvPicPr>
            <p:cNvPr id="15" name="object 15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33399" y="4067174"/>
              <a:ext cx="11125197" cy="2305049"/>
            </a:xfrm>
            <a:prstGeom prst="rect">
              <a:avLst/>
            </a:prstGeom>
          </p:spPr>
        </p:pic>
        <p:sp>
          <p:nvSpPr>
            <p:cNvPr id="16" name="object 16" descr=""/>
            <p:cNvSpPr/>
            <p:nvPr/>
          </p:nvSpPr>
          <p:spPr>
            <a:xfrm>
              <a:off x="6267449" y="1152524"/>
              <a:ext cx="5391150" cy="1190625"/>
            </a:xfrm>
            <a:custGeom>
              <a:avLst/>
              <a:gdLst/>
              <a:ahLst/>
              <a:cxnLst/>
              <a:rect l="l" t="t" r="r" b="b"/>
              <a:pathLst>
                <a:path w="5391150" h="1190625">
                  <a:moveTo>
                    <a:pt x="5319952" y="1190624"/>
                  </a:moveTo>
                  <a:lnTo>
                    <a:pt x="53397" y="1190624"/>
                  </a:lnTo>
                  <a:lnTo>
                    <a:pt x="49680" y="1190136"/>
                  </a:lnTo>
                  <a:lnTo>
                    <a:pt x="14084" y="1164768"/>
                  </a:lnTo>
                  <a:lnTo>
                    <a:pt x="365" y="1124383"/>
                  </a:lnTo>
                  <a:lnTo>
                    <a:pt x="0" y="1119428"/>
                  </a:lnTo>
                  <a:lnTo>
                    <a:pt x="0" y="1114424"/>
                  </a:lnTo>
                  <a:lnTo>
                    <a:pt x="0" y="71196"/>
                  </a:lnTo>
                  <a:lnTo>
                    <a:pt x="11715" y="29705"/>
                  </a:lnTo>
                  <a:lnTo>
                    <a:pt x="42320" y="2440"/>
                  </a:lnTo>
                  <a:lnTo>
                    <a:pt x="53397" y="0"/>
                  </a:lnTo>
                  <a:lnTo>
                    <a:pt x="5319952" y="0"/>
                  </a:lnTo>
                  <a:lnTo>
                    <a:pt x="5361443" y="15621"/>
                  </a:lnTo>
                  <a:lnTo>
                    <a:pt x="5387261" y="51661"/>
                  </a:lnTo>
                  <a:lnTo>
                    <a:pt x="5391148" y="71196"/>
                  </a:lnTo>
                  <a:lnTo>
                    <a:pt x="5391148" y="1119428"/>
                  </a:lnTo>
                  <a:lnTo>
                    <a:pt x="5375525" y="1160919"/>
                  </a:lnTo>
                  <a:lnTo>
                    <a:pt x="5339486" y="1186739"/>
                  </a:lnTo>
                  <a:lnTo>
                    <a:pt x="5324906" y="1190136"/>
                  </a:lnTo>
                  <a:lnTo>
                    <a:pt x="5319952" y="1190624"/>
                  </a:lnTo>
                  <a:close/>
                </a:path>
              </a:pathLst>
            </a:custGeom>
            <a:solidFill>
              <a:srgbClr val="ECFDF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6248387" y="1152803"/>
              <a:ext cx="533400" cy="1190625"/>
            </a:xfrm>
            <a:custGeom>
              <a:avLst/>
              <a:gdLst/>
              <a:ahLst/>
              <a:cxnLst/>
              <a:rect l="l" t="t" r="r" b="b"/>
              <a:pathLst>
                <a:path w="533400" h="1190625">
                  <a:moveTo>
                    <a:pt x="70459" y="0"/>
                  </a:moveTo>
                  <a:lnTo>
                    <a:pt x="33858" y="12560"/>
                  </a:lnTo>
                  <a:lnTo>
                    <a:pt x="5803" y="46761"/>
                  </a:lnTo>
                  <a:lnTo>
                    <a:pt x="0" y="75920"/>
                  </a:lnTo>
                  <a:lnTo>
                    <a:pt x="0" y="1114145"/>
                  </a:lnTo>
                  <a:lnTo>
                    <a:pt x="12839" y="1156500"/>
                  </a:lnTo>
                  <a:lnTo>
                    <a:pt x="47040" y="1184554"/>
                  </a:lnTo>
                  <a:lnTo>
                    <a:pt x="70459" y="1190078"/>
                  </a:lnTo>
                  <a:lnTo>
                    <a:pt x="66294" y="1188415"/>
                  </a:lnTo>
                  <a:lnTo>
                    <a:pt x="56959" y="1180680"/>
                  </a:lnTo>
                  <a:lnTo>
                    <a:pt x="41008" y="1143317"/>
                  </a:lnTo>
                  <a:lnTo>
                    <a:pt x="38100" y="1114145"/>
                  </a:lnTo>
                  <a:lnTo>
                    <a:pt x="38100" y="75920"/>
                  </a:lnTo>
                  <a:lnTo>
                    <a:pt x="44526" y="33578"/>
                  </a:lnTo>
                  <a:lnTo>
                    <a:pt x="66294" y="1663"/>
                  </a:lnTo>
                  <a:lnTo>
                    <a:pt x="70459" y="0"/>
                  </a:lnTo>
                  <a:close/>
                </a:path>
                <a:path w="533400" h="1190625">
                  <a:moveTo>
                    <a:pt x="533400" y="323570"/>
                  </a:moveTo>
                  <a:lnTo>
                    <a:pt x="528269" y="281901"/>
                  </a:lnTo>
                  <a:lnTo>
                    <a:pt x="513156" y="242760"/>
                  </a:lnTo>
                  <a:lnTo>
                    <a:pt x="489000" y="208445"/>
                  </a:lnTo>
                  <a:lnTo>
                    <a:pt x="457212" y="181025"/>
                  </a:lnTo>
                  <a:lnTo>
                    <a:pt x="419709" y="162140"/>
                  </a:lnTo>
                  <a:lnTo>
                    <a:pt x="378764" y="152946"/>
                  </a:lnTo>
                  <a:lnTo>
                    <a:pt x="361950" y="152120"/>
                  </a:lnTo>
                  <a:lnTo>
                    <a:pt x="353529" y="152336"/>
                  </a:lnTo>
                  <a:lnTo>
                    <a:pt x="312178" y="159512"/>
                  </a:lnTo>
                  <a:lnTo>
                    <a:pt x="273824" y="176517"/>
                  </a:lnTo>
                  <a:lnTo>
                    <a:pt x="240715" y="202349"/>
                  </a:lnTo>
                  <a:lnTo>
                    <a:pt x="214896" y="235445"/>
                  </a:lnTo>
                  <a:lnTo>
                    <a:pt x="197891" y="273812"/>
                  </a:lnTo>
                  <a:lnTo>
                    <a:pt x="190715" y="315150"/>
                  </a:lnTo>
                  <a:lnTo>
                    <a:pt x="190500" y="323570"/>
                  </a:lnTo>
                  <a:lnTo>
                    <a:pt x="190500" y="361670"/>
                  </a:lnTo>
                  <a:lnTo>
                    <a:pt x="195643" y="403352"/>
                  </a:lnTo>
                  <a:lnTo>
                    <a:pt x="210743" y="442493"/>
                  </a:lnTo>
                  <a:lnTo>
                    <a:pt x="234911" y="476808"/>
                  </a:lnTo>
                  <a:lnTo>
                    <a:pt x="266700" y="504228"/>
                  </a:lnTo>
                  <a:lnTo>
                    <a:pt x="304203" y="523113"/>
                  </a:lnTo>
                  <a:lnTo>
                    <a:pt x="345147" y="532307"/>
                  </a:lnTo>
                  <a:lnTo>
                    <a:pt x="361950" y="533120"/>
                  </a:lnTo>
                  <a:lnTo>
                    <a:pt x="370382" y="532917"/>
                  </a:lnTo>
                  <a:lnTo>
                    <a:pt x="411721" y="525741"/>
                  </a:lnTo>
                  <a:lnTo>
                    <a:pt x="450088" y="508736"/>
                  </a:lnTo>
                  <a:lnTo>
                    <a:pt x="483184" y="482904"/>
                  </a:lnTo>
                  <a:lnTo>
                    <a:pt x="509016" y="449808"/>
                  </a:lnTo>
                  <a:lnTo>
                    <a:pt x="526021" y="411441"/>
                  </a:lnTo>
                  <a:lnTo>
                    <a:pt x="533196" y="370103"/>
                  </a:lnTo>
                  <a:lnTo>
                    <a:pt x="533400" y="361670"/>
                  </a:lnTo>
                  <a:lnTo>
                    <a:pt x="533400" y="323570"/>
                  </a:lnTo>
                  <a:close/>
                </a:path>
              </a:pathLst>
            </a:custGeom>
            <a:solidFill>
              <a:srgbClr val="04956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8" name="object 18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515099" y="1409700"/>
              <a:ext cx="190499" cy="152399"/>
            </a:xfrm>
            <a:prstGeom prst="rect">
              <a:avLst/>
            </a:prstGeom>
          </p:spPr>
        </p:pic>
        <p:sp>
          <p:nvSpPr>
            <p:cNvPr id="19" name="object 19" descr=""/>
            <p:cNvSpPr/>
            <p:nvPr/>
          </p:nvSpPr>
          <p:spPr>
            <a:xfrm>
              <a:off x="552449" y="2647949"/>
              <a:ext cx="5391150" cy="1190625"/>
            </a:xfrm>
            <a:custGeom>
              <a:avLst/>
              <a:gdLst/>
              <a:ahLst/>
              <a:cxnLst/>
              <a:rect l="l" t="t" r="r" b="b"/>
              <a:pathLst>
                <a:path w="5391150" h="1190625">
                  <a:moveTo>
                    <a:pt x="5319952" y="1190624"/>
                  </a:moveTo>
                  <a:lnTo>
                    <a:pt x="53397" y="1190624"/>
                  </a:lnTo>
                  <a:lnTo>
                    <a:pt x="49681" y="1190135"/>
                  </a:lnTo>
                  <a:lnTo>
                    <a:pt x="14085" y="1164767"/>
                  </a:lnTo>
                  <a:lnTo>
                    <a:pt x="366" y="1124382"/>
                  </a:lnTo>
                  <a:lnTo>
                    <a:pt x="0" y="1119427"/>
                  </a:lnTo>
                  <a:lnTo>
                    <a:pt x="0" y="1114424"/>
                  </a:lnTo>
                  <a:lnTo>
                    <a:pt x="0" y="71196"/>
                  </a:lnTo>
                  <a:lnTo>
                    <a:pt x="11716" y="29705"/>
                  </a:lnTo>
                  <a:lnTo>
                    <a:pt x="42320" y="2440"/>
                  </a:lnTo>
                  <a:lnTo>
                    <a:pt x="53397" y="0"/>
                  </a:lnTo>
                  <a:lnTo>
                    <a:pt x="5319952" y="0"/>
                  </a:lnTo>
                  <a:lnTo>
                    <a:pt x="5361443" y="15621"/>
                  </a:lnTo>
                  <a:lnTo>
                    <a:pt x="5387262" y="51661"/>
                  </a:lnTo>
                  <a:lnTo>
                    <a:pt x="5391148" y="71196"/>
                  </a:lnTo>
                  <a:lnTo>
                    <a:pt x="5391148" y="1119427"/>
                  </a:lnTo>
                  <a:lnTo>
                    <a:pt x="5375527" y="1160918"/>
                  </a:lnTo>
                  <a:lnTo>
                    <a:pt x="5339486" y="1186738"/>
                  </a:lnTo>
                  <a:lnTo>
                    <a:pt x="5324907" y="1190136"/>
                  </a:lnTo>
                  <a:lnTo>
                    <a:pt x="5319952" y="1190624"/>
                  </a:lnTo>
                  <a:close/>
                </a:path>
              </a:pathLst>
            </a:custGeom>
            <a:solidFill>
              <a:srgbClr val="F5F2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533387" y="2648228"/>
              <a:ext cx="476250" cy="1190625"/>
            </a:xfrm>
            <a:custGeom>
              <a:avLst/>
              <a:gdLst/>
              <a:ahLst/>
              <a:cxnLst/>
              <a:rect l="l" t="t" r="r" b="b"/>
              <a:pathLst>
                <a:path w="476250" h="1190625">
                  <a:moveTo>
                    <a:pt x="70459" y="0"/>
                  </a:moveTo>
                  <a:lnTo>
                    <a:pt x="33858" y="12560"/>
                  </a:lnTo>
                  <a:lnTo>
                    <a:pt x="5803" y="46761"/>
                  </a:lnTo>
                  <a:lnTo>
                    <a:pt x="0" y="75920"/>
                  </a:lnTo>
                  <a:lnTo>
                    <a:pt x="0" y="1114145"/>
                  </a:lnTo>
                  <a:lnTo>
                    <a:pt x="12839" y="1156500"/>
                  </a:lnTo>
                  <a:lnTo>
                    <a:pt x="47040" y="1184554"/>
                  </a:lnTo>
                  <a:lnTo>
                    <a:pt x="70459" y="1190078"/>
                  </a:lnTo>
                  <a:lnTo>
                    <a:pt x="66294" y="1188415"/>
                  </a:lnTo>
                  <a:lnTo>
                    <a:pt x="56959" y="1180680"/>
                  </a:lnTo>
                  <a:lnTo>
                    <a:pt x="41008" y="1143317"/>
                  </a:lnTo>
                  <a:lnTo>
                    <a:pt x="38100" y="1114145"/>
                  </a:lnTo>
                  <a:lnTo>
                    <a:pt x="38100" y="75920"/>
                  </a:lnTo>
                  <a:lnTo>
                    <a:pt x="44526" y="33578"/>
                  </a:lnTo>
                  <a:lnTo>
                    <a:pt x="66294" y="1663"/>
                  </a:lnTo>
                  <a:lnTo>
                    <a:pt x="70459" y="0"/>
                  </a:lnTo>
                  <a:close/>
                </a:path>
                <a:path w="476250" h="1190625">
                  <a:moveTo>
                    <a:pt x="476250" y="294995"/>
                  </a:moveTo>
                  <a:lnTo>
                    <a:pt x="470103" y="253530"/>
                  </a:lnTo>
                  <a:lnTo>
                    <a:pt x="452183" y="215620"/>
                  </a:lnTo>
                  <a:lnTo>
                    <a:pt x="424014" y="184556"/>
                  </a:lnTo>
                  <a:lnTo>
                    <a:pt x="388061" y="163004"/>
                  </a:lnTo>
                  <a:lnTo>
                    <a:pt x="347383" y="152819"/>
                  </a:lnTo>
                  <a:lnTo>
                    <a:pt x="333375" y="152120"/>
                  </a:lnTo>
                  <a:lnTo>
                    <a:pt x="326364" y="152298"/>
                  </a:lnTo>
                  <a:lnTo>
                    <a:pt x="285254" y="160477"/>
                  </a:lnTo>
                  <a:lnTo>
                    <a:pt x="248259" y="180251"/>
                  </a:lnTo>
                  <a:lnTo>
                    <a:pt x="218630" y="209880"/>
                  </a:lnTo>
                  <a:lnTo>
                    <a:pt x="198856" y="246875"/>
                  </a:lnTo>
                  <a:lnTo>
                    <a:pt x="190677" y="287985"/>
                  </a:lnTo>
                  <a:lnTo>
                    <a:pt x="190500" y="294995"/>
                  </a:lnTo>
                  <a:lnTo>
                    <a:pt x="190500" y="390245"/>
                  </a:lnTo>
                  <a:lnTo>
                    <a:pt x="196659" y="431723"/>
                  </a:lnTo>
                  <a:lnTo>
                    <a:pt x="214579" y="469633"/>
                  </a:lnTo>
                  <a:lnTo>
                    <a:pt x="242735" y="500697"/>
                  </a:lnTo>
                  <a:lnTo>
                    <a:pt x="278701" y="522249"/>
                  </a:lnTo>
                  <a:lnTo>
                    <a:pt x="319379" y="532434"/>
                  </a:lnTo>
                  <a:lnTo>
                    <a:pt x="333375" y="533120"/>
                  </a:lnTo>
                  <a:lnTo>
                    <a:pt x="340398" y="532955"/>
                  </a:lnTo>
                  <a:lnTo>
                    <a:pt x="381508" y="524776"/>
                  </a:lnTo>
                  <a:lnTo>
                    <a:pt x="418503" y="505002"/>
                  </a:lnTo>
                  <a:lnTo>
                    <a:pt x="448132" y="475373"/>
                  </a:lnTo>
                  <a:lnTo>
                    <a:pt x="467906" y="438378"/>
                  </a:lnTo>
                  <a:lnTo>
                    <a:pt x="476084" y="397268"/>
                  </a:lnTo>
                  <a:lnTo>
                    <a:pt x="476250" y="390245"/>
                  </a:lnTo>
                  <a:lnTo>
                    <a:pt x="476250" y="294995"/>
                  </a:lnTo>
                  <a:close/>
                </a:path>
              </a:pathLst>
            </a:custGeom>
            <a:solidFill>
              <a:srgbClr val="7C3AE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1" name="object 21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00100" y="2905124"/>
              <a:ext cx="133349" cy="152399"/>
            </a:xfrm>
            <a:prstGeom prst="rect">
              <a:avLst/>
            </a:prstGeom>
          </p:spPr>
        </p:pic>
      </p:grpSp>
      <p:sp>
        <p:nvSpPr>
          <p:cNvPr id="22" name="object 22" descr=""/>
          <p:cNvSpPr txBox="1"/>
          <p:nvPr/>
        </p:nvSpPr>
        <p:spPr>
          <a:xfrm>
            <a:off x="863600" y="1337396"/>
            <a:ext cx="3980815" cy="292925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297815">
              <a:lnSpc>
                <a:spcPct val="100000"/>
              </a:lnSpc>
              <a:spcBef>
                <a:spcPts val="120"/>
              </a:spcBef>
            </a:pPr>
            <a:r>
              <a:rPr dirty="0" sz="1650" spc="-100" b="1">
                <a:solidFill>
                  <a:srgbClr val="1D40AF"/>
                </a:solidFill>
                <a:latin typeface="Roboto"/>
                <a:cs typeface="Roboto"/>
              </a:rPr>
              <a:t>Markov</a:t>
            </a:r>
            <a:r>
              <a:rPr dirty="0" sz="1650" spc="-10" b="1">
                <a:solidFill>
                  <a:srgbClr val="1D40AF"/>
                </a:solidFill>
                <a:latin typeface="Roboto"/>
                <a:cs typeface="Roboto"/>
              </a:rPr>
              <a:t> </a:t>
            </a:r>
            <a:r>
              <a:rPr dirty="0" sz="1650" spc="-80" b="1">
                <a:solidFill>
                  <a:srgbClr val="1D40AF"/>
                </a:solidFill>
                <a:latin typeface="Roboto"/>
                <a:cs typeface="Roboto"/>
              </a:rPr>
              <a:t>Decision</a:t>
            </a:r>
            <a:r>
              <a:rPr dirty="0" sz="1650" spc="-10" b="1">
                <a:solidFill>
                  <a:srgbClr val="1D40AF"/>
                </a:solidFill>
                <a:latin typeface="Roboto"/>
                <a:cs typeface="Roboto"/>
              </a:rPr>
              <a:t> </a:t>
            </a:r>
            <a:r>
              <a:rPr dirty="0" sz="1650" spc="-95" b="1">
                <a:solidFill>
                  <a:srgbClr val="1D40AF"/>
                </a:solidFill>
                <a:latin typeface="Roboto"/>
                <a:cs typeface="Roboto"/>
              </a:rPr>
              <a:t>Process</a:t>
            </a:r>
            <a:r>
              <a:rPr dirty="0" sz="1650" spc="-5" b="1">
                <a:solidFill>
                  <a:srgbClr val="1D40AF"/>
                </a:solidFill>
                <a:latin typeface="Roboto"/>
                <a:cs typeface="Roboto"/>
              </a:rPr>
              <a:t> </a:t>
            </a:r>
            <a:r>
              <a:rPr dirty="0" sz="1650" spc="-20" b="1">
                <a:solidFill>
                  <a:srgbClr val="1D40AF"/>
                </a:solidFill>
                <a:latin typeface="Roboto"/>
                <a:cs typeface="Roboto"/>
              </a:rPr>
              <a:t>(MDP)</a:t>
            </a:r>
            <a:endParaRPr sz="1650">
              <a:latin typeface="Roboto"/>
              <a:cs typeface="Roboto"/>
            </a:endParaRPr>
          </a:p>
          <a:p>
            <a:pPr marL="12700" marR="5080">
              <a:lnSpc>
                <a:spcPct val="134600"/>
              </a:lnSpc>
              <a:spcBef>
                <a:spcPts val="680"/>
              </a:spcBef>
            </a:pPr>
            <a:r>
              <a:rPr dirty="0" sz="1300" spc="-55" b="0">
                <a:solidFill>
                  <a:srgbClr val="374050"/>
                </a:solidFill>
                <a:latin typeface="Roboto Medium"/>
                <a:cs typeface="Roboto Medium"/>
              </a:rPr>
              <a:t>State:</a:t>
            </a:r>
            <a:r>
              <a:rPr dirty="0" sz="1300" b="0">
                <a:solidFill>
                  <a:srgbClr val="374050"/>
                </a:solidFill>
                <a:latin typeface="Roboto Medium"/>
                <a:cs typeface="Roboto Medium"/>
              </a:rPr>
              <a:t> </a:t>
            </a:r>
            <a:r>
              <a:rPr dirty="0" sz="1300" spc="-65">
                <a:solidFill>
                  <a:srgbClr val="374050"/>
                </a:solidFill>
                <a:latin typeface="Roboto"/>
                <a:cs typeface="Roboto"/>
              </a:rPr>
              <a:t>Network</a:t>
            </a:r>
            <a:r>
              <a:rPr dirty="0" sz="1300" spc="1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50">
                <a:solidFill>
                  <a:srgbClr val="374050"/>
                </a:solidFill>
                <a:latin typeface="Roboto"/>
                <a:cs typeface="Roboto"/>
              </a:rPr>
              <a:t>conditions,</a:t>
            </a:r>
            <a:r>
              <a:rPr dirty="0" sz="1300" spc="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55">
                <a:solidFill>
                  <a:srgbClr val="374050"/>
                </a:solidFill>
                <a:latin typeface="Roboto"/>
                <a:cs typeface="Roboto"/>
              </a:rPr>
              <a:t>loads,</a:t>
            </a:r>
            <a:r>
              <a:rPr dirty="0" sz="1300" spc="1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50">
                <a:solidFill>
                  <a:srgbClr val="374050"/>
                </a:solidFill>
                <a:latin typeface="Roboto"/>
                <a:cs typeface="Roboto"/>
              </a:rPr>
              <a:t>generation,</a:t>
            </a:r>
            <a:r>
              <a:rPr dirty="0" sz="1300" spc="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50">
                <a:solidFill>
                  <a:srgbClr val="374050"/>
                </a:solidFill>
                <a:latin typeface="Roboto"/>
                <a:cs typeface="Roboto"/>
              </a:rPr>
              <a:t>switch</a:t>
            </a:r>
            <a:r>
              <a:rPr dirty="0" sz="1300" spc="1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30">
                <a:solidFill>
                  <a:srgbClr val="374050"/>
                </a:solidFill>
                <a:latin typeface="Roboto"/>
                <a:cs typeface="Roboto"/>
              </a:rPr>
              <a:t>status </a:t>
            </a:r>
            <a:r>
              <a:rPr dirty="0" sz="1300" spc="-50" b="0">
                <a:solidFill>
                  <a:srgbClr val="374050"/>
                </a:solidFill>
                <a:latin typeface="Roboto Medium"/>
                <a:cs typeface="Roboto Medium"/>
              </a:rPr>
              <a:t>Action:</a:t>
            </a:r>
            <a:r>
              <a:rPr dirty="0" sz="1300" spc="-25" b="0">
                <a:solidFill>
                  <a:srgbClr val="374050"/>
                </a:solidFill>
                <a:latin typeface="Roboto Medium"/>
                <a:cs typeface="Roboto Medium"/>
              </a:rPr>
              <a:t> </a:t>
            </a:r>
            <a:r>
              <a:rPr dirty="0" sz="1300" spc="-50">
                <a:solidFill>
                  <a:srgbClr val="374050"/>
                </a:solidFill>
                <a:latin typeface="Roboto"/>
                <a:cs typeface="Roboto"/>
              </a:rPr>
              <a:t>Switch</a:t>
            </a:r>
            <a:r>
              <a:rPr dirty="0" sz="1300" spc="-2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55">
                <a:solidFill>
                  <a:srgbClr val="374050"/>
                </a:solidFill>
                <a:latin typeface="Roboto"/>
                <a:cs typeface="Roboto"/>
              </a:rPr>
              <a:t>open/close</a:t>
            </a:r>
            <a:r>
              <a:rPr dirty="0" sz="1300" spc="-2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55">
                <a:solidFill>
                  <a:srgbClr val="374050"/>
                </a:solidFill>
                <a:latin typeface="Roboto"/>
                <a:cs typeface="Roboto"/>
              </a:rPr>
              <a:t>operations</a:t>
            </a:r>
            <a:r>
              <a:rPr dirty="0" sz="1300" spc="-2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45">
                <a:solidFill>
                  <a:srgbClr val="374050"/>
                </a:solidFill>
                <a:latin typeface="Roboto"/>
                <a:cs typeface="Roboto"/>
              </a:rPr>
              <a:t>per</a:t>
            </a:r>
            <a:r>
              <a:rPr dirty="0" sz="1300" spc="-20">
                <a:solidFill>
                  <a:srgbClr val="374050"/>
                </a:solidFill>
                <a:latin typeface="Roboto"/>
                <a:cs typeface="Roboto"/>
              </a:rPr>
              <a:t> agent</a:t>
            </a:r>
            <a:endParaRPr sz="1300">
              <a:latin typeface="Roboto"/>
              <a:cs typeface="Roboto"/>
            </a:endParaRPr>
          </a:p>
          <a:p>
            <a:pPr marL="12700" marR="417830">
              <a:lnSpc>
                <a:spcPct val="134600"/>
              </a:lnSpc>
            </a:pPr>
            <a:r>
              <a:rPr dirty="0" sz="1300" spc="-60" b="0">
                <a:solidFill>
                  <a:srgbClr val="374050"/>
                </a:solidFill>
                <a:latin typeface="Roboto Medium"/>
                <a:cs typeface="Roboto Medium"/>
              </a:rPr>
              <a:t>Reward:</a:t>
            </a:r>
            <a:r>
              <a:rPr dirty="0" sz="1300" spc="-25" b="0">
                <a:solidFill>
                  <a:srgbClr val="374050"/>
                </a:solidFill>
                <a:latin typeface="Roboto Medium"/>
                <a:cs typeface="Roboto Medium"/>
              </a:rPr>
              <a:t> </a:t>
            </a:r>
            <a:r>
              <a:rPr dirty="0" sz="1300" spc="-30">
                <a:solidFill>
                  <a:srgbClr val="374050"/>
                </a:solidFill>
                <a:latin typeface="Roboto"/>
                <a:cs typeface="Roboto"/>
              </a:rPr>
              <a:t>-</a:t>
            </a:r>
            <a:r>
              <a:rPr dirty="0" sz="1300" spc="-35">
                <a:solidFill>
                  <a:srgbClr val="374050"/>
                </a:solidFill>
                <a:latin typeface="Roboto"/>
                <a:cs typeface="Roboto"/>
              </a:rPr>
              <a:t>[w</a:t>
            </a:r>
            <a:r>
              <a:rPr dirty="0" sz="1150" spc="-35">
                <a:solidFill>
                  <a:srgbClr val="374050"/>
                </a:solidFill>
                <a:latin typeface="Calibri"/>
                <a:cs typeface="Calibri"/>
              </a:rPr>
              <a:t>₁</a:t>
            </a:r>
            <a:r>
              <a:rPr dirty="0" sz="1300" spc="-35">
                <a:solidFill>
                  <a:srgbClr val="374050"/>
                </a:solidFill>
                <a:latin typeface="Roboto"/>
                <a:cs typeface="Roboto"/>
              </a:rPr>
              <a:t>(Power</a:t>
            </a:r>
            <a:r>
              <a:rPr dirty="0" sz="1300" spc="-1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65">
                <a:solidFill>
                  <a:srgbClr val="374050"/>
                </a:solidFill>
                <a:latin typeface="Roboto"/>
                <a:cs typeface="Roboto"/>
              </a:rPr>
              <a:t>Loss)</a:t>
            </a:r>
            <a:r>
              <a:rPr dirty="0" sz="1300" spc="-2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>
                <a:solidFill>
                  <a:srgbClr val="374050"/>
                </a:solidFill>
                <a:latin typeface="Roboto"/>
                <a:cs typeface="Roboto"/>
              </a:rPr>
              <a:t>+</a:t>
            </a:r>
            <a:r>
              <a:rPr dirty="0" sz="1300" spc="-1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45">
                <a:solidFill>
                  <a:srgbClr val="374050"/>
                </a:solidFill>
                <a:latin typeface="Roboto"/>
                <a:cs typeface="Roboto"/>
              </a:rPr>
              <a:t>w</a:t>
            </a:r>
            <a:r>
              <a:rPr dirty="0" sz="1150" spc="-45">
                <a:solidFill>
                  <a:srgbClr val="374050"/>
                </a:solidFill>
                <a:latin typeface="Calibri"/>
                <a:cs typeface="Calibri"/>
              </a:rPr>
              <a:t>₂</a:t>
            </a:r>
            <a:r>
              <a:rPr dirty="0" sz="1300" spc="-45">
                <a:solidFill>
                  <a:srgbClr val="374050"/>
                </a:solidFill>
                <a:latin typeface="Roboto"/>
                <a:cs typeface="Roboto"/>
              </a:rPr>
              <a:t>(Voltage</a:t>
            </a:r>
            <a:r>
              <a:rPr dirty="0" sz="1300" spc="-2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10">
                <a:solidFill>
                  <a:srgbClr val="374050"/>
                </a:solidFill>
                <a:latin typeface="Roboto"/>
                <a:cs typeface="Roboto"/>
              </a:rPr>
              <a:t>Violations)] </a:t>
            </a:r>
            <a:r>
              <a:rPr dirty="0" sz="1300" spc="-50" b="0">
                <a:solidFill>
                  <a:srgbClr val="374050"/>
                </a:solidFill>
                <a:latin typeface="Roboto Medium"/>
                <a:cs typeface="Roboto Medium"/>
              </a:rPr>
              <a:t>Policy:</a:t>
            </a:r>
            <a:r>
              <a:rPr dirty="0" sz="1300" spc="-15" b="0">
                <a:solidFill>
                  <a:srgbClr val="374050"/>
                </a:solidFill>
                <a:latin typeface="Roboto Medium"/>
                <a:cs typeface="Roboto Medium"/>
              </a:rPr>
              <a:t> </a:t>
            </a:r>
            <a:r>
              <a:rPr dirty="0" sz="1300" spc="-65">
                <a:solidFill>
                  <a:srgbClr val="374050"/>
                </a:solidFill>
                <a:latin typeface="Roboto"/>
                <a:cs typeface="Roboto"/>
              </a:rPr>
              <a:t>Mapping</a:t>
            </a:r>
            <a:r>
              <a:rPr dirty="0" sz="1300" spc="-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55">
                <a:solidFill>
                  <a:srgbClr val="374050"/>
                </a:solidFill>
                <a:latin typeface="Roboto"/>
                <a:cs typeface="Roboto"/>
              </a:rPr>
              <a:t>network</a:t>
            </a:r>
            <a:r>
              <a:rPr dirty="0" sz="1300" spc="-1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55">
                <a:solidFill>
                  <a:srgbClr val="374050"/>
                </a:solidFill>
                <a:latin typeface="Roboto"/>
                <a:cs typeface="Roboto"/>
              </a:rPr>
              <a:t>states</a:t>
            </a:r>
            <a:r>
              <a:rPr dirty="0" sz="1300" spc="-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55">
                <a:solidFill>
                  <a:srgbClr val="374050"/>
                </a:solidFill>
                <a:latin typeface="Roboto"/>
                <a:cs typeface="Roboto"/>
              </a:rPr>
              <a:t>to</a:t>
            </a:r>
            <a:r>
              <a:rPr dirty="0" sz="1300" spc="-1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50">
                <a:solidFill>
                  <a:srgbClr val="374050"/>
                </a:solidFill>
                <a:latin typeface="Roboto"/>
                <a:cs typeface="Roboto"/>
              </a:rPr>
              <a:t>switch</a:t>
            </a:r>
            <a:r>
              <a:rPr dirty="0" sz="1300" spc="-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50">
                <a:solidFill>
                  <a:srgbClr val="374050"/>
                </a:solidFill>
                <a:latin typeface="Roboto"/>
                <a:cs typeface="Roboto"/>
              </a:rPr>
              <a:t>operations</a:t>
            </a:r>
            <a:endParaRPr sz="1300">
              <a:latin typeface="Roboto"/>
              <a:cs typeface="Roboto"/>
            </a:endParaRPr>
          </a:p>
          <a:p>
            <a:pPr marL="259715">
              <a:lnSpc>
                <a:spcPct val="100000"/>
              </a:lnSpc>
              <a:spcBef>
                <a:spcPts val="715"/>
              </a:spcBef>
            </a:pPr>
            <a:r>
              <a:rPr dirty="0" sz="1650" spc="-80" b="1">
                <a:solidFill>
                  <a:srgbClr val="5B20B5"/>
                </a:solidFill>
                <a:latin typeface="Roboto"/>
                <a:cs typeface="Roboto"/>
              </a:rPr>
              <a:t>Genetic</a:t>
            </a:r>
            <a:r>
              <a:rPr dirty="0" sz="1650" spc="-25" b="1">
                <a:solidFill>
                  <a:srgbClr val="5B20B5"/>
                </a:solidFill>
                <a:latin typeface="Roboto"/>
                <a:cs typeface="Roboto"/>
              </a:rPr>
              <a:t> </a:t>
            </a:r>
            <a:r>
              <a:rPr dirty="0" sz="1650" spc="-80" b="1">
                <a:solidFill>
                  <a:srgbClr val="5B20B5"/>
                </a:solidFill>
                <a:latin typeface="Roboto"/>
                <a:cs typeface="Roboto"/>
              </a:rPr>
              <a:t>Algorithm</a:t>
            </a:r>
            <a:r>
              <a:rPr dirty="0" sz="1650" spc="-20" b="1">
                <a:solidFill>
                  <a:srgbClr val="5B20B5"/>
                </a:solidFill>
                <a:latin typeface="Roboto"/>
                <a:cs typeface="Roboto"/>
              </a:rPr>
              <a:t> </a:t>
            </a:r>
            <a:r>
              <a:rPr dirty="0" sz="1650" spc="-80" b="1">
                <a:solidFill>
                  <a:srgbClr val="5B20B5"/>
                </a:solidFill>
                <a:latin typeface="Roboto"/>
                <a:cs typeface="Roboto"/>
              </a:rPr>
              <a:t>Fine-</a:t>
            </a:r>
            <a:r>
              <a:rPr dirty="0" sz="1650" spc="-10" b="1">
                <a:solidFill>
                  <a:srgbClr val="5B20B5"/>
                </a:solidFill>
                <a:latin typeface="Roboto"/>
                <a:cs typeface="Roboto"/>
              </a:rPr>
              <a:t>Tuning</a:t>
            </a:r>
            <a:endParaRPr sz="1650">
              <a:latin typeface="Roboto"/>
              <a:cs typeface="Roboto"/>
            </a:endParaRPr>
          </a:p>
          <a:p>
            <a:pPr marL="12700" marR="304165">
              <a:lnSpc>
                <a:spcPct val="134600"/>
              </a:lnSpc>
              <a:spcBef>
                <a:spcPts val="680"/>
              </a:spcBef>
            </a:pPr>
            <a:r>
              <a:rPr dirty="0" sz="1300" spc="-50" b="0">
                <a:solidFill>
                  <a:srgbClr val="374050"/>
                </a:solidFill>
                <a:latin typeface="Roboto Medium"/>
                <a:cs typeface="Roboto Medium"/>
              </a:rPr>
              <a:t>Encoding:</a:t>
            </a:r>
            <a:r>
              <a:rPr dirty="0" sz="1300" spc="-5" b="0">
                <a:solidFill>
                  <a:srgbClr val="374050"/>
                </a:solidFill>
                <a:latin typeface="Roboto Medium"/>
                <a:cs typeface="Roboto Medium"/>
              </a:rPr>
              <a:t> </a:t>
            </a:r>
            <a:r>
              <a:rPr dirty="0" sz="1300" spc="-50">
                <a:solidFill>
                  <a:srgbClr val="374050"/>
                </a:solidFill>
                <a:latin typeface="Roboto"/>
                <a:cs typeface="Roboto"/>
              </a:rPr>
              <a:t>Binary</a:t>
            </a:r>
            <a:r>
              <a:rPr dirty="0" sz="1300" spc="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50">
                <a:solidFill>
                  <a:srgbClr val="374050"/>
                </a:solidFill>
                <a:latin typeface="Roboto"/>
                <a:cs typeface="Roboto"/>
              </a:rPr>
              <a:t>string</a:t>
            </a:r>
            <a:r>
              <a:rPr dirty="0" sz="1300" spc="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55">
                <a:solidFill>
                  <a:srgbClr val="374050"/>
                </a:solidFill>
                <a:latin typeface="Roboto"/>
                <a:cs typeface="Roboto"/>
              </a:rPr>
              <a:t>representing</a:t>
            </a:r>
            <a:r>
              <a:rPr dirty="0" sz="1300" spc="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55">
                <a:solidFill>
                  <a:srgbClr val="374050"/>
                </a:solidFill>
                <a:latin typeface="Roboto"/>
                <a:cs typeface="Roboto"/>
              </a:rPr>
              <a:t>network</a:t>
            </a:r>
            <a:r>
              <a:rPr dirty="0" sz="1300" spc="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50">
                <a:solidFill>
                  <a:srgbClr val="374050"/>
                </a:solidFill>
                <a:latin typeface="Roboto"/>
                <a:cs typeface="Roboto"/>
              </a:rPr>
              <a:t>topology </a:t>
            </a:r>
            <a:r>
              <a:rPr dirty="0" sz="1300" spc="-50" b="0">
                <a:solidFill>
                  <a:srgbClr val="374050"/>
                </a:solidFill>
                <a:latin typeface="Roboto Medium"/>
                <a:cs typeface="Roboto Medium"/>
              </a:rPr>
              <a:t>Fitness:</a:t>
            </a:r>
            <a:r>
              <a:rPr dirty="0" sz="1300" spc="-25" b="0">
                <a:solidFill>
                  <a:srgbClr val="374050"/>
                </a:solidFill>
                <a:latin typeface="Roboto Medium"/>
                <a:cs typeface="Roboto Medium"/>
              </a:rPr>
              <a:t> </a:t>
            </a:r>
            <a:r>
              <a:rPr dirty="0" sz="1300" spc="-30">
                <a:solidFill>
                  <a:srgbClr val="374050"/>
                </a:solidFill>
                <a:latin typeface="Roboto"/>
                <a:cs typeface="Roboto"/>
              </a:rPr>
              <a:t>-</a:t>
            </a:r>
            <a:r>
              <a:rPr dirty="0" sz="1300" spc="-65">
                <a:solidFill>
                  <a:srgbClr val="374050"/>
                </a:solidFill>
                <a:latin typeface="Roboto"/>
                <a:cs typeface="Roboto"/>
              </a:rPr>
              <a:t>[Power</a:t>
            </a:r>
            <a:r>
              <a:rPr dirty="0" sz="1300" spc="-1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55">
                <a:solidFill>
                  <a:srgbClr val="374050"/>
                </a:solidFill>
                <a:latin typeface="Roboto"/>
                <a:cs typeface="Roboto"/>
              </a:rPr>
              <a:t>loss</a:t>
            </a:r>
            <a:r>
              <a:rPr dirty="0" sz="1300" spc="-2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>
                <a:solidFill>
                  <a:srgbClr val="374050"/>
                </a:solidFill>
                <a:latin typeface="Roboto"/>
                <a:cs typeface="Roboto"/>
              </a:rPr>
              <a:t>+</a:t>
            </a:r>
            <a:r>
              <a:rPr dirty="0" sz="1300" spc="-1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150" spc="-45">
                <a:solidFill>
                  <a:srgbClr val="374050"/>
                </a:solidFill>
                <a:latin typeface="Calibri"/>
                <a:cs typeface="Calibri"/>
              </a:rPr>
              <a:t>α</a:t>
            </a:r>
            <a:r>
              <a:rPr dirty="0" sz="1300" spc="-45">
                <a:solidFill>
                  <a:srgbClr val="374050"/>
                </a:solidFill>
                <a:latin typeface="Roboto"/>
                <a:cs typeface="Roboto"/>
              </a:rPr>
              <a:t>(Voltage</a:t>
            </a:r>
            <a:r>
              <a:rPr dirty="0" sz="1300" spc="-2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10">
                <a:solidFill>
                  <a:srgbClr val="374050"/>
                </a:solidFill>
                <a:latin typeface="Roboto"/>
                <a:cs typeface="Roboto"/>
              </a:rPr>
              <a:t>deviation)] </a:t>
            </a:r>
            <a:r>
              <a:rPr dirty="0" sz="1300" spc="-60" b="0">
                <a:solidFill>
                  <a:srgbClr val="374050"/>
                </a:solidFill>
                <a:latin typeface="Roboto Medium"/>
                <a:cs typeface="Roboto Medium"/>
              </a:rPr>
              <a:t>Operators:</a:t>
            </a:r>
            <a:r>
              <a:rPr dirty="0" sz="1300" spc="-5" b="0">
                <a:solidFill>
                  <a:srgbClr val="374050"/>
                </a:solidFill>
                <a:latin typeface="Roboto Medium"/>
                <a:cs typeface="Roboto Medium"/>
              </a:rPr>
              <a:t> </a:t>
            </a:r>
            <a:r>
              <a:rPr dirty="0" sz="1300" spc="-65">
                <a:solidFill>
                  <a:srgbClr val="374050"/>
                </a:solidFill>
                <a:latin typeface="Roboto"/>
                <a:cs typeface="Roboto"/>
              </a:rPr>
              <a:t>Crossover,</a:t>
            </a:r>
            <a:r>
              <a:rPr dirty="0" sz="1300" spc="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60">
                <a:solidFill>
                  <a:srgbClr val="374050"/>
                </a:solidFill>
                <a:latin typeface="Roboto"/>
                <a:cs typeface="Roboto"/>
              </a:rPr>
              <a:t>mutation</a:t>
            </a:r>
            <a:r>
              <a:rPr dirty="0" sz="1300" spc="1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50">
                <a:solidFill>
                  <a:srgbClr val="374050"/>
                </a:solidFill>
                <a:latin typeface="Roboto"/>
                <a:cs typeface="Roboto"/>
              </a:rPr>
              <a:t>with</a:t>
            </a:r>
            <a:r>
              <a:rPr dirty="0" sz="1300" spc="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40">
                <a:solidFill>
                  <a:srgbClr val="374050"/>
                </a:solidFill>
                <a:latin typeface="Roboto"/>
                <a:cs typeface="Roboto"/>
              </a:rPr>
              <a:t>radiality</a:t>
            </a:r>
            <a:r>
              <a:rPr dirty="0" sz="1300" spc="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10">
                <a:solidFill>
                  <a:srgbClr val="374050"/>
                </a:solidFill>
                <a:latin typeface="Roboto"/>
                <a:cs typeface="Roboto"/>
              </a:rPr>
              <a:t>repair </a:t>
            </a:r>
            <a:r>
              <a:rPr dirty="0" sz="1300" spc="-45" b="0">
                <a:solidFill>
                  <a:srgbClr val="374050"/>
                </a:solidFill>
                <a:latin typeface="Roboto Medium"/>
                <a:cs typeface="Roboto Medium"/>
              </a:rPr>
              <a:t>Initialization:</a:t>
            </a:r>
            <a:r>
              <a:rPr dirty="0" sz="1300" spc="-15" b="0">
                <a:solidFill>
                  <a:srgbClr val="374050"/>
                </a:solidFill>
                <a:latin typeface="Roboto Medium"/>
                <a:cs typeface="Roboto Medium"/>
              </a:rPr>
              <a:t> </a:t>
            </a:r>
            <a:r>
              <a:rPr dirty="0" sz="1300" spc="-70">
                <a:solidFill>
                  <a:srgbClr val="374050"/>
                </a:solidFill>
                <a:latin typeface="Roboto"/>
                <a:cs typeface="Roboto"/>
              </a:rPr>
              <a:t>RL</a:t>
            </a:r>
            <a:r>
              <a:rPr dirty="0" sz="1300" spc="-1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50">
                <a:solidFill>
                  <a:srgbClr val="374050"/>
                </a:solidFill>
                <a:latin typeface="Roboto"/>
                <a:cs typeface="Roboto"/>
              </a:rPr>
              <a:t>solution</a:t>
            </a:r>
            <a:r>
              <a:rPr dirty="0" sz="1300" spc="-1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65">
                <a:solidFill>
                  <a:srgbClr val="374050"/>
                </a:solidFill>
                <a:latin typeface="Roboto"/>
                <a:cs typeface="Roboto"/>
              </a:rPr>
              <a:t>as</a:t>
            </a:r>
            <a:r>
              <a:rPr dirty="0" sz="1300" spc="-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40">
                <a:solidFill>
                  <a:srgbClr val="374050"/>
                </a:solidFill>
                <a:latin typeface="Roboto"/>
                <a:cs typeface="Roboto"/>
              </a:rPr>
              <a:t>starting</a:t>
            </a:r>
            <a:r>
              <a:rPr dirty="0" sz="1300" spc="-1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20">
                <a:solidFill>
                  <a:srgbClr val="374050"/>
                </a:solidFill>
                <a:latin typeface="Roboto"/>
                <a:cs typeface="Roboto"/>
              </a:rPr>
              <a:t>point</a:t>
            </a:r>
            <a:endParaRPr sz="1300">
              <a:latin typeface="Roboto"/>
              <a:cs typeface="Roboto"/>
            </a:endParaRPr>
          </a:p>
        </p:txBody>
      </p:sp>
      <p:grpSp>
        <p:nvGrpSpPr>
          <p:cNvPr id="23" name="object 23" descr=""/>
          <p:cNvGrpSpPr/>
          <p:nvPr/>
        </p:nvGrpSpPr>
        <p:grpSpPr>
          <a:xfrm>
            <a:off x="6248399" y="2647949"/>
            <a:ext cx="5410200" cy="1190625"/>
            <a:chOff x="6248399" y="2647949"/>
            <a:chExt cx="5410200" cy="1190625"/>
          </a:xfrm>
        </p:grpSpPr>
        <p:sp>
          <p:nvSpPr>
            <p:cNvPr id="24" name="object 24" descr=""/>
            <p:cNvSpPr/>
            <p:nvPr/>
          </p:nvSpPr>
          <p:spPr>
            <a:xfrm>
              <a:off x="6267449" y="2647949"/>
              <a:ext cx="5391150" cy="1190625"/>
            </a:xfrm>
            <a:custGeom>
              <a:avLst/>
              <a:gdLst/>
              <a:ahLst/>
              <a:cxnLst/>
              <a:rect l="l" t="t" r="r" b="b"/>
              <a:pathLst>
                <a:path w="5391150" h="1190625">
                  <a:moveTo>
                    <a:pt x="5319952" y="1190624"/>
                  </a:moveTo>
                  <a:lnTo>
                    <a:pt x="53397" y="1190624"/>
                  </a:lnTo>
                  <a:lnTo>
                    <a:pt x="49680" y="1190135"/>
                  </a:lnTo>
                  <a:lnTo>
                    <a:pt x="14084" y="1164767"/>
                  </a:lnTo>
                  <a:lnTo>
                    <a:pt x="365" y="1124382"/>
                  </a:lnTo>
                  <a:lnTo>
                    <a:pt x="0" y="1119427"/>
                  </a:lnTo>
                  <a:lnTo>
                    <a:pt x="0" y="1114424"/>
                  </a:lnTo>
                  <a:lnTo>
                    <a:pt x="0" y="71196"/>
                  </a:lnTo>
                  <a:lnTo>
                    <a:pt x="11715" y="29705"/>
                  </a:lnTo>
                  <a:lnTo>
                    <a:pt x="42320" y="2440"/>
                  </a:lnTo>
                  <a:lnTo>
                    <a:pt x="53397" y="0"/>
                  </a:lnTo>
                  <a:lnTo>
                    <a:pt x="5319952" y="0"/>
                  </a:lnTo>
                  <a:lnTo>
                    <a:pt x="5361443" y="15621"/>
                  </a:lnTo>
                  <a:lnTo>
                    <a:pt x="5387261" y="51661"/>
                  </a:lnTo>
                  <a:lnTo>
                    <a:pt x="5391148" y="71196"/>
                  </a:lnTo>
                  <a:lnTo>
                    <a:pt x="5391148" y="1119427"/>
                  </a:lnTo>
                  <a:lnTo>
                    <a:pt x="5375525" y="1160918"/>
                  </a:lnTo>
                  <a:lnTo>
                    <a:pt x="5339486" y="1186738"/>
                  </a:lnTo>
                  <a:lnTo>
                    <a:pt x="5324906" y="1190136"/>
                  </a:lnTo>
                  <a:lnTo>
                    <a:pt x="5319952" y="1190624"/>
                  </a:lnTo>
                  <a:close/>
                </a:path>
              </a:pathLst>
            </a:custGeom>
            <a:solidFill>
              <a:srgbClr val="FE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6248387" y="2648229"/>
              <a:ext cx="495300" cy="1190625"/>
            </a:xfrm>
            <a:custGeom>
              <a:avLst/>
              <a:gdLst/>
              <a:ahLst/>
              <a:cxnLst/>
              <a:rect l="l" t="t" r="r" b="b"/>
              <a:pathLst>
                <a:path w="495300" h="1190625">
                  <a:moveTo>
                    <a:pt x="70459" y="0"/>
                  </a:moveTo>
                  <a:lnTo>
                    <a:pt x="33858" y="12560"/>
                  </a:lnTo>
                  <a:lnTo>
                    <a:pt x="5803" y="46761"/>
                  </a:lnTo>
                  <a:lnTo>
                    <a:pt x="0" y="75920"/>
                  </a:lnTo>
                  <a:lnTo>
                    <a:pt x="0" y="1114145"/>
                  </a:lnTo>
                  <a:lnTo>
                    <a:pt x="12839" y="1156500"/>
                  </a:lnTo>
                  <a:lnTo>
                    <a:pt x="47040" y="1184554"/>
                  </a:lnTo>
                  <a:lnTo>
                    <a:pt x="70459" y="1190078"/>
                  </a:lnTo>
                  <a:lnTo>
                    <a:pt x="66294" y="1188415"/>
                  </a:lnTo>
                  <a:lnTo>
                    <a:pt x="56959" y="1180680"/>
                  </a:lnTo>
                  <a:lnTo>
                    <a:pt x="41008" y="1143317"/>
                  </a:lnTo>
                  <a:lnTo>
                    <a:pt x="38100" y="1114145"/>
                  </a:lnTo>
                  <a:lnTo>
                    <a:pt x="38100" y="75920"/>
                  </a:lnTo>
                  <a:lnTo>
                    <a:pt x="44526" y="33578"/>
                  </a:lnTo>
                  <a:lnTo>
                    <a:pt x="66294" y="1663"/>
                  </a:lnTo>
                  <a:lnTo>
                    <a:pt x="70459" y="0"/>
                  </a:lnTo>
                  <a:close/>
                </a:path>
                <a:path w="495300" h="1190625">
                  <a:moveTo>
                    <a:pt x="495300" y="304520"/>
                  </a:moveTo>
                  <a:lnTo>
                    <a:pt x="488746" y="260286"/>
                  </a:lnTo>
                  <a:lnTo>
                    <a:pt x="469620" y="219862"/>
                  </a:lnTo>
                  <a:lnTo>
                    <a:pt x="439585" y="186715"/>
                  </a:lnTo>
                  <a:lnTo>
                    <a:pt x="401231" y="163728"/>
                  </a:lnTo>
                  <a:lnTo>
                    <a:pt x="357847" y="152857"/>
                  </a:lnTo>
                  <a:lnTo>
                    <a:pt x="342900" y="152120"/>
                  </a:lnTo>
                  <a:lnTo>
                    <a:pt x="335419" y="152311"/>
                  </a:lnTo>
                  <a:lnTo>
                    <a:pt x="291566" y="161036"/>
                  </a:lnTo>
                  <a:lnTo>
                    <a:pt x="252107" y="182118"/>
                  </a:lnTo>
                  <a:lnTo>
                    <a:pt x="220497" y="213728"/>
                  </a:lnTo>
                  <a:lnTo>
                    <a:pt x="199415" y="253187"/>
                  </a:lnTo>
                  <a:lnTo>
                    <a:pt x="190690" y="297040"/>
                  </a:lnTo>
                  <a:lnTo>
                    <a:pt x="190500" y="304520"/>
                  </a:lnTo>
                  <a:lnTo>
                    <a:pt x="190500" y="380720"/>
                  </a:lnTo>
                  <a:lnTo>
                    <a:pt x="197065" y="424967"/>
                  </a:lnTo>
                  <a:lnTo>
                    <a:pt x="216192" y="465391"/>
                  </a:lnTo>
                  <a:lnTo>
                    <a:pt x="246227" y="498538"/>
                  </a:lnTo>
                  <a:lnTo>
                    <a:pt x="284581" y="521525"/>
                  </a:lnTo>
                  <a:lnTo>
                    <a:pt x="327964" y="532396"/>
                  </a:lnTo>
                  <a:lnTo>
                    <a:pt x="342900" y="533120"/>
                  </a:lnTo>
                  <a:lnTo>
                    <a:pt x="350393" y="532942"/>
                  </a:lnTo>
                  <a:lnTo>
                    <a:pt x="394233" y="524217"/>
                  </a:lnTo>
                  <a:lnTo>
                    <a:pt x="433692" y="503135"/>
                  </a:lnTo>
                  <a:lnTo>
                    <a:pt x="465315" y="471512"/>
                  </a:lnTo>
                  <a:lnTo>
                    <a:pt x="486397" y="432054"/>
                  </a:lnTo>
                  <a:lnTo>
                    <a:pt x="495122" y="388213"/>
                  </a:lnTo>
                  <a:lnTo>
                    <a:pt x="495300" y="380720"/>
                  </a:lnTo>
                  <a:lnTo>
                    <a:pt x="495300" y="304520"/>
                  </a:lnTo>
                  <a:close/>
                </a:path>
              </a:pathLst>
            </a:custGeom>
            <a:solidFill>
              <a:srgbClr val="DB252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6" name="object 26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519862" y="2914638"/>
              <a:ext cx="142874" cy="133372"/>
            </a:xfrm>
            <a:prstGeom prst="rect">
              <a:avLst/>
            </a:prstGeom>
          </p:spPr>
        </p:pic>
      </p:grpSp>
      <p:sp>
        <p:nvSpPr>
          <p:cNvPr id="27" name="object 27" descr=""/>
          <p:cNvSpPr txBox="1"/>
          <p:nvPr/>
        </p:nvSpPr>
        <p:spPr>
          <a:xfrm>
            <a:off x="5110410" y="1337396"/>
            <a:ext cx="5235575" cy="320040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785620">
              <a:lnSpc>
                <a:spcPct val="100000"/>
              </a:lnSpc>
              <a:spcBef>
                <a:spcPts val="120"/>
              </a:spcBef>
            </a:pPr>
            <a:r>
              <a:rPr dirty="0" sz="1650" spc="-80" b="1">
                <a:solidFill>
                  <a:srgbClr val="055E45"/>
                </a:solidFill>
                <a:latin typeface="Roboto"/>
                <a:cs typeface="Roboto"/>
              </a:rPr>
              <a:t>Multi-</a:t>
            </a:r>
            <a:r>
              <a:rPr dirty="0" sz="1650" spc="-90" b="1">
                <a:solidFill>
                  <a:srgbClr val="055E45"/>
                </a:solidFill>
                <a:latin typeface="Roboto"/>
                <a:cs typeface="Roboto"/>
              </a:rPr>
              <a:t>Agent</a:t>
            </a:r>
            <a:r>
              <a:rPr dirty="0" sz="1650" spc="15" b="1">
                <a:solidFill>
                  <a:srgbClr val="055E45"/>
                </a:solidFill>
                <a:latin typeface="Roboto"/>
                <a:cs typeface="Roboto"/>
              </a:rPr>
              <a:t> </a:t>
            </a:r>
            <a:r>
              <a:rPr dirty="0" sz="1650" spc="-100" b="1">
                <a:solidFill>
                  <a:srgbClr val="055E45"/>
                </a:solidFill>
                <a:latin typeface="Roboto"/>
                <a:cs typeface="Roboto"/>
              </a:rPr>
              <a:t>Deep</a:t>
            </a:r>
            <a:r>
              <a:rPr dirty="0" sz="1650" spc="20" b="1">
                <a:solidFill>
                  <a:srgbClr val="055E45"/>
                </a:solidFill>
                <a:latin typeface="Roboto"/>
                <a:cs typeface="Roboto"/>
              </a:rPr>
              <a:t> </a:t>
            </a:r>
            <a:r>
              <a:rPr dirty="0" sz="1650" spc="-95" b="1">
                <a:solidFill>
                  <a:srgbClr val="055E45"/>
                </a:solidFill>
                <a:latin typeface="Roboto"/>
                <a:cs typeface="Roboto"/>
              </a:rPr>
              <a:t>Q-</a:t>
            </a:r>
            <a:r>
              <a:rPr dirty="0" sz="1650" spc="-10" b="1">
                <a:solidFill>
                  <a:srgbClr val="055E45"/>
                </a:solidFill>
                <a:latin typeface="Roboto"/>
                <a:cs typeface="Roboto"/>
              </a:rPr>
              <a:t>Network</a:t>
            </a:r>
            <a:endParaRPr sz="1650">
              <a:latin typeface="Roboto"/>
              <a:cs typeface="Roboto"/>
            </a:endParaRPr>
          </a:p>
          <a:p>
            <a:pPr marL="1480820" marR="5080">
              <a:lnSpc>
                <a:spcPct val="134600"/>
              </a:lnSpc>
              <a:spcBef>
                <a:spcPts val="680"/>
              </a:spcBef>
            </a:pPr>
            <a:r>
              <a:rPr dirty="0" sz="1300" spc="-55" b="0">
                <a:solidFill>
                  <a:srgbClr val="374050"/>
                </a:solidFill>
                <a:latin typeface="Roboto Medium"/>
                <a:cs typeface="Roboto Medium"/>
              </a:rPr>
              <a:t>Architecture:</a:t>
            </a:r>
            <a:r>
              <a:rPr dirty="0" sz="1300" spc="-10" b="0">
                <a:solidFill>
                  <a:srgbClr val="374050"/>
                </a:solidFill>
                <a:latin typeface="Roboto Medium"/>
                <a:cs typeface="Roboto Medium"/>
              </a:rPr>
              <a:t> </a:t>
            </a:r>
            <a:r>
              <a:rPr dirty="0" sz="1300" spc="-65">
                <a:solidFill>
                  <a:srgbClr val="374050"/>
                </a:solidFill>
                <a:latin typeface="Roboto"/>
                <a:cs typeface="Roboto"/>
              </a:rPr>
              <a:t>One</a:t>
            </a:r>
            <a:r>
              <a:rPr dirty="0" sz="1300" spc="-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60">
                <a:solidFill>
                  <a:srgbClr val="374050"/>
                </a:solidFill>
                <a:latin typeface="Roboto"/>
                <a:cs typeface="Roboto"/>
              </a:rPr>
              <a:t>agent</a:t>
            </a:r>
            <a:r>
              <a:rPr dirty="0" sz="1300" spc="-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45">
                <a:solidFill>
                  <a:srgbClr val="374050"/>
                </a:solidFill>
                <a:latin typeface="Roboto"/>
                <a:cs typeface="Roboto"/>
              </a:rPr>
              <a:t>per</a:t>
            </a:r>
            <a:r>
              <a:rPr dirty="0" sz="130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55">
                <a:solidFill>
                  <a:srgbClr val="374050"/>
                </a:solidFill>
                <a:latin typeface="Roboto"/>
                <a:cs typeface="Roboto"/>
              </a:rPr>
              <a:t>switch/group</a:t>
            </a:r>
            <a:r>
              <a:rPr dirty="0" sz="1300" spc="-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50">
                <a:solidFill>
                  <a:srgbClr val="374050"/>
                </a:solidFill>
                <a:latin typeface="Roboto"/>
                <a:cs typeface="Roboto"/>
              </a:rPr>
              <a:t>of</a:t>
            </a:r>
            <a:r>
              <a:rPr dirty="0" sz="1300" spc="-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10">
                <a:solidFill>
                  <a:srgbClr val="374050"/>
                </a:solidFill>
                <a:latin typeface="Roboto"/>
                <a:cs typeface="Roboto"/>
              </a:rPr>
              <a:t>switches </a:t>
            </a:r>
            <a:r>
              <a:rPr dirty="0" sz="1300" spc="-55" b="0">
                <a:solidFill>
                  <a:srgbClr val="374050"/>
                </a:solidFill>
                <a:latin typeface="Roboto Medium"/>
                <a:cs typeface="Roboto Medium"/>
              </a:rPr>
              <a:t>Coordination:</a:t>
            </a:r>
            <a:r>
              <a:rPr dirty="0" sz="1300" spc="15" b="0">
                <a:solidFill>
                  <a:srgbClr val="374050"/>
                </a:solidFill>
                <a:latin typeface="Roboto Medium"/>
                <a:cs typeface="Roboto Medium"/>
              </a:rPr>
              <a:t> </a:t>
            </a:r>
            <a:r>
              <a:rPr dirty="0" sz="1300" spc="-65">
                <a:solidFill>
                  <a:srgbClr val="374050"/>
                </a:solidFill>
                <a:latin typeface="Roboto"/>
                <a:cs typeface="Roboto"/>
              </a:rPr>
              <a:t>Shared</a:t>
            </a:r>
            <a:r>
              <a:rPr dirty="0" sz="1300" spc="2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55">
                <a:solidFill>
                  <a:srgbClr val="374050"/>
                </a:solidFill>
                <a:latin typeface="Roboto"/>
                <a:cs typeface="Roboto"/>
              </a:rPr>
              <a:t>environment,</a:t>
            </a:r>
            <a:r>
              <a:rPr dirty="0" sz="1300" spc="2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55">
                <a:solidFill>
                  <a:srgbClr val="374050"/>
                </a:solidFill>
                <a:latin typeface="Roboto"/>
                <a:cs typeface="Roboto"/>
              </a:rPr>
              <a:t>global</a:t>
            </a:r>
            <a:r>
              <a:rPr dirty="0" sz="1300" spc="2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65">
                <a:solidFill>
                  <a:srgbClr val="374050"/>
                </a:solidFill>
                <a:latin typeface="Roboto"/>
                <a:cs typeface="Roboto"/>
              </a:rPr>
              <a:t>reward</a:t>
            </a:r>
            <a:r>
              <a:rPr dirty="0" sz="1300" spc="2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35">
                <a:solidFill>
                  <a:srgbClr val="374050"/>
                </a:solidFill>
                <a:latin typeface="Roboto"/>
                <a:cs typeface="Roboto"/>
              </a:rPr>
              <a:t>signal </a:t>
            </a:r>
            <a:r>
              <a:rPr dirty="0" sz="1300" spc="-55" b="0">
                <a:solidFill>
                  <a:srgbClr val="374050"/>
                </a:solidFill>
                <a:latin typeface="Roboto Medium"/>
                <a:cs typeface="Roboto Medium"/>
              </a:rPr>
              <a:t>Training:</a:t>
            </a:r>
            <a:r>
              <a:rPr dirty="0" sz="1300" spc="20" b="0">
                <a:solidFill>
                  <a:srgbClr val="374050"/>
                </a:solidFill>
                <a:latin typeface="Roboto Medium"/>
                <a:cs typeface="Roboto Medium"/>
              </a:rPr>
              <a:t> </a:t>
            </a:r>
            <a:r>
              <a:rPr dirty="0" sz="1300" spc="-55">
                <a:solidFill>
                  <a:srgbClr val="374050"/>
                </a:solidFill>
                <a:latin typeface="Roboto"/>
                <a:cs typeface="Roboto"/>
              </a:rPr>
              <a:t>Experience</a:t>
            </a:r>
            <a:r>
              <a:rPr dirty="0" sz="1300" spc="2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55">
                <a:solidFill>
                  <a:srgbClr val="374050"/>
                </a:solidFill>
                <a:latin typeface="Roboto"/>
                <a:cs typeface="Roboto"/>
              </a:rPr>
              <a:t>replay,</a:t>
            </a:r>
            <a:r>
              <a:rPr dirty="0" sz="1300" spc="3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150">
                <a:solidFill>
                  <a:srgbClr val="374050"/>
                </a:solidFill>
                <a:latin typeface="Calibri"/>
                <a:cs typeface="Calibri"/>
              </a:rPr>
              <a:t>ε</a:t>
            </a:r>
            <a:r>
              <a:rPr dirty="0" sz="1300">
                <a:solidFill>
                  <a:srgbClr val="374050"/>
                </a:solidFill>
                <a:latin typeface="Roboto"/>
                <a:cs typeface="Roboto"/>
              </a:rPr>
              <a:t>-</a:t>
            </a:r>
            <a:r>
              <a:rPr dirty="0" sz="1300" spc="-60">
                <a:solidFill>
                  <a:srgbClr val="374050"/>
                </a:solidFill>
                <a:latin typeface="Roboto"/>
                <a:cs typeface="Roboto"/>
              </a:rPr>
              <a:t>greedy</a:t>
            </a:r>
            <a:r>
              <a:rPr dirty="0" sz="1300" spc="2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10">
                <a:solidFill>
                  <a:srgbClr val="374050"/>
                </a:solidFill>
                <a:latin typeface="Roboto"/>
                <a:cs typeface="Roboto"/>
              </a:rPr>
              <a:t>exploration </a:t>
            </a:r>
            <a:r>
              <a:rPr dirty="0" sz="1300" spc="-55" b="0">
                <a:solidFill>
                  <a:srgbClr val="374050"/>
                </a:solidFill>
                <a:latin typeface="Roboto Medium"/>
                <a:cs typeface="Roboto Medium"/>
              </a:rPr>
              <a:t>Execution:</a:t>
            </a:r>
            <a:r>
              <a:rPr dirty="0" sz="1300" b="0">
                <a:solidFill>
                  <a:srgbClr val="374050"/>
                </a:solidFill>
                <a:latin typeface="Roboto Medium"/>
                <a:cs typeface="Roboto Medium"/>
              </a:rPr>
              <a:t> </a:t>
            </a:r>
            <a:r>
              <a:rPr dirty="0" sz="1300" spc="-55">
                <a:solidFill>
                  <a:srgbClr val="374050"/>
                </a:solidFill>
                <a:latin typeface="Roboto"/>
                <a:cs typeface="Roboto"/>
              </a:rPr>
              <a:t>Decentralized</a:t>
            </a:r>
            <a:r>
              <a:rPr dirty="0" sz="1300" spc="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45">
                <a:solidFill>
                  <a:srgbClr val="374050"/>
                </a:solidFill>
                <a:latin typeface="Roboto"/>
                <a:cs typeface="Roboto"/>
              </a:rPr>
              <a:t>policies</a:t>
            </a:r>
            <a:r>
              <a:rPr dirty="0" sz="1300" spc="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50">
                <a:solidFill>
                  <a:srgbClr val="374050"/>
                </a:solidFill>
                <a:latin typeface="Roboto"/>
                <a:cs typeface="Roboto"/>
              </a:rPr>
              <a:t>with</a:t>
            </a:r>
            <a:r>
              <a:rPr dirty="0" sz="1300" spc="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75">
                <a:solidFill>
                  <a:srgbClr val="374050"/>
                </a:solidFill>
                <a:latin typeface="Roboto"/>
                <a:cs typeface="Roboto"/>
              </a:rPr>
              <a:t>some</a:t>
            </a:r>
            <a:r>
              <a:rPr dirty="0" sz="1300" spc="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55">
                <a:solidFill>
                  <a:srgbClr val="374050"/>
                </a:solidFill>
                <a:latin typeface="Roboto"/>
                <a:cs typeface="Roboto"/>
              </a:rPr>
              <a:t>global</a:t>
            </a:r>
            <a:r>
              <a:rPr dirty="0" sz="1300" spc="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20">
                <a:solidFill>
                  <a:srgbClr val="374050"/>
                </a:solidFill>
                <a:latin typeface="Roboto"/>
                <a:cs typeface="Roboto"/>
              </a:rPr>
              <a:t>info</a:t>
            </a:r>
            <a:endParaRPr sz="1300">
              <a:latin typeface="Roboto"/>
              <a:cs typeface="Roboto"/>
            </a:endParaRPr>
          </a:p>
          <a:p>
            <a:pPr marL="1747520">
              <a:lnSpc>
                <a:spcPct val="100000"/>
              </a:lnSpc>
              <a:spcBef>
                <a:spcPts val="715"/>
              </a:spcBef>
            </a:pPr>
            <a:r>
              <a:rPr dirty="0" sz="1650" spc="-85" b="1">
                <a:solidFill>
                  <a:srgbClr val="991B1B"/>
                </a:solidFill>
                <a:latin typeface="Roboto"/>
                <a:cs typeface="Roboto"/>
              </a:rPr>
              <a:t>Hybrid</a:t>
            </a:r>
            <a:r>
              <a:rPr dirty="0" sz="1650" spc="-25" b="1">
                <a:solidFill>
                  <a:srgbClr val="991B1B"/>
                </a:solidFill>
                <a:latin typeface="Roboto"/>
                <a:cs typeface="Roboto"/>
              </a:rPr>
              <a:t> </a:t>
            </a:r>
            <a:r>
              <a:rPr dirty="0" sz="1650" spc="-90" b="1">
                <a:solidFill>
                  <a:srgbClr val="991B1B"/>
                </a:solidFill>
                <a:latin typeface="Roboto"/>
                <a:cs typeface="Roboto"/>
              </a:rPr>
              <a:t>Workflow</a:t>
            </a:r>
            <a:r>
              <a:rPr dirty="0" sz="1650" spc="-25" b="1">
                <a:solidFill>
                  <a:srgbClr val="991B1B"/>
                </a:solidFill>
                <a:latin typeface="Roboto"/>
                <a:cs typeface="Roboto"/>
              </a:rPr>
              <a:t> </a:t>
            </a:r>
            <a:r>
              <a:rPr dirty="0" sz="1650" spc="-10" b="1">
                <a:solidFill>
                  <a:srgbClr val="991B1B"/>
                </a:solidFill>
                <a:latin typeface="Roboto"/>
                <a:cs typeface="Roboto"/>
              </a:rPr>
              <a:t>Integration</a:t>
            </a:r>
            <a:endParaRPr sz="1650">
              <a:latin typeface="Roboto"/>
              <a:cs typeface="Roboto"/>
            </a:endParaRPr>
          </a:p>
          <a:p>
            <a:pPr marL="1480820" marR="148590">
              <a:lnSpc>
                <a:spcPct val="134600"/>
              </a:lnSpc>
              <a:spcBef>
                <a:spcPts val="680"/>
              </a:spcBef>
            </a:pPr>
            <a:r>
              <a:rPr dirty="0" sz="1300" spc="-60" b="0">
                <a:solidFill>
                  <a:srgbClr val="374050"/>
                </a:solidFill>
                <a:latin typeface="Roboto Medium"/>
                <a:cs typeface="Roboto Medium"/>
              </a:rPr>
              <a:t>Online</a:t>
            </a:r>
            <a:r>
              <a:rPr dirty="0" sz="1300" spc="-15" b="0">
                <a:solidFill>
                  <a:srgbClr val="374050"/>
                </a:solidFill>
                <a:latin typeface="Roboto Medium"/>
                <a:cs typeface="Roboto Medium"/>
              </a:rPr>
              <a:t> </a:t>
            </a:r>
            <a:r>
              <a:rPr dirty="0" sz="1300" spc="-70" b="0">
                <a:solidFill>
                  <a:srgbClr val="374050"/>
                </a:solidFill>
                <a:latin typeface="Roboto Medium"/>
                <a:cs typeface="Roboto Medium"/>
              </a:rPr>
              <a:t>mode:</a:t>
            </a:r>
            <a:r>
              <a:rPr dirty="0" sz="1300" spc="-15" b="0">
                <a:solidFill>
                  <a:srgbClr val="374050"/>
                </a:solidFill>
                <a:latin typeface="Roboto Medium"/>
                <a:cs typeface="Roboto Medium"/>
              </a:rPr>
              <a:t> </a:t>
            </a:r>
            <a:r>
              <a:rPr dirty="0" sz="1300" spc="-70">
                <a:solidFill>
                  <a:srgbClr val="374050"/>
                </a:solidFill>
                <a:latin typeface="Roboto"/>
                <a:cs typeface="Roboto"/>
              </a:rPr>
              <a:t>RL</a:t>
            </a:r>
            <a:r>
              <a:rPr dirty="0" sz="1300" spc="-1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40">
                <a:solidFill>
                  <a:srgbClr val="374050"/>
                </a:solidFill>
                <a:latin typeface="Roboto"/>
                <a:cs typeface="Roboto"/>
              </a:rPr>
              <a:t>for</a:t>
            </a:r>
            <a:r>
              <a:rPr dirty="0" sz="1300" spc="-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50">
                <a:solidFill>
                  <a:srgbClr val="374050"/>
                </a:solidFill>
                <a:latin typeface="Roboto"/>
                <a:cs typeface="Roboto"/>
              </a:rPr>
              <a:t>fast</a:t>
            </a:r>
            <a:r>
              <a:rPr dirty="0" sz="1300" spc="-1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50">
                <a:solidFill>
                  <a:srgbClr val="374050"/>
                </a:solidFill>
                <a:latin typeface="Roboto"/>
                <a:cs typeface="Roboto"/>
              </a:rPr>
              <a:t>decisions,</a:t>
            </a:r>
            <a:r>
              <a:rPr dirty="0" sz="1300" spc="-1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75">
                <a:solidFill>
                  <a:srgbClr val="374050"/>
                </a:solidFill>
                <a:latin typeface="Roboto"/>
                <a:cs typeface="Roboto"/>
              </a:rPr>
              <a:t>GA</a:t>
            </a:r>
            <a:r>
              <a:rPr dirty="0" sz="1300" spc="-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40">
                <a:solidFill>
                  <a:srgbClr val="374050"/>
                </a:solidFill>
                <a:latin typeface="Roboto"/>
                <a:cs typeface="Roboto"/>
              </a:rPr>
              <a:t>for</a:t>
            </a:r>
            <a:r>
              <a:rPr dirty="0" sz="1300" spc="-1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50">
                <a:solidFill>
                  <a:srgbClr val="374050"/>
                </a:solidFill>
                <a:latin typeface="Roboto"/>
                <a:cs typeface="Roboto"/>
              </a:rPr>
              <a:t>refinement </a:t>
            </a:r>
            <a:r>
              <a:rPr dirty="0" sz="1300" spc="-55" b="0">
                <a:solidFill>
                  <a:srgbClr val="374050"/>
                </a:solidFill>
                <a:latin typeface="Roboto Medium"/>
                <a:cs typeface="Roboto Medium"/>
              </a:rPr>
              <a:t>Training:</a:t>
            </a:r>
            <a:r>
              <a:rPr dirty="0" sz="1300" spc="-15" b="0">
                <a:solidFill>
                  <a:srgbClr val="374050"/>
                </a:solidFill>
                <a:latin typeface="Roboto Medium"/>
                <a:cs typeface="Roboto Medium"/>
              </a:rPr>
              <a:t> </a:t>
            </a:r>
            <a:r>
              <a:rPr dirty="0" sz="1300" spc="-75">
                <a:solidFill>
                  <a:srgbClr val="374050"/>
                </a:solidFill>
                <a:latin typeface="Roboto"/>
                <a:cs typeface="Roboto"/>
              </a:rPr>
              <a:t>GA</a:t>
            </a:r>
            <a:r>
              <a:rPr dirty="0" sz="1300" spc="-1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55">
                <a:solidFill>
                  <a:srgbClr val="374050"/>
                </a:solidFill>
                <a:latin typeface="Roboto"/>
                <a:cs typeface="Roboto"/>
              </a:rPr>
              <a:t>provides</a:t>
            </a:r>
            <a:r>
              <a:rPr dirty="0" sz="1300" spc="-1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50">
                <a:solidFill>
                  <a:srgbClr val="374050"/>
                </a:solidFill>
                <a:latin typeface="Roboto"/>
                <a:cs typeface="Roboto"/>
              </a:rPr>
              <a:t>expert</a:t>
            </a:r>
            <a:r>
              <a:rPr dirty="0" sz="1300" spc="-1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50">
                <a:solidFill>
                  <a:srgbClr val="374050"/>
                </a:solidFill>
                <a:latin typeface="Roboto"/>
                <a:cs typeface="Roboto"/>
              </a:rPr>
              <a:t>transitions</a:t>
            </a:r>
            <a:r>
              <a:rPr dirty="0" sz="1300" spc="-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40">
                <a:solidFill>
                  <a:srgbClr val="374050"/>
                </a:solidFill>
                <a:latin typeface="Roboto"/>
                <a:cs typeface="Roboto"/>
              </a:rPr>
              <a:t>for</a:t>
            </a:r>
            <a:r>
              <a:rPr dirty="0" sz="1300" spc="-1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25">
                <a:solidFill>
                  <a:srgbClr val="374050"/>
                </a:solidFill>
                <a:latin typeface="Roboto"/>
                <a:cs typeface="Roboto"/>
              </a:rPr>
              <a:t>RL </a:t>
            </a:r>
            <a:r>
              <a:rPr dirty="0" sz="1300" spc="-55" b="0">
                <a:solidFill>
                  <a:srgbClr val="374050"/>
                </a:solidFill>
                <a:latin typeface="Roboto Medium"/>
                <a:cs typeface="Roboto Medium"/>
              </a:rPr>
              <a:t>Constraints:</a:t>
            </a:r>
            <a:r>
              <a:rPr dirty="0" sz="1300" spc="20" b="0">
                <a:solidFill>
                  <a:srgbClr val="374050"/>
                </a:solidFill>
                <a:latin typeface="Roboto Medium"/>
                <a:cs typeface="Roboto Medium"/>
              </a:rPr>
              <a:t> </a:t>
            </a:r>
            <a:r>
              <a:rPr dirty="0" sz="1300" spc="-60">
                <a:solidFill>
                  <a:srgbClr val="374050"/>
                </a:solidFill>
                <a:latin typeface="Roboto"/>
                <a:cs typeface="Roboto"/>
              </a:rPr>
              <a:t>Enforcing</a:t>
            </a:r>
            <a:r>
              <a:rPr dirty="0" sz="1300" spc="3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45">
                <a:solidFill>
                  <a:srgbClr val="374050"/>
                </a:solidFill>
                <a:latin typeface="Roboto"/>
                <a:cs typeface="Roboto"/>
              </a:rPr>
              <a:t>radiality,</a:t>
            </a:r>
            <a:r>
              <a:rPr dirty="0" sz="1300" spc="2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55">
                <a:solidFill>
                  <a:srgbClr val="374050"/>
                </a:solidFill>
                <a:latin typeface="Roboto"/>
                <a:cs typeface="Roboto"/>
              </a:rPr>
              <a:t>voltage/current</a:t>
            </a:r>
            <a:r>
              <a:rPr dirty="0" sz="1300" spc="3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25">
                <a:solidFill>
                  <a:srgbClr val="374050"/>
                </a:solidFill>
                <a:latin typeface="Roboto"/>
                <a:cs typeface="Roboto"/>
              </a:rPr>
              <a:t>limits </a:t>
            </a:r>
            <a:r>
              <a:rPr dirty="0" sz="1300" spc="-70" b="0">
                <a:solidFill>
                  <a:srgbClr val="374050"/>
                </a:solidFill>
                <a:latin typeface="Roboto Medium"/>
                <a:cs typeface="Roboto Medium"/>
              </a:rPr>
              <a:t>Time</a:t>
            </a:r>
            <a:r>
              <a:rPr dirty="0" sz="1300" spc="-10" b="0">
                <a:solidFill>
                  <a:srgbClr val="374050"/>
                </a:solidFill>
                <a:latin typeface="Roboto Medium"/>
                <a:cs typeface="Roboto Medium"/>
              </a:rPr>
              <a:t> </a:t>
            </a:r>
            <a:r>
              <a:rPr dirty="0" sz="1300" spc="-50" b="0">
                <a:solidFill>
                  <a:srgbClr val="374050"/>
                </a:solidFill>
                <a:latin typeface="Roboto Medium"/>
                <a:cs typeface="Roboto Medium"/>
              </a:rPr>
              <a:t>allocation:</a:t>
            </a:r>
            <a:r>
              <a:rPr dirty="0" sz="1300" spc="-10" b="0">
                <a:solidFill>
                  <a:srgbClr val="374050"/>
                </a:solidFill>
                <a:latin typeface="Roboto Medium"/>
                <a:cs typeface="Roboto Medium"/>
              </a:rPr>
              <a:t> </a:t>
            </a:r>
            <a:r>
              <a:rPr dirty="0" sz="1300" spc="-70">
                <a:solidFill>
                  <a:srgbClr val="374050"/>
                </a:solidFill>
                <a:latin typeface="Roboto"/>
                <a:cs typeface="Roboto"/>
              </a:rPr>
              <a:t>RL</a:t>
            </a:r>
            <a:r>
              <a:rPr dirty="0" sz="1300" spc="-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55">
                <a:solidFill>
                  <a:srgbClr val="374050"/>
                </a:solidFill>
                <a:latin typeface="Roboto"/>
                <a:cs typeface="Roboto"/>
              </a:rPr>
              <a:t>(ms),</a:t>
            </a:r>
            <a:r>
              <a:rPr dirty="0" sz="130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75">
                <a:solidFill>
                  <a:srgbClr val="374050"/>
                </a:solidFill>
                <a:latin typeface="Roboto"/>
                <a:cs typeface="Roboto"/>
              </a:rPr>
              <a:t>GA</a:t>
            </a:r>
            <a:r>
              <a:rPr dirty="0" sz="1300" spc="-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55">
                <a:solidFill>
                  <a:srgbClr val="374050"/>
                </a:solidFill>
                <a:latin typeface="Roboto"/>
                <a:cs typeface="Roboto"/>
              </a:rPr>
              <a:t>fine-</a:t>
            </a:r>
            <a:r>
              <a:rPr dirty="0" sz="1300" spc="-45">
                <a:solidFill>
                  <a:srgbClr val="374050"/>
                </a:solidFill>
                <a:latin typeface="Roboto"/>
                <a:cs typeface="Roboto"/>
              </a:rPr>
              <a:t>tuning</a:t>
            </a:r>
            <a:r>
              <a:rPr dirty="0" sz="1300" spc="-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10">
                <a:solidFill>
                  <a:srgbClr val="374050"/>
                </a:solidFill>
                <a:latin typeface="Roboto"/>
                <a:cs typeface="Roboto"/>
              </a:rPr>
              <a:t>(0.5s)</a:t>
            </a:r>
            <a:endParaRPr sz="13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340"/>
              </a:spcBef>
            </a:pPr>
            <a:r>
              <a:rPr dirty="0" sz="1500" spc="-85" b="1">
                <a:solidFill>
                  <a:srgbClr val="374050"/>
                </a:solidFill>
                <a:latin typeface="Roboto"/>
                <a:cs typeface="Roboto"/>
              </a:rPr>
              <a:t>Hybrid</a:t>
            </a:r>
            <a:r>
              <a:rPr dirty="0" sz="1500" spc="-15" b="1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500" spc="-90" b="1">
                <a:solidFill>
                  <a:srgbClr val="374050"/>
                </a:solidFill>
                <a:latin typeface="Roboto"/>
                <a:cs typeface="Roboto"/>
              </a:rPr>
              <a:t>Workflow</a:t>
            </a:r>
            <a:r>
              <a:rPr dirty="0" sz="1500" spc="-15" b="1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500" spc="-10" b="1">
                <a:solidFill>
                  <a:srgbClr val="374050"/>
                </a:solidFill>
                <a:latin typeface="Roboto"/>
                <a:cs typeface="Roboto"/>
              </a:rPr>
              <a:t>Process</a:t>
            </a:r>
            <a:endParaRPr sz="1500">
              <a:latin typeface="Roboto"/>
              <a:cs typeface="Roboto"/>
            </a:endParaRPr>
          </a:p>
        </p:txBody>
      </p:sp>
      <p:sp>
        <p:nvSpPr>
          <p:cNvPr id="28" name="object 28" descr=""/>
          <p:cNvSpPr txBox="1"/>
          <p:nvPr/>
        </p:nvSpPr>
        <p:spPr>
          <a:xfrm>
            <a:off x="2933948" y="5370025"/>
            <a:ext cx="472440" cy="4064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79375" marR="5080" indent="-67310">
              <a:lnSpc>
                <a:spcPct val="108700"/>
              </a:lnSpc>
              <a:spcBef>
                <a:spcPts val="95"/>
              </a:spcBef>
            </a:pPr>
            <a:r>
              <a:rPr dirty="0" sz="1150" spc="-70" b="0">
                <a:latin typeface="Roboto Medium"/>
                <a:cs typeface="Roboto Medium"/>
              </a:rPr>
              <a:t>System </a:t>
            </a:r>
            <a:r>
              <a:rPr dirty="0" sz="1150" spc="-10" b="0">
                <a:latin typeface="Roboto Medium"/>
                <a:cs typeface="Roboto Medium"/>
              </a:rPr>
              <a:t>State</a:t>
            </a:r>
            <a:endParaRPr sz="1150">
              <a:latin typeface="Roboto Medium"/>
              <a:cs typeface="Roboto Medium"/>
            </a:endParaRPr>
          </a:p>
        </p:txBody>
      </p:sp>
      <p:sp>
        <p:nvSpPr>
          <p:cNvPr id="29" name="object 29" descr=""/>
          <p:cNvSpPr txBox="1"/>
          <p:nvPr/>
        </p:nvSpPr>
        <p:spPr>
          <a:xfrm>
            <a:off x="4271615" y="5370025"/>
            <a:ext cx="540385" cy="406400"/>
          </a:xfrm>
          <a:prstGeom prst="rect">
            <a:avLst/>
          </a:prstGeom>
        </p:spPr>
        <p:txBody>
          <a:bodyPr wrap="square" lIns="0" tIns="27305" rIns="0" bIns="0" rtlCol="0" vert="horz">
            <a:spAutoFit/>
          </a:bodyPr>
          <a:lstStyle/>
          <a:p>
            <a:pPr marL="45085">
              <a:lnSpc>
                <a:spcPct val="100000"/>
              </a:lnSpc>
              <a:spcBef>
                <a:spcPts val="215"/>
              </a:spcBef>
            </a:pPr>
            <a:r>
              <a:rPr dirty="0" sz="1150" spc="-10" b="0">
                <a:latin typeface="Roboto Medium"/>
                <a:cs typeface="Roboto Medium"/>
              </a:rPr>
              <a:t>MADRL</a:t>
            </a:r>
            <a:endParaRPr sz="1150">
              <a:latin typeface="Roboto Medium"/>
              <a:cs typeface="Roboto Medium"/>
            </a:endParaRPr>
          </a:p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150" spc="-45" b="0">
                <a:latin typeface="Roboto Medium"/>
                <a:cs typeface="Roboto Medium"/>
              </a:rPr>
              <a:t>Decision</a:t>
            </a:r>
            <a:endParaRPr sz="1150">
              <a:latin typeface="Roboto Medium"/>
              <a:cs typeface="Roboto Medium"/>
            </a:endParaRPr>
          </a:p>
        </p:txBody>
      </p:sp>
      <p:sp>
        <p:nvSpPr>
          <p:cNvPr id="30" name="object 30" descr=""/>
          <p:cNvSpPr txBox="1"/>
          <p:nvPr/>
        </p:nvSpPr>
        <p:spPr>
          <a:xfrm>
            <a:off x="5595738" y="5370025"/>
            <a:ext cx="732155" cy="406400"/>
          </a:xfrm>
          <a:prstGeom prst="rect">
            <a:avLst/>
          </a:prstGeom>
        </p:spPr>
        <p:txBody>
          <a:bodyPr wrap="square" lIns="0" tIns="2730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215"/>
              </a:spcBef>
            </a:pPr>
            <a:r>
              <a:rPr dirty="0" sz="1150" spc="-25" b="0">
                <a:latin typeface="Roboto Medium"/>
                <a:cs typeface="Roboto Medium"/>
              </a:rPr>
              <a:t>GA</a:t>
            </a:r>
            <a:endParaRPr sz="1150">
              <a:latin typeface="Roboto Medium"/>
              <a:cs typeface="Roboto Medium"/>
            </a:endParaRPr>
          </a:p>
          <a:p>
            <a:pPr algn="ctr">
              <a:lnSpc>
                <a:spcPct val="100000"/>
              </a:lnSpc>
              <a:spcBef>
                <a:spcPts val="120"/>
              </a:spcBef>
            </a:pPr>
            <a:r>
              <a:rPr dirty="0" sz="1150" spc="-50" b="0">
                <a:latin typeface="Roboto Medium"/>
                <a:cs typeface="Roboto Medium"/>
              </a:rPr>
              <a:t>Fine-</a:t>
            </a:r>
            <a:r>
              <a:rPr dirty="0" sz="1150" spc="-35" b="0">
                <a:latin typeface="Roboto Medium"/>
                <a:cs typeface="Roboto Medium"/>
              </a:rPr>
              <a:t>Tuning</a:t>
            </a:r>
            <a:endParaRPr sz="1150">
              <a:latin typeface="Roboto Medium"/>
              <a:cs typeface="Roboto Medium"/>
            </a:endParaRPr>
          </a:p>
        </p:txBody>
      </p:sp>
      <p:sp>
        <p:nvSpPr>
          <p:cNvPr id="31" name="object 31" descr=""/>
          <p:cNvSpPr txBox="1"/>
          <p:nvPr/>
        </p:nvSpPr>
        <p:spPr>
          <a:xfrm>
            <a:off x="7064226" y="5370025"/>
            <a:ext cx="718185" cy="4064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59690" marR="5080" indent="-47625">
              <a:lnSpc>
                <a:spcPct val="108700"/>
              </a:lnSpc>
              <a:spcBef>
                <a:spcPts val="95"/>
              </a:spcBef>
            </a:pPr>
            <a:r>
              <a:rPr dirty="0" sz="1150" spc="-65" b="0">
                <a:latin typeface="Roboto Medium"/>
                <a:cs typeface="Roboto Medium"/>
              </a:rPr>
              <a:t>Power</a:t>
            </a:r>
            <a:r>
              <a:rPr dirty="0" sz="1150" spc="-30" b="0">
                <a:latin typeface="Roboto Medium"/>
                <a:cs typeface="Roboto Medium"/>
              </a:rPr>
              <a:t> </a:t>
            </a:r>
            <a:r>
              <a:rPr dirty="0" sz="1150" spc="-55" b="0">
                <a:latin typeface="Roboto Medium"/>
                <a:cs typeface="Roboto Medium"/>
              </a:rPr>
              <a:t>Flow </a:t>
            </a:r>
            <a:r>
              <a:rPr dirty="0" sz="1150" spc="-20" b="0">
                <a:latin typeface="Roboto Medium"/>
                <a:cs typeface="Roboto Medium"/>
              </a:rPr>
              <a:t>Validation</a:t>
            </a:r>
            <a:endParaRPr sz="1150">
              <a:latin typeface="Roboto Medium"/>
              <a:cs typeface="Roboto Medium"/>
            </a:endParaRPr>
          </a:p>
        </p:txBody>
      </p:sp>
      <p:sp>
        <p:nvSpPr>
          <p:cNvPr id="32" name="object 32" descr=""/>
          <p:cNvSpPr txBox="1"/>
          <p:nvPr/>
        </p:nvSpPr>
        <p:spPr>
          <a:xfrm>
            <a:off x="8519021" y="5370025"/>
            <a:ext cx="820419" cy="4064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 indent="146050">
              <a:lnSpc>
                <a:spcPct val="108700"/>
              </a:lnSpc>
              <a:spcBef>
                <a:spcPts val="95"/>
              </a:spcBef>
            </a:pPr>
            <a:r>
              <a:rPr dirty="0" sz="1150" spc="-10" b="0">
                <a:latin typeface="Roboto Medium"/>
                <a:cs typeface="Roboto Medium"/>
              </a:rPr>
              <a:t>Network </a:t>
            </a:r>
            <a:r>
              <a:rPr dirty="0" sz="1150" spc="-60" b="0">
                <a:latin typeface="Roboto Medium"/>
                <a:cs typeface="Roboto Medium"/>
              </a:rPr>
              <a:t>Reconfigured</a:t>
            </a:r>
            <a:endParaRPr sz="1150">
              <a:latin typeface="Roboto Medium"/>
              <a:cs typeface="Roboto Medium"/>
            </a:endParaRPr>
          </a:p>
        </p:txBody>
      </p:sp>
      <p:sp>
        <p:nvSpPr>
          <p:cNvPr id="33" name="object 33" descr=""/>
          <p:cNvSpPr/>
          <p:nvPr/>
        </p:nvSpPr>
        <p:spPr>
          <a:xfrm>
            <a:off x="4876799" y="5895974"/>
            <a:ext cx="2438400" cy="19050"/>
          </a:xfrm>
          <a:custGeom>
            <a:avLst/>
            <a:gdLst/>
            <a:ahLst/>
            <a:cxnLst/>
            <a:rect l="l" t="t" r="r" b="b"/>
            <a:pathLst>
              <a:path w="2438400" h="19050">
                <a:moveTo>
                  <a:pt x="2438399" y="19049"/>
                </a:moveTo>
                <a:lnTo>
                  <a:pt x="0" y="19049"/>
                </a:lnTo>
                <a:lnTo>
                  <a:pt x="0" y="0"/>
                </a:lnTo>
                <a:lnTo>
                  <a:pt x="2438399" y="0"/>
                </a:lnTo>
                <a:lnTo>
                  <a:pt x="2438399" y="19049"/>
                </a:lnTo>
                <a:close/>
              </a:path>
            </a:pathLst>
          </a:custGeom>
          <a:solidFill>
            <a:srgbClr val="D0D5D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 descr=""/>
          <p:cNvSpPr txBox="1"/>
          <p:nvPr/>
        </p:nvSpPr>
        <p:spPr>
          <a:xfrm>
            <a:off x="4759473" y="5934947"/>
            <a:ext cx="2673350" cy="20383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150" spc="-70">
                <a:solidFill>
                  <a:srgbClr val="4A5462"/>
                </a:solidFill>
                <a:latin typeface="Roboto"/>
                <a:cs typeface="Roboto"/>
              </a:rPr>
              <a:t>Reward</a:t>
            </a:r>
            <a:r>
              <a:rPr dirty="0" sz="1150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1150" spc="-60">
                <a:solidFill>
                  <a:srgbClr val="4A5462"/>
                </a:solidFill>
                <a:latin typeface="Roboto"/>
                <a:cs typeface="Roboto"/>
              </a:rPr>
              <a:t>feedback</a:t>
            </a:r>
            <a:r>
              <a:rPr dirty="0" sz="1150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1150" spc="-55">
                <a:solidFill>
                  <a:srgbClr val="4A5462"/>
                </a:solidFill>
                <a:latin typeface="Roboto"/>
                <a:cs typeface="Roboto"/>
              </a:rPr>
              <a:t>loop</a:t>
            </a:r>
            <a:r>
              <a:rPr dirty="0" sz="1150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1150" spc="-45">
                <a:solidFill>
                  <a:srgbClr val="4A5462"/>
                </a:solidFill>
                <a:latin typeface="Roboto"/>
                <a:cs typeface="Roboto"/>
              </a:rPr>
              <a:t>for</a:t>
            </a:r>
            <a:r>
              <a:rPr dirty="0" sz="1150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1150" spc="-50">
                <a:solidFill>
                  <a:srgbClr val="4A5462"/>
                </a:solidFill>
                <a:latin typeface="Roboto"/>
                <a:cs typeface="Roboto"/>
              </a:rPr>
              <a:t>continued</a:t>
            </a:r>
            <a:r>
              <a:rPr dirty="0" sz="1150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1150" spc="-40">
                <a:solidFill>
                  <a:srgbClr val="4A5462"/>
                </a:solidFill>
                <a:latin typeface="Roboto"/>
                <a:cs typeface="Roboto"/>
              </a:rPr>
              <a:t>learning</a:t>
            </a:r>
            <a:endParaRPr sz="1150">
              <a:latin typeface="Roboto"/>
              <a:cs typeface="Roboto"/>
            </a:endParaRPr>
          </a:p>
        </p:txBody>
      </p:sp>
      <p:grpSp>
        <p:nvGrpSpPr>
          <p:cNvPr id="35" name="object 35" descr=""/>
          <p:cNvGrpSpPr/>
          <p:nvPr/>
        </p:nvGrpSpPr>
        <p:grpSpPr>
          <a:xfrm>
            <a:off x="152399" y="5172074"/>
            <a:ext cx="11887200" cy="2009775"/>
            <a:chOff x="152399" y="5172074"/>
            <a:chExt cx="11887200" cy="2009775"/>
          </a:xfrm>
        </p:grpSpPr>
        <p:sp>
          <p:nvSpPr>
            <p:cNvPr id="36" name="object 36" descr=""/>
            <p:cNvSpPr/>
            <p:nvPr/>
          </p:nvSpPr>
          <p:spPr>
            <a:xfrm>
              <a:off x="152399" y="6753224"/>
              <a:ext cx="11887200" cy="428625"/>
            </a:xfrm>
            <a:custGeom>
              <a:avLst/>
              <a:gdLst/>
              <a:ahLst/>
              <a:cxnLst/>
              <a:rect l="l" t="t" r="r" b="b"/>
              <a:pathLst>
                <a:path w="11887200" h="428625">
                  <a:moveTo>
                    <a:pt x="11810999" y="428624"/>
                  </a:moveTo>
                  <a:lnTo>
                    <a:pt x="76200" y="428624"/>
                  </a:lnTo>
                  <a:lnTo>
                    <a:pt x="68693" y="428262"/>
                  </a:lnTo>
                  <a:lnTo>
                    <a:pt x="27882" y="411357"/>
                  </a:lnTo>
                  <a:lnTo>
                    <a:pt x="3262" y="374511"/>
                  </a:lnTo>
                  <a:lnTo>
                    <a:pt x="0" y="352425"/>
                  </a:lnTo>
                  <a:lnTo>
                    <a:pt x="0" y="0"/>
                  </a:lnTo>
                  <a:lnTo>
                    <a:pt x="11887199" y="0"/>
                  </a:lnTo>
                  <a:lnTo>
                    <a:pt x="11887199" y="352425"/>
                  </a:lnTo>
                  <a:lnTo>
                    <a:pt x="11874368" y="394767"/>
                  </a:lnTo>
                  <a:lnTo>
                    <a:pt x="11840158" y="422824"/>
                  </a:lnTo>
                  <a:lnTo>
                    <a:pt x="11810999" y="428624"/>
                  </a:lnTo>
                  <a:close/>
                </a:path>
              </a:pathLst>
            </a:custGeom>
            <a:solidFill>
              <a:srgbClr val="F2F4F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 descr=""/>
            <p:cNvSpPr/>
            <p:nvPr/>
          </p:nvSpPr>
          <p:spPr>
            <a:xfrm>
              <a:off x="152399" y="6753224"/>
              <a:ext cx="11887200" cy="9525"/>
            </a:xfrm>
            <a:custGeom>
              <a:avLst/>
              <a:gdLst/>
              <a:ahLst/>
              <a:cxnLst/>
              <a:rect l="l" t="t" r="r" b="b"/>
              <a:pathLst>
                <a:path w="11887200" h="9525">
                  <a:moveTo>
                    <a:pt x="11887199" y="9524"/>
                  </a:moveTo>
                  <a:lnTo>
                    <a:pt x="0" y="9524"/>
                  </a:lnTo>
                  <a:lnTo>
                    <a:pt x="0" y="0"/>
                  </a:lnTo>
                  <a:lnTo>
                    <a:pt x="11887199" y="0"/>
                  </a:lnTo>
                  <a:lnTo>
                    <a:pt x="11887199" y="9524"/>
                  </a:lnTo>
                  <a:close/>
                </a:path>
              </a:pathLst>
            </a:custGeom>
            <a:solidFill>
              <a:srgbClr val="D0D5D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 descr=""/>
            <p:cNvSpPr/>
            <p:nvPr/>
          </p:nvSpPr>
          <p:spPr>
            <a:xfrm>
              <a:off x="3667112" y="5172074"/>
              <a:ext cx="4752975" cy="152400"/>
            </a:xfrm>
            <a:custGeom>
              <a:avLst/>
              <a:gdLst/>
              <a:ahLst/>
              <a:cxnLst/>
              <a:rect l="l" t="t" r="r" b="b"/>
              <a:pathLst>
                <a:path w="4752975" h="152400">
                  <a:moveTo>
                    <a:pt x="457200" y="76200"/>
                  </a:moveTo>
                  <a:lnTo>
                    <a:pt x="361950" y="0"/>
                  </a:lnTo>
                  <a:lnTo>
                    <a:pt x="361950" y="66675"/>
                  </a:lnTo>
                  <a:lnTo>
                    <a:pt x="0" y="66675"/>
                  </a:lnTo>
                  <a:lnTo>
                    <a:pt x="0" y="95250"/>
                  </a:lnTo>
                  <a:lnTo>
                    <a:pt x="361950" y="95250"/>
                  </a:lnTo>
                  <a:lnTo>
                    <a:pt x="361950" y="152400"/>
                  </a:lnTo>
                  <a:lnTo>
                    <a:pt x="457200" y="76200"/>
                  </a:lnTo>
                  <a:close/>
                </a:path>
                <a:path w="4752975" h="152400">
                  <a:moveTo>
                    <a:pt x="1828800" y="76200"/>
                  </a:moveTo>
                  <a:lnTo>
                    <a:pt x="1733550" y="0"/>
                  </a:lnTo>
                  <a:lnTo>
                    <a:pt x="1733550" y="66675"/>
                  </a:lnTo>
                  <a:lnTo>
                    <a:pt x="1371600" y="66675"/>
                  </a:lnTo>
                  <a:lnTo>
                    <a:pt x="1371600" y="95250"/>
                  </a:lnTo>
                  <a:lnTo>
                    <a:pt x="1733550" y="95250"/>
                  </a:lnTo>
                  <a:lnTo>
                    <a:pt x="1733550" y="152400"/>
                  </a:lnTo>
                  <a:lnTo>
                    <a:pt x="1828800" y="76200"/>
                  </a:lnTo>
                  <a:close/>
                </a:path>
                <a:path w="4752975" h="152400">
                  <a:moveTo>
                    <a:pt x="3295650" y="76200"/>
                  </a:moveTo>
                  <a:lnTo>
                    <a:pt x="3200400" y="0"/>
                  </a:lnTo>
                  <a:lnTo>
                    <a:pt x="3200400" y="66675"/>
                  </a:lnTo>
                  <a:lnTo>
                    <a:pt x="2838450" y="66675"/>
                  </a:lnTo>
                  <a:lnTo>
                    <a:pt x="2838450" y="95250"/>
                  </a:lnTo>
                  <a:lnTo>
                    <a:pt x="3200400" y="95250"/>
                  </a:lnTo>
                  <a:lnTo>
                    <a:pt x="3200400" y="152400"/>
                  </a:lnTo>
                  <a:lnTo>
                    <a:pt x="3295650" y="76200"/>
                  </a:lnTo>
                  <a:close/>
                </a:path>
                <a:path w="4752975" h="152400">
                  <a:moveTo>
                    <a:pt x="4752975" y="76200"/>
                  </a:moveTo>
                  <a:lnTo>
                    <a:pt x="4657725" y="0"/>
                  </a:lnTo>
                  <a:lnTo>
                    <a:pt x="4657725" y="66675"/>
                  </a:lnTo>
                  <a:lnTo>
                    <a:pt x="4295775" y="66675"/>
                  </a:lnTo>
                  <a:lnTo>
                    <a:pt x="4295775" y="95250"/>
                  </a:lnTo>
                  <a:lnTo>
                    <a:pt x="4657725" y="95250"/>
                  </a:lnTo>
                  <a:lnTo>
                    <a:pt x="4657725" y="152400"/>
                  </a:lnTo>
                  <a:lnTo>
                    <a:pt x="4752975" y="76200"/>
                  </a:lnTo>
                  <a:close/>
                </a:path>
              </a:pathLst>
            </a:custGeom>
            <a:solidFill>
              <a:srgbClr val="3181C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 descr=""/>
            <p:cNvSpPr/>
            <p:nvPr/>
          </p:nvSpPr>
          <p:spPr>
            <a:xfrm>
              <a:off x="10544174" y="6819899"/>
              <a:ext cx="1457325" cy="323850"/>
            </a:xfrm>
            <a:custGeom>
              <a:avLst/>
              <a:gdLst/>
              <a:ahLst/>
              <a:cxnLst/>
              <a:rect l="l" t="t" r="r" b="b"/>
              <a:pathLst>
                <a:path w="1457325" h="323850">
                  <a:moveTo>
                    <a:pt x="1424277" y="323849"/>
                  </a:moveTo>
                  <a:lnTo>
                    <a:pt x="33047" y="323849"/>
                  </a:lnTo>
                  <a:lnTo>
                    <a:pt x="28187" y="322883"/>
                  </a:lnTo>
                  <a:lnTo>
                    <a:pt x="966" y="295662"/>
                  </a:lnTo>
                  <a:lnTo>
                    <a:pt x="0" y="290802"/>
                  </a:lnTo>
                  <a:lnTo>
                    <a:pt x="0" y="285749"/>
                  </a:lnTo>
                  <a:lnTo>
                    <a:pt x="0" y="33047"/>
                  </a:lnTo>
                  <a:lnTo>
                    <a:pt x="28187" y="966"/>
                  </a:lnTo>
                  <a:lnTo>
                    <a:pt x="33047" y="0"/>
                  </a:lnTo>
                  <a:lnTo>
                    <a:pt x="1424277" y="0"/>
                  </a:lnTo>
                  <a:lnTo>
                    <a:pt x="1456357" y="28187"/>
                  </a:lnTo>
                  <a:lnTo>
                    <a:pt x="1457324" y="33047"/>
                  </a:lnTo>
                  <a:lnTo>
                    <a:pt x="1457324" y="290802"/>
                  </a:lnTo>
                  <a:lnTo>
                    <a:pt x="1429137" y="322883"/>
                  </a:lnTo>
                  <a:lnTo>
                    <a:pt x="1424277" y="323849"/>
                  </a:lnTo>
                  <a:close/>
                </a:path>
              </a:pathLst>
            </a:custGeom>
            <a:solidFill>
              <a:srgbClr val="33333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0" name="object 40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0658474" y="6915149"/>
              <a:ext cx="133349" cy="133349"/>
            </a:xfrm>
            <a:prstGeom prst="rect">
              <a:avLst/>
            </a:prstGeom>
          </p:spPr>
        </p:pic>
      </p:grpSp>
      <p:sp>
        <p:nvSpPr>
          <p:cNvPr id="41" name="object 41" descr=""/>
          <p:cNvSpPr txBox="1"/>
          <p:nvPr/>
        </p:nvSpPr>
        <p:spPr>
          <a:xfrm>
            <a:off x="520700" y="6905845"/>
            <a:ext cx="2289175" cy="15557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30"/>
              </a:lnSpc>
            </a:pPr>
            <a:r>
              <a:rPr dirty="0" sz="1150" spc="-60">
                <a:solidFill>
                  <a:srgbClr val="6A7280"/>
                </a:solidFill>
                <a:latin typeface="Roboto"/>
                <a:cs typeface="Roboto"/>
              </a:rPr>
              <a:t>IEEE</a:t>
            </a:r>
            <a:r>
              <a:rPr dirty="0" sz="1150">
                <a:solidFill>
                  <a:srgbClr val="6A7280"/>
                </a:solidFill>
                <a:latin typeface="Roboto"/>
                <a:cs typeface="Roboto"/>
              </a:rPr>
              <a:t> </a:t>
            </a:r>
            <a:r>
              <a:rPr dirty="0" sz="1150" spc="-70">
                <a:solidFill>
                  <a:srgbClr val="6A7280"/>
                </a:solidFill>
                <a:latin typeface="Roboto"/>
                <a:cs typeface="Roboto"/>
              </a:rPr>
              <a:t>Power</a:t>
            </a:r>
            <a:r>
              <a:rPr dirty="0" sz="1150" spc="5">
                <a:solidFill>
                  <a:srgbClr val="6A7280"/>
                </a:solidFill>
                <a:latin typeface="Roboto"/>
                <a:cs typeface="Roboto"/>
              </a:rPr>
              <a:t> </a:t>
            </a:r>
            <a:r>
              <a:rPr dirty="0" sz="1150" spc="-60">
                <a:solidFill>
                  <a:srgbClr val="6A7280"/>
                </a:solidFill>
                <a:latin typeface="Roboto"/>
                <a:cs typeface="Roboto"/>
              </a:rPr>
              <a:t>Systems</a:t>
            </a:r>
            <a:r>
              <a:rPr dirty="0" sz="1150">
                <a:solidFill>
                  <a:srgbClr val="6A7280"/>
                </a:solidFill>
                <a:latin typeface="Roboto"/>
                <a:cs typeface="Roboto"/>
              </a:rPr>
              <a:t> </a:t>
            </a:r>
            <a:r>
              <a:rPr dirty="0" sz="1150" spc="-60">
                <a:solidFill>
                  <a:srgbClr val="6A7280"/>
                </a:solidFill>
                <a:latin typeface="Roboto"/>
                <a:cs typeface="Roboto"/>
              </a:rPr>
              <a:t>Conference</a:t>
            </a:r>
            <a:r>
              <a:rPr dirty="0" sz="1150" spc="5">
                <a:solidFill>
                  <a:srgbClr val="6A7280"/>
                </a:solidFill>
                <a:latin typeface="Roboto"/>
                <a:cs typeface="Roboto"/>
              </a:rPr>
              <a:t> </a:t>
            </a:r>
            <a:r>
              <a:rPr dirty="0" sz="1150" spc="-30">
                <a:solidFill>
                  <a:srgbClr val="6A7280"/>
                </a:solidFill>
                <a:latin typeface="Roboto"/>
                <a:cs typeface="Roboto"/>
              </a:rPr>
              <a:t>2023</a:t>
            </a:r>
            <a:endParaRPr sz="1150">
              <a:latin typeface="Roboto"/>
              <a:cs typeface="Roboto"/>
            </a:endParaRPr>
          </a:p>
        </p:txBody>
      </p:sp>
      <p:sp>
        <p:nvSpPr>
          <p:cNvPr id="42" name="object 42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14300" rIns="0" bIns="0" rtlCol="0" vert="horz">
            <a:spAutoFit/>
          </a:bodyPr>
          <a:lstStyle/>
          <a:p>
            <a:pPr marL="12700">
              <a:lnSpc>
                <a:spcPts val="1130"/>
              </a:lnSpc>
            </a:pPr>
            <a:r>
              <a:rPr dirty="0" spc="-55"/>
              <a:t>Ma</a:t>
            </a:r>
            <a:r>
              <a:rPr dirty="0" spc="-204"/>
              <a:t>d</a:t>
            </a:r>
            <a:r>
              <a:rPr dirty="0" sz="1150" spc="-600">
                <a:solidFill>
                  <a:srgbClr val="6A7280"/>
                </a:solidFill>
              </a:rPr>
              <a:t>S</a:t>
            </a:r>
            <a:r>
              <a:rPr dirty="0" spc="-40"/>
              <a:t>e</a:t>
            </a:r>
            <a:r>
              <a:rPr dirty="0" sz="1150" spc="-110">
                <a:solidFill>
                  <a:srgbClr val="6A7280"/>
                </a:solidFill>
              </a:rPr>
              <a:t>l</a:t>
            </a:r>
            <a:r>
              <a:rPr dirty="0" spc="-755"/>
              <a:t>w</a:t>
            </a:r>
            <a:r>
              <a:rPr dirty="0" sz="1150" spc="-55">
                <a:solidFill>
                  <a:srgbClr val="6A7280"/>
                </a:solidFill>
              </a:rPr>
              <a:t>i</a:t>
            </a:r>
            <a:r>
              <a:rPr dirty="0" sz="1150" spc="-300">
                <a:solidFill>
                  <a:srgbClr val="6A7280"/>
                </a:solidFill>
              </a:rPr>
              <a:t>d</a:t>
            </a:r>
            <a:r>
              <a:rPr dirty="0" spc="-55"/>
              <a:t>i</a:t>
            </a:r>
            <a:r>
              <a:rPr dirty="0" spc="-395"/>
              <a:t>t</a:t>
            </a:r>
            <a:r>
              <a:rPr dirty="0" sz="1150" spc="-350">
                <a:solidFill>
                  <a:srgbClr val="6A7280"/>
                </a:solidFill>
              </a:rPr>
              <a:t>e</a:t>
            </a:r>
            <a:r>
              <a:rPr dirty="0" spc="-30"/>
              <a:t>h</a:t>
            </a:r>
            <a:fld id="{81D60167-4931-47E6-BA6A-407CBD079E47}" type="slidenum">
              <a:rPr dirty="0" sz="1150" spc="-55">
                <a:solidFill>
                  <a:srgbClr val="6A7280"/>
                </a:solidFill>
              </a:rPr>
              <a:t>5</a:t>
            </a:fld>
            <a:r>
              <a:rPr dirty="0" spc="-300"/>
              <a:t>G</a:t>
            </a:r>
            <a:r>
              <a:rPr dirty="0" sz="1150" spc="-300">
                <a:solidFill>
                  <a:srgbClr val="6A7280"/>
                </a:solidFill>
              </a:rPr>
              <a:t>/</a:t>
            </a:r>
            <a:r>
              <a:rPr dirty="0" spc="-350"/>
              <a:t>e</a:t>
            </a:r>
            <a:r>
              <a:rPr dirty="0" sz="1150" spc="-420">
                <a:solidFill>
                  <a:srgbClr val="6A7280"/>
                </a:solidFill>
              </a:rPr>
              <a:t>1</a:t>
            </a:r>
            <a:r>
              <a:rPr dirty="0" spc="-250"/>
              <a:t>n</a:t>
            </a:r>
            <a:r>
              <a:rPr dirty="0" sz="1150" spc="-525">
                <a:solidFill>
                  <a:srgbClr val="6A7280"/>
                </a:solidFill>
              </a:rPr>
              <a:t>0</a:t>
            </a:r>
            <a:r>
              <a:rPr dirty="0" spc="-55"/>
              <a:t>spark</a:t>
            </a:r>
            <a:endParaRPr sz="115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12192000" cy="7315200"/>
          </a:xfrm>
          <a:custGeom>
            <a:avLst/>
            <a:gdLst/>
            <a:ahLst/>
            <a:cxnLst/>
            <a:rect l="l" t="t" r="r" b="b"/>
            <a:pathLst>
              <a:path w="12192000" h="7315200">
                <a:moveTo>
                  <a:pt x="12191999" y="7315199"/>
                </a:moveTo>
                <a:lnTo>
                  <a:pt x="0" y="7315199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7315199"/>
                </a:lnTo>
                <a:close/>
              </a:path>
            </a:pathLst>
          </a:custGeom>
          <a:solidFill>
            <a:srgbClr val="F5F6FA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" name="object 3" descr=""/>
          <p:cNvGrpSpPr/>
          <p:nvPr/>
        </p:nvGrpSpPr>
        <p:grpSpPr>
          <a:xfrm>
            <a:off x="152399" y="152399"/>
            <a:ext cx="11887200" cy="7010400"/>
            <a:chOff x="152399" y="152399"/>
            <a:chExt cx="11887200" cy="7010400"/>
          </a:xfrm>
        </p:grpSpPr>
        <p:sp>
          <p:nvSpPr>
            <p:cNvPr id="4" name="object 4" descr=""/>
            <p:cNvSpPr/>
            <p:nvPr/>
          </p:nvSpPr>
          <p:spPr>
            <a:xfrm>
              <a:off x="152399" y="152399"/>
              <a:ext cx="11887200" cy="7010400"/>
            </a:xfrm>
            <a:custGeom>
              <a:avLst/>
              <a:gdLst/>
              <a:ahLst/>
              <a:cxnLst/>
              <a:rect l="l" t="t" r="r" b="b"/>
              <a:pathLst>
                <a:path w="11887200" h="7010400">
                  <a:moveTo>
                    <a:pt x="11816002" y="7010398"/>
                  </a:moveTo>
                  <a:lnTo>
                    <a:pt x="71196" y="7010398"/>
                  </a:lnTo>
                  <a:lnTo>
                    <a:pt x="66241" y="7009910"/>
                  </a:lnTo>
                  <a:lnTo>
                    <a:pt x="29705" y="6994777"/>
                  </a:lnTo>
                  <a:lnTo>
                    <a:pt x="3885" y="6958736"/>
                  </a:lnTo>
                  <a:lnTo>
                    <a:pt x="0" y="6939202"/>
                  </a:lnTo>
                  <a:lnTo>
                    <a:pt x="0" y="6934199"/>
                  </a:lnTo>
                  <a:lnTo>
                    <a:pt x="0" y="71196"/>
                  </a:lnTo>
                  <a:lnTo>
                    <a:pt x="15621" y="29705"/>
                  </a:lnTo>
                  <a:lnTo>
                    <a:pt x="51662" y="3885"/>
                  </a:lnTo>
                  <a:lnTo>
                    <a:pt x="71196" y="0"/>
                  </a:lnTo>
                  <a:lnTo>
                    <a:pt x="11816002" y="0"/>
                  </a:lnTo>
                  <a:lnTo>
                    <a:pt x="11857492" y="15621"/>
                  </a:lnTo>
                  <a:lnTo>
                    <a:pt x="11883312" y="51662"/>
                  </a:lnTo>
                  <a:lnTo>
                    <a:pt x="11887197" y="71196"/>
                  </a:lnTo>
                  <a:lnTo>
                    <a:pt x="11887197" y="6939202"/>
                  </a:lnTo>
                  <a:lnTo>
                    <a:pt x="11871575" y="6980692"/>
                  </a:lnTo>
                  <a:lnTo>
                    <a:pt x="11835535" y="7006513"/>
                  </a:lnTo>
                  <a:lnTo>
                    <a:pt x="11820956" y="7009910"/>
                  </a:lnTo>
                  <a:lnTo>
                    <a:pt x="11816002" y="701039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2399" y="152400"/>
              <a:ext cx="11887199" cy="76199"/>
            </a:xfrm>
            <a:prstGeom prst="rect">
              <a:avLst/>
            </a:prstGeom>
          </p:spPr>
        </p:pic>
        <p:sp>
          <p:nvSpPr>
            <p:cNvPr id="6" name="object 6" descr=""/>
            <p:cNvSpPr/>
            <p:nvPr/>
          </p:nvSpPr>
          <p:spPr>
            <a:xfrm>
              <a:off x="152399" y="228599"/>
              <a:ext cx="11887200" cy="542925"/>
            </a:xfrm>
            <a:custGeom>
              <a:avLst/>
              <a:gdLst/>
              <a:ahLst/>
              <a:cxnLst/>
              <a:rect l="l" t="t" r="r" b="b"/>
              <a:pathLst>
                <a:path w="11887200" h="542925">
                  <a:moveTo>
                    <a:pt x="11887199" y="542924"/>
                  </a:moveTo>
                  <a:lnTo>
                    <a:pt x="0" y="542924"/>
                  </a:lnTo>
                  <a:lnTo>
                    <a:pt x="0" y="0"/>
                  </a:lnTo>
                  <a:lnTo>
                    <a:pt x="11887199" y="0"/>
                  </a:lnTo>
                  <a:lnTo>
                    <a:pt x="11887199" y="542924"/>
                  </a:lnTo>
                  <a:close/>
                </a:path>
              </a:pathLst>
            </a:custGeom>
            <a:solidFill>
              <a:srgbClr val="F2F4F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152399" y="761999"/>
              <a:ext cx="11887200" cy="9525"/>
            </a:xfrm>
            <a:custGeom>
              <a:avLst/>
              <a:gdLst/>
              <a:ahLst/>
              <a:cxnLst/>
              <a:rect l="l" t="t" r="r" b="b"/>
              <a:pathLst>
                <a:path w="11887200" h="9525">
                  <a:moveTo>
                    <a:pt x="11887199" y="9524"/>
                  </a:moveTo>
                  <a:lnTo>
                    <a:pt x="0" y="9524"/>
                  </a:lnTo>
                  <a:lnTo>
                    <a:pt x="0" y="0"/>
                  </a:lnTo>
                  <a:lnTo>
                    <a:pt x="11887199" y="0"/>
                  </a:lnTo>
                  <a:lnTo>
                    <a:pt x="11887199" y="9524"/>
                  </a:lnTo>
                  <a:close/>
                </a:path>
              </a:pathLst>
            </a:custGeom>
            <a:solidFill>
              <a:srgbClr val="D0D5D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35"/>
              <a:t>Framework</a:t>
            </a:r>
            <a:r>
              <a:rPr dirty="0" spc="25"/>
              <a:t> </a:t>
            </a:r>
            <a:r>
              <a:rPr dirty="0" spc="-90"/>
              <a:t>Architecture</a:t>
            </a:r>
          </a:p>
        </p:txBody>
      </p:sp>
      <p:sp>
        <p:nvSpPr>
          <p:cNvPr id="9" name="object 9" descr=""/>
          <p:cNvSpPr/>
          <p:nvPr/>
        </p:nvSpPr>
        <p:spPr>
          <a:xfrm>
            <a:off x="11353798" y="3429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399" y="304799"/>
                </a:moveTo>
                <a:lnTo>
                  <a:pt x="108158" y="298239"/>
                </a:lnTo>
                <a:lnTo>
                  <a:pt x="67730" y="279115"/>
                </a:lnTo>
                <a:lnTo>
                  <a:pt x="34591" y="249082"/>
                </a:lnTo>
                <a:lnTo>
                  <a:pt x="11599" y="210720"/>
                </a:lnTo>
                <a:lnTo>
                  <a:pt x="731" y="167337"/>
                </a:lnTo>
                <a:lnTo>
                  <a:pt x="0" y="152399"/>
                </a:lnTo>
                <a:lnTo>
                  <a:pt x="182" y="144912"/>
                </a:lnTo>
                <a:lnTo>
                  <a:pt x="8903" y="101066"/>
                </a:lnTo>
                <a:lnTo>
                  <a:pt x="29994" y="61607"/>
                </a:lnTo>
                <a:lnTo>
                  <a:pt x="61607" y="29995"/>
                </a:lnTo>
                <a:lnTo>
                  <a:pt x="101064" y="8904"/>
                </a:lnTo>
                <a:lnTo>
                  <a:pt x="144912" y="183"/>
                </a:lnTo>
                <a:lnTo>
                  <a:pt x="152399" y="0"/>
                </a:lnTo>
                <a:lnTo>
                  <a:pt x="159886" y="183"/>
                </a:lnTo>
                <a:lnTo>
                  <a:pt x="203731" y="8904"/>
                </a:lnTo>
                <a:lnTo>
                  <a:pt x="243190" y="29995"/>
                </a:lnTo>
                <a:lnTo>
                  <a:pt x="274802" y="61607"/>
                </a:lnTo>
                <a:lnTo>
                  <a:pt x="295894" y="101066"/>
                </a:lnTo>
                <a:lnTo>
                  <a:pt x="304616" y="144912"/>
                </a:lnTo>
                <a:lnTo>
                  <a:pt x="304799" y="152399"/>
                </a:lnTo>
                <a:lnTo>
                  <a:pt x="304616" y="159886"/>
                </a:lnTo>
                <a:lnTo>
                  <a:pt x="295894" y="203733"/>
                </a:lnTo>
                <a:lnTo>
                  <a:pt x="274803" y="243192"/>
                </a:lnTo>
                <a:lnTo>
                  <a:pt x="243190" y="274804"/>
                </a:lnTo>
                <a:lnTo>
                  <a:pt x="203731" y="295895"/>
                </a:lnTo>
                <a:lnTo>
                  <a:pt x="159886" y="304616"/>
                </a:lnTo>
                <a:lnTo>
                  <a:pt x="152399" y="304799"/>
                </a:lnTo>
                <a:close/>
              </a:path>
            </a:pathLst>
          </a:custGeom>
          <a:solidFill>
            <a:srgbClr val="1D40A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 txBox="1"/>
          <p:nvPr/>
        </p:nvSpPr>
        <p:spPr>
          <a:xfrm>
            <a:off x="10506173" y="360679"/>
            <a:ext cx="1100455" cy="22923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911860" algn="l"/>
              </a:tabLst>
            </a:pPr>
            <a:r>
              <a:rPr dirty="0" sz="1300" spc="-10">
                <a:solidFill>
                  <a:srgbClr val="6A7280"/>
                </a:solidFill>
                <a:latin typeface="Roboto"/>
                <a:cs typeface="Roboto"/>
              </a:rPr>
              <a:t>Framework</a:t>
            </a:r>
            <a:r>
              <a:rPr dirty="0" sz="1300">
                <a:solidFill>
                  <a:srgbClr val="6A7280"/>
                </a:solidFill>
                <a:latin typeface="Roboto"/>
                <a:cs typeface="Roboto"/>
              </a:rPr>
              <a:t>	</a:t>
            </a:r>
            <a:r>
              <a:rPr dirty="0" sz="1300" spc="-25" b="1">
                <a:solidFill>
                  <a:srgbClr val="FFFFFF"/>
                </a:solidFill>
                <a:latin typeface="Arial Nova"/>
                <a:cs typeface="Arial Nova"/>
              </a:rPr>
              <a:t>32</a:t>
            </a:r>
            <a:endParaRPr sz="1300">
              <a:latin typeface="Arial Nova"/>
              <a:cs typeface="Arial Nova"/>
            </a:endParaRPr>
          </a:p>
        </p:txBody>
      </p:sp>
      <p:pic>
        <p:nvPicPr>
          <p:cNvPr id="11" name="object 11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7199" y="3438524"/>
            <a:ext cx="11277598" cy="1885949"/>
          </a:xfrm>
          <a:prstGeom prst="rect">
            <a:avLst/>
          </a:prstGeom>
        </p:spPr>
      </p:pic>
      <p:sp>
        <p:nvSpPr>
          <p:cNvPr id="12" name="object 12" descr=""/>
          <p:cNvSpPr txBox="1"/>
          <p:nvPr/>
        </p:nvSpPr>
        <p:spPr>
          <a:xfrm>
            <a:off x="5230068" y="3578710"/>
            <a:ext cx="1732280" cy="2768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50" spc="-75" b="1">
                <a:solidFill>
                  <a:srgbClr val="1F2937"/>
                </a:solidFill>
                <a:latin typeface="Roboto"/>
                <a:cs typeface="Roboto"/>
              </a:rPr>
              <a:t>Integration</a:t>
            </a:r>
            <a:r>
              <a:rPr dirty="0" sz="1650" spc="-15" b="1">
                <a:solidFill>
                  <a:srgbClr val="1F2937"/>
                </a:solidFill>
                <a:latin typeface="Roboto"/>
                <a:cs typeface="Roboto"/>
              </a:rPr>
              <a:t> </a:t>
            </a:r>
            <a:r>
              <a:rPr dirty="0" sz="1650" spc="-70" b="1">
                <a:solidFill>
                  <a:srgbClr val="1F2937"/>
                </a:solidFill>
                <a:latin typeface="Roboto"/>
                <a:cs typeface="Roboto"/>
              </a:rPr>
              <a:t>Strategy</a:t>
            </a:r>
            <a:endParaRPr sz="1650">
              <a:latin typeface="Roboto"/>
              <a:cs typeface="Roboto"/>
            </a:endParaRPr>
          </a:p>
        </p:txBody>
      </p:sp>
      <p:graphicFrame>
        <p:nvGraphicFramePr>
          <p:cNvPr id="13" name="object 13" descr=""/>
          <p:cNvGraphicFramePr>
            <a:graphicFrameLocks noGrp="1"/>
          </p:cNvGraphicFramePr>
          <p:nvPr/>
        </p:nvGraphicFramePr>
        <p:xfrm>
          <a:off x="777874" y="4027512"/>
          <a:ext cx="10292715" cy="11163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167380"/>
                <a:gridCol w="3939540"/>
                <a:gridCol w="3109595"/>
              </a:tblGrid>
              <a:tr h="220979">
                <a:tc>
                  <a:txBody>
                    <a:bodyPr/>
                    <a:lstStyle/>
                    <a:p>
                      <a:pPr marL="69215">
                        <a:lnSpc>
                          <a:spcPts val="1170"/>
                        </a:lnSpc>
                      </a:pPr>
                      <a:r>
                        <a:rPr dirty="0" sz="1300" spc="-60" b="0">
                          <a:solidFill>
                            <a:srgbClr val="1C4ED8"/>
                          </a:solidFill>
                          <a:latin typeface="Roboto Medium"/>
                          <a:cs typeface="Roboto Medium"/>
                        </a:rPr>
                        <a:t>Real-</a:t>
                      </a:r>
                      <a:r>
                        <a:rPr dirty="0" sz="1300" spc="-70" b="0">
                          <a:solidFill>
                            <a:srgbClr val="1C4ED8"/>
                          </a:solidFill>
                          <a:latin typeface="Roboto Medium"/>
                          <a:cs typeface="Roboto Medium"/>
                        </a:rPr>
                        <a:t>Time</a:t>
                      </a:r>
                      <a:r>
                        <a:rPr dirty="0" sz="1300" spc="45" b="0">
                          <a:solidFill>
                            <a:srgbClr val="1C4ED8"/>
                          </a:solidFill>
                          <a:latin typeface="Roboto Medium"/>
                          <a:cs typeface="Roboto Medium"/>
                        </a:rPr>
                        <a:t> </a:t>
                      </a:r>
                      <a:r>
                        <a:rPr dirty="0" sz="1300" spc="-10" b="0">
                          <a:solidFill>
                            <a:srgbClr val="1C4ED8"/>
                          </a:solidFill>
                          <a:latin typeface="Roboto Medium"/>
                          <a:cs typeface="Roboto Medium"/>
                        </a:rPr>
                        <a:t>Workflow</a:t>
                      </a:r>
                      <a:endParaRPr sz="1300">
                        <a:latin typeface="Roboto Medium"/>
                        <a:cs typeface="Roboto Medium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756920">
                        <a:lnSpc>
                          <a:spcPts val="1170"/>
                        </a:lnSpc>
                      </a:pPr>
                      <a:r>
                        <a:rPr dirty="0" sz="1300" spc="-65" b="0">
                          <a:solidFill>
                            <a:srgbClr val="1C4ED8"/>
                          </a:solidFill>
                          <a:latin typeface="Roboto Medium"/>
                          <a:cs typeface="Roboto Medium"/>
                        </a:rPr>
                        <a:t>Data</a:t>
                      </a:r>
                      <a:r>
                        <a:rPr dirty="0" sz="1300" spc="-10" b="0">
                          <a:solidFill>
                            <a:srgbClr val="1C4ED8"/>
                          </a:solidFill>
                          <a:latin typeface="Roboto Medium"/>
                          <a:cs typeface="Roboto Medium"/>
                        </a:rPr>
                        <a:t> Exchange</a:t>
                      </a:r>
                      <a:endParaRPr sz="1300">
                        <a:latin typeface="Roboto Medium"/>
                        <a:cs typeface="Roboto Medium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557530">
                        <a:lnSpc>
                          <a:spcPts val="1170"/>
                        </a:lnSpc>
                      </a:pPr>
                      <a:r>
                        <a:rPr dirty="0" sz="1300" spc="-55" b="0">
                          <a:solidFill>
                            <a:srgbClr val="1C4ED8"/>
                          </a:solidFill>
                          <a:latin typeface="Roboto Medium"/>
                          <a:cs typeface="Roboto Medium"/>
                        </a:rPr>
                        <a:t>Optimization</a:t>
                      </a:r>
                      <a:r>
                        <a:rPr dirty="0" sz="1300" spc="-10" b="0">
                          <a:solidFill>
                            <a:srgbClr val="1C4ED8"/>
                          </a:solidFill>
                          <a:latin typeface="Roboto Medium"/>
                          <a:cs typeface="Roboto Medium"/>
                        </a:rPr>
                        <a:t> Balance</a:t>
                      </a:r>
                      <a:endParaRPr sz="1300">
                        <a:latin typeface="Roboto Medium"/>
                        <a:cs typeface="Roboto Medium"/>
                      </a:endParaRPr>
                    </a:p>
                  </a:txBody>
                  <a:tcPr marL="0" marR="0" marB="0" marT="0"/>
                </a:tc>
              </a:tr>
              <a:tr h="25654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150" spc="-55">
                          <a:solidFill>
                            <a:srgbClr val="374050"/>
                          </a:solidFill>
                          <a:latin typeface="Roboto"/>
                          <a:cs typeface="Roboto"/>
                        </a:rPr>
                        <a:t>Environment</a:t>
                      </a:r>
                      <a:r>
                        <a:rPr dirty="0" sz="1150" spc="5">
                          <a:solidFill>
                            <a:srgbClr val="374050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150" spc="-55">
                          <a:solidFill>
                            <a:srgbClr val="374050"/>
                          </a:solidFill>
                          <a:latin typeface="Roboto"/>
                          <a:cs typeface="Roboto"/>
                        </a:rPr>
                        <a:t>provides</a:t>
                      </a:r>
                      <a:r>
                        <a:rPr dirty="0" sz="1150" spc="5">
                          <a:solidFill>
                            <a:srgbClr val="374050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150" spc="-55">
                          <a:solidFill>
                            <a:srgbClr val="374050"/>
                          </a:solidFill>
                          <a:latin typeface="Roboto"/>
                          <a:cs typeface="Roboto"/>
                        </a:rPr>
                        <a:t>state</a:t>
                      </a:r>
                      <a:r>
                        <a:rPr dirty="0" sz="1150" spc="5">
                          <a:solidFill>
                            <a:srgbClr val="374050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150" spc="-10">
                          <a:solidFill>
                            <a:srgbClr val="374050"/>
                          </a:solidFill>
                          <a:latin typeface="Roboto"/>
                          <a:cs typeface="Roboto"/>
                        </a:rPr>
                        <a:t>observations</a:t>
                      </a:r>
                      <a:endParaRPr sz="1150">
                        <a:latin typeface="Roboto"/>
                        <a:cs typeface="Roboto"/>
                      </a:endParaRPr>
                    </a:p>
                  </a:txBody>
                  <a:tcPr marL="0" marR="0" marB="0" marT="34290"/>
                </a:tc>
                <a:tc>
                  <a:txBody>
                    <a:bodyPr/>
                    <a:lstStyle/>
                    <a:p>
                      <a:pPr marL="71882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150" spc="-55">
                          <a:solidFill>
                            <a:srgbClr val="374050"/>
                          </a:solidFill>
                          <a:latin typeface="Roboto"/>
                          <a:cs typeface="Roboto"/>
                        </a:rPr>
                        <a:t>State</a:t>
                      </a:r>
                      <a:r>
                        <a:rPr dirty="0" sz="1150">
                          <a:solidFill>
                            <a:srgbClr val="374050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150" spc="-55">
                          <a:solidFill>
                            <a:srgbClr val="374050"/>
                          </a:solidFill>
                          <a:latin typeface="Roboto"/>
                          <a:cs typeface="Roboto"/>
                        </a:rPr>
                        <a:t>vectors</a:t>
                      </a:r>
                      <a:r>
                        <a:rPr dirty="0" sz="1150" spc="5">
                          <a:solidFill>
                            <a:srgbClr val="374050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150" spc="-50">
                          <a:solidFill>
                            <a:srgbClr val="374050"/>
                          </a:solidFill>
                          <a:latin typeface="Roboto"/>
                          <a:cs typeface="Roboto"/>
                        </a:rPr>
                        <a:t>(voltage,</a:t>
                      </a:r>
                      <a:r>
                        <a:rPr dirty="0" sz="1150" spc="5">
                          <a:solidFill>
                            <a:srgbClr val="374050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150" spc="-45">
                          <a:solidFill>
                            <a:srgbClr val="374050"/>
                          </a:solidFill>
                          <a:latin typeface="Roboto"/>
                          <a:cs typeface="Roboto"/>
                        </a:rPr>
                        <a:t>loading,</a:t>
                      </a:r>
                      <a:r>
                        <a:rPr dirty="0" sz="1150" spc="5">
                          <a:solidFill>
                            <a:srgbClr val="374050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150" spc="-10">
                          <a:solidFill>
                            <a:srgbClr val="374050"/>
                          </a:solidFill>
                          <a:latin typeface="Roboto"/>
                          <a:cs typeface="Roboto"/>
                        </a:rPr>
                        <a:t>generation)</a:t>
                      </a:r>
                      <a:endParaRPr sz="1150">
                        <a:latin typeface="Roboto"/>
                        <a:cs typeface="Roboto"/>
                      </a:endParaRPr>
                    </a:p>
                  </a:txBody>
                  <a:tcPr marL="0" marR="0" marB="0" marT="34290"/>
                </a:tc>
                <a:tc>
                  <a:txBody>
                    <a:bodyPr/>
                    <a:lstStyle/>
                    <a:p>
                      <a:pPr marL="48133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150" spc="-70">
                          <a:solidFill>
                            <a:srgbClr val="374050"/>
                          </a:solidFill>
                          <a:latin typeface="Roboto"/>
                          <a:cs typeface="Roboto"/>
                        </a:rPr>
                        <a:t>RL</a:t>
                      </a:r>
                      <a:r>
                        <a:rPr dirty="0" sz="1150">
                          <a:solidFill>
                            <a:srgbClr val="374050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150" spc="-45">
                          <a:solidFill>
                            <a:srgbClr val="374050"/>
                          </a:solidFill>
                          <a:latin typeface="Roboto"/>
                          <a:cs typeface="Roboto"/>
                        </a:rPr>
                        <a:t>for</a:t>
                      </a:r>
                      <a:r>
                        <a:rPr dirty="0" sz="1150">
                          <a:solidFill>
                            <a:srgbClr val="374050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150" spc="-50">
                          <a:solidFill>
                            <a:srgbClr val="374050"/>
                          </a:solidFill>
                          <a:latin typeface="Roboto"/>
                          <a:cs typeface="Roboto"/>
                        </a:rPr>
                        <a:t>real-</a:t>
                      </a:r>
                      <a:r>
                        <a:rPr dirty="0" sz="1150" spc="-60">
                          <a:solidFill>
                            <a:srgbClr val="374050"/>
                          </a:solidFill>
                          <a:latin typeface="Roboto"/>
                          <a:cs typeface="Roboto"/>
                        </a:rPr>
                        <a:t>time</a:t>
                      </a:r>
                      <a:r>
                        <a:rPr dirty="0" sz="1150">
                          <a:solidFill>
                            <a:srgbClr val="374050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150" spc="-50">
                          <a:solidFill>
                            <a:srgbClr val="374050"/>
                          </a:solidFill>
                          <a:latin typeface="Roboto"/>
                          <a:cs typeface="Roboto"/>
                        </a:rPr>
                        <a:t>adaptation</a:t>
                      </a:r>
                      <a:r>
                        <a:rPr dirty="0" sz="1150">
                          <a:solidFill>
                            <a:srgbClr val="374050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150" spc="-10">
                          <a:solidFill>
                            <a:srgbClr val="374050"/>
                          </a:solidFill>
                          <a:latin typeface="Roboto"/>
                          <a:cs typeface="Roboto"/>
                        </a:rPr>
                        <a:t>(milliseconds)</a:t>
                      </a:r>
                      <a:endParaRPr sz="1150">
                        <a:latin typeface="Roboto"/>
                        <a:cs typeface="Roboto"/>
                      </a:endParaRPr>
                    </a:p>
                  </a:txBody>
                  <a:tcPr marL="0" marR="0" marB="0" marT="34290"/>
                </a:tc>
              </a:tr>
              <a:tr h="22796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dirty="0" sz="1150" spc="-70">
                          <a:solidFill>
                            <a:srgbClr val="374050"/>
                          </a:solidFill>
                          <a:latin typeface="Roboto"/>
                          <a:cs typeface="Roboto"/>
                        </a:rPr>
                        <a:t>RL</a:t>
                      </a:r>
                      <a:r>
                        <a:rPr dirty="0" sz="1150" spc="10">
                          <a:solidFill>
                            <a:srgbClr val="374050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150" spc="-60">
                          <a:solidFill>
                            <a:srgbClr val="374050"/>
                          </a:solidFill>
                          <a:latin typeface="Roboto"/>
                          <a:cs typeface="Roboto"/>
                        </a:rPr>
                        <a:t>agents</a:t>
                      </a:r>
                      <a:r>
                        <a:rPr dirty="0" sz="1150" spc="15">
                          <a:solidFill>
                            <a:srgbClr val="374050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150" spc="-65">
                          <a:solidFill>
                            <a:srgbClr val="374050"/>
                          </a:solidFill>
                          <a:latin typeface="Roboto"/>
                          <a:cs typeface="Roboto"/>
                        </a:rPr>
                        <a:t>propose</a:t>
                      </a:r>
                      <a:r>
                        <a:rPr dirty="0" sz="1150" spc="15">
                          <a:solidFill>
                            <a:srgbClr val="374050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150" spc="-55">
                          <a:solidFill>
                            <a:srgbClr val="374050"/>
                          </a:solidFill>
                          <a:latin typeface="Roboto"/>
                          <a:cs typeface="Roboto"/>
                        </a:rPr>
                        <a:t>topology</a:t>
                      </a:r>
                      <a:r>
                        <a:rPr dirty="0" sz="1150" spc="15">
                          <a:solidFill>
                            <a:srgbClr val="374050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150" spc="-10">
                          <a:solidFill>
                            <a:srgbClr val="374050"/>
                          </a:solidFill>
                          <a:latin typeface="Roboto"/>
                          <a:cs typeface="Roboto"/>
                        </a:rPr>
                        <a:t>changes</a:t>
                      </a:r>
                      <a:endParaRPr sz="1150">
                        <a:latin typeface="Roboto"/>
                        <a:cs typeface="Roboto"/>
                      </a:endParaRPr>
                    </a:p>
                  </a:txBody>
                  <a:tcPr marL="0" marR="0" marB="0" marT="6350"/>
                </a:tc>
                <a:tc>
                  <a:txBody>
                    <a:bodyPr/>
                    <a:lstStyle/>
                    <a:p>
                      <a:pPr marL="718820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dirty="0" sz="1150" spc="-60">
                          <a:solidFill>
                            <a:srgbClr val="374050"/>
                          </a:solidFill>
                          <a:latin typeface="Roboto"/>
                          <a:cs typeface="Roboto"/>
                        </a:rPr>
                        <a:t>Switch</a:t>
                      </a:r>
                      <a:r>
                        <a:rPr dirty="0" sz="1150" spc="20">
                          <a:solidFill>
                            <a:srgbClr val="374050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150" spc="-55">
                          <a:solidFill>
                            <a:srgbClr val="374050"/>
                          </a:solidFill>
                          <a:latin typeface="Roboto"/>
                          <a:cs typeface="Roboto"/>
                        </a:rPr>
                        <a:t>status</a:t>
                      </a:r>
                      <a:r>
                        <a:rPr dirty="0" sz="1150" spc="25">
                          <a:solidFill>
                            <a:srgbClr val="374050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150" spc="-50">
                          <a:solidFill>
                            <a:srgbClr val="374050"/>
                          </a:solidFill>
                          <a:latin typeface="Roboto"/>
                          <a:cs typeface="Roboto"/>
                        </a:rPr>
                        <a:t>decisions</a:t>
                      </a:r>
                      <a:r>
                        <a:rPr dirty="0" sz="1150" spc="25">
                          <a:solidFill>
                            <a:srgbClr val="374050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150" spc="-70">
                          <a:solidFill>
                            <a:srgbClr val="374050"/>
                          </a:solidFill>
                          <a:latin typeface="Roboto"/>
                          <a:cs typeface="Roboto"/>
                        </a:rPr>
                        <a:t>from</a:t>
                      </a:r>
                      <a:r>
                        <a:rPr dirty="0" sz="1150" spc="25">
                          <a:solidFill>
                            <a:srgbClr val="374050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150" spc="-10">
                          <a:solidFill>
                            <a:srgbClr val="374050"/>
                          </a:solidFill>
                          <a:latin typeface="Roboto"/>
                          <a:cs typeface="Roboto"/>
                        </a:rPr>
                        <a:t>agents</a:t>
                      </a:r>
                      <a:endParaRPr sz="1150">
                        <a:latin typeface="Roboto"/>
                        <a:cs typeface="Roboto"/>
                      </a:endParaRPr>
                    </a:p>
                  </a:txBody>
                  <a:tcPr marL="0" marR="0" marB="0" marT="6350"/>
                </a:tc>
                <a:tc>
                  <a:txBody>
                    <a:bodyPr/>
                    <a:lstStyle/>
                    <a:p>
                      <a:pPr marL="481330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dirty="0" sz="1150" spc="-80">
                          <a:solidFill>
                            <a:srgbClr val="374050"/>
                          </a:solidFill>
                          <a:latin typeface="Roboto"/>
                          <a:cs typeface="Roboto"/>
                        </a:rPr>
                        <a:t>GA</a:t>
                      </a:r>
                      <a:r>
                        <a:rPr dirty="0" sz="1150" spc="-5">
                          <a:solidFill>
                            <a:srgbClr val="374050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150" spc="-45">
                          <a:solidFill>
                            <a:srgbClr val="374050"/>
                          </a:solidFill>
                          <a:latin typeface="Roboto"/>
                          <a:cs typeface="Roboto"/>
                        </a:rPr>
                        <a:t>for</a:t>
                      </a:r>
                      <a:r>
                        <a:rPr dirty="0" sz="1150" spc="-5">
                          <a:solidFill>
                            <a:srgbClr val="374050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150" spc="-45">
                          <a:solidFill>
                            <a:srgbClr val="374050"/>
                          </a:solidFill>
                          <a:latin typeface="Roboto"/>
                          <a:cs typeface="Roboto"/>
                        </a:rPr>
                        <a:t>solution</a:t>
                      </a:r>
                      <a:r>
                        <a:rPr dirty="0" sz="1150" spc="-5">
                          <a:solidFill>
                            <a:srgbClr val="374050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150" spc="-60">
                          <a:solidFill>
                            <a:srgbClr val="374050"/>
                          </a:solidFill>
                          <a:latin typeface="Roboto"/>
                          <a:cs typeface="Roboto"/>
                        </a:rPr>
                        <a:t>refinement</a:t>
                      </a:r>
                      <a:r>
                        <a:rPr dirty="0" sz="1150">
                          <a:solidFill>
                            <a:srgbClr val="374050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150" spc="-50">
                          <a:solidFill>
                            <a:srgbClr val="374050"/>
                          </a:solidFill>
                          <a:latin typeface="Roboto"/>
                          <a:cs typeface="Roboto"/>
                        </a:rPr>
                        <a:t>(0.5</a:t>
                      </a:r>
                      <a:r>
                        <a:rPr dirty="0" sz="1150" spc="-5">
                          <a:solidFill>
                            <a:srgbClr val="374050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150" spc="-10">
                          <a:solidFill>
                            <a:srgbClr val="374050"/>
                          </a:solidFill>
                          <a:latin typeface="Roboto"/>
                          <a:cs typeface="Roboto"/>
                        </a:rPr>
                        <a:t>seconds)</a:t>
                      </a:r>
                      <a:endParaRPr sz="1150">
                        <a:latin typeface="Roboto"/>
                        <a:cs typeface="Roboto"/>
                      </a:endParaRPr>
                    </a:p>
                  </a:txBody>
                  <a:tcPr marL="0" marR="0" marB="0" marT="6350"/>
                </a:tc>
              </a:tr>
              <a:tr h="22796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dirty="0" sz="1150" spc="-70">
                          <a:solidFill>
                            <a:srgbClr val="374050"/>
                          </a:solidFill>
                          <a:latin typeface="Roboto"/>
                          <a:cs typeface="Roboto"/>
                        </a:rPr>
                        <a:t>Power</a:t>
                      </a:r>
                      <a:r>
                        <a:rPr dirty="0" sz="1150" spc="5">
                          <a:solidFill>
                            <a:srgbClr val="374050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150" spc="-60">
                          <a:solidFill>
                            <a:srgbClr val="374050"/>
                          </a:solidFill>
                          <a:latin typeface="Roboto"/>
                          <a:cs typeface="Roboto"/>
                        </a:rPr>
                        <a:t>flow</a:t>
                      </a:r>
                      <a:r>
                        <a:rPr dirty="0" sz="1150" spc="10">
                          <a:solidFill>
                            <a:srgbClr val="374050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150" spc="-50">
                          <a:solidFill>
                            <a:srgbClr val="374050"/>
                          </a:solidFill>
                          <a:latin typeface="Roboto"/>
                          <a:cs typeface="Roboto"/>
                        </a:rPr>
                        <a:t>validates</a:t>
                      </a:r>
                      <a:r>
                        <a:rPr dirty="0" sz="1150" spc="5">
                          <a:solidFill>
                            <a:srgbClr val="374050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150" spc="-10">
                          <a:solidFill>
                            <a:srgbClr val="374050"/>
                          </a:solidFill>
                          <a:latin typeface="Roboto"/>
                          <a:cs typeface="Roboto"/>
                        </a:rPr>
                        <a:t>feasibility</a:t>
                      </a:r>
                      <a:endParaRPr sz="1150">
                        <a:latin typeface="Roboto"/>
                        <a:cs typeface="Roboto"/>
                      </a:endParaRPr>
                    </a:p>
                  </a:txBody>
                  <a:tcPr marL="0" marR="0" marB="0" marT="6350"/>
                </a:tc>
                <a:tc>
                  <a:txBody>
                    <a:bodyPr/>
                    <a:lstStyle/>
                    <a:p>
                      <a:pPr marL="718820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dirty="0" sz="1150" spc="-70">
                          <a:solidFill>
                            <a:srgbClr val="374050"/>
                          </a:solidFill>
                          <a:latin typeface="Roboto"/>
                          <a:cs typeface="Roboto"/>
                        </a:rPr>
                        <a:t>Reward</a:t>
                      </a:r>
                      <a:r>
                        <a:rPr dirty="0" sz="1150" spc="-5">
                          <a:solidFill>
                            <a:srgbClr val="374050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150" spc="-45">
                          <a:solidFill>
                            <a:srgbClr val="374050"/>
                          </a:solidFill>
                          <a:latin typeface="Roboto"/>
                          <a:cs typeface="Roboto"/>
                        </a:rPr>
                        <a:t>signals</a:t>
                      </a:r>
                      <a:r>
                        <a:rPr dirty="0" sz="1150">
                          <a:solidFill>
                            <a:srgbClr val="374050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150" spc="-55">
                          <a:solidFill>
                            <a:srgbClr val="374050"/>
                          </a:solidFill>
                          <a:latin typeface="Roboto"/>
                          <a:cs typeface="Roboto"/>
                        </a:rPr>
                        <a:t>(power</a:t>
                      </a:r>
                      <a:r>
                        <a:rPr dirty="0" sz="1150">
                          <a:solidFill>
                            <a:srgbClr val="374050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150" spc="-35">
                          <a:solidFill>
                            <a:srgbClr val="374050"/>
                          </a:solidFill>
                          <a:latin typeface="Roboto"/>
                          <a:cs typeface="Roboto"/>
                        </a:rPr>
                        <a:t>loss,</a:t>
                      </a:r>
                      <a:r>
                        <a:rPr dirty="0" sz="1150">
                          <a:solidFill>
                            <a:srgbClr val="374050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150" spc="-60">
                          <a:solidFill>
                            <a:srgbClr val="374050"/>
                          </a:solidFill>
                          <a:latin typeface="Roboto"/>
                          <a:cs typeface="Roboto"/>
                        </a:rPr>
                        <a:t>voltage</a:t>
                      </a:r>
                      <a:r>
                        <a:rPr dirty="0" sz="1150">
                          <a:solidFill>
                            <a:srgbClr val="374050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150" spc="-10">
                          <a:solidFill>
                            <a:srgbClr val="374050"/>
                          </a:solidFill>
                          <a:latin typeface="Roboto"/>
                          <a:cs typeface="Roboto"/>
                        </a:rPr>
                        <a:t>deviation)</a:t>
                      </a:r>
                      <a:endParaRPr sz="1150">
                        <a:latin typeface="Roboto"/>
                        <a:cs typeface="Roboto"/>
                      </a:endParaRPr>
                    </a:p>
                  </a:txBody>
                  <a:tcPr marL="0" marR="0" marB="0" marT="6350"/>
                </a:tc>
                <a:tc>
                  <a:txBody>
                    <a:bodyPr/>
                    <a:lstStyle/>
                    <a:p>
                      <a:pPr marL="481330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dirty="0" sz="1150" spc="-55">
                          <a:solidFill>
                            <a:srgbClr val="374050"/>
                          </a:solidFill>
                          <a:latin typeface="Roboto"/>
                          <a:cs typeface="Roboto"/>
                        </a:rPr>
                        <a:t>Continuous</a:t>
                      </a:r>
                      <a:r>
                        <a:rPr dirty="0" sz="1150">
                          <a:solidFill>
                            <a:srgbClr val="374050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150" spc="-45">
                          <a:solidFill>
                            <a:srgbClr val="374050"/>
                          </a:solidFill>
                          <a:latin typeface="Roboto"/>
                          <a:cs typeface="Roboto"/>
                        </a:rPr>
                        <a:t>learning</a:t>
                      </a:r>
                      <a:r>
                        <a:rPr dirty="0" sz="1150" spc="5">
                          <a:solidFill>
                            <a:srgbClr val="374050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150" spc="-70">
                          <a:solidFill>
                            <a:srgbClr val="374050"/>
                          </a:solidFill>
                          <a:latin typeface="Roboto"/>
                          <a:cs typeface="Roboto"/>
                        </a:rPr>
                        <a:t>from</a:t>
                      </a:r>
                      <a:r>
                        <a:rPr dirty="0" sz="1150" spc="5">
                          <a:solidFill>
                            <a:srgbClr val="374050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150" spc="-10">
                          <a:solidFill>
                            <a:srgbClr val="374050"/>
                          </a:solidFill>
                          <a:latin typeface="Roboto"/>
                          <a:cs typeface="Roboto"/>
                        </a:rPr>
                        <a:t>operation</a:t>
                      </a:r>
                      <a:endParaRPr sz="1150">
                        <a:latin typeface="Roboto"/>
                        <a:cs typeface="Roboto"/>
                      </a:endParaRPr>
                    </a:p>
                  </a:txBody>
                  <a:tcPr marL="0" marR="0" marB="0" marT="6350"/>
                </a:tc>
              </a:tr>
              <a:tr h="182880">
                <a:tc>
                  <a:txBody>
                    <a:bodyPr/>
                    <a:lstStyle/>
                    <a:p>
                      <a:pPr marL="31750">
                        <a:lnSpc>
                          <a:spcPts val="1290"/>
                        </a:lnSpc>
                        <a:spcBef>
                          <a:spcPts val="50"/>
                        </a:spcBef>
                      </a:pPr>
                      <a:r>
                        <a:rPr dirty="0" sz="1150" spc="-80">
                          <a:solidFill>
                            <a:srgbClr val="374050"/>
                          </a:solidFill>
                          <a:latin typeface="Roboto"/>
                          <a:cs typeface="Roboto"/>
                        </a:rPr>
                        <a:t>GA</a:t>
                      </a:r>
                      <a:r>
                        <a:rPr dirty="0" sz="1150" spc="5">
                          <a:solidFill>
                            <a:srgbClr val="374050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150" spc="-60">
                          <a:solidFill>
                            <a:srgbClr val="374050"/>
                          </a:solidFill>
                          <a:latin typeface="Roboto"/>
                          <a:cs typeface="Roboto"/>
                        </a:rPr>
                        <a:t>refines</a:t>
                      </a:r>
                      <a:r>
                        <a:rPr dirty="0" sz="1150" spc="5">
                          <a:solidFill>
                            <a:srgbClr val="374050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150" spc="-45">
                          <a:solidFill>
                            <a:srgbClr val="374050"/>
                          </a:solidFill>
                          <a:latin typeface="Roboto"/>
                          <a:cs typeface="Roboto"/>
                        </a:rPr>
                        <a:t>solutions</a:t>
                      </a:r>
                      <a:r>
                        <a:rPr dirty="0" sz="1150" spc="10">
                          <a:solidFill>
                            <a:srgbClr val="374050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150" spc="-10">
                          <a:solidFill>
                            <a:srgbClr val="374050"/>
                          </a:solidFill>
                          <a:latin typeface="Roboto"/>
                          <a:cs typeface="Roboto"/>
                        </a:rPr>
                        <a:t>periodically</a:t>
                      </a:r>
                      <a:endParaRPr sz="1150">
                        <a:latin typeface="Roboto"/>
                        <a:cs typeface="Roboto"/>
                      </a:endParaRPr>
                    </a:p>
                  </a:txBody>
                  <a:tcPr marL="0" marR="0" marB="0" marT="6350"/>
                </a:tc>
                <a:tc>
                  <a:txBody>
                    <a:bodyPr/>
                    <a:lstStyle/>
                    <a:p>
                      <a:pPr marL="718820">
                        <a:lnSpc>
                          <a:spcPts val="1290"/>
                        </a:lnSpc>
                        <a:spcBef>
                          <a:spcPts val="50"/>
                        </a:spcBef>
                      </a:pPr>
                      <a:r>
                        <a:rPr dirty="0" sz="1150" spc="-65">
                          <a:solidFill>
                            <a:srgbClr val="374050"/>
                          </a:solidFill>
                          <a:latin typeface="Roboto"/>
                          <a:cs typeface="Roboto"/>
                        </a:rPr>
                        <a:t>Refined</a:t>
                      </a:r>
                      <a:r>
                        <a:rPr dirty="0" sz="1150" spc="30">
                          <a:solidFill>
                            <a:srgbClr val="374050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150" spc="-55">
                          <a:solidFill>
                            <a:srgbClr val="374050"/>
                          </a:solidFill>
                          <a:latin typeface="Roboto"/>
                          <a:cs typeface="Roboto"/>
                        </a:rPr>
                        <a:t>configurations</a:t>
                      </a:r>
                      <a:r>
                        <a:rPr dirty="0" sz="1150" spc="35">
                          <a:solidFill>
                            <a:srgbClr val="374050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150" spc="-70">
                          <a:solidFill>
                            <a:srgbClr val="374050"/>
                          </a:solidFill>
                          <a:latin typeface="Roboto"/>
                          <a:cs typeface="Roboto"/>
                        </a:rPr>
                        <a:t>from</a:t>
                      </a:r>
                      <a:r>
                        <a:rPr dirty="0" sz="1150" spc="30">
                          <a:solidFill>
                            <a:srgbClr val="374050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150" spc="-25">
                          <a:solidFill>
                            <a:srgbClr val="374050"/>
                          </a:solidFill>
                          <a:latin typeface="Roboto"/>
                          <a:cs typeface="Roboto"/>
                        </a:rPr>
                        <a:t>GA</a:t>
                      </a:r>
                      <a:endParaRPr sz="1150">
                        <a:latin typeface="Roboto"/>
                        <a:cs typeface="Roboto"/>
                      </a:endParaRPr>
                    </a:p>
                  </a:txBody>
                  <a:tcPr marL="0" marR="0" marB="0" marT="6350"/>
                </a:tc>
                <a:tc>
                  <a:txBody>
                    <a:bodyPr/>
                    <a:lstStyle/>
                    <a:p>
                      <a:pPr marL="481330">
                        <a:lnSpc>
                          <a:spcPts val="1290"/>
                        </a:lnSpc>
                        <a:spcBef>
                          <a:spcPts val="50"/>
                        </a:spcBef>
                      </a:pPr>
                      <a:r>
                        <a:rPr dirty="0" sz="1150" spc="-45">
                          <a:solidFill>
                            <a:srgbClr val="374050"/>
                          </a:solidFill>
                          <a:latin typeface="Roboto"/>
                          <a:cs typeface="Roboto"/>
                        </a:rPr>
                        <a:t>Radiality</a:t>
                      </a:r>
                      <a:r>
                        <a:rPr dirty="0" sz="1150" spc="-5">
                          <a:solidFill>
                            <a:srgbClr val="374050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150" spc="-60">
                          <a:solidFill>
                            <a:srgbClr val="374050"/>
                          </a:solidFill>
                          <a:latin typeface="Roboto"/>
                          <a:cs typeface="Roboto"/>
                        </a:rPr>
                        <a:t>enforcement</a:t>
                      </a:r>
                      <a:r>
                        <a:rPr dirty="0" sz="1150">
                          <a:solidFill>
                            <a:srgbClr val="374050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150" spc="-50">
                          <a:solidFill>
                            <a:srgbClr val="374050"/>
                          </a:solidFill>
                          <a:latin typeface="Roboto"/>
                          <a:cs typeface="Roboto"/>
                        </a:rPr>
                        <a:t>via</a:t>
                      </a:r>
                      <a:r>
                        <a:rPr dirty="0" sz="1150">
                          <a:solidFill>
                            <a:srgbClr val="374050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150" spc="-55">
                          <a:solidFill>
                            <a:srgbClr val="374050"/>
                          </a:solidFill>
                          <a:latin typeface="Roboto"/>
                          <a:cs typeface="Roboto"/>
                        </a:rPr>
                        <a:t>both</a:t>
                      </a:r>
                      <a:r>
                        <a:rPr dirty="0" sz="1150">
                          <a:solidFill>
                            <a:srgbClr val="374050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150" spc="-40">
                          <a:solidFill>
                            <a:srgbClr val="374050"/>
                          </a:solidFill>
                          <a:latin typeface="Roboto"/>
                          <a:cs typeface="Roboto"/>
                        </a:rPr>
                        <a:t>mechanisms</a:t>
                      </a:r>
                      <a:endParaRPr sz="1150">
                        <a:latin typeface="Roboto"/>
                        <a:cs typeface="Roboto"/>
                      </a:endParaRPr>
                    </a:p>
                  </a:txBody>
                  <a:tcPr marL="0" marR="0" marB="0" marT="6350"/>
                </a:tc>
              </a:tr>
            </a:tbl>
          </a:graphicData>
        </a:graphic>
      </p:graphicFrame>
      <p:grpSp>
        <p:nvGrpSpPr>
          <p:cNvPr id="14" name="object 14" descr=""/>
          <p:cNvGrpSpPr/>
          <p:nvPr/>
        </p:nvGrpSpPr>
        <p:grpSpPr>
          <a:xfrm>
            <a:off x="457199" y="5476874"/>
            <a:ext cx="2733675" cy="952500"/>
            <a:chOff x="457199" y="5476874"/>
            <a:chExt cx="2733675" cy="952500"/>
          </a:xfrm>
        </p:grpSpPr>
        <p:sp>
          <p:nvSpPr>
            <p:cNvPr id="15" name="object 15" descr=""/>
            <p:cNvSpPr/>
            <p:nvPr/>
          </p:nvSpPr>
          <p:spPr>
            <a:xfrm>
              <a:off x="457199" y="5476874"/>
              <a:ext cx="2733675" cy="952500"/>
            </a:xfrm>
            <a:custGeom>
              <a:avLst/>
              <a:gdLst/>
              <a:ahLst/>
              <a:cxnLst/>
              <a:rect l="l" t="t" r="r" b="b"/>
              <a:pathLst>
                <a:path w="2733675" h="952500">
                  <a:moveTo>
                    <a:pt x="2700627" y="952499"/>
                  </a:moveTo>
                  <a:lnTo>
                    <a:pt x="33047" y="952499"/>
                  </a:lnTo>
                  <a:lnTo>
                    <a:pt x="28187" y="951532"/>
                  </a:lnTo>
                  <a:lnTo>
                    <a:pt x="966" y="924312"/>
                  </a:lnTo>
                  <a:lnTo>
                    <a:pt x="0" y="919451"/>
                  </a:lnTo>
                  <a:lnTo>
                    <a:pt x="0" y="914399"/>
                  </a:lnTo>
                  <a:lnTo>
                    <a:pt x="0" y="33047"/>
                  </a:lnTo>
                  <a:lnTo>
                    <a:pt x="28187" y="966"/>
                  </a:lnTo>
                  <a:lnTo>
                    <a:pt x="33047" y="0"/>
                  </a:lnTo>
                  <a:lnTo>
                    <a:pt x="2700627" y="0"/>
                  </a:lnTo>
                  <a:lnTo>
                    <a:pt x="2732707" y="28187"/>
                  </a:lnTo>
                  <a:lnTo>
                    <a:pt x="2733674" y="33047"/>
                  </a:lnTo>
                  <a:lnTo>
                    <a:pt x="2733674" y="919451"/>
                  </a:lnTo>
                  <a:lnTo>
                    <a:pt x="2705486" y="951532"/>
                  </a:lnTo>
                  <a:lnTo>
                    <a:pt x="2700627" y="952499"/>
                  </a:lnTo>
                  <a:close/>
                </a:path>
              </a:pathLst>
            </a:custGeom>
            <a:solidFill>
              <a:srgbClr val="EFF5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6" name="object 16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53665" y="5628298"/>
              <a:ext cx="140744" cy="187008"/>
            </a:xfrm>
            <a:prstGeom prst="rect">
              <a:avLst/>
            </a:prstGeom>
          </p:spPr>
        </p:pic>
      </p:grpSp>
      <p:sp>
        <p:nvSpPr>
          <p:cNvPr id="17" name="object 17" descr=""/>
          <p:cNvSpPr txBox="1"/>
          <p:nvPr/>
        </p:nvSpPr>
        <p:spPr>
          <a:xfrm>
            <a:off x="923428" y="5798311"/>
            <a:ext cx="1801495" cy="516890"/>
          </a:xfrm>
          <a:prstGeom prst="rect">
            <a:avLst/>
          </a:prstGeom>
        </p:spPr>
        <p:txBody>
          <a:bodyPr wrap="square" lIns="0" tIns="9461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745"/>
              </a:spcBef>
            </a:pPr>
            <a:r>
              <a:rPr dirty="0" sz="1300" spc="-60" b="0">
                <a:solidFill>
                  <a:srgbClr val="1F2937"/>
                </a:solidFill>
                <a:latin typeface="Roboto Medium"/>
                <a:cs typeface="Roboto Medium"/>
              </a:rPr>
              <a:t>Real-</a:t>
            </a:r>
            <a:r>
              <a:rPr dirty="0" sz="1300" spc="-65" b="0">
                <a:solidFill>
                  <a:srgbClr val="1F2937"/>
                </a:solidFill>
                <a:latin typeface="Roboto Medium"/>
                <a:cs typeface="Roboto Medium"/>
              </a:rPr>
              <a:t>time</a:t>
            </a:r>
            <a:r>
              <a:rPr dirty="0" sz="1300" spc="45" b="0">
                <a:solidFill>
                  <a:srgbClr val="1F2937"/>
                </a:solidFill>
                <a:latin typeface="Roboto Medium"/>
                <a:cs typeface="Roboto Medium"/>
              </a:rPr>
              <a:t> </a:t>
            </a:r>
            <a:r>
              <a:rPr dirty="0" sz="1300" spc="-10" b="0">
                <a:solidFill>
                  <a:srgbClr val="1F2937"/>
                </a:solidFill>
                <a:latin typeface="Roboto Medium"/>
                <a:cs typeface="Roboto Medium"/>
              </a:rPr>
              <a:t>Response</a:t>
            </a:r>
            <a:endParaRPr sz="1300">
              <a:latin typeface="Roboto Medium"/>
              <a:cs typeface="Roboto Medium"/>
            </a:endParaRPr>
          </a:p>
          <a:p>
            <a:pPr algn="ctr">
              <a:lnSpc>
                <a:spcPct val="100000"/>
              </a:lnSpc>
              <a:spcBef>
                <a:spcPts val="464"/>
              </a:spcBef>
            </a:pPr>
            <a:r>
              <a:rPr dirty="0" sz="1000" spc="-50">
                <a:solidFill>
                  <a:srgbClr val="4A5462"/>
                </a:solidFill>
                <a:latin typeface="Roboto"/>
                <a:cs typeface="Roboto"/>
              </a:rPr>
              <a:t>Millisecond</a:t>
            </a:r>
            <a:r>
              <a:rPr dirty="0" sz="1000" spc="5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1000" spc="-50">
                <a:solidFill>
                  <a:srgbClr val="4A5462"/>
                </a:solidFill>
                <a:latin typeface="Roboto"/>
                <a:cs typeface="Roboto"/>
              </a:rPr>
              <a:t>decisions</a:t>
            </a:r>
            <a:r>
              <a:rPr dirty="0" sz="1000" spc="5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1000" spc="-50">
                <a:solidFill>
                  <a:srgbClr val="4A5462"/>
                </a:solidFill>
                <a:latin typeface="Roboto"/>
                <a:cs typeface="Roboto"/>
              </a:rPr>
              <a:t>after</a:t>
            </a:r>
            <a:r>
              <a:rPr dirty="0" sz="1000" spc="5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1000" spc="-25">
                <a:solidFill>
                  <a:srgbClr val="4A5462"/>
                </a:solidFill>
                <a:latin typeface="Roboto"/>
                <a:cs typeface="Roboto"/>
              </a:rPr>
              <a:t>training</a:t>
            </a:r>
            <a:endParaRPr sz="1000">
              <a:latin typeface="Roboto"/>
              <a:cs typeface="Roboto"/>
            </a:endParaRPr>
          </a:p>
        </p:txBody>
      </p:sp>
      <p:grpSp>
        <p:nvGrpSpPr>
          <p:cNvPr id="18" name="object 18" descr=""/>
          <p:cNvGrpSpPr/>
          <p:nvPr/>
        </p:nvGrpSpPr>
        <p:grpSpPr>
          <a:xfrm>
            <a:off x="3305174" y="5476874"/>
            <a:ext cx="2733675" cy="952500"/>
            <a:chOff x="3305174" y="5476874"/>
            <a:chExt cx="2733675" cy="952500"/>
          </a:xfrm>
        </p:grpSpPr>
        <p:sp>
          <p:nvSpPr>
            <p:cNvPr id="19" name="object 19" descr=""/>
            <p:cNvSpPr/>
            <p:nvPr/>
          </p:nvSpPr>
          <p:spPr>
            <a:xfrm>
              <a:off x="3305174" y="5476874"/>
              <a:ext cx="2733675" cy="952500"/>
            </a:xfrm>
            <a:custGeom>
              <a:avLst/>
              <a:gdLst/>
              <a:ahLst/>
              <a:cxnLst/>
              <a:rect l="l" t="t" r="r" b="b"/>
              <a:pathLst>
                <a:path w="2733675" h="952500">
                  <a:moveTo>
                    <a:pt x="2700626" y="952499"/>
                  </a:moveTo>
                  <a:lnTo>
                    <a:pt x="33047" y="952499"/>
                  </a:lnTo>
                  <a:lnTo>
                    <a:pt x="28187" y="951532"/>
                  </a:lnTo>
                  <a:lnTo>
                    <a:pt x="966" y="924312"/>
                  </a:lnTo>
                  <a:lnTo>
                    <a:pt x="0" y="919451"/>
                  </a:lnTo>
                  <a:lnTo>
                    <a:pt x="0" y="914399"/>
                  </a:lnTo>
                  <a:lnTo>
                    <a:pt x="0" y="33047"/>
                  </a:lnTo>
                  <a:lnTo>
                    <a:pt x="28187" y="966"/>
                  </a:lnTo>
                  <a:lnTo>
                    <a:pt x="33047" y="0"/>
                  </a:lnTo>
                  <a:lnTo>
                    <a:pt x="2700626" y="0"/>
                  </a:lnTo>
                  <a:lnTo>
                    <a:pt x="2732707" y="28187"/>
                  </a:lnTo>
                  <a:lnTo>
                    <a:pt x="2733674" y="33047"/>
                  </a:lnTo>
                  <a:lnTo>
                    <a:pt x="2733674" y="919451"/>
                  </a:lnTo>
                  <a:lnTo>
                    <a:pt x="2705486" y="951532"/>
                  </a:lnTo>
                  <a:lnTo>
                    <a:pt x="2700626" y="952499"/>
                  </a:lnTo>
                  <a:close/>
                </a:path>
              </a:pathLst>
            </a:custGeom>
            <a:solidFill>
              <a:srgbClr val="ECFDF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0" name="object 20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81671" y="5629274"/>
              <a:ext cx="190206" cy="190499"/>
            </a:xfrm>
            <a:prstGeom prst="rect">
              <a:avLst/>
            </a:prstGeom>
          </p:spPr>
        </p:pic>
      </p:grpSp>
      <p:sp>
        <p:nvSpPr>
          <p:cNvPr id="21" name="object 21" descr=""/>
          <p:cNvSpPr txBox="1"/>
          <p:nvPr/>
        </p:nvSpPr>
        <p:spPr>
          <a:xfrm>
            <a:off x="3784798" y="5798311"/>
            <a:ext cx="1774825" cy="516890"/>
          </a:xfrm>
          <a:prstGeom prst="rect">
            <a:avLst/>
          </a:prstGeom>
        </p:spPr>
        <p:txBody>
          <a:bodyPr wrap="square" lIns="0" tIns="9461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745"/>
              </a:spcBef>
            </a:pPr>
            <a:r>
              <a:rPr dirty="0" sz="1300" spc="-55" b="0">
                <a:solidFill>
                  <a:srgbClr val="1F2937"/>
                </a:solidFill>
                <a:latin typeface="Roboto Medium"/>
                <a:cs typeface="Roboto Medium"/>
              </a:rPr>
              <a:t>Global</a:t>
            </a:r>
            <a:r>
              <a:rPr dirty="0" sz="1300" spc="-30" b="0">
                <a:solidFill>
                  <a:srgbClr val="1F2937"/>
                </a:solidFill>
                <a:latin typeface="Roboto Medium"/>
                <a:cs typeface="Roboto Medium"/>
              </a:rPr>
              <a:t> </a:t>
            </a:r>
            <a:r>
              <a:rPr dirty="0" sz="1300" spc="-10" b="0">
                <a:solidFill>
                  <a:srgbClr val="1F2937"/>
                </a:solidFill>
                <a:latin typeface="Roboto Medium"/>
                <a:cs typeface="Roboto Medium"/>
              </a:rPr>
              <a:t>Optimality</a:t>
            </a:r>
            <a:endParaRPr sz="1300">
              <a:latin typeface="Roboto Medium"/>
              <a:cs typeface="Roboto Medium"/>
            </a:endParaRPr>
          </a:p>
          <a:p>
            <a:pPr algn="ctr">
              <a:lnSpc>
                <a:spcPct val="100000"/>
              </a:lnSpc>
              <a:spcBef>
                <a:spcPts val="464"/>
              </a:spcBef>
            </a:pPr>
            <a:r>
              <a:rPr dirty="0" sz="1000" spc="-75">
                <a:solidFill>
                  <a:srgbClr val="4A5462"/>
                </a:solidFill>
                <a:latin typeface="Roboto"/>
                <a:cs typeface="Roboto"/>
              </a:rPr>
              <a:t>GA</a:t>
            </a:r>
            <a:r>
              <a:rPr dirty="0" sz="1000" spc="5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1000" spc="-55">
                <a:solidFill>
                  <a:srgbClr val="4A5462"/>
                </a:solidFill>
                <a:latin typeface="Roboto"/>
                <a:cs typeface="Roboto"/>
              </a:rPr>
              <a:t>ensures</a:t>
            </a:r>
            <a:r>
              <a:rPr dirty="0" sz="1000" spc="5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1000" spc="-55">
                <a:solidFill>
                  <a:srgbClr val="4A5462"/>
                </a:solidFill>
                <a:latin typeface="Roboto"/>
                <a:cs typeface="Roboto"/>
              </a:rPr>
              <a:t>near-</a:t>
            </a:r>
            <a:r>
              <a:rPr dirty="0" sz="1000" spc="-50">
                <a:solidFill>
                  <a:srgbClr val="4A5462"/>
                </a:solidFill>
                <a:latin typeface="Roboto"/>
                <a:cs typeface="Roboto"/>
              </a:rPr>
              <a:t>optimal</a:t>
            </a:r>
            <a:r>
              <a:rPr dirty="0" sz="1000" spc="5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1000" spc="-30">
                <a:solidFill>
                  <a:srgbClr val="4A5462"/>
                </a:solidFill>
                <a:latin typeface="Roboto"/>
                <a:cs typeface="Roboto"/>
              </a:rPr>
              <a:t>solutions</a:t>
            </a:r>
            <a:endParaRPr sz="1000">
              <a:latin typeface="Roboto"/>
              <a:cs typeface="Roboto"/>
            </a:endParaRPr>
          </a:p>
        </p:txBody>
      </p:sp>
      <p:grpSp>
        <p:nvGrpSpPr>
          <p:cNvPr id="22" name="object 22" descr=""/>
          <p:cNvGrpSpPr/>
          <p:nvPr/>
        </p:nvGrpSpPr>
        <p:grpSpPr>
          <a:xfrm>
            <a:off x="6153148" y="5476874"/>
            <a:ext cx="2733675" cy="952500"/>
            <a:chOff x="6153148" y="5476874"/>
            <a:chExt cx="2733675" cy="952500"/>
          </a:xfrm>
        </p:grpSpPr>
        <p:sp>
          <p:nvSpPr>
            <p:cNvPr id="23" name="object 23" descr=""/>
            <p:cNvSpPr/>
            <p:nvPr/>
          </p:nvSpPr>
          <p:spPr>
            <a:xfrm>
              <a:off x="6153148" y="5476874"/>
              <a:ext cx="2733675" cy="952500"/>
            </a:xfrm>
            <a:custGeom>
              <a:avLst/>
              <a:gdLst/>
              <a:ahLst/>
              <a:cxnLst/>
              <a:rect l="l" t="t" r="r" b="b"/>
              <a:pathLst>
                <a:path w="2733675" h="952500">
                  <a:moveTo>
                    <a:pt x="2700627" y="952499"/>
                  </a:moveTo>
                  <a:lnTo>
                    <a:pt x="33047" y="952499"/>
                  </a:lnTo>
                  <a:lnTo>
                    <a:pt x="28187" y="951532"/>
                  </a:lnTo>
                  <a:lnTo>
                    <a:pt x="966" y="924312"/>
                  </a:lnTo>
                  <a:lnTo>
                    <a:pt x="0" y="919451"/>
                  </a:lnTo>
                  <a:lnTo>
                    <a:pt x="0" y="914399"/>
                  </a:lnTo>
                  <a:lnTo>
                    <a:pt x="0" y="33047"/>
                  </a:lnTo>
                  <a:lnTo>
                    <a:pt x="28187" y="966"/>
                  </a:lnTo>
                  <a:lnTo>
                    <a:pt x="33047" y="0"/>
                  </a:lnTo>
                  <a:lnTo>
                    <a:pt x="2700627" y="0"/>
                  </a:lnTo>
                  <a:lnTo>
                    <a:pt x="2732707" y="28187"/>
                  </a:lnTo>
                  <a:lnTo>
                    <a:pt x="2733674" y="33047"/>
                  </a:lnTo>
                  <a:lnTo>
                    <a:pt x="2733674" y="919451"/>
                  </a:lnTo>
                  <a:lnTo>
                    <a:pt x="2705486" y="951532"/>
                  </a:lnTo>
                  <a:lnTo>
                    <a:pt x="2700627" y="952499"/>
                  </a:lnTo>
                  <a:close/>
                </a:path>
              </a:pathLst>
            </a:custGeom>
            <a:solidFill>
              <a:srgbClr val="F5F2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4" name="object 24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441405" y="5641180"/>
              <a:ext cx="166687" cy="166687"/>
            </a:xfrm>
            <a:prstGeom prst="rect">
              <a:avLst/>
            </a:prstGeom>
          </p:spPr>
        </p:pic>
      </p:grpSp>
      <p:sp>
        <p:nvSpPr>
          <p:cNvPr id="25" name="object 25" descr=""/>
          <p:cNvSpPr txBox="1"/>
          <p:nvPr/>
        </p:nvSpPr>
        <p:spPr>
          <a:xfrm>
            <a:off x="6354017" y="5798311"/>
            <a:ext cx="2332355" cy="516890"/>
          </a:xfrm>
          <a:prstGeom prst="rect">
            <a:avLst/>
          </a:prstGeom>
        </p:spPr>
        <p:txBody>
          <a:bodyPr wrap="square" lIns="0" tIns="9461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745"/>
              </a:spcBef>
            </a:pPr>
            <a:r>
              <a:rPr dirty="0" sz="1300" spc="-10" b="0">
                <a:solidFill>
                  <a:srgbClr val="1F2937"/>
                </a:solidFill>
                <a:latin typeface="Roboto Medium"/>
                <a:cs typeface="Roboto Medium"/>
              </a:rPr>
              <a:t>Scalability</a:t>
            </a:r>
            <a:endParaRPr sz="1300">
              <a:latin typeface="Roboto Medium"/>
              <a:cs typeface="Roboto Medium"/>
            </a:endParaRPr>
          </a:p>
          <a:p>
            <a:pPr algn="ctr">
              <a:lnSpc>
                <a:spcPct val="100000"/>
              </a:lnSpc>
              <a:spcBef>
                <a:spcPts val="464"/>
              </a:spcBef>
            </a:pPr>
            <a:r>
              <a:rPr dirty="0" sz="1000" spc="-50">
                <a:solidFill>
                  <a:srgbClr val="4A5462"/>
                </a:solidFill>
                <a:latin typeface="Roboto"/>
                <a:cs typeface="Roboto"/>
              </a:rPr>
              <a:t>Multi-</a:t>
            </a:r>
            <a:r>
              <a:rPr dirty="0" sz="1000" spc="-55">
                <a:solidFill>
                  <a:srgbClr val="4A5462"/>
                </a:solidFill>
                <a:latin typeface="Roboto"/>
                <a:cs typeface="Roboto"/>
              </a:rPr>
              <a:t>agent</a:t>
            </a:r>
            <a:r>
              <a:rPr dirty="0" sz="1000" spc="-5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1000" spc="-60">
                <a:solidFill>
                  <a:srgbClr val="4A5462"/>
                </a:solidFill>
                <a:latin typeface="Roboto"/>
                <a:cs typeface="Roboto"/>
              </a:rPr>
              <a:t>approach</a:t>
            </a:r>
            <a:r>
              <a:rPr dirty="0" sz="1000" spc="-5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1000" spc="-50">
                <a:solidFill>
                  <a:srgbClr val="4A5462"/>
                </a:solidFill>
                <a:latin typeface="Roboto"/>
                <a:cs typeface="Roboto"/>
              </a:rPr>
              <a:t>scales</a:t>
            </a:r>
            <a:r>
              <a:rPr dirty="0" sz="1000" spc="-5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1000" spc="-55">
                <a:solidFill>
                  <a:srgbClr val="4A5462"/>
                </a:solidFill>
                <a:latin typeface="Roboto"/>
                <a:cs typeface="Roboto"/>
              </a:rPr>
              <a:t>to</a:t>
            </a:r>
            <a:r>
              <a:rPr dirty="0" sz="1000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1000" spc="-45">
                <a:solidFill>
                  <a:srgbClr val="4A5462"/>
                </a:solidFill>
                <a:latin typeface="Roboto"/>
                <a:cs typeface="Roboto"/>
              </a:rPr>
              <a:t>large</a:t>
            </a:r>
            <a:r>
              <a:rPr dirty="0" sz="1000" spc="-5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1000" spc="-30">
                <a:solidFill>
                  <a:srgbClr val="4A5462"/>
                </a:solidFill>
                <a:latin typeface="Roboto"/>
                <a:cs typeface="Roboto"/>
              </a:rPr>
              <a:t>systems</a:t>
            </a:r>
            <a:endParaRPr sz="1000">
              <a:latin typeface="Roboto"/>
              <a:cs typeface="Roboto"/>
            </a:endParaRPr>
          </a:p>
        </p:txBody>
      </p:sp>
      <p:grpSp>
        <p:nvGrpSpPr>
          <p:cNvPr id="26" name="object 26" descr=""/>
          <p:cNvGrpSpPr/>
          <p:nvPr/>
        </p:nvGrpSpPr>
        <p:grpSpPr>
          <a:xfrm>
            <a:off x="9001123" y="5476874"/>
            <a:ext cx="2733675" cy="952500"/>
            <a:chOff x="9001123" y="5476874"/>
            <a:chExt cx="2733675" cy="952500"/>
          </a:xfrm>
        </p:grpSpPr>
        <p:sp>
          <p:nvSpPr>
            <p:cNvPr id="27" name="object 27" descr=""/>
            <p:cNvSpPr/>
            <p:nvPr/>
          </p:nvSpPr>
          <p:spPr>
            <a:xfrm>
              <a:off x="9001123" y="5476874"/>
              <a:ext cx="2733675" cy="952500"/>
            </a:xfrm>
            <a:custGeom>
              <a:avLst/>
              <a:gdLst/>
              <a:ahLst/>
              <a:cxnLst/>
              <a:rect l="l" t="t" r="r" b="b"/>
              <a:pathLst>
                <a:path w="2733675" h="952500">
                  <a:moveTo>
                    <a:pt x="2700627" y="952499"/>
                  </a:moveTo>
                  <a:lnTo>
                    <a:pt x="33047" y="952499"/>
                  </a:lnTo>
                  <a:lnTo>
                    <a:pt x="28186" y="951532"/>
                  </a:lnTo>
                  <a:lnTo>
                    <a:pt x="966" y="924312"/>
                  </a:lnTo>
                  <a:lnTo>
                    <a:pt x="0" y="919451"/>
                  </a:lnTo>
                  <a:lnTo>
                    <a:pt x="0" y="914399"/>
                  </a:lnTo>
                  <a:lnTo>
                    <a:pt x="0" y="33047"/>
                  </a:lnTo>
                  <a:lnTo>
                    <a:pt x="28186" y="966"/>
                  </a:lnTo>
                  <a:lnTo>
                    <a:pt x="33047" y="0"/>
                  </a:lnTo>
                  <a:lnTo>
                    <a:pt x="2700627" y="0"/>
                  </a:lnTo>
                  <a:lnTo>
                    <a:pt x="2732707" y="28187"/>
                  </a:lnTo>
                  <a:lnTo>
                    <a:pt x="2733674" y="33047"/>
                  </a:lnTo>
                  <a:lnTo>
                    <a:pt x="2733674" y="919451"/>
                  </a:lnTo>
                  <a:lnTo>
                    <a:pt x="2705486" y="951532"/>
                  </a:lnTo>
                  <a:lnTo>
                    <a:pt x="2700627" y="952499"/>
                  </a:lnTo>
                  <a:close/>
                </a:path>
              </a:pathLst>
            </a:custGeom>
            <a:solidFill>
              <a:srgbClr val="FFFAE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8" name="object 28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0277475" y="5629274"/>
              <a:ext cx="190499" cy="190499"/>
            </a:xfrm>
            <a:prstGeom prst="rect">
              <a:avLst/>
            </a:prstGeom>
          </p:spPr>
        </p:pic>
      </p:grpSp>
      <p:sp>
        <p:nvSpPr>
          <p:cNvPr id="29" name="object 29" descr=""/>
          <p:cNvSpPr txBox="1"/>
          <p:nvPr/>
        </p:nvSpPr>
        <p:spPr>
          <a:xfrm>
            <a:off x="9330431" y="5798311"/>
            <a:ext cx="2075180" cy="516890"/>
          </a:xfrm>
          <a:prstGeom prst="rect">
            <a:avLst/>
          </a:prstGeom>
        </p:spPr>
        <p:txBody>
          <a:bodyPr wrap="square" lIns="0" tIns="9461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745"/>
              </a:spcBef>
            </a:pPr>
            <a:r>
              <a:rPr dirty="0" sz="1300" spc="-60" b="0">
                <a:solidFill>
                  <a:srgbClr val="1F2937"/>
                </a:solidFill>
                <a:latin typeface="Roboto Medium"/>
                <a:cs typeface="Roboto Medium"/>
              </a:rPr>
              <a:t>Continuous</a:t>
            </a:r>
            <a:r>
              <a:rPr dirty="0" sz="1300" spc="10" b="0">
                <a:solidFill>
                  <a:srgbClr val="1F2937"/>
                </a:solidFill>
                <a:latin typeface="Roboto Medium"/>
                <a:cs typeface="Roboto Medium"/>
              </a:rPr>
              <a:t> </a:t>
            </a:r>
            <a:r>
              <a:rPr dirty="0" sz="1300" spc="-10" b="0">
                <a:solidFill>
                  <a:srgbClr val="1F2937"/>
                </a:solidFill>
                <a:latin typeface="Roboto Medium"/>
                <a:cs typeface="Roboto Medium"/>
              </a:rPr>
              <a:t>Learning</a:t>
            </a:r>
            <a:endParaRPr sz="1300">
              <a:latin typeface="Roboto Medium"/>
              <a:cs typeface="Roboto Medium"/>
            </a:endParaRPr>
          </a:p>
          <a:p>
            <a:pPr algn="ctr">
              <a:lnSpc>
                <a:spcPct val="100000"/>
              </a:lnSpc>
              <a:spcBef>
                <a:spcPts val="464"/>
              </a:spcBef>
            </a:pPr>
            <a:r>
              <a:rPr dirty="0" sz="1000" spc="-65">
                <a:solidFill>
                  <a:srgbClr val="4A5462"/>
                </a:solidFill>
                <a:latin typeface="Roboto"/>
                <a:cs typeface="Roboto"/>
              </a:rPr>
              <a:t>Adapts</a:t>
            </a:r>
            <a:r>
              <a:rPr dirty="0" sz="1000" spc="-5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1000" spc="-55">
                <a:solidFill>
                  <a:srgbClr val="4A5462"/>
                </a:solidFill>
                <a:latin typeface="Roboto"/>
                <a:cs typeface="Roboto"/>
              </a:rPr>
              <a:t>to</a:t>
            </a:r>
            <a:r>
              <a:rPr dirty="0" sz="1000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1000" spc="-55">
                <a:solidFill>
                  <a:srgbClr val="4A5462"/>
                </a:solidFill>
                <a:latin typeface="Roboto"/>
                <a:cs typeface="Roboto"/>
              </a:rPr>
              <a:t>changing</a:t>
            </a:r>
            <a:r>
              <a:rPr dirty="0" sz="1000" spc="-5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1000" spc="-50">
                <a:solidFill>
                  <a:srgbClr val="4A5462"/>
                </a:solidFill>
                <a:latin typeface="Roboto"/>
                <a:cs typeface="Roboto"/>
              </a:rPr>
              <a:t>conditions</a:t>
            </a:r>
            <a:r>
              <a:rPr dirty="0" sz="1000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1000" spc="-60">
                <a:solidFill>
                  <a:srgbClr val="4A5462"/>
                </a:solidFill>
                <a:latin typeface="Roboto"/>
                <a:cs typeface="Roboto"/>
              </a:rPr>
              <a:t>over</a:t>
            </a:r>
            <a:r>
              <a:rPr dirty="0" sz="1000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1000" spc="-20">
                <a:solidFill>
                  <a:srgbClr val="4A5462"/>
                </a:solidFill>
                <a:latin typeface="Roboto"/>
                <a:cs typeface="Roboto"/>
              </a:rPr>
              <a:t>time</a:t>
            </a:r>
            <a:endParaRPr sz="1000">
              <a:latin typeface="Roboto"/>
              <a:cs typeface="Roboto"/>
            </a:endParaRPr>
          </a:p>
        </p:txBody>
      </p:sp>
      <p:grpSp>
        <p:nvGrpSpPr>
          <p:cNvPr id="30" name="object 30" descr=""/>
          <p:cNvGrpSpPr/>
          <p:nvPr/>
        </p:nvGrpSpPr>
        <p:grpSpPr>
          <a:xfrm>
            <a:off x="152399" y="1076324"/>
            <a:ext cx="11887200" cy="6086475"/>
            <a:chOff x="152399" y="1076324"/>
            <a:chExt cx="11887200" cy="6086475"/>
          </a:xfrm>
        </p:grpSpPr>
        <p:sp>
          <p:nvSpPr>
            <p:cNvPr id="31" name="object 31" descr=""/>
            <p:cNvSpPr/>
            <p:nvPr/>
          </p:nvSpPr>
          <p:spPr>
            <a:xfrm>
              <a:off x="152399" y="6734174"/>
              <a:ext cx="11887200" cy="428625"/>
            </a:xfrm>
            <a:custGeom>
              <a:avLst/>
              <a:gdLst/>
              <a:ahLst/>
              <a:cxnLst/>
              <a:rect l="l" t="t" r="r" b="b"/>
              <a:pathLst>
                <a:path w="11887200" h="428625">
                  <a:moveTo>
                    <a:pt x="11810999" y="428624"/>
                  </a:moveTo>
                  <a:lnTo>
                    <a:pt x="76200" y="428624"/>
                  </a:lnTo>
                  <a:lnTo>
                    <a:pt x="68693" y="428262"/>
                  </a:lnTo>
                  <a:lnTo>
                    <a:pt x="27882" y="411357"/>
                  </a:lnTo>
                  <a:lnTo>
                    <a:pt x="3262" y="374511"/>
                  </a:lnTo>
                  <a:lnTo>
                    <a:pt x="0" y="352425"/>
                  </a:lnTo>
                  <a:lnTo>
                    <a:pt x="0" y="0"/>
                  </a:lnTo>
                  <a:lnTo>
                    <a:pt x="11887199" y="0"/>
                  </a:lnTo>
                  <a:lnTo>
                    <a:pt x="11887199" y="352425"/>
                  </a:lnTo>
                  <a:lnTo>
                    <a:pt x="11874368" y="394767"/>
                  </a:lnTo>
                  <a:lnTo>
                    <a:pt x="11840158" y="422824"/>
                  </a:lnTo>
                  <a:lnTo>
                    <a:pt x="11810999" y="428624"/>
                  </a:lnTo>
                  <a:close/>
                </a:path>
              </a:pathLst>
            </a:custGeom>
            <a:solidFill>
              <a:srgbClr val="F2F4F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 descr=""/>
            <p:cNvSpPr/>
            <p:nvPr/>
          </p:nvSpPr>
          <p:spPr>
            <a:xfrm>
              <a:off x="152399" y="6734174"/>
              <a:ext cx="11887200" cy="9525"/>
            </a:xfrm>
            <a:custGeom>
              <a:avLst/>
              <a:gdLst/>
              <a:ahLst/>
              <a:cxnLst/>
              <a:rect l="l" t="t" r="r" b="b"/>
              <a:pathLst>
                <a:path w="11887200" h="9525">
                  <a:moveTo>
                    <a:pt x="11887199" y="9524"/>
                  </a:moveTo>
                  <a:lnTo>
                    <a:pt x="0" y="9524"/>
                  </a:lnTo>
                  <a:lnTo>
                    <a:pt x="0" y="0"/>
                  </a:lnTo>
                  <a:lnTo>
                    <a:pt x="11887199" y="0"/>
                  </a:lnTo>
                  <a:lnTo>
                    <a:pt x="11887199" y="9524"/>
                  </a:lnTo>
                  <a:close/>
                </a:path>
              </a:pathLst>
            </a:custGeom>
            <a:solidFill>
              <a:srgbClr val="D0D5D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 descr=""/>
            <p:cNvSpPr/>
            <p:nvPr/>
          </p:nvSpPr>
          <p:spPr>
            <a:xfrm>
              <a:off x="1228724" y="1085849"/>
              <a:ext cx="2419350" cy="1581150"/>
            </a:xfrm>
            <a:custGeom>
              <a:avLst/>
              <a:gdLst/>
              <a:ahLst/>
              <a:cxnLst/>
              <a:rect l="l" t="t" r="r" b="b"/>
              <a:pathLst>
                <a:path w="2419350" h="1581150">
                  <a:moveTo>
                    <a:pt x="2357052" y="1581149"/>
                  </a:moveTo>
                  <a:lnTo>
                    <a:pt x="62296" y="1581149"/>
                  </a:lnTo>
                  <a:lnTo>
                    <a:pt x="57960" y="1580722"/>
                  </a:lnTo>
                  <a:lnTo>
                    <a:pt x="22624" y="1564716"/>
                  </a:lnTo>
                  <a:lnTo>
                    <a:pt x="2135" y="1531775"/>
                  </a:lnTo>
                  <a:lnTo>
                    <a:pt x="0" y="1518852"/>
                  </a:lnTo>
                  <a:lnTo>
                    <a:pt x="0" y="1514474"/>
                  </a:lnTo>
                  <a:lnTo>
                    <a:pt x="0" y="62296"/>
                  </a:lnTo>
                  <a:lnTo>
                    <a:pt x="13668" y="25992"/>
                  </a:lnTo>
                  <a:lnTo>
                    <a:pt x="45204" y="3399"/>
                  </a:lnTo>
                  <a:lnTo>
                    <a:pt x="62296" y="0"/>
                  </a:lnTo>
                  <a:lnTo>
                    <a:pt x="2357052" y="0"/>
                  </a:lnTo>
                  <a:lnTo>
                    <a:pt x="2393357" y="13668"/>
                  </a:lnTo>
                  <a:lnTo>
                    <a:pt x="2415949" y="45204"/>
                  </a:lnTo>
                  <a:lnTo>
                    <a:pt x="2419349" y="62296"/>
                  </a:lnTo>
                  <a:lnTo>
                    <a:pt x="2419349" y="1518852"/>
                  </a:lnTo>
                  <a:lnTo>
                    <a:pt x="2405680" y="1555157"/>
                  </a:lnTo>
                  <a:lnTo>
                    <a:pt x="2374145" y="1577749"/>
                  </a:lnTo>
                  <a:lnTo>
                    <a:pt x="2361388" y="1580722"/>
                  </a:lnTo>
                  <a:lnTo>
                    <a:pt x="2357052" y="1581149"/>
                  </a:lnTo>
                  <a:close/>
                </a:path>
              </a:pathLst>
            </a:custGeom>
            <a:solidFill>
              <a:srgbClr val="F9FA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 descr=""/>
            <p:cNvSpPr/>
            <p:nvPr/>
          </p:nvSpPr>
          <p:spPr>
            <a:xfrm>
              <a:off x="1228724" y="1085849"/>
              <a:ext cx="2419350" cy="1581150"/>
            </a:xfrm>
            <a:custGeom>
              <a:avLst/>
              <a:gdLst/>
              <a:ahLst/>
              <a:cxnLst/>
              <a:rect l="l" t="t" r="r" b="b"/>
              <a:pathLst>
                <a:path w="2419350" h="1581150">
                  <a:moveTo>
                    <a:pt x="0" y="1514474"/>
                  </a:moveTo>
                  <a:lnTo>
                    <a:pt x="0" y="66674"/>
                  </a:lnTo>
                  <a:lnTo>
                    <a:pt x="0" y="62296"/>
                  </a:lnTo>
                  <a:lnTo>
                    <a:pt x="427" y="57961"/>
                  </a:lnTo>
                  <a:lnTo>
                    <a:pt x="1281" y="53667"/>
                  </a:lnTo>
                  <a:lnTo>
                    <a:pt x="2135" y="49373"/>
                  </a:lnTo>
                  <a:lnTo>
                    <a:pt x="3399" y="45203"/>
                  </a:lnTo>
                  <a:lnTo>
                    <a:pt x="5075" y="41159"/>
                  </a:lnTo>
                  <a:lnTo>
                    <a:pt x="6750" y="37114"/>
                  </a:lnTo>
                  <a:lnTo>
                    <a:pt x="8804" y="33272"/>
                  </a:lnTo>
                  <a:lnTo>
                    <a:pt x="11236" y="29632"/>
                  </a:lnTo>
                  <a:lnTo>
                    <a:pt x="13668" y="25992"/>
                  </a:lnTo>
                  <a:lnTo>
                    <a:pt x="16433" y="22624"/>
                  </a:lnTo>
                  <a:lnTo>
                    <a:pt x="19528" y="19528"/>
                  </a:lnTo>
                  <a:lnTo>
                    <a:pt x="22624" y="16432"/>
                  </a:lnTo>
                  <a:lnTo>
                    <a:pt x="41159" y="5075"/>
                  </a:lnTo>
                  <a:lnTo>
                    <a:pt x="45204" y="3399"/>
                  </a:lnTo>
                  <a:lnTo>
                    <a:pt x="49373" y="2135"/>
                  </a:lnTo>
                  <a:lnTo>
                    <a:pt x="53667" y="1281"/>
                  </a:lnTo>
                  <a:lnTo>
                    <a:pt x="57960" y="427"/>
                  </a:lnTo>
                  <a:lnTo>
                    <a:pt x="62296" y="0"/>
                  </a:lnTo>
                  <a:lnTo>
                    <a:pt x="66674" y="0"/>
                  </a:lnTo>
                  <a:lnTo>
                    <a:pt x="2352674" y="0"/>
                  </a:lnTo>
                  <a:lnTo>
                    <a:pt x="2357052" y="0"/>
                  </a:lnTo>
                  <a:lnTo>
                    <a:pt x="2361388" y="427"/>
                  </a:lnTo>
                  <a:lnTo>
                    <a:pt x="2365682" y="1281"/>
                  </a:lnTo>
                  <a:lnTo>
                    <a:pt x="2369975" y="2135"/>
                  </a:lnTo>
                  <a:lnTo>
                    <a:pt x="2374145" y="3399"/>
                  </a:lnTo>
                  <a:lnTo>
                    <a:pt x="2378189" y="5075"/>
                  </a:lnTo>
                  <a:lnTo>
                    <a:pt x="2382234" y="6750"/>
                  </a:lnTo>
                  <a:lnTo>
                    <a:pt x="2399820" y="19528"/>
                  </a:lnTo>
                  <a:lnTo>
                    <a:pt x="2402916" y="22624"/>
                  </a:lnTo>
                  <a:lnTo>
                    <a:pt x="2418068" y="53667"/>
                  </a:lnTo>
                  <a:lnTo>
                    <a:pt x="2418922" y="57961"/>
                  </a:lnTo>
                  <a:lnTo>
                    <a:pt x="2419349" y="62296"/>
                  </a:lnTo>
                  <a:lnTo>
                    <a:pt x="2419349" y="66674"/>
                  </a:lnTo>
                  <a:lnTo>
                    <a:pt x="2419349" y="1514474"/>
                  </a:lnTo>
                  <a:lnTo>
                    <a:pt x="2419349" y="1518852"/>
                  </a:lnTo>
                  <a:lnTo>
                    <a:pt x="2418922" y="1523188"/>
                  </a:lnTo>
                  <a:lnTo>
                    <a:pt x="2418068" y="1527482"/>
                  </a:lnTo>
                  <a:lnTo>
                    <a:pt x="2417213" y="1531775"/>
                  </a:lnTo>
                  <a:lnTo>
                    <a:pt x="2415948" y="1535945"/>
                  </a:lnTo>
                  <a:lnTo>
                    <a:pt x="2414273" y="1539989"/>
                  </a:lnTo>
                  <a:lnTo>
                    <a:pt x="2412598" y="1544034"/>
                  </a:lnTo>
                  <a:lnTo>
                    <a:pt x="2386076" y="1572344"/>
                  </a:lnTo>
                  <a:lnTo>
                    <a:pt x="2365682" y="1579868"/>
                  </a:lnTo>
                  <a:lnTo>
                    <a:pt x="2361388" y="1580722"/>
                  </a:lnTo>
                  <a:lnTo>
                    <a:pt x="2357052" y="1581149"/>
                  </a:lnTo>
                  <a:lnTo>
                    <a:pt x="2352674" y="1581149"/>
                  </a:lnTo>
                  <a:lnTo>
                    <a:pt x="66674" y="1581149"/>
                  </a:lnTo>
                  <a:lnTo>
                    <a:pt x="62296" y="1581149"/>
                  </a:lnTo>
                  <a:lnTo>
                    <a:pt x="57960" y="1580722"/>
                  </a:lnTo>
                  <a:lnTo>
                    <a:pt x="53667" y="1579868"/>
                  </a:lnTo>
                  <a:lnTo>
                    <a:pt x="49373" y="1579014"/>
                  </a:lnTo>
                  <a:lnTo>
                    <a:pt x="29632" y="1569912"/>
                  </a:lnTo>
                  <a:lnTo>
                    <a:pt x="25992" y="1567480"/>
                  </a:lnTo>
                  <a:lnTo>
                    <a:pt x="5075" y="1539989"/>
                  </a:lnTo>
                  <a:lnTo>
                    <a:pt x="3399" y="1535945"/>
                  </a:lnTo>
                  <a:lnTo>
                    <a:pt x="2135" y="1531775"/>
                  </a:lnTo>
                  <a:lnTo>
                    <a:pt x="1281" y="1527482"/>
                  </a:lnTo>
                  <a:lnTo>
                    <a:pt x="427" y="1523188"/>
                  </a:lnTo>
                  <a:lnTo>
                    <a:pt x="0" y="1518852"/>
                  </a:lnTo>
                  <a:lnTo>
                    <a:pt x="0" y="1514474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5" name="object 35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328862" y="1262062"/>
              <a:ext cx="228600" cy="200025"/>
            </a:xfrm>
            <a:prstGeom prst="rect">
              <a:avLst/>
            </a:prstGeom>
          </p:spPr>
        </p:pic>
        <p:sp>
          <p:nvSpPr>
            <p:cNvPr id="36" name="object 36" descr=""/>
            <p:cNvSpPr/>
            <p:nvPr/>
          </p:nvSpPr>
          <p:spPr>
            <a:xfrm>
              <a:off x="1228724" y="1885949"/>
              <a:ext cx="2419350" cy="1314450"/>
            </a:xfrm>
            <a:custGeom>
              <a:avLst/>
              <a:gdLst/>
              <a:ahLst/>
              <a:cxnLst/>
              <a:rect l="l" t="t" r="r" b="b"/>
              <a:pathLst>
                <a:path w="2419350" h="1314450">
                  <a:moveTo>
                    <a:pt x="2357052" y="1314449"/>
                  </a:moveTo>
                  <a:lnTo>
                    <a:pt x="62296" y="1314449"/>
                  </a:lnTo>
                  <a:lnTo>
                    <a:pt x="57960" y="1314022"/>
                  </a:lnTo>
                  <a:lnTo>
                    <a:pt x="22624" y="1298016"/>
                  </a:lnTo>
                  <a:lnTo>
                    <a:pt x="2135" y="1265075"/>
                  </a:lnTo>
                  <a:lnTo>
                    <a:pt x="0" y="1252152"/>
                  </a:lnTo>
                  <a:lnTo>
                    <a:pt x="0" y="1247774"/>
                  </a:lnTo>
                  <a:lnTo>
                    <a:pt x="0" y="62296"/>
                  </a:lnTo>
                  <a:lnTo>
                    <a:pt x="13668" y="25992"/>
                  </a:lnTo>
                  <a:lnTo>
                    <a:pt x="45204" y="3399"/>
                  </a:lnTo>
                  <a:lnTo>
                    <a:pt x="62296" y="0"/>
                  </a:lnTo>
                  <a:lnTo>
                    <a:pt x="2357052" y="0"/>
                  </a:lnTo>
                  <a:lnTo>
                    <a:pt x="2393357" y="13668"/>
                  </a:lnTo>
                  <a:lnTo>
                    <a:pt x="2415949" y="45204"/>
                  </a:lnTo>
                  <a:lnTo>
                    <a:pt x="2419349" y="62296"/>
                  </a:lnTo>
                  <a:lnTo>
                    <a:pt x="2419349" y="1252152"/>
                  </a:lnTo>
                  <a:lnTo>
                    <a:pt x="2405680" y="1288457"/>
                  </a:lnTo>
                  <a:lnTo>
                    <a:pt x="2374145" y="1311049"/>
                  </a:lnTo>
                  <a:lnTo>
                    <a:pt x="2361388" y="1314022"/>
                  </a:lnTo>
                  <a:lnTo>
                    <a:pt x="2357052" y="1314449"/>
                  </a:lnTo>
                  <a:close/>
                </a:path>
              </a:pathLst>
            </a:custGeom>
            <a:solidFill>
              <a:srgbClr val="EFF5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 descr=""/>
            <p:cNvSpPr/>
            <p:nvPr/>
          </p:nvSpPr>
          <p:spPr>
            <a:xfrm>
              <a:off x="1228724" y="1885949"/>
              <a:ext cx="2419350" cy="1314450"/>
            </a:xfrm>
            <a:custGeom>
              <a:avLst/>
              <a:gdLst/>
              <a:ahLst/>
              <a:cxnLst/>
              <a:rect l="l" t="t" r="r" b="b"/>
              <a:pathLst>
                <a:path w="2419350" h="1314450">
                  <a:moveTo>
                    <a:pt x="0" y="1247774"/>
                  </a:moveTo>
                  <a:lnTo>
                    <a:pt x="0" y="66674"/>
                  </a:lnTo>
                  <a:lnTo>
                    <a:pt x="0" y="62296"/>
                  </a:lnTo>
                  <a:lnTo>
                    <a:pt x="427" y="57960"/>
                  </a:lnTo>
                  <a:lnTo>
                    <a:pt x="1281" y="53667"/>
                  </a:lnTo>
                  <a:lnTo>
                    <a:pt x="2135" y="49373"/>
                  </a:lnTo>
                  <a:lnTo>
                    <a:pt x="3399" y="45204"/>
                  </a:lnTo>
                  <a:lnTo>
                    <a:pt x="5075" y="41159"/>
                  </a:lnTo>
                  <a:lnTo>
                    <a:pt x="6750" y="37114"/>
                  </a:lnTo>
                  <a:lnTo>
                    <a:pt x="8804" y="33272"/>
                  </a:lnTo>
                  <a:lnTo>
                    <a:pt x="11236" y="29632"/>
                  </a:lnTo>
                  <a:lnTo>
                    <a:pt x="13668" y="25992"/>
                  </a:lnTo>
                  <a:lnTo>
                    <a:pt x="16433" y="22624"/>
                  </a:lnTo>
                  <a:lnTo>
                    <a:pt x="19528" y="19528"/>
                  </a:lnTo>
                  <a:lnTo>
                    <a:pt x="22624" y="16432"/>
                  </a:lnTo>
                  <a:lnTo>
                    <a:pt x="25992" y="13668"/>
                  </a:lnTo>
                  <a:lnTo>
                    <a:pt x="29632" y="11236"/>
                  </a:lnTo>
                  <a:lnTo>
                    <a:pt x="33272" y="8804"/>
                  </a:lnTo>
                  <a:lnTo>
                    <a:pt x="37114" y="6750"/>
                  </a:lnTo>
                  <a:lnTo>
                    <a:pt x="41159" y="5075"/>
                  </a:lnTo>
                  <a:lnTo>
                    <a:pt x="45204" y="3399"/>
                  </a:lnTo>
                  <a:lnTo>
                    <a:pt x="49373" y="2135"/>
                  </a:lnTo>
                  <a:lnTo>
                    <a:pt x="53667" y="1281"/>
                  </a:lnTo>
                  <a:lnTo>
                    <a:pt x="57960" y="427"/>
                  </a:lnTo>
                  <a:lnTo>
                    <a:pt x="62296" y="0"/>
                  </a:lnTo>
                  <a:lnTo>
                    <a:pt x="66674" y="0"/>
                  </a:lnTo>
                  <a:lnTo>
                    <a:pt x="2352674" y="0"/>
                  </a:lnTo>
                  <a:lnTo>
                    <a:pt x="2357052" y="0"/>
                  </a:lnTo>
                  <a:lnTo>
                    <a:pt x="2361388" y="427"/>
                  </a:lnTo>
                  <a:lnTo>
                    <a:pt x="2365682" y="1281"/>
                  </a:lnTo>
                  <a:lnTo>
                    <a:pt x="2369975" y="2135"/>
                  </a:lnTo>
                  <a:lnTo>
                    <a:pt x="2374145" y="3399"/>
                  </a:lnTo>
                  <a:lnTo>
                    <a:pt x="2378189" y="5075"/>
                  </a:lnTo>
                  <a:lnTo>
                    <a:pt x="2382234" y="6750"/>
                  </a:lnTo>
                  <a:lnTo>
                    <a:pt x="2386076" y="8804"/>
                  </a:lnTo>
                  <a:lnTo>
                    <a:pt x="2389716" y="11236"/>
                  </a:lnTo>
                  <a:lnTo>
                    <a:pt x="2393357" y="13668"/>
                  </a:lnTo>
                  <a:lnTo>
                    <a:pt x="2396725" y="16432"/>
                  </a:lnTo>
                  <a:lnTo>
                    <a:pt x="2399820" y="19528"/>
                  </a:lnTo>
                  <a:lnTo>
                    <a:pt x="2402916" y="22624"/>
                  </a:lnTo>
                  <a:lnTo>
                    <a:pt x="2418068" y="53667"/>
                  </a:lnTo>
                  <a:lnTo>
                    <a:pt x="2418922" y="57960"/>
                  </a:lnTo>
                  <a:lnTo>
                    <a:pt x="2419349" y="62296"/>
                  </a:lnTo>
                  <a:lnTo>
                    <a:pt x="2419349" y="66674"/>
                  </a:lnTo>
                  <a:lnTo>
                    <a:pt x="2419349" y="1247774"/>
                  </a:lnTo>
                  <a:lnTo>
                    <a:pt x="2419349" y="1252152"/>
                  </a:lnTo>
                  <a:lnTo>
                    <a:pt x="2418922" y="1256488"/>
                  </a:lnTo>
                  <a:lnTo>
                    <a:pt x="2402916" y="1291825"/>
                  </a:lnTo>
                  <a:lnTo>
                    <a:pt x="2378189" y="1309373"/>
                  </a:lnTo>
                  <a:lnTo>
                    <a:pt x="2374145" y="1311049"/>
                  </a:lnTo>
                  <a:lnTo>
                    <a:pt x="2369975" y="1312314"/>
                  </a:lnTo>
                  <a:lnTo>
                    <a:pt x="2365682" y="1313168"/>
                  </a:lnTo>
                  <a:lnTo>
                    <a:pt x="2361388" y="1314022"/>
                  </a:lnTo>
                  <a:lnTo>
                    <a:pt x="2357052" y="1314449"/>
                  </a:lnTo>
                  <a:lnTo>
                    <a:pt x="2352674" y="1314449"/>
                  </a:lnTo>
                  <a:lnTo>
                    <a:pt x="66674" y="1314449"/>
                  </a:lnTo>
                  <a:lnTo>
                    <a:pt x="62296" y="1314449"/>
                  </a:lnTo>
                  <a:lnTo>
                    <a:pt x="57960" y="1314022"/>
                  </a:lnTo>
                  <a:lnTo>
                    <a:pt x="53667" y="1313168"/>
                  </a:lnTo>
                  <a:lnTo>
                    <a:pt x="49373" y="1312314"/>
                  </a:lnTo>
                  <a:lnTo>
                    <a:pt x="45204" y="1311049"/>
                  </a:lnTo>
                  <a:lnTo>
                    <a:pt x="41159" y="1309373"/>
                  </a:lnTo>
                  <a:lnTo>
                    <a:pt x="37114" y="1307698"/>
                  </a:lnTo>
                  <a:lnTo>
                    <a:pt x="33272" y="1305644"/>
                  </a:lnTo>
                  <a:lnTo>
                    <a:pt x="29632" y="1303212"/>
                  </a:lnTo>
                  <a:lnTo>
                    <a:pt x="25992" y="1300780"/>
                  </a:lnTo>
                  <a:lnTo>
                    <a:pt x="3399" y="1269245"/>
                  </a:lnTo>
                  <a:lnTo>
                    <a:pt x="0" y="1252152"/>
                  </a:lnTo>
                  <a:lnTo>
                    <a:pt x="0" y="1247774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 descr=""/>
            <p:cNvSpPr/>
            <p:nvPr/>
          </p:nvSpPr>
          <p:spPr>
            <a:xfrm>
              <a:off x="2295524" y="2047874"/>
              <a:ext cx="285750" cy="228600"/>
            </a:xfrm>
            <a:custGeom>
              <a:avLst/>
              <a:gdLst/>
              <a:ahLst/>
              <a:cxnLst/>
              <a:rect l="l" t="t" r="r" b="b"/>
              <a:pathLst>
                <a:path w="285750" h="228600">
                  <a:moveTo>
                    <a:pt x="157162" y="42862"/>
                  </a:moveTo>
                  <a:lnTo>
                    <a:pt x="128587" y="42862"/>
                  </a:lnTo>
                  <a:lnTo>
                    <a:pt x="128587" y="6384"/>
                  </a:lnTo>
                  <a:lnTo>
                    <a:pt x="134972" y="0"/>
                  </a:lnTo>
                  <a:lnTo>
                    <a:pt x="150777" y="0"/>
                  </a:lnTo>
                  <a:lnTo>
                    <a:pt x="157162" y="6384"/>
                  </a:lnTo>
                  <a:lnTo>
                    <a:pt x="157162" y="42862"/>
                  </a:lnTo>
                  <a:close/>
                </a:path>
                <a:path w="285750" h="228600">
                  <a:moveTo>
                    <a:pt x="210740" y="228600"/>
                  </a:moveTo>
                  <a:lnTo>
                    <a:pt x="75009" y="228600"/>
                  </a:lnTo>
                  <a:lnTo>
                    <a:pt x="62489" y="226075"/>
                  </a:lnTo>
                  <a:lnTo>
                    <a:pt x="52272" y="219190"/>
                  </a:lnTo>
                  <a:lnTo>
                    <a:pt x="45386" y="208972"/>
                  </a:lnTo>
                  <a:lnTo>
                    <a:pt x="42862" y="196453"/>
                  </a:lnTo>
                  <a:lnTo>
                    <a:pt x="42862" y="75009"/>
                  </a:lnTo>
                  <a:lnTo>
                    <a:pt x="45386" y="62489"/>
                  </a:lnTo>
                  <a:lnTo>
                    <a:pt x="52272" y="52272"/>
                  </a:lnTo>
                  <a:lnTo>
                    <a:pt x="62489" y="45386"/>
                  </a:lnTo>
                  <a:lnTo>
                    <a:pt x="75009" y="42862"/>
                  </a:lnTo>
                  <a:lnTo>
                    <a:pt x="210740" y="42862"/>
                  </a:lnTo>
                  <a:lnTo>
                    <a:pt x="223260" y="45386"/>
                  </a:lnTo>
                  <a:lnTo>
                    <a:pt x="233477" y="52272"/>
                  </a:lnTo>
                  <a:lnTo>
                    <a:pt x="240363" y="62489"/>
                  </a:lnTo>
                  <a:lnTo>
                    <a:pt x="242887" y="75009"/>
                  </a:lnTo>
                  <a:lnTo>
                    <a:pt x="242887" y="96440"/>
                  </a:lnTo>
                  <a:lnTo>
                    <a:pt x="97644" y="96440"/>
                  </a:lnTo>
                  <a:lnTo>
                    <a:pt x="95366" y="96893"/>
                  </a:lnTo>
                  <a:lnTo>
                    <a:pt x="82153" y="111931"/>
                  </a:lnTo>
                  <a:lnTo>
                    <a:pt x="82153" y="116668"/>
                  </a:lnTo>
                  <a:lnTo>
                    <a:pt x="97644" y="132159"/>
                  </a:lnTo>
                  <a:lnTo>
                    <a:pt x="242887" y="132159"/>
                  </a:lnTo>
                  <a:lnTo>
                    <a:pt x="242887" y="171450"/>
                  </a:lnTo>
                  <a:lnTo>
                    <a:pt x="88939" y="171450"/>
                  </a:lnTo>
                  <a:lnTo>
                    <a:pt x="85725" y="174664"/>
                  </a:lnTo>
                  <a:lnTo>
                    <a:pt x="85725" y="182522"/>
                  </a:lnTo>
                  <a:lnTo>
                    <a:pt x="88939" y="185737"/>
                  </a:lnTo>
                  <a:lnTo>
                    <a:pt x="242887" y="185737"/>
                  </a:lnTo>
                  <a:lnTo>
                    <a:pt x="242887" y="196453"/>
                  </a:lnTo>
                  <a:lnTo>
                    <a:pt x="240363" y="208972"/>
                  </a:lnTo>
                  <a:lnTo>
                    <a:pt x="233477" y="219190"/>
                  </a:lnTo>
                  <a:lnTo>
                    <a:pt x="223260" y="226075"/>
                  </a:lnTo>
                  <a:lnTo>
                    <a:pt x="210740" y="228600"/>
                  </a:lnTo>
                  <a:close/>
                </a:path>
                <a:path w="285750" h="228600">
                  <a:moveTo>
                    <a:pt x="183369" y="132159"/>
                  </a:moveTo>
                  <a:lnTo>
                    <a:pt x="102380" y="132159"/>
                  </a:lnTo>
                  <a:lnTo>
                    <a:pt x="104658" y="131706"/>
                  </a:lnTo>
                  <a:lnTo>
                    <a:pt x="109035" y="129893"/>
                  </a:lnTo>
                  <a:lnTo>
                    <a:pt x="117871" y="116668"/>
                  </a:lnTo>
                  <a:lnTo>
                    <a:pt x="117871" y="111931"/>
                  </a:lnTo>
                  <a:lnTo>
                    <a:pt x="102380" y="96440"/>
                  </a:lnTo>
                  <a:lnTo>
                    <a:pt x="183369" y="96440"/>
                  </a:lnTo>
                  <a:lnTo>
                    <a:pt x="167878" y="111931"/>
                  </a:lnTo>
                  <a:lnTo>
                    <a:pt x="167878" y="116668"/>
                  </a:lnTo>
                  <a:lnTo>
                    <a:pt x="181091" y="131706"/>
                  </a:lnTo>
                  <a:lnTo>
                    <a:pt x="183369" y="132159"/>
                  </a:lnTo>
                  <a:close/>
                </a:path>
                <a:path w="285750" h="228600">
                  <a:moveTo>
                    <a:pt x="242887" y="132159"/>
                  </a:moveTo>
                  <a:lnTo>
                    <a:pt x="188105" y="132159"/>
                  </a:lnTo>
                  <a:lnTo>
                    <a:pt x="190383" y="131706"/>
                  </a:lnTo>
                  <a:lnTo>
                    <a:pt x="194759" y="129893"/>
                  </a:lnTo>
                  <a:lnTo>
                    <a:pt x="203596" y="116668"/>
                  </a:lnTo>
                  <a:lnTo>
                    <a:pt x="203596" y="111931"/>
                  </a:lnTo>
                  <a:lnTo>
                    <a:pt x="188105" y="96440"/>
                  </a:lnTo>
                  <a:lnTo>
                    <a:pt x="242887" y="96440"/>
                  </a:lnTo>
                  <a:lnTo>
                    <a:pt x="242887" y="132159"/>
                  </a:lnTo>
                  <a:close/>
                </a:path>
                <a:path w="285750" h="228600">
                  <a:moveTo>
                    <a:pt x="131802" y="185737"/>
                  </a:moveTo>
                  <a:lnTo>
                    <a:pt x="111085" y="185737"/>
                  </a:lnTo>
                  <a:lnTo>
                    <a:pt x="114300" y="182522"/>
                  </a:lnTo>
                  <a:lnTo>
                    <a:pt x="114300" y="174664"/>
                  </a:lnTo>
                  <a:lnTo>
                    <a:pt x="111085" y="171450"/>
                  </a:lnTo>
                  <a:lnTo>
                    <a:pt x="131802" y="171450"/>
                  </a:lnTo>
                  <a:lnTo>
                    <a:pt x="128587" y="174664"/>
                  </a:lnTo>
                  <a:lnTo>
                    <a:pt x="128587" y="182522"/>
                  </a:lnTo>
                  <a:lnTo>
                    <a:pt x="131802" y="185737"/>
                  </a:lnTo>
                  <a:close/>
                </a:path>
                <a:path w="285750" h="228600">
                  <a:moveTo>
                    <a:pt x="174664" y="185737"/>
                  </a:moveTo>
                  <a:lnTo>
                    <a:pt x="153947" y="185737"/>
                  </a:lnTo>
                  <a:lnTo>
                    <a:pt x="157162" y="182522"/>
                  </a:lnTo>
                  <a:lnTo>
                    <a:pt x="157162" y="174664"/>
                  </a:lnTo>
                  <a:lnTo>
                    <a:pt x="153947" y="171450"/>
                  </a:lnTo>
                  <a:lnTo>
                    <a:pt x="174664" y="171450"/>
                  </a:lnTo>
                  <a:lnTo>
                    <a:pt x="171450" y="174664"/>
                  </a:lnTo>
                  <a:lnTo>
                    <a:pt x="171450" y="182522"/>
                  </a:lnTo>
                  <a:lnTo>
                    <a:pt x="174664" y="185737"/>
                  </a:lnTo>
                  <a:close/>
                </a:path>
                <a:path w="285750" h="228600">
                  <a:moveTo>
                    <a:pt x="242887" y="185737"/>
                  </a:moveTo>
                  <a:lnTo>
                    <a:pt x="196810" y="185737"/>
                  </a:lnTo>
                  <a:lnTo>
                    <a:pt x="200025" y="182522"/>
                  </a:lnTo>
                  <a:lnTo>
                    <a:pt x="200025" y="174664"/>
                  </a:lnTo>
                  <a:lnTo>
                    <a:pt x="196810" y="171450"/>
                  </a:lnTo>
                  <a:lnTo>
                    <a:pt x="242887" y="171450"/>
                  </a:lnTo>
                  <a:lnTo>
                    <a:pt x="242887" y="185737"/>
                  </a:lnTo>
                  <a:close/>
                </a:path>
                <a:path w="285750" h="228600">
                  <a:moveTo>
                    <a:pt x="28575" y="185737"/>
                  </a:moveTo>
                  <a:lnTo>
                    <a:pt x="21431" y="185737"/>
                  </a:lnTo>
                  <a:lnTo>
                    <a:pt x="13091" y="184052"/>
                  </a:lnTo>
                  <a:lnTo>
                    <a:pt x="6278" y="179458"/>
                  </a:lnTo>
                  <a:lnTo>
                    <a:pt x="1684" y="172646"/>
                  </a:lnTo>
                  <a:lnTo>
                    <a:pt x="0" y="164306"/>
                  </a:lnTo>
                  <a:lnTo>
                    <a:pt x="0" y="121443"/>
                  </a:lnTo>
                  <a:lnTo>
                    <a:pt x="1684" y="113103"/>
                  </a:lnTo>
                  <a:lnTo>
                    <a:pt x="6278" y="106291"/>
                  </a:lnTo>
                  <a:lnTo>
                    <a:pt x="13091" y="101697"/>
                  </a:lnTo>
                  <a:lnTo>
                    <a:pt x="21431" y="100012"/>
                  </a:lnTo>
                  <a:lnTo>
                    <a:pt x="28575" y="100012"/>
                  </a:lnTo>
                  <a:lnTo>
                    <a:pt x="28575" y="185737"/>
                  </a:lnTo>
                  <a:close/>
                </a:path>
                <a:path w="285750" h="228600">
                  <a:moveTo>
                    <a:pt x="264318" y="185737"/>
                  </a:moveTo>
                  <a:lnTo>
                    <a:pt x="257175" y="185737"/>
                  </a:lnTo>
                  <a:lnTo>
                    <a:pt x="257175" y="100012"/>
                  </a:lnTo>
                  <a:lnTo>
                    <a:pt x="264318" y="100012"/>
                  </a:lnTo>
                  <a:lnTo>
                    <a:pt x="272658" y="101697"/>
                  </a:lnTo>
                  <a:lnTo>
                    <a:pt x="279471" y="106291"/>
                  </a:lnTo>
                  <a:lnTo>
                    <a:pt x="284065" y="113103"/>
                  </a:lnTo>
                  <a:lnTo>
                    <a:pt x="285750" y="121443"/>
                  </a:lnTo>
                  <a:lnTo>
                    <a:pt x="285750" y="164306"/>
                  </a:lnTo>
                  <a:lnTo>
                    <a:pt x="284065" y="172646"/>
                  </a:lnTo>
                  <a:lnTo>
                    <a:pt x="279471" y="179458"/>
                  </a:lnTo>
                  <a:lnTo>
                    <a:pt x="272658" y="184052"/>
                  </a:lnTo>
                  <a:lnTo>
                    <a:pt x="264318" y="185737"/>
                  </a:lnTo>
                  <a:close/>
                </a:path>
              </a:pathLst>
            </a:custGeom>
            <a:solidFill>
              <a:srgbClr val="2562EB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9" name="object 39" descr=""/>
          <p:cNvSpPr txBox="1"/>
          <p:nvPr/>
        </p:nvSpPr>
        <p:spPr>
          <a:xfrm>
            <a:off x="1393576" y="1539922"/>
            <a:ext cx="2089785" cy="14935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489584" marR="482600">
              <a:lnSpc>
                <a:spcPct val="116700"/>
              </a:lnSpc>
              <a:spcBef>
                <a:spcPts val="100"/>
              </a:spcBef>
            </a:pPr>
            <a:r>
              <a:rPr dirty="0" sz="1500" spc="-100" b="1">
                <a:latin typeface="Roboto"/>
                <a:cs typeface="Roboto"/>
              </a:rPr>
              <a:t>Power</a:t>
            </a:r>
            <a:r>
              <a:rPr dirty="0" sz="1500" spc="5" b="1">
                <a:latin typeface="Roboto"/>
                <a:cs typeface="Roboto"/>
              </a:rPr>
              <a:t> </a:t>
            </a:r>
            <a:r>
              <a:rPr dirty="0" sz="1500" spc="-95" b="1">
                <a:latin typeface="Roboto"/>
                <a:cs typeface="Roboto"/>
              </a:rPr>
              <a:t>System </a:t>
            </a:r>
            <a:r>
              <a:rPr dirty="0" sz="1500" spc="-10" b="1">
                <a:latin typeface="Roboto"/>
                <a:cs typeface="Roboto"/>
              </a:rPr>
              <a:t>Environment</a:t>
            </a:r>
            <a:endParaRPr sz="1500">
              <a:latin typeface="Roboto"/>
              <a:cs typeface="Roboto"/>
            </a:endParaRPr>
          </a:p>
          <a:p>
            <a:pPr algn="ctr" marL="12700" marR="5080">
              <a:lnSpc>
                <a:spcPct val="108700"/>
              </a:lnSpc>
              <a:spcBef>
                <a:spcPts val="150"/>
              </a:spcBef>
            </a:pPr>
            <a:r>
              <a:rPr dirty="0" sz="1150" spc="-45">
                <a:solidFill>
                  <a:srgbClr val="4A5462"/>
                </a:solidFill>
                <a:latin typeface="Roboto"/>
                <a:cs typeface="Roboto"/>
              </a:rPr>
              <a:t>Distribution</a:t>
            </a:r>
            <a:r>
              <a:rPr dirty="0" sz="1150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1150" spc="-55">
                <a:solidFill>
                  <a:srgbClr val="4A5462"/>
                </a:solidFill>
                <a:latin typeface="Roboto"/>
                <a:cs typeface="Roboto"/>
              </a:rPr>
              <a:t>network</a:t>
            </a:r>
            <a:r>
              <a:rPr dirty="0" sz="1150" spc="5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1150" spc="-50">
                <a:solidFill>
                  <a:srgbClr val="4A5462"/>
                </a:solidFill>
                <a:latin typeface="Roboto"/>
                <a:cs typeface="Roboto"/>
              </a:rPr>
              <a:t>with</a:t>
            </a:r>
            <a:r>
              <a:rPr dirty="0" sz="1150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1150" spc="-55">
                <a:solidFill>
                  <a:srgbClr val="4A5462"/>
                </a:solidFill>
                <a:latin typeface="Roboto"/>
                <a:cs typeface="Roboto"/>
              </a:rPr>
              <a:t>switches, </a:t>
            </a:r>
            <a:r>
              <a:rPr dirty="0" sz="1150" spc="-50">
                <a:solidFill>
                  <a:srgbClr val="4A5462"/>
                </a:solidFill>
                <a:latin typeface="Roboto"/>
                <a:cs typeface="Roboto"/>
              </a:rPr>
              <a:t>loads,</a:t>
            </a:r>
            <a:r>
              <a:rPr dirty="0" sz="1150" spc="5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1150" spc="-60">
                <a:solidFill>
                  <a:srgbClr val="4A5462"/>
                </a:solidFill>
                <a:latin typeface="Roboto"/>
                <a:cs typeface="Roboto"/>
              </a:rPr>
              <a:t>and</a:t>
            </a:r>
            <a:r>
              <a:rPr dirty="0" sz="1150" spc="5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1150" spc="-10">
                <a:solidFill>
                  <a:srgbClr val="4A5462"/>
                </a:solidFill>
                <a:latin typeface="Roboto"/>
                <a:cs typeface="Roboto"/>
              </a:rPr>
              <a:t>renewables</a:t>
            </a:r>
            <a:endParaRPr sz="1150">
              <a:latin typeface="Roboto"/>
              <a:cs typeface="Roboto"/>
            </a:endParaRPr>
          </a:p>
          <a:p>
            <a:pPr algn="ctr">
              <a:lnSpc>
                <a:spcPts val="1045"/>
              </a:lnSpc>
            </a:pPr>
            <a:r>
              <a:rPr dirty="0" sz="1500" spc="-80" b="1">
                <a:latin typeface="Roboto"/>
                <a:cs typeface="Roboto"/>
              </a:rPr>
              <a:t>Multi-</a:t>
            </a:r>
            <a:r>
              <a:rPr dirty="0" sz="1500" spc="-90" b="1">
                <a:latin typeface="Roboto"/>
                <a:cs typeface="Roboto"/>
              </a:rPr>
              <a:t>Agent</a:t>
            </a:r>
            <a:r>
              <a:rPr dirty="0" sz="1500" spc="10" b="1">
                <a:latin typeface="Roboto"/>
                <a:cs typeface="Roboto"/>
              </a:rPr>
              <a:t> </a:t>
            </a:r>
            <a:r>
              <a:rPr dirty="0" sz="1500" spc="-95" b="1">
                <a:latin typeface="Roboto"/>
                <a:cs typeface="Roboto"/>
              </a:rPr>
              <a:t>RL</a:t>
            </a:r>
            <a:r>
              <a:rPr dirty="0" sz="1500" spc="10" b="1">
                <a:latin typeface="Roboto"/>
                <a:cs typeface="Roboto"/>
              </a:rPr>
              <a:t> </a:t>
            </a:r>
            <a:r>
              <a:rPr dirty="0" sz="1500" spc="-10" b="1">
                <a:latin typeface="Roboto"/>
                <a:cs typeface="Roboto"/>
              </a:rPr>
              <a:t>Controller</a:t>
            </a:r>
            <a:endParaRPr sz="1500">
              <a:latin typeface="Roboto"/>
              <a:cs typeface="Roboto"/>
            </a:endParaRPr>
          </a:p>
          <a:p>
            <a:pPr algn="ctr" marL="45720" marR="38100">
              <a:lnSpc>
                <a:spcPct val="108700"/>
              </a:lnSpc>
              <a:spcBef>
                <a:spcPts val="155"/>
              </a:spcBef>
            </a:pPr>
            <a:r>
              <a:rPr dirty="0" sz="1150" spc="-80">
                <a:solidFill>
                  <a:srgbClr val="4A5462"/>
                </a:solidFill>
                <a:latin typeface="Roboto"/>
                <a:cs typeface="Roboto"/>
              </a:rPr>
              <a:t>DQN</a:t>
            </a:r>
            <a:r>
              <a:rPr dirty="0" sz="1150" spc="10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1150" spc="-60">
                <a:solidFill>
                  <a:srgbClr val="4A5462"/>
                </a:solidFill>
                <a:latin typeface="Roboto"/>
                <a:cs typeface="Roboto"/>
              </a:rPr>
              <a:t>agents</a:t>
            </a:r>
            <a:r>
              <a:rPr dirty="0" sz="1150" spc="10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1150" spc="-45">
                <a:solidFill>
                  <a:srgbClr val="4A5462"/>
                </a:solidFill>
                <a:latin typeface="Roboto"/>
                <a:cs typeface="Roboto"/>
              </a:rPr>
              <a:t>for</a:t>
            </a:r>
            <a:r>
              <a:rPr dirty="0" sz="1150" spc="15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1150" spc="-50">
                <a:solidFill>
                  <a:srgbClr val="4A5462"/>
                </a:solidFill>
                <a:latin typeface="Roboto"/>
                <a:cs typeface="Roboto"/>
              </a:rPr>
              <a:t>real-</a:t>
            </a:r>
            <a:r>
              <a:rPr dirty="0" sz="1150" spc="-60">
                <a:solidFill>
                  <a:srgbClr val="4A5462"/>
                </a:solidFill>
                <a:latin typeface="Roboto"/>
                <a:cs typeface="Roboto"/>
              </a:rPr>
              <a:t>time</a:t>
            </a:r>
            <a:r>
              <a:rPr dirty="0" sz="1150" spc="10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1150" spc="-50">
                <a:solidFill>
                  <a:srgbClr val="4A5462"/>
                </a:solidFill>
                <a:latin typeface="Roboto"/>
                <a:cs typeface="Roboto"/>
              </a:rPr>
              <a:t>decision </a:t>
            </a:r>
            <a:r>
              <a:rPr dirty="0" sz="1150" spc="-10">
                <a:solidFill>
                  <a:srgbClr val="4A5462"/>
                </a:solidFill>
                <a:latin typeface="Roboto"/>
                <a:cs typeface="Roboto"/>
              </a:rPr>
              <a:t>making</a:t>
            </a:r>
            <a:endParaRPr sz="1150">
              <a:latin typeface="Roboto"/>
              <a:cs typeface="Roboto"/>
            </a:endParaRPr>
          </a:p>
        </p:txBody>
      </p:sp>
      <p:grpSp>
        <p:nvGrpSpPr>
          <p:cNvPr id="40" name="object 40" descr=""/>
          <p:cNvGrpSpPr/>
          <p:nvPr/>
        </p:nvGrpSpPr>
        <p:grpSpPr>
          <a:xfrm>
            <a:off x="8534399" y="1076324"/>
            <a:ext cx="2438400" cy="1333500"/>
            <a:chOff x="8534399" y="1076324"/>
            <a:chExt cx="2438400" cy="1333500"/>
          </a:xfrm>
        </p:grpSpPr>
        <p:sp>
          <p:nvSpPr>
            <p:cNvPr id="41" name="object 41" descr=""/>
            <p:cNvSpPr/>
            <p:nvPr/>
          </p:nvSpPr>
          <p:spPr>
            <a:xfrm>
              <a:off x="8543924" y="1085849"/>
              <a:ext cx="2419350" cy="1314450"/>
            </a:xfrm>
            <a:custGeom>
              <a:avLst/>
              <a:gdLst/>
              <a:ahLst/>
              <a:cxnLst/>
              <a:rect l="l" t="t" r="r" b="b"/>
              <a:pathLst>
                <a:path w="2419350" h="1314450">
                  <a:moveTo>
                    <a:pt x="2357052" y="1314449"/>
                  </a:moveTo>
                  <a:lnTo>
                    <a:pt x="62296" y="1314449"/>
                  </a:lnTo>
                  <a:lnTo>
                    <a:pt x="57960" y="1314022"/>
                  </a:lnTo>
                  <a:lnTo>
                    <a:pt x="22623" y="1298016"/>
                  </a:lnTo>
                  <a:lnTo>
                    <a:pt x="2134" y="1265076"/>
                  </a:lnTo>
                  <a:lnTo>
                    <a:pt x="0" y="1252152"/>
                  </a:lnTo>
                  <a:lnTo>
                    <a:pt x="0" y="1247774"/>
                  </a:lnTo>
                  <a:lnTo>
                    <a:pt x="0" y="62296"/>
                  </a:lnTo>
                  <a:lnTo>
                    <a:pt x="13667" y="25992"/>
                  </a:lnTo>
                  <a:lnTo>
                    <a:pt x="45203" y="3399"/>
                  </a:lnTo>
                  <a:lnTo>
                    <a:pt x="62296" y="0"/>
                  </a:lnTo>
                  <a:lnTo>
                    <a:pt x="2357052" y="0"/>
                  </a:lnTo>
                  <a:lnTo>
                    <a:pt x="2393357" y="13668"/>
                  </a:lnTo>
                  <a:lnTo>
                    <a:pt x="2415948" y="45204"/>
                  </a:lnTo>
                  <a:lnTo>
                    <a:pt x="2419349" y="62296"/>
                  </a:lnTo>
                  <a:lnTo>
                    <a:pt x="2419349" y="1252152"/>
                  </a:lnTo>
                  <a:lnTo>
                    <a:pt x="2405680" y="1288457"/>
                  </a:lnTo>
                  <a:lnTo>
                    <a:pt x="2374144" y="1311049"/>
                  </a:lnTo>
                  <a:lnTo>
                    <a:pt x="2361386" y="1314022"/>
                  </a:lnTo>
                  <a:lnTo>
                    <a:pt x="2357052" y="1314449"/>
                  </a:lnTo>
                  <a:close/>
                </a:path>
              </a:pathLst>
            </a:custGeom>
            <a:solidFill>
              <a:srgbClr val="F5F2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 descr=""/>
            <p:cNvSpPr/>
            <p:nvPr/>
          </p:nvSpPr>
          <p:spPr>
            <a:xfrm>
              <a:off x="8543924" y="1085849"/>
              <a:ext cx="2419350" cy="1314450"/>
            </a:xfrm>
            <a:custGeom>
              <a:avLst/>
              <a:gdLst/>
              <a:ahLst/>
              <a:cxnLst/>
              <a:rect l="l" t="t" r="r" b="b"/>
              <a:pathLst>
                <a:path w="2419350" h="1314450">
                  <a:moveTo>
                    <a:pt x="0" y="1247774"/>
                  </a:moveTo>
                  <a:lnTo>
                    <a:pt x="0" y="66674"/>
                  </a:lnTo>
                  <a:lnTo>
                    <a:pt x="0" y="62296"/>
                  </a:lnTo>
                  <a:lnTo>
                    <a:pt x="426" y="57961"/>
                  </a:lnTo>
                  <a:lnTo>
                    <a:pt x="1280" y="53667"/>
                  </a:lnTo>
                  <a:lnTo>
                    <a:pt x="2134" y="49373"/>
                  </a:lnTo>
                  <a:lnTo>
                    <a:pt x="3399" y="45203"/>
                  </a:lnTo>
                  <a:lnTo>
                    <a:pt x="5074" y="41159"/>
                  </a:lnTo>
                  <a:lnTo>
                    <a:pt x="6749" y="37114"/>
                  </a:lnTo>
                  <a:lnTo>
                    <a:pt x="8802" y="33272"/>
                  </a:lnTo>
                  <a:lnTo>
                    <a:pt x="11234" y="29632"/>
                  </a:lnTo>
                  <a:lnTo>
                    <a:pt x="13667" y="25992"/>
                  </a:lnTo>
                  <a:lnTo>
                    <a:pt x="16432" y="22624"/>
                  </a:lnTo>
                  <a:lnTo>
                    <a:pt x="19527" y="19528"/>
                  </a:lnTo>
                  <a:lnTo>
                    <a:pt x="22623" y="16432"/>
                  </a:lnTo>
                  <a:lnTo>
                    <a:pt x="41159" y="5075"/>
                  </a:lnTo>
                  <a:lnTo>
                    <a:pt x="45203" y="3399"/>
                  </a:lnTo>
                  <a:lnTo>
                    <a:pt x="49373" y="2135"/>
                  </a:lnTo>
                  <a:lnTo>
                    <a:pt x="53667" y="1281"/>
                  </a:lnTo>
                  <a:lnTo>
                    <a:pt x="57960" y="427"/>
                  </a:lnTo>
                  <a:lnTo>
                    <a:pt x="62296" y="0"/>
                  </a:lnTo>
                  <a:lnTo>
                    <a:pt x="66674" y="0"/>
                  </a:lnTo>
                  <a:lnTo>
                    <a:pt x="2352674" y="0"/>
                  </a:lnTo>
                  <a:lnTo>
                    <a:pt x="2357052" y="0"/>
                  </a:lnTo>
                  <a:lnTo>
                    <a:pt x="2361386" y="427"/>
                  </a:lnTo>
                  <a:lnTo>
                    <a:pt x="2365680" y="1281"/>
                  </a:lnTo>
                  <a:lnTo>
                    <a:pt x="2369974" y="2135"/>
                  </a:lnTo>
                  <a:lnTo>
                    <a:pt x="2374144" y="3399"/>
                  </a:lnTo>
                  <a:lnTo>
                    <a:pt x="2378189" y="5075"/>
                  </a:lnTo>
                  <a:lnTo>
                    <a:pt x="2382234" y="6750"/>
                  </a:lnTo>
                  <a:lnTo>
                    <a:pt x="2408111" y="29632"/>
                  </a:lnTo>
                  <a:lnTo>
                    <a:pt x="2410544" y="33272"/>
                  </a:lnTo>
                  <a:lnTo>
                    <a:pt x="2412597" y="37114"/>
                  </a:lnTo>
                  <a:lnTo>
                    <a:pt x="2414273" y="41159"/>
                  </a:lnTo>
                  <a:lnTo>
                    <a:pt x="2415948" y="45204"/>
                  </a:lnTo>
                  <a:lnTo>
                    <a:pt x="2417212" y="49373"/>
                  </a:lnTo>
                  <a:lnTo>
                    <a:pt x="2418067" y="53667"/>
                  </a:lnTo>
                  <a:lnTo>
                    <a:pt x="2418921" y="57961"/>
                  </a:lnTo>
                  <a:lnTo>
                    <a:pt x="2419349" y="62296"/>
                  </a:lnTo>
                  <a:lnTo>
                    <a:pt x="2419349" y="66674"/>
                  </a:lnTo>
                  <a:lnTo>
                    <a:pt x="2419349" y="1247774"/>
                  </a:lnTo>
                  <a:lnTo>
                    <a:pt x="2419349" y="1252152"/>
                  </a:lnTo>
                  <a:lnTo>
                    <a:pt x="2418921" y="1256488"/>
                  </a:lnTo>
                  <a:lnTo>
                    <a:pt x="2418067" y="1260782"/>
                  </a:lnTo>
                  <a:lnTo>
                    <a:pt x="2417212" y="1265076"/>
                  </a:lnTo>
                  <a:lnTo>
                    <a:pt x="2415948" y="1269245"/>
                  </a:lnTo>
                  <a:lnTo>
                    <a:pt x="2414273" y="1273290"/>
                  </a:lnTo>
                  <a:lnTo>
                    <a:pt x="2412597" y="1277334"/>
                  </a:lnTo>
                  <a:lnTo>
                    <a:pt x="2410544" y="1281177"/>
                  </a:lnTo>
                  <a:lnTo>
                    <a:pt x="2408111" y="1284817"/>
                  </a:lnTo>
                  <a:lnTo>
                    <a:pt x="2405680" y="1288457"/>
                  </a:lnTo>
                  <a:lnTo>
                    <a:pt x="2378189" y="1309374"/>
                  </a:lnTo>
                  <a:lnTo>
                    <a:pt x="2374144" y="1311049"/>
                  </a:lnTo>
                  <a:lnTo>
                    <a:pt x="2369974" y="1312314"/>
                  </a:lnTo>
                  <a:lnTo>
                    <a:pt x="2365680" y="1313168"/>
                  </a:lnTo>
                  <a:lnTo>
                    <a:pt x="2361386" y="1314022"/>
                  </a:lnTo>
                  <a:lnTo>
                    <a:pt x="2357052" y="1314449"/>
                  </a:lnTo>
                  <a:lnTo>
                    <a:pt x="2352674" y="1314449"/>
                  </a:lnTo>
                  <a:lnTo>
                    <a:pt x="66674" y="1314449"/>
                  </a:lnTo>
                  <a:lnTo>
                    <a:pt x="62296" y="1314449"/>
                  </a:lnTo>
                  <a:lnTo>
                    <a:pt x="57960" y="1314022"/>
                  </a:lnTo>
                  <a:lnTo>
                    <a:pt x="53667" y="1313168"/>
                  </a:lnTo>
                  <a:lnTo>
                    <a:pt x="49373" y="1312314"/>
                  </a:lnTo>
                  <a:lnTo>
                    <a:pt x="45203" y="1311049"/>
                  </a:lnTo>
                  <a:lnTo>
                    <a:pt x="41159" y="1309374"/>
                  </a:lnTo>
                  <a:lnTo>
                    <a:pt x="37114" y="1307698"/>
                  </a:lnTo>
                  <a:lnTo>
                    <a:pt x="8802" y="1281177"/>
                  </a:lnTo>
                  <a:lnTo>
                    <a:pt x="1280" y="1260782"/>
                  </a:lnTo>
                  <a:lnTo>
                    <a:pt x="426" y="1256488"/>
                  </a:lnTo>
                  <a:lnTo>
                    <a:pt x="0" y="1252152"/>
                  </a:lnTo>
                  <a:lnTo>
                    <a:pt x="0" y="1247774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3" name="object 43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9667875" y="1247774"/>
              <a:ext cx="171450" cy="228600"/>
            </a:xfrm>
            <a:prstGeom prst="rect">
              <a:avLst/>
            </a:prstGeom>
          </p:spPr>
        </p:pic>
      </p:grpSp>
      <p:sp>
        <p:nvSpPr>
          <p:cNvPr id="44" name="object 44" descr=""/>
          <p:cNvSpPr txBox="1"/>
          <p:nvPr/>
        </p:nvSpPr>
        <p:spPr>
          <a:xfrm>
            <a:off x="8811914" y="1535854"/>
            <a:ext cx="1883410" cy="697865"/>
          </a:xfrm>
          <a:prstGeom prst="rect">
            <a:avLst/>
          </a:prstGeom>
        </p:spPr>
        <p:txBody>
          <a:bodyPr wrap="square" lIns="0" tIns="5461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430"/>
              </a:spcBef>
            </a:pPr>
            <a:r>
              <a:rPr dirty="0" sz="1500" spc="-100" b="1">
                <a:latin typeface="Roboto"/>
                <a:cs typeface="Roboto"/>
              </a:rPr>
              <a:t>Power</a:t>
            </a:r>
            <a:r>
              <a:rPr dirty="0" sz="1500" spc="-5" b="1">
                <a:latin typeface="Roboto"/>
                <a:cs typeface="Roboto"/>
              </a:rPr>
              <a:t> </a:t>
            </a:r>
            <a:r>
              <a:rPr dirty="0" sz="1500" spc="-90" b="1">
                <a:latin typeface="Roboto"/>
                <a:cs typeface="Roboto"/>
              </a:rPr>
              <a:t>Flow</a:t>
            </a:r>
            <a:r>
              <a:rPr dirty="0" sz="1500" b="1">
                <a:latin typeface="Roboto"/>
                <a:cs typeface="Roboto"/>
              </a:rPr>
              <a:t> </a:t>
            </a:r>
            <a:r>
              <a:rPr dirty="0" sz="1500" spc="-10" b="1">
                <a:latin typeface="Roboto"/>
                <a:cs typeface="Roboto"/>
              </a:rPr>
              <a:t>Solver</a:t>
            </a:r>
            <a:endParaRPr sz="1500">
              <a:latin typeface="Roboto"/>
              <a:cs typeface="Roboto"/>
            </a:endParaRPr>
          </a:p>
          <a:p>
            <a:pPr algn="ctr" marL="12700" marR="5080">
              <a:lnSpc>
                <a:spcPct val="108700"/>
              </a:lnSpc>
              <a:spcBef>
                <a:spcPts val="155"/>
              </a:spcBef>
            </a:pPr>
            <a:r>
              <a:rPr dirty="0" sz="1150" spc="-60">
                <a:solidFill>
                  <a:srgbClr val="4A5462"/>
                </a:solidFill>
                <a:latin typeface="Roboto"/>
                <a:cs typeface="Roboto"/>
              </a:rPr>
              <a:t>Three-</a:t>
            </a:r>
            <a:r>
              <a:rPr dirty="0" sz="1150" spc="-65">
                <a:solidFill>
                  <a:srgbClr val="4A5462"/>
                </a:solidFill>
                <a:latin typeface="Roboto"/>
                <a:cs typeface="Roboto"/>
              </a:rPr>
              <a:t>phase</a:t>
            </a:r>
            <a:r>
              <a:rPr dirty="0" sz="1150" spc="30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1150" spc="-55">
                <a:solidFill>
                  <a:srgbClr val="4A5462"/>
                </a:solidFill>
                <a:latin typeface="Roboto"/>
                <a:cs typeface="Roboto"/>
              </a:rPr>
              <a:t>unbalanced</a:t>
            </a:r>
            <a:r>
              <a:rPr dirty="0" sz="1150" spc="30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1150" spc="-65">
                <a:solidFill>
                  <a:srgbClr val="4A5462"/>
                </a:solidFill>
                <a:latin typeface="Roboto"/>
                <a:cs typeface="Roboto"/>
              </a:rPr>
              <a:t>power </a:t>
            </a:r>
            <a:r>
              <a:rPr dirty="0" sz="1150" spc="-60">
                <a:solidFill>
                  <a:srgbClr val="4A5462"/>
                </a:solidFill>
                <a:latin typeface="Roboto"/>
                <a:cs typeface="Roboto"/>
              </a:rPr>
              <a:t>flow</a:t>
            </a:r>
            <a:r>
              <a:rPr dirty="0" sz="1150" spc="-5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1150" spc="-10">
                <a:solidFill>
                  <a:srgbClr val="4A5462"/>
                </a:solidFill>
                <a:latin typeface="Roboto"/>
                <a:cs typeface="Roboto"/>
              </a:rPr>
              <a:t>calculation</a:t>
            </a:r>
            <a:endParaRPr sz="1150">
              <a:latin typeface="Roboto"/>
              <a:cs typeface="Roboto"/>
            </a:endParaRPr>
          </a:p>
        </p:txBody>
      </p:sp>
      <p:grpSp>
        <p:nvGrpSpPr>
          <p:cNvPr id="45" name="object 45" descr=""/>
          <p:cNvGrpSpPr/>
          <p:nvPr/>
        </p:nvGrpSpPr>
        <p:grpSpPr>
          <a:xfrm>
            <a:off x="8534399" y="1876424"/>
            <a:ext cx="2438400" cy="1333500"/>
            <a:chOff x="8534399" y="1876424"/>
            <a:chExt cx="2438400" cy="1333500"/>
          </a:xfrm>
        </p:grpSpPr>
        <p:sp>
          <p:nvSpPr>
            <p:cNvPr id="46" name="object 46" descr=""/>
            <p:cNvSpPr/>
            <p:nvPr/>
          </p:nvSpPr>
          <p:spPr>
            <a:xfrm>
              <a:off x="8543924" y="1885949"/>
              <a:ext cx="2419350" cy="1314450"/>
            </a:xfrm>
            <a:custGeom>
              <a:avLst/>
              <a:gdLst/>
              <a:ahLst/>
              <a:cxnLst/>
              <a:rect l="l" t="t" r="r" b="b"/>
              <a:pathLst>
                <a:path w="2419350" h="1314450">
                  <a:moveTo>
                    <a:pt x="2357052" y="1314449"/>
                  </a:moveTo>
                  <a:lnTo>
                    <a:pt x="62296" y="1314449"/>
                  </a:lnTo>
                  <a:lnTo>
                    <a:pt x="57960" y="1314022"/>
                  </a:lnTo>
                  <a:lnTo>
                    <a:pt x="22623" y="1298016"/>
                  </a:lnTo>
                  <a:lnTo>
                    <a:pt x="2134" y="1265075"/>
                  </a:lnTo>
                  <a:lnTo>
                    <a:pt x="0" y="1252152"/>
                  </a:lnTo>
                  <a:lnTo>
                    <a:pt x="0" y="1247774"/>
                  </a:lnTo>
                  <a:lnTo>
                    <a:pt x="0" y="62296"/>
                  </a:lnTo>
                  <a:lnTo>
                    <a:pt x="13667" y="25992"/>
                  </a:lnTo>
                  <a:lnTo>
                    <a:pt x="45203" y="3399"/>
                  </a:lnTo>
                  <a:lnTo>
                    <a:pt x="62296" y="0"/>
                  </a:lnTo>
                  <a:lnTo>
                    <a:pt x="2357052" y="0"/>
                  </a:lnTo>
                  <a:lnTo>
                    <a:pt x="2393357" y="13668"/>
                  </a:lnTo>
                  <a:lnTo>
                    <a:pt x="2415948" y="45204"/>
                  </a:lnTo>
                  <a:lnTo>
                    <a:pt x="2419349" y="62296"/>
                  </a:lnTo>
                  <a:lnTo>
                    <a:pt x="2419349" y="1252152"/>
                  </a:lnTo>
                  <a:lnTo>
                    <a:pt x="2405680" y="1288457"/>
                  </a:lnTo>
                  <a:lnTo>
                    <a:pt x="2374144" y="1311049"/>
                  </a:lnTo>
                  <a:lnTo>
                    <a:pt x="2361386" y="1314022"/>
                  </a:lnTo>
                  <a:lnTo>
                    <a:pt x="2357052" y="1314449"/>
                  </a:lnTo>
                  <a:close/>
                </a:path>
              </a:pathLst>
            </a:custGeom>
            <a:solidFill>
              <a:srgbClr val="ECFDF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 descr=""/>
            <p:cNvSpPr/>
            <p:nvPr/>
          </p:nvSpPr>
          <p:spPr>
            <a:xfrm>
              <a:off x="8543924" y="1885949"/>
              <a:ext cx="2419350" cy="1314450"/>
            </a:xfrm>
            <a:custGeom>
              <a:avLst/>
              <a:gdLst/>
              <a:ahLst/>
              <a:cxnLst/>
              <a:rect l="l" t="t" r="r" b="b"/>
              <a:pathLst>
                <a:path w="2419350" h="1314450">
                  <a:moveTo>
                    <a:pt x="0" y="1247774"/>
                  </a:moveTo>
                  <a:lnTo>
                    <a:pt x="0" y="66674"/>
                  </a:lnTo>
                  <a:lnTo>
                    <a:pt x="0" y="62296"/>
                  </a:lnTo>
                  <a:lnTo>
                    <a:pt x="426" y="57960"/>
                  </a:lnTo>
                  <a:lnTo>
                    <a:pt x="1280" y="53667"/>
                  </a:lnTo>
                  <a:lnTo>
                    <a:pt x="2134" y="49373"/>
                  </a:lnTo>
                  <a:lnTo>
                    <a:pt x="3399" y="45204"/>
                  </a:lnTo>
                  <a:lnTo>
                    <a:pt x="5074" y="41159"/>
                  </a:lnTo>
                  <a:lnTo>
                    <a:pt x="6749" y="37114"/>
                  </a:lnTo>
                  <a:lnTo>
                    <a:pt x="8802" y="33272"/>
                  </a:lnTo>
                  <a:lnTo>
                    <a:pt x="11234" y="29632"/>
                  </a:lnTo>
                  <a:lnTo>
                    <a:pt x="13667" y="25992"/>
                  </a:lnTo>
                  <a:lnTo>
                    <a:pt x="16432" y="22624"/>
                  </a:lnTo>
                  <a:lnTo>
                    <a:pt x="19527" y="19528"/>
                  </a:lnTo>
                  <a:lnTo>
                    <a:pt x="22623" y="16432"/>
                  </a:lnTo>
                  <a:lnTo>
                    <a:pt x="53667" y="1281"/>
                  </a:lnTo>
                  <a:lnTo>
                    <a:pt x="57960" y="427"/>
                  </a:lnTo>
                  <a:lnTo>
                    <a:pt x="62296" y="0"/>
                  </a:lnTo>
                  <a:lnTo>
                    <a:pt x="66674" y="0"/>
                  </a:lnTo>
                  <a:lnTo>
                    <a:pt x="2352674" y="0"/>
                  </a:lnTo>
                  <a:lnTo>
                    <a:pt x="2357052" y="0"/>
                  </a:lnTo>
                  <a:lnTo>
                    <a:pt x="2361386" y="427"/>
                  </a:lnTo>
                  <a:lnTo>
                    <a:pt x="2365680" y="1281"/>
                  </a:lnTo>
                  <a:lnTo>
                    <a:pt x="2369974" y="2135"/>
                  </a:lnTo>
                  <a:lnTo>
                    <a:pt x="2399820" y="19528"/>
                  </a:lnTo>
                  <a:lnTo>
                    <a:pt x="2402916" y="22624"/>
                  </a:lnTo>
                  <a:lnTo>
                    <a:pt x="2405680" y="25992"/>
                  </a:lnTo>
                  <a:lnTo>
                    <a:pt x="2408111" y="29632"/>
                  </a:lnTo>
                  <a:lnTo>
                    <a:pt x="2410544" y="33272"/>
                  </a:lnTo>
                  <a:lnTo>
                    <a:pt x="2412597" y="37114"/>
                  </a:lnTo>
                  <a:lnTo>
                    <a:pt x="2414273" y="41159"/>
                  </a:lnTo>
                  <a:lnTo>
                    <a:pt x="2415948" y="45204"/>
                  </a:lnTo>
                  <a:lnTo>
                    <a:pt x="2417212" y="49373"/>
                  </a:lnTo>
                  <a:lnTo>
                    <a:pt x="2418067" y="53667"/>
                  </a:lnTo>
                  <a:lnTo>
                    <a:pt x="2418921" y="57960"/>
                  </a:lnTo>
                  <a:lnTo>
                    <a:pt x="2419349" y="62296"/>
                  </a:lnTo>
                  <a:lnTo>
                    <a:pt x="2419349" y="66674"/>
                  </a:lnTo>
                  <a:lnTo>
                    <a:pt x="2419349" y="1247774"/>
                  </a:lnTo>
                  <a:lnTo>
                    <a:pt x="2419349" y="1252152"/>
                  </a:lnTo>
                  <a:lnTo>
                    <a:pt x="2418921" y="1256488"/>
                  </a:lnTo>
                  <a:lnTo>
                    <a:pt x="2408111" y="1284817"/>
                  </a:lnTo>
                  <a:lnTo>
                    <a:pt x="2405680" y="1288457"/>
                  </a:lnTo>
                  <a:lnTo>
                    <a:pt x="2378189" y="1309373"/>
                  </a:lnTo>
                  <a:lnTo>
                    <a:pt x="2374144" y="1311049"/>
                  </a:lnTo>
                  <a:lnTo>
                    <a:pt x="2369974" y="1312314"/>
                  </a:lnTo>
                  <a:lnTo>
                    <a:pt x="2365680" y="1313168"/>
                  </a:lnTo>
                  <a:lnTo>
                    <a:pt x="2361386" y="1314022"/>
                  </a:lnTo>
                  <a:lnTo>
                    <a:pt x="2357052" y="1314449"/>
                  </a:lnTo>
                  <a:lnTo>
                    <a:pt x="2352674" y="1314449"/>
                  </a:lnTo>
                  <a:lnTo>
                    <a:pt x="66674" y="1314449"/>
                  </a:lnTo>
                  <a:lnTo>
                    <a:pt x="62296" y="1314449"/>
                  </a:lnTo>
                  <a:lnTo>
                    <a:pt x="57960" y="1314022"/>
                  </a:lnTo>
                  <a:lnTo>
                    <a:pt x="53667" y="1313168"/>
                  </a:lnTo>
                  <a:lnTo>
                    <a:pt x="49373" y="1312314"/>
                  </a:lnTo>
                  <a:lnTo>
                    <a:pt x="45203" y="1311049"/>
                  </a:lnTo>
                  <a:lnTo>
                    <a:pt x="41159" y="1309373"/>
                  </a:lnTo>
                  <a:lnTo>
                    <a:pt x="37114" y="1307698"/>
                  </a:lnTo>
                  <a:lnTo>
                    <a:pt x="8802" y="1281176"/>
                  </a:lnTo>
                  <a:lnTo>
                    <a:pt x="0" y="1252152"/>
                  </a:lnTo>
                  <a:lnTo>
                    <a:pt x="0" y="1247774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8" name="object 48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9658350" y="2047874"/>
              <a:ext cx="200025" cy="228600"/>
            </a:xfrm>
            <a:prstGeom prst="rect">
              <a:avLst/>
            </a:prstGeom>
          </p:spPr>
        </p:pic>
      </p:grpSp>
      <p:sp>
        <p:nvSpPr>
          <p:cNvPr id="49" name="object 49" descr=""/>
          <p:cNvSpPr txBox="1"/>
          <p:nvPr/>
        </p:nvSpPr>
        <p:spPr>
          <a:xfrm>
            <a:off x="8764885" y="2377836"/>
            <a:ext cx="1977389" cy="2546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80" b="1">
                <a:latin typeface="Roboto"/>
                <a:cs typeface="Roboto"/>
              </a:rPr>
              <a:t>Metaheuristic</a:t>
            </a:r>
            <a:r>
              <a:rPr dirty="0" sz="1500" spc="60" b="1">
                <a:latin typeface="Roboto"/>
                <a:cs typeface="Roboto"/>
              </a:rPr>
              <a:t> </a:t>
            </a:r>
            <a:r>
              <a:rPr dirty="0" sz="1500" spc="-75" b="1">
                <a:latin typeface="Roboto"/>
                <a:cs typeface="Roboto"/>
              </a:rPr>
              <a:t>Fine-</a:t>
            </a:r>
            <a:r>
              <a:rPr dirty="0" sz="1500" spc="-85" b="1">
                <a:latin typeface="Roboto"/>
                <a:cs typeface="Roboto"/>
              </a:rPr>
              <a:t>Tuner</a:t>
            </a:r>
            <a:endParaRPr sz="1500">
              <a:latin typeface="Roboto"/>
              <a:cs typeface="Roboto"/>
            </a:endParaRPr>
          </a:p>
        </p:txBody>
      </p:sp>
      <p:sp>
        <p:nvSpPr>
          <p:cNvPr id="50" name="object 50" descr=""/>
          <p:cNvSpPr txBox="1"/>
          <p:nvPr/>
        </p:nvSpPr>
        <p:spPr>
          <a:xfrm>
            <a:off x="8852247" y="2626820"/>
            <a:ext cx="1802764" cy="4064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582295" marR="5080" indent="-570230">
              <a:lnSpc>
                <a:spcPct val="108700"/>
              </a:lnSpc>
              <a:spcBef>
                <a:spcPts val="95"/>
              </a:spcBef>
            </a:pPr>
            <a:r>
              <a:rPr dirty="0" sz="1150" spc="-50">
                <a:solidFill>
                  <a:srgbClr val="4A5462"/>
                </a:solidFill>
                <a:latin typeface="Roboto"/>
                <a:cs typeface="Roboto"/>
              </a:rPr>
              <a:t>Genetic</a:t>
            </a:r>
            <a:r>
              <a:rPr dirty="0" sz="1150" spc="5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1150" spc="-60">
                <a:solidFill>
                  <a:srgbClr val="4A5462"/>
                </a:solidFill>
                <a:latin typeface="Roboto"/>
                <a:cs typeface="Roboto"/>
              </a:rPr>
              <a:t>Algorithm</a:t>
            </a:r>
            <a:r>
              <a:rPr dirty="0" sz="1150" spc="10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1150" spc="-45">
                <a:solidFill>
                  <a:srgbClr val="4A5462"/>
                </a:solidFill>
                <a:latin typeface="Roboto"/>
                <a:cs typeface="Roboto"/>
              </a:rPr>
              <a:t>for</a:t>
            </a:r>
            <a:r>
              <a:rPr dirty="0" sz="1150" spc="10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1150" spc="-50">
                <a:solidFill>
                  <a:srgbClr val="4A5462"/>
                </a:solidFill>
                <a:latin typeface="Roboto"/>
                <a:cs typeface="Roboto"/>
              </a:rPr>
              <a:t>solution </a:t>
            </a:r>
            <a:r>
              <a:rPr dirty="0" sz="1150" spc="-10">
                <a:solidFill>
                  <a:srgbClr val="4A5462"/>
                </a:solidFill>
                <a:latin typeface="Roboto"/>
                <a:cs typeface="Roboto"/>
              </a:rPr>
              <a:t>refinement</a:t>
            </a:r>
            <a:endParaRPr sz="1150">
              <a:latin typeface="Roboto"/>
              <a:cs typeface="Roboto"/>
            </a:endParaRPr>
          </a:p>
        </p:txBody>
      </p:sp>
      <p:grpSp>
        <p:nvGrpSpPr>
          <p:cNvPr id="51" name="object 51" descr=""/>
          <p:cNvGrpSpPr/>
          <p:nvPr/>
        </p:nvGrpSpPr>
        <p:grpSpPr>
          <a:xfrm>
            <a:off x="3952874" y="476249"/>
            <a:ext cx="8048625" cy="6648450"/>
            <a:chOff x="3952874" y="476249"/>
            <a:chExt cx="8048625" cy="6648450"/>
          </a:xfrm>
        </p:grpSpPr>
        <p:sp>
          <p:nvSpPr>
            <p:cNvPr id="52" name="object 52" descr=""/>
            <p:cNvSpPr/>
            <p:nvPr/>
          </p:nvSpPr>
          <p:spPr>
            <a:xfrm>
              <a:off x="3990974" y="933449"/>
              <a:ext cx="19050" cy="1524000"/>
            </a:xfrm>
            <a:custGeom>
              <a:avLst/>
              <a:gdLst/>
              <a:ahLst/>
              <a:cxnLst/>
              <a:rect l="l" t="t" r="r" b="b"/>
              <a:pathLst>
                <a:path w="19050" h="1524000">
                  <a:moveTo>
                    <a:pt x="0" y="1523999"/>
                  </a:moveTo>
                  <a:lnTo>
                    <a:pt x="0" y="0"/>
                  </a:lnTo>
                  <a:lnTo>
                    <a:pt x="19049" y="0"/>
                  </a:lnTo>
                  <a:lnTo>
                    <a:pt x="19049" y="1523999"/>
                  </a:lnTo>
                  <a:lnTo>
                    <a:pt x="0" y="1523999"/>
                  </a:lnTo>
                  <a:close/>
                </a:path>
              </a:pathLst>
            </a:custGeom>
            <a:solidFill>
              <a:srgbClr val="60A5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 descr=""/>
            <p:cNvSpPr/>
            <p:nvPr/>
          </p:nvSpPr>
          <p:spPr>
            <a:xfrm>
              <a:off x="3952874" y="2381249"/>
              <a:ext cx="95250" cy="76200"/>
            </a:xfrm>
            <a:custGeom>
              <a:avLst/>
              <a:gdLst/>
              <a:ahLst/>
              <a:cxnLst/>
              <a:rect l="l" t="t" r="r" b="b"/>
              <a:pathLst>
                <a:path w="95250" h="76200">
                  <a:moveTo>
                    <a:pt x="0" y="0"/>
                  </a:moveTo>
                  <a:lnTo>
                    <a:pt x="95249" y="0"/>
                  </a:lnTo>
                  <a:lnTo>
                    <a:pt x="47624" y="7619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4" name="object 54" descr=""/>
            <p:cNvSpPr/>
            <p:nvPr/>
          </p:nvSpPr>
          <p:spPr>
            <a:xfrm>
              <a:off x="6191249" y="1228724"/>
              <a:ext cx="1524000" cy="19050"/>
            </a:xfrm>
            <a:custGeom>
              <a:avLst/>
              <a:gdLst/>
              <a:ahLst/>
              <a:cxnLst/>
              <a:rect l="l" t="t" r="r" b="b"/>
              <a:pathLst>
                <a:path w="1524000" h="19050">
                  <a:moveTo>
                    <a:pt x="1523999" y="19049"/>
                  </a:moveTo>
                  <a:lnTo>
                    <a:pt x="0" y="19049"/>
                  </a:lnTo>
                  <a:lnTo>
                    <a:pt x="0" y="0"/>
                  </a:lnTo>
                  <a:lnTo>
                    <a:pt x="1523999" y="0"/>
                  </a:lnTo>
                  <a:lnTo>
                    <a:pt x="1523999" y="19049"/>
                  </a:lnTo>
                  <a:close/>
                </a:path>
              </a:pathLst>
            </a:custGeom>
            <a:solidFill>
              <a:srgbClr val="60A5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5" name="object 55" descr=""/>
            <p:cNvSpPr/>
            <p:nvPr/>
          </p:nvSpPr>
          <p:spPr>
            <a:xfrm>
              <a:off x="7639048" y="1190624"/>
              <a:ext cx="76200" cy="95250"/>
            </a:xfrm>
            <a:custGeom>
              <a:avLst/>
              <a:gdLst/>
              <a:ahLst/>
              <a:cxnLst/>
              <a:rect l="l" t="t" r="r" b="b"/>
              <a:pathLst>
                <a:path w="76200" h="95250">
                  <a:moveTo>
                    <a:pt x="0" y="95249"/>
                  </a:moveTo>
                  <a:lnTo>
                    <a:pt x="0" y="0"/>
                  </a:lnTo>
                  <a:lnTo>
                    <a:pt x="76199" y="47624"/>
                  </a:lnTo>
                  <a:lnTo>
                    <a:pt x="0" y="9524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6" name="object 56" descr=""/>
            <p:cNvSpPr/>
            <p:nvPr/>
          </p:nvSpPr>
          <p:spPr>
            <a:xfrm>
              <a:off x="8791574" y="1714499"/>
              <a:ext cx="19050" cy="1219200"/>
            </a:xfrm>
            <a:custGeom>
              <a:avLst/>
              <a:gdLst/>
              <a:ahLst/>
              <a:cxnLst/>
              <a:rect l="l" t="t" r="r" b="b"/>
              <a:pathLst>
                <a:path w="19050" h="1219200">
                  <a:moveTo>
                    <a:pt x="0" y="1219199"/>
                  </a:moveTo>
                  <a:lnTo>
                    <a:pt x="0" y="0"/>
                  </a:lnTo>
                  <a:lnTo>
                    <a:pt x="19049" y="0"/>
                  </a:lnTo>
                  <a:lnTo>
                    <a:pt x="19049" y="1219199"/>
                  </a:lnTo>
                  <a:lnTo>
                    <a:pt x="0" y="1219199"/>
                  </a:lnTo>
                  <a:close/>
                </a:path>
              </a:pathLst>
            </a:custGeom>
            <a:solidFill>
              <a:srgbClr val="0FB98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 descr=""/>
            <p:cNvSpPr/>
            <p:nvPr/>
          </p:nvSpPr>
          <p:spPr>
            <a:xfrm>
              <a:off x="8753474" y="2857499"/>
              <a:ext cx="95250" cy="76200"/>
            </a:xfrm>
            <a:custGeom>
              <a:avLst/>
              <a:gdLst/>
              <a:ahLst/>
              <a:cxnLst/>
              <a:rect l="l" t="t" r="r" b="b"/>
              <a:pathLst>
                <a:path w="95250" h="76200">
                  <a:moveTo>
                    <a:pt x="0" y="0"/>
                  </a:moveTo>
                  <a:lnTo>
                    <a:pt x="95249" y="0"/>
                  </a:lnTo>
                  <a:lnTo>
                    <a:pt x="47624" y="7619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8" name="object 58" descr=""/>
            <p:cNvSpPr/>
            <p:nvPr/>
          </p:nvSpPr>
          <p:spPr>
            <a:xfrm>
              <a:off x="6657974" y="476249"/>
              <a:ext cx="19050" cy="1524000"/>
            </a:xfrm>
            <a:custGeom>
              <a:avLst/>
              <a:gdLst/>
              <a:ahLst/>
              <a:cxnLst/>
              <a:rect l="l" t="t" r="r" b="b"/>
              <a:pathLst>
                <a:path w="19050" h="1524000">
                  <a:moveTo>
                    <a:pt x="0" y="1523999"/>
                  </a:moveTo>
                  <a:lnTo>
                    <a:pt x="0" y="0"/>
                  </a:lnTo>
                  <a:lnTo>
                    <a:pt x="19049" y="0"/>
                  </a:lnTo>
                  <a:lnTo>
                    <a:pt x="19049" y="1523999"/>
                  </a:lnTo>
                  <a:lnTo>
                    <a:pt x="0" y="1523999"/>
                  </a:lnTo>
                  <a:close/>
                </a:path>
              </a:pathLst>
            </a:custGeom>
            <a:solidFill>
              <a:srgbClr val="A68B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9" name="object 59" descr=""/>
            <p:cNvSpPr/>
            <p:nvPr/>
          </p:nvSpPr>
          <p:spPr>
            <a:xfrm>
              <a:off x="6619874" y="1924049"/>
              <a:ext cx="95250" cy="76200"/>
            </a:xfrm>
            <a:custGeom>
              <a:avLst/>
              <a:gdLst/>
              <a:ahLst/>
              <a:cxnLst/>
              <a:rect l="l" t="t" r="r" b="b"/>
              <a:pathLst>
                <a:path w="95250" h="76200">
                  <a:moveTo>
                    <a:pt x="0" y="0"/>
                  </a:moveTo>
                  <a:lnTo>
                    <a:pt x="95249" y="0"/>
                  </a:lnTo>
                  <a:lnTo>
                    <a:pt x="47624" y="7619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0" name="object 60" descr=""/>
            <p:cNvSpPr/>
            <p:nvPr/>
          </p:nvSpPr>
          <p:spPr>
            <a:xfrm>
              <a:off x="6000749" y="2314574"/>
              <a:ext cx="1524000" cy="19050"/>
            </a:xfrm>
            <a:custGeom>
              <a:avLst/>
              <a:gdLst/>
              <a:ahLst/>
              <a:cxnLst/>
              <a:rect l="l" t="t" r="r" b="b"/>
              <a:pathLst>
                <a:path w="1524000" h="19050">
                  <a:moveTo>
                    <a:pt x="0" y="0"/>
                  </a:moveTo>
                  <a:lnTo>
                    <a:pt x="1523999" y="0"/>
                  </a:lnTo>
                  <a:lnTo>
                    <a:pt x="1523999" y="19049"/>
                  </a:lnTo>
                  <a:lnTo>
                    <a:pt x="0" y="1904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68B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1" name="object 61" descr=""/>
            <p:cNvSpPr/>
            <p:nvPr/>
          </p:nvSpPr>
          <p:spPr>
            <a:xfrm>
              <a:off x="6000749" y="2276474"/>
              <a:ext cx="76200" cy="95250"/>
            </a:xfrm>
            <a:custGeom>
              <a:avLst/>
              <a:gdLst/>
              <a:ahLst/>
              <a:cxnLst/>
              <a:rect l="l" t="t" r="r" b="b"/>
              <a:pathLst>
                <a:path w="76200" h="95250">
                  <a:moveTo>
                    <a:pt x="76199" y="0"/>
                  </a:moveTo>
                  <a:lnTo>
                    <a:pt x="76199" y="95249"/>
                  </a:lnTo>
                  <a:lnTo>
                    <a:pt x="0" y="47624"/>
                  </a:lnTo>
                  <a:lnTo>
                    <a:pt x="7619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2" name="object 62" descr=""/>
            <p:cNvSpPr/>
            <p:nvPr/>
          </p:nvSpPr>
          <p:spPr>
            <a:xfrm>
              <a:off x="10544174" y="6800849"/>
              <a:ext cx="1457325" cy="323850"/>
            </a:xfrm>
            <a:custGeom>
              <a:avLst/>
              <a:gdLst/>
              <a:ahLst/>
              <a:cxnLst/>
              <a:rect l="l" t="t" r="r" b="b"/>
              <a:pathLst>
                <a:path w="1457325" h="323850">
                  <a:moveTo>
                    <a:pt x="1424277" y="323849"/>
                  </a:moveTo>
                  <a:lnTo>
                    <a:pt x="33047" y="323849"/>
                  </a:lnTo>
                  <a:lnTo>
                    <a:pt x="28187" y="322883"/>
                  </a:lnTo>
                  <a:lnTo>
                    <a:pt x="966" y="295662"/>
                  </a:lnTo>
                  <a:lnTo>
                    <a:pt x="0" y="290802"/>
                  </a:lnTo>
                  <a:lnTo>
                    <a:pt x="0" y="285749"/>
                  </a:lnTo>
                  <a:lnTo>
                    <a:pt x="0" y="33047"/>
                  </a:lnTo>
                  <a:lnTo>
                    <a:pt x="28187" y="966"/>
                  </a:lnTo>
                  <a:lnTo>
                    <a:pt x="33047" y="0"/>
                  </a:lnTo>
                  <a:lnTo>
                    <a:pt x="1424277" y="0"/>
                  </a:lnTo>
                  <a:lnTo>
                    <a:pt x="1456357" y="28187"/>
                  </a:lnTo>
                  <a:lnTo>
                    <a:pt x="1457324" y="33047"/>
                  </a:lnTo>
                  <a:lnTo>
                    <a:pt x="1457324" y="290802"/>
                  </a:lnTo>
                  <a:lnTo>
                    <a:pt x="1429137" y="322883"/>
                  </a:lnTo>
                  <a:lnTo>
                    <a:pt x="1424277" y="323849"/>
                  </a:lnTo>
                  <a:close/>
                </a:path>
              </a:pathLst>
            </a:custGeom>
            <a:solidFill>
              <a:srgbClr val="33333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3" name="object 63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0658474" y="6896099"/>
              <a:ext cx="133349" cy="133349"/>
            </a:xfrm>
            <a:prstGeom prst="rect">
              <a:avLst/>
            </a:prstGeom>
          </p:spPr>
        </p:pic>
      </p:grpSp>
      <p:sp>
        <p:nvSpPr>
          <p:cNvPr id="64" name="object 64" descr=""/>
          <p:cNvSpPr txBox="1"/>
          <p:nvPr/>
        </p:nvSpPr>
        <p:spPr>
          <a:xfrm>
            <a:off x="520700" y="6886795"/>
            <a:ext cx="2289175" cy="15557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30"/>
              </a:lnSpc>
            </a:pPr>
            <a:r>
              <a:rPr dirty="0" sz="1150" spc="-60">
                <a:solidFill>
                  <a:srgbClr val="6A7280"/>
                </a:solidFill>
                <a:latin typeface="Roboto"/>
                <a:cs typeface="Roboto"/>
              </a:rPr>
              <a:t>IEEE</a:t>
            </a:r>
            <a:r>
              <a:rPr dirty="0" sz="1150">
                <a:solidFill>
                  <a:srgbClr val="6A7280"/>
                </a:solidFill>
                <a:latin typeface="Roboto"/>
                <a:cs typeface="Roboto"/>
              </a:rPr>
              <a:t> </a:t>
            </a:r>
            <a:r>
              <a:rPr dirty="0" sz="1150" spc="-70">
                <a:solidFill>
                  <a:srgbClr val="6A7280"/>
                </a:solidFill>
                <a:latin typeface="Roboto"/>
                <a:cs typeface="Roboto"/>
              </a:rPr>
              <a:t>Power</a:t>
            </a:r>
            <a:r>
              <a:rPr dirty="0" sz="1150" spc="5">
                <a:solidFill>
                  <a:srgbClr val="6A7280"/>
                </a:solidFill>
                <a:latin typeface="Roboto"/>
                <a:cs typeface="Roboto"/>
              </a:rPr>
              <a:t> </a:t>
            </a:r>
            <a:r>
              <a:rPr dirty="0" sz="1150" spc="-60">
                <a:solidFill>
                  <a:srgbClr val="6A7280"/>
                </a:solidFill>
                <a:latin typeface="Roboto"/>
                <a:cs typeface="Roboto"/>
              </a:rPr>
              <a:t>Systems</a:t>
            </a:r>
            <a:r>
              <a:rPr dirty="0" sz="1150">
                <a:solidFill>
                  <a:srgbClr val="6A7280"/>
                </a:solidFill>
                <a:latin typeface="Roboto"/>
                <a:cs typeface="Roboto"/>
              </a:rPr>
              <a:t> </a:t>
            </a:r>
            <a:r>
              <a:rPr dirty="0" sz="1150" spc="-60">
                <a:solidFill>
                  <a:srgbClr val="6A7280"/>
                </a:solidFill>
                <a:latin typeface="Roboto"/>
                <a:cs typeface="Roboto"/>
              </a:rPr>
              <a:t>Conference</a:t>
            </a:r>
            <a:r>
              <a:rPr dirty="0" sz="1150" spc="5">
                <a:solidFill>
                  <a:srgbClr val="6A7280"/>
                </a:solidFill>
                <a:latin typeface="Roboto"/>
                <a:cs typeface="Roboto"/>
              </a:rPr>
              <a:t> </a:t>
            </a:r>
            <a:r>
              <a:rPr dirty="0" sz="1150" spc="-30">
                <a:solidFill>
                  <a:srgbClr val="6A7280"/>
                </a:solidFill>
                <a:latin typeface="Roboto"/>
                <a:cs typeface="Roboto"/>
              </a:rPr>
              <a:t>2023</a:t>
            </a:r>
            <a:endParaRPr sz="1150">
              <a:latin typeface="Roboto"/>
              <a:cs typeface="Roboto"/>
            </a:endParaRPr>
          </a:p>
        </p:txBody>
      </p:sp>
      <p:sp>
        <p:nvSpPr>
          <p:cNvPr id="65" name="object 6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95250" rIns="0" bIns="0" rtlCol="0" vert="horz">
            <a:spAutoFit/>
          </a:bodyPr>
          <a:lstStyle/>
          <a:p>
            <a:pPr marL="12700">
              <a:lnSpc>
                <a:spcPts val="1130"/>
              </a:lnSpc>
            </a:pPr>
            <a:r>
              <a:rPr dirty="0" spc="-55"/>
              <a:t>Ma</a:t>
            </a:r>
            <a:r>
              <a:rPr dirty="0" spc="-204"/>
              <a:t>d</a:t>
            </a:r>
            <a:r>
              <a:rPr dirty="0" sz="1150" spc="-600">
                <a:solidFill>
                  <a:srgbClr val="6A7280"/>
                </a:solidFill>
              </a:rPr>
              <a:t>S</a:t>
            </a:r>
            <a:r>
              <a:rPr dirty="0" spc="-40"/>
              <a:t>e</a:t>
            </a:r>
            <a:r>
              <a:rPr dirty="0" sz="1150" spc="-110">
                <a:solidFill>
                  <a:srgbClr val="6A7280"/>
                </a:solidFill>
              </a:rPr>
              <a:t>l</a:t>
            </a:r>
            <a:r>
              <a:rPr dirty="0" spc="-755"/>
              <a:t>w</a:t>
            </a:r>
            <a:r>
              <a:rPr dirty="0" sz="1150" spc="-55">
                <a:solidFill>
                  <a:srgbClr val="6A7280"/>
                </a:solidFill>
              </a:rPr>
              <a:t>i</a:t>
            </a:r>
            <a:r>
              <a:rPr dirty="0" sz="1150" spc="-300">
                <a:solidFill>
                  <a:srgbClr val="6A7280"/>
                </a:solidFill>
              </a:rPr>
              <a:t>d</a:t>
            </a:r>
            <a:r>
              <a:rPr dirty="0" spc="-55"/>
              <a:t>i</a:t>
            </a:r>
            <a:r>
              <a:rPr dirty="0" spc="-395"/>
              <a:t>t</a:t>
            </a:r>
            <a:r>
              <a:rPr dirty="0" sz="1150" spc="-350">
                <a:solidFill>
                  <a:srgbClr val="6A7280"/>
                </a:solidFill>
              </a:rPr>
              <a:t>e</a:t>
            </a:r>
            <a:r>
              <a:rPr dirty="0" spc="-30"/>
              <a:t>h</a:t>
            </a:r>
            <a:fld id="{81D60167-4931-47E6-BA6A-407CBD079E47}" type="slidenum">
              <a:rPr dirty="0" sz="1150" spc="-55">
                <a:solidFill>
                  <a:srgbClr val="6A7280"/>
                </a:solidFill>
              </a:rPr>
              <a:t>6</a:t>
            </a:fld>
            <a:r>
              <a:rPr dirty="0" spc="-300"/>
              <a:t>G</a:t>
            </a:r>
            <a:r>
              <a:rPr dirty="0" sz="1150" spc="-300">
                <a:solidFill>
                  <a:srgbClr val="6A7280"/>
                </a:solidFill>
              </a:rPr>
              <a:t>/</a:t>
            </a:r>
            <a:r>
              <a:rPr dirty="0" spc="-350"/>
              <a:t>e</a:t>
            </a:r>
            <a:r>
              <a:rPr dirty="0" sz="1150" spc="-420">
                <a:solidFill>
                  <a:srgbClr val="6A7280"/>
                </a:solidFill>
              </a:rPr>
              <a:t>1</a:t>
            </a:r>
            <a:r>
              <a:rPr dirty="0" spc="-250"/>
              <a:t>n</a:t>
            </a:r>
            <a:r>
              <a:rPr dirty="0" sz="1150" spc="-525">
                <a:solidFill>
                  <a:srgbClr val="6A7280"/>
                </a:solidFill>
              </a:rPr>
              <a:t>0</a:t>
            </a:r>
            <a:r>
              <a:rPr dirty="0" spc="-55"/>
              <a:t>spark</a:t>
            </a:r>
            <a:endParaRPr sz="115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12192000" cy="8369934"/>
          </a:xfrm>
          <a:custGeom>
            <a:avLst/>
            <a:gdLst/>
            <a:ahLst/>
            <a:cxnLst/>
            <a:rect l="l" t="t" r="r" b="b"/>
            <a:pathLst>
              <a:path w="12192000" h="8369934">
                <a:moveTo>
                  <a:pt x="12191999" y="8369807"/>
                </a:moveTo>
                <a:lnTo>
                  <a:pt x="0" y="8369807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8369807"/>
                </a:lnTo>
                <a:close/>
              </a:path>
            </a:pathLst>
          </a:custGeom>
          <a:solidFill>
            <a:srgbClr val="F5F6FA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" name="object 3" descr=""/>
          <p:cNvGrpSpPr/>
          <p:nvPr/>
        </p:nvGrpSpPr>
        <p:grpSpPr>
          <a:xfrm>
            <a:off x="152399" y="152399"/>
            <a:ext cx="11887200" cy="8058150"/>
            <a:chOff x="152399" y="152399"/>
            <a:chExt cx="11887200" cy="8058150"/>
          </a:xfrm>
        </p:grpSpPr>
        <p:sp>
          <p:nvSpPr>
            <p:cNvPr id="4" name="object 4" descr=""/>
            <p:cNvSpPr/>
            <p:nvPr/>
          </p:nvSpPr>
          <p:spPr>
            <a:xfrm>
              <a:off x="152399" y="152399"/>
              <a:ext cx="11887200" cy="8058150"/>
            </a:xfrm>
            <a:custGeom>
              <a:avLst/>
              <a:gdLst/>
              <a:ahLst/>
              <a:cxnLst/>
              <a:rect l="l" t="t" r="r" b="b"/>
              <a:pathLst>
                <a:path w="11887200" h="8058150">
                  <a:moveTo>
                    <a:pt x="11816002" y="8058149"/>
                  </a:moveTo>
                  <a:lnTo>
                    <a:pt x="71196" y="8058149"/>
                  </a:lnTo>
                  <a:lnTo>
                    <a:pt x="66241" y="8057661"/>
                  </a:lnTo>
                  <a:lnTo>
                    <a:pt x="29705" y="8042526"/>
                  </a:lnTo>
                  <a:lnTo>
                    <a:pt x="3885" y="8006486"/>
                  </a:lnTo>
                  <a:lnTo>
                    <a:pt x="0" y="7986952"/>
                  </a:lnTo>
                  <a:lnTo>
                    <a:pt x="0" y="7981949"/>
                  </a:lnTo>
                  <a:lnTo>
                    <a:pt x="0" y="71196"/>
                  </a:lnTo>
                  <a:lnTo>
                    <a:pt x="15621" y="29705"/>
                  </a:lnTo>
                  <a:lnTo>
                    <a:pt x="51662" y="3885"/>
                  </a:lnTo>
                  <a:lnTo>
                    <a:pt x="71196" y="0"/>
                  </a:lnTo>
                  <a:lnTo>
                    <a:pt x="11816002" y="0"/>
                  </a:lnTo>
                  <a:lnTo>
                    <a:pt x="11857492" y="15621"/>
                  </a:lnTo>
                  <a:lnTo>
                    <a:pt x="11883312" y="51662"/>
                  </a:lnTo>
                  <a:lnTo>
                    <a:pt x="11887197" y="71196"/>
                  </a:lnTo>
                  <a:lnTo>
                    <a:pt x="11887197" y="7986952"/>
                  </a:lnTo>
                  <a:lnTo>
                    <a:pt x="11871575" y="8028443"/>
                  </a:lnTo>
                  <a:lnTo>
                    <a:pt x="11835535" y="8054262"/>
                  </a:lnTo>
                  <a:lnTo>
                    <a:pt x="11820956" y="8057661"/>
                  </a:lnTo>
                  <a:lnTo>
                    <a:pt x="11816002" y="805814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2399" y="152399"/>
              <a:ext cx="11887199" cy="76199"/>
            </a:xfrm>
            <a:prstGeom prst="rect">
              <a:avLst/>
            </a:prstGeom>
          </p:spPr>
        </p:pic>
        <p:sp>
          <p:nvSpPr>
            <p:cNvPr id="6" name="object 6" descr=""/>
            <p:cNvSpPr/>
            <p:nvPr/>
          </p:nvSpPr>
          <p:spPr>
            <a:xfrm>
              <a:off x="152399" y="228599"/>
              <a:ext cx="11887200" cy="542925"/>
            </a:xfrm>
            <a:custGeom>
              <a:avLst/>
              <a:gdLst/>
              <a:ahLst/>
              <a:cxnLst/>
              <a:rect l="l" t="t" r="r" b="b"/>
              <a:pathLst>
                <a:path w="11887200" h="542925">
                  <a:moveTo>
                    <a:pt x="11887199" y="542924"/>
                  </a:moveTo>
                  <a:lnTo>
                    <a:pt x="0" y="542924"/>
                  </a:lnTo>
                  <a:lnTo>
                    <a:pt x="0" y="0"/>
                  </a:lnTo>
                  <a:lnTo>
                    <a:pt x="11887199" y="0"/>
                  </a:lnTo>
                  <a:lnTo>
                    <a:pt x="11887199" y="542924"/>
                  </a:lnTo>
                  <a:close/>
                </a:path>
              </a:pathLst>
            </a:custGeom>
            <a:solidFill>
              <a:srgbClr val="F2F4F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152399" y="761999"/>
              <a:ext cx="11887200" cy="9525"/>
            </a:xfrm>
            <a:custGeom>
              <a:avLst/>
              <a:gdLst/>
              <a:ahLst/>
              <a:cxnLst/>
              <a:rect l="l" t="t" r="r" b="b"/>
              <a:pathLst>
                <a:path w="11887200" h="9525">
                  <a:moveTo>
                    <a:pt x="11887199" y="9524"/>
                  </a:moveTo>
                  <a:lnTo>
                    <a:pt x="0" y="9524"/>
                  </a:lnTo>
                  <a:lnTo>
                    <a:pt x="0" y="0"/>
                  </a:lnTo>
                  <a:lnTo>
                    <a:pt x="11887199" y="0"/>
                  </a:lnTo>
                  <a:lnTo>
                    <a:pt x="11887199" y="9524"/>
                  </a:lnTo>
                  <a:close/>
                </a:path>
              </a:pathLst>
            </a:custGeom>
            <a:solidFill>
              <a:srgbClr val="D0D5D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10"/>
              <a:t>Implementation</a:t>
            </a:r>
            <a:r>
              <a:rPr dirty="0" spc="-30"/>
              <a:t> </a:t>
            </a:r>
            <a:r>
              <a:rPr dirty="0" spc="-75"/>
              <a:t>Details</a:t>
            </a:r>
          </a:p>
        </p:txBody>
      </p:sp>
      <p:sp>
        <p:nvSpPr>
          <p:cNvPr id="9" name="object 9" descr=""/>
          <p:cNvSpPr/>
          <p:nvPr/>
        </p:nvSpPr>
        <p:spPr>
          <a:xfrm>
            <a:off x="11353798" y="342899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399" y="304799"/>
                </a:moveTo>
                <a:lnTo>
                  <a:pt x="108158" y="298239"/>
                </a:lnTo>
                <a:lnTo>
                  <a:pt x="67730" y="279115"/>
                </a:lnTo>
                <a:lnTo>
                  <a:pt x="34591" y="249082"/>
                </a:lnTo>
                <a:lnTo>
                  <a:pt x="11599" y="210720"/>
                </a:lnTo>
                <a:lnTo>
                  <a:pt x="731" y="167337"/>
                </a:lnTo>
                <a:lnTo>
                  <a:pt x="0" y="152399"/>
                </a:lnTo>
                <a:lnTo>
                  <a:pt x="182" y="144912"/>
                </a:lnTo>
                <a:lnTo>
                  <a:pt x="8903" y="101066"/>
                </a:lnTo>
                <a:lnTo>
                  <a:pt x="29994" y="61607"/>
                </a:lnTo>
                <a:lnTo>
                  <a:pt x="61607" y="29995"/>
                </a:lnTo>
                <a:lnTo>
                  <a:pt x="101064" y="8904"/>
                </a:lnTo>
                <a:lnTo>
                  <a:pt x="144912" y="183"/>
                </a:lnTo>
                <a:lnTo>
                  <a:pt x="152399" y="0"/>
                </a:lnTo>
                <a:lnTo>
                  <a:pt x="159886" y="183"/>
                </a:lnTo>
                <a:lnTo>
                  <a:pt x="203731" y="8904"/>
                </a:lnTo>
                <a:lnTo>
                  <a:pt x="243190" y="29995"/>
                </a:lnTo>
                <a:lnTo>
                  <a:pt x="274802" y="61607"/>
                </a:lnTo>
                <a:lnTo>
                  <a:pt x="295894" y="101066"/>
                </a:lnTo>
                <a:lnTo>
                  <a:pt x="304616" y="144912"/>
                </a:lnTo>
                <a:lnTo>
                  <a:pt x="304799" y="152399"/>
                </a:lnTo>
                <a:lnTo>
                  <a:pt x="304616" y="159886"/>
                </a:lnTo>
                <a:lnTo>
                  <a:pt x="295894" y="203733"/>
                </a:lnTo>
                <a:lnTo>
                  <a:pt x="274803" y="243192"/>
                </a:lnTo>
                <a:lnTo>
                  <a:pt x="243190" y="274804"/>
                </a:lnTo>
                <a:lnTo>
                  <a:pt x="203731" y="295895"/>
                </a:lnTo>
                <a:lnTo>
                  <a:pt x="159886" y="304616"/>
                </a:lnTo>
                <a:lnTo>
                  <a:pt x="152399" y="304799"/>
                </a:lnTo>
                <a:close/>
              </a:path>
            </a:pathLst>
          </a:custGeom>
          <a:solidFill>
            <a:srgbClr val="1D40A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 txBox="1"/>
          <p:nvPr/>
        </p:nvSpPr>
        <p:spPr>
          <a:xfrm>
            <a:off x="10506173" y="360679"/>
            <a:ext cx="1100455" cy="22923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911860" algn="l"/>
              </a:tabLst>
            </a:pPr>
            <a:r>
              <a:rPr dirty="0" sz="1300" spc="-10">
                <a:solidFill>
                  <a:srgbClr val="6A7280"/>
                </a:solidFill>
                <a:latin typeface="Roboto"/>
                <a:cs typeface="Roboto"/>
              </a:rPr>
              <a:t>Framework</a:t>
            </a:r>
            <a:r>
              <a:rPr dirty="0" sz="1300">
                <a:solidFill>
                  <a:srgbClr val="6A7280"/>
                </a:solidFill>
                <a:latin typeface="Roboto"/>
                <a:cs typeface="Roboto"/>
              </a:rPr>
              <a:t>	</a:t>
            </a:r>
            <a:r>
              <a:rPr dirty="0" sz="1300" spc="-25" b="1">
                <a:solidFill>
                  <a:srgbClr val="FFFFFF"/>
                </a:solidFill>
                <a:latin typeface="Arial Nova"/>
                <a:cs typeface="Arial Nova"/>
              </a:rPr>
              <a:t>32</a:t>
            </a:r>
            <a:endParaRPr sz="1300">
              <a:latin typeface="Arial Nova"/>
              <a:cs typeface="Arial Nova"/>
            </a:endParaRPr>
          </a:p>
        </p:txBody>
      </p:sp>
      <p:grpSp>
        <p:nvGrpSpPr>
          <p:cNvPr id="11" name="object 11" descr=""/>
          <p:cNvGrpSpPr/>
          <p:nvPr/>
        </p:nvGrpSpPr>
        <p:grpSpPr>
          <a:xfrm>
            <a:off x="380999" y="1000124"/>
            <a:ext cx="11430000" cy="6553200"/>
            <a:chOff x="380999" y="1000124"/>
            <a:chExt cx="11430000" cy="6553200"/>
          </a:xfrm>
        </p:grpSpPr>
        <p:sp>
          <p:nvSpPr>
            <p:cNvPr id="12" name="object 12" descr=""/>
            <p:cNvSpPr/>
            <p:nvPr/>
          </p:nvSpPr>
          <p:spPr>
            <a:xfrm>
              <a:off x="380999" y="6753223"/>
              <a:ext cx="11430000" cy="800100"/>
            </a:xfrm>
            <a:custGeom>
              <a:avLst/>
              <a:gdLst/>
              <a:ahLst/>
              <a:cxnLst/>
              <a:rect l="l" t="t" r="r" b="b"/>
              <a:pathLst>
                <a:path w="11430000" h="800100">
                  <a:moveTo>
                    <a:pt x="11358801" y="800099"/>
                  </a:moveTo>
                  <a:lnTo>
                    <a:pt x="71196" y="800099"/>
                  </a:lnTo>
                  <a:lnTo>
                    <a:pt x="66241" y="799610"/>
                  </a:lnTo>
                  <a:lnTo>
                    <a:pt x="29705" y="784476"/>
                  </a:lnTo>
                  <a:lnTo>
                    <a:pt x="3885" y="748436"/>
                  </a:lnTo>
                  <a:lnTo>
                    <a:pt x="0" y="728902"/>
                  </a:lnTo>
                  <a:lnTo>
                    <a:pt x="0" y="723899"/>
                  </a:lnTo>
                  <a:lnTo>
                    <a:pt x="0" y="71196"/>
                  </a:lnTo>
                  <a:lnTo>
                    <a:pt x="15621" y="29703"/>
                  </a:lnTo>
                  <a:lnTo>
                    <a:pt x="51661" y="3885"/>
                  </a:lnTo>
                  <a:lnTo>
                    <a:pt x="71196" y="0"/>
                  </a:lnTo>
                  <a:lnTo>
                    <a:pt x="11358801" y="0"/>
                  </a:lnTo>
                  <a:lnTo>
                    <a:pt x="11400293" y="15621"/>
                  </a:lnTo>
                  <a:lnTo>
                    <a:pt x="11426112" y="51660"/>
                  </a:lnTo>
                  <a:lnTo>
                    <a:pt x="11429998" y="71196"/>
                  </a:lnTo>
                  <a:lnTo>
                    <a:pt x="11429998" y="728902"/>
                  </a:lnTo>
                  <a:lnTo>
                    <a:pt x="11414376" y="770392"/>
                  </a:lnTo>
                  <a:lnTo>
                    <a:pt x="11378336" y="796212"/>
                  </a:lnTo>
                  <a:lnTo>
                    <a:pt x="11363757" y="799610"/>
                  </a:lnTo>
                  <a:lnTo>
                    <a:pt x="11358801" y="800099"/>
                  </a:lnTo>
                  <a:close/>
                </a:path>
              </a:pathLst>
            </a:custGeom>
            <a:solidFill>
              <a:srgbClr val="EFF5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380999" y="1000124"/>
              <a:ext cx="5600700" cy="2438400"/>
            </a:xfrm>
            <a:custGeom>
              <a:avLst/>
              <a:gdLst/>
              <a:ahLst/>
              <a:cxnLst/>
              <a:rect l="l" t="t" r="r" b="b"/>
              <a:pathLst>
                <a:path w="5600700" h="2438400">
                  <a:moveTo>
                    <a:pt x="5529501" y="2438399"/>
                  </a:moveTo>
                  <a:lnTo>
                    <a:pt x="71196" y="2438399"/>
                  </a:lnTo>
                  <a:lnTo>
                    <a:pt x="66241" y="2437911"/>
                  </a:lnTo>
                  <a:lnTo>
                    <a:pt x="29705" y="2422777"/>
                  </a:lnTo>
                  <a:lnTo>
                    <a:pt x="3885" y="2386737"/>
                  </a:lnTo>
                  <a:lnTo>
                    <a:pt x="0" y="2367202"/>
                  </a:lnTo>
                  <a:lnTo>
                    <a:pt x="0" y="2362199"/>
                  </a:lnTo>
                  <a:lnTo>
                    <a:pt x="0" y="71196"/>
                  </a:lnTo>
                  <a:lnTo>
                    <a:pt x="15621" y="29705"/>
                  </a:lnTo>
                  <a:lnTo>
                    <a:pt x="51661" y="3885"/>
                  </a:lnTo>
                  <a:lnTo>
                    <a:pt x="71196" y="0"/>
                  </a:lnTo>
                  <a:lnTo>
                    <a:pt x="5529501" y="0"/>
                  </a:lnTo>
                  <a:lnTo>
                    <a:pt x="5570993" y="15621"/>
                  </a:lnTo>
                  <a:lnTo>
                    <a:pt x="5596812" y="51661"/>
                  </a:lnTo>
                  <a:lnTo>
                    <a:pt x="5600698" y="71196"/>
                  </a:lnTo>
                  <a:lnTo>
                    <a:pt x="5600698" y="2367202"/>
                  </a:lnTo>
                  <a:lnTo>
                    <a:pt x="5585076" y="2408693"/>
                  </a:lnTo>
                  <a:lnTo>
                    <a:pt x="5549036" y="2434513"/>
                  </a:lnTo>
                  <a:lnTo>
                    <a:pt x="5534457" y="2437911"/>
                  </a:lnTo>
                  <a:lnTo>
                    <a:pt x="5529501" y="24383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533399" y="2371724"/>
              <a:ext cx="5295900" cy="914400"/>
            </a:xfrm>
            <a:custGeom>
              <a:avLst/>
              <a:gdLst/>
              <a:ahLst/>
              <a:cxnLst/>
              <a:rect l="l" t="t" r="r" b="b"/>
              <a:pathLst>
                <a:path w="5295900" h="914400">
                  <a:moveTo>
                    <a:pt x="5295899" y="914399"/>
                  </a:moveTo>
                  <a:lnTo>
                    <a:pt x="0" y="914399"/>
                  </a:lnTo>
                  <a:lnTo>
                    <a:pt x="0" y="0"/>
                  </a:lnTo>
                  <a:lnTo>
                    <a:pt x="5295899" y="0"/>
                  </a:lnTo>
                  <a:lnTo>
                    <a:pt x="5295899" y="914399"/>
                  </a:lnTo>
                  <a:close/>
                </a:path>
              </a:pathLst>
            </a:custGeom>
            <a:solidFill>
              <a:srgbClr val="F7F9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533399" y="2371724"/>
              <a:ext cx="28575" cy="914400"/>
            </a:xfrm>
            <a:custGeom>
              <a:avLst/>
              <a:gdLst/>
              <a:ahLst/>
              <a:cxnLst/>
              <a:rect l="l" t="t" r="r" b="b"/>
              <a:pathLst>
                <a:path w="28575" h="914400">
                  <a:moveTo>
                    <a:pt x="28574" y="914399"/>
                  </a:moveTo>
                  <a:lnTo>
                    <a:pt x="0" y="914399"/>
                  </a:lnTo>
                  <a:lnTo>
                    <a:pt x="0" y="0"/>
                  </a:lnTo>
                  <a:lnTo>
                    <a:pt x="28574" y="0"/>
                  </a:lnTo>
                  <a:lnTo>
                    <a:pt x="28574" y="914399"/>
                  </a:lnTo>
                  <a:close/>
                </a:path>
              </a:pathLst>
            </a:custGeom>
            <a:solidFill>
              <a:srgbClr val="3181C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533399" y="1152524"/>
              <a:ext cx="285750" cy="381000"/>
            </a:xfrm>
            <a:custGeom>
              <a:avLst/>
              <a:gdLst/>
              <a:ahLst/>
              <a:cxnLst/>
              <a:rect l="l" t="t" r="r" b="b"/>
              <a:pathLst>
                <a:path w="285750" h="381000">
                  <a:moveTo>
                    <a:pt x="142874" y="380999"/>
                  </a:moveTo>
                  <a:lnTo>
                    <a:pt x="101400" y="374849"/>
                  </a:lnTo>
                  <a:lnTo>
                    <a:pt x="63497" y="356920"/>
                  </a:lnTo>
                  <a:lnTo>
                    <a:pt x="32429" y="328764"/>
                  </a:lnTo>
                  <a:lnTo>
                    <a:pt x="10875" y="292800"/>
                  </a:lnTo>
                  <a:lnTo>
                    <a:pt x="686" y="252129"/>
                  </a:lnTo>
                  <a:lnTo>
                    <a:pt x="0" y="238124"/>
                  </a:lnTo>
                  <a:lnTo>
                    <a:pt x="0" y="142874"/>
                  </a:lnTo>
                  <a:lnTo>
                    <a:pt x="6150" y="101399"/>
                  </a:lnTo>
                  <a:lnTo>
                    <a:pt x="24078" y="63497"/>
                  </a:lnTo>
                  <a:lnTo>
                    <a:pt x="52234" y="32429"/>
                  </a:lnTo>
                  <a:lnTo>
                    <a:pt x="88199" y="10875"/>
                  </a:lnTo>
                  <a:lnTo>
                    <a:pt x="128870" y="686"/>
                  </a:lnTo>
                  <a:lnTo>
                    <a:pt x="142874" y="0"/>
                  </a:lnTo>
                  <a:lnTo>
                    <a:pt x="149894" y="171"/>
                  </a:lnTo>
                  <a:lnTo>
                    <a:pt x="191000" y="8348"/>
                  </a:lnTo>
                  <a:lnTo>
                    <a:pt x="227992" y="28121"/>
                  </a:lnTo>
                  <a:lnTo>
                    <a:pt x="257628" y="57756"/>
                  </a:lnTo>
                  <a:lnTo>
                    <a:pt x="277401" y="94749"/>
                  </a:lnTo>
                  <a:lnTo>
                    <a:pt x="285578" y="135855"/>
                  </a:lnTo>
                  <a:lnTo>
                    <a:pt x="285749" y="142874"/>
                  </a:lnTo>
                  <a:lnTo>
                    <a:pt x="285749" y="238124"/>
                  </a:lnTo>
                  <a:lnTo>
                    <a:pt x="279599" y="279599"/>
                  </a:lnTo>
                  <a:lnTo>
                    <a:pt x="261671" y="317501"/>
                  </a:lnTo>
                  <a:lnTo>
                    <a:pt x="233514" y="348569"/>
                  </a:lnTo>
                  <a:lnTo>
                    <a:pt x="197550" y="370124"/>
                  </a:lnTo>
                  <a:lnTo>
                    <a:pt x="156879" y="380313"/>
                  </a:lnTo>
                  <a:lnTo>
                    <a:pt x="142874" y="380999"/>
                  </a:lnTo>
                  <a:close/>
                </a:path>
              </a:pathLst>
            </a:custGeom>
            <a:solidFill>
              <a:srgbClr val="2562E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7" name="object 17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09735" y="1266824"/>
              <a:ext cx="133144" cy="133349"/>
            </a:xfrm>
            <a:prstGeom prst="rect">
              <a:avLst/>
            </a:prstGeom>
          </p:spPr>
        </p:pic>
      </p:grpSp>
      <p:sp>
        <p:nvSpPr>
          <p:cNvPr id="18" name="object 18" descr=""/>
          <p:cNvSpPr txBox="1"/>
          <p:nvPr/>
        </p:nvSpPr>
        <p:spPr>
          <a:xfrm>
            <a:off x="920750" y="1196736"/>
            <a:ext cx="1829435" cy="2546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90" b="1">
                <a:solidFill>
                  <a:srgbClr val="1D40AF"/>
                </a:solidFill>
                <a:latin typeface="Roboto"/>
                <a:cs typeface="Roboto"/>
              </a:rPr>
              <a:t>Python</a:t>
            </a:r>
            <a:r>
              <a:rPr dirty="0" sz="1500" spc="15" b="1">
                <a:solidFill>
                  <a:srgbClr val="1D40AF"/>
                </a:solidFill>
                <a:latin typeface="Roboto"/>
                <a:cs typeface="Roboto"/>
              </a:rPr>
              <a:t> </a:t>
            </a:r>
            <a:r>
              <a:rPr dirty="0" sz="1500" spc="-80" b="1">
                <a:solidFill>
                  <a:srgbClr val="1D40AF"/>
                </a:solidFill>
                <a:latin typeface="Roboto"/>
                <a:cs typeface="Roboto"/>
              </a:rPr>
              <a:t>Implementation</a:t>
            </a:r>
            <a:endParaRPr sz="1500">
              <a:latin typeface="Roboto"/>
              <a:cs typeface="Roboto"/>
            </a:endParaRPr>
          </a:p>
        </p:txBody>
      </p:sp>
      <p:grpSp>
        <p:nvGrpSpPr>
          <p:cNvPr id="19" name="object 19" descr=""/>
          <p:cNvGrpSpPr/>
          <p:nvPr/>
        </p:nvGrpSpPr>
        <p:grpSpPr>
          <a:xfrm>
            <a:off x="619124" y="1000124"/>
            <a:ext cx="11191875" cy="2438400"/>
            <a:chOff x="619124" y="1000124"/>
            <a:chExt cx="11191875" cy="2438400"/>
          </a:xfrm>
        </p:grpSpPr>
        <p:sp>
          <p:nvSpPr>
            <p:cNvPr id="20" name="object 20" descr=""/>
            <p:cNvSpPr/>
            <p:nvPr/>
          </p:nvSpPr>
          <p:spPr>
            <a:xfrm>
              <a:off x="619112" y="1733549"/>
              <a:ext cx="38100" cy="495300"/>
            </a:xfrm>
            <a:custGeom>
              <a:avLst/>
              <a:gdLst/>
              <a:ahLst/>
              <a:cxnLst/>
              <a:rect l="l" t="t" r="r" b="b"/>
              <a:pathLst>
                <a:path w="38100" h="495300">
                  <a:moveTo>
                    <a:pt x="38100" y="473735"/>
                  </a:moveTo>
                  <a:lnTo>
                    <a:pt x="21577" y="457200"/>
                  </a:lnTo>
                  <a:lnTo>
                    <a:pt x="16535" y="457200"/>
                  </a:lnTo>
                  <a:lnTo>
                    <a:pt x="0" y="473735"/>
                  </a:lnTo>
                  <a:lnTo>
                    <a:pt x="0" y="478777"/>
                  </a:lnTo>
                  <a:lnTo>
                    <a:pt x="16535" y="495300"/>
                  </a:lnTo>
                  <a:lnTo>
                    <a:pt x="21577" y="495300"/>
                  </a:lnTo>
                  <a:lnTo>
                    <a:pt x="38100" y="478777"/>
                  </a:lnTo>
                  <a:lnTo>
                    <a:pt x="38100" y="476250"/>
                  </a:lnTo>
                  <a:lnTo>
                    <a:pt x="38100" y="473735"/>
                  </a:lnTo>
                  <a:close/>
                </a:path>
                <a:path w="38100" h="495300">
                  <a:moveTo>
                    <a:pt x="38100" y="245135"/>
                  </a:moveTo>
                  <a:lnTo>
                    <a:pt x="21577" y="228600"/>
                  </a:lnTo>
                  <a:lnTo>
                    <a:pt x="16535" y="228600"/>
                  </a:lnTo>
                  <a:lnTo>
                    <a:pt x="0" y="245135"/>
                  </a:lnTo>
                  <a:lnTo>
                    <a:pt x="0" y="250177"/>
                  </a:lnTo>
                  <a:lnTo>
                    <a:pt x="16535" y="266700"/>
                  </a:lnTo>
                  <a:lnTo>
                    <a:pt x="21577" y="266700"/>
                  </a:lnTo>
                  <a:lnTo>
                    <a:pt x="38100" y="250177"/>
                  </a:lnTo>
                  <a:lnTo>
                    <a:pt x="38100" y="247650"/>
                  </a:lnTo>
                  <a:lnTo>
                    <a:pt x="38100" y="245135"/>
                  </a:lnTo>
                  <a:close/>
                </a:path>
                <a:path w="38100" h="495300">
                  <a:moveTo>
                    <a:pt x="38100" y="16535"/>
                  </a:moveTo>
                  <a:lnTo>
                    <a:pt x="21577" y="0"/>
                  </a:lnTo>
                  <a:lnTo>
                    <a:pt x="16535" y="0"/>
                  </a:lnTo>
                  <a:lnTo>
                    <a:pt x="0" y="16535"/>
                  </a:lnTo>
                  <a:lnTo>
                    <a:pt x="0" y="21577"/>
                  </a:lnTo>
                  <a:lnTo>
                    <a:pt x="16535" y="38100"/>
                  </a:lnTo>
                  <a:lnTo>
                    <a:pt x="21577" y="38100"/>
                  </a:lnTo>
                  <a:lnTo>
                    <a:pt x="38100" y="21577"/>
                  </a:lnTo>
                  <a:lnTo>
                    <a:pt x="38100" y="19050"/>
                  </a:lnTo>
                  <a:lnTo>
                    <a:pt x="38100" y="16535"/>
                  </a:lnTo>
                  <a:close/>
                </a:path>
              </a:pathLst>
            </a:custGeom>
            <a:solidFill>
              <a:srgbClr val="37405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6210298" y="1000124"/>
              <a:ext cx="5600700" cy="2438400"/>
            </a:xfrm>
            <a:custGeom>
              <a:avLst/>
              <a:gdLst/>
              <a:ahLst/>
              <a:cxnLst/>
              <a:rect l="l" t="t" r="r" b="b"/>
              <a:pathLst>
                <a:path w="5600700" h="2438400">
                  <a:moveTo>
                    <a:pt x="5529503" y="2438399"/>
                  </a:moveTo>
                  <a:lnTo>
                    <a:pt x="71196" y="2438399"/>
                  </a:lnTo>
                  <a:lnTo>
                    <a:pt x="66241" y="2437911"/>
                  </a:lnTo>
                  <a:lnTo>
                    <a:pt x="29705" y="2422777"/>
                  </a:lnTo>
                  <a:lnTo>
                    <a:pt x="3885" y="2386737"/>
                  </a:lnTo>
                  <a:lnTo>
                    <a:pt x="0" y="2367202"/>
                  </a:lnTo>
                  <a:lnTo>
                    <a:pt x="0" y="2362199"/>
                  </a:lnTo>
                  <a:lnTo>
                    <a:pt x="0" y="71196"/>
                  </a:lnTo>
                  <a:lnTo>
                    <a:pt x="15621" y="29705"/>
                  </a:lnTo>
                  <a:lnTo>
                    <a:pt x="51661" y="3885"/>
                  </a:lnTo>
                  <a:lnTo>
                    <a:pt x="71196" y="0"/>
                  </a:lnTo>
                  <a:lnTo>
                    <a:pt x="5529503" y="0"/>
                  </a:lnTo>
                  <a:lnTo>
                    <a:pt x="5570994" y="15621"/>
                  </a:lnTo>
                  <a:lnTo>
                    <a:pt x="5596814" y="51661"/>
                  </a:lnTo>
                  <a:lnTo>
                    <a:pt x="5600699" y="71196"/>
                  </a:lnTo>
                  <a:lnTo>
                    <a:pt x="5600699" y="2367202"/>
                  </a:lnTo>
                  <a:lnTo>
                    <a:pt x="5585077" y="2408693"/>
                  </a:lnTo>
                  <a:lnTo>
                    <a:pt x="5549037" y="2434513"/>
                  </a:lnTo>
                  <a:lnTo>
                    <a:pt x="5534458" y="2437911"/>
                  </a:lnTo>
                  <a:lnTo>
                    <a:pt x="5529503" y="24383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6362698" y="2600324"/>
              <a:ext cx="5295900" cy="304800"/>
            </a:xfrm>
            <a:custGeom>
              <a:avLst/>
              <a:gdLst/>
              <a:ahLst/>
              <a:cxnLst/>
              <a:rect l="l" t="t" r="r" b="b"/>
              <a:pathLst>
                <a:path w="5295900" h="304800">
                  <a:moveTo>
                    <a:pt x="5262850" y="304799"/>
                  </a:moveTo>
                  <a:lnTo>
                    <a:pt x="33047" y="304799"/>
                  </a:lnTo>
                  <a:lnTo>
                    <a:pt x="28187" y="303833"/>
                  </a:lnTo>
                  <a:lnTo>
                    <a:pt x="966" y="276612"/>
                  </a:lnTo>
                  <a:lnTo>
                    <a:pt x="0" y="271752"/>
                  </a:lnTo>
                  <a:lnTo>
                    <a:pt x="0" y="266699"/>
                  </a:lnTo>
                  <a:lnTo>
                    <a:pt x="0" y="33047"/>
                  </a:lnTo>
                  <a:lnTo>
                    <a:pt x="28187" y="966"/>
                  </a:lnTo>
                  <a:lnTo>
                    <a:pt x="33047" y="0"/>
                  </a:lnTo>
                  <a:lnTo>
                    <a:pt x="5262850" y="0"/>
                  </a:lnTo>
                  <a:lnTo>
                    <a:pt x="5294931" y="28187"/>
                  </a:lnTo>
                  <a:lnTo>
                    <a:pt x="5295898" y="33047"/>
                  </a:lnTo>
                  <a:lnTo>
                    <a:pt x="5295898" y="271752"/>
                  </a:lnTo>
                  <a:lnTo>
                    <a:pt x="5267709" y="303833"/>
                  </a:lnTo>
                  <a:lnTo>
                    <a:pt x="5262850" y="304799"/>
                  </a:lnTo>
                  <a:close/>
                </a:path>
              </a:pathLst>
            </a:custGeom>
            <a:solidFill>
              <a:srgbClr val="F2F4F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6362699" y="1152524"/>
              <a:ext cx="266700" cy="381000"/>
            </a:xfrm>
            <a:custGeom>
              <a:avLst/>
              <a:gdLst/>
              <a:ahLst/>
              <a:cxnLst/>
              <a:rect l="l" t="t" r="r" b="b"/>
              <a:pathLst>
                <a:path w="266700" h="381000">
                  <a:moveTo>
                    <a:pt x="133349" y="380999"/>
                  </a:moveTo>
                  <a:lnTo>
                    <a:pt x="94639" y="375259"/>
                  </a:lnTo>
                  <a:lnTo>
                    <a:pt x="59263" y="358526"/>
                  </a:lnTo>
                  <a:lnTo>
                    <a:pt x="30267" y="332246"/>
                  </a:lnTo>
                  <a:lnTo>
                    <a:pt x="10149" y="298680"/>
                  </a:lnTo>
                  <a:lnTo>
                    <a:pt x="640" y="260720"/>
                  </a:lnTo>
                  <a:lnTo>
                    <a:pt x="0" y="247649"/>
                  </a:lnTo>
                  <a:lnTo>
                    <a:pt x="0" y="133349"/>
                  </a:lnTo>
                  <a:lnTo>
                    <a:pt x="5739" y="94639"/>
                  </a:lnTo>
                  <a:lnTo>
                    <a:pt x="22472" y="59264"/>
                  </a:lnTo>
                  <a:lnTo>
                    <a:pt x="48752" y="30267"/>
                  </a:lnTo>
                  <a:lnTo>
                    <a:pt x="82318" y="10150"/>
                  </a:lnTo>
                  <a:lnTo>
                    <a:pt x="120278" y="640"/>
                  </a:lnTo>
                  <a:lnTo>
                    <a:pt x="133349" y="0"/>
                  </a:lnTo>
                  <a:lnTo>
                    <a:pt x="139900" y="160"/>
                  </a:lnTo>
                  <a:lnTo>
                    <a:pt x="178266" y="7791"/>
                  </a:lnTo>
                  <a:lnTo>
                    <a:pt x="212792" y="26246"/>
                  </a:lnTo>
                  <a:lnTo>
                    <a:pt x="240453" y="53906"/>
                  </a:lnTo>
                  <a:lnTo>
                    <a:pt x="258907" y="88432"/>
                  </a:lnTo>
                  <a:lnTo>
                    <a:pt x="266539" y="126798"/>
                  </a:lnTo>
                  <a:lnTo>
                    <a:pt x="266699" y="133349"/>
                  </a:lnTo>
                  <a:lnTo>
                    <a:pt x="266699" y="247649"/>
                  </a:lnTo>
                  <a:lnTo>
                    <a:pt x="260958" y="286359"/>
                  </a:lnTo>
                  <a:lnTo>
                    <a:pt x="244225" y="321734"/>
                  </a:lnTo>
                  <a:lnTo>
                    <a:pt x="217946" y="350731"/>
                  </a:lnTo>
                  <a:lnTo>
                    <a:pt x="184379" y="370849"/>
                  </a:lnTo>
                  <a:lnTo>
                    <a:pt x="146420" y="380359"/>
                  </a:lnTo>
                  <a:lnTo>
                    <a:pt x="133349" y="380999"/>
                  </a:lnTo>
                  <a:close/>
                </a:path>
              </a:pathLst>
            </a:custGeom>
            <a:solidFill>
              <a:srgbClr val="04956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4" name="object 24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438899" y="1257299"/>
              <a:ext cx="114299" cy="152399"/>
            </a:xfrm>
            <a:prstGeom prst="rect">
              <a:avLst/>
            </a:prstGeom>
          </p:spPr>
        </p:pic>
      </p:grpSp>
      <p:sp>
        <p:nvSpPr>
          <p:cNvPr id="25" name="object 25" descr=""/>
          <p:cNvSpPr txBox="1"/>
          <p:nvPr/>
        </p:nvSpPr>
        <p:spPr>
          <a:xfrm>
            <a:off x="749299" y="1579070"/>
            <a:ext cx="3422015" cy="7112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198755">
              <a:lnSpc>
                <a:spcPct val="130400"/>
              </a:lnSpc>
              <a:spcBef>
                <a:spcPts val="95"/>
              </a:spcBef>
            </a:pPr>
            <a:r>
              <a:rPr dirty="0" sz="1150" spc="-55">
                <a:solidFill>
                  <a:srgbClr val="374050"/>
                </a:solidFill>
                <a:latin typeface="Roboto"/>
                <a:cs typeface="Roboto"/>
              </a:rPr>
              <a:t>Modular</a:t>
            </a:r>
            <a:r>
              <a:rPr dirty="0" sz="1150" spc="-1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150" spc="-50">
                <a:solidFill>
                  <a:srgbClr val="374050"/>
                </a:solidFill>
                <a:latin typeface="Roboto"/>
                <a:cs typeface="Roboto"/>
              </a:rPr>
              <a:t>architecture</a:t>
            </a:r>
            <a:r>
              <a:rPr dirty="0" sz="1150" spc="-1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150" spc="-50">
                <a:solidFill>
                  <a:srgbClr val="374050"/>
                </a:solidFill>
                <a:latin typeface="Roboto"/>
                <a:cs typeface="Roboto"/>
              </a:rPr>
              <a:t>with</a:t>
            </a:r>
            <a:r>
              <a:rPr dirty="0" sz="1150" spc="-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150" spc="-50">
                <a:solidFill>
                  <a:srgbClr val="374050"/>
                </a:solidFill>
                <a:latin typeface="Roboto"/>
                <a:cs typeface="Roboto"/>
              </a:rPr>
              <a:t>dedicated</a:t>
            </a:r>
            <a:r>
              <a:rPr dirty="0" sz="1150" spc="-10">
                <a:solidFill>
                  <a:srgbClr val="374050"/>
                </a:solidFill>
                <a:latin typeface="Roboto"/>
                <a:cs typeface="Roboto"/>
              </a:rPr>
              <a:t> components </a:t>
            </a:r>
            <a:r>
              <a:rPr dirty="0" sz="1150" spc="-65">
                <a:solidFill>
                  <a:srgbClr val="374050"/>
                </a:solidFill>
                <a:latin typeface="Roboto"/>
                <a:cs typeface="Roboto"/>
              </a:rPr>
              <a:t>Core</a:t>
            </a:r>
            <a:r>
              <a:rPr dirty="0" sz="1150" spc="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150" spc="-40">
                <a:solidFill>
                  <a:srgbClr val="374050"/>
                </a:solidFill>
                <a:latin typeface="Roboto"/>
                <a:cs typeface="Roboto"/>
              </a:rPr>
              <a:t>libraries:</a:t>
            </a:r>
            <a:r>
              <a:rPr dirty="0" sz="1150" spc="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150" spc="-75">
                <a:solidFill>
                  <a:srgbClr val="374050"/>
                </a:solidFill>
                <a:latin typeface="Roboto"/>
                <a:cs typeface="Roboto"/>
              </a:rPr>
              <a:t>NumPy,</a:t>
            </a:r>
            <a:r>
              <a:rPr dirty="0" sz="1150" spc="-1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150" spc="-60">
                <a:solidFill>
                  <a:srgbClr val="374050"/>
                </a:solidFill>
                <a:latin typeface="Roboto"/>
                <a:cs typeface="Roboto"/>
              </a:rPr>
              <a:t>TensorFlow/PyTorch,</a:t>
            </a:r>
            <a:r>
              <a:rPr dirty="0" sz="1150" spc="1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150" spc="-60">
                <a:solidFill>
                  <a:srgbClr val="374050"/>
                </a:solidFill>
                <a:latin typeface="Roboto"/>
                <a:cs typeface="Roboto"/>
              </a:rPr>
              <a:t>NetworkX</a:t>
            </a:r>
            <a:endParaRPr sz="115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420"/>
              </a:spcBef>
            </a:pPr>
            <a:r>
              <a:rPr dirty="0" sz="1150" spc="-65">
                <a:solidFill>
                  <a:srgbClr val="374050"/>
                </a:solidFill>
                <a:latin typeface="Roboto"/>
                <a:cs typeface="Roboto"/>
              </a:rPr>
              <a:t>Component</a:t>
            </a:r>
            <a:r>
              <a:rPr dirty="0" sz="115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150" spc="-40">
                <a:solidFill>
                  <a:srgbClr val="374050"/>
                </a:solidFill>
                <a:latin typeface="Roboto"/>
                <a:cs typeface="Roboto"/>
              </a:rPr>
              <a:t>files:</a:t>
            </a:r>
            <a:r>
              <a:rPr dirty="0" sz="1150" spc="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150" spc="-55">
                <a:solidFill>
                  <a:srgbClr val="374050"/>
                </a:solidFill>
                <a:latin typeface="Roboto"/>
                <a:cs typeface="Roboto"/>
              </a:rPr>
              <a:t>network</a:t>
            </a:r>
            <a:r>
              <a:rPr dirty="0" sz="115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150" spc="-60">
                <a:solidFill>
                  <a:srgbClr val="374050"/>
                </a:solidFill>
                <a:latin typeface="Roboto"/>
                <a:cs typeface="Roboto"/>
              </a:rPr>
              <a:t>model,</a:t>
            </a:r>
            <a:r>
              <a:rPr dirty="0" sz="1150" spc="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150" spc="-70">
                <a:solidFill>
                  <a:srgbClr val="374050"/>
                </a:solidFill>
                <a:latin typeface="Roboto"/>
                <a:cs typeface="Roboto"/>
              </a:rPr>
              <a:t>RL</a:t>
            </a:r>
            <a:r>
              <a:rPr dirty="0" sz="115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150" spc="-55">
                <a:solidFill>
                  <a:srgbClr val="374050"/>
                </a:solidFill>
                <a:latin typeface="Roboto"/>
                <a:cs typeface="Roboto"/>
              </a:rPr>
              <a:t>agents,</a:t>
            </a:r>
            <a:r>
              <a:rPr dirty="0" sz="1150" spc="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150" spc="-80">
                <a:solidFill>
                  <a:srgbClr val="374050"/>
                </a:solidFill>
                <a:latin typeface="Roboto"/>
                <a:cs typeface="Roboto"/>
              </a:rPr>
              <a:t>GA</a:t>
            </a:r>
            <a:r>
              <a:rPr dirty="0" sz="1150" spc="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150" spc="-45">
                <a:solidFill>
                  <a:srgbClr val="374050"/>
                </a:solidFill>
                <a:latin typeface="Roboto"/>
                <a:cs typeface="Roboto"/>
              </a:rPr>
              <a:t>optimizer</a:t>
            </a:r>
            <a:endParaRPr sz="1150">
              <a:latin typeface="Roboto"/>
              <a:cs typeface="Roboto"/>
            </a:endParaRPr>
          </a:p>
        </p:txBody>
      </p:sp>
      <p:sp>
        <p:nvSpPr>
          <p:cNvPr id="26" name="object 26" descr=""/>
          <p:cNvSpPr txBox="1"/>
          <p:nvPr/>
        </p:nvSpPr>
        <p:spPr>
          <a:xfrm>
            <a:off x="561974" y="2411766"/>
            <a:ext cx="5267325" cy="800735"/>
          </a:xfrm>
          <a:prstGeom prst="rect">
            <a:avLst/>
          </a:prstGeom>
        </p:spPr>
        <p:txBody>
          <a:bodyPr wrap="square" lIns="0" tIns="28575" rIns="0" bIns="0" rtlCol="0" vert="horz">
            <a:spAutoFit/>
          </a:bodyPr>
          <a:lstStyle/>
          <a:p>
            <a:pPr marL="76200" marR="1807210">
              <a:lnSpc>
                <a:spcPts val="1200"/>
              </a:lnSpc>
              <a:spcBef>
                <a:spcPts val="225"/>
              </a:spcBef>
            </a:pPr>
            <a:r>
              <a:rPr dirty="0" sz="1050">
                <a:solidFill>
                  <a:srgbClr val="334054"/>
                </a:solidFill>
                <a:latin typeface="Lucida Console"/>
                <a:cs typeface="Lucida Console"/>
              </a:rPr>
              <a:t>#</a:t>
            </a:r>
            <a:r>
              <a:rPr dirty="0" sz="1050" spc="-85">
                <a:solidFill>
                  <a:srgbClr val="334054"/>
                </a:solidFill>
                <a:latin typeface="Lucida Console"/>
                <a:cs typeface="Lucida Console"/>
              </a:rPr>
              <a:t> </a:t>
            </a:r>
            <a:r>
              <a:rPr dirty="0" sz="1050" spc="-60">
                <a:solidFill>
                  <a:srgbClr val="334054"/>
                </a:solidFill>
                <a:latin typeface="Lucida Console"/>
                <a:cs typeface="Lucida Console"/>
              </a:rPr>
              <a:t>Core</a:t>
            </a:r>
            <a:r>
              <a:rPr dirty="0" sz="1050" spc="-80">
                <a:solidFill>
                  <a:srgbClr val="334054"/>
                </a:solidFill>
                <a:latin typeface="Lucida Console"/>
                <a:cs typeface="Lucida Console"/>
              </a:rPr>
              <a:t> </a:t>
            </a:r>
            <a:r>
              <a:rPr dirty="0" sz="1050" spc="-70">
                <a:solidFill>
                  <a:srgbClr val="334054"/>
                </a:solidFill>
                <a:latin typeface="Lucida Console"/>
                <a:cs typeface="Lucida Console"/>
              </a:rPr>
              <a:t>module</a:t>
            </a:r>
            <a:r>
              <a:rPr dirty="0" sz="1050" spc="-85">
                <a:solidFill>
                  <a:srgbClr val="334054"/>
                </a:solidFill>
                <a:latin typeface="Lucida Console"/>
                <a:cs typeface="Lucida Console"/>
              </a:rPr>
              <a:t> </a:t>
            </a:r>
            <a:r>
              <a:rPr dirty="0" sz="1050" spc="-10">
                <a:solidFill>
                  <a:srgbClr val="334054"/>
                </a:solidFill>
                <a:latin typeface="Lucida Console"/>
                <a:cs typeface="Lucida Console"/>
              </a:rPr>
              <a:t>structure </a:t>
            </a:r>
            <a:r>
              <a:rPr dirty="0" sz="1050" spc="-70">
                <a:solidFill>
                  <a:srgbClr val="334054"/>
                </a:solidFill>
                <a:latin typeface="Lucida Console"/>
                <a:cs typeface="Lucida Console"/>
              </a:rPr>
              <a:t>distribution_network.py</a:t>
            </a:r>
            <a:r>
              <a:rPr dirty="0" sz="1050" spc="-65">
                <a:solidFill>
                  <a:srgbClr val="334054"/>
                </a:solidFill>
                <a:latin typeface="Lucida Console"/>
                <a:cs typeface="Lucida Console"/>
              </a:rPr>
              <a:t> </a:t>
            </a:r>
            <a:r>
              <a:rPr dirty="0" sz="1050">
                <a:solidFill>
                  <a:srgbClr val="334054"/>
                </a:solidFill>
                <a:latin typeface="Lucida Console"/>
                <a:cs typeface="Lucida Console"/>
              </a:rPr>
              <a:t>#</a:t>
            </a:r>
            <a:r>
              <a:rPr dirty="0" sz="1050" spc="-60">
                <a:solidFill>
                  <a:srgbClr val="334054"/>
                </a:solidFill>
                <a:latin typeface="Lucida Console"/>
                <a:cs typeface="Lucida Console"/>
              </a:rPr>
              <a:t> </a:t>
            </a:r>
            <a:r>
              <a:rPr dirty="0" sz="1050" spc="-70">
                <a:solidFill>
                  <a:srgbClr val="334054"/>
                </a:solidFill>
                <a:latin typeface="Lucida Console"/>
                <a:cs typeface="Lucida Console"/>
              </a:rPr>
              <a:t>Network</a:t>
            </a:r>
            <a:r>
              <a:rPr dirty="0" sz="1050" spc="-60">
                <a:solidFill>
                  <a:srgbClr val="334054"/>
                </a:solidFill>
                <a:latin typeface="Lucida Console"/>
                <a:cs typeface="Lucida Console"/>
              </a:rPr>
              <a:t> </a:t>
            </a:r>
            <a:r>
              <a:rPr dirty="0" sz="1050" spc="-10">
                <a:solidFill>
                  <a:srgbClr val="334054"/>
                </a:solidFill>
                <a:latin typeface="Lucida Console"/>
                <a:cs typeface="Lucida Console"/>
              </a:rPr>
              <a:t>modeling </a:t>
            </a:r>
            <a:r>
              <a:rPr dirty="0" sz="1050" spc="-70">
                <a:solidFill>
                  <a:srgbClr val="334054"/>
                </a:solidFill>
                <a:latin typeface="Lucida Console"/>
                <a:cs typeface="Lucida Console"/>
              </a:rPr>
              <a:t>madrl_system.py</a:t>
            </a:r>
            <a:r>
              <a:rPr dirty="0" sz="1050" spc="-80">
                <a:solidFill>
                  <a:srgbClr val="334054"/>
                </a:solidFill>
                <a:latin typeface="Lucida Console"/>
                <a:cs typeface="Lucida Console"/>
              </a:rPr>
              <a:t> </a:t>
            </a:r>
            <a:r>
              <a:rPr dirty="0" sz="1050">
                <a:solidFill>
                  <a:srgbClr val="334054"/>
                </a:solidFill>
                <a:latin typeface="Lucida Console"/>
                <a:cs typeface="Lucida Console"/>
              </a:rPr>
              <a:t>#</a:t>
            </a:r>
            <a:r>
              <a:rPr dirty="0" sz="1050" spc="-80">
                <a:solidFill>
                  <a:srgbClr val="334054"/>
                </a:solidFill>
                <a:latin typeface="Lucida Console"/>
                <a:cs typeface="Lucida Console"/>
              </a:rPr>
              <a:t> </a:t>
            </a:r>
            <a:r>
              <a:rPr dirty="0" sz="1050" spc="-30">
                <a:solidFill>
                  <a:srgbClr val="334054"/>
                </a:solidFill>
                <a:latin typeface="Lucida Console"/>
                <a:cs typeface="Lucida Console"/>
              </a:rPr>
              <a:t>RL</a:t>
            </a:r>
            <a:r>
              <a:rPr dirty="0" sz="1050" spc="-80">
                <a:solidFill>
                  <a:srgbClr val="334054"/>
                </a:solidFill>
                <a:latin typeface="Lucida Console"/>
                <a:cs typeface="Lucida Console"/>
              </a:rPr>
              <a:t> </a:t>
            </a:r>
            <a:r>
              <a:rPr dirty="0" sz="1050" spc="-70">
                <a:solidFill>
                  <a:srgbClr val="334054"/>
                </a:solidFill>
                <a:latin typeface="Lucida Console"/>
                <a:cs typeface="Lucida Console"/>
              </a:rPr>
              <a:t>agents</a:t>
            </a:r>
            <a:r>
              <a:rPr dirty="0" sz="1050" spc="-80">
                <a:solidFill>
                  <a:srgbClr val="334054"/>
                </a:solidFill>
                <a:latin typeface="Lucida Console"/>
                <a:cs typeface="Lucida Console"/>
              </a:rPr>
              <a:t> </a:t>
            </a:r>
            <a:r>
              <a:rPr dirty="0" sz="1050" spc="-10">
                <a:solidFill>
                  <a:srgbClr val="334054"/>
                </a:solidFill>
                <a:latin typeface="Lucida Console"/>
                <a:cs typeface="Lucida Console"/>
              </a:rPr>
              <a:t>implementation </a:t>
            </a:r>
            <a:r>
              <a:rPr dirty="0" sz="1050" spc="-70">
                <a:solidFill>
                  <a:srgbClr val="334054"/>
                </a:solidFill>
                <a:latin typeface="Lucida Console"/>
                <a:cs typeface="Lucida Console"/>
              </a:rPr>
              <a:t>genetic_algorithm.py</a:t>
            </a:r>
            <a:r>
              <a:rPr dirty="0" sz="1050" spc="-60">
                <a:solidFill>
                  <a:srgbClr val="334054"/>
                </a:solidFill>
                <a:latin typeface="Lucida Console"/>
                <a:cs typeface="Lucida Console"/>
              </a:rPr>
              <a:t> </a:t>
            </a:r>
            <a:r>
              <a:rPr dirty="0" sz="1050">
                <a:solidFill>
                  <a:srgbClr val="334054"/>
                </a:solidFill>
                <a:latin typeface="Lucida Console"/>
                <a:cs typeface="Lucida Console"/>
              </a:rPr>
              <a:t>#</a:t>
            </a:r>
            <a:r>
              <a:rPr dirty="0" sz="1050" spc="-60">
                <a:solidFill>
                  <a:srgbClr val="334054"/>
                </a:solidFill>
                <a:latin typeface="Lucida Console"/>
                <a:cs typeface="Lucida Console"/>
              </a:rPr>
              <a:t> </a:t>
            </a:r>
            <a:r>
              <a:rPr dirty="0" sz="1050" spc="-70">
                <a:solidFill>
                  <a:srgbClr val="334054"/>
                </a:solidFill>
                <a:latin typeface="Lucida Console"/>
                <a:cs typeface="Lucida Console"/>
              </a:rPr>
              <a:t>Metaheuristic</a:t>
            </a:r>
            <a:r>
              <a:rPr dirty="0" sz="1050" spc="-60">
                <a:solidFill>
                  <a:srgbClr val="334054"/>
                </a:solidFill>
                <a:latin typeface="Lucida Console"/>
                <a:cs typeface="Lucida Console"/>
              </a:rPr>
              <a:t> </a:t>
            </a:r>
            <a:r>
              <a:rPr dirty="0" sz="1050" spc="-40">
                <a:solidFill>
                  <a:srgbClr val="334054"/>
                </a:solidFill>
                <a:latin typeface="Lucida Console"/>
                <a:cs typeface="Lucida Console"/>
              </a:rPr>
              <a:t>optimizer </a:t>
            </a:r>
            <a:r>
              <a:rPr dirty="0" sz="1050" spc="-70">
                <a:solidFill>
                  <a:srgbClr val="334054"/>
                </a:solidFill>
                <a:latin typeface="Lucida Console"/>
                <a:cs typeface="Lucida Console"/>
              </a:rPr>
              <a:t>hybrid_framework.py</a:t>
            </a:r>
            <a:r>
              <a:rPr dirty="0" sz="1050" spc="-80">
                <a:solidFill>
                  <a:srgbClr val="334054"/>
                </a:solidFill>
                <a:latin typeface="Lucida Console"/>
                <a:cs typeface="Lucida Console"/>
              </a:rPr>
              <a:t> </a:t>
            </a:r>
            <a:r>
              <a:rPr dirty="0" sz="1050">
                <a:solidFill>
                  <a:srgbClr val="334054"/>
                </a:solidFill>
                <a:latin typeface="Lucida Console"/>
                <a:cs typeface="Lucida Console"/>
              </a:rPr>
              <a:t>#</a:t>
            </a:r>
            <a:r>
              <a:rPr dirty="0" sz="1050" spc="-80">
                <a:solidFill>
                  <a:srgbClr val="334054"/>
                </a:solidFill>
                <a:latin typeface="Lucida Console"/>
                <a:cs typeface="Lucida Console"/>
              </a:rPr>
              <a:t> </a:t>
            </a:r>
            <a:r>
              <a:rPr dirty="0" sz="1050" spc="-65">
                <a:solidFill>
                  <a:srgbClr val="334054"/>
                </a:solidFill>
                <a:latin typeface="Lucida Console"/>
                <a:cs typeface="Lucida Console"/>
              </a:rPr>
              <a:t>Integration</a:t>
            </a:r>
            <a:r>
              <a:rPr dirty="0" sz="1050" spc="-80">
                <a:solidFill>
                  <a:srgbClr val="334054"/>
                </a:solidFill>
                <a:latin typeface="Lucida Console"/>
                <a:cs typeface="Lucida Console"/>
              </a:rPr>
              <a:t> </a:t>
            </a:r>
            <a:r>
              <a:rPr dirty="0" sz="1050" spc="-10">
                <a:solidFill>
                  <a:srgbClr val="334054"/>
                </a:solidFill>
                <a:latin typeface="Lucida Console"/>
                <a:cs typeface="Lucida Console"/>
              </a:rPr>
              <a:t>module</a:t>
            </a:r>
            <a:endParaRPr sz="1050">
              <a:latin typeface="Lucida Console"/>
              <a:cs typeface="Lucida Console"/>
            </a:endParaRPr>
          </a:p>
        </p:txBody>
      </p:sp>
      <p:sp>
        <p:nvSpPr>
          <p:cNvPr id="27" name="object 27" descr=""/>
          <p:cNvSpPr txBox="1"/>
          <p:nvPr/>
        </p:nvSpPr>
        <p:spPr>
          <a:xfrm>
            <a:off x="6731000" y="1196736"/>
            <a:ext cx="2089150" cy="2546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85" b="1">
                <a:solidFill>
                  <a:srgbClr val="055E45"/>
                </a:solidFill>
                <a:latin typeface="Roboto"/>
                <a:cs typeface="Roboto"/>
              </a:rPr>
              <a:t>Environment</a:t>
            </a:r>
            <a:r>
              <a:rPr dirty="0" sz="1500" spc="-15" b="1">
                <a:solidFill>
                  <a:srgbClr val="055E45"/>
                </a:solidFill>
                <a:latin typeface="Roboto"/>
                <a:cs typeface="Roboto"/>
              </a:rPr>
              <a:t> </a:t>
            </a:r>
            <a:r>
              <a:rPr dirty="0" sz="1500" spc="-100" b="1">
                <a:solidFill>
                  <a:srgbClr val="055E45"/>
                </a:solidFill>
                <a:latin typeface="Roboto"/>
                <a:cs typeface="Roboto"/>
              </a:rPr>
              <a:t>&amp;</a:t>
            </a:r>
            <a:r>
              <a:rPr dirty="0" sz="1500" spc="-10" b="1">
                <a:solidFill>
                  <a:srgbClr val="055E45"/>
                </a:solidFill>
                <a:latin typeface="Roboto"/>
                <a:cs typeface="Roboto"/>
              </a:rPr>
              <a:t> </a:t>
            </a:r>
            <a:r>
              <a:rPr dirty="0" sz="1500" spc="-100" b="1">
                <a:solidFill>
                  <a:srgbClr val="055E45"/>
                </a:solidFill>
                <a:latin typeface="Roboto"/>
                <a:cs typeface="Roboto"/>
              </a:rPr>
              <a:t>Power</a:t>
            </a:r>
            <a:r>
              <a:rPr dirty="0" sz="1500" spc="-15" b="1">
                <a:solidFill>
                  <a:srgbClr val="055E45"/>
                </a:solidFill>
                <a:latin typeface="Roboto"/>
                <a:cs typeface="Roboto"/>
              </a:rPr>
              <a:t> </a:t>
            </a:r>
            <a:r>
              <a:rPr dirty="0" sz="1500" spc="-70" b="1">
                <a:solidFill>
                  <a:srgbClr val="055E45"/>
                </a:solidFill>
                <a:latin typeface="Roboto"/>
                <a:cs typeface="Roboto"/>
              </a:rPr>
              <a:t>Flow</a:t>
            </a:r>
            <a:endParaRPr sz="1500">
              <a:latin typeface="Roboto"/>
              <a:cs typeface="Roboto"/>
            </a:endParaRPr>
          </a:p>
        </p:txBody>
      </p:sp>
      <p:grpSp>
        <p:nvGrpSpPr>
          <p:cNvPr id="28" name="object 28" descr=""/>
          <p:cNvGrpSpPr/>
          <p:nvPr/>
        </p:nvGrpSpPr>
        <p:grpSpPr>
          <a:xfrm>
            <a:off x="380999" y="1733549"/>
            <a:ext cx="6172835" cy="4867275"/>
            <a:chOff x="380999" y="1733549"/>
            <a:chExt cx="6172835" cy="4867275"/>
          </a:xfrm>
        </p:grpSpPr>
        <p:sp>
          <p:nvSpPr>
            <p:cNvPr id="29" name="object 29" descr=""/>
            <p:cNvSpPr/>
            <p:nvPr/>
          </p:nvSpPr>
          <p:spPr>
            <a:xfrm>
              <a:off x="6448412" y="1733549"/>
              <a:ext cx="38100" cy="723900"/>
            </a:xfrm>
            <a:custGeom>
              <a:avLst/>
              <a:gdLst/>
              <a:ahLst/>
              <a:cxnLst/>
              <a:rect l="l" t="t" r="r" b="b"/>
              <a:pathLst>
                <a:path w="38100" h="723900">
                  <a:moveTo>
                    <a:pt x="38100" y="702335"/>
                  </a:moveTo>
                  <a:lnTo>
                    <a:pt x="21577" y="685800"/>
                  </a:lnTo>
                  <a:lnTo>
                    <a:pt x="16522" y="685800"/>
                  </a:lnTo>
                  <a:lnTo>
                    <a:pt x="0" y="702335"/>
                  </a:lnTo>
                  <a:lnTo>
                    <a:pt x="0" y="707377"/>
                  </a:lnTo>
                  <a:lnTo>
                    <a:pt x="16522" y="723900"/>
                  </a:lnTo>
                  <a:lnTo>
                    <a:pt x="21577" y="723900"/>
                  </a:lnTo>
                  <a:lnTo>
                    <a:pt x="38100" y="707377"/>
                  </a:lnTo>
                  <a:lnTo>
                    <a:pt x="38100" y="704850"/>
                  </a:lnTo>
                  <a:lnTo>
                    <a:pt x="38100" y="702335"/>
                  </a:lnTo>
                  <a:close/>
                </a:path>
                <a:path w="38100" h="723900">
                  <a:moveTo>
                    <a:pt x="38100" y="473735"/>
                  </a:moveTo>
                  <a:lnTo>
                    <a:pt x="21577" y="457200"/>
                  </a:lnTo>
                  <a:lnTo>
                    <a:pt x="16522" y="457200"/>
                  </a:lnTo>
                  <a:lnTo>
                    <a:pt x="0" y="473735"/>
                  </a:lnTo>
                  <a:lnTo>
                    <a:pt x="0" y="478777"/>
                  </a:lnTo>
                  <a:lnTo>
                    <a:pt x="16522" y="495300"/>
                  </a:lnTo>
                  <a:lnTo>
                    <a:pt x="21577" y="495300"/>
                  </a:lnTo>
                  <a:lnTo>
                    <a:pt x="38100" y="478777"/>
                  </a:lnTo>
                  <a:lnTo>
                    <a:pt x="38100" y="476250"/>
                  </a:lnTo>
                  <a:lnTo>
                    <a:pt x="38100" y="473735"/>
                  </a:lnTo>
                  <a:close/>
                </a:path>
                <a:path w="38100" h="723900">
                  <a:moveTo>
                    <a:pt x="38100" y="245135"/>
                  </a:moveTo>
                  <a:lnTo>
                    <a:pt x="21577" y="228600"/>
                  </a:lnTo>
                  <a:lnTo>
                    <a:pt x="16522" y="228600"/>
                  </a:lnTo>
                  <a:lnTo>
                    <a:pt x="0" y="245135"/>
                  </a:lnTo>
                  <a:lnTo>
                    <a:pt x="0" y="250177"/>
                  </a:lnTo>
                  <a:lnTo>
                    <a:pt x="16522" y="266700"/>
                  </a:lnTo>
                  <a:lnTo>
                    <a:pt x="21577" y="266700"/>
                  </a:lnTo>
                  <a:lnTo>
                    <a:pt x="38100" y="250177"/>
                  </a:lnTo>
                  <a:lnTo>
                    <a:pt x="38100" y="247650"/>
                  </a:lnTo>
                  <a:lnTo>
                    <a:pt x="38100" y="245135"/>
                  </a:lnTo>
                  <a:close/>
                </a:path>
                <a:path w="38100" h="723900">
                  <a:moveTo>
                    <a:pt x="38100" y="16535"/>
                  </a:moveTo>
                  <a:lnTo>
                    <a:pt x="21577" y="0"/>
                  </a:lnTo>
                  <a:lnTo>
                    <a:pt x="16522" y="0"/>
                  </a:lnTo>
                  <a:lnTo>
                    <a:pt x="0" y="16535"/>
                  </a:lnTo>
                  <a:lnTo>
                    <a:pt x="0" y="21577"/>
                  </a:lnTo>
                  <a:lnTo>
                    <a:pt x="16522" y="38100"/>
                  </a:lnTo>
                  <a:lnTo>
                    <a:pt x="21577" y="38100"/>
                  </a:lnTo>
                  <a:lnTo>
                    <a:pt x="38100" y="21577"/>
                  </a:lnTo>
                  <a:lnTo>
                    <a:pt x="38100" y="19050"/>
                  </a:lnTo>
                  <a:lnTo>
                    <a:pt x="38100" y="16535"/>
                  </a:lnTo>
                  <a:close/>
                </a:path>
              </a:pathLst>
            </a:custGeom>
            <a:solidFill>
              <a:srgbClr val="37405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0" name="object 30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438877" y="2694994"/>
              <a:ext cx="114344" cy="115460"/>
            </a:xfrm>
            <a:prstGeom prst="rect">
              <a:avLst/>
            </a:prstGeom>
          </p:spPr>
        </p:pic>
        <p:sp>
          <p:nvSpPr>
            <p:cNvPr id="31" name="object 31" descr=""/>
            <p:cNvSpPr/>
            <p:nvPr/>
          </p:nvSpPr>
          <p:spPr>
            <a:xfrm>
              <a:off x="380999" y="3667124"/>
              <a:ext cx="5600700" cy="2933700"/>
            </a:xfrm>
            <a:custGeom>
              <a:avLst/>
              <a:gdLst/>
              <a:ahLst/>
              <a:cxnLst/>
              <a:rect l="l" t="t" r="r" b="b"/>
              <a:pathLst>
                <a:path w="5600700" h="2933700">
                  <a:moveTo>
                    <a:pt x="5529501" y="2933699"/>
                  </a:moveTo>
                  <a:lnTo>
                    <a:pt x="71196" y="2933699"/>
                  </a:lnTo>
                  <a:lnTo>
                    <a:pt x="66241" y="2933210"/>
                  </a:lnTo>
                  <a:lnTo>
                    <a:pt x="29705" y="2918077"/>
                  </a:lnTo>
                  <a:lnTo>
                    <a:pt x="3885" y="2882037"/>
                  </a:lnTo>
                  <a:lnTo>
                    <a:pt x="0" y="2862503"/>
                  </a:lnTo>
                  <a:lnTo>
                    <a:pt x="0" y="2857499"/>
                  </a:lnTo>
                  <a:lnTo>
                    <a:pt x="0" y="71196"/>
                  </a:lnTo>
                  <a:lnTo>
                    <a:pt x="15621" y="29704"/>
                  </a:lnTo>
                  <a:lnTo>
                    <a:pt x="51661" y="3885"/>
                  </a:lnTo>
                  <a:lnTo>
                    <a:pt x="71196" y="0"/>
                  </a:lnTo>
                  <a:lnTo>
                    <a:pt x="5529501" y="0"/>
                  </a:lnTo>
                  <a:lnTo>
                    <a:pt x="5570993" y="15621"/>
                  </a:lnTo>
                  <a:lnTo>
                    <a:pt x="5596812" y="51661"/>
                  </a:lnTo>
                  <a:lnTo>
                    <a:pt x="5600698" y="71196"/>
                  </a:lnTo>
                  <a:lnTo>
                    <a:pt x="5600698" y="2862503"/>
                  </a:lnTo>
                  <a:lnTo>
                    <a:pt x="5585076" y="2903993"/>
                  </a:lnTo>
                  <a:lnTo>
                    <a:pt x="5549036" y="2929812"/>
                  </a:lnTo>
                  <a:lnTo>
                    <a:pt x="5534457" y="2933211"/>
                  </a:lnTo>
                  <a:lnTo>
                    <a:pt x="5529501" y="29336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 descr=""/>
            <p:cNvSpPr/>
            <p:nvPr/>
          </p:nvSpPr>
          <p:spPr>
            <a:xfrm>
              <a:off x="533399" y="3819524"/>
              <a:ext cx="342900" cy="381000"/>
            </a:xfrm>
            <a:custGeom>
              <a:avLst/>
              <a:gdLst/>
              <a:ahLst/>
              <a:cxnLst/>
              <a:rect l="l" t="t" r="r" b="b"/>
              <a:pathLst>
                <a:path w="342900" h="381000">
                  <a:moveTo>
                    <a:pt x="171449" y="380999"/>
                  </a:moveTo>
                  <a:lnTo>
                    <a:pt x="129780" y="375859"/>
                  </a:lnTo>
                  <a:lnTo>
                    <a:pt x="90627" y="360756"/>
                  </a:lnTo>
                  <a:lnTo>
                    <a:pt x="56317" y="336593"/>
                  </a:lnTo>
                  <a:lnTo>
                    <a:pt x="28894" y="304801"/>
                  </a:lnTo>
                  <a:lnTo>
                    <a:pt x="10017" y="267300"/>
                  </a:lnTo>
                  <a:lnTo>
                    <a:pt x="823" y="226355"/>
                  </a:lnTo>
                  <a:lnTo>
                    <a:pt x="0" y="209549"/>
                  </a:lnTo>
                  <a:lnTo>
                    <a:pt x="0" y="171449"/>
                  </a:lnTo>
                  <a:lnTo>
                    <a:pt x="5139" y="129780"/>
                  </a:lnTo>
                  <a:lnTo>
                    <a:pt x="20242" y="90627"/>
                  </a:lnTo>
                  <a:lnTo>
                    <a:pt x="44406" y="56317"/>
                  </a:lnTo>
                  <a:lnTo>
                    <a:pt x="76197" y="28893"/>
                  </a:lnTo>
                  <a:lnTo>
                    <a:pt x="113699" y="10017"/>
                  </a:lnTo>
                  <a:lnTo>
                    <a:pt x="154644" y="823"/>
                  </a:lnTo>
                  <a:lnTo>
                    <a:pt x="171449" y="0"/>
                  </a:lnTo>
                  <a:lnTo>
                    <a:pt x="179872" y="205"/>
                  </a:lnTo>
                  <a:lnTo>
                    <a:pt x="221219" y="7380"/>
                  </a:lnTo>
                  <a:lnTo>
                    <a:pt x="259584" y="24385"/>
                  </a:lnTo>
                  <a:lnTo>
                    <a:pt x="292683" y="50216"/>
                  </a:lnTo>
                  <a:lnTo>
                    <a:pt x="318513" y="83314"/>
                  </a:lnTo>
                  <a:lnTo>
                    <a:pt x="335519" y="121679"/>
                  </a:lnTo>
                  <a:lnTo>
                    <a:pt x="342694" y="163026"/>
                  </a:lnTo>
                  <a:lnTo>
                    <a:pt x="342899" y="171449"/>
                  </a:lnTo>
                  <a:lnTo>
                    <a:pt x="342899" y="209549"/>
                  </a:lnTo>
                  <a:lnTo>
                    <a:pt x="337760" y="251218"/>
                  </a:lnTo>
                  <a:lnTo>
                    <a:pt x="322657" y="290371"/>
                  </a:lnTo>
                  <a:lnTo>
                    <a:pt x="298493" y="324681"/>
                  </a:lnTo>
                  <a:lnTo>
                    <a:pt x="266702" y="352104"/>
                  </a:lnTo>
                  <a:lnTo>
                    <a:pt x="229200" y="370981"/>
                  </a:lnTo>
                  <a:lnTo>
                    <a:pt x="188255" y="380176"/>
                  </a:lnTo>
                  <a:lnTo>
                    <a:pt x="171449" y="380999"/>
                  </a:lnTo>
                  <a:close/>
                </a:path>
              </a:pathLst>
            </a:custGeom>
            <a:solidFill>
              <a:srgbClr val="7C3AE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3" name="object 33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09599" y="3924299"/>
              <a:ext cx="190499" cy="152399"/>
            </a:xfrm>
            <a:prstGeom prst="rect">
              <a:avLst/>
            </a:prstGeom>
          </p:spPr>
        </p:pic>
      </p:grpSp>
      <p:sp>
        <p:nvSpPr>
          <p:cNvPr id="34" name="object 34" descr=""/>
          <p:cNvSpPr txBox="1"/>
          <p:nvPr/>
        </p:nvSpPr>
        <p:spPr>
          <a:xfrm>
            <a:off x="6578600" y="1579070"/>
            <a:ext cx="3482975" cy="939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142875">
              <a:lnSpc>
                <a:spcPct val="130400"/>
              </a:lnSpc>
              <a:spcBef>
                <a:spcPts val="95"/>
              </a:spcBef>
            </a:pPr>
            <a:r>
              <a:rPr dirty="0" sz="1150" spc="-60">
                <a:solidFill>
                  <a:srgbClr val="374050"/>
                </a:solidFill>
                <a:latin typeface="Roboto"/>
                <a:cs typeface="Roboto"/>
              </a:rPr>
              <a:t>OpenAI</a:t>
            </a:r>
            <a:r>
              <a:rPr dirty="0" sz="1150" spc="-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150" spc="-85">
                <a:solidFill>
                  <a:srgbClr val="374050"/>
                </a:solidFill>
                <a:latin typeface="Roboto"/>
                <a:cs typeface="Roboto"/>
              </a:rPr>
              <a:t>Gym</a:t>
            </a:r>
            <a:r>
              <a:rPr dirty="0" sz="1150" spc="-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150" spc="-70">
                <a:solidFill>
                  <a:srgbClr val="374050"/>
                </a:solidFill>
                <a:latin typeface="Roboto"/>
                <a:cs typeface="Roboto"/>
              </a:rPr>
              <a:t>custom</a:t>
            </a:r>
            <a:r>
              <a:rPr dirty="0" sz="1150" spc="-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150" spc="-55">
                <a:solidFill>
                  <a:srgbClr val="374050"/>
                </a:solidFill>
                <a:latin typeface="Roboto"/>
                <a:cs typeface="Roboto"/>
              </a:rPr>
              <a:t>environment</a:t>
            </a:r>
            <a:r>
              <a:rPr dirty="0" sz="115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150" spc="-45">
                <a:solidFill>
                  <a:srgbClr val="374050"/>
                </a:solidFill>
                <a:latin typeface="Roboto"/>
                <a:cs typeface="Roboto"/>
              </a:rPr>
              <a:t>for</a:t>
            </a:r>
            <a:r>
              <a:rPr dirty="0" sz="1150" spc="-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150" spc="-70">
                <a:solidFill>
                  <a:srgbClr val="374050"/>
                </a:solidFill>
                <a:latin typeface="Roboto"/>
                <a:cs typeface="Roboto"/>
              </a:rPr>
              <a:t>RL</a:t>
            </a:r>
            <a:r>
              <a:rPr dirty="0" sz="1150" spc="-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150" spc="-10">
                <a:solidFill>
                  <a:srgbClr val="374050"/>
                </a:solidFill>
                <a:latin typeface="Roboto"/>
                <a:cs typeface="Roboto"/>
              </a:rPr>
              <a:t>training </a:t>
            </a:r>
            <a:r>
              <a:rPr dirty="0" sz="1150" spc="-65">
                <a:solidFill>
                  <a:srgbClr val="374050"/>
                </a:solidFill>
                <a:latin typeface="Roboto"/>
                <a:cs typeface="Roboto"/>
              </a:rPr>
              <a:t>OpenDSS</a:t>
            </a:r>
            <a:r>
              <a:rPr dirty="0" sz="1150" spc="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150" spc="-90">
                <a:solidFill>
                  <a:srgbClr val="374050"/>
                </a:solidFill>
                <a:latin typeface="Roboto"/>
                <a:cs typeface="Roboto"/>
              </a:rPr>
              <a:t>COM</a:t>
            </a:r>
            <a:r>
              <a:rPr dirty="0" sz="1150" spc="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150" spc="-45">
                <a:solidFill>
                  <a:srgbClr val="374050"/>
                </a:solidFill>
                <a:latin typeface="Roboto"/>
                <a:cs typeface="Roboto"/>
              </a:rPr>
              <a:t>interface</a:t>
            </a:r>
            <a:r>
              <a:rPr dirty="0" sz="1150" spc="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150" spc="-45">
                <a:solidFill>
                  <a:srgbClr val="374050"/>
                </a:solidFill>
                <a:latin typeface="Roboto"/>
                <a:cs typeface="Roboto"/>
              </a:rPr>
              <a:t>for</a:t>
            </a:r>
            <a:r>
              <a:rPr dirty="0" sz="1150" spc="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150" spc="-55">
                <a:solidFill>
                  <a:srgbClr val="374050"/>
                </a:solidFill>
                <a:latin typeface="Roboto"/>
                <a:cs typeface="Roboto"/>
              </a:rPr>
              <a:t>three-</a:t>
            </a:r>
            <a:r>
              <a:rPr dirty="0" sz="1150" spc="-65">
                <a:solidFill>
                  <a:srgbClr val="374050"/>
                </a:solidFill>
                <a:latin typeface="Roboto"/>
                <a:cs typeface="Roboto"/>
              </a:rPr>
              <a:t>phase</a:t>
            </a:r>
            <a:r>
              <a:rPr dirty="0" sz="1150" spc="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150" spc="-65">
                <a:solidFill>
                  <a:srgbClr val="374050"/>
                </a:solidFill>
                <a:latin typeface="Roboto"/>
                <a:cs typeface="Roboto"/>
              </a:rPr>
              <a:t>power</a:t>
            </a:r>
            <a:r>
              <a:rPr dirty="0" sz="1150" spc="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150" spc="-20">
                <a:solidFill>
                  <a:srgbClr val="374050"/>
                </a:solidFill>
                <a:latin typeface="Roboto"/>
                <a:cs typeface="Roboto"/>
              </a:rPr>
              <a:t>flow </a:t>
            </a:r>
            <a:r>
              <a:rPr dirty="0" sz="1150" spc="-60">
                <a:solidFill>
                  <a:srgbClr val="374050"/>
                </a:solidFill>
                <a:latin typeface="Roboto"/>
                <a:cs typeface="Roboto"/>
              </a:rPr>
              <a:t>IEEE</a:t>
            </a:r>
            <a:r>
              <a:rPr dirty="0" sz="1150" spc="-1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150" spc="-50">
                <a:solidFill>
                  <a:srgbClr val="374050"/>
                </a:solidFill>
                <a:latin typeface="Roboto"/>
                <a:cs typeface="Roboto"/>
              </a:rPr>
              <a:t>test</a:t>
            </a:r>
            <a:r>
              <a:rPr dirty="0" sz="1150" spc="-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150" spc="-65">
                <a:solidFill>
                  <a:srgbClr val="374050"/>
                </a:solidFill>
                <a:latin typeface="Roboto"/>
                <a:cs typeface="Roboto"/>
              </a:rPr>
              <a:t>systems</a:t>
            </a:r>
            <a:r>
              <a:rPr dirty="0" sz="1150" spc="-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150" spc="-35">
                <a:solidFill>
                  <a:srgbClr val="374050"/>
                </a:solidFill>
                <a:latin typeface="Roboto"/>
                <a:cs typeface="Roboto"/>
              </a:rPr>
              <a:t>fully</a:t>
            </a:r>
            <a:r>
              <a:rPr dirty="0" sz="1150" spc="-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150" spc="-60">
                <a:solidFill>
                  <a:srgbClr val="374050"/>
                </a:solidFill>
                <a:latin typeface="Roboto"/>
                <a:cs typeface="Roboto"/>
              </a:rPr>
              <a:t>modeled</a:t>
            </a:r>
            <a:r>
              <a:rPr dirty="0" sz="1150" spc="-1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150" spc="-50">
                <a:solidFill>
                  <a:srgbClr val="374050"/>
                </a:solidFill>
                <a:latin typeface="Roboto"/>
                <a:cs typeface="Roboto"/>
              </a:rPr>
              <a:t>with</a:t>
            </a:r>
            <a:r>
              <a:rPr dirty="0" sz="1150" spc="-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150" spc="-55">
                <a:solidFill>
                  <a:srgbClr val="374050"/>
                </a:solidFill>
                <a:latin typeface="Roboto"/>
                <a:cs typeface="Roboto"/>
              </a:rPr>
              <a:t>renewable</a:t>
            </a:r>
            <a:r>
              <a:rPr dirty="0" sz="1150" spc="-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150" spc="-50">
                <a:solidFill>
                  <a:srgbClr val="374050"/>
                </a:solidFill>
                <a:latin typeface="Roboto"/>
                <a:cs typeface="Roboto"/>
              </a:rPr>
              <a:t>sources</a:t>
            </a:r>
            <a:endParaRPr sz="115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420"/>
              </a:spcBef>
            </a:pPr>
            <a:r>
              <a:rPr dirty="0" sz="1150" spc="-55">
                <a:solidFill>
                  <a:srgbClr val="374050"/>
                </a:solidFill>
                <a:latin typeface="Roboto"/>
                <a:cs typeface="Roboto"/>
              </a:rPr>
              <a:t>Optimal</a:t>
            </a:r>
            <a:r>
              <a:rPr dirty="0" sz="1150" spc="1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150" spc="-60">
                <a:solidFill>
                  <a:srgbClr val="374050"/>
                </a:solidFill>
                <a:latin typeface="Roboto"/>
                <a:cs typeface="Roboto"/>
              </a:rPr>
              <a:t>performance</a:t>
            </a:r>
            <a:r>
              <a:rPr dirty="0" sz="1150" spc="1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150" spc="-50">
                <a:solidFill>
                  <a:srgbClr val="374050"/>
                </a:solidFill>
                <a:latin typeface="Roboto"/>
                <a:cs typeface="Roboto"/>
              </a:rPr>
              <a:t>via</a:t>
            </a:r>
            <a:r>
              <a:rPr dirty="0" sz="1150" spc="1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150" spc="-60">
                <a:solidFill>
                  <a:srgbClr val="374050"/>
                </a:solidFill>
                <a:latin typeface="Roboto"/>
                <a:cs typeface="Roboto"/>
              </a:rPr>
              <a:t>lookup</a:t>
            </a:r>
            <a:r>
              <a:rPr dirty="0" sz="1150" spc="1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150" spc="-55">
                <a:solidFill>
                  <a:srgbClr val="374050"/>
                </a:solidFill>
                <a:latin typeface="Roboto"/>
                <a:cs typeface="Roboto"/>
              </a:rPr>
              <a:t>tables</a:t>
            </a:r>
            <a:r>
              <a:rPr dirty="0" sz="1150" spc="1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150" spc="-45">
                <a:solidFill>
                  <a:srgbClr val="374050"/>
                </a:solidFill>
                <a:latin typeface="Roboto"/>
                <a:cs typeface="Roboto"/>
              </a:rPr>
              <a:t>for</a:t>
            </a:r>
            <a:r>
              <a:rPr dirty="0" sz="1150" spc="1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150" spc="-80">
                <a:solidFill>
                  <a:srgbClr val="374050"/>
                </a:solidFill>
                <a:latin typeface="Roboto"/>
                <a:cs typeface="Roboto"/>
              </a:rPr>
              <a:t>common</a:t>
            </a:r>
            <a:r>
              <a:rPr dirty="0" sz="1150" spc="1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150" spc="-20">
                <a:solidFill>
                  <a:srgbClr val="374050"/>
                </a:solidFill>
                <a:latin typeface="Roboto"/>
                <a:cs typeface="Roboto"/>
              </a:rPr>
              <a:t>states</a:t>
            </a:r>
            <a:endParaRPr sz="1150">
              <a:latin typeface="Roboto"/>
              <a:cs typeface="Roboto"/>
            </a:endParaRPr>
          </a:p>
        </p:txBody>
      </p:sp>
      <p:sp>
        <p:nvSpPr>
          <p:cNvPr id="35" name="object 35" descr=""/>
          <p:cNvSpPr txBox="1"/>
          <p:nvPr/>
        </p:nvSpPr>
        <p:spPr>
          <a:xfrm>
            <a:off x="6616700" y="2650966"/>
            <a:ext cx="2112010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65">
                <a:solidFill>
                  <a:srgbClr val="374050"/>
                </a:solidFill>
                <a:latin typeface="Roboto"/>
                <a:cs typeface="Roboto"/>
              </a:rPr>
              <a:t>Fast</a:t>
            </a:r>
            <a:r>
              <a:rPr dirty="0" sz="1000" spc="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000" spc="-45">
                <a:solidFill>
                  <a:srgbClr val="374050"/>
                </a:solidFill>
                <a:latin typeface="Roboto"/>
                <a:cs typeface="Roboto"/>
              </a:rPr>
              <a:t>solving:</a:t>
            </a:r>
            <a:r>
              <a:rPr dirty="0" sz="1000" spc="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000" spc="-60">
                <a:solidFill>
                  <a:srgbClr val="374050"/>
                </a:solidFill>
                <a:latin typeface="Roboto"/>
                <a:cs typeface="Roboto"/>
              </a:rPr>
              <a:t>&lt;100ms</a:t>
            </a:r>
            <a:r>
              <a:rPr dirty="0" sz="1000" spc="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000" spc="-45">
                <a:solidFill>
                  <a:srgbClr val="374050"/>
                </a:solidFill>
                <a:latin typeface="Roboto"/>
                <a:cs typeface="Roboto"/>
              </a:rPr>
              <a:t>for</a:t>
            </a:r>
            <a:r>
              <a:rPr dirty="0" sz="1000" spc="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000" spc="-55">
                <a:solidFill>
                  <a:srgbClr val="374050"/>
                </a:solidFill>
                <a:latin typeface="Roboto"/>
                <a:cs typeface="Roboto"/>
              </a:rPr>
              <a:t>123-</a:t>
            </a:r>
            <a:r>
              <a:rPr dirty="0" sz="1000" spc="-65">
                <a:solidFill>
                  <a:srgbClr val="374050"/>
                </a:solidFill>
                <a:latin typeface="Roboto"/>
                <a:cs typeface="Roboto"/>
              </a:rPr>
              <a:t>bus</a:t>
            </a:r>
            <a:r>
              <a:rPr dirty="0" sz="1000" spc="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000" spc="-50">
                <a:solidFill>
                  <a:srgbClr val="374050"/>
                </a:solidFill>
                <a:latin typeface="Roboto"/>
                <a:cs typeface="Roboto"/>
              </a:rPr>
              <a:t>system</a:t>
            </a:r>
            <a:endParaRPr sz="1000">
              <a:latin typeface="Roboto"/>
              <a:cs typeface="Roboto"/>
            </a:endParaRPr>
          </a:p>
        </p:txBody>
      </p:sp>
      <p:sp>
        <p:nvSpPr>
          <p:cNvPr id="36" name="object 36" descr=""/>
          <p:cNvSpPr txBox="1"/>
          <p:nvPr/>
        </p:nvSpPr>
        <p:spPr>
          <a:xfrm>
            <a:off x="977900" y="3863736"/>
            <a:ext cx="2309495" cy="2546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90" b="1">
                <a:solidFill>
                  <a:srgbClr val="5B20B5"/>
                </a:solidFill>
                <a:latin typeface="Roboto"/>
                <a:cs typeface="Roboto"/>
              </a:rPr>
              <a:t>Agent</a:t>
            </a:r>
            <a:r>
              <a:rPr dirty="0" sz="1500" spc="-20" b="1">
                <a:solidFill>
                  <a:srgbClr val="5B20B5"/>
                </a:solidFill>
                <a:latin typeface="Roboto"/>
                <a:cs typeface="Roboto"/>
              </a:rPr>
              <a:t> </a:t>
            </a:r>
            <a:r>
              <a:rPr dirty="0" sz="1500" spc="-75" b="1">
                <a:solidFill>
                  <a:srgbClr val="5B20B5"/>
                </a:solidFill>
                <a:latin typeface="Roboto"/>
                <a:cs typeface="Roboto"/>
              </a:rPr>
              <a:t>Architecture</a:t>
            </a:r>
            <a:r>
              <a:rPr dirty="0" sz="1500" spc="-15" b="1">
                <a:solidFill>
                  <a:srgbClr val="5B20B5"/>
                </a:solidFill>
                <a:latin typeface="Roboto"/>
                <a:cs typeface="Roboto"/>
              </a:rPr>
              <a:t> </a:t>
            </a:r>
            <a:r>
              <a:rPr dirty="0" sz="1500" spc="-105" b="1">
                <a:solidFill>
                  <a:srgbClr val="5B20B5"/>
                </a:solidFill>
                <a:latin typeface="Roboto"/>
                <a:cs typeface="Roboto"/>
              </a:rPr>
              <a:t>&amp;</a:t>
            </a:r>
            <a:r>
              <a:rPr dirty="0" sz="1500" spc="-50" b="1">
                <a:solidFill>
                  <a:srgbClr val="5B20B5"/>
                </a:solidFill>
                <a:latin typeface="Roboto"/>
                <a:cs typeface="Roboto"/>
              </a:rPr>
              <a:t> </a:t>
            </a:r>
            <a:r>
              <a:rPr dirty="0" sz="1500" spc="-80" b="1">
                <a:solidFill>
                  <a:srgbClr val="5B20B5"/>
                </a:solidFill>
                <a:latin typeface="Roboto"/>
                <a:cs typeface="Roboto"/>
              </a:rPr>
              <a:t>Training</a:t>
            </a:r>
            <a:endParaRPr sz="1500">
              <a:latin typeface="Roboto"/>
              <a:cs typeface="Roboto"/>
            </a:endParaRPr>
          </a:p>
        </p:txBody>
      </p:sp>
      <p:grpSp>
        <p:nvGrpSpPr>
          <p:cNvPr id="37" name="object 37" descr=""/>
          <p:cNvGrpSpPr/>
          <p:nvPr/>
        </p:nvGrpSpPr>
        <p:grpSpPr>
          <a:xfrm>
            <a:off x="619124" y="4314824"/>
            <a:ext cx="5210175" cy="2057400"/>
            <a:chOff x="619124" y="4314824"/>
            <a:chExt cx="5210175" cy="2057400"/>
          </a:xfrm>
        </p:grpSpPr>
        <p:sp>
          <p:nvSpPr>
            <p:cNvPr id="38" name="object 38" descr=""/>
            <p:cNvSpPr/>
            <p:nvPr/>
          </p:nvSpPr>
          <p:spPr>
            <a:xfrm>
              <a:off x="619112" y="4400549"/>
              <a:ext cx="38100" cy="1714500"/>
            </a:xfrm>
            <a:custGeom>
              <a:avLst/>
              <a:gdLst/>
              <a:ahLst/>
              <a:cxnLst/>
              <a:rect l="l" t="t" r="r" b="b"/>
              <a:pathLst>
                <a:path w="38100" h="1714500">
                  <a:moveTo>
                    <a:pt x="38100" y="1692935"/>
                  </a:moveTo>
                  <a:lnTo>
                    <a:pt x="21577" y="1676400"/>
                  </a:lnTo>
                  <a:lnTo>
                    <a:pt x="16535" y="1676400"/>
                  </a:lnTo>
                  <a:lnTo>
                    <a:pt x="0" y="1692935"/>
                  </a:lnTo>
                  <a:lnTo>
                    <a:pt x="0" y="1697977"/>
                  </a:lnTo>
                  <a:lnTo>
                    <a:pt x="16535" y="1714500"/>
                  </a:lnTo>
                  <a:lnTo>
                    <a:pt x="21577" y="1714500"/>
                  </a:lnTo>
                  <a:lnTo>
                    <a:pt x="38100" y="1697977"/>
                  </a:lnTo>
                  <a:lnTo>
                    <a:pt x="38100" y="1695450"/>
                  </a:lnTo>
                  <a:lnTo>
                    <a:pt x="38100" y="1692935"/>
                  </a:lnTo>
                  <a:close/>
                </a:path>
                <a:path w="38100" h="1714500">
                  <a:moveTo>
                    <a:pt x="38100" y="1273835"/>
                  </a:moveTo>
                  <a:lnTo>
                    <a:pt x="21577" y="1257300"/>
                  </a:lnTo>
                  <a:lnTo>
                    <a:pt x="16535" y="1257300"/>
                  </a:lnTo>
                  <a:lnTo>
                    <a:pt x="0" y="1273835"/>
                  </a:lnTo>
                  <a:lnTo>
                    <a:pt x="0" y="1278877"/>
                  </a:lnTo>
                  <a:lnTo>
                    <a:pt x="16535" y="1295400"/>
                  </a:lnTo>
                  <a:lnTo>
                    <a:pt x="21577" y="1295400"/>
                  </a:lnTo>
                  <a:lnTo>
                    <a:pt x="38100" y="1278877"/>
                  </a:lnTo>
                  <a:lnTo>
                    <a:pt x="38100" y="1276350"/>
                  </a:lnTo>
                  <a:lnTo>
                    <a:pt x="38100" y="1273835"/>
                  </a:lnTo>
                  <a:close/>
                </a:path>
                <a:path w="38100" h="1714500">
                  <a:moveTo>
                    <a:pt x="38100" y="854735"/>
                  </a:moveTo>
                  <a:lnTo>
                    <a:pt x="21577" y="838200"/>
                  </a:lnTo>
                  <a:lnTo>
                    <a:pt x="16535" y="838200"/>
                  </a:lnTo>
                  <a:lnTo>
                    <a:pt x="0" y="854735"/>
                  </a:lnTo>
                  <a:lnTo>
                    <a:pt x="0" y="859777"/>
                  </a:lnTo>
                  <a:lnTo>
                    <a:pt x="16535" y="876300"/>
                  </a:lnTo>
                  <a:lnTo>
                    <a:pt x="21577" y="876300"/>
                  </a:lnTo>
                  <a:lnTo>
                    <a:pt x="38100" y="859777"/>
                  </a:lnTo>
                  <a:lnTo>
                    <a:pt x="38100" y="857250"/>
                  </a:lnTo>
                  <a:lnTo>
                    <a:pt x="38100" y="854735"/>
                  </a:lnTo>
                  <a:close/>
                </a:path>
                <a:path w="38100" h="1714500">
                  <a:moveTo>
                    <a:pt x="38100" y="435635"/>
                  </a:moveTo>
                  <a:lnTo>
                    <a:pt x="21577" y="419100"/>
                  </a:lnTo>
                  <a:lnTo>
                    <a:pt x="16535" y="419100"/>
                  </a:lnTo>
                  <a:lnTo>
                    <a:pt x="0" y="435635"/>
                  </a:lnTo>
                  <a:lnTo>
                    <a:pt x="0" y="440677"/>
                  </a:lnTo>
                  <a:lnTo>
                    <a:pt x="16535" y="457200"/>
                  </a:lnTo>
                  <a:lnTo>
                    <a:pt x="21577" y="457200"/>
                  </a:lnTo>
                  <a:lnTo>
                    <a:pt x="38100" y="440677"/>
                  </a:lnTo>
                  <a:lnTo>
                    <a:pt x="38100" y="438150"/>
                  </a:lnTo>
                  <a:lnTo>
                    <a:pt x="38100" y="435635"/>
                  </a:lnTo>
                  <a:close/>
                </a:path>
                <a:path w="38100" h="1714500">
                  <a:moveTo>
                    <a:pt x="38100" y="16535"/>
                  </a:moveTo>
                  <a:lnTo>
                    <a:pt x="21577" y="0"/>
                  </a:lnTo>
                  <a:lnTo>
                    <a:pt x="16535" y="0"/>
                  </a:lnTo>
                  <a:lnTo>
                    <a:pt x="0" y="16535"/>
                  </a:lnTo>
                  <a:lnTo>
                    <a:pt x="0" y="21577"/>
                  </a:lnTo>
                  <a:lnTo>
                    <a:pt x="16535" y="38100"/>
                  </a:lnTo>
                  <a:lnTo>
                    <a:pt x="21577" y="38100"/>
                  </a:lnTo>
                  <a:lnTo>
                    <a:pt x="38100" y="21577"/>
                  </a:lnTo>
                  <a:lnTo>
                    <a:pt x="38100" y="19050"/>
                  </a:lnTo>
                  <a:lnTo>
                    <a:pt x="38100" y="16535"/>
                  </a:lnTo>
                  <a:close/>
                </a:path>
              </a:pathLst>
            </a:custGeom>
            <a:solidFill>
              <a:srgbClr val="37405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 descr=""/>
            <p:cNvSpPr/>
            <p:nvPr/>
          </p:nvSpPr>
          <p:spPr>
            <a:xfrm>
              <a:off x="2686049" y="4314824"/>
              <a:ext cx="3143250" cy="2057400"/>
            </a:xfrm>
            <a:custGeom>
              <a:avLst/>
              <a:gdLst/>
              <a:ahLst/>
              <a:cxnLst/>
              <a:rect l="l" t="t" r="r" b="b"/>
              <a:pathLst>
                <a:path w="3143250" h="2057400">
                  <a:moveTo>
                    <a:pt x="3110201" y="2057399"/>
                  </a:moveTo>
                  <a:lnTo>
                    <a:pt x="33047" y="2057399"/>
                  </a:lnTo>
                  <a:lnTo>
                    <a:pt x="28187" y="2056432"/>
                  </a:lnTo>
                  <a:lnTo>
                    <a:pt x="966" y="2029211"/>
                  </a:lnTo>
                  <a:lnTo>
                    <a:pt x="0" y="2024351"/>
                  </a:lnTo>
                  <a:lnTo>
                    <a:pt x="0" y="2019299"/>
                  </a:lnTo>
                  <a:lnTo>
                    <a:pt x="0" y="33047"/>
                  </a:lnTo>
                  <a:lnTo>
                    <a:pt x="28187" y="966"/>
                  </a:lnTo>
                  <a:lnTo>
                    <a:pt x="33047" y="0"/>
                  </a:lnTo>
                  <a:lnTo>
                    <a:pt x="3110201" y="0"/>
                  </a:lnTo>
                  <a:lnTo>
                    <a:pt x="3142282" y="28186"/>
                  </a:lnTo>
                  <a:lnTo>
                    <a:pt x="3143249" y="33047"/>
                  </a:lnTo>
                  <a:lnTo>
                    <a:pt x="3143249" y="2024351"/>
                  </a:lnTo>
                  <a:lnTo>
                    <a:pt x="3115061" y="2056432"/>
                  </a:lnTo>
                  <a:lnTo>
                    <a:pt x="3110201" y="2057399"/>
                  </a:lnTo>
                  <a:close/>
                </a:path>
              </a:pathLst>
            </a:custGeom>
            <a:solidFill>
              <a:srgbClr val="F2F4F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 descr=""/>
            <p:cNvSpPr/>
            <p:nvPr/>
          </p:nvSpPr>
          <p:spPr>
            <a:xfrm>
              <a:off x="2762249" y="4391024"/>
              <a:ext cx="752475" cy="457200"/>
            </a:xfrm>
            <a:custGeom>
              <a:avLst/>
              <a:gdLst/>
              <a:ahLst/>
              <a:cxnLst/>
              <a:rect l="l" t="t" r="r" b="b"/>
              <a:pathLst>
                <a:path w="752475" h="457200">
                  <a:moveTo>
                    <a:pt x="719427" y="457199"/>
                  </a:moveTo>
                  <a:lnTo>
                    <a:pt x="33047" y="457199"/>
                  </a:lnTo>
                  <a:lnTo>
                    <a:pt x="28187" y="456232"/>
                  </a:lnTo>
                  <a:lnTo>
                    <a:pt x="966" y="429012"/>
                  </a:lnTo>
                  <a:lnTo>
                    <a:pt x="0" y="424152"/>
                  </a:lnTo>
                  <a:lnTo>
                    <a:pt x="0" y="419099"/>
                  </a:lnTo>
                  <a:lnTo>
                    <a:pt x="0" y="33047"/>
                  </a:lnTo>
                  <a:lnTo>
                    <a:pt x="28187" y="966"/>
                  </a:lnTo>
                  <a:lnTo>
                    <a:pt x="33047" y="0"/>
                  </a:lnTo>
                  <a:lnTo>
                    <a:pt x="719427" y="0"/>
                  </a:lnTo>
                  <a:lnTo>
                    <a:pt x="751507" y="28187"/>
                  </a:lnTo>
                  <a:lnTo>
                    <a:pt x="752474" y="33047"/>
                  </a:lnTo>
                  <a:lnTo>
                    <a:pt x="752474" y="424152"/>
                  </a:lnTo>
                  <a:lnTo>
                    <a:pt x="724287" y="456232"/>
                  </a:lnTo>
                  <a:lnTo>
                    <a:pt x="719427" y="457199"/>
                  </a:lnTo>
                  <a:close/>
                </a:path>
              </a:pathLst>
            </a:custGeom>
            <a:solidFill>
              <a:srgbClr val="BEDAFE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1" name="object 41" descr=""/>
          <p:cNvSpPr txBox="1"/>
          <p:nvPr/>
        </p:nvSpPr>
        <p:spPr>
          <a:xfrm>
            <a:off x="749299" y="4284169"/>
            <a:ext cx="1852295" cy="2082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70865">
              <a:lnSpc>
                <a:spcPct val="108700"/>
              </a:lnSpc>
              <a:spcBef>
                <a:spcPts val="95"/>
              </a:spcBef>
            </a:pPr>
            <a:r>
              <a:rPr dirty="0" sz="1150" spc="-50">
                <a:solidFill>
                  <a:srgbClr val="374050"/>
                </a:solidFill>
                <a:latin typeface="Roboto"/>
                <a:cs typeface="Roboto"/>
              </a:rPr>
              <a:t>Multi-</a:t>
            </a:r>
            <a:r>
              <a:rPr dirty="0" sz="1150" spc="-60">
                <a:solidFill>
                  <a:srgbClr val="374050"/>
                </a:solidFill>
                <a:latin typeface="Roboto"/>
                <a:cs typeface="Roboto"/>
              </a:rPr>
              <a:t>agent</a:t>
            </a:r>
            <a:r>
              <a:rPr dirty="0" sz="1150" spc="3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150" spc="-80">
                <a:solidFill>
                  <a:srgbClr val="374050"/>
                </a:solidFill>
                <a:latin typeface="Roboto"/>
                <a:cs typeface="Roboto"/>
              </a:rPr>
              <a:t>DQN</a:t>
            </a:r>
            <a:r>
              <a:rPr dirty="0" sz="1150" spc="3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150" spc="-55">
                <a:solidFill>
                  <a:srgbClr val="374050"/>
                </a:solidFill>
                <a:latin typeface="Roboto"/>
                <a:cs typeface="Roboto"/>
              </a:rPr>
              <a:t>with experience</a:t>
            </a:r>
            <a:r>
              <a:rPr dirty="0" sz="1150" spc="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150" spc="-10">
                <a:solidFill>
                  <a:srgbClr val="374050"/>
                </a:solidFill>
                <a:latin typeface="Roboto"/>
                <a:cs typeface="Roboto"/>
              </a:rPr>
              <a:t>replay</a:t>
            </a:r>
            <a:endParaRPr sz="1150">
              <a:latin typeface="Roboto"/>
              <a:cs typeface="Roboto"/>
            </a:endParaRPr>
          </a:p>
          <a:p>
            <a:pPr marL="12700" marR="276225">
              <a:lnSpc>
                <a:spcPct val="108700"/>
              </a:lnSpc>
              <a:spcBef>
                <a:spcPts val="300"/>
              </a:spcBef>
            </a:pPr>
            <a:r>
              <a:rPr dirty="0" sz="1150" spc="-45">
                <a:solidFill>
                  <a:srgbClr val="374050"/>
                </a:solidFill>
                <a:latin typeface="Roboto"/>
                <a:cs typeface="Roboto"/>
              </a:rPr>
              <a:t>State:</a:t>
            </a:r>
            <a:r>
              <a:rPr dirty="0" sz="1150" spc="-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150" spc="-60">
                <a:solidFill>
                  <a:srgbClr val="374050"/>
                </a:solidFill>
                <a:latin typeface="Roboto"/>
                <a:cs typeface="Roboto"/>
              </a:rPr>
              <a:t>voltage</a:t>
            </a:r>
            <a:r>
              <a:rPr dirty="0" sz="115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150" spc="-45">
                <a:solidFill>
                  <a:srgbClr val="374050"/>
                </a:solidFill>
                <a:latin typeface="Roboto"/>
                <a:cs typeface="Roboto"/>
              </a:rPr>
              <a:t>profile,</a:t>
            </a:r>
            <a:r>
              <a:rPr dirty="0" sz="115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150" spc="-50">
                <a:solidFill>
                  <a:srgbClr val="374050"/>
                </a:solidFill>
                <a:latin typeface="Roboto"/>
                <a:cs typeface="Roboto"/>
              </a:rPr>
              <a:t>load, </a:t>
            </a:r>
            <a:r>
              <a:rPr dirty="0" sz="1150" spc="-10">
                <a:solidFill>
                  <a:srgbClr val="374050"/>
                </a:solidFill>
                <a:latin typeface="Roboto"/>
                <a:cs typeface="Roboto"/>
              </a:rPr>
              <a:t>generation</a:t>
            </a:r>
            <a:endParaRPr sz="1150">
              <a:latin typeface="Roboto"/>
              <a:cs typeface="Roboto"/>
            </a:endParaRPr>
          </a:p>
          <a:p>
            <a:pPr marL="12700" marR="294005">
              <a:lnSpc>
                <a:spcPct val="108700"/>
              </a:lnSpc>
              <a:spcBef>
                <a:spcPts val="300"/>
              </a:spcBef>
            </a:pPr>
            <a:r>
              <a:rPr dirty="0" sz="1150" spc="-45">
                <a:solidFill>
                  <a:srgbClr val="374050"/>
                </a:solidFill>
                <a:latin typeface="Roboto"/>
                <a:cs typeface="Roboto"/>
              </a:rPr>
              <a:t>Action:</a:t>
            </a:r>
            <a:r>
              <a:rPr dirty="0" sz="115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150" spc="-55">
                <a:solidFill>
                  <a:srgbClr val="374050"/>
                </a:solidFill>
                <a:latin typeface="Roboto"/>
                <a:cs typeface="Roboto"/>
              </a:rPr>
              <a:t>switch</a:t>
            </a:r>
            <a:r>
              <a:rPr dirty="0" sz="115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150" spc="-60">
                <a:solidFill>
                  <a:srgbClr val="374050"/>
                </a:solidFill>
                <a:latin typeface="Roboto"/>
                <a:cs typeface="Roboto"/>
              </a:rPr>
              <a:t>open/close </a:t>
            </a:r>
            <a:r>
              <a:rPr dirty="0" sz="1150" spc="-10">
                <a:solidFill>
                  <a:srgbClr val="374050"/>
                </a:solidFill>
                <a:latin typeface="Roboto"/>
                <a:cs typeface="Roboto"/>
              </a:rPr>
              <a:t>operations</a:t>
            </a:r>
            <a:endParaRPr sz="1150">
              <a:latin typeface="Roboto"/>
              <a:cs typeface="Roboto"/>
            </a:endParaRPr>
          </a:p>
          <a:p>
            <a:pPr marL="12700" marR="145415">
              <a:lnSpc>
                <a:spcPct val="108700"/>
              </a:lnSpc>
              <a:spcBef>
                <a:spcPts val="300"/>
              </a:spcBef>
            </a:pPr>
            <a:r>
              <a:rPr dirty="0" sz="1150" spc="-65">
                <a:solidFill>
                  <a:srgbClr val="374050"/>
                </a:solidFill>
                <a:latin typeface="Roboto"/>
                <a:cs typeface="Roboto"/>
              </a:rPr>
              <a:t>Reward:</a:t>
            </a:r>
            <a:r>
              <a:rPr dirty="0" sz="1150" spc="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150" spc="-25">
                <a:solidFill>
                  <a:srgbClr val="374050"/>
                </a:solidFill>
                <a:latin typeface="Roboto"/>
                <a:cs typeface="Roboto"/>
              </a:rPr>
              <a:t>-</a:t>
            </a:r>
            <a:r>
              <a:rPr dirty="0" sz="1150" spc="-50">
                <a:solidFill>
                  <a:srgbClr val="374050"/>
                </a:solidFill>
                <a:latin typeface="Roboto"/>
                <a:cs typeface="Roboto"/>
              </a:rPr>
              <a:t>1*(losses</a:t>
            </a:r>
            <a:r>
              <a:rPr dirty="0" sz="1150" spc="1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150" spc="-70">
                <a:solidFill>
                  <a:srgbClr val="374050"/>
                </a:solidFill>
                <a:latin typeface="Roboto"/>
                <a:cs typeface="Roboto"/>
              </a:rPr>
              <a:t>+</a:t>
            </a:r>
            <a:r>
              <a:rPr dirty="0" sz="1150" spc="1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150" spc="-55">
                <a:solidFill>
                  <a:srgbClr val="374050"/>
                </a:solidFill>
                <a:latin typeface="Roboto"/>
                <a:cs typeface="Roboto"/>
              </a:rPr>
              <a:t>voltage </a:t>
            </a:r>
            <a:r>
              <a:rPr dirty="0" sz="1150" spc="-10">
                <a:solidFill>
                  <a:srgbClr val="374050"/>
                </a:solidFill>
                <a:latin typeface="Roboto"/>
                <a:cs typeface="Roboto"/>
              </a:rPr>
              <a:t>violations)</a:t>
            </a:r>
            <a:endParaRPr sz="1150">
              <a:latin typeface="Roboto"/>
              <a:cs typeface="Roboto"/>
            </a:endParaRPr>
          </a:p>
          <a:p>
            <a:pPr marL="12700" marR="5080">
              <a:lnSpc>
                <a:spcPct val="108700"/>
              </a:lnSpc>
              <a:spcBef>
                <a:spcPts val="300"/>
              </a:spcBef>
            </a:pPr>
            <a:r>
              <a:rPr dirty="0" sz="1150" spc="-65">
                <a:solidFill>
                  <a:srgbClr val="374050"/>
                </a:solidFill>
                <a:latin typeface="Roboto"/>
                <a:cs typeface="Roboto"/>
              </a:rPr>
              <a:t>5000</a:t>
            </a:r>
            <a:r>
              <a:rPr dirty="0" sz="115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150" spc="-60">
                <a:solidFill>
                  <a:srgbClr val="374050"/>
                </a:solidFill>
                <a:latin typeface="Roboto"/>
                <a:cs typeface="Roboto"/>
              </a:rPr>
              <a:t>episodes</a:t>
            </a:r>
            <a:r>
              <a:rPr dirty="0" sz="1150" spc="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150" spc="-45">
                <a:solidFill>
                  <a:srgbClr val="374050"/>
                </a:solidFill>
                <a:latin typeface="Roboto"/>
                <a:cs typeface="Roboto"/>
              </a:rPr>
              <a:t>training</a:t>
            </a:r>
            <a:r>
              <a:rPr dirty="0" sz="1150" spc="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150" spc="-55">
                <a:solidFill>
                  <a:srgbClr val="374050"/>
                </a:solidFill>
                <a:latin typeface="Roboto"/>
                <a:cs typeface="Roboto"/>
              </a:rPr>
              <a:t>on</a:t>
            </a:r>
            <a:r>
              <a:rPr dirty="0" sz="115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150" spc="-70">
                <a:solidFill>
                  <a:srgbClr val="374050"/>
                </a:solidFill>
                <a:latin typeface="Roboto"/>
                <a:cs typeface="Roboto"/>
              </a:rPr>
              <a:t>123- </a:t>
            </a:r>
            <a:r>
              <a:rPr dirty="0" sz="1150" spc="-60">
                <a:solidFill>
                  <a:srgbClr val="374050"/>
                </a:solidFill>
                <a:latin typeface="Roboto"/>
                <a:cs typeface="Roboto"/>
              </a:rPr>
              <a:t>bus</a:t>
            </a:r>
            <a:r>
              <a:rPr dirty="0" sz="1150" spc="-10">
                <a:solidFill>
                  <a:srgbClr val="374050"/>
                </a:solidFill>
                <a:latin typeface="Roboto"/>
                <a:cs typeface="Roboto"/>
              </a:rPr>
              <a:t> system</a:t>
            </a:r>
            <a:endParaRPr sz="1150">
              <a:latin typeface="Roboto"/>
              <a:cs typeface="Roboto"/>
            </a:endParaRPr>
          </a:p>
        </p:txBody>
      </p:sp>
      <p:sp>
        <p:nvSpPr>
          <p:cNvPr id="42" name="object 42" descr=""/>
          <p:cNvSpPr txBox="1"/>
          <p:nvPr/>
        </p:nvSpPr>
        <p:spPr>
          <a:xfrm>
            <a:off x="2821880" y="4445516"/>
            <a:ext cx="356870" cy="326390"/>
          </a:xfrm>
          <a:prstGeom prst="rect">
            <a:avLst/>
          </a:prstGeom>
        </p:spPr>
        <p:txBody>
          <a:bodyPr wrap="square" lIns="0" tIns="7620" rIns="0" bIns="0" rtlCol="0" vert="horz">
            <a:spAutoFit/>
          </a:bodyPr>
          <a:lstStyle/>
          <a:p>
            <a:pPr marL="12700" marR="5080">
              <a:lnSpc>
                <a:spcPct val="105300"/>
              </a:lnSpc>
              <a:spcBef>
                <a:spcPts val="60"/>
              </a:spcBef>
            </a:pPr>
            <a:r>
              <a:rPr dirty="0" sz="950" spc="-10">
                <a:solidFill>
                  <a:srgbClr val="1D40AF"/>
                </a:solidFill>
                <a:latin typeface="Roboto"/>
                <a:cs typeface="Roboto"/>
              </a:rPr>
              <a:t>State </a:t>
            </a:r>
            <a:r>
              <a:rPr dirty="0" sz="950" spc="-40">
                <a:solidFill>
                  <a:srgbClr val="1D40AF"/>
                </a:solidFill>
                <a:latin typeface="Roboto"/>
                <a:cs typeface="Roboto"/>
              </a:rPr>
              <a:t>Vector</a:t>
            </a:r>
            <a:endParaRPr sz="950">
              <a:latin typeface="Roboto"/>
              <a:cs typeface="Roboto"/>
            </a:endParaRPr>
          </a:p>
        </p:txBody>
      </p:sp>
      <p:grpSp>
        <p:nvGrpSpPr>
          <p:cNvPr id="43" name="object 43" descr=""/>
          <p:cNvGrpSpPr/>
          <p:nvPr/>
        </p:nvGrpSpPr>
        <p:grpSpPr>
          <a:xfrm>
            <a:off x="3629024" y="4391024"/>
            <a:ext cx="1171575" cy="457200"/>
            <a:chOff x="3629024" y="4391024"/>
            <a:chExt cx="1171575" cy="457200"/>
          </a:xfrm>
        </p:grpSpPr>
        <p:pic>
          <p:nvPicPr>
            <p:cNvPr id="44" name="object 44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629024" y="4561522"/>
              <a:ext cx="134272" cy="116204"/>
            </a:xfrm>
            <a:prstGeom prst="rect">
              <a:avLst/>
            </a:prstGeom>
          </p:spPr>
        </p:pic>
        <p:sp>
          <p:nvSpPr>
            <p:cNvPr id="45" name="object 45" descr=""/>
            <p:cNvSpPr/>
            <p:nvPr/>
          </p:nvSpPr>
          <p:spPr>
            <a:xfrm>
              <a:off x="3876674" y="4391024"/>
              <a:ext cx="923925" cy="457200"/>
            </a:xfrm>
            <a:custGeom>
              <a:avLst/>
              <a:gdLst/>
              <a:ahLst/>
              <a:cxnLst/>
              <a:rect l="l" t="t" r="r" b="b"/>
              <a:pathLst>
                <a:path w="923925" h="457200">
                  <a:moveTo>
                    <a:pt x="890877" y="457199"/>
                  </a:moveTo>
                  <a:lnTo>
                    <a:pt x="33047" y="457199"/>
                  </a:lnTo>
                  <a:lnTo>
                    <a:pt x="28187" y="456232"/>
                  </a:lnTo>
                  <a:lnTo>
                    <a:pt x="966" y="429012"/>
                  </a:lnTo>
                  <a:lnTo>
                    <a:pt x="0" y="424152"/>
                  </a:lnTo>
                  <a:lnTo>
                    <a:pt x="0" y="419099"/>
                  </a:lnTo>
                  <a:lnTo>
                    <a:pt x="0" y="33047"/>
                  </a:lnTo>
                  <a:lnTo>
                    <a:pt x="28187" y="966"/>
                  </a:lnTo>
                  <a:lnTo>
                    <a:pt x="33047" y="0"/>
                  </a:lnTo>
                  <a:lnTo>
                    <a:pt x="890877" y="0"/>
                  </a:lnTo>
                  <a:lnTo>
                    <a:pt x="922957" y="28187"/>
                  </a:lnTo>
                  <a:lnTo>
                    <a:pt x="923924" y="33047"/>
                  </a:lnTo>
                  <a:lnTo>
                    <a:pt x="923924" y="424152"/>
                  </a:lnTo>
                  <a:lnTo>
                    <a:pt x="895737" y="456232"/>
                  </a:lnTo>
                  <a:lnTo>
                    <a:pt x="890877" y="457199"/>
                  </a:lnTo>
                  <a:close/>
                </a:path>
              </a:pathLst>
            </a:custGeom>
            <a:solidFill>
              <a:srgbClr val="3B81F5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6" name="object 46" descr=""/>
          <p:cNvSpPr txBox="1"/>
          <p:nvPr/>
        </p:nvSpPr>
        <p:spPr>
          <a:xfrm>
            <a:off x="3943746" y="4441665"/>
            <a:ext cx="45275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000" spc="-10">
                <a:solidFill>
                  <a:srgbClr val="FFFFFF"/>
                </a:solidFill>
                <a:latin typeface="Roboto"/>
                <a:cs typeface="Roboto"/>
              </a:rPr>
              <a:t>Neural </a:t>
            </a:r>
            <a:r>
              <a:rPr dirty="0" sz="1000" spc="-65">
                <a:solidFill>
                  <a:srgbClr val="FFFFFF"/>
                </a:solidFill>
                <a:latin typeface="Roboto"/>
                <a:cs typeface="Roboto"/>
              </a:rPr>
              <a:t>Network</a:t>
            </a:r>
            <a:endParaRPr sz="1000">
              <a:latin typeface="Roboto"/>
              <a:cs typeface="Roboto"/>
            </a:endParaRPr>
          </a:p>
        </p:txBody>
      </p:sp>
      <p:grpSp>
        <p:nvGrpSpPr>
          <p:cNvPr id="47" name="object 47" descr=""/>
          <p:cNvGrpSpPr/>
          <p:nvPr/>
        </p:nvGrpSpPr>
        <p:grpSpPr>
          <a:xfrm>
            <a:off x="4914900" y="4391024"/>
            <a:ext cx="838200" cy="457200"/>
            <a:chOff x="4914900" y="4391024"/>
            <a:chExt cx="838200" cy="457200"/>
          </a:xfrm>
        </p:grpSpPr>
        <p:pic>
          <p:nvPicPr>
            <p:cNvPr id="48" name="object 48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914900" y="4561522"/>
              <a:ext cx="134272" cy="116204"/>
            </a:xfrm>
            <a:prstGeom prst="rect">
              <a:avLst/>
            </a:prstGeom>
          </p:spPr>
        </p:pic>
        <p:sp>
          <p:nvSpPr>
            <p:cNvPr id="49" name="object 49" descr=""/>
            <p:cNvSpPr/>
            <p:nvPr/>
          </p:nvSpPr>
          <p:spPr>
            <a:xfrm>
              <a:off x="5162548" y="4391024"/>
              <a:ext cx="590550" cy="457200"/>
            </a:xfrm>
            <a:custGeom>
              <a:avLst/>
              <a:gdLst/>
              <a:ahLst/>
              <a:cxnLst/>
              <a:rect l="l" t="t" r="r" b="b"/>
              <a:pathLst>
                <a:path w="590550" h="457200">
                  <a:moveTo>
                    <a:pt x="557502" y="457199"/>
                  </a:moveTo>
                  <a:lnTo>
                    <a:pt x="33047" y="457199"/>
                  </a:lnTo>
                  <a:lnTo>
                    <a:pt x="28187" y="456232"/>
                  </a:lnTo>
                  <a:lnTo>
                    <a:pt x="966" y="429012"/>
                  </a:lnTo>
                  <a:lnTo>
                    <a:pt x="0" y="424152"/>
                  </a:lnTo>
                  <a:lnTo>
                    <a:pt x="0" y="419099"/>
                  </a:lnTo>
                  <a:lnTo>
                    <a:pt x="0" y="33047"/>
                  </a:lnTo>
                  <a:lnTo>
                    <a:pt x="28187" y="966"/>
                  </a:lnTo>
                  <a:lnTo>
                    <a:pt x="33047" y="0"/>
                  </a:lnTo>
                  <a:lnTo>
                    <a:pt x="557502" y="0"/>
                  </a:lnTo>
                  <a:lnTo>
                    <a:pt x="589583" y="28187"/>
                  </a:lnTo>
                  <a:lnTo>
                    <a:pt x="590549" y="33047"/>
                  </a:lnTo>
                  <a:lnTo>
                    <a:pt x="590549" y="424152"/>
                  </a:lnTo>
                  <a:lnTo>
                    <a:pt x="562362" y="456232"/>
                  </a:lnTo>
                  <a:lnTo>
                    <a:pt x="557502" y="457199"/>
                  </a:lnTo>
                  <a:close/>
                </a:path>
              </a:pathLst>
            </a:custGeom>
            <a:solidFill>
              <a:srgbClr val="A6F2D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0" name="object 50" descr=""/>
          <p:cNvSpPr txBox="1"/>
          <p:nvPr/>
        </p:nvSpPr>
        <p:spPr>
          <a:xfrm>
            <a:off x="5223668" y="4441665"/>
            <a:ext cx="36830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25">
                <a:solidFill>
                  <a:srgbClr val="055E45"/>
                </a:solidFill>
                <a:latin typeface="Roboto"/>
                <a:cs typeface="Roboto"/>
              </a:rPr>
              <a:t>Q-</a:t>
            </a:r>
            <a:endParaRPr sz="10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</a:pPr>
            <a:r>
              <a:rPr dirty="0" sz="1000" spc="-50">
                <a:solidFill>
                  <a:srgbClr val="055E45"/>
                </a:solidFill>
                <a:latin typeface="Roboto"/>
                <a:cs typeface="Roboto"/>
              </a:rPr>
              <a:t>Values</a:t>
            </a:r>
            <a:endParaRPr sz="1000">
              <a:latin typeface="Roboto"/>
              <a:cs typeface="Roboto"/>
            </a:endParaRPr>
          </a:p>
        </p:txBody>
      </p:sp>
      <p:grpSp>
        <p:nvGrpSpPr>
          <p:cNvPr id="51" name="object 51" descr=""/>
          <p:cNvGrpSpPr/>
          <p:nvPr/>
        </p:nvGrpSpPr>
        <p:grpSpPr>
          <a:xfrm>
            <a:off x="3543299" y="4848224"/>
            <a:ext cx="1419225" cy="419100"/>
            <a:chOff x="3543299" y="4848224"/>
            <a:chExt cx="1419225" cy="419100"/>
          </a:xfrm>
        </p:grpSpPr>
        <p:sp>
          <p:nvSpPr>
            <p:cNvPr id="52" name="object 52" descr=""/>
            <p:cNvSpPr/>
            <p:nvPr/>
          </p:nvSpPr>
          <p:spPr>
            <a:xfrm>
              <a:off x="4248149" y="4848224"/>
              <a:ext cx="19050" cy="114300"/>
            </a:xfrm>
            <a:custGeom>
              <a:avLst/>
              <a:gdLst/>
              <a:ahLst/>
              <a:cxnLst/>
              <a:rect l="l" t="t" r="r" b="b"/>
              <a:pathLst>
                <a:path w="19050" h="114300">
                  <a:moveTo>
                    <a:pt x="19049" y="114299"/>
                  </a:moveTo>
                  <a:lnTo>
                    <a:pt x="0" y="114299"/>
                  </a:lnTo>
                  <a:lnTo>
                    <a:pt x="0" y="0"/>
                  </a:lnTo>
                  <a:lnTo>
                    <a:pt x="19049" y="0"/>
                  </a:lnTo>
                  <a:lnTo>
                    <a:pt x="19049" y="114299"/>
                  </a:lnTo>
                  <a:close/>
                </a:path>
              </a:pathLst>
            </a:custGeom>
            <a:solidFill>
              <a:srgbClr val="9CA2A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 descr=""/>
            <p:cNvSpPr/>
            <p:nvPr/>
          </p:nvSpPr>
          <p:spPr>
            <a:xfrm>
              <a:off x="3543299" y="4962524"/>
              <a:ext cx="1419225" cy="304800"/>
            </a:xfrm>
            <a:custGeom>
              <a:avLst/>
              <a:gdLst/>
              <a:ahLst/>
              <a:cxnLst/>
              <a:rect l="l" t="t" r="r" b="b"/>
              <a:pathLst>
                <a:path w="1419225" h="304800">
                  <a:moveTo>
                    <a:pt x="1386177" y="304799"/>
                  </a:moveTo>
                  <a:lnTo>
                    <a:pt x="33047" y="304799"/>
                  </a:lnTo>
                  <a:lnTo>
                    <a:pt x="28187" y="303832"/>
                  </a:lnTo>
                  <a:lnTo>
                    <a:pt x="966" y="276612"/>
                  </a:lnTo>
                  <a:lnTo>
                    <a:pt x="0" y="271752"/>
                  </a:lnTo>
                  <a:lnTo>
                    <a:pt x="0" y="266699"/>
                  </a:lnTo>
                  <a:lnTo>
                    <a:pt x="0" y="33047"/>
                  </a:lnTo>
                  <a:lnTo>
                    <a:pt x="28187" y="966"/>
                  </a:lnTo>
                  <a:lnTo>
                    <a:pt x="33047" y="0"/>
                  </a:lnTo>
                  <a:lnTo>
                    <a:pt x="1386177" y="0"/>
                  </a:lnTo>
                  <a:lnTo>
                    <a:pt x="1418257" y="28186"/>
                  </a:lnTo>
                  <a:lnTo>
                    <a:pt x="1419224" y="33047"/>
                  </a:lnTo>
                  <a:lnTo>
                    <a:pt x="1419224" y="271752"/>
                  </a:lnTo>
                  <a:lnTo>
                    <a:pt x="1391036" y="303832"/>
                  </a:lnTo>
                  <a:lnTo>
                    <a:pt x="1386177" y="304799"/>
                  </a:lnTo>
                  <a:close/>
                </a:path>
              </a:pathLst>
            </a:custGeom>
            <a:solidFill>
              <a:srgbClr val="FDE68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4" name="object 54" descr=""/>
          <p:cNvSpPr txBox="1"/>
          <p:nvPr/>
        </p:nvSpPr>
        <p:spPr>
          <a:xfrm>
            <a:off x="3610967" y="5013166"/>
            <a:ext cx="1289685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55">
                <a:solidFill>
                  <a:srgbClr val="91400D"/>
                </a:solidFill>
                <a:latin typeface="Roboto"/>
                <a:cs typeface="Roboto"/>
              </a:rPr>
              <a:t>Experience</a:t>
            </a:r>
            <a:r>
              <a:rPr dirty="0" sz="1000" spc="30">
                <a:solidFill>
                  <a:srgbClr val="91400D"/>
                </a:solidFill>
                <a:latin typeface="Roboto"/>
                <a:cs typeface="Roboto"/>
              </a:rPr>
              <a:t> </a:t>
            </a:r>
            <a:r>
              <a:rPr dirty="0" sz="1000" spc="-60">
                <a:solidFill>
                  <a:srgbClr val="91400D"/>
                </a:solidFill>
                <a:latin typeface="Roboto"/>
                <a:cs typeface="Roboto"/>
              </a:rPr>
              <a:t>Replay</a:t>
            </a:r>
            <a:r>
              <a:rPr dirty="0" sz="1000" spc="30">
                <a:solidFill>
                  <a:srgbClr val="91400D"/>
                </a:solidFill>
                <a:latin typeface="Roboto"/>
                <a:cs typeface="Roboto"/>
              </a:rPr>
              <a:t> </a:t>
            </a:r>
            <a:r>
              <a:rPr dirty="0" sz="1000" spc="-40">
                <a:solidFill>
                  <a:srgbClr val="91400D"/>
                </a:solidFill>
                <a:latin typeface="Roboto"/>
                <a:cs typeface="Roboto"/>
              </a:rPr>
              <a:t>Buffer</a:t>
            </a:r>
            <a:endParaRPr sz="1000">
              <a:latin typeface="Roboto"/>
              <a:cs typeface="Roboto"/>
            </a:endParaRPr>
          </a:p>
        </p:txBody>
      </p:sp>
      <p:grpSp>
        <p:nvGrpSpPr>
          <p:cNvPr id="55" name="object 55" descr=""/>
          <p:cNvGrpSpPr/>
          <p:nvPr/>
        </p:nvGrpSpPr>
        <p:grpSpPr>
          <a:xfrm>
            <a:off x="6210298" y="3667124"/>
            <a:ext cx="5600700" cy="2933700"/>
            <a:chOff x="6210298" y="3667124"/>
            <a:chExt cx="5600700" cy="2933700"/>
          </a:xfrm>
        </p:grpSpPr>
        <p:sp>
          <p:nvSpPr>
            <p:cNvPr id="56" name="object 56" descr=""/>
            <p:cNvSpPr/>
            <p:nvPr/>
          </p:nvSpPr>
          <p:spPr>
            <a:xfrm>
              <a:off x="6210298" y="3667124"/>
              <a:ext cx="5600700" cy="2933700"/>
            </a:xfrm>
            <a:custGeom>
              <a:avLst/>
              <a:gdLst/>
              <a:ahLst/>
              <a:cxnLst/>
              <a:rect l="l" t="t" r="r" b="b"/>
              <a:pathLst>
                <a:path w="5600700" h="2933700">
                  <a:moveTo>
                    <a:pt x="5529503" y="2933699"/>
                  </a:moveTo>
                  <a:lnTo>
                    <a:pt x="71196" y="2933699"/>
                  </a:lnTo>
                  <a:lnTo>
                    <a:pt x="66241" y="2933210"/>
                  </a:lnTo>
                  <a:lnTo>
                    <a:pt x="29705" y="2918077"/>
                  </a:lnTo>
                  <a:lnTo>
                    <a:pt x="3885" y="2882037"/>
                  </a:lnTo>
                  <a:lnTo>
                    <a:pt x="0" y="2862503"/>
                  </a:lnTo>
                  <a:lnTo>
                    <a:pt x="0" y="2857499"/>
                  </a:lnTo>
                  <a:lnTo>
                    <a:pt x="0" y="71196"/>
                  </a:lnTo>
                  <a:lnTo>
                    <a:pt x="15621" y="29704"/>
                  </a:lnTo>
                  <a:lnTo>
                    <a:pt x="51661" y="3885"/>
                  </a:lnTo>
                  <a:lnTo>
                    <a:pt x="71196" y="0"/>
                  </a:lnTo>
                  <a:lnTo>
                    <a:pt x="5529503" y="0"/>
                  </a:lnTo>
                  <a:lnTo>
                    <a:pt x="5570994" y="15621"/>
                  </a:lnTo>
                  <a:lnTo>
                    <a:pt x="5596814" y="51661"/>
                  </a:lnTo>
                  <a:lnTo>
                    <a:pt x="5600699" y="71196"/>
                  </a:lnTo>
                  <a:lnTo>
                    <a:pt x="5600699" y="2862503"/>
                  </a:lnTo>
                  <a:lnTo>
                    <a:pt x="5585077" y="2903993"/>
                  </a:lnTo>
                  <a:lnTo>
                    <a:pt x="5549037" y="2929812"/>
                  </a:lnTo>
                  <a:lnTo>
                    <a:pt x="5534458" y="2933211"/>
                  </a:lnTo>
                  <a:lnTo>
                    <a:pt x="5529503" y="29336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 descr=""/>
            <p:cNvSpPr/>
            <p:nvPr/>
          </p:nvSpPr>
          <p:spPr>
            <a:xfrm>
              <a:off x="6362699" y="3819524"/>
              <a:ext cx="285750" cy="381000"/>
            </a:xfrm>
            <a:custGeom>
              <a:avLst/>
              <a:gdLst/>
              <a:ahLst/>
              <a:cxnLst/>
              <a:rect l="l" t="t" r="r" b="b"/>
              <a:pathLst>
                <a:path w="285750" h="381000">
                  <a:moveTo>
                    <a:pt x="142874" y="380999"/>
                  </a:moveTo>
                  <a:lnTo>
                    <a:pt x="101399" y="374848"/>
                  </a:lnTo>
                  <a:lnTo>
                    <a:pt x="63496" y="356920"/>
                  </a:lnTo>
                  <a:lnTo>
                    <a:pt x="32429" y="328764"/>
                  </a:lnTo>
                  <a:lnTo>
                    <a:pt x="10874" y="292800"/>
                  </a:lnTo>
                  <a:lnTo>
                    <a:pt x="686" y="252129"/>
                  </a:lnTo>
                  <a:lnTo>
                    <a:pt x="0" y="238124"/>
                  </a:lnTo>
                  <a:lnTo>
                    <a:pt x="0" y="142874"/>
                  </a:lnTo>
                  <a:lnTo>
                    <a:pt x="6149" y="101399"/>
                  </a:lnTo>
                  <a:lnTo>
                    <a:pt x="24078" y="63497"/>
                  </a:lnTo>
                  <a:lnTo>
                    <a:pt x="52234" y="32429"/>
                  </a:lnTo>
                  <a:lnTo>
                    <a:pt x="88198" y="10875"/>
                  </a:lnTo>
                  <a:lnTo>
                    <a:pt x="128870" y="686"/>
                  </a:lnTo>
                  <a:lnTo>
                    <a:pt x="142874" y="0"/>
                  </a:lnTo>
                  <a:lnTo>
                    <a:pt x="149894" y="171"/>
                  </a:lnTo>
                  <a:lnTo>
                    <a:pt x="190999" y="8347"/>
                  </a:lnTo>
                  <a:lnTo>
                    <a:pt x="227992" y="28120"/>
                  </a:lnTo>
                  <a:lnTo>
                    <a:pt x="257628" y="57756"/>
                  </a:lnTo>
                  <a:lnTo>
                    <a:pt x="277400" y="94748"/>
                  </a:lnTo>
                  <a:lnTo>
                    <a:pt x="285578" y="135855"/>
                  </a:lnTo>
                  <a:lnTo>
                    <a:pt x="285749" y="142874"/>
                  </a:lnTo>
                  <a:lnTo>
                    <a:pt x="285749" y="238124"/>
                  </a:lnTo>
                  <a:lnTo>
                    <a:pt x="279598" y="279599"/>
                  </a:lnTo>
                  <a:lnTo>
                    <a:pt x="261670" y="317501"/>
                  </a:lnTo>
                  <a:lnTo>
                    <a:pt x="233514" y="348569"/>
                  </a:lnTo>
                  <a:lnTo>
                    <a:pt x="197550" y="370123"/>
                  </a:lnTo>
                  <a:lnTo>
                    <a:pt x="156879" y="380313"/>
                  </a:lnTo>
                  <a:lnTo>
                    <a:pt x="142874" y="380999"/>
                  </a:lnTo>
                  <a:close/>
                </a:path>
              </a:pathLst>
            </a:custGeom>
            <a:solidFill>
              <a:srgbClr val="DB252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8" name="object 58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438899" y="3924299"/>
              <a:ext cx="133349" cy="152399"/>
            </a:xfrm>
            <a:prstGeom prst="rect">
              <a:avLst/>
            </a:prstGeom>
          </p:spPr>
        </p:pic>
      </p:grpSp>
      <p:sp>
        <p:nvSpPr>
          <p:cNvPr id="59" name="object 59" descr=""/>
          <p:cNvSpPr txBox="1"/>
          <p:nvPr/>
        </p:nvSpPr>
        <p:spPr>
          <a:xfrm>
            <a:off x="6750050" y="3861714"/>
            <a:ext cx="2440305" cy="25717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500" spc="-120" b="1">
                <a:solidFill>
                  <a:srgbClr val="991B1B"/>
                </a:solidFill>
                <a:latin typeface="Roboto"/>
                <a:cs typeface="Roboto"/>
              </a:rPr>
              <a:t>GA</a:t>
            </a:r>
            <a:r>
              <a:rPr dirty="0" sz="1500" spc="-30" b="1">
                <a:solidFill>
                  <a:srgbClr val="991B1B"/>
                </a:solidFill>
                <a:latin typeface="Roboto"/>
                <a:cs typeface="Roboto"/>
              </a:rPr>
              <a:t> </a:t>
            </a:r>
            <a:r>
              <a:rPr dirty="0" sz="1500" spc="-80" b="1">
                <a:solidFill>
                  <a:srgbClr val="991B1B"/>
                </a:solidFill>
                <a:latin typeface="Roboto"/>
                <a:cs typeface="Roboto"/>
              </a:rPr>
              <a:t>Configuration</a:t>
            </a:r>
            <a:r>
              <a:rPr dirty="0" sz="1500" spc="-25" b="1">
                <a:solidFill>
                  <a:srgbClr val="991B1B"/>
                </a:solidFill>
                <a:latin typeface="Roboto"/>
                <a:cs typeface="Roboto"/>
              </a:rPr>
              <a:t> </a:t>
            </a:r>
            <a:r>
              <a:rPr dirty="0" sz="1500" spc="-100" b="1">
                <a:solidFill>
                  <a:srgbClr val="991B1B"/>
                </a:solidFill>
                <a:latin typeface="Roboto"/>
                <a:cs typeface="Roboto"/>
              </a:rPr>
              <a:t>&amp;</a:t>
            </a:r>
            <a:r>
              <a:rPr dirty="0" sz="1500" spc="-30" b="1">
                <a:solidFill>
                  <a:srgbClr val="991B1B"/>
                </a:solidFill>
                <a:latin typeface="Roboto"/>
                <a:cs typeface="Roboto"/>
              </a:rPr>
              <a:t> </a:t>
            </a:r>
            <a:r>
              <a:rPr dirty="0" sz="1500" spc="-70" b="1">
                <a:solidFill>
                  <a:srgbClr val="991B1B"/>
                </a:solidFill>
                <a:latin typeface="Roboto"/>
                <a:cs typeface="Roboto"/>
              </a:rPr>
              <a:t>Constraints</a:t>
            </a:r>
            <a:endParaRPr sz="1500">
              <a:latin typeface="Roboto"/>
              <a:cs typeface="Roboto"/>
            </a:endParaRPr>
          </a:p>
        </p:txBody>
      </p:sp>
      <p:grpSp>
        <p:nvGrpSpPr>
          <p:cNvPr id="60" name="object 60" descr=""/>
          <p:cNvGrpSpPr/>
          <p:nvPr/>
        </p:nvGrpSpPr>
        <p:grpSpPr>
          <a:xfrm>
            <a:off x="6448423" y="4314824"/>
            <a:ext cx="5210175" cy="1524000"/>
            <a:chOff x="6448423" y="4314824"/>
            <a:chExt cx="5210175" cy="1524000"/>
          </a:xfrm>
        </p:grpSpPr>
        <p:sp>
          <p:nvSpPr>
            <p:cNvPr id="61" name="object 61" descr=""/>
            <p:cNvSpPr/>
            <p:nvPr/>
          </p:nvSpPr>
          <p:spPr>
            <a:xfrm>
              <a:off x="6448412" y="4400549"/>
              <a:ext cx="38100" cy="1371600"/>
            </a:xfrm>
            <a:custGeom>
              <a:avLst/>
              <a:gdLst/>
              <a:ahLst/>
              <a:cxnLst/>
              <a:rect l="l" t="t" r="r" b="b"/>
              <a:pathLst>
                <a:path w="38100" h="1371600">
                  <a:moveTo>
                    <a:pt x="38100" y="1350035"/>
                  </a:moveTo>
                  <a:lnTo>
                    <a:pt x="21577" y="1333500"/>
                  </a:lnTo>
                  <a:lnTo>
                    <a:pt x="16522" y="1333500"/>
                  </a:lnTo>
                  <a:lnTo>
                    <a:pt x="0" y="1350035"/>
                  </a:lnTo>
                  <a:lnTo>
                    <a:pt x="0" y="1355077"/>
                  </a:lnTo>
                  <a:lnTo>
                    <a:pt x="16522" y="1371600"/>
                  </a:lnTo>
                  <a:lnTo>
                    <a:pt x="21577" y="1371600"/>
                  </a:lnTo>
                  <a:lnTo>
                    <a:pt x="38100" y="1355077"/>
                  </a:lnTo>
                  <a:lnTo>
                    <a:pt x="38100" y="1352550"/>
                  </a:lnTo>
                  <a:lnTo>
                    <a:pt x="38100" y="1350035"/>
                  </a:lnTo>
                  <a:close/>
                </a:path>
                <a:path w="38100" h="1371600">
                  <a:moveTo>
                    <a:pt x="38100" y="930935"/>
                  </a:moveTo>
                  <a:lnTo>
                    <a:pt x="21577" y="914400"/>
                  </a:lnTo>
                  <a:lnTo>
                    <a:pt x="16522" y="914400"/>
                  </a:lnTo>
                  <a:lnTo>
                    <a:pt x="0" y="930935"/>
                  </a:lnTo>
                  <a:lnTo>
                    <a:pt x="0" y="935977"/>
                  </a:lnTo>
                  <a:lnTo>
                    <a:pt x="16522" y="952500"/>
                  </a:lnTo>
                  <a:lnTo>
                    <a:pt x="21577" y="952500"/>
                  </a:lnTo>
                  <a:lnTo>
                    <a:pt x="38100" y="935977"/>
                  </a:lnTo>
                  <a:lnTo>
                    <a:pt x="38100" y="933450"/>
                  </a:lnTo>
                  <a:lnTo>
                    <a:pt x="38100" y="930935"/>
                  </a:lnTo>
                  <a:close/>
                </a:path>
                <a:path w="38100" h="1371600">
                  <a:moveTo>
                    <a:pt x="38100" y="702335"/>
                  </a:moveTo>
                  <a:lnTo>
                    <a:pt x="21577" y="685800"/>
                  </a:lnTo>
                  <a:lnTo>
                    <a:pt x="16522" y="685800"/>
                  </a:lnTo>
                  <a:lnTo>
                    <a:pt x="0" y="702335"/>
                  </a:lnTo>
                  <a:lnTo>
                    <a:pt x="0" y="707377"/>
                  </a:lnTo>
                  <a:lnTo>
                    <a:pt x="16522" y="723900"/>
                  </a:lnTo>
                  <a:lnTo>
                    <a:pt x="21577" y="723900"/>
                  </a:lnTo>
                  <a:lnTo>
                    <a:pt x="38100" y="707377"/>
                  </a:lnTo>
                  <a:lnTo>
                    <a:pt x="38100" y="704850"/>
                  </a:lnTo>
                  <a:lnTo>
                    <a:pt x="38100" y="702335"/>
                  </a:lnTo>
                  <a:close/>
                </a:path>
                <a:path w="38100" h="1371600">
                  <a:moveTo>
                    <a:pt x="38100" y="473735"/>
                  </a:moveTo>
                  <a:lnTo>
                    <a:pt x="21577" y="457200"/>
                  </a:lnTo>
                  <a:lnTo>
                    <a:pt x="16522" y="457200"/>
                  </a:lnTo>
                  <a:lnTo>
                    <a:pt x="0" y="473735"/>
                  </a:lnTo>
                  <a:lnTo>
                    <a:pt x="0" y="478777"/>
                  </a:lnTo>
                  <a:lnTo>
                    <a:pt x="16522" y="495300"/>
                  </a:lnTo>
                  <a:lnTo>
                    <a:pt x="21577" y="495300"/>
                  </a:lnTo>
                  <a:lnTo>
                    <a:pt x="38100" y="478777"/>
                  </a:lnTo>
                  <a:lnTo>
                    <a:pt x="38100" y="476250"/>
                  </a:lnTo>
                  <a:lnTo>
                    <a:pt x="38100" y="473735"/>
                  </a:lnTo>
                  <a:close/>
                </a:path>
                <a:path w="38100" h="1371600">
                  <a:moveTo>
                    <a:pt x="38100" y="245135"/>
                  </a:moveTo>
                  <a:lnTo>
                    <a:pt x="21577" y="228600"/>
                  </a:lnTo>
                  <a:lnTo>
                    <a:pt x="16522" y="228600"/>
                  </a:lnTo>
                  <a:lnTo>
                    <a:pt x="0" y="245135"/>
                  </a:lnTo>
                  <a:lnTo>
                    <a:pt x="0" y="250177"/>
                  </a:lnTo>
                  <a:lnTo>
                    <a:pt x="16522" y="266700"/>
                  </a:lnTo>
                  <a:lnTo>
                    <a:pt x="21577" y="266700"/>
                  </a:lnTo>
                  <a:lnTo>
                    <a:pt x="38100" y="250177"/>
                  </a:lnTo>
                  <a:lnTo>
                    <a:pt x="38100" y="247650"/>
                  </a:lnTo>
                  <a:lnTo>
                    <a:pt x="38100" y="245135"/>
                  </a:lnTo>
                  <a:close/>
                </a:path>
                <a:path w="38100" h="1371600">
                  <a:moveTo>
                    <a:pt x="38100" y="16535"/>
                  </a:moveTo>
                  <a:lnTo>
                    <a:pt x="21577" y="0"/>
                  </a:lnTo>
                  <a:lnTo>
                    <a:pt x="16522" y="0"/>
                  </a:lnTo>
                  <a:lnTo>
                    <a:pt x="0" y="16535"/>
                  </a:lnTo>
                  <a:lnTo>
                    <a:pt x="0" y="21577"/>
                  </a:lnTo>
                  <a:lnTo>
                    <a:pt x="16522" y="38100"/>
                  </a:lnTo>
                  <a:lnTo>
                    <a:pt x="21577" y="38100"/>
                  </a:lnTo>
                  <a:lnTo>
                    <a:pt x="38100" y="21577"/>
                  </a:lnTo>
                  <a:lnTo>
                    <a:pt x="38100" y="19050"/>
                  </a:lnTo>
                  <a:lnTo>
                    <a:pt x="38100" y="16535"/>
                  </a:lnTo>
                  <a:close/>
                </a:path>
              </a:pathLst>
            </a:custGeom>
            <a:solidFill>
              <a:srgbClr val="37405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2" name="object 62" descr=""/>
            <p:cNvSpPr/>
            <p:nvPr/>
          </p:nvSpPr>
          <p:spPr>
            <a:xfrm>
              <a:off x="9010648" y="4314824"/>
              <a:ext cx="2647950" cy="1524000"/>
            </a:xfrm>
            <a:custGeom>
              <a:avLst/>
              <a:gdLst/>
              <a:ahLst/>
              <a:cxnLst/>
              <a:rect l="l" t="t" r="r" b="b"/>
              <a:pathLst>
                <a:path w="2647950" h="1524000">
                  <a:moveTo>
                    <a:pt x="2614901" y="1523999"/>
                  </a:moveTo>
                  <a:lnTo>
                    <a:pt x="33047" y="1523999"/>
                  </a:lnTo>
                  <a:lnTo>
                    <a:pt x="28186" y="1523032"/>
                  </a:lnTo>
                  <a:lnTo>
                    <a:pt x="966" y="1495811"/>
                  </a:lnTo>
                  <a:lnTo>
                    <a:pt x="0" y="1490951"/>
                  </a:lnTo>
                  <a:lnTo>
                    <a:pt x="0" y="1485899"/>
                  </a:lnTo>
                  <a:lnTo>
                    <a:pt x="0" y="33047"/>
                  </a:lnTo>
                  <a:lnTo>
                    <a:pt x="28186" y="966"/>
                  </a:lnTo>
                  <a:lnTo>
                    <a:pt x="33047" y="0"/>
                  </a:lnTo>
                  <a:lnTo>
                    <a:pt x="2614901" y="0"/>
                  </a:lnTo>
                  <a:lnTo>
                    <a:pt x="2646981" y="28186"/>
                  </a:lnTo>
                  <a:lnTo>
                    <a:pt x="2647949" y="33047"/>
                  </a:lnTo>
                  <a:lnTo>
                    <a:pt x="2647949" y="1490951"/>
                  </a:lnTo>
                  <a:lnTo>
                    <a:pt x="2619760" y="1523032"/>
                  </a:lnTo>
                  <a:lnTo>
                    <a:pt x="2614901" y="1523999"/>
                  </a:lnTo>
                  <a:close/>
                </a:path>
              </a:pathLst>
            </a:custGeom>
            <a:solidFill>
              <a:srgbClr val="F2F4F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3" name="object 63" descr=""/>
            <p:cNvSpPr/>
            <p:nvPr/>
          </p:nvSpPr>
          <p:spPr>
            <a:xfrm>
              <a:off x="9515473" y="4581524"/>
              <a:ext cx="409575" cy="228600"/>
            </a:xfrm>
            <a:custGeom>
              <a:avLst/>
              <a:gdLst/>
              <a:ahLst/>
              <a:cxnLst/>
              <a:rect l="l" t="t" r="r" b="b"/>
              <a:pathLst>
                <a:path w="409575" h="228600">
                  <a:moveTo>
                    <a:pt x="376527" y="228599"/>
                  </a:moveTo>
                  <a:lnTo>
                    <a:pt x="33047" y="228599"/>
                  </a:lnTo>
                  <a:lnTo>
                    <a:pt x="28186" y="227632"/>
                  </a:lnTo>
                  <a:lnTo>
                    <a:pt x="966" y="200412"/>
                  </a:lnTo>
                  <a:lnTo>
                    <a:pt x="0" y="195552"/>
                  </a:lnTo>
                  <a:lnTo>
                    <a:pt x="0" y="190499"/>
                  </a:lnTo>
                  <a:lnTo>
                    <a:pt x="0" y="33047"/>
                  </a:lnTo>
                  <a:lnTo>
                    <a:pt x="28187" y="966"/>
                  </a:lnTo>
                  <a:lnTo>
                    <a:pt x="33047" y="0"/>
                  </a:lnTo>
                  <a:lnTo>
                    <a:pt x="376527" y="0"/>
                  </a:lnTo>
                  <a:lnTo>
                    <a:pt x="408607" y="28186"/>
                  </a:lnTo>
                  <a:lnTo>
                    <a:pt x="409574" y="33047"/>
                  </a:lnTo>
                  <a:lnTo>
                    <a:pt x="409574" y="195552"/>
                  </a:lnTo>
                  <a:lnTo>
                    <a:pt x="381386" y="227632"/>
                  </a:lnTo>
                  <a:lnTo>
                    <a:pt x="376527" y="228599"/>
                  </a:lnTo>
                  <a:close/>
                </a:path>
              </a:pathLst>
            </a:custGeom>
            <a:solidFill>
              <a:srgbClr val="FEE2E2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4" name="object 64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0001250" y="4651601"/>
              <a:ext cx="95909" cy="83003"/>
            </a:xfrm>
            <a:prstGeom prst="rect">
              <a:avLst/>
            </a:prstGeom>
          </p:spPr>
        </p:pic>
        <p:sp>
          <p:nvSpPr>
            <p:cNvPr id="65" name="object 65" descr=""/>
            <p:cNvSpPr/>
            <p:nvPr/>
          </p:nvSpPr>
          <p:spPr>
            <a:xfrm>
              <a:off x="10172697" y="4581524"/>
              <a:ext cx="400050" cy="228600"/>
            </a:xfrm>
            <a:custGeom>
              <a:avLst/>
              <a:gdLst/>
              <a:ahLst/>
              <a:cxnLst/>
              <a:rect l="l" t="t" r="r" b="b"/>
              <a:pathLst>
                <a:path w="400050" h="228600">
                  <a:moveTo>
                    <a:pt x="367001" y="228599"/>
                  </a:moveTo>
                  <a:lnTo>
                    <a:pt x="33047" y="228599"/>
                  </a:lnTo>
                  <a:lnTo>
                    <a:pt x="28187" y="227632"/>
                  </a:lnTo>
                  <a:lnTo>
                    <a:pt x="966" y="200412"/>
                  </a:lnTo>
                  <a:lnTo>
                    <a:pt x="0" y="195552"/>
                  </a:lnTo>
                  <a:lnTo>
                    <a:pt x="1" y="190499"/>
                  </a:lnTo>
                  <a:lnTo>
                    <a:pt x="0" y="33047"/>
                  </a:lnTo>
                  <a:lnTo>
                    <a:pt x="28187" y="966"/>
                  </a:lnTo>
                  <a:lnTo>
                    <a:pt x="33047" y="0"/>
                  </a:lnTo>
                  <a:lnTo>
                    <a:pt x="367001" y="0"/>
                  </a:lnTo>
                  <a:lnTo>
                    <a:pt x="399083" y="28186"/>
                  </a:lnTo>
                  <a:lnTo>
                    <a:pt x="400049" y="33047"/>
                  </a:lnTo>
                  <a:lnTo>
                    <a:pt x="400049" y="195552"/>
                  </a:lnTo>
                  <a:lnTo>
                    <a:pt x="371862" y="227632"/>
                  </a:lnTo>
                  <a:lnTo>
                    <a:pt x="367001" y="228599"/>
                  </a:lnTo>
                  <a:close/>
                </a:path>
              </a:pathLst>
            </a:custGeom>
            <a:solidFill>
              <a:srgbClr val="D0FAE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6" name="object 66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0648949" y="4652248"/>
              <a:ext cx="100704" cy="87153"/>
            </a:xfrm>
            <a:prstGeom prst="rect">
              <a:avLst/>
            </a:prstGeom>
          </p:spPr>
        </p:pic>
        <p:sp>
          <p:nvSpPr>
            <p:cNvPr id="67" name="object 67" descr=""/>
            <p:cNvSpPr/>
            <p:nvPr/>
          </p:nvSpPr>
          <p:spPr>
            <a:xfrm>
              <a:off x="10829923" y="4581524"/>
              <a:ext cx="323850" cy="228600"/>
            </a:xfrm>
            <a:custGeom>
              <a:avLst/>
              <a:gdLst/>
              <a:ahLst/>
              <a:cxnLst/>
              <a:rect l="l" t="t" r="r" b="b"/>
              <a:pathLst>
                <a:path w="323850" h="228600">
                  <a:moveTo>
                    <a:pt x="290802" y="228599"/>
                  </a:moveTo>
                  <a:lnTo>
                    <a:pt x="33046" y="228599"/>
                  </a:lnTo>
                  <a:lnTo>
                    <a:pt x="28186" y="227632"/>
                  </a:lnTo>
                  <a:lnTo>
                    <a:pt x="966" y="200412"/>
                  </a:lnTo>
                  <a:lnTo>
                    <a:pt x="0" y="195552"/>
                  </a:lnTo>
                  <a:lnTo>
                    <a:pt x="0" y="190499"/>
                  </a:lnTo>
                  <a:lnTo>
                    <a:pt x="0" y="33047"/>
                  </a:lnTo>
                  <a:lnTo>
                    <a:pt x="28186" y="966"/>
                  </a:lnTo>
                  <a:lnTo>
                    <a:pt x="33046" y="0"/>
                  </a:lnTo>
                  <a:lnTo>
                    <a:pt x="290802" y="0"/>
                  </a:lnTo>
                  <a:lnTo>
                    <a:pt x="322882" y="28186"/>
                  </a:lnTo>
                  <a:lnTo>
                    <a:pt x="323848" y="33047"/>
                  </a:lnTo>
                  <a:lnTo>
                    <a:pt x="323848" y="195552"/>
                  </a:lnTo>
                  <a:lnTo>
                    <a:pt x="295662" y="227632"/>
                  </a:lnTo>
                  <a:lnTo>
                    <a:pt x="290802" y="228599"/>
                  </a:lnTo>
                  <a:close/>
                </a:path>
              </a:pathLst>
            </a:custGeom>
            <a:solidFill>
              <a:srgbClr val="DAE9FE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8" name="object 68" descr=""/>
          <p:cNvSpPr txBox="1"/>
          <p:nvPr/>
        </p:nvSpPr>
        <p:spPr>
          <a:xfrm>
            <a:off x="6578600" y="4246069"/>
            <a:ext cx="2269490" cy="1587500"/>
          </a:xfrm>
          <a:prstGeom prst="rect">
            <a:avLst/>
          </a:prstGeom>
        </p:spPr>
        <p:txBody>
          <a:bodyPr wrap="square" lIns="0" tIns="654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dirty="0" sz="1150" spc="-50">
                <a:solidFill>
                  <a:srgbClr val="374050"/>
                </a:solidFill>
                <a:latin typeface="Roboto"/>
                <a:cs typeface="Roboto"/>
              </a:rPr>
              <a:t>Population:</a:t>
            </a:r>
            <a:r>
              <a:rPr dirty="0" sz="1150" spc="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150" spc="-55">
                <a:solidFill>
                  <a:srgbClr val="374050"/>
                </a:solidFill>
                <a:latin typeface="Roboto"/>
                <a:cs typeface="Roboto"/>
              </a:rPr>
              <a:t>30-</a:t>
            </a:r>
            <a:r>
              <a:rPr dirty="0" sz="1150" spc="-60">
                <a:solidFill>
                  <a:srgbClr val="374050"/>
                </a:solidFill>
                <a:latin typeface="Roboto"/>
                <a:cs typeface="Roboto"/>
              </a:rPr>
              <a:t>50</a:t>
            </a:r>
            <a:r>
              <a:rPr dirty="0" sz="1150" spc="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150" spc="-10">
                <a:solidFill>
                  <a:srgbClr val="374050"/>
                </a:solidFill>
                <a:latin typeface="Roboto"/>
                <a:cs typeface="Roboto"/>
              </a:rPr>
              <a:t>individuals</a:t>
            </a:r>
            <a:endParaRPr sz="1150">
              <a:latin typeface="Roboto"/>
              <a:cs typeface="Roboto"/>
            </a:endParaRPr>
          </a:p>
          <a:p>
            <a:pPr marL="12700" marR="5080">
              <a:lnSpc>
                <a:spcPct val="130400"/>
              </a:lnSpc>
            </a:pPr>
            <a:r>
              <a:rPr dirty="0" sz="1150" spc="-45">
                <a:solidFill>
                  <a:srgbClr val="374050"/>
                </a:solidFill>
                <a:latin typeface="Roboto"/>
                <a:cs typeface="Roboto"/>
              </a:rPr>
              <a:t>Fitness:</a:t>
            </a:r>
            <a:r>
              <a:rPr dirty="0" sz="1150" spc="-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150" spc="-55">
                <a:solidFill>
                  <a:srgbClr val="374050"/>
                </a:solidFill>
                <a:latin typeface="Roboto"/>
                <a:cs typeface="Roboto"/>
              </a:rPr>
              <a:t>negative</a:t>
            </a:r>
            <a:r>
              <a:rPr dirty="0" sz="1150" spc="-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150" spc="-50">
                <a:solidFill>
                  <a:srgbClr val="374050"/>
                </a:solidFill>
                <a:latin typeface="Roboto"/>
                <a:cs typeface="Roboto"/>
              </a:rPr>
              <a:t>of</a:t>
            </a:r>
            <a:r>
              <a:rPr dirty="0" sz="1150" spc="-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150" spc="-50">
                <a:solidFill>
                  <a:srgbClr val="374050"/>
                </a:solidFill>
                <a:latin typeface="Roboto"/>
                <a:cs typeface="Roboto"/>
              </a:rPr>
              <a:t>objective</a:t>
            </a:r>
            <a:r>
              <a:rPr dirty="0" sz="1150" spc="-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150" spc="-55">
                <a:solidFill>
                  <a:srgbClr val="374050"/>
                </a:solidFill>
                <a:latin typeface="Roboto"/>
                <a:cs typeface="Roboto"/>
              </a:rPr>
              <a:t>function </a:t>
            </a:r>
            <a:r>
              <a:rPr dirty="0" sz="1150" spc="-45">
                <a:solidFill>
                  <a:srgbClr val="374050"/>
                </a:solidFill>
                <a:latin typeface="Roboto"/>
                <a:cs typeface="Roboto"/>
              </a:rPr>
              <a:t>Selection:</a:t>
            </a:r>
            <a:r>
              <a:rPr dirty="0" sz="115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150" spc="-60">
                <a:solidFill>
                  <a:srgbClr val="374050"/>
                </a:solidFill>
                <a:latin typeface="Roboto"/>
                <a:cs typeface="Roboto"/>
              </a:rPr>
              <a:t>tournament</a:t>
            </a:r>
            <a:r>
              <a:rPr dirty="0" sz="115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150" spc="-50">
                <a:solidFill>
                  <a:srgbClr val="374050"/>
                </a:solidFill>
                <a:latin typeface="Roboto"/>
                <a:cs typeface="Roboto"/>
              </a:rPr>
              <a:t>with</a:t>
            </a:r>
            <a:r>
              <a:rPr dirty="0" sz="115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150" spc="-55">
                <a:solidFill>
                  <a:srgbClr val="374050"/>
                </a:solidFill>
                <a:latin typeface="Roboto"/>
                <a:cs typeface="Roboto"/>
              </a:rPr>
              <a:t>size</a:t>
            </a:r>
            <a:r>
              <a:rPr dirty="0" sz="115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150" spc="-50">
                <a:solidFill>
                  <a:srgbClr val="374050"/>
                </a:solidFill>
                <a:latin typeface="Roboto"/>
                <a:cs typeface="Roboto"/>
              </a:rPr>
              <a:t>3 </a:t>
            </a:r>
            <a:r>
              <a:rPr dirty="0" sz="1150" spc="-60">
                <a:solidFill>
                  <a:srgbClr val="374050"/>
                </a:solidFill>
                <a:latin typeface="Roboto"/>
                <a:cs typeface="Roboto"/>
              </a:rPr>
              <a:t>Crossover</a:t>
            </a:r>
            <a:r>
              <a:rPr dirty="0" sz="1150" spc="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150" spc="-55">
                <a:solidFill>
                  <a:srgbClr val="374050"/>
                </a:solidFill>
                <a:latin typeface="Roboto"/>
                <a:cs typeface="Roboto"/>
              </a:rPr>
              <a:t>rate:</a:t>
            </a:r>
            <a:r>
              <a:rPr dirty="0" sz="115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150" spc="-45">
                <a:solidFill>
                  <a:srgbClr val="374050"/>
                </a:solidFill>
                <a:latin typeface="Roboto"/>
                <a:cs typeface="Roboto"/>
              </a:rPr>
              <a:t>0.8,</a:t>
            </a:r>
            <a:r>
              <a:rPr dirty="0" sz="1150" spc="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150" spc="-50">
                <a:solidFill>
                  <a:srgbClr val="374050"/>
                </a:solidFill>
                <a:latin typeface="Roboto"/>
                <a:cs typeface="Roboto"/>
              </a:rPr>
              <a:t>Mutation</a:t>
            </a:r>
            <a:r>
              <a:rPr dirty="0" sz="1150" spc="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150" spc="-55">
                <a:solidFill>
                  <a:srgbClr val="374050"/>
                </a:solidFill>
                <a:latin typeface="Roboto"/>
                <a:cs typeface="Roboto"/>
              </a:rPr>
              <a:t>rate:</a:t>
            </a:r>
            <a:r>
              <a:rPr dirty="0" sz="1150" spc="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150" spc="-25">
                <a:solidFill>
                  <a:srgbClr val="374050"/>
                </a:solidFill>
                <a:latin typeface="Roboto"/>
                <a:cs typeface="Roboto"/>
              </a:rPr>
              <a:t>0.1</a:t>
            </a:r>
            <a:endParaRPr sz="1150">
              <a:latin typeface="Roboto"/>
              <a:cs typeface="Roboto"/>
            </a:endParaRPr>
          </a:p>
          <a:p>
            <a:pPr marL="12700" marR="688340">
              <a:lnSpc>
                <a:spcPct val="108700"/>
              </a:lnSpc>
              <a:spcBef>
                <a:spcPts val="300"/>
              </a:spcBef>
            </a:pPr>
            <a:r>
              <a:rPr dirty="0" sz="1150" spc="-50">
                <a:solidFill>
                  <a:srgbClr val="374050"/>
                </a:solidFill>
                <a:latin typeface="Roboto"/>
                <a:cs typeface="Roboto"/>
              </a:rPr>
              <a:t>Constraint</a:t>
            </a:r>
            <a:r>
              <a:rPr dirty="0" sz="1150" spc="-1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150" spc="-45">
                <a:solidFill>
                  <a:srgbClr val="374050"/>
                </a:solidFill>
                <a:latin typeface="Roboto"/>
                <a:cs typeface="Roboto"/>
              </a:rPr>
              <a:t>handling:</a:t>
            </a:r>
            <a:r>
              <a:rPr dirty="0" sz="1150" spc="-1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150" spc="-60">
                <a:solidFill>
                  <a:srgbClr val="374050"/>
                </a:solidFill>
                <a:latin typeface="Roboto"/>
                <a:cs typeface="Roboto"/>
              </a:rPr>
              <a:t>repair </a:t>
            </a:r>
            <a:r>
              <a:rPr dirty="0" sz="1150" spc="-10">
                <a:solidFill>
                  <a:srgbClr val="374050"/>
                </a:solidFill>
                <a:latin typeface="Roboto"/>
                <a:cs typeface="Roboto"/>
              </a:rPr>
              <a:t>mechanism</a:t>
            </a:r>
            <a:endParaRPr sz="115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420"/>
              </a:spcBef>
            </a:pPr>
            <a:r>
              <a:rPr dirty="0" sz="1150" spc="-55">
                <a:solidFill>
                  <a:srgbClr val="374050"/>
                </a:solidFill>
                <a:latin typeface="Roboto"/>
                <a:cs typeface="Roboto"/>
              </a:rPr>
              <a:t>Termination:</a:t>
            </a:r>
            <a:r>
              <a:rPr dirty="0" sz="1150" spc="-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150" spc="-60">
                <a:solidFill>
                  <a:srgbClr val="374050"/>
                </a:solidFill>
                <a:latin typeface="Roboto"/>
                <a:cs typeface="Roboto"/>
              </a:rPr>
              <a:t>50</a:t>
            </a:r>
            <a:r>
              <a:rPr dirty="0" sz="115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150" spc="-55">
                <a:solidFill>
                  <a:srgbClr val="374050"/>
                </a:solidFill>
                <a:latin typeface="Roboto"/>
                <a:cs typeface="Roboto"/>
              </a:rPr>
              <a:t>generations</a:t>
            </a:r>
            <a:r>
              <a:rPr dirty="0" sz="115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150" spc="-50">
                <a:solidFill>
                  <a:srgbClr val="374050"/>
                </a:solidFill>
                <a:latin typeface="Roboto"/>
                <a:cs typeface="Roboto"/>
              </a:rPr>
              <a:t>or</a:t>
            </a:r>
            <a:r>
              <a:rPr dirty="0" sz="115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150" spc="-20">
                <a:solidFill>
                  <a:srgbClr val="374050"/>
                </a:solidFill>
                <a:latin typeface="Roboto"/>
                <a:cs typeface="Roboto"/>
              </a:rPr>
              <a:t>0.5s</a:t>
            </a:r>
            <a:endParaRPr sz="1150">
              <a:latin typeface="Roboto"/>
              <a:cs typeface="Roboto"/>
            </a:endParaRPr>
          </a:p>
        </p:txBody>
      </p:sp>
      <p:sp>
        <p:nvSpPr>
          <p:cNvPr id="69" name="object 69" descr=""/>
          <p:cNvSpPr txBox="1"/>
          <p:nvPr/>
        </p:nvSpPr>
        <p:spPr>
          <a:xfrm>
            <a:off x="9341444" y="4289456"/>
            <a:ext cx="1986914" cy="7493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10185" marR="203200" indent="281940">
              <a:lnSpc>
                <a:spcPct val="150000"/>
              </a:lnSpc>
              <a:spcBef>
                <a:spcPts val="100"/>
              </a:spcBef>
              <a:tabLst>
                <a:tab pos="869950" algn="l"/>
                <a:tab pos="1522730" algn="l"/>
              </a:tabLst>
            </a:pPr>
            <a:r>
              <a:rPr dirty="0" sz="1000" spc="-50" b="0">
                <a:latin typeface="Roboto Medium"/>
                <a:cs typeface="Roboto Medium"/>
              </a:rPr>
              <a:t>Radiality</a:t>
            </a:r>
            <a:r>
              <a:rPr dirty="0" sz="1000" spc="20" b="0">
                <a:latin typeface="Roboto Medium"/>
                <a:cs typeface="Roboto Medium"/>
              </a:rPr>
              <a:t> </a:t>
            </a:r>
            <a:r>
              <a:rPr dirty="0" sz="1000" spc="-10" b="0">
                <a:latin typeface="Roboto Medium"/>
                <a:cs typeface="Roboto Medium"/>
              </a:rPr>
              <a:t>Constraint </a:t>
            </a:r>
            <a:r>
              <a:rPr dirty="0" sz="1000" spc="-10">
                <a:latin typeface="Roboto"/>
                <a:cs typeface="Roboto"/>
              </a:rPr>
              <a:t>Invalid</a:t>
            </a:r>
            <a:r>
              <a:rPr dirty="0" sz="1000">
                <a:latin typeface="Roboto"/>
                <a:cs typeface="Roboto"/>
              </a:rPr>
              <a:t>	</a:t>
            </a:r>
            <a:r>
              <a:rPr dirty="0" sz="1000" spc="-10">
                <a:latin typeface="Roboto"/>
                <a:cs typeface="Roboto"/>
              </a:rPr>
              <a:t>Repair</a:t>
            </a:r>
            <a:r>
              <a:rPr dirty="0" sz="1000">
                <a:latin typeface="Roboto"/>
                <a:cs typeface="Roboto"/>
              </a:rPr>
              <a:t>	</a:t>
            </a:r>
            <a:r>
              <a:rPr dirty="0" sz="1000" spc="-60">
                <a:latin typeface="Roboto"/>
                <a:cs typeface="Roboto"/>
              </a:rPr>
              <a:t>Valid</a:t>
            </a:r>
            <a:endParaRPr sz="10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900"/>
              </a:spcBef>
            </a:pPr>
            <a:r>
              <a:rPr dirty="0" sz="1000" spc="-55">
                <a:latin typeface="Roboto"/>
                <a:cs typeface="Roboto"/>
              </a:rPr>
              <a:t>(Maintain</a:t>
            </a:r>
            <a:r>
              <a:rPr dirty="0" sz="1000">
                <a:latin typeface="Roboto"/>
                <a:cs typeface="Roboto"/>
              </a:rPr>
              <a:t> </a:t>
            </a:r>
            <a:r>
              <a:rPr dirty="0" sz="1000" spc="-50">
                <a:latin typeface="Roboto"/>
                <a:cs typeface="Roboto"/>
              </a:rPr>
              <a:t>exactly</a:t>
            </a:r>
            <a:r>
              <a:rPr dirty="0" sz="1000">
                <a:latin typeface="Roboto"/>
                <a:cs typeface="Roboto"/>
              </a:rPr>
              <a:t> </a:t>
            </a:r>
            <a:r>
              <a:rPr dirty="0" sz="1000" spc="-60">
                <a:latin typeface="Roboto"/>
                <a:cs typeface="Roboto"/>
              </a:rPr>
              <a:t>N-1</a:t>
            </a:r>
            <a:r>
              <a:rPr dirty="0" sz="1000">
                <a:latin typeface="Roboto"/>
                <a:cs typeface="Roboto"/>
              </a:rPr>
              <a:t> </a:t>
            </a:r>
            <a:r>
              <a:rPr dirty="0" sz="1000" spc="-50">
                <a:latin typeface="Roboto"/>
                <a:cs typeface="Roboto"/>
              </a:rPr>
              <a:t>closed</a:t>
            </a:r>
            <a:r>
              <a:rPr dirty="0" sz="1000">
                <a:latin typeface="Roboto"/>
                <a:cs typeface="Roboto"/>
              </a:rPr>
              <a:t> </a:t>
            </a:r>
            <a:r>
              <a:rPr dirty="0" sz="1000" spc="-40">
                <a:latin typeface="Roboto"/>
                <a:cs typeface="Roboto"/>
              </a:rPr>
              <a:t>switches)</a:t>
            </a:r>
            <a:endParaRPr sz="1000">
              <a:latin typeface="Roboto"/>
              <a:cs typeface="Roboto"/>
            </a:endParaRPr>
          </a:p>
        </p:txBody>
      </p:sp>
      <p:grpSp>
        <p:nvGrpSpPr>
          <p:cNvPr id="70" name="object 70" descr=""/>
          <p:cNvGrpSpPr/>
          <p:nvPr/>
        </p:nvGrpSpPr>
        <p:grpSpPr>
          <a:xfrm>
            <a:off x="3505199" y="6867524"/>
            <a:ext cx="381000" cy="381000"/>
            <a:chOff x="3505199" y="6867524"/>
            <a:chExt cx="381000" cy="381000"/>
          </a:xfrm>
        </p:grpSpPr>
        <p:sp>
          <p:nvSpPr>
            <p:cNvPr id="71" name="object 71" descr=""/>
            <p:cNvSpPr/>
            <p:nvPr/>
          </p:nvSpPr>
          <p:spPr>
            <a:xfrm>
              <a:off x="3509962" y="6872286"/>
              <a:ext cx="371475" cy="371475"/>
            </a:xfrm>
            <a:custGeom>
              <a:avLst/>
              <a:gdLst/>
              <a:ahLst/>
              <a:cxnLst/>
              <a:rect l="l" t="t" r="r" b="b"/>
              <a:pathLst>
                <a:path w="371475" h="371475">
                  <a:moveTo>
                    <a:pt x="185737" y="371474"/>
                  </a:moveTo>
                  <a:lnTo>
                    <a:pt x="140595" y="365906"/>
                  </a:lnTo>
                  <a:lnTo>
                    <a:pt x="98180" y="349543"/>
                  </a:lnTo>
                  <a:lnTo>
                    <a:pt x="61010" y="323367"/>
                  </a:lnTo>
                  <a:lnTo>
                    <a:pt x="31301" y="288926"/>
                  </a:lnTo>
                  <a:lnTo>
                    <a:pt x="10852" y="248299"/>
                  </a:lnTo>
                  <a:lnTo>
                    <a:pt x="892" y="203943"/>
                  </a:lnTo>
                  <a:lnTo>
                    <a:pt x="0" y="185737"/>
                  </a:lnTo>
                  <a:lnTo>
                    <a:pt x="222" y="176612"/>
                  </a:lnTo>
                  <a:lnTo>
                    <a:pt x="7995" y="131819"/>
                  </a:lnTo>
                  <a:lnTo>
                    <a:pt x="26417" y="90257"/>
                  </a:lnTo>
                  <a:lnTo>
                    <a:pt x="54401" y="54400"/>
                  </a:lnTo>
                  <a:lnTo>
                    <a:pt x="90257" y="26417"/>
                  </a:lnTo>
                  <a:lnTo>
                    <a:pt x="131819" y="7995"/>
                  </a:lnTo>
                  <a:lnTo>
                    <a:pt x="176612" y="223"/>
                  </a:lnTo>
                  <a:lnTo>
                    <a:pt x="185737" y="0"/>
                  </a:lnTo>
                  <a:lnTo>
                    <a:pt x="194862" y="223"/>
                  </a:lnTo>
                  <a:lnTo>
                    <a:pt x="239654" y="7995"/>
                  </a:lnTo>
                  <a:lnTo>
                    <a:pt x="281216" y="26417"/>
                  </a:lnTo>
                  <a:lnTo>
                    <a:pt x="317073" y="54400"/>
                  </a:lnTo>
                  <a:lnTo>
                    <a:pt x="345055" y="90257"/>
                  </a:lnTo>
                  <a:lnTo>
                    <a:pt x="363478" y="131819"/>
                  </a:lnTo>
                  <a:lnTo>
                    <a:pt x="371251" y="176612"/>
                  </a:lnTo>
                  <a:lnTo>
                    <a:pt x="371474" y="185737"/>
                  </a:lnTo>
                  <a:lnTo>
                    <a:pt x="371251" y="194862"/>
                  </a:lnTo>
                  <a:lnTo>
                    <a:pt x="363478" y="239654"/>
                  </a:lnTo>
                  <a:lnTo>
                    <a:pt x="345055" y="281215"/>
                  </a:lnTo>
                  <a:lnTo>
                    <a:pt x="317073" y="317073"/>
                  </a:lnTo>
                  <a:lnTo>
                    <a:pt x="281216" y="345055"/>
                  </a:lnTo>
                  <a:lnTo>
                    <a:pt x="239654" y="363478"/>
                  </a:lnTo>
                  <a:lnTo>
                    <a:pt x="194862" y="371251"/>
                  </a:lnTo>
                  <a:lnTo>
                    <a:pt x="185737" y="371474"/>
                  </a:lnTo>
                  <a:close/>
                </a:path>
              </a:pathLst>
            </a:custGeom>
            <a:solidFill>
              <a:srgbClr val="DAE9F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2" name="object 72" descr=""/>
            <p:cNvSpPr/>
            <p:nvPr/>
          </p:nvSpPr>
          <p:spPr>
            <a:xfrm>
              <a:off x="3509962" y="6872286"/>
              <a:ext cx="371475" cy="371475"/>
            </a:xfrm>
            <a:custGeom>
              <a:avLst/>
              <a:gdLst/>
              <a:ahLst/>
              <a:cxnLst/>
              <a:rect l="l" t="t" r="r" b="b"/>
              <a:pathLst>
                <a:path w="371475" h="371475">
                  <a:moveTo>
                    <a:pt x="371474" y="185737"/>
                  </a:moveTo>
                  <a:lnTo>
                    <a:pt x="365906" y="230878"/>
                  </a:lnTo>
                  <a:lnTo>
                    <a:pt x="349544" y="273293"/>
                  </a:lnTo>
                  <a:lnTo>
                    <a:pt x="323367" y="310462"/>
                  </a:lnTo>
                  <a:lnTo>
                    <a:pt x="288927" y="340171"/>
                  </a:lnTo>
                  <a:lnTo>
                    <a:pt x="248300" y="360621"/>
                  </a:lnTo>
                  <a:lnTo>
                    <a:pt x="203942" y="370582"/>
                  </a:lnTo>
                  <a:lnTo>
                    <a:pt x="185737" y="371474"/>
                  </a:lnTo>
                  <a:lnTo>
                    <a:pt x="176612" y="371251"/>
                  </a:lnTo>
                  <a:lnTo>
                    <a:pt x="131819" y="363478"/>
                  </a:lnTo>
                  <a:lnTo>
                    <a:pt x="90257" y="345055"/>
                  </a:lnTo>
                  <a:lnTo>
                    <a:pt x="54401" y="317073"/>
                  </a:lnTo>
                  <a:lnTo>
                    <a:pt x="26417" y="281215"/>
                  </a:lnTo>
                  <a:lnTo>
                    <a:pt x="7995" y="239654"/>
                  </a:lnTo>
                  <a:lnTo>
                    <a:pt x="222" y="194862"/>
                  </a:lnTo>
                  <a:lnTo>
                    <a:pt x="0" y="185737"/>
                  </a:lnTo>
                  <a:lnTo>
                    <a:pt x="222" y="176612"/>
                  </a:lnTo>
                  <a:lnTo>
                    <a:pt x="7995" y="131819"/>
                  </a:lnTo>
                  <a:lnTo>
                    <a:pt x="26417" y="90257"/>
                  </a:lnTo>
                  <a:lnTo>
                    <a:pt x="54401" y="54400"/>
                  </a:lnTo>
                  <a:lnTo>
                    <a:pt x="90257" y="26417"/>
                  </a:lnTo>
                  <a:lnTo>
                    <a:pt x="131819" y="7995"/>
                  </a:lnTo>
                  <a:lnTo>
                    <a:pt x="176612" y="223"/>
                  </a:lnTo>
                  <a:lnTo>
                    <a:pt x="185737" y="0"/>
                  </a:lnTo>
                  <a:lnTo>
                    <a:pt x="194862" y="223"/>
                  </a:lnTo>
                  <a:lnTo>
                    <a:pt x="239654" y="7995"/>
                  </a:lnTo>
                  <a:lnTo>
                    <a:pt x="281216" y="26417"/>
                  </a:lnTo>
                  <a:lnTo>
                    <a:pt x="317073" y="54400"/>
                  </a:lnTo>
                  <a:lnTo>
                    <a:pt x="345055" y="90257"/>
                  </a:lnTo>
                  <a:lnTo>
                    <a:pt x="363478" y="131819"/>
                  </a:lnTo>
                  <a:lnTo>
                    <a:pt x="371251" y="176612"/>
                  </a:lnTo>
                  <a:lnTo>
                    <a:pt x="371474" y="185737"/>
                  </a:lnTo>
                </a:path>
              </a:pathLst>
            </a:custGeom>
            <a:ln w="9524">
              <a:solidFill>
                <a:srgbClr val="93C4FD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73" name="object 73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619499" y="6991350"/>
              <a:ext cx="161924" cy="129539"/>
            </a:xfrm>
            <a:prstGeom prst="rect">
              <a:avLst/>
            </a:prstGeom>
          </p:spPr>
        </p:pic>
      </p:grpSp>
      <p:sp>
        <p:nvSpPr>
          <p:cNvPr id="74" name="object 74" descr=""/>
          <p:cNvSpPr txBox="1"/>
          <p:nvPr/>
        </p:nvSpPr>
        <p:spPr>
          <a:xfrm>
            <a:off x="3427610" y="7261066"/>
            <a:ext cx="544830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70">
                <a:latin typeface="Roboto"/>
                <a:cs typeface="Roboto"/>
              </a:rPr>
              <a:t>RL</a:t>
            </a:r>
            <a:r>
              <a:rPr dirty="0" sz="1000" spc="-10">
                <a:latin typeface="Roboto"/>
                <a:cs typeface="Roboto"/>
              </a:rPr>
              <a:t> </a:t>
            </a:r>
            <a:r>
              <a:rPr dirty="0" sz="1000" spc="-45">
                <a:latin typeface="Roboto"/>
                <a:cs typeface="Roboto"/>
              </a:rPr>
              <a:t>Agents</a:t>
            </a:r>
            <a:endParaRPr sz="1000">
              <a:latin typeface="Roboto"/>
              <a:cs typeface="Roboto"/>
            </a:endParaRPr>
          </a:p>
        </p:txBody>
      </p:sp>
      <p:grpSp>
        <p:nvGrpSpPr>
          <p:cNvPr id="75" name="object 75" descr=""/>
          <p:cNvGrpSpPr/>
          <p:nvPr/>
        </p:nvGrpSpPr>
        <p:grpSpPr>
          <a:xfrm>
            <a:off x="4114799" y="6867524"/>
            <a:ext cx="790575" cy="381000"/>
            <a:chOff x="4114799" y="6867524"/>
            <a:chExt cx="790575" cy="381000"/>
          </a:xfrm>
        </p:grpSpPr>
        <p:pic>
          <p:nvPicPr>
            <p:cNvPr id="76" name="object 76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114799" y="7095172"/>
              <a:ext cx="134272" cy="116204"/>
            </a:xfrm>
            <a:prstGeom prst="rect">
              <a:avLst/>
            </a:prstGeom>
          </p:spPr>
        </p:pic>
        <p:sp>
          <p:nvSpPr>
            <p:cNvPr id="77" name="object 77" descr=""/>
            <p:cNvSpPr/>
            <p:nvPr/>
          </p:nvSpPr>
          <p:spPr>
            <a:xfrm>
              <a:off x="4529136" y="6872286"/>
              <a:ext cx="371475" cy="371475"/>
            </a:xfrm>
            <a:custGeom>
              <a:avLst/>
              <a:gdLst/>
              <a:ahLst/>
              <a:cxnLst/>
              <a:rect l="l" t="t" r="r" b="b"/>
              <a:pathLst>
                <a:path w="371475" h="371475">
                  <a:moveTo>
                    <a:pt x="185737" y="371474"/>
                  </a:moveTo>
                  <a:lnTo>
                    <a:pt x="140595" y="365906"/>
                  </a:lnTo>
                  <a:lnTo>
                    <a:pt x="98179" y="349543"/>
                  </a:lnTo>
                  <a:lnTo>
                    <a:pt x="61010" y="323367"/>
                  </a:lnTo>
                  <a:lnTo>
                    <a:pt x="31301" y="288926"/>
                  </a:lnTo>
                  <a:lnTo>
                    <a:pt x="10852" y="248299"/>
                  </a:lnTo>
                  <a:lnTo>
                    <a:pt x="891" y="203943"/>
                  </a:lnTo>
                  <a:lnTo>
                    <a:pt x="0" y="185737"/>
                  </a:lnTo>
                  <a:lnTo>
                    <a:pt x="222" y="176612"/>
                  </a:lnTo>
                  <a:lnTo>
                    <a:pt x="7995" y="131819"/>
                  </a:lnTo>
                  <a:lnTo>
                    <a:pt x="26417" y="90257"/>
                  </a:lnTo>
                  <a:lnTo>
                    <a:pt x="54400" y="54400"/>
                  </a:lnTo>
                  <a:lnTo>
                    <a:pt x="90257" y="26417"/>
                  </a:lnTo>
                  <a:lnTo>
                    <a:pt x="131819" y="7995"/>
                  </a:lnTo>
                  <a:lnTo>
                    <a:pt x="176612" y="223"/>
                  </a:lnTo>
                  <a:lnTo>
                    <a:pt x="185737" y="0"/>
                  </a:lnTo>
                  <a:lnTo>
                    <a:pt x="194862" y="223"/>
                  </a:lnTo>
                  <a:lnTo>
                    <a:pt x="239654" y="7995"/>
                  </a:lnTo>
                  <a:lnTo>
                    <a:pt x="281215" y="26417"/>
                  </a:lnTo>
                  <a:lnTo>
                    <a:pt x="317073" y="54400"/>
                  </a:lnTo>
                  <a:lnTo>
                    <a:pt x="345055" y="90257"/>
                  </a:lnTo>
                  <a:lnTo>
                    <a:pt x="363478" y="131819"/>
                  </a:lnTo>
                  <a:lnTo>
                    <a:pt x="371251" y="176612"/>
                  </a:lnTo>
                  <a:lnTo>
                    <a:pt x="371474" y="185737"/>
                  </a:lnTo>
                  <a:lnTo>
                    <a:pt x="371251" y="194862"/>
                  </a:lnTo>
                  <a:lnTo>
                    <a:pt x="363478" y="239654"/>
                  </a:lnTo>
                  <a:lnTo>
                    <a:pt x="345055" y="281215"/>
                  </a:lnTo>
                  <a:lnTo>
                    <a:pt x="317073" y="317073"/>
                  </a:lnTo>
                  <a:lnTo>
                    <a:pt x="281215" y="345055"/>
                  </a:lnTo>
                  <a:lnTo>
                    <a:pt x="239654" y="363478"/>
                  </a:lnTo>
                  <a:lnTo>
                    <a:pt x="194862" y="371251"/>
                  </a:lnTo>
                  <a:lnTo>
                    <a:pt x="185737" y="371474"/>
                  </a:lnTo>
                  <a:close/>
                </a:path>
              </a:pathLst>
            </a:custGeom>
            <a:solidFill>
              <a:srgbClr val="DAE9F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8" name="object 78" descr=""/>
            <p:cNvSpPr/>
            <p:nvPr/>
          </p:nvSpPr>
          <p:spPr>
            <a:xfrm>
              <a:off x="4529136" y="6872286"/>
              <a:ext cx="371475" cy="371475"/>
            </a:xfrm>
            <a:custGeom>
              <a:avLst/>
              <a:gdLst/>
              <a:ahLst/>
              <a:cxnLst/>
              <a:rect l="l" t="t" r="r" b="b"/>
              <a:pathLst>
                <a:path w="371475" h="371475">
                  <a:moveTo>
                    <a:pt x="371474" y="185737"/>
                  </a:moveTo>
                  <a:lnTo>
                    <a:pt x="365906" y="230878"/>
                  </a:lnTo>
                  <a:lnTo>
                    <a:pt x="349544" y="273293"/>
                  </a:lnTo>
                  <a:lnTo>
                    <a:pt x="323367" y="310462"/>
                  </a:lnTo>
                  <a:lnTo>
                    <a:pt x="288926" y="340171"/>
                  </a:lnTo>
                  <a:lnTo>
                    <a:pt x="248299" y="360621"/>
                  </a:lnTo>
                  <a:lnTo>
                    <a:pt x="203942" y="370582"/>
                  </a:lnTo>
                  <a:lnTo>
                    <a:pt x="185737" y="371474"/>
                  </a:lnTo>
                  <a:lnTo>
                    <a:pt x="176612" y="371251"/>
                  </a:lnTo>
                  <a:lnTo>
                    <a:pt x="131819" y="363478"/>
                  </a:lnTo>
                  <a:lnTo>
                    <a:pt x="90257" y="345055"/>
                  </a:lnTo>
                  <a:lnTo>
                    <a:pt x="54400" y="317073"/>
                  </a:lnTo>
                  <a:lnTo>
                    <a:pt x="26417" y="281215"/>
                  </a:lnTo>
                  <a:lnTo>
                    <a:pt x="7995" y="239654"/>
                  </a:lnTo>
                  <a:lnTo>
                    <a:pt x="222" y="194862"/>
                  </a:lnTo>
                  <a:lnTo>
                    <a:pt x="0" y="185737"/>
                  </a:lnTo>
                  <a:lnTo>
                    <a:pt x="222" y="176612"/>
                  </a:lnTo>
                  <a:lnTo>
                    <a:pt x="7995" y="131819"/>
                  </a:lnTo>
                  <a:lnTo>
                    <a:pt x="26417" y="90257"/>
                  </a:lnTo>
                  <a:lnTo>
                    <a:pt x="54400" y="54400"/>
                  </a:lnTo>
                  <a:lnTo>
                    <a:pt x="90257" y="26417"/>
                  </a:lnTo>
                  <a:lnTo>
                    <a:pt x="131819" y="7995"/>
                  </a:lnTo>
                  <a:lnTo>
                    <a:pt x="176612" y="223"/>
                  </a:lnTo>
                  <a:lnTo>
                    <a:pt x="185737" y="0"/>
                  </a:lnTo>
                  <a:lnTo>
                    <a:pt x="194862" y="223"/>
                  </a:lnTo>
                  <a:lnTo>
                    <a:pt x="239654" y="7995"/>
                  </a:lnTo>
                  <a:lnTo>
                    <a:pt x="281215" y="26417"/>
                  </a:lnTo>
                  <a:lnTo>
                    <a:pt x="317073" y="54400"/>
                  </a:lnTo>
                  <a:lnTo>
                    <a:pt x="345055" y="90257"/>
                  </a:lnTo>
                  <a:lnTo>
                    <a:pt x="363478" y="131819"/>
                  </a:lnTo>
                  <a:lnTo>
                    <a:pt x="371251" y="176612"/>
                  </a:lnTo>
                  <a:lnTo>
                    <a:pt x="371474" y="185737"/>
                  </a:lnTo>
                </a:path>
              </a:pathLst>
            </a:custGeom>
            <a:ln w="9524">
              <a:solidFill>
                <a:srgbClr val="93C4FD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79" name="object 79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4665200" y="6990661"/>
              <a:ext cx="99349" cy="132006"/>
            </a:xfrm>
            <a:prstGeom prst="rect">
              <a:avLst/>
            </a:prstGeom>
          </p:spPr>
        </p:pic>
      </p:grpSp>
      <p:sp>
        <p:nvSpPr>
          <p:cNvPr id="80" name="object 80" descr=""/>
          <p:cNvSpPr txBox="1"/>
          <p:nvPr/>
        </p:nvSpPr>
        <p:spPr>
          <a:xfrm>
            <a:off x="4385022" y="7261066"/>
            <a:ext cx="661670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35">
                <a:latin typeface="Roboto"/>
                <a:cs typeface="Roboto"/>
              </a:rPr>
              <a:t>Initial</a:t>
            </a:r>
            <a:r>
              <a:rPr dirty="0" sz="1000" spc="-25">
                <a:latin typeface="Roboto"/>
                <a:cs typeface="Roboto"/>
              </a:rPr>
              <a:t> </a:t>
            </a:r>
            <a:r>
              <a:rPr dirty="0" sz="1000" spc="-50">
                <a:latin typeface="Roboto"/>
                <a:cs typeface="Roboto"/>
              </a:rPr>
              <a:t>Config</a:t>
            </a:r>
            <a:endParaRPr sz="1000">
              <a:latin typeface="Roboto"/>
              <a:cs typeface="Roboto"/>
            </a:endParaRPr>
          </a:p>
        </p:txBody>
      </p:sp>
      <p:grpSp>
        <p:nvGrpSpPr>
          <p:cNvPr id="81" name="object 81" descr=""/>
          <p:cNvGrpSpPr/>
          <p:nvPr/>
        </p:nvGrpSpPr>
        <p:grpSpPr>
          <a:xfrm>
            <a:off x="5181600" y="6867524"/>
            <a:ext cx="838200" cy="381000"/>
            <a:chOff x="5181600" y="6867524"/>
            <a:chExt cx="838200" cy="381000"/>
          </a:xfrm>
        </p:grpSpPr>
        <p:pic>
          <p:nvPicPr>
            <p:cNvPr id="82" name="object 82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5181600" y="7095172"/>
              <a:ext cx="134272" cy="116204"/>
            </a:xfrm>
            <a:prstGeom prst="rect">
              <a:avLst/>
            </a:prstGeom>
          </p:spPr>
        </p:pic>
        <p:sp>
          <p:nvSpPr>
            <p:cNvPr id="83" name="object 83" descr=""/>
            <p:cNvSpPr/>
            <p:nvPr/>
          </p:nvSpPr>
          <p:spPr>
            <a:xfrm>
              <a:off x="5643561" y="6872286"/>
              <a:ext cx="371475" cy="371475"/>
            </a:xfrm>
            <a:custGeom>
              <a:avLst/>
              <a:gdLst/>
              <a:ahLst/>
              <a:cxnLst/>
              <a:rect l="l" t="t" r="r" b="b"/>
              <a:pathLst>
                <a:path w="371475" h="371475">
                  <a:moveTo>
                    <a:pt x="185737" y="371474"/>
                  </a:moveTo>
                  <a:lnTo>
                    <a:pt x="140595" y="365906"/>
                  </a:lnTo>
                  <a:lnTo>
                    <a:pt x="98179" y="349543"/>
                  </a:lnTo>
                  <a:lnTo>
                    <a:pt x="61010" y="323367"/>
                  </a:lnTo>
                  <a:lnTo>
                    <a:pt x="31300" y="288926"/>
                  </a:lnTo>
                  <a:lnTo>
                    <a:pt x="10851" y="248299"/>
                  </a:lnTo>
                  <a:lnTo>
                    <a:pt x="891" y="203943"/>
                  </a:lnTo>
                  <a:lnTo>
                    <a:pt x="0" y="185737"/>
                  </a:lnTo>
                  <a:lnTo>
                    <a:pt x="222" y="176612"/>
                  </a:lnTo>
                  <a:lnTo>
                    <a:pt x="7994" y="131819"/>
                  </a:lnTo>
                  <a:lnTo>
                    <a:pt x="26417" y="90257"/>
                  </a:lnTo>
                  <a:lnTo>
                    <a:pt x="54400" y="54400"/>
                  </a:lnTo>
                  <a:lnTo>
                    <a:pt x="90257" y="26417"/>
                  </a:lnTo>
                  <a:lnTo>
                    <a:pt x="131819" y="7995"/>
                  </a:lnTo>
                  <a:lnTo>
                    <a:pt x="176612" y="223"/>
                  </a:lnTo>
                  <a:lnTo>
                    <a:pt x="185737" y="0"/>
                  </a:lnTo>
                  <a:lnTo>
                    <a:pt x="194861" y="223"/>
                  </a:lnTo>
                  <a:lnTo>
                    <a:pt x="239654" y="7995"/>
                  </a:lnTo>
                  <a:lnTo>
                    <a:pt x="281216" y="26417"/>
                  </a:lnTo>
                  <a:lnTo>
                    <a:pt x="317073" y="54400"/>
                  </a:lnTo>
                  <a:lnTo>
                    <a:pt x="345056" y="90257"/>
                  </a:lnTo>
                  <a:lnTo>
                    <a:pt x="363478" y="131819"/>
                  </a:lnTo>
                  <a:lnTo>
                    <a:pt x="371251" y="176612"/>
                  </a:lnTo>
                  <a:lnTo>
                    <a:pt x="371474" y="185737"/>
                  </a:lnTo>
                  <a:lnTo>
                    <a:pt x="371251" y="194862"/>
                  </a:lnTo>
                  <a:lnTo>
                    <a:pt x="363478" y="239654"/>
                  </a:lnTo>
                  <a:lnTo>
                    <a:pt x="345056" y="281215"/>
                  </a:lnTo>
                  <a:lnTo>
                    <a:pt x="317073" y="317073"/>
                  </a:lnTo>
                  <a:lnTo>
                    <a:pt x="281216" y="345055"/>
                  </a:lnTo>
                  <a:lnTo>
                    <a:pt x="239654" y="363478"/>
                  </a:lnTo>
                  <a:lnTo>
                    <a:pt x="194861" y="371251"/>
                  </a:lnTo>
                  <a:lnTo>
                    <a:pt x="185737" y="371474"/>
                  </a:lnTo>
                  <a:close/>
                </a:path>
              </a:pathLst>
            </a:custGeom>
            <a:solidFill>
              <a:srgbClr val="D0FAE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4" name="object 84" descr=""/>
            <p:cNvSpPr/>
            <p:nvPr/>
          </p:nvSpPr>
          <p:spPr>
            <a:xfrm>
              <a:off x="5643561" y="6872286"/>
              <a:ext cx="371475" cy="371475"/>
            </a:xfrm>
            <a:custGeom>
              <a:avLst/>
              <a:gdLst/>
              <a:ahLst/>
              <a:cxnLst/>
              <a:rect l="l" t="t" r="r" b="b"/>
              <a:pathLst>
                <a:path w="371475" h="371475">
                  <a:moveTo>
                    <a:pt x="371474" y="185737"/>
                  </a:moveTo>
                  <a:lnTo>
                    <a:pt x="365906" y="230878"/>
                  </a:lnTo>
                  <a:lnTo>
                    <a:pt x="349544" y="273293"/>
                  </a:lnTo>
                  <a:lnTo>
                    <a:pt x="323367" y="310462"/>
                  </a:lnTo>
                  <a:lnTo>
                    <a:pt x="288927" y="340171"/>
                  </a:lnTo>
                  <a:lnTo>
                    <a:pt x="248300" y="360621"/>
                  </a:lnTo>
                  <a:lnTo>
                    <a:pt x="203942" y="370582"/>
                  </a:lnTo>
                  <a:lnTo>
                    <a:pt x="185737" y="371474"/>
                  </a:lnTo>
                  <a:lnTo>
                    <a:pt x="176612" y="371251"/>
                  </a:lnTo>
                  <a:lnTo>
                    <a:pt x="131819" y="363478"/>
                  </a:lnTo>
                  <a:lnTo>
                    <a:pt x="90257" y="345055"/>
                  </a:lnTo>
                  <a:lnTo>
                    <a:pt x="54400" y="317073"/>
                  </a:lnTo>
                  <a:lnTo>
                    <a:pt x="26416" y="281215"/>
                  </a:lnTo>
                  <a:lnTo>
                    <a:pt x="7994" y="239654"/>
                  </a:lnTo>
                  <a:lnTo>
                    <a:pt x="222" y="194862"/>
                  </a:lnTo>
                  <a:lnTo>
                    <a:pt x="0" y="185737"/>
                  </a:lnTo>
                  <a:lnTo>
                    <a:pt x="222" y="176612"/>
                  </a:lnTo>
                  <a:lnTo>
                    <a:pt x="7994" y="131819"/>
                  </a:lnTo>
                  <a:lnTo>
                    <a:pt x="26417" y="90257"/>
                  </a:lnTo>
                  <a:lnTo>
                    <a:pt x="54400" y="54400"/>
                  </a:lnTo>
                  <a:lnTo>
                    <a:pt x="90257" y="26417"/>
                  </a:lnTo>
                  <a:lnTo>
                    <a:pt x="131819" y="7995"/>
                  </a:lnTo>
                  <a:lnTo>
                    <a:pt x="176612" y="223"/>
                  </a:lnTo>
                  <a:lnTo>
                    <a:pt x="185737" y="0"/>
                  </a:lnTo>
                  <a:lnTo>
                    <a:pt x="194861" y="223"/>
                  </a:lnTo>
                  <a:lnTo>
                    <a:pt x="239654" y="7995"/>
                  </a:lnTo>
                  <a:lnTo>
                    <a:pt x="281216" y="26417"/>
                  </a:lnTo>
                  <a:lnTo>
                    <a:pt x="317073" y="54400"/>
                  </a:lnTo>
                  <a:lnTo>
                    <a:pt x="345056" y="90257"/>
                  </a:lnTo>
                  <a:lnTo>
                    <a:pt x="363478" y="131819"/>
                  </a:lnTo>
                  <a:lnTo>
                    <a:pt x="371251" y="176612"/>
                  </a:lnTo>
                  <a:lnTo>
                    <a:pt x="371474" y="185737"/>
                  </a:lnTo>
                </a:path>
              </a:pathLst>
            </a:custGeom>
            <a:ln w="9524">
              <a:solidFill>
                <a:srgbClr val="6EE7B6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85" name="object 85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5772149" y="6991349"/>
              <a:ext cx="114299" cy="130628"/>
            </a:xfrm>
            <a:prstGeom prst="rect">
              <a:avLst/>
            </a:prstGeom>
          </p:spPr>
        </p:pic>
      </p:grpSp>
      <p:sp>
        <p:nvSpPr>
          <p:cNvPr id="86" name="object 86" descr=""/>
          <p:cNvSpPr txBox="1"/>
          <p:nvPr/>
        </p:nvSpPr>
        <p:spPr>
          <a:xfrm>
            <a:off x="5458966" y="7261066"/>
            <a:ext cx="741045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75">
                <a:latin typeface="Roboto"/>
                <a:cs typeface="Roboto"/>
              </a:rPr>
              <a:t>GA</a:t>
            </a:r>
            <a:r>
              <a:rPr dirty="0" sz="1000" spc="10">
                <a:latin typeface="Roboto"/>
                <a:cs typeface="Roboto"/>
              </a:rPr>
              <a:t> </a:t>
            </a:r>
            <a:r>
              <a:rPr dirty="0" sz="1000" spc="-50">
                <a:latin typeface="Roboto"/>
                <a:cs typeface="Roboto"/>
              </a:rPr>
              <a:t>Fine-Tuner</a:t>
            </a:r>
            <a:endParaRPr sz="1000">
              <a:latin typeface="Roboto"/>
              <a:cs typeface="Roboto"/>
            </a:endParaRPr>
          </a:p>
        </p:txBody>
      </p:sp>
      <p:grpSp>
        <p:nvGrpSpPr>
          <p:cNvPr id="87" name="object 87" descr=""/>
          <p:cNvGrpSpPr/>
          <p:nvPr/>
        </p:nvGrpSpPr>
        <p:grpSpPr>
          <a:xfrm>
            <a:off x="6343650" y="6867524"/>
            <a:ext cx="771525" cy="381000"/>
            <a:chOff x="6343650" y="6867524"/>
            <a:chExt cx="771525" cy="381000"/>
          </a:xfrm>
        </p:grpSpPr>
        <p:pic>
          <p:nvPicPr>
            <p:cNvPr id="88" name="object 88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6343650" y="7095172"/>
              <a:ext cx="134272" cy="116204"/>
            </a:xfrm>
            <a:prstGeom prst="rect">
              <a:avLst/>
            </a:prstGeom>
          </p:spPr>
        </p:pic>
        <p:sp>
          <p:nvSpPr>
            <p:cNvPr id="89" name="object 89" descr=""/>
            <p:cNvSpPr/>
            <p:nvPr/>
          </p:nvSpPr>
          <p:spPr>
            <a:xfrm>
              <a:off x="6738936" y="6872286"/>
              <a:ext cx="371475" cy="371475"/>
            </a:xfrm>
            <a:custGeom>
              <a:avLst/>
              <a:gdLst/>
              <a:ahLst/>
              <a:cxnLst/>
              <a:rect l="l" t="t" r="r" b="b"/>
              <a:pathLst>
                <a:path w="371475" h="371475">
                  <a:moveTo>
                    <a:pt x="185737" y="371474"/>
                  </a:moveTo>
                  <a:lnTo>
                    <a:pt x="140595" y="365906"/>
                  </a:lnTo>
                  <a:lnTo>
                    <a:pt x="98179" y="349543"/>
                  </a:lnTo>
                  <a:lnTo>
                    <a:pt x="61010" y="323367"/>
                  </a:lnTo>
                  <a:lnTo>
                    <a:pt x="31301" y="288926"/>
                  </a:lnTo>
                  <a:lnTo>
                    <a:pt x="10852" y="248299"/>
                  </a:lnTo>
                  <a:lnTo>
                    <a:pt x="891" y="203943"/>
                  </a:lnTo>
                  <a:lnTo>
                    <a:pt x="0" y="185737"/>
                  </a:lnTo>
                  <a:lnTo>
                    <a:pt x="222" y="176612"/>
                  </a:lnTo>
                  <a:lnTo>
                    <a:pt x="7995" y="131819"/>
                  </a:lnTo>
                  <a:lnTo>
                    <a:pt x="26417" y="90257"/>
                  </a:lnTo>
                  <a:lnTo>
                    <a:pt x="54400" y="54400"/>
                  </a:lnTo>
                  <a:lnTo>
                    <a:pt x="90257" y="26417"/>
                  </a:lnTo>
                  <a:lnTo>
                    <a:pt x="131819" y="7995"/>
                  </a:lnTo>
                  <a:lnTo>
                    <a:pt x="176612" y="223"/>
                  </a:lnTo>
                  <a:lnTo>
                    <a:pt x="185737" y="0"/>
                  </a:lnTo>
                  <a:lnTo>
                    <a:pt x="194862" y="223"/>
                  </a:lnTo>
                  <a:lnTo>
                    <a:pt x="239654" y="7995"/>
                  </a:lnTo>
                  <a:lnTo>
                    <a:pt x="281216" y="26417"/>
                  </a:lnTo>
                  <a:lnTo>
                    <a:pt x="317073" y="54400"/>
                  </a:lnTo>
                  <a:lnTo>
                    <a:pt x="345055" y="90257"/>
                  </a:lnTo>
                  <a:lnTo>
                    <a:pt x="363478" y="131819"/>
                  </a:lnTo>
                  <a:lnTo>
                    <a:pt x="371251" y="176612"/>
                  </a:lnTo>
                  <a:lnTo>
                    <a:pt x="371474" y="185737"/>
                  </a:lnTo>
                  <a:lnTo>
                    <a:pt x="371251" y="194862"/>
                  </a:lnTo>
                  <a:lnTo>
                    <a:pt x="363478" y="239654"/>
                  </a:lnTo>
                  <a:lnTo>
                    <a:pt x="345055" y="281215"/>
                  </a:lnTo>
                  <a:lnTo>
                    <a:pt x="317073" y="317073"/>
                  </a:lnTo>
                  <a:lnTo>
                    <a:pt x="281216" y="345055"/>
                  </a:lnTo>
                  <a:lnTo>
                    <a:pt x="239654" y="363478"/>
                  </a:lnTo>
                  <a:lnTo>
                    <a:pt x="194862" y="371251"/>
                  </a:lnTo>
                  <a:lnTo>
                    <a:pt x="185737" y="371474"/>
                  </a:lnTo>
                  <a:close/>
                </a:path>
              </a:pathLst>
            </a:custGeom>
            <a:solidFill>
              <a:srgbClr val="ECE8F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0" name="object 90" descr=""/>
            <p:cNvSpPr/>
            <p:nvPr/>
          </p:nvSpPr>
          <p:spPr>
            <a:xfrm>
              <a:off x="6738936" y="6872286"/>
              <a:ext cx="371475" cy="371475"/>
            </a:xfrm>
            <a:custGeom>
              <a:avLst/>
              <a:gdLst/>
              <a:ahLst/>
              <a:cxnLst/>
              <a:rect l="l" t="t" r="r" b="b"/>
              <a:pathLst>
                <a:path w="371475" h="371475">
                  <a:moveTo>
                    <a:pt x="371474" y="185737"/>
                  </a:moveTo>
                  <a:lnTo>
                    <a:pt x="365906" y="230878"/>
                  </a:lnTo>
                  <a:lnTo>
                    <a:pt x="349544" y="273293"/>
                  </a:lnTo>
                  <a:lnTo>
                    <a:pt x="323367" y="310462"/>
                  </a:lnTo>
                  <a:lnTo>
                    <a:pt x="288927" y="340171"/>
                  </a:lnTo>
                  <a:lnTo>
                    <a:pt x="248300" y="360621"/>
                  </a:lnTo>
                  <a:lnTo>
                    <a:pt x="203943" y="370582"/>
                  </a:lnTo>
                  <a:lnTo>
                    <a:pt x="185737" y="371474"/>
                  </a:lnTo>
                  <a:lnTo>
                    <a:pt x="176612" y="371251"/>
                  </a:lnTo>
                  <a:lnTo>
                    <a:pt x="131819" y="363478"/>
                  </a:lnTo>
                  <a:lnTo>
                    <a:pt x="90257" y="345055"/>
                  </a:lnTo>
                  <a:lnTo>
                    <a:pt x="54400" y="317073"/>
                  </a:lnTo>
                  <a:lnTo>
                    <a:pt x="26417" y="281215"/>
                  </a:lnTo>
                  <a:lnTo>
                    <a:pt x="7995" y="239654"/>
                  </a:lnTo>
                  <a:lnTo>
                    <a:pt x="222" y="194862"/>
                  </a:lnTo>
                  <a:lnTo>
                    <a:pt x="0" y="185737"/>
                  </a:lnTo>
                  <a:lnTo>
                    <a:pt x="222" y="176612"/>
                  </a:lnTo>
                  <a:lnTo>
                    <a:pt x="7995" y="131819"/>
                  </a:lnTo>
                  <a:lnTo>
                    <a:pt x="26417" y="90257"/>
                  </a:lnTo>
                  <a:lnTo>
                    <a:pt x="54400" y="54400"/>
                  </a:lnTo>
                  <a:lnTo>
                    <a:pt x="90257" y="26417"/>
                  </a:lnTo>
                  <a:lnTo>
                    <a:pt x="131819" y="7995"/>
                  </a:lnTo>
                  <a:lnTo>
                    <a:pt x="176612" y="223"/>
                  </a:lnTo>
                  <a:lnTo>
                    <a:pt x="185737" y="0"/>
                  </a:lnTo>
                  <a:lnTo>
                    <a:pt x="194862" y="223"/>
                  </a:lnTo>
                  <a:lnTo>
                    <a:pt x="239654" y="7995"/>
                  </a:lnTo>
                  <a:lnTo>
                    <a:pt x="281216" y="26417"/>
                  </a:lnTo>
                  <a:lnTo>
                    <a:pt x="317073" y="54400"/>
                  </a:lnTo>
                  <a:lnTo>
                    <a:pt x="345055" y="90257"/>
                  </a:lnTo>
                  <a:lnTo>
                    <a:pt x="363478" y="131819"/>
                  </a:lnTo>
                  <a:lnTo>
                    <a:pt x="371251" y="176612"/>
                  </a:lnTo>
                  <a:lnTo>
                    <a:pt x="371474" y="185737"/>
                  </a:lnTo>
                </a:path>
              </a:pathLst>
            </a:custGeom>
            <a:ln w="9524">
              <a:solidFill>
                <a:srgbClr val="C3B4FD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91" name="object 91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6857999" y="6991349"/>
              <a:ext cx="133349" cy="133349"/>
            </a:xfrm>
            <a:prstGeom prst="rect">
              <a:avLst/>
            </a:prstGeom>
          </p:spPr>
        </p:pic>
      </p:grpSp>
      <p:sp>
        <p:nvSpPr>
          <p:cNvPr id="92" name="object 92" descr=""/>
          <p:cNvSpPr txBox="1"/>
          <p:nvPr/>
        </p:nvSpPr>
        <p:spPr>
          <a:xfrm>
            <a:off x="6612681" y="7261066"/>
            <a:ext cx="628650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45">
                <a:latin typeface="Roboto"/>
                <a:cs typeface="Roboto"/>
              </a:rPr>
              <a:t>Final</a:t>
            </a:r>
            <a:r>
              <a:rPr dirty="0" sz="1000" spc="-15">
                <a:latin typeface="Roboto"/>
                <a:cs typeface="Roboto"/>
              </a:rPr>
              <a:t> </a:t>
            </a:r>
            <a:r>
              <a:rPr dirty="0" sz="1000" spc="-50">
                <a:latin typeface="Roboto"/>
                <a:cs typeface="Roboto"/>
              </a:rPr>
              <a:t>Config</a:t>
            </a:r>
            <a:endParaRPr sz="1000">
              <a:latin typeface="Roboto"/>
              <a:cs typeface="Roboto"/>
            </a:endParaRPr>
          </a:p>
        </p:txBody>
      </p:sp>
      <p:grpSp>
        <p:nvGrpSpPr>
          <p:cNvPr id="93" name="object 93" descr=""/>
          <p:cNvGrpSpPr/>
          <p:nvPr/>
        </p:nvGrpSpPr>
        <p:grpSpPr>
          <a:xfrm>
            <a:off x="7381874" y="6867524"/>
            <a:ext cx="885825" cy="381000"/>
            <a:chOff x="7381874" y="6867524"/>
            <a:chExt cx="885825" cy="381000"/>
          </a:xfrm>
        </p:grpSpPr>
        <p:pic>
          <p:nvPicPr>
            <p:cNvPr id="94" name="object 94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7381874" y="7095172"/>
              <a:ext cx="134272" cy="116204"/>
            </a:xfrm>
            <a:prstGeom prst="rect">
              <a:avLst/>
            </a:prstGeom>
          </p:spPr>
        </p:pic>
        <p:sp>
          <p:nvSpPr>
            <p:cNvPr id="95" name="object 95" descr=""/>
            <p:cNvSpPr/>
            <p:nvPr/>
          </p:nvSpPr>
          <p:spPr>
            <a:xfrm>
              <a:off x="7891461" y="6872286"/>
              <a:ext cx="371475" cy="371475"/>
            </a:xfrm>
            <a:custGeom>
              <a:avLst/>
              <a:gdLst/>
              <a:ahLst/>
              <a:cxnLst/>
              <a:rect l="l" t="t" r="r" b="b"/>
              <a:pathLst>
                <a:path w="371475" h="371475">
                  <a:moveTo>
                    <a:pt x="185737" y="371474"/>
                  </a:moveTo>
                  <a:lnTo>
                    <a:pt x="140594" y="365906"/>
                  </a:lnTo>
                  <a:lnTo>
                    <a:pt x="98178" y="349543"/>
                  </a:lnTo>
                  <a:lnTo>
                    <a:pt x="61009" y="323367"/>
                  </a:lnTo>
                  <a:lnTo>
                    <a:pt x="31300" y="288926"/>
                  </a:lnTo>
                  <a:lnTo>
                    <a:pt x="10851" y="248299"/>
                  </a:lnTo>
                  <a:lnTo>
                    <a:pt x="891" y="203943"/>
                  </a:lnTo>
                  <a:lnTo>
                    <a:pt x="0" y="185737"/>
                  </a:lnTo>
                  <a:lnTo>
                    <a:pt x="222" y="176612"/>
                  </a:lnTo>
                  <a:lnTo>
                    <a:pt x="7994" y="131819"/>
                  </a:lnTo>
                  <a:lnTo>
                    <a:pt x="26416" y="90257"/>
                  </a:lnTo>
                  <a:lnTo>
                    <a:pt x="54400" y="54400"/>
                  </a:lnTo>
                  <a:lnTo>
                    <a:pt x="90256" y="26417"/>
                  </a:lnTo>
                  <a:lnTo>
                    <a:pt x="131818" y="7995"/>
                  </a:lnTo>
                  <a:lnTo>
                    <a:pt x="176612" y="223"/>
                  </a:lnTo>
                  <a:lnTo>
                    <a:pt x="185737" y="0"/>
                  </a:lnTo>
                  <a:lnTo>
                    <a:pt x="194861" y="223"/>
                  </a:lnTo>
                  <a:lnTo>
                    <a:pt x="239653" y="7995"/>
                  </a:lnTo>
                  <a:lnTo>
                    <a:pt x="281215" y="26417"/>
                  </a:lnTo>
                  <a:lnTo>
                    <a:pt x="317072" y="54400"/>
                  </a:lnTo>
                  <a:lnTo>
                    <a:pt x="345055" y="90257"/>
                  </a:lnTo>
                  <a:lnTo>
                    <a:pt x="363477" y="131819"/>
                  </a:lnTo>
                  <a:lnTo>
                    <a:pt x="371251" y="176612"/>
                  </a:lnTo>
                  <a:lnTo>
                    <a:pt x="371474" y="185737"/>
                  </a:lnTo>
                  <a:lnTo>
                    <a:pt x="371251" y="194862"/>
                  </a:lnTo>
                  <a:lnTo>
                    <a:pt x="363477" y="239654"/>
                  </a:lnTo>
                  <a:lnTo>
                    <a:pt x="345055" y="281215"/>
                  </a:lnTo>
                  <a:lnTo>
                    <a:pt x="317072" y="317073"/>
                  </a:lnTo>
                  <a:lnTo>
                    <a:pt x="281215" y="345055"/>
                  </a:lnTo>
                  <a:lnTo>
                    <a:pt x="239653" y="363478"/>
                  </a:lnTo>
                  <a:lnTo>
                    <a:pt x="194861" y="371251"/>
                  </a:lnTo>
                  <a:lnTo>
                    <a:pt x="185737" y="371474"/>
                  </a:lnTo>
                  <a:close/>
                </a:path>
              </a:pathLst>
            </a:custGeom>
            <a:solidFill>
              <a:srgbClr val="F2F4F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6" name="object 96" descr=""/>
            <p:cNvSpPr/>
            <p:nvPr/>
          </p:nvSpPr>
          <p:spPr>
            <a:xfrm>
              <a:off x="7891461" y="6872286"/>
              <a:ext cx="371475" cy="371475"/>
            </a:xfrm>
            <a:custGeom>
              <a:avLst/>
              <a:gdLst/>
              <a:ahLst/>
              <a:cxnLst/>
              <a:rect l="l" t="t" r="r" b="b"/>
              <a:pathLst>
                <a:path w="371475" h="371475">
                  <a:moveTo>
                    <a:pt x="371474" y="185737"/>
                  </a:moveTo>
                  <a:lnTo>
                    <a:pt x="365905" y="230878"/>
                  </a:lnTo>
                  <a:lnTo>
                    <a:pt x="349543" y="273293"/>
                  </a:lnTo>
                  <a:lnTo>
                    <a:pt x="323366" y="310462"/>
                  </a:lnTo>
                  <a:lnTo>
                    <a:pt x="288925" y="340171"/>
                  </a:lnTo>
                  <a:lnTo>
                    <a:pt x="248299" y="360621"/>
                  </a:lnTo>
                  <a:lnTo>
                    <a:pt x="203942" y="370582"/>
                  </a:lnTo>
                  <a:lnTo>
                    <a:pt x="185737" y="371474"/>
                  </a:lnTo>
                  <a:lnTo>
                    <a:pt x="176612" y="371251"/>
                  </a:lnTo>
                  <a:lnTo>
                    <a:pt x="131818" y="363478"/>
                  </a:lnTo>
                  <a:lnTo>
                    <a:pt x="90256" y="345055"/>
                  </a:lnTo>
                  <a:lnTo>
                    <a:pt x="54400" y="317073"/>
                  </a:lnTo>
                  <a:lnTo>
                    <a:pt x="26416" y="281215"/>
                  </a:lnTo>
                  <a:lnTo>
                    <a:pt x="7994" y="239654"/>
                  </a:lnTo>
                  <a:lnTo>
                    <a:pt x="222" y="194862"/>
                  </a:lnTo>
                  <a:lnTo>
                    <a:pt x="0" y="185737"/>
                  </a:lnTo>
                  <a:lnTo>
                    <a:pt x="222" y="176612"/>
                  </a:lnTo>
                  <a:lnTo>
                    <a:pt x="7994" y="131819"/>
                  </a:lnTo>
                  <a:lnTo>
                    <a:pt x="26416" y="90257"/>
                  </a:lnTo>
                  <a:lnTo>
                    <a:pt x="54400" y="54400"/>
                  </a:lnTo>
                  <a:lnTo>
                    <a:pt x="90256" y="26417"/>
                  </a:lnTo>
                  <a:lnTo>
                    <a:pt x="131818" y="7995"/>
                  </a:lnTo>
                  <a:lnTo>
                    <a:pt x="176612" y="223"/>
                  </a:lnTo>
                  <a:lnTo>
                    <a:pt x="185737" y="0"/>
                  </a:lnTo>
                  <a:lnTo>
                    <a:pt x="194861" y="223"/>
                  </a:lnTo>
                  <a:lnTo>
                    <a:pt x="239653" y="7995"/>
                  </a:lnTo>
                  <a:lnTo>
                    <a:pt x="281215" y="26417"/>
                  </a:lnTo>
                  <a:lnTo>
                    <a:pt x="317072" y="54400"/>
                  </a:lnTo>
                  <a:lnTo>
                    <a:pt x="345055" y="90257"/>
                  </a:lnTo>
                  <a:lnTo>
                    <a:pt x="363477" y="131819"/>
                  </a:lnTo>
                  <a:lnTo>
                    <a:pt x="371251" y="176612"/>
                  </a:lnTo>
                  <a:lnTo>
                    <a:pt x="371474" y="185737"/>
                  </a:lnTo>
                </a:path>
              </a:pathLst>
            </a:custGeom>
            <a:ln w="9524">
              <a:solidFill>
                <a:srgbClr val="D0D5DA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97" name="object 97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8014691" y="6999677"/>
              <a:ext cx="124989" cy="116674"/>
            </a:xfrm>
            <a:prstGeom prst="rect">
              <a:avLst/>
            </a:prstGeom>
          </p:spPr>
        </p:pic>
      </p:grpSp>
      <p:sp>
        <p:nvSpPr>
          <p:cNvPr id="98" name="object 98" descr=""/>
          <p:cNvSpPr txBox="1"/>
          <p:nvPr/>
        </p:nvSpPr>
        <p:spPr>
          <a:xfrm>
            <a:off x="7653585" y="7261066"/>
            <a:ext cx="844550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55">
                <a:latin typeface="Roboto"/>
                <a:cs typeface="Roboto"/>
              </a:rPr>
              <a:t>Network</a:t>
            </a:r>
            <a:r>
              <a:rPr dirty="0" sz="1000" spc="-15">
                <a:latin typeface="Roboto"/>
                <a:cs typeface="Roboto"/>
              </a:rPr>
              <a:t> </a:t>
            </a:r>
            <a:r>
              <a:rPr dirty="0" sz="1000" spc="-50">
                <a:latin typeface="Roboto"/>
                <a:cs typeface="Roboto"/>
              </a:rPr>
              <a:t>Update</a:t>
            </a:r>
            <a:endParaRPr sz="1000">
              <a:latin typeface="Roboto"/>
              <a:cs typeface="Roboto"/>
            </a:endParaRPr>
          </a:p>
        </p:txBody>
      </p:sp>
      <p:grpSp>
        <p:nvGrpSpPr>
          <p:cNvPr id="99" name="object 99" descr=""/>
          <p:cNvGrpSpPr/>
          <p:nvPr/>
        </p:nvGrpSpPr>
        <p:grpSpPr>
          <a:xfrm>
            <a:off x="152399" y="7103262"/>
            <a:ext cx="11887200" cy="1107440"/>
            <a:chOff x="152399" y="7103262"/>
            <a:chExt cx="11887200" cy="1107440"/>
          </a:xfrm>
        </p:grpSpPr>
        <p:pic>
          <p:nvPicPr>
            <p:cNvPr id="100" name="object 100" descr="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8646312" y="7103262"/>
              <a:ext cx="103589" cy="100023"/>
            </a:xfrm>
            <a:prstGeom prst="rect">
              <a:avLst/>
            </a:prstGeom>
          </p:spPr>
        </p:pic>
        <p:sp>
          <p:nvSpPr>
            <p:cNvPr id="101" name="object 101" descr=""/>
            <p:cNvSpPr/>
            <p:nvPr/>
          </p:nvSpPr>
          <p:spPr>
            <a:xfrm>
              <a:off x="152399" y="7781923"/>
              <a:ext cx="11887200" cy="428625"/>
            </a:xfrm>
            <a:custGeom>
              <a:avLst/>
              <a:gdLst/>
              <a:ahLst/>
              <a:cxnLst/>
              <a:rect l="l" t="t" r="r" b="b"/>
              <a:pathLst>
                <a:path w="11887200" h="428625">
                  <a:moveTo>
                    <a:pt x="11810999" y="428624"/>
                  </a:moveTo>
                  <a:lnTo>
                    <a:pt x="76200" y="428624"/>
                  </a:lnTo>
                  <a:lnTo>
                    <a:pt x="68693" y="428262"/>
                  </a:lnTo>
                  <a:lnTo>
                    <a:pt x="27882" y="411357"/>
                  </a:lnTo>
                  <a:lnTo>
                    <a:pt x="3262" y="374510"/>
                  </a:lnTo>
                  <a:lnTo>
                    <a:pt x="0" y="352425"/>
                  </a:lnTo>
                  <a:lnTo>
                    <a:pt x="0" y="0"/>
                  </a:lnTo>
                  <a:lnTo>
                    <a:pt x="11887199" y="0"/>
                  </a:lnTo>
                  <a:lnTo>
                    <a:pt x="11887199" y="352425"/>
                  </a:lnTo>
                  <a:lnTo>
                    <a:pt x="11874368" y="394766"/>
                  </a:lnTo>
                  <a:lnTo>
                    <a:pt x="11840158" y="422824"/>
                  </a:lnTo>
                  <a:lnTo>
                    <a:pt x="11810999" y="428624"/>
                  </a:lnTo>
                  <a:close/>
                </a:path>
              </a:pathLst>
            </a:custGeom>
            <a:solidFill>
              <a:srgbClr val="F2F4F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2" name="object 102" descr=""/>
            <p:cNvSpPr/>
            <p:nvPr/>
          </p:nvSpPr>
          <p:spPr>
            <a:xfrm>
              <a:off x="152399" y="7781923"/>
              <a:ext cx="11887200" cy="9525"/>
            </a:xfrm>
            <a:custGeom>
              <a:avLst/>
              <a:gdLst/>
              <a:ahLst/>
              <a:cxnLst/>
              <a:rect l="l" t="t" r="r" b="b"/>
              <a:pathLst>
                <a:path w="11887200" h="9525">
                  <a:moveTo>
                    <a:pt x="11887199" y="9524"/>
                  </a:moveTo>
                  <a:lnTo>
                    <a:pt x="0" y="9524"/>
                  </a:lnTo>
                  <a:lnTo>
                    <a:pt x="0" y="0"/>
                  </a:lnTo>
                  <a:lnTo>
                    <a:pt x="11887199" y="0"/>
                  </a:lnTo>
                  <a:lnTo>
                    <a:pt x="11887199" y="9524"/>
                  </a:lnTo>
                  <a:close/>
                </a:path>
              </a:pathLst>
            </a:custGeom>
            <a:solidFill>
              <a:srgbClr val="D0D5D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3" name="object 103" descr=""/>
            <p:cNvSpPr/>
            <p:nvPr/>
          </p:nvSpPr>
          <p:spPr>
            <a:xfrm>
              <a:off x="10544174" y="7848599"/>
              <a:ext cx="1457325" cy="323850"/>
            </a:xfrm>
            <a:custGeom>
              <a:avLst/>
              <a:gdLst/>
              <a:ahLst/>
              <a:cxnLst/>
              <a:rect l="l" t="t" r="r" b="b"/>
              <a:pathLst>
                <a:path w="1457325" h="323850">
                  <a:moveTo>
                    <a:pt x="1424277" y="323849"/>
                  </a:moveTo>
                  <a:lnTo>
                    <a:pt x="33047" y="323849"/>
                  </a:lnTo>
                  <a:lnTo>
                    <a:pt x="28187" y="322883"/>
                  </a:lnTo>
                  <a:lnTo>
                    <a:pt x="966" y="295662"/>
                  </a:lnTo>
                  <a:lnTo>
                    <a:pt x="0" y="290802"/>
                  </a:lnTo>
                  <a:lnTo>
                    <a:pt x="0" y="285749"/>
                  </a:lnTo>
                  <a:lnTo>
                    <a:pt x="0" y="33047"/>
                  </a:lnTo>
                  <a:lnTo>
                    <a:pt x="28187" y="966"/>
                  </a:lnTo>
                  <a:lnTo>
                    <a:pt x="33047" y="0"/>
                  </a:lnTo>
                  <a:lnTo>
                    <a:pt x="1424277" y="0"/>
                  </a:lnTo>
                  <a:lnTo>
                    <a:pt x="1456357" y="28187"/>
                  </a:lnTo>
                  <a:lnTo>
                    <a:pt x="1457324" y="33047"/>
                  </a:lnTo>
                  <a:lnTo>
                    <a:pt x="1457324" y="290802"/>
                  </a:lnTo>
                  <a:lnTo>
                    <a:pt x="1429137" y="322883"/>
                  </a:lnTo>
                  <a:lnTo>
                    <a:pt x="1424277" y="323849"/>
                  </a:lnTo>
                  <a:close/>
                </a:path>
              </a:pathLst>
            </a:custGeom>
            <a:solidFill>
              <a:srgbClr val="33333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4" name="object 104" descr="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10658474" y="7943849"/>
              <a:ext cx="133349" cy="133349"/>
            </a:xfrm>
            <a:prstGeom prst="rect">
              <a:avLst/>
            </a:prstGeom>
          </p:spPr>
        </p:pic>
      </p:grpSp>
      <p:sp>
        <p:nvSpPr>
          <p:cNvPr id="105" name="object 105" descr=""/>
          <p:cNvSpPr txBox="1"/>
          <p:nvPr/>
        </p:nvSpPr>
        <p:spPr>
          <a:xfrm>
            <a:off x="520700" y="7934545"/>
            <a:ext cx="2289175" cy="15557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30"/>
              </a:lnSpc>
            </a:pPr>
            <a:r>
              <a:rPr dirty="0" sz="1150" spc="-60">
                <a:solidFill>
                  <a:srgbClr val="6A7280"/>
                </a:solidFill>
                <a:latin typeface="Roboto"/>
                <a:cs typeface="Roboto"/>
              </a:rPr>
              <a:t>IEEE</a:t>
            </a:r>
            <a:r>
              <a:rPr dirty="0" sz="1150">
                <a:solidFill>
                  <a:srgbClr val="6A7280"/>
                </a:solidFill>
                <a:latin typeface="Roboto"/>
                <a:cs typeface="Roboto"/>
              </a:rPr>
              <a:t> </a:t>
            </a:r>
            <a:r>
              <a:rPr dirty="0" sz="1150" spc="-70">
                <a:solidFill>
                  <a:srgbClr val="6A7280"/>
                </a:solidFill>
                <a:latin typeface="Roboto"/>
                <a:cs typeface="Roboto"/>
              </a:rPr>
              <a:t>Power</a:t>
            </a:r>
            <a:r>
              <a:rPr dirty="0" sz="1150" spc="5">
                <a:solidFill>
                  <a:srgbClr val="6A7280"/>
                </a:solidFill>
                <a:latin typeface="Roboto"/>
                <a:cs typeface="Roboto"/>
              </a:rPr>
              <a:t> </a:t>
            </a:r>
            <a:r>
              <a:rPr dirty="0" sz="1150" spc="-60">
                <a:solidFill>
                  <a:srgbClr val="6A7280"/>
                </a:solidFill>
                <a:latin typeface="Roboto"/>
                <a:cs typeface="Roboto"/>
              </a:rPr>
              <a:t>Systems</a:t>
            </a:r>
            <a:r>
              <a:rPr dirty="0" sz="1150">
                <a:solidFill>
                  <a:srgbClr val="6A7280"/>
                </a:solidFill>
                <a:latin typeface="Roboto"/>
                <a:cs typeface="Roboto"/>
              </a:rPr>
              <a:t> </a:t>
            </a:r>
            <a:r>
              <a:rPr dirty="0" sz="1150" spc="-60">
                <a:solidFill>
                  <a:srgbClr val="6A7280"/>
                </a:solidFill>
                <a:latin typeface="Roboto"/>
                <a:cs typeface="Roboto"/>
              </a:rPr>
              <a:t>Conference</a:t>
            </a:r>
            <a:r>
              <a:rPr dirty="0" sz="1150" spc="5">
                <a:solidFill>
                  <a:srgbClr val="6A7280"/>
                </a:solidFill>
                <a:latin typeface="Roboto"/>
                <a:cs typeface="Roboto"/>
              </a:rPr>
              <a:t> </a:t>
            </a:r>
            <a:r>
              <a:rPr dirty="0" sz="1150" spc="-30">
                <a:solidFill>
                  <a:srgbClr val="6A7280"/>
                </a:solidFill>
                <a:latin typeface="Roboto"/>
                <a:cs typeface="Roboto"/>
              </a:rPr>
              <a:t>2023</a:t>
            </a:r>
            <a:endParaRPr sz="1150">
              <a:latin typeface="Roboto"/>
              <a:cs typeface="Roboto"/>
            </a:endParaRPr>
          </a:p>
        </p:txBody>
      </p:sp>
      <p:sp>
        <p:nvSpPr>
          <p:cNvPr id="106" name="object 106" descr=""/>
          <p:cNvSpPr txBox="1"/>
          <p:nvPr/>
        </p:nvSpPr>
        <p:spPr>
          <a:xfrm>
            <a:off x="10833000" y="7934545"/>
            <a:ext cx="1066800" cy="15557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30"/>
              </a:lnSpc>
            </a:pPr>
            <a:r>
              <a:rPr dirty="0" sz="1000" spc="-55">
                <a:solidFill>
                  <a:srgbClr val="FFFFFF"/>
                </a:solidFill>
                <a:latin typeface="Roboto"/>
                <a:cs typeface="Roboto"/>
              </a:rPr>
              <a:t>Ma</a:t>
            </a:r>
            <a:r>
              <a:rPr dirty="0" sz="1000" spc="-204">
                <a:solidFill>
                  <a:srgbClr val="FFFFFF"/>
                </a:solidFill>
                <a:latin typeface="Roboto"/>
                <a:cs typeface="Roboto"/>
              </a:rPr>
              <a:t>d</a:t>
            </a:r>
            <a:r>
              <a:rPr dirty="0" sz="1150" spc="-600">
                <a:solidFill>
                  <a:srgbClr val="6A7280"/>
                </a:solidFill>
                <a:latin typeface="Roboto"/>
                <a:cs typeface="Roboto"/>
              </a:rPr>
              <a:t>S</a:t>
            </a:r>
            <a:r>
              <a:rPr dirty="0" sz="1000" spc="-40">
                <a:solidFill>
                  <a:srgbClr val="FFFFFF"/>
                </a:solidFill>
                <a:latin typeface="Roboto"/>
                <a:cs typeface="Roboto"/>
              </a:rPr>
              <a:t>e</a:t>
            </a:r>
            <a:r>
              <a:rPr dirty="0" sz="1150" spc="-110">
                <a:solidFill>
                  <a:srgbClr val="6A7280"/>
                </a:solidFill>
                <a:latin typeface="Roboto"/>
                <a:cs typeface="Roboto"/>
              </a:rPr>
              <a:t>l</a:t>
            </a:r>
            <a:r>
              <a:rPr dirty="0" sz="1000" spc="-755">
                <a:solidFill>
                  <a:srgbClr val="FFFFFF"/>
                </a:solidFill>
                <a:latin typeface="Roboto"/>
                <a:cs typeface="Roboto"/>
              </a:rPr>
              <a:t>w</a:t>
            </a:r>
            <a:r>
              <a:rPr dirty="0" sz="1150" spc="-55">
                <a:solidFill>
                  <a:srgbClr val="6A7280"/>
                </a:solidFill>
                <a:latin typeface="Roboto"/>
                <a:cs typeface="Roboto"/>
              </a:rPr>
              <a:t>i</a:t>
            </a:r>
            <a:r>
              <a:rPr dirty="0" sz="1150" spc="-300">
                <a:solidFill>
                  <a:srgbClr val="6A7280"/>
                </a:solidFill>
                <a:latin typeface="Roboto"/>
                <a:cs typeface="Roboto"/>
              </a:rPr>
              <a:t>d</a:t>
            </a:r>
            <a:r>
              <a:rPr dirty="0" sz="1000" spc="-55">
                <a:solidFill>
                  <a:srgbClr val="FFFFFF"/>
                </a:solidFill>
                <a:latin typeface="Roboto"/>
                <a:cs typeface="Roboto"/>
              </a:rPr>
              <a:t>i</a:t>
            </a:r>
            <a:r>
              <a:rPr dirty="0" sz="1000" spc="-395">
                <a:solidFill>
                  <a:srgbClr val="FFFFFF"/>
                </a:solidFill>
                <a:latin typeface="Roboto"/>
                <a:cs typeface="Roboto"/>
              </a:rPr>
              <a:t>t</a:t>
            </a:r>
            <a:r>
              <a:rPr dirty="0" sz="1150" spc="-350">
                <a:solidFill>
                  <a:srgbClr val="6A7280"/>
                </a:solidFill>
                <a:latin typeface="Roboto"/>
                <a:cs typeface="Roboto"/>
              </a:rPr>
              <a:t>e</a:t>
            </a:r>
            <a:r>
              <a:rPr dirty="0" sz="1000" spc="-30">
                <a:solidFill>
                  <a:srgbClr val="FFFFFF"/>
                </a:solidFill>
                <a:latin typeface="Roboto"/>
                <a:cs typeface="Roboto"/>
              </a:rPr>
              <a:t>h</a:t>
            </a:r>
            <a:fld id="{81D60167-4931-47E6-BA6A-407CBD079E47}" type="slidenum">
              <a:rPr dirty="0" sz="1150" spc="-55">
                <a:solidFill>
                  <a:srgbClr val="6A7280"/>
                </a:solidFill>
                <a:latin typeface="Roboto"/>
                <a:cs typeface="Roboto"/>
              </a:rPr>
              <a:t>7</a:t>
            </a:fld>
            <a:r>
              <a:rPr dirty="0" sz="1000" spc="-300">
                <a:solidFill>
                  <a:srgbClr val="FFFFFF"/>
                </a:solidFill>
                <a:latin typeface="Roboto"/>
                <a:cs typeface="Roboto"/>
              </a:rPr>
              <a:t>G</a:t>
            </a:r>
            <a:r>
              <a:rPr dirty="0" sz="1150" spc="-300">
                <a:solidFill>
                  <a:srgbClr val="6A7280"/>
                </a:solidFill>
                <a:latin typeface="Roboto"/>
                <a:cs typeface="Roboto"/>
              </a:rPr>
              <a:t>/</a:t>
            </a:r>
            <a:r>
              <a:rPr dirty="0" sz="1000" spc="-350">
                <a:solidFill>
                  <a:srgbClr val="FFFFFF"/>
                </a:solidFill>
                <a:latin typeface="Roboto"/>
                <a:cs typeface="Roboto"/>
              </a:rPr>
              <a:t>e</a:t>
            </a:r>
            <a:r>
              <a:rPr dirty="0" sz="1150" spc="-420">
                <a:solidFill>
                  <a:srgbClr val="6A7280"/>
                </a:solidFill>
                <a:latin typeface="Roboto"/>
                <a:cs typeface="Roboto"/>
              </a:rPr>
              <a:t>1</a:t>
            </a:r>
            <a:r>
              <a:rPr dirty="0" sz="1000" spc="-250">
                <a:solidFill>
                  <a:srgbClr val="FFFFFF"/>
                </a:solidFill>
                <a:latin typeface="Roboto"/>
                <a:cs typeface="Roboto"/>
              </a:rPr>
              <a:t>n</a:t>
            </a:r>
            <a:r>
              <a:rPr dirty="0" sz="1150" spc="-525">
                <a:solidFill>
                  <a:srgbClr val="6A7280"/>
                </a:solidFill>
                <a:latin typeface="Roboto"/>
                <a:cs typeface="Roboto"/>
              </a:rPr>
              <a:t>0</a:t>
            </a:r>
            <a:r>
              <a:rPr dirty="0" sz="1000" spc="-55">
                <a:solidFill>
                  <a:srgbClr val="FFFFFF"/>
                </a:solidFill>
                <a:latin typeface="Roboto"/>
                <a:cs typeface="Roboto"/>
              </a:rPr>
              <a:t>spark</a:t>
            </a:r>
            <a:endParaRPr sz="10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12192000" cy="7581900"/>
          </a:xfrm>
          <a:custGeom>
            <a:avLst/>
            <a:gdLst/>
            <a:ahLst/>
            <a:cxnLst/>
            <a:rect l="l" t="t" r="r" b="b"/>
            <a:pathLst>
              <a:path w="12192000" h="7581900">
                <a:moveTo>
                  <a:pt x="12191999" y="7581899"/>
                </a:moveTo>
                <a:lnTo>
                  <a:pt x="0" y="7581899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7581899"/>
                </a:lnTo>
                <a:close/>
              </a:path>
            </a:pathLst>
          </a:custGeom>
          <a:solidFill>
            <a:srgbClr val="F5F6FA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" name="object 3" descr=""/>
          <p:cNvGrpSpPr/>
          <p:nvPr/>
        </p:nvGrpSpPr>
        <p:grpSpPr>
          <a:xfrm>
            <a:off x="152399" y="152399"/>
            <a:ext cx="11887200" cy="7277100"/>
            <a:chOff x="152399" y="152399"/>
            <a:chExt cx="11887200" cy="7277100"/>
          </a:xfrm>
        </p:grpSpPr>
        <p:sp>
          <p:nvSpPr>
            <p:cNvPr id="4" name="object 4" descr=""/>
            <p:cNvSpPr/>
            <p:nvPr/>
          </p:nvSpPr>
          <p:spPr>
            <a:xfrm>
              <a:off x="152399" y="152399"/>
              <a:ext cx="11887200" cy="7277100"/>
            </a:xfrm>
            <a:custGeom>
              <a:avLst/>
              <a:gdLst/>
              <a:ahLst/>
              <a:cxnLst/>
              <a:rect l="l" t="t" r="r" b="b"/>
              <a:pathLst>
                <a:path w="11887200" h="7277100">
                  <a:moveTo>
                    <a:pt x="11816002" y="7277098"/>
                  </a:moveTo>
                  <a:lnTo>
                    <a:pt x="71196" y="7277098"/>
                  </a:lnTo>
                  <a:lnTo>
                    <a:pt x="66241" y="7276610"/>
                  </a:lnTo>
                  <a:lnTo>
                    <a:pt x="29705" y="7261476"/>
                  </a:lnTo>
                  <a:lnTo>
                    <a:pt x="3885" y="7225436"/>
                  </a:lnTo>
                  <a:lnTo>
                    <a:pt x="0" y="7205902"/>
                  </a:lnTo>
                  <a:lnTo>
                    <a:pt x="0" y="7200899"/>
                  </a:lnTo>
                  <a:lnTo>
                    <a:pt x="0" y="71196"/>
                  </a:lnTo>
                  <a:lnTo>
                    <a:pt x="15621" y="29705"/>
                  </a:lnTo>
                  <a:lnTo>
                    <a:pt x="51662" y="3885"/>
                  </a:lnTo>
                  <a:lnTo>
                    <a:pt x="71196" y="0"/>
                  </a:lnTo>
                  <a:lnTo>
                    <a:pt x="11816002" y="0"/>
                  </a:lnTo>
                  <a:lnTo>
                    <a:pt x="11857492" y="15621"/>
                  </a:lnTo>
                  <a:lnTo>
                    <a:pt x="11883312" y="51662"/>
                  </a:lnTo>
                  <a:lnTo>
                    <a:pt x="11887197" y="71196"/>
                  </a:lnTo>
                  <a:lnTo>
                    <a:pt x="11887197" y="7205902"/>
                  </a:lnTo>
                  <a:lnTo>
                    <a:pt x="11871575" y="7247392"/>
                  </a:lnTo>
                  <a:lnTo>
                    <a:pt x="11835535" y="7273212"/>
                  </a:lnTo>
                  <a:lnTo>
                    <a:pt x="11820956" y="7276610"/>
                  </a:lnTo>
                  <a:lnTo>
                    <a:pt x="11816002" y="727709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2399" y="152399"/>
              <a:ext cx="11887199" cy="76199"/>
            </a:xfrm>
            <a:prstGeom prst="rect">
              <a:avLst/>
            </a:prstGeom>
          </p:spPr>
        </p:pic>
        <p:sp>
          <p:nvSpPr>
            <p:cNvPr id="6" name="object 6" descr=""/>
            <p:cNvSpPr/>
            <p:nvPr/>
          </p:nvSpPr>
          <p:spPr>
            <a:xfrm>
              <a:off x="152399" y="228599"/>
              <a:ext cx="11887200" cy="542925"/>
            </a:xfrm>
            <a:custGeom>
              <a:avLst/>
              <a:gdLst/>
              <a:ahLst/>
              <a:cxnLst/>
              <a:rect l="l" t="t" r="r" b="b"/>
              <a:pathLst>
                <a:path w="11887200" h="542925">
                  <a:moveTo>
                    <a:pt x="11887199" y="542924"/>
                  </a:moveTo>
                  <a:lnTo>
                    <a:pt x="0" y="542924"/>
                  </a:lnTo>
                  <a:lnTo>
                    <a:pt x="0" y="0"/>
                  </a:lnTo>
                  <a:lnTo>
                    <a:pt x="11887199" y="0"/>
                  </a:lnTo>
                  <a:lnTo>
                    <a:pt x="11887199" y="542924"/>
                  </a:lnTo>
                  <a:close/>
                </a:path>
              </a:pathLst>
            </a:custGeom>
            <a:solidFill>
              <a:srgbClr val="F2F4F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152399" y="761999"/>
              <a:ext cx="11887200" cy="9525"/>
            </a:xfrm>
            <a:custGeom>
              <a:avLst/>
              <a:gdLst/>
              <a:ahLst/>
              <a:cxnLst/>
              <a:rect l="l" t="t" r="r" b="b"/>
              <a:pathLst>
                <a:path w="11887200" h="9525">
                  <a:moveTo>
                    <a:pt x="11887199" y="9524"/>
                  </a:moveTo>
                  <a:lnTo>
                    <a:pt x="0" y="9524"/>
                  </a:lnTo>
                  <a:lnTo>
                    <a:pt x="0" y="0"/>
                  </a:lnTo>
                  <a:lnTo>
                    <a:pt x="11887199" y="0"/>
                  </a:lnTo>
                  <a:lnTo>
                    <a:pt x="11887199" y="9524"/>
                  </a:lnTo>
                  <a:close/>
                </a:path>
              </a:pathLst>
            </a:custGeom>
            <a:solidFill>
              <a:srgbClr val="D0D5D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10"/>
              <a:t>Results</a:t>
            </a:r>
            <a:r>
              <a:rPr dirty="0" spc="-10"/>
              <a:t> </a:t>
            </a:r>
            <a:r>
              <a:rPr dirty="0" spc="-90"/>
              <a:t>Analysis</a:t>
            </a:r>
          </a:p>
        </p:txBody>
      </p:sp>
      <p:sp>
        <p:nvSpPr>
          <p:cNvPr id="9" name="object 9" descr=""/>
          <p:cNvSpPr/>
          <p:nvPr/>
        </p:nvSpPr>
        <p:spPr>
          <a:xfrm>
            <a:off x="11353798" y="342899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399" y="304799"/>
                </a:moveTo>
                <a:lnTo>
                  <a:pt x="108158" y="298239"/>
                </a:lnTo>
                <a:lnTo>
                  <a:pt x="67730" y="279115"/>
                </a:lnTo>
                <a:lnTo>
                  <a:pt x="34591" y="249082"/>
                </a:lnTo>
                <a:lnTo>
                  <a:pt x="11599" y="210720"/>
                </a:lnTo>
                <a:lnTo>
                  <a:pt x="731" y="167337"/>
                </a:lnTo>
                <a:lnTo>
                  <a:pt x="0" y="152399"/>
                </a:lnTo>
                <a:lnTo>
                  <a:pt x="182" y="144912"/>
                </a:lnTo>
                <a:lnTo>
                  <a:pt x="8903" y="101066"/>
                </a:lnTo>
                <a:lnTo>
                  <a:pt x="29994" y="61607"/>
                </a:lnTo>
                <a:lnTo>
                  <a:pt x="61607" y="29995"/>
                </a:lnTo>
                <a:lnTo>
                  <a:pt x="101064" y="8904"/>
                </a:lnTo>
                <a:lnTo>
                  <a:pt x="144912" y="183"/>
                </a:lnTo>
                <a:lnTo>
                  <a:pt x="152399" y="0"/>
                </a:lnTo>
                <a:lnTo>
                  <a:pt x="159886" y="183"/>
                </a:lnTo>
                <a:lnTo>
                  <a:pt x="203731" y="8904"/>
                </a:lnTo>
                <a:lnTo>
                  <a:pt x="243190" y="29995"/>
                </a:lnTo>
                <a:lnTo>
                  <a:pt x="274802" y="61607"/>
                </a:lnTo>
                <a:lnTo>
                  <a:pt x="295894" y="101066"/>
                </a:lnTo>
                <a:lnTo>
                  <a:pt x="304616" y="144912"/>
                </a:lnTo>
                <a:lnTo>
                  <a:pt x="304799" y="152399"/>
                </a:lnTo>
                <a:lnTo>
                  <a:pt x="304616" y="159886"/>
                </a:lnTo>
                <a:lnTo>
                  <a:pt x="295894" y="203733"/>
                </a:lnTo>
                <a:lnTo>
                  <a:pt x="274803" y="243192"/>
                </a:lnTo>
                <a:lnTo>
                  <a:pt x="243190" y="274804"/>
                </a:lnTo>
                <a:lnTo>
                  <a:pt x="203731" y="295895"/>
                </a:lnTo>
                <a:lnTo>
                  <a:pt x="159886" y="304616"/>
                </a:lnTo>
                <a:lnTo>
                  <a:pt x="152399" y="304799"/>
                </a:lnTo>
                <a:close/>
              </a:path>
            </a:pathLst>
          </a:custGeom>
          <a:solidFill>
            <a:srgbClr val="1D40A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 txBox="1"/>
          <p:nvPr/>
        </p:nvSpPr>
        <p:spPr>
          <a:xfrm>
            <a:off x="10518873" y="360679"/>
            <a:ext cx="1087755" cy="22923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35"/>
              </a:spcBef>
              <a:tabLst>
                <a:tab pos="899160" algn="l"/>
              </a:tabLst>
            </a:pPr>
            <a:r>
              <a:rPr dirty="0" sz="1300" spc="-10">
                <a:solidFill>
                  <a:srgbClr val="6A7280"/>
                </a:solidFill>
                <a:latin typeface="Roboto"/>
                <a:cs typeface="Roboto"/>
              </a:rPr>
              <a:t>Framework</a:t>
            </a:r>
            <a:r>
              <a:rPr dirty="0" sz="1300">
                <a:solidFill>
                  <a:srgbClr val="6A7280"/>
                </a:solidFill>
                <a:latin typeface="Roboto"/>
                <a:cs typeface="Roboto"/>
              </a:rPr>
              <a:t>	</a:t>
            </a:r>
            <a:r>
              <a:rPr dirty="0" sz="1300" spc="-25" b="1">
                <a:solidFill>
                  <a:srgbClr val="FFFFFF"/>
                </a:solidFill>
                <a:latin typeface="Arial Nova"/>
                <a:cs typeface="Arial Nova"/>
              </a:rPr>
              <a:t>32</a:t>
            </a:r>
            <a:endParaRPr sz="1300">
              <a:latin typeface="Arial Nova"/>
              <a:cs typeface="Arial Nova"/>
            </a:endParaRPr>
          </a:p>
        </p:txBody>
      </p:sp>
      <p:pic>
        <p:nvPicPr>
          <p:cNvPr id="11" name="object 11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0999" y="1000124"/>
            <a:ext cx="5600699" cy="2476499"/>
          </a:xfrm>
          <a:prstGeom prst="rect">
            <a:avLst/>
          </a:prstGeom>
        </p:spPr>
      </p:pic>
      <p:sp>
        <p:nvSpPr>
          <p:cNvPr id="12" name="object 12" descr=""/>
          <p:cNvSpPr txBox="1"/>
          <p:nvPr/>
        </p:nvSpPr>
        <p:spPr>
          <a:xfrm>
            <a:off x="777874" y="1149047"/>
            <a:ext cx="1987550" cy="2546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105" b="1">
                <a:solidFill>
                  <a:srgbClr val="1D40AF"/>
                </a:solidFill>
                <a:latin typeface="Roboto"/>
                <a:cs typeface="Roboto"/>
              </a:rPr>
              <a:t>Key</a:t>
            </a:r>
            <a:r>
              <a:rPr dirty="0" sz="1500" spc="-15" b="1">
                <a:solidFill>
                  <a:srgbClr val="1D40AF"/>
                </a:solidFill>
                <a:latin typeface="Roboto"/>
                <a:cs typeface="Roboto"/>
              </a:rPr>
              <a:t> </a:t>
            </a:r>
            <a:r>
              <a:rPr dirty="0" sz="1500" spc="-85" b="1">
                <a:solidFill>
                  <a:srgbClr val="1D40AF"/>
                </a:solidFill>
                <a:latin typeface="Roboto"/>
                <a:cs typeface="Roboto"/>
              </a:rPr>
              <a:t>Performance</a:t>
            </a:r>
            <a:r>
              <a:rPr dirty="0" sz="1500" spc="-10" b="1">
                <a:solidFill>
                  <a:srgbClr val="1D40AF"/>
                </a:solidFill>
                <a:latin typeface="Roboto"/>
                <a:cs typeface="Roboto"/>
              </a:rPr>
              <a:t> </a:t>
            </a:r>
            <a:r>
              <a:rPr dirty="0" sz="1500" spc="-70" b="1">
                <a:solidFill>
                  <a:srgbClr val="1D40AF"/>
                </a:solidFill>
                <a:latin typeface="Roboto"/>
                <a:cs typeface="Roboto"/>
              </a:rPr>
              <a:t>Metrics</a:t>
            </a:r>
            <a:endParaRPr sz="1500">
              <a:latin typeface="Roboto"/>
              <a:cs typeface="Roboto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1139825" y="1625299"/>
            <a:ext cx="1350010" cy="430530"/>
          </a:xfrm>
          <a:prstGeom prst="rect">
            <a:avLst/>
          </a:prstGeom>
        </p:spPr>
        <p:txBody>
          <a:bodyPr wrap="square" lIns="0" tIns="285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5"/>
              </a:spcBef>
            </a:pPr>
            <a:r>
              <a:rPr dirty="0" sz="1150" spc="-70">
                <a:solidFill>
                  <a:srgbClr val="4A5462"/>
                </a:solidFill>
                <a:latin typeface="Roboto"/>
                <a:cs typeface="Roboto"/>
              </a:rPr>
              <a:t>Power</a:t>
            </a:r>
            <a:r>
              <a:rPr dirty="0" sz="1150" spc="10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1150" spc="-60">
                <a:solidFill>
                  <a:srgbClr val="4A5462"/>
                </a:solidFill>
                <a:latin typeface="Roboto"/>
                <a:cs typeface="Roboto"/>
              </a:rPr>
              <a:t>Loss</a:t>
            </a:r>
            <a:r>
              <a:rPr dirty="0" sz="1150" spc="15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1150" spc="-50">
                <a:solidFill>
                  <a:srgbClr val="4A5462"/>
                </a:solidFill>
                <a:latin typeface="Roboto"/>
                <a:cs typeface="Roboto"/>
              </a:rPr>
              <a:t>Reduction</a:t>
            </a:r>
            <a:endParaRPr sz="115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300" spc="-50" b="1">
                <a:solidFill>
                  <a:srgbClr val="049569"/>
                </a:solidFill>
                <a:latin typeface="Roboto"/>
                <a:cs typeface="Roboto"/>
              </a:rPr>
              <a:t>30-</a:t>
            </a:r>
            <a:r>
              <a:rPr dirty="0" sz="1300" spc="-25" b="1">
                <a:solidFill>
                  <a:srgbClr val="049569"/>
                </a:solidFill>
                <a:latin typeface="Roboto"/>
                <a:cs typeface="Roboto"/>
              </a:rPr>
              <a:t>35%</a:t>
            </a:r>
            <a:endParaRPr sz="1300">
              <a:latin typeface="Roboto"/>
              <a:cs typeface="Roboto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3854450" y="1625299"/>
            <a:ext cx="1297305" cy="430530"/>
          </a:xfrm>
          <a:prstGeom prst="rect">
            <a:avLst/>
          </a:prstGeom>
        </p:spPr>
        <p:txBody>
          <a:bodyPr wrap="square" lIns="0" tIns="285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5"/>
              </a:spcBef>
            </a:pPr>
            <a:r>
              <a:rPr dirty="0" sz="1150" spc="-55">
                <a:solidFill>
                  <a:srgbClr val="4A5462"/>
                </a:solidFill>
                <a:latin typeface="Roboto"/>
                <a:cs typeface="Roboto"/>
              </a:rPr>
              <a:t>Voltage</a:t>
            </a:r>
            <a:r>
              <a:rPr dirty="0" sz="1150" spc="-15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1150" spc="-60">
                <a:solidFill>
                  <a:srgbClr val="4A5462"/>
                </a:solidFill>
                <a:latin typeface="Roboto"/>
                <a:cs typeface="Roboto"/>
              </a:rPr>
              <a:t>Improvement</a:t>
            </a:r>
            <a:endParaRPr sz="115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300" spc="-20" b="1">
                <a:solidFill>
                  <a:srgbClr val="2562EB"/>
                </a:solidFill>
                <a:latin typeface="Roboto"/>
                <a:cs typeface="Roboto"/>
              </a:rPr>
              <a:t>+50%</a:t>
            </a:r>
            <a:endParaRPr sz="1300">
              <a:latin typeface="Roboto"/>
              <a:cs typeface="Roboto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1139825" y="2425314"/>
            <a:ext cx="1125855" cy="430530"/>
          </a:xfrm>
          <a:prstGeom prst="rect">
            <a:avLst/>
          </a:prstGeom>
        </p:spPr>
        <p:txBody>
          <a:bodyPr wrap="square" lIns="0" tIns="285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5"/>
              </a:spcBef>
            </a:pPr>
            <a:r>
              <a:rPr dirty="0" sz="1150" spc="-60">
                <a:solidFill>
                  <a:srgbClr val="4A5462"/>
                </a:solidFill>
                <a:latin typeface="Roboto"/>
                <a:cs typeface="Roboto"/>
              </a:rPr>
              <a:t>Computation</a:t>
            </a:r>
            <a:r>
              <a:rPr dirty="0" sz="1150" spc="10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1150" spc="-45">
                <a:solidFill>
                  <a:srgbClr val="4A5462"/>
                </a:solidFill>
                <a:latin typeface="Roboto"/>
                <a:cs typeface="Roboto"/>
              </a:rPr>
              <a:t>Time</a:t>
            </a:r>
            <a:endParaRPr sz="115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300" spc="-10" b="1">
                <a:solidFill>
                  <a:srgbClr val="7C3AEC"/>
                </a:solidFill>
                <a:latin typeface="Roboto"/>
                <a:cs typeface="Roboto"/>
              </a:rPr>
              <a:t>&lt;0.5s</a:t>
            </a:r>
            <a:endParaRPr sz="1300">
              <a:latin typeface="Roboto"/>
              <a:cs typeface="Roboto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3854450" y="2428072"/>
            <a:ext cx="1222375" cy="427990"/>
          </a:xfrm>
          <a:prstGeom prst="rect">
            <a:avLst/>
          </a:prstGeom>
        </p:spPr>
        <p:txBody>
          <a:bodyPr wrap="square" lIns="0" tIns="2603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dirty="0" sz="1150" spc="-60">
                <a:solidFill>
                  <a:srgbClr val="4A5462"/>
                </a:solidFill>
                <a:latin typeface="Roboto"/>
                <a:cs typeface="Roboto"/>
              </a:rPr>
              <a:t>Renewable</a:t>
            </a:r>
            <a:r>
              <a:rPr dirty="0" sz="1150" spc="-10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1150" spc="-45">
                <a:solidFill>
                  <a:srgbClr val="4A5462"/>
                </a:solidFill>
                <a:latin typeface="Roboto"/>
                <a:cs typeface="Roboto"/>
              </a:rPr>
              <a:t>Capacity</a:t>
            </a:r>
            <a:endParaRPr sz="115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300" spc="-70" b="1">
                <a:solidFill>
                  <a:srgbClr val="D97705"/>
                </a:solidFill>
                <a:latin typeface="Roboto"/>
                <a:cs typeface="Roboto"/>
              </a:rPr>
              <a:t>40%</a:t>
            </a:r>
            <a:r>
              <a:rPr dirty="0" sz="1300" spc="-20" b="1">
                <a:solidFill>
                  <a:srgbClr val="D97705"/>
                </a:solidFill>
                <a:latin typeface="Roboto"/>
                <a:cs typeface="Roboto"/>
              </a:rPr>
              <a:t> </a:t>
            </a:r>
            <a:r>
              <a:rPr dirty="0" sz="1300" spc="-10" b="1">
                <a:solidFill>
                  <a:srgbClr val="D97705"/>
                </a:solidFill>
                <a:latin typeface="Roboto"/>
                <a:cs typeface="Roboto"/>
              </a:rPr>
              <a:t>increase</a:t>
            </a:r>
            <a:endParaRPr sz="1300">
              <a:latin typeface="Roboto"/>
              <a:cs typeface="Roboto"/>
            </a:endParaRPr>
          </a:p>
        </p:txBody>
      </p:sp>
      <p:grpSp>
        <p:nvGrpSpPr>
          <p:cNvPr id="17" name="object 17" descr=""/>
          <p:cNvGrpSpPr/>
          <p:nvPr/>
        </p:nvGrpSpPr>
        <p:grpSpPr>
          <a:xfrm>
            <a:off x="383779" y="1038224"/>
            <a:ext cx="11427460" cy="5734050"/>
            <a:chOff x="383779" y="1038224"/>
            <a:chExt cx="11427460" cy="5734050"/>
          </a:xfrm>
        </p:grpSpPr>
        <p:pic>
          <p:nvPicPr>
            <p:cNvPr id="18" name="object 18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209730" y="1038224"/>
              <a:ext cx="215082" cy="171450"/>
            </a:xfrm>
            <a:prstGeom prst="rect">
              <a:avLst/>
            </a:prstGeom>
          </p:spPr>
        </p:pic>
        <p:pic>
          <p:nvPicPr>
            <p:cNvPr id="19" name="object 19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83779" y="3743324"/>
              <a:ext cx="208787" cy="171450"/>
            </a:xfrm>
            <a:prstGeom prst="rect">
              <a:avLst/>
            </a:prstGeom>
          </p:spPr>
        </p:pic>
        <p:pic>
          <p:nvPicPr>
            <p:cNvPr id="20" name="object 20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210299" y="3705224"/>
              <a:ext cx="5600699" cy="3067049"/>
            </a:xfrm>
            <a:prstGeom prst="rect">
              <a:avLst/>
            </a:prstGeom>
          </p:spPr>
        </p:pic>
      </p:grpSp>
      <p:sp>
        <p:nvSpPr>
          <p:cNvPr id="21" name="object 21" descr=""/>
          <p:cNvSpPr txBox="1"/>
          <p:nvPr/>
        </p:nvSpPr>
        <p:spPr>
          <a:xfrm>
            <a:off x="6488112" y="987122"/>
            <a:ext cx="1742439" cy="2546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95" b="1">
                <a:solidFill>
                  <a:srgbClr val="1D40AF"/>
                </a:solidFill>
                <a:latin typeface="Roboto"/>
                <a:cs typeface="Roboto"/>
              </a:rPr>
              <a:t>Approach</a:t>
            </a:r>
            <a:r>
              <a:rPr dirty="0" sz="1500" spc="-25" b="1">
                <a:solidFill>
                  <a:srgbClr val="1D40AF"/>
                </a:solidFill>
                <a:latin typeface="Roboto"/>
                <a:cs typeface="Roboto"/>
              </a:rPr>
              <a:t> </a:t>
            </a:r>
            <a:r>
              <a:rPr dirty="0" sz="1500" spc="-85" b="1">
                <a:solidFill>
                  <a:srgbClr val="1D40AF"/>
                </a:solidFill>
                <a:latin typeface="Roboto"/>
                <a:cs typeface="Roboto"/>
              </a:rPr>
              <a:t>Comparison</a:t>
            </a:r>
            <a:endParaRPr sz="1500">
              <a:latin typeface="Roboto"/>
              <a:cs typeface="Roboto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658812" y="3692221"/>
            <a:ext cx="2422525" cy="2546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85" b="1">
                <a:solidFill>
                  <a:srgbClr val="1D40AF"/>
                </a:solidFill>
                <a:latin typeface="Roboto"/>
                <a:cs typeface="Roboto"/>
              </a:rPr>
              <a:t>Performance</a:t>
            </a:r>
            <a:r>
              <a:rPr dirty="0" sz="1500" spc="-5" b="1">
                <a:solidFill>
                  <a:srgbClr val="1D40AF"/>
                </a:solidFill>
                <a:latin typeface="Roboto"/>
                <a:cs typeface="Roboto"/>
              </a:rPr>
              <a:t> </a:t>
            </a:r>
            <a:r>
              <a:rPr dirty="0" sz="1500" spc="-95" b="1">
                <a:solidFill>
                  <a:srgbClr val="1D40AF"/>
                </a:solidFill>
                <a:latin typeface="Roboto"/>
                <a:cs typeface="Roboto"/>
              </a:rPr>
              <a:t>Across</a:t>
            </a:r>
            <a:r>
              <a:rPr dirty="0" sz="1500" b="1">
                <a:solidFill>
                  <a:srgbClr val="1D40AF"/>
                </a:solidFill>
                <a:latin typeface="Roboto"/>
                <a:cs typeface="Roboto"/>
              </a:rPr>
              <a:t> </a:t>
            </a:r>
            <a:r>
              <a:rPr dirty="0" sz="1500" spc="-75" b="1">
                <a:solidFill>
                  <a:srgbClr val="1D40AF"/>
                </a:solidFill>
                <a:latin typeface="Roboto"/>
                <a:cs typeface="Roboto"/>
              </a:rPr>
              <a:t>Scenarios</a:t>
            </a:r>
            <a:endParaRPr sz="1500">
              <a:latin typeface="Roboto"/>
              <a:cs typeface="Roboto"/>
            </a:endParaRPr>
          </a:p>
        </p:txBody>
      </p:sp>
      <p:sp>
        <p:nvSpPr>
          <p:cNvPr id="23" name="object 23" descr=""/>
          <p:cNvSpPr txBox="1"/>
          <p:nvPr/>
        </p:nvSpPr>
        <p:spPr>
          <a:xfrm>
            <a:off x="6650037" y="3854146"/>
            <a:ext cx="2534285" cy="2546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90" b="1">
                <a:solidFill>
                  <a:srgbClr val="1D40AF"/>
                </a:solidFill>
                <a:latin typeface="Roboto"/>
                <a:cs typeface="Roboto"/>
              </a:rPr>
              <a:t>Network</a:t>
            </a:r>
            <a:r>
              <a:rPr dirty="0" sz="1500" spc="5" b="1">
                <a:solidFill>
                  <a:srgbClr val="1D40AF"/>
                </a:solidFill>
                <a:latin typeface="Roboto"/>
                <a:cs typeface="Roboto"/>
              </a:rPr>
              <a:t> </a:t>
            </a:r>
            <a:r>
              <a:rPr dirty="0" sz="1500" spc="-80" b="1">
                <a:solidFill>
                  <a:srgbClr val="1D40AF"/>
                </a:solidFill>
                <a:latin typeface="Roboto"/>
                <a:cs typeface="Roboto"/>
              </a:rPr>
              <a:t>Optimization</a:t>
            </a:r>
            <a:r>
              <a:rPr dirty="0" sz="1500" spc="5" b="1">
                <a:solidFill>
                  <a:srgbClr val="1D40AF"/>
                </a:solidFill>
                <a:latin typeface="Roboto"/>
                <a:cs typeface="Roboto"/>
              </a:rPr>
              <a:t> </a:t>
            </a:r>
            <a:r>
              <a:rPr dirty="0" sz="1500" spc="-85" b="1">
                <a:solidFill>
                  <a:srgbClr val="1D40AF"/>
                </a:solidFill>
                <a:latin typeface="Roboto"/>
                <a:cs typeface="Roboto"/>
              </a:rPr>
              <a:t>Outcomes</a:t>
            </a:r>
            <a:endParaRPr sz="1500">
              <a:latin typeface="Roboto"/>
              <a:cs typeface="Roboto"/>
            </a:endParaRPr>
          </a:p>
        </p:txBody>
      </p:sp>
      <p:sp>
        <p:nvSpPr>
          <p:cNvPr id="24" name="object 24" descr=""/>
          <p:cNvSpPr txBox="1"/>
          <p:nvPr/>
        </p:nvSpPr>
        <p:spPr>
          <a:xfrm>
            <a:off x="7147421" y="4308316"/>
            <a:ext cx="1031240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40" b="0">
                <a:solidFill>
                  <a:srgbClr val="4A5462"/>
                </a:solidFill>
                <a:latin typeface="Roboto Medium"/>
                <a:cs typeface="Roboto Medium"/>
              </a:rPr>
              <a:t>Initial</a:t>
            </a:r>
            <a:r>
              <a:rPr dirty="0" sz="1000" spc="5" b="0">
                <a:solidFill>
                  <a:srgbClr val="4A5462"/>
                </a:solidFill>
                <a:latin typeface="Roboto Medium"/>
                <a:cs typeface="Roboto Medium"/>
              </a:rPr>
              <a:t> </a:t>
            </a:r>
            <a:r>
              <a:rPr dirty="0" sz="1000" spc="-50" b="0">
                <a:solidFill>
                  <a:srgbClr val="4A5462"/>
                </a:solidFill>
                <a:latin typeface="Roboto Medium"/>
                <a:cs typeface="Roboto Medium"/>
              </a:rPr>
              <a:t>Configuration</a:t>
            </a:r>
            <a:endParaRPr sz="1000">
              <a:latin typeface="Roboto Medium"/>
              <a:cs typeface="Roboto Medium"/>
            </a:endParaRPr>
          </a:p>
        </p:txBody>
      </p:sp>
      <p:sp>
        <p:nvSpPr>
          <p:cNvPr id="25" name="object 25" descr=""/>
          <p:cNvSpPr txBox="1"/>
          <p:nvPr/>
        </p:nvSpPr>
        <p:spPr>
          <a:xfrm>
            <a:off x="6559550" y="4655024"/>
            <a:ext cx="876300" cy="47942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950" spc="-30" b="1">
                <a:latin typeface="Roboto"/>
                <a:cs typeface="Roboto"/>
              </a:rPr>
              <a:t>IEEE</a:t>
            </a:r>
            <a:r>
              <a:rPr dirty="0" sz="950" spc="-5" b="1">
                <a:latin typeface="Roboto"/>
                <a:cs typeface="Roboto"/>
              </a:rPr>
              <a:t> </a:t>
            </a:r>
            <a:r>
              <a:rPr dirty="0" sz="950" spc="-30" b="1">
                <a:latin typeface="Roboto"/>
                <a:cs typeface="Roboto"/>
              </a:rPr>
              <a:t>33-</a:t>
            </a:r>
            <a:r>
              <a:rPr dirty="0" sz="950" spc="-20" b="1">
                <a:latin typeface="Roboto"/>
                <a:cs typeface="Roboto"/>
              </a:rPr>
              <a:t>Bus:</a:t>
            </a:r>
            <a:endParaRPr sz="950">
              <a:latin typeface="Roboto"/>
              <a:cs typeface="Roboto"/>
            </a:endParaRPr>
          </a:p>
          <a:p>
            <a:pPr marL="12700" marR="5080">
              <a:lnSpc>
                <a:spcPct val="100000"/>
              </a:lnSpc>
              <a:spcBef>
                <a:spcPts val="10"/>
              </a:spcBef>
            </a:pPr>
            <a:r>
              <a:rPr dirty="0" sz="1000" spc="-50">
                <a:latin typeface="Roboto"/>
                <a:cs typeface="Roboto"/>
              </a:rPr>
              <a:t>Loss:</a:t>
            </a:r>
            <a:r>
              <a:rPr dirty="0" sz="1000" spc="-15">
                <a:latin typeface="Roboto"/>
                <a:cs typeface="Roboto"/>
              </a:rPr>
              <a:t> </a:t>
            </a:r>
            <a:r>
              <a:rPr dirty="0" sz="1000" spc="-10">
                <a:latin typeface="Roboto"/>
                <a:cs typeface="Roboto"/>
              </a:rPr>
              <a:t>202.7kW </a:t>
            </a:r>
            <a:r>
              <a:rPr dirty="0" sz="1000" spc="-65">
                <a:latin typeface="Roboto"/>
                <a:cs typeface="Roboto"/>
              </a:rPr>
              <a:t>Min</a:t>
            </a:r>
            <a:r>
              <a:rPr dirty="0" sz="1000" spc="-5">
                <a:latin typeface="Roboto"/>
                <a:cs typeface="Roboto"/>
              </a:rPr>
              <a:t> </a:t>
            </a:r>
            <a:r>
              <a:rPr dirty="0" sz="1000" spc="-45">
                <a:latin typeface="Roboto"/>
                <a:cs typeface="Roboto"/>
              </a:rPr>
              <a:t>V:</a:t>
            </a:r>
            <a:r>
              <a:rPr dirty="0" sz="1000" spc="-5">
                <a:latin typeface="Roboto"/>
                <a:cs typeface="Roboto"/>
              </a:rPr>
              <a:t> </a:t>
            </a:r>
            <a:r>
              <a:rPr dirty="0" sz="1000" spc="-55">
                <a:latin typeface="Roboto"/>
                <a:cs typeface="Roboto"/>
              </a:rPr>
              <a:t>0.913</a:t>
            </a:r>
            <a:r>
              <a:rPr dirty="0" sz="1000" spc="-5">
                <a:latin typeface="Roboto"/>
                <a:cs typeface="Roboto"/>
              </a:rPr>
              <a:t> </a:t>
            </a:r>
            <a:r>
              <a:rPr dirty="0" sz="1000" spc="-60">
                <a:latin typeface="Roboto"/>
                <a:cs typeface="Roboto"/>
              </a:rPr>
              <a:t>p.u.</a:t>
            </a:r>
            <a:endParaRPr sz="1000">
              <a:latin typeface="Roboto"/>
              <a:cs typeface="Roboto"/>
            </a:endParaRPr>
          </a:p>
        </p:txBody>
      </p:sp>
      <p:sp>
        <p:nvSpPr>
          <p:cNvPr id="26" name="object 26" descr=""/>
          <p:cNvSpPr txBox="1"/>
          <p:nvPr/>
        </p:nvSpPr>
        <p:spPr>
          <a:xfrm>
            <a:off x="9723932" y="4308316"/>
            <a:ext cx="1269365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60" b="0">
                <a:solidFill>
                  <a:srgbClr val="4A5462"/>
                </a:solidFill>
                <a:latin typeface="Roboto Medium"/>
                <a:cs typeface="Roboto Medium"/>
              </a:rPr>
              <a:t>Optimized</a:t>
            </a:r>
            <a:r>
              <a:rPr dirty="0" sz="1000" b="0">
                <a:solidFill>
                  <a:srgbClr val="4A5462"/>
                </a:solidFill>
                <a:latin typeface="Roboto Medium"/>
                <a:cs typeface="Roboto Medium"/>
              </a:rPr>
              <a:t> </a:t>
            </a:r>
            <a:r>
              <a:rPr dirty="0" sz="1000" spc="-45" b="0">
                <a:solidFill>
                  <a:srgbClr val="4A5462"/>
                </a:solidFill>
                <a:latin typeface="Roboto Medium"/>
                <a:cs typeface="Roboto Medium"/>
              </a:rPr>
              <a:t>Configuration</a:t>
            </a:r>
            <a:endParaRPr sz="1000">
              <a:latin typeface="Roboto Medium"/>
              <a:cs typeface="Roboto Medium"/>
            </a:endParaRPr>
          </a:p>
        </p:txBody>
      </p:sp>
      <p:sp>
        <p:nvSpPr>
          <p:cNvPr id="27" name="object 27" descr=""/>
          <p:cNvSpPr txBox="1"/>
          <p:nvPr/>
        </p:nvSpPr>
        <p:spPr>
          <a:xfrm>
            <a:off x="9255125" y="4655024"/>
            <a:ext cx="1290955" cy="47942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950" spc="-30" b="1">
                <a:latin typeface="Roboto"/>
                <a:cs typeface="Roboto"/>
              </a:rPr>
              <a:t>IEEE</a:t>
            </a:r>
            <a:r>
              <a:rPr dirty="0" sz="950" spc="-5" b="1">
                <a:latin typeface="Roboto"/>
                <a:cs typeface="Roboto"/>
              </a:rPr>
              <a:t> </a:t>
            </a:r>
            <a:r>
              <a:rPr dirty="0" sz="950" spc="-30" b="1">
                <a:latin typeface="Roboto"/>
                <a:cs typeface="Roboto"/>
              </a:rPr>
              <a:t>33-</a:t>
            </a:r>
            <a:r>
              <a:rPr dirty="0" sz="950" spc="-20" b="1">
                <a:latin typeface="Roboto"/>
                <a:cs typeface="Roboto"/>
              </a:rPr>
              <a:t>Bus:</a:t>
            </a:r>
            <a:endParaRPr sz="95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dirty="0" sz="1000" spc="-50">
                <a:latin typeface="Roboto"/>
                <a:cs typeface="Roboto"/>
              </a:rPr>
              <a:t>Loss:</a:t>
            </a:r>
            <a:r>
              <a:rPr dirty="0" sz="1000" spc="-5">
                <a:latin typeface="Roboto"/>
                <a:cs typeface="Roboto"/>
              </a:rPr>
              <a:t> </a:t>
            </a:r>
            <a:r>
              <a:rPr dirty="0" sz="1000" spc="-55">
                <a:latin typeface="Roboto"/>
                <a:cs typeface="Roboto"/>
              </a:rPr>
              <a:t>139.5kW</a:t>
            </a:r>
            <a:r>
              <a:rPr dirty="0" sz="1000" spc="-5">
                <a:latin typeface="Roboto"/>
                <a:cs typeface="Roboto"/>
              </a:rPr>
              <a:t> </a:t>
            </a:r>
            <a:r>
              <a:rPr dirty="0" sz="1000" spc="-45">
                <a:latin typeface="Roboto"/>
                <a:cs typeface="Roboto"/>
              </a:rPr>
              <a:t>(-</a:t>
            </a:r>
            <a:r>
              <a:rPr dirty="0" sz="1000" spc="-20">
                <a:latin typeface="Roboto"/>
                <a:cs typeface="Roboto"/>
              </a:rPr>
              <a:t>31%)</a:t>
            </a:r>
            <a:endParaRPr sz="10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</a:pPr>
            <a:r>
              <a:rPr dirty="0" sz="1000" spc="-65">
                <a:latin typeface="Roboto"/>
                <a:cs typeface="Roboto"/>
              </a:rPr>
              <a:t>Min</a:t>
            </a:r>
            <a:r>
              <a:rPr dirty="0" sz="1000" spc="-5">
                <a:latin typeface="Roboto"/>
                <a:cs typeface="Roboto"/>
              </a:rPr>
              <a:t> </a:t>
            </a:r>
            <a:r>
              <a:rPr dirty="0" sz="1000" spc="-45">
                <a:latin typeface="Roboto"/>
                <a:cs typeface="Roboto"/>
              </a:rPr>
              <a:t>V:</a:t>
            </a:r>
            <a:r>
              <a:rPr dirty="0" sz="1000" spc="-5">
                <a:latin typeface="Roboto"/>
                <a:cs typeface="Roboto"/>
              </a:rPr>
              <a:t> </a:t>
            </a:r>
            <a:r>
              <a:rPr dirty="0" sz="1000" spc="-55">
                <a:latin typeface="Roboto"/>
                <a:cs typeface="Roboto"/>
              </a:rPr>
              <a:t>0.937</a:t>
            </a:r>
            <a:r>
              <a:rPr dirty="0" sz="1000">
                <a:latin typeface="Roboto"/>
                <a:cs typeface="Roboto"/>
              </a:rPr>
              <a:t> </a:t>
            </a:r>
            <a:r>
              <a:rPr dirty="0" sz="1000" spc="-50">
                <a:latin typeface="Roboto"/>
                <a:cs typeface="Roboto"/>
              </a:rPr>
              <a:t>p.u.</a:t>
            </a:r>
            <a:r>
              <a:rPr dirty="0" sz="1000" spc="-5">
                <a:latin typeface="Roboto"/>
                <a:cs typeface="Roboto"/>
              </a:rPr>
              <a:t> </a:t>
            </a:r>
            <a:r>
              <a:rPr dirty="0" sz="1000" spc="-45">
                <a:latin typeface="Roboto"/>
                <a:cs typeface="Roboto"/>
              </a:rPr>
              <a:t>(+2.6%)</a:t>
            </a:r>
            <a:endParaRPr sz="1000">
              <a:latin typeface="Roboto"/>
              <a:cs typeface="Roboto"/>
            </a:endParaRPr>
          </a:p>
        </p:txBody>
      </p:sp>
      <p:sp>
        <p:nvSpPr>
          <p:cNvPr id="28" name="object 28" descr=""/>
          <p:cNvSpPr txBox="1"/>
          <p:nvPr/>
        </p:nvSpPr>
        <p:spPr>
          <a:xfrm>
            <a:off x="7152927" y="5546565"/>
            <a:ext cx="1019810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60" b="0">
                <a:solidFill>
                  <a:srgbClr val="4A5462"/>
                </a:solidFill>
                <a:latin typeface="Roboto Medium"/>
                <a:cs typeface="Roboto Medium"/>
              </a:rPr>
              <a:t>IEEE</a:t>
            </a:r>
            <a:r>
              <a:rPr dirty="0" sz="1000" spc="5" b="0">
                <a:solidFill>
                  <a:srgbClr val="4A5462"/>
                </a:solidFill>
                <a:latin typeface="Roboto Medium"/>
                <a:cs typeface="Roboto Medium"/>
              </a:rPr>
              <a:t> </a:t>
            </a:r>
            <a:r>
              <a:rPr dirty="0" sz="1000" spc="-60" b="0">
                <a:solidFill>
                  <a:srgbClr val="4A5462"/>
                </a:solidFill>
                <a:latin typeface="Roboto Medium"/>
                <a:cs typeface="Roboto Medium"/>
              </a:rPr>
              <a:t>123-</a:t>
            </a:r>
            <a:r>
              <a:rPr dirty="0" sz="1000" spc="-65" b="0">
                <a:solidFill>
                  <a:srgbClr val="4A5462"/>
                </a:solidFill>
                <a:latin typeface="Roboto Medium"/>
                <a:cs typeface="Roboto Medium"/>
              </a:rPr>
              <a:t>Bus</a:t>
            </a:r>
            <a:r>
              <a:rPr dirty="0" sz="1000" spc="10" b="0">
                <a:solidFill>
                  <a:srgbClr val="4A5462"/>
                </a:solidFill>
                <a:latin typeface="Roboto Medium"/>
                <a:cs typeface="Roboto Medium"/>
              </a:rPr>
              <a:t> </a:t>
            </a:r>
            <a:r>
              <a:rPr dirty="0" sz="1000" spc="-20" b="0">
                <a:solidFill>
                  <a:srgbClr val="4A5462"/>
                </a:solidFill>
                <a:latin typeface="Roboto Medium"/>
                <a:cs typeface="Roboto Medium"/>
              </a:rPr>
              <a:t>Initial</a:t>
            </a:r>
            <a:endParaRPr sz="1000">
              <a:latin typeface="Roboto Medium"/>
              <a:cs typeface="Roboto Medium"/>
            </a:endParaRPr>
          </a:p>
        </p:txBody>
      </p:sp>
      <p:sp>
        <p:nvSpPr>
          <p:cNvPr id="29" name="object 29" descr=""/>
          <p:cNvSpPr txBox="1"/>
          <p:nvPr/>
        </p:nvSpPr>
        <p:spPr>
          <a:xfrm>
            <a:off x="6559550" y="5889466"/>
            <a:ext cx="1203325" cy="48323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000" spc="-60">
                <a:latin typeface="Roboto"/>
                <a:cs typeface="Roboto"/>
              </a:rPr>
              <a:t>Unbalanced</a:t>
            </a:r>
            <a:r>
              <a:rPr dirty="0" sz="1000" spc="25">
                <a:latin typeface="Roboto"/>
                <a:cs typeface="Roboto"/>
              </a:rPr>
              <a:t> </a:t>
            </a:r>
            <a:r>
              <a:rPr dirty="0" sz="1000" spc="-10">
                <a:latin typeface="Roboto"/>
                <a:cs typeface="Roboto"/>
              </a:rPr>
              <a:t>System </a:t>
            </a:r>
            <a:r>
              <a:rPr dirty="0" sz="1000" spc="-55">
                <a:latin typeface="Roboto"/>
                <a:cs typeface="Roboto"/>
              </a:rPr>
              <a:t>Voltage</a:t>
            </a:r>
            <a:r>
              <a:rPr dirty="0" sz="1000" spc="5">
                <a:latin typeface="Roboto"/>
                <a:cs typeface="Roboto"/>
              </a:rPr>
              <a:t> </a:t>
            </a:r>
            <a:r>
              <a:rPr dirty="0" sz="1000" spc="-50">
                <a:latin typeface="Roboto"/>
                <a:cs typeface="Roboto"/>
              </a:rPr>
              <a:t>deviation:</a:t>
            </a:r>
            <a:r>
              <a:rPr dirty="0" sz="1000" spc="5">
                <a:latin typeface="Roboto"/>
                <a:cs typeface="Roboto"/>
              </a:rPr>
              <a:t> </a:t>
            </a:r>
            <a:r>
              <a:rPr dirty="0" sz="1000" spc="-60">
                <a:latin typeface="Roboto"/>
                <a:cs typeface="Roboto"/>
              </a:rPr>
              <a:t>8.7%</a:t>
            </a:r>
            <a:r>
              <a:rPr dirty="0" sz="1000" spc="500">
                <a:latin typeface="Roboto"/>
                <a:cs typeface="Roboto"/>
              </a:rPr>
              <a:t> </a:t>
            </a:r>
            <a:r>
              <a:rPr dirty="0" sz="1000" spc="-65">
                <a:latin typeface="Roboto"/>
                <a:cs typeface="Roboto"/>
              </a:rPr>
              <a:t>Phase</a:t>
            </a:r>
            <a:r>
              <a:rPr dirty="0" sz="1000" spc="5">
                <a:latin typeface="Roboto"/>
                <a:cs typeface="Roboto"/>
              </a:rPr>
              <a:t> </a:t>
            </a:r>
            <a:r>
              <a:rPr dirty="0" sz="1000" spc="-50">
                <a:latin typeface="Roboto"/>
                <a:cs typeface="Roboto"/>
              </a:rPr>
              <a:t>imbalance:</a:t>
            </a:r>
            <a:r>
              <a:rPr dirty="0" sz="1000" spc="5">
                <a:latin typeface="Roboto"/>
                <a:cs typeface="Roboto"/>
              </a:rPr>
              <a:t> </a:t>
            </a:r>
            <a:r>
              <a:rPr dirty="0" sz="1000" spc="-40">
                <a:latin typeface="Roboto"/>
                <a:cs typeface="Roboto"/>
              </a:rPr>
              <a:t>High</a:t>
            </a:r>
            <a:endParaRPr sz="1000">
              <a:latin typeface="Roboto"/>
              <a:cs typeface="Roboto"/>
            </a:endParaRPr>
          </a:p>
        </p:txBody>
      </p:sp>
      <p:sp>
        <p:nvSpPr>
          <p:cNvPr id="30" name="object 30" descr=""/>
          <p:cNvSpPr txBox="1"/>
          <p:nvPr/>
        </p:nvSpPr>
        <p:spPr>
          <a:xfrm>
            <a:off x="9729588" y="5546565"/>
            <a:ext cx="1257935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60" b="0">
                <a:solidFill>
                  <a:srgbClr val="4A5462"/>
                </a:solidFill>
                <a:latin typeface="Roboto Medium"/>
                <a:cs typeface="Roboto Medium"/>
              </a:rPr>
              <a:t>IEEE</a:t>
            </a:r>
            <a:r>
              <a:rPr dirty="0" sz="1000" spc="5" b="0">
                <a:solidFill>
                  <a:srgbClr val="4A5462"/>
                </a:solidFill>
                <a:latin typeface="Roboto Medium"/>
                <a:cs typeface="Roboto Medium"/>
              </a:rPr>
              <a:t> </a:t>
            </a:r>
            <a:r>
              <a:rPr dirty="0" sz="1000" spc="-60" b="0">
                <a:solidFill>
                  <a:srgbClr val="4A5462"/>
                </a:solidFill>
                <a:latin typeface="Roboto Medium"/>
                <a:cs typeface="Roboto Medium"/>
              </a:rPr>
              <a:t>123-</a:t>
            </a:r>
            <a:r>
              <a:rPr dirty="0" sz="1000" spc="-65" b="0">
                <a:solidFill>
                  <a:srgbClr val="4A5462"/>
                </a:solidFill>
                <a:latin typeface="Roboto Medium"/>
                <a:cs typeface="Roboto Medium"/>
              </a:rPr>
              <a:t>Bus</a:t>
            </a:r>
            <a:r>
              <a:rPr dirty="0" sz="1000" spc="10" b="0">
                <a:solidFill>
                  <a:srgbClr val="4A5462"/>
                </a:solidFill>
                <a:latin typeface="Roboto Medium"/>
                <a:cs typeface="Roboto Medium"/>
              </a:rPr>
              <a:t> </a:t>
            </a:r>
            <a:r>
              <a:rPr dirty="0" sz="1000" spc="-45" b="0">
                <a:solidFill>
                  <a:srgbClr val="4A5462"/>
                </a:solidFill>
                <a:latin typeface="Roboto Medium"/>
                <a:cs typeface="Roboto Medium"/>
              </a:rPr>
              <a:t>Optimized</a:t>
            </a:r>
            <a:endParaRPr sz="1000">
              <a:latin typeface="Roboto Medium"/>
              <a:cs typeface="Roboto Medium"/>
            </a:endParaRPr>
          </a:p>
        </p:txBody>
      </p:sp>
      <p:sp>
        <p:nvSpPr>
          <p:cNvPr id="31" name="object 31" descr=""/>
          <p:cNvSpPr txBox="1"/>
          <p:nvPr/>
        </p:nvSpPr>
        <p:spPr>
          <a:xfrm>
            <a:off x="9255125" y="5889466"/>
            <a:ext cx="1203325" cy="48323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000" spc="-55">
                <a:latin typeface="Roboto"/>
                <a:cs typeface="Roboto"/>
              </a:rPr>
              <a:t>Balanced</a:t>
            </a:r>
            <a:r>
              <a:rPr dirty="0" sz="1000" spc="-20">
                <a:latin typeface="Roboto"/>
                <a:cs typeface="Roboto"/>
              </a:rPr>
              <a:t> </a:t>
            </a:r>
            <a:r>
              <a:rPr dirty="0" sz="1000" spc="-10">
                <a:latin typeface="Roboto"/>
                <a:cs typeface="Roboto"/>
              </a:rPr>
              <a:t>Operation </a:t>
            </a:r>
            <a:r>
              <a:rPr dirty="0" sz="1000" spc="-55">
                <a:latin typeface="Roboto"/>
                <a:cs typeface="Roboto"/>
              </a:rPr>
              <a:t>Voltage</a:t>
            </a:r>
            <a:r>
              <a:rPr dirty="0" sz="1000" spc="5">
                <a:latin typeface="Roboto"/>
                <a:cs typeface="Roboto"/>
              </a:rPr>
              <a:t> </a:t>
            </a:r>
            <a:r>
              <a:rPr dirty="0" sz="1000" spc="-50">
                <a:latin typeface="Roboto"/>
                <a:cs typeface="Roboto"/>
              </a:rPr>
              <a:t>deviation:</a:t>
            </a:r>
            <a:r>
              <a:rPr dirty="0" sz="1000" spc="5">
                <a:latin typeface="Roboto"/>
                <a:cs typeface="Roboto"/>
              </a:rPr>
              <a:t> </a:t>
            </a:r>
            <a:r>
              <a:rPr dirty="0" sz="1000" spc="-60">
                <a:latin typeface="Roboto"/>
                <a:cs typeface="Roboto"/>
              </a:rPr>
              <a:t>3.2%</a:t>
            </a:r>
            <a:r>
              <a:rPr dirty="0" sz="1000" spc="500">
                <a:latin typeface="Roboto"/>
                <a:cs typeface="Roboto"/>
              </a:rPr>
              <a:t> </a:t>
            </a:r>
            <a:r>
              <a:rPr dirty="0" sz="1000" spc="-65">
                <a:latin typeface="Roboto"/>
                <a:cs typeface="Roboto"/>
              </a:rPr>
              <a:t>Phase</a:t>
            </a:r>
            <a:r>
              <a:rPr dirty="0" sz="1000" spc="5">
                <a:latin typeface="Roboto"/>
                <a:cs typeface="Roboto"/>
              </a:rPr>
              <a:t> </a:t>
            </a:r>
            <a:r>
              <a:rPr dirty="0" sz="1000" spc="-50">
                <a:latin typeface="Roboto"/>
                <a:cs typeface="Roboto"/>
              </a:rPr>
              <a:t>imbalance:</a:t>
            </a:r>
            <a:r>
              <a:rPr dirty="0" sz="1000" spc="5">
                <a:latin typeface="Roboto"/>
                <a:cs typeface="Roboto"/>
              </a:rPr>
              <a:t> </a:t>
            </a:r>
            <a:r>
              <a:rPr dirty="0" sz="1000" spc="-25">
                <a:latin typeface="Roboto"/>
                <a:cs typeface="Roboto"/>
              </a:rPr>
              <a:t>Low</a:t>
            </a:r>
            <a:endParaRPr sz="1000">
              <a:latin typeface="Roboto"/>
              <a:cs typeface="Roboto"/>
            </a:endParaRPr>
          </a:p>
        </p:txBody>
      </p:sp>
      <p:grpSp>
        <p:nvGrpSpPr>
          <p:cNvPr id="32" name="object 32" descr=""/>
          <p:cNvGrpSpPr/>
          <p:nvPr/>
        </p:nvGrpSpPr>
        <p:grpSpPr>
          <a:xfrm>
            <a:off x="152399" y="1381124"/>
            <a:ext cx="11887200" cy="6048375"/>
            <a:chOff x="152399" y="1381124"/>
            <a:chExt cx="11887200" cy="6048375"/>
          </a:xfrm>
        </p:grpSpPr>
        <p:sp>
          <p:nvSpPr>
            <p:cNvPr id="33" name="object 33" descr=""/>
            <p:cNvSpPr/>
            <p:nvPr/>
          </p:nvSpPr>
          <p:spPr>
            <a:xfrm>
              <a:off x="152399" y="7000874"/>
              <a:ext cx="11887200" cy="428625"/>
            </a:xfrm>
            <a:custGeom>
              <a:avLst/>
              <a:gdLst/>
              <a:ahLst/>
              <a:cxnLst/>
              <a:rect l="l" t="t" r="r" b="b"/>
              <a:pathLst>
                <a:path w="11887200" h="428625">
                  <a:moveTo>
                    <a:pt x="11810999" y="428624"/>
                  </a:moveTo>
                  <a:lnTo>
                    <a:pt x="76200" y="428624"/>
                  </a:lnTo>
                  <a:lnTo>
                    <a:pt x="68693" y="428262"/>
                  </a:lnTo>
                  <a:lnTo>
                    <a:pt x="27882" y="411357"/>
                  </a:lnTo>
                  <a:lnTo>
                    <a:pt x="3262" y="374511"/>
                  </a:lnTo>
                  <a:lnTo>
                    <a:pt x="0" y="352425"/>
                  </a:lnTo>
                  <a:lnTo>
                    <a:pt x="0" y="0"/>
                  </a:lnTo>
                  <a:lnTo>
                    <a:pt x="11887199" y="0"/>
                  </a:lnTo>
                  <a:lnTo>
                    <a:pt x="11887199" y="352425"/>
                  </a:lnTo>
                  <a:lnTo>
                    <a:pt x="11874368" y="394767"/>
                  </a:lnTo>
                  <a:lnTo>
                    <a:pt x="11840158" y="422824"/>
                  </a:lnTo>
                  <a:lnTo>
                    <a:pt x="11810999" y="428624"/>
                  </a:lnTo>
                  <a:close/>
                </a:path>
              </a:pathLst>
            </a:custGeom>
            <a:solidFill>
              <a:srgbClr val="F2F4F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 descr=""/>
            <p:cNvSpPr/>
            <p:nvPr/>
          </p:nvSpPr>
          <p:spPr>
            <a:xfrm>
              <a:off x="152399" y="7000874"/>
              <a:ext cx="11887200" cy="9525"/>
            </a:xfrm>
            <a:custGeom>
              <a:avLst/>
              <a:gdLst/>
              <a:ahLst/>
              <a:cxnLst/>
              <a:rect l="l" t="t" r="r" b="b"/>
              <a:pathLst>
                <a:path w="11887200" h="9525">
                  <a:moveTo>
                    <a:pt x="11887199" y="9524"/>
                  </a:moveTo>
                  <a:lnTo>
                    <a:pt x="0" y="9524"/>
                  </a:lnTo>
                  <a:lnTo>
                    <a:pt x="0" y="0"/>
                  </a:lnTo>
                  <a:lnTo>
                    <a:pt x="11887199" y="0"/>
                  </a:lnTo>
                  <a:lnTo>
                    <a:pt x="11887199" y="9524"/>
                  </a:lnTo>
                  <a:close/>
                </a:path>
              </a:pathLst>
            </a:custGeom>
            <a:solidFill>
              <a:srgbClr val="D0D5DA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5" name="object 35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210299" y="1381124"/>
              <a:ext cx="5600699" cy="2095499"/>
            </a:xfrm>
            <a:prstGeom prst="rect">
              <a:avLst/>
            </a:prstGeom>
          </p:spPr>
        </p:pic>
        <p:pic>
          <p:nvPicPr>
            <p:cNvPr id="36" name="object 36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80999" y="4086224"/>
              <a:ext cx="5600699" cy="2095499"/>
            </a:xfrm>
            <a:prstGeom prst="rect">
              <a:avLst/>
            </a:prstGeom>
          </p:spPr>
        </p:pic>
        <p:sp>
          <p:nvSpPr>
            <p:cNvPr id="37" name="object 37" descr=""/>
            <p:cNvSpPr/>
            <p:nvPr/>
          </p:nvSpPr>
          <p:spPr>
            <a:xfrm>
              <a:off x="10544174" y="7067549"/>
              <a:ext cx="1457325" cy="323850"/>
            </a:xfrm>
            <a:custGeom>
              <a:avLst/>
              <a:gdLst/>
              <a:ahLst/>
              <a:cxnLst/>
              <a:rect l="l" t="t" r="r" b="b"/>
              <a:pathLst>
                <a:path w="1457325" h="323850">
                  <a:moveTo>
                    <a:pt x="1424277" y="323849"/>
                  </a:moveTo>
                  <a:lnTo>
                    <a:pt x="33047" y="323849"/>
                  </a:lnTo>
                  <a:lnTo>
                    <a:pt x="28187" y="322883"/>
                  </a:lnTo>
                  <a:lnTo>
                    <a:pt x="966" y="295662"/>
                  </a:lnTo>
                  <a:lnTo>
                    <a:pt x="0" y="290802"/>
                  </a:lnTo>
                  <a:lnTo>
                    <a:pt x="0" y="285749"/>
                  </a:lnTo>
                  <a:lnTo>
                    <a:pt x="0" y="33047"/>
                  </a:lnTo>
                  <a:lnTo>
                    <a:pt x="28187" y="966"/>
                  </a:lnTo>
                  <a:lnTo>
                    <a:pt x="33047" y="0"/>
                  </a:lnTo>
                  <a:lnTo>
                    <a:pt x="1424277" y="0"/>
                  </a:lnTo>
                  <a:lnTo>
                    <a:pt x="1456357" y="28187"/>
                  </a:lnTo>
                  <a:lnTo>
                    <a:pt x="1457324" y="33047"/>
                  </a:lnTo>
                  <a:lnTo>
                    <a:pt x="1457324" y="290802"/>
                  </a:lnTo>
                  <a:lnTo>
                    <a:pt x="1429137" y="322883"/>
                  </a:lnTo>
                  <a:lnTo>
                    <a:pt x="1424277" y="323849"/>
                  </a:lnTo>
                  <a:close/>
                </a:path>
              </a:pathLst>
            </a:custGeom>
            <a:solidFill>
              <a:srgbClr val="33333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8" name="object 38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0658474" y="7162799"/>
              <a:ext cx="133349" cy="133349"/>
            </a:xfrm>
            <a:prstGeom prst="rect">
              <a:avLst/>
            </a:prstGeom>
          </p:spPr>
        </p:pic>
      </p:grpSp>
      <p:sp>
        <p:nvSpPr>
          <p:cNvPr id="39" name="object 39" descr=""/>
          <p:cNvSpPr txBox="1"/>
          <p:nvPr/>
        </p:nvSpPr>
        <p:spPr>
          <a:xfrm>
            <a:off x="520700" y="7153495"/>
            <a:ext cx="2289175" cy="15557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30"/>
              </a:lnSpc>
            </a:pPr>
            <a:r>
              <a:rPr dirty="0" sz="1150" spc="-60">
                <a:solidFill>
                  <a:srgbClr val="6A7280"/>
                </a:solidFill>
                <a:latin typeface="Roboto"/>
                <a:cs typeface="Roboto"/>
              </a:rPr>
              <a:t>IEEE</a:t>
            </a:r>
            <a:r>
              <a:rPr dirty="0" sz="1150">
                <a:solidFill>
                  <a:srgbClr val="6A7280"/>
                </a:solidFill>
                <a:latin typeface="Roboto"/>
                <a:cs typeface="Roboto"/>
              </a:rPr>
              <a:t> </a:t>
            </a:r>
            <a:r>
              <a:rPr dirty="0" sz="1150" spc="-70">
                <a:solidFill>
                  <a:srgbClr val="6A7280"/>
                </a:solidFill>
                <a:latin typeface="Roboto"/>
                <a:cs typeface="Roboto"/>
              </a:rPr>
              <a:t>Power</a:t>
            </a:r>
            <a:r>
              <a:rPr dirty="0" sz="1150" spc="5">
                <a:solidFill>
                  <a:srgbClr val="6A7280"/>
                </a:solidFill>
                <a:latin typeface="Roboto"/>
                <a:cs typeface="Roboto"/>
              </a:rPr>
              <a:t> </a:t>
            </a:r>
            <a:r>
              <a:rPr dirty="0" sz="1150" spc="-60">
                <a:solidFill>
                  <a:srgbClr val="6A7280"/>
                </a:solidFill>
                <a:latin typeface="Roboto"/>
                <a:cs typeface="Roboto"/>
              </a:rPr>
              <a:t>Systems</a:t>
            </a:r>
            <a:r>
              <a:rPr dirty="0" sz="1150">
                <a:solidFill>
                  <a:srgbClr val="6A7280"/>
                </a:solidFill>
                <a:latin typeface="Roboto"/>
                <a:cs typeface="Roboto"/>
              </a:rPr>
              <a:t> </a:t>
            </a:r>
            <a:r>
              <a:rPr dirty="0" sz="1150" spc="-60">
                <a:solidFill>
                  <a:srgbClr val="6A7280"/>
                </a:solidFill>
                <a:latin typeface="Roboto"/>
                <a:cs typeface="Roboto"/>
              </a:rPr>
              <a:t>Conference</a:t>
            </a:r>
            <a:r>
              <a:rPr dirty="0" sz="1150" spc="5">
                <a:solidFill>
                  <a:srgbClr val="6A7280"/>
                </a:solidFill>
                <a:latin typeface="Roboto"/>
                <a:cs typeface="Roboto"/>
              </a:rPr>
              <a:t> </a:t>
            </a:r>
            <a:r>
              <a:rPr dirty="0" sz="1150" spc="-30">
                <a:solidFill>
                  <a:srgbClr val="6A7280"/>
                </a:solidFill>
                <a:latin typeface="Roboto"/>
                <a:cs typeface="Roboto"/>
              </a:rPr>
              <a:t>2023</a:t>
            </a:r>
            <a:endParaRPr sz="1150">
              <a:latin typeface="Roboto"/>
              <a:cs typeface="Roboto"/>
            </a:endParaRPr>
          </a:p>
        </p:txBody>
      </p:sp>
      <p:sp>
        <p:nvSpPr>
          <p:cNvPr id="40" name="object 40" descr=""/>
          <p:cNvSpPr txBox="1"/>
          <p:nvPr/>
        </p:nvSpPr>
        <p:spPr>
          <a:xfrm>
            <a:off x="10833000" y="7153495"/>
            <a:ext cx="1066800" cy="15557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30"/>
              </a:lnSpc>
            </a:pPr>
            <a:r>
              <a:rPr dirty="0" sz="1000" spc="-55">
                <a:solidFill>
                  <a:srgbClr val="FFFFFF"/>
                </a:solidFill>
                <a:latin typeface="Roboto"/>
                <a:cs typeface="Roboto"/>
              </a:rPr>
              <a:t>Ma</a:t>
            </a:r>
            <a:r>
              <a:rPr dirty="0" sz="1000" spc="-204">
                <a:solidFill>
                  <a:srgbClr val="FFFFFF"/>
                </a:solidFill>
                <a:latin typeface="Roboto"/>
                <a:cs typeface="Roboto"/>
              </a:rPr>
              <a:t>d</a:t>
            </a:r>
            <a:r>
              <a:rPr dirty="0" sz="1150" spc="-600">
                <a:solidFill>
                  <a:srgbClr val="6A7280"/>
                </a:solidFill>
                <a:latin typeface="Roboto"/>
                <a:cs typeface="Roboto"/>
              </a:rPr>
              <a:t>S</a:t>
            </a:r>
            <a:r>
              <a:rPr dirty="0" sz="1000" spc="-40">
                <a:solidFill>
                  <a:srgbClr val="FFFFFF"/>
                </a:solidFill>
                <a:latin typeface="Roboto"/>
                <a:cs typeface="Roboto"/>
              </a:rPr>
              <a:t>e</a:t>
            </a:r>
            <a:r>
              <a:rPr dirty="0" sz="1150" spc="-110">
                <a:solidFill>
                  <a:srgbClr val="6A7280"/>
                </a:solidFill>
                <a:latin typeface="Roboto"/>
                <a:cs typeface="Roboto"/>
              </a:rPr>
              <a:t>l</a:t>
            </a:r>
            <a:r>
              <a:rPr dirty="0" sz="1000" spc="-755">
                <a:solidFill>
                  <a:srgbClr val="FFFFFF"/>
                </a:solidFill>
                <a:latin typeface="Roboto"/>
                <a:cs typeface="Roboto"/>
              </a:rPr>
              <a:t>w</a:t>
            </a:r>
            <a:r>
              <a:rPr dirty="0" sz="1150" spc="-55">
                <a:solidFill>
                  <a:srgbClr val="6A7280"/>
                </a:solidFill>
                <a:latin typeface="Roboto"/>
                <a:cs typeface="Roboto"/>
              </a:rPr>
              <a:t>i</a:t>
            </a:r>
            <a:r>
              <a:rPr dirty="0" sz="1150" spc="-300">
                <a:solidFill>
                  <a:srgbClr val="6A7280"/>
                </a:solidFill>
                <a:latin typeface="Roboto"/>
                <a:cs typeface="Roboto"/>
              </a:rPr>
              <a:t>d</a:t>
            </a:r>
            <a:r>
              <a:rPr dirty="0" sz="1000" spc="-55">
                <a:solidFill>
                  <a:srgbClr val="FFFFFF"/>
                </a:solidFill>
                <a:latin typeface="Roboto"/>
                <a:cs typeface="Roboto"/>
              </a:rPr>
              <a:t>i</a:t>
            </a:r>
            <a:r>
              <a:rPr dirty="0" sz="1000" spc="-395">
                <a:solidFill>
                  <a:srgbClr val="FFFFFF"/>
                </a:solidFill>
                <a:latin typeface="Roboto"/>
                <a:cs typeface="Roboto"/>
              </a:rPr>
              <a:t>t</a:t>
            </a:r>
            <a:r>
              <a:rPr dirty="0" sz="1150" spc="-350">
                <a:solidFill>
                  <a:srgbClr val="6A7280"/>
                </a:solidFill>
                <a:latin typeface="Roboto"/>
                <a:cs typeface="Roboto"/>
              </a:rPr>
              <a:t>e</a:t>
            </a:r>
            <a:r>
              <a:rPr dirty="0" sz="1000" spc="-30">
                <a:solidFill>
                  <a:srgbClr val="FFFFFF"/>
                </a:solidFill>
                <a:latin typeface="Roboto"/>
                <a:cs typeface="Roboto"/>
              </a:rPr>
              <a:t>h</a:t>
            </a:r>
            <a:fld id="{81D60167-4931-47E6-BA6A-407CBD079E47}" type="slidenum">
              <a:rPr dirty="0" sz="1150" spc="-55">
                <a:solidFill>
                  <a:srgbClr val="6A7280"/>
                </a:solidFill>
                <a:latin typeface="Roboto"/>
                <a:cs typeface="Roboto"/>
              </a:rPr>
              <a:t>8</a:t>
            </a:fld>
            <a:r>
              <a:rPr dirty="0" sz="1000" spc="-300">
                <a:solidFill>
                  <a:srgbClr val="FFFFFF"/>
                </a:solidFill>
                <a:latin typeface="Roboto"/>
                <a:cs typeface="Roboto"/>
              </a:rPr>
              <a:t>G</a:t>
            </a:r>
            <a:r>
              <a:rPr dirty="0" sz="1150" spc="-300">
                <a:solidFill>
                  <a:srgbClr val="6A7280"/>
                </a:solidFill>
                <a:latin typeface="Roboto"/>
                <a:cs typeface="Roboto"/>
              </a:rPr>
              <a:t>/</a:t>
            </a:r>
            <a:r>
              <a:rPr dirty="0" sz="1000" spc="-350">
                <a:solidFill>
                  <a:srgbClr val="FFFFFF"/>
                </a:solidFill>
                <a:latin typeface="Roboto"/>
                <a:cs typeface="Roboto"/>
              </a:rPr>
              <a:t>e</a:t>
            </a:r>
            <a:r>
              <a:rPr dirty="0" sz="1150" spc="-420">
                <a:solidFill>
                  <a:srgbClr val="6A7280"/>
                </a:solidFill>
                <a:latin typeface="Roboto"/>
                <a:cs typeface="Roboto"/>
              </a:rPr>
              <a:t>1</a:t>
            </a:r>
            <a:r>
              <a:rPr dirty="0" sz="1000" spc="-250">
                <a:solidFill>
                  <a:srgbClr val="FFFFFF"/>
                </a:solidFill>
                <a:latin typeface="Roboto"/>
                <a:cs typeface="Roboto"/>
              </a:rPr>
              <a:t>n</a:t>
            </a:r>
            <a:r>
              <a:rPr dirty="0" sz="1150" spc="-525">
                <a:solidFill>
                  <a:srgbClr val="6A7280"/>
                </a:solidFill>
                <a:latin typeface="Roboto"/>
                <a:cs typeface="Roboto"/>
              </a:rPr>
              <a:t>0</a:t>
            </a:r>
            <a:r>
              <a:rPr dirty="0" sz="1000" spc="-55">
                <a:solidFill>
                  <a:srgbClr val="FFFFFF"/>
                </a:solidFill>
                <a:latin typeface="Roboto"/>
                <a:cs typeface="Roboto"/>
              </a:rPr>
              <a:t>spark</a:t>
            </a:r>
            <a:endParaRPr sz="10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12192000" cy="7162800"/>
          </a:xfrm>
          <a:custGeom>
            <a:avLst/>
            <a:gdLst/>
            <a:ahLst/>
            <a:cxnLst/>
            <a:rect l="l" t="t" r="r" b="b"/>
            <a:pathLst>
              <a:path w="12192000" h="7162800">
                <a:moveTo>
                  <a:pt x="12191999" y="7162799"/>
                </a:moveTo>
                <a:lnTo>
                  <a:pt x="0" y="7162799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7162799"/>
                </a:lnTo>
                <a:close/>
              </a:path>
            </a:pathLst>
          </a:custGeom>
          <a:solidFill>
            <a:srgbClr val="F5F6FA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" name="object 3" descr=""/>
          <p:cNvGrpSpPr/>
          <p:nvPr/>
        </p:nvGrpSpPr>
        <p:grpSpPr>
          <a:xfrm>
            <a:off x="152399" y="152399"/>
            <a:ext cx="11887200" cy="6858000"/>
            <a:chOff x="152399" y="152399"/>
            <a:chExt cx="11887200" cy="6858000"/>
          </a:xfrm>
        </p:grpSpPr>
        <p:sp>
          <p:nvSpPr>
            <p:cNvPr id="4" name="object 4" descr=""/>
            <p:cNvSpPr/>
            <p:nvPr/>
          </p:nvSpPr>
          <p:spPr>
            <a:xfrm>
              <a:off x="152399" y="152399"/>
              <a:ext cx="11887200" cy="6858000"/>
            </a:xfrm>
            <a:custGeom>
              <a:avLst/>
              <a:gdLst/>
              <a:ahLst/>
              <a:cxnLst/>
              <a:rect l="l" t="t" r="r" b="b"/>
              <a:pathLst>
                <a:path w="11887200" h="6858000">
                  <a:moveTo>
                    <a:pt x="11816002" y="6857998"/>
                  </a:moveTo>
                  <a:lnTo>
                    <a:pt x="71196" y="6857998"/>
                  </a:lnTo>
                  <a:lnTo>
                    <a:pt x="66241" y="6857510"/>
                  </a:lnTo>
                  <a:lnTo>
                    <a:pt x="29705" y="6842377"/>
                  </a:lnTo>
                  <a:lnTo>
                    <a:pt x="3885" y="6806336"/>
                  </a:lnTo>
                  <a:lnTo>
                    <a:pt x="0" y="6786802"/>
                  </a:lnTo>
                  <a:lnTo>
                    <a:pt x="0" y="6781799"/>
                  </a:lnTo>
                  <a:lnTo>
                    <a:pt x="0" y="71196"/>
                  </a:lnTo>
                  <a:lnTo>
                    <a:pt x="15621" y="29705"/>
                  </a:lnTo>
                  <a:lnTo>
                    <a:pt x="51662" y="3885"/>
                  </a:lnTo>
                  <a:lnTo>
                    <a:pt x="71196" y="0"/>
                  </a:lnTo>
                  <a:lnTo>
                    <a:pt x="11816002" y="0"/>
                  </a:lnTo>
                  <a:lnTo>
                    <a:pt x="11857492" y="15621"/>
                  </a:lnTo>
                  <a:lnTo>
                    <a:pt x="11883312" y="51662"/>
                  </a:lnTo>
                  <a:lnTo>
                    <a:pt x="11887197" y="71196"/>
                  </a:lnTo>
                  <a:lnTo>
                    <a:pt x="11887197" y="6786802"/>
                  </a:lnTo>
                  <a:lnTo>
                    <a:pt x="11871575" y="6828293"/>
                  </a:lnTo>
                  <a:lnTo>
                    <a:pt x="11835535" y="6854112"/>
                  </a:lnTo>
                  <a:lnTo>
                    <a:pt x="11820956" y="6857510"/>
                  </a:lnTo>
                  <a:lnTo>
                    <a:pt x="11816002" y="685799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2399" y="152400"/>
              <a:ext cx="11887199" cy="76199"/>
            </a:xfrm>
            <a:prstGeom prst="rect">
              <a:avLst/>
            </a:prstGeom>
          </p:spPr>
        </p:pic>
        <p:sp>
          <p:nvSpPr>
            <p:cNvPr id="6" name="object 6" descr=""/>
            <p:cNvSpPr/>
            <p:nvPr/>
          </p:nvSpPr>
          <p:spPr>
            <a:xfrm>
              <a:off x="152399" y="228599"/>
              <a:ext cx="11887200" cy="542925"/>
            </a:xfrm>
            <a:custGeom>
              <a:avLst/>
              <a:gdLst/>
              <a:ahLst/>
              <a:cxnLst/>
              <a:rect l="l" t="t" r="r" b="b"/>
              <a:pathLst>
                <a:path w="11887200" h="542925">
                  <a:moveTo>
                    <a:pt x="11887199" y="542924"/>
                  </a:moveTo>
                  <a:lnTo>
                    <a:pt x="0" y="542924"/>
                  </a:lnTo>
                  <a:lnTo>
                    <a:pt x="0" y="0"/>
                  </a:lnTo>
                  <a:lnTo>
                    <a:pt x="11887199" y="0"/>
                  </a:lnTo>
                  <a:lnTo>
                    <a:pt x="11887199" y="542924"/>
                  </a:lnTo>
                  <a:close/>
                </a:path>
              </a:pathLst>
            </a:custGeom>
            <a:solidFill>
              <a:srgbClr val="F2F4F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152399" y="761999"/>
              <a:ext cx="11887200" cy="9525"/>
            </a:xfrm>
            <a:custGeom>
              <a:avLst/>
              <a:gdLst/>
              <a:ahLst/>
              <a:cxnLst/>
              <a:rect l="l" t="t" r="r" b="b"/>
              <a:pathLst>
                <a:path w="11887200" h="9525">
                  <a:moveTo>
                    <a:pt x="11887199" y="9524"/>
                  </a:moveTo>
                  <a:lnTo>
                    <a:pt x="0" y="9524"/>
                  </a:lnTo>
                  <a:lnTo>
                    <a:pt x="0" y="0"/>
                  </a:lnTo>
                  <a:lnTo>
                    <a:pt x="11887199" y="0"/>
                  </a:lnTo>
                  <a:lnTo>
                    <a:pt x="11887199" y="9524"/>
                  </a:lnTo>
                  <a:close/>
                </a:path>
              </a:pathLst>
            </a:custGeom>
            <a:solidFill>
              <a:srgbClr val="D0D5D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14"/>
              <a:t>Performance</a:t>
            </a:r>
            <a:r>
              <a:rPr dirty="0" spc="-40"/>
              <a:t> </a:t>
            </a:r>
            <a:r>
              <a:rPr dirty="0" spc="-114"/>
              <a:t>Comparison</a:t>
            </a:r>
            <a:r>
              <a:rPr dirty="0" spc="-40"/>
              <a:t> </a:t>
            </a:r>
            <a:r>
              <a:rPr dirty="0" spc="-150"/>
              <a:t>&amp;</a:t>
            </a:r>
            <a:r>
              <a:rPr dirty="0" spc="-40"/>
              <a:t> </a:t>
            </a:r>
            <a:r>
              <a:rPr dirty="0" spc="-125"/>
              <a:t>Case</a:t>
            </a:r>
            <a:r>
              <a:rPr dirty="0" spc="-40"/>
              <a:t> </a:t>
            </a:r>
            <a:r>
              <a:rPr dirty="0" spc="-65"/>
              <a:t>Studies</a:t>
            </a:r>
          </a:p>
        </p:txBody>
      </p:sp>
      <p:sp>
        <p:nvSpPr>
          <p:cNvPr id="9" name="object 9" descr=""/>
          <p:cNvSpPr/>
          <p:nvPr/>
        </p:nvSpPr>
        <p:spPr>
          <a:xfrm>
            <a:off x="11353798" y="342899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399" y="304799"/>
                </a:moveTo>
                <a:lnTo>
                  <a:pt x="108158" y="298239"/>
                </a:lnTo>
                <a:lnTo>
                  <a:pt x="67730" y="279115"/>
                </a:lnTo>
                <a:lnTo>
                  <a:pt x="34591" y="249082"/>
                </a:lnTo>
                <a:lnTo>
                  <a:pt x="11599" y="210720"/>
                </a:lnTo>
                <a:lnTo>
                  <a:pt x="731" y="167337"/>
                </a:lnTo>
                <a:lnTo>
                  <a:pt x="0" y="152399"/>
                </a:lnTo>
                <a:lnTo>
                  <a:pt x="182" y="144912"/>
                </a:lnTo>
                <a:lnTo>
                  <a:pt x="8903" y="101066"/>
                </a:lnTo>
                <a:lnTo>
                  <a:pt x="29994" y="61607"/>
                </a:lnTo>
                <a:lnTo>
                  <a:pt x="61607" y="29995"/>
                </a:lnTo>
                <a:lnTo>
                  <a:pt x="101064" y="8904"/>
                </a:lnTo>
                <a:lnTo>
                  <a:pt x="144912" y="183"/>
                </a:lnTo>
                <a:lnTo>
                  <a:pt x="152399" y="0"/>
                </a:lnTo>
                <a:lnTo>
                  <a:pt x="159886" y="183"/>
                </a:lnTo>
                <a:lnTo>
                  <a:pt x="203731" y="8904"/>
                </a:lnTo>
                <a:lnTo>
                  <a:pt x="243190" y="29995"/>
                </a:lnTo>
                <a:lnTo>
                  <a:pt x="274802" y="61607"/>
                </a:lnTo>
                <a:lnTo>
                  <a:pt x="295894" y="101066"/>
                </a:lnTo>
                <a:lnTo>
                  <a:pt x="304616" y="144912"/>
                </a:lnTo>
                <a:lnTo>
                  <a:pt x="304799" y="152399"/>
                </a:lnTo>
                <a:lnTo>
                  <a:pt x="304616" y="159886"/>
                </a:lnTo>
                <a:lnTo>
                  <a:pt x="295894" y="203733"/>
                </a:lnTo>
                <a:lnTo>
                  <a:pt x="274803" y="243192"/>
                </a:lnTo>
                <a:lnTo>
                  <a:pt x="243190" y="274804"/>
                </a:lnTo>
                <a:lnTo>
                  <a:pt x="203731" y="295895"/>
                </a:lnTo>
                <a:lnTo>
                  <a:pt x="159886" y="304616"/>
                </a:lnTo>
                <a:lnTo>
                  <a:pt x="152399" y="304799"/>
                </a:lnTo>
                <a:close/>
              </a:path>
            </a:pathLst>
          </a:custGeom>
          <a:solidFill>
            <a:srgbClr val="1D40A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 txBox="1"/>
          <p:nvPr/>
        </p:nvSpPr>
        <p:spPr>
          <a:xfrm>
            <a:off x="10506173" y="360679"/>
            <a:ext cx="1100455" cy="22923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911860" algn="l"/>
              </a:tabLst>
            </a:pPr>
            <a:r>
              <a:rPr dirty="0" sz="1300" spc="-10">
                <a:solidFill>
                  <a:srgbClr val="6A7280"/>
                </a:solidFill>
                <a:latin typeface="Roboto"/>
                <a:cs typeface="Roboto"/>
              </a:rPr>
              <a:t>Framework</a:t>
            </a:r>
            <a:r>
              <a:rPr dirty="0" sz="1300">
                <a:solidFill>
                  <a:srgbClr val="6A7280"/>
                </a:solidFill>
                <a:latin typeface="Roboto"/>
                <a:cs typeface="Roboto"/>
              </a:rPr>
              <a:t>	</a:t>
            </a:r>
            <a:r>
              <a:rPr dirty="0" sz="1300" spc="-25" b="1">
                <a:solidFill>
                  <a:srgbClr val="FFFFFF"/>
                </a:solidFill>
                <a:latin typeface="Arial Nova"/>
                <a:cs typeface="Arial Nova"/>
              </a:rPr>
              <a:t>32</a:t>
            </a:r>
            <a:endParaRPr sz="1300">
              <a:latin typeface="Arial Nova"/>
              <a:cs typeface="Arial Nova"/>
            </a:endParaRPr>
          </a:p>
        </p:txBody>
      </p:sp>
      <p:sp>
        <p:nvSpPr>
          <p:cNvPr id="11" name="object 11" descr=""/>
          <p:cNvSpPr/>
          <p:nvPr/>
        </p:nvSpPr>
        <p:spPr>
          <a:xfrm>
            <a:off x="457199" y="1076324"/>
            <a:ext cx="38100" cy="1371600"/>
          </a:xfrm>
          <a:custGeom>
            <a:avLst/>
            <a:gdLst/>
            <a:ahLst/>
            <a:cxnLst/>
            <a:rect l="l" t="t" r="r" b="b"/>
            <a:pathLst>
              <a:path w="38100" h="1371600">
                <a:moveTo>
                  <a:pt x="38099" y="1371599"/>
                </a:moveTo>
                <a:lnTo>
                  <a:pt x="0" y="1371599"/>
                </a:lnTo>
                <a:lnTo>
                  <a:pt x="0" y="0"/>
                </a:lnTo>
                <a:lnTo>
                  <a:pt x="38099" y="0"/>
                </a:lnTo>
                <a:lnTo>
                  <a:pt x="38099" y="13715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"/>
          <p:cNvSpPr/>
          <p:nvPr/>
        </p:nvSpPr>
        <p:spPr>
          <a:xfrm>
            <a:off x="457199" y="2676524"/>
            <a:ext cx="38100" cy="1524000"/>
          </a:xfrm>
          <a:custGeom>
            <a:avLst/>
            <a:gdLst/>
            <a:ahLst/>
            <a:cxnLst/>
            <a:rect l="l" t="t" r="r" b="b"/>
            <a:pathLst>
              <a:path w="38100" h="1524000">
                <a:moveTo>
                  <a:pt x="38099" y="1523999"/>
                </a:moveTo>
                <a:lnTo>
                  <a:pt x="0" y="1523999"/>
                </a:lnTo>
                <a:lnTo>
                  <a:pt x="0" y="0"/>
                </a:lnTo>
                <a:lnTo>
                  <a:pt x="38099" y="0"/>
                </a:lnTo>
                <a:lnTo>
                  <a:pt x="38099" y="15239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3" name="object 13" descr=""/>
          <p:cNvGrpSpPr/>
          <p:nvPr/>
        </p:nvGrpSpPr>
        <p:grpSpPr>
          <a:xfrm>
            <a:off x="647699" y="1114424"/>
            <a:ext cx="266700" cy="342900"/>
            <a:chOff x="647699" y="1114424"/>
            <a:chExt cx="266700" cy="342900"/>
          </a:xfrm>
        </p:grpSpPr>
        <p:sp>
          <p:nvSpPr>
            <p:cNvPr id="14" name="object 14" descr=""/>
            <p:cNvSpPr/>
            <p:nvPr/>
          </p:nvSpPr>
          <p:spPr>
            <a:xfrm>
              <a:off x="647699" y="1114424"/>
              <a:ext cx="266700" cy="342900"/>
            </a:xfrm>
            <a:custGeom>
              <a:avLst/>
              <a:gdLst/>
              <a:ahLst/>
              <a:cxnLst/>
              <a:rect l="l" t="t" r="r" b="b"/>
              <a:pathLst>
                <a:path w="266700" h="342900">
                  <a:moveTo>
                    <a:pt x="233652" y="342899"/>
                  </a:moveTo>
                  <a:lnTo>
                    <a:pt x="33047" y="342899"/>
                  </a:lnTo>
                  <a:lnTo>
                    <a:pt x="28187" y="341933"/>
                  </a:lnTo>
                  <a:lnTo>
                    <a:pt x="966" y="314712"/>
                  </a:lnTo>
                  <a:lnTo>
                    <a:pt x="0" y="309852"/>
                  </a:lnTo>
                  <a:lnTo>
                    <a:pt x="0" y="304799"/>
                  </a:lnTo>
                  <a:lnTo>
                    <a:pt x="0" y="33047"/>
                  </a:lnTo>
                  <a:lnTo>
                    <a:pt x="28187" y="966"/>
                  </a:lnTo>
                  <a:lnTo>
                    <a:pt x="33047" y="0"/>
                  </a:lnTo>
                  <a:lnTo>
                    <a:pt x="233652" y="0"/>
                  </a:lnTo>
                  <a:lnTo>
                    <a:pt x="265733" y="28187"/>
                  </a:lnTo>
                  <a:lnTo>
                    <a:pt x="266699" y="33047"/>
                  </a:lnTo>
                  <a:lnTo>
                    <a:pt x="266699" y="309852"/>
                  </a:lnTo>
                  <a:lnTo>
                    <a:pt x="238512" y="341933"/>
                  </a:lnTo>
                  <a:lnTo>
                    <a:pt x="233652" y="342899"/>
                  </a:lnTo>
                  <a:close/>
                </a:path>
              </a:pathLst>
            </a:custGeom>
            <a:solidFill>
              <a:srgbClr val="2562E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5" name="object 1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04850" y="1209674"/>
              <a:ext cx="152399" cy="133349"/>
            </a:xfrm>
            <a:prstGeom prst="rect">
              <a:avLst/>
            </a:prstGeom>
          </p:spPr>
        </p:pic>
      </p:grpSp>
      <p:grpSp>
        <p:nvGrpSpPr>
          <p:cNvPr id="16" name="object 16" descr=""/>
          <p:cNvGrpSpPr/>
          <p:nvPr/>
        </p:nvGrpSpPr>
        <p:grpSpPr>
          <a:xfrm>
            <a:off x="457199" y="4429124"/>
            <a:ext cx="5524500" cy="971550"/>
            <a:chOff x="457199" y="4429124"/>
            <a:chExt cx="5524500" cy="971550"/>
          </a:xfrm>
        </p:grpSpPr>
        <p:sp>
          <p:nvSpPr>
            <p:cNvPr id="17" name="object 17" descr=""/>
            <p:cNvSpPr/>
            <p:nvPr/>
          </p:nvSpPr>
          <p:spPr>
            <a:xfrm>
              <a:off x="461962" y="4433887"/>
              <a:ext cx="5514975" cy="962025"/>
            </a:xfrm>
            <a:custGeom>
              <a:avLst/>
              <a:gdLst/>
              <a:ahLst/>
              <a:cxnLst/>
              <a:rect l="l" t="t" r="r" b="b"/>
              <a:pathLst>
                <a:path w="5514975" h="962025">
                  <a:moveTo>
                    <a:pt x="5448227" y="962024"/>
                  </a:moveTo>
                  <a:lnTo>
                    <a:pt x="66746" y="962024"/>
                  </a:lnTo>
                  <a:lnTo>
                    <a:pt x="62101" y="961566"/>
                  </a:lnTo>
                  <a:lnTo>
                    <a:pt x="24240" y="944417"/>
                  </a:lnTo>
                  <a:lnTo>
                    <a:pt x="2287" y="909124"/>
                  </a:lnTo>
                  <a:lnTo>
                    <a:pt x="0" y="895278"/>
                  </a:lnTo>
                  <a:lnTo>
                    <a:pt x="0" y="890587"/>
                  </a:lnTo>
                  <a:lnTo>
                    <a:pt x="0" y="66746"/>
                  </a:lnTo>
                  <a:lnTo>
                    <a:pt x="14645" y="27848"/>
                  </a:lnTo>
                  <a:lnTo>
                    <a:pt x="48433" y="3642"/>
                  </a:lnTo>
                  <a:lnTo>
                    <a:pt x="66746" y="0"/>
                  </a:lnTo>
                  <a:lnTo>
                    <a:pt x="5448227" y="0"/>
                  </a:lnTo>
                  <a:lnTo>
                    <a:pt x="5487124" y="14645"/>
                  </a:lnTo>
                  <a:lnTo>
                    <a:pt x="5511330" y="48432"/>
                  </a:lnTo>
                  <a:lnTo>
                    <a:pt x="5514974" y="66746"/>
                  </a:lnTo>
                  <a:lnTo>
                    <a:pt x="5514974" y="895278"/>
                  </a:lnTo>
                  <a:lnTo>
                    <a:pt x="5500328" y="934175"/>
                  </a:lnTo>
                  <a:lnTo>
                    <a:pt x="5466540" y="958382"/>
                  </a:lnTo>
                  <a:lnTo>
                    <a:pt x="5452872" y="961566"/>
                  </a:lnTo>
                  <a:lnTo>
                    <a:pt x="5448227" y="962024"/>
                  </a:lnTo>
                  <a:close/>
                </a:path>
              </a:pathLst>
            </a:custGeom>
            <a:solidFill>
              <a:srgbClr val="F9FA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461962" y="4433887"/>
              <a:ext cx="5514975" cy="962025"/>
            </a:xfrm>
            <a:custGeom>
              <a:avLst/>
              <a:gdLst/>
              <a:ahLst/>
              <a:cxnLst/>
              <a:rect l="l" t="t" r="r" b="b"/>
              <a:pathLst>
                <a:path w="5514975" h="962025">
                  <a:moveTo>
                    <a:pt x="0" y="890587"/>
                  </a:moveTo>
                  <a:lnTo>
                    <a:pt x="0" y="71437"/>
                  </a:lnTo>
                  <a:lnTo>
                    <a:pt x="0" y="66746"/>
                  </a:lnTo>
                  <a:lnTo>
                    <a:pt x="457" y="62101"/>
                  </a:lnTo>
                  <a:lnTo>
                    <a:pt x="1372" y="57500"/>
                  </a:lnTo>
                  <a:lnTo>
                    <a:pt x="2287" y="52899"/>
                  </a:lnTo>
                  <a:lnTo>
                    <a:pt x="3642" y="48432"/>
                  </a:lnTo>
                  <a:lnTo>
                    <a:pt x="5437" y="44099"/>
                  </a:lnTo>
                  <a:lnTo>
                    <a:pt x="7232" y="39765"/>
                  </a:lnTo>
                  <a:lnTo>
                    <a:pt x="9433" y="35648"/>
                  </a:lnTo>
                  <a:lnTo>
                    <a:pt x="12039" y="31748"/>
                  </a:lnTo>
                  <a:lnTo>
                    <a:pt x="14645" y="27848"/>
                  </a:lnTo>
                  <a:lnTo>
                    <a:pt x="31748" y="12039"/>
                  </a:lnTo>
                  <a:lnTo>
                    <a:pt x="35649" y="9433"/>
                  </a:lnTo>
                  <a:lnTo>
                    <a:pt x="66746" y="0"/>
                  </a:lnTo>
                  <a:lnTo>
                    <a:pt x="71437" y="0"/>
                  </a:lnTo>
                  <a:lnTo>
                    <a:pt x="5443536" y="0"/>
                  </a:lnTo>
                  <a:lnTo>
                    <a:pt x="5448227" y="0"/>
                  </a:lnTo>
                  <a:lnTo>
                    <a:pt x="5452872" y="457"/>
                  </a:lnTo>
                  <a:lnTo>
                    <a:pt x="5483224" y="12039"/>
                  </a:lnTo>
                  <a:lnTo>
                    <a:pt x="5487124" y="14645"/>
                  </a:lnTo>
                  <a:lnTo>
                    <a:pt x="5511330" y="48432"/>
                  </a:lnTo>
                  <a:lnTo>
                    <a:pt x="5513601" y="57500"/>
                  </a:lnTo>
                  <a:lnTo>
                    <a:pt x="5514516" y="62101"/>
                  </a:lnTo>
                  <a:lnTo>
                    <a:pt x="5514974" y="66746"/>
                  </a:lnTo>
                  <a:lnTo>
                    <a:pt x="5514974" y="71437"/>
                  </a:lnTo>
                  <a:lnTo>
                    <a:pt x="5514974" y="890587"/>
                  </a:lnTo>
                  <a:lnTo>
                    <a:pt x="5514974" y="895278"/>
                  </a:lnTo>
                  <a:lnTo>
                    <a:pt x="5514516" y="899923"/>
                  </a:lnTo>
                  <a:lnTo>
                    <a:pt x="5513601" y="904524"/>
                  </a:lnTo>
                  <a:lnTo>
                    <a:pt x="5512686" y="909124"/>
                  </a:lnTo>
                  <a:lnTo>
                    <a:pt x="5511330" y="913591"/>
                  </a:lnTo>
                  <a:lnTo>
                    <a:pt x="5509535" y="917925"/>
                  </a:lnTo>
                  <a:lnTo>
                    <a:pt x="5507740" y="922259"/>
                  </a:lnTo>
                  <a:lnTo>
                    <a:pt x="5494049" y="941101"/>
                  </a:lnTo>
                  <a:lnTo>
                    <a:pt x="5490733" y="944417"/>
                  </a:lnTo>
                  <a:lnTo>
                    <a:pt x="5487124" y="947379"/>
                  </a:lnTo>
                  <a:lnTo>
                    <a:pt x="5483224" y="949984"/>
                  </a:lnTo>
                  <a:lnTo>
                    <a:pt x="5479324" y="952591"/>
                  </a:lnTo>
                  <a:lnTo>
                    <a:pt x="5457472" y="960651"/>
                  </a:lnTo>
                  <a:lnTo>
                    <a:pt x="5452872" y="961566"/>
                  </a:lnTo>
                  <a:lnTo>
                    <a:pt x="5448227" y="962024"/>
                  </a:lnTo>
                  <a:lnTo>
                    <a:pt x="5443536" y="962024"/>
                  </a:lnTo>
                  <a:lnTo>
                    <a:pt x="71437" y="962024"/>
                  </a:lnTo>
                  <a:lnTo>
                    <a:pt x="66746" y="962024"/>
                  </a:lnTo>
                  <a:lnTo>
                    <a:pt x="62101" y="961566"/>
                  </a:lnTo>
                  <a:lnTo>
                    <a:pt x="57500" y="960651"/>
                  </a:lnTo>
                  <a:lnTo>
                    <a:pt x="52900" y="959737"/>
                  </a:lnTo>
                  <a:lnTo>
                    <a:pt x="48433" y="958382"/>
                  </a:lnTo>
                  <a:lnTo>
                    <a:pt x="44099" y="956586"/>
                  </a:lnTo>
                  <a:lnTo>
                    <a:pt x="39765" y="954792"/>
                  </a:lnTo>
                  <a:lnTo>
                    <a:pt x="35649" y="952591"/>
                  </a:lnTo>
                  <a:lnTo>
                    <a:pt x="31748" y="949985"/>
                  </a:lnTo>
                  <a:lnTo>
                    <a:pt x="27848" y="947379"/>
                  </a:lnTo>
                  <a:lnTo>
                    <a:pt x="24240" y="944417"/>
                  </a:lnTo>
                  <a:lnTo>
                    <a:pt x="20923" y="941101"/>
                  </a:lnTo>
                  <a:lnTo>
                    <a:pt x="17606" y="937784"/>
                  </a:lnTo>
                  <a:lnTo>
                    <a:pt x="14645" y="934175"/>
                  </a:lnTo>
                  <a:lnTo>
                    <a:pt x="12039" y="930275"/>
                  </a:lnTo>
                  <a:lnTo>
                    <a:pt x="9433" y="926375"/>
                  </a:lnTo>
                  <a:lnTo>
                    <a:pt x="7232" y="922259"/>
                  </a:lnTo>
                  <a:lnTo>
                    <a:pt x="5437" y="917925"/>
                  </a:lnTo>
                  <a:lnTo>
                    <a:pt x="3642" y="913591"/>
                  </a:lnTo>
                  <a:lnTo>
                    <a:pt x="2287" y="909124"/>
                  </a:lnTo>
                  <a:lnTo>
                    <a:pt x="1372" y="904524"/>
                  </a:lnTo>
                  <a:lnTo>
                    <a:pt x="457" y="899923"/>
                  </a:lnTo>
                  <a:lnTo>
                    <a:pt x="0" y="895278"/>
                  </a:lnTo>
                  <a:lnTo>
                    <a:pt x="0" y="890587"/>
                  </a:lnTo>
                </a:path>
              </a:pathLst>
            </a:custGeom>
            <a:ln w="9524">
              <a:solidFill>
                <a:srgbClr val="E4E7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676262" y="4886325"/>
              <a:ext cx="38100" cy="342900"/>
            </a:xfrm>
            <a:custGeom>
              <a:avLst/>
              <a:gdLst/>
              <a:ahLst/>
              <a:cxnLst/>
              <a:rect l="l" t="t" r="r" b="b"/>
              <a:pathLst>
                <a:path w="38100" h="342900">
                  <a:moveTo>
                    <a:pt x="38100" y="321335"/>
                  </a:moveTo>
                  <a:lnTo>
                    <a:pt x="21577" y="304800"/>
                  </a:lnTo>
                  <a:lnTo>
                    <a:pt x="16535" y="304800"/>
                  </a:lnTo>
                  <a:lnTo>
                    <a:pt x="0" y="321335"/>
                  </a:lnTo>
                  <a:lnTo>
                    <a:pt x="0" y="326377"/>
                  </a:lnTo>
                  <a:lnTo>
                    <a:pt x="16535" y="342900"/>
                  </a:lnTo>
                  <a:lnTo>
                    <a:pt x="21577" y="342900"/>
                  </a:lnTo>
                  <a:lnTo>
                    <a:pt x="38100" y="326377"/>
                  </a:lnTo>
                  <a:lnTo>
                    <a:pt x="38100" y="323850"/>
                  </a:lnTo>
                  <a:lnTo>
                    <a:pt x="38100" y="321335"/>
                  </a:lnTo>
                  <a:close/>
                </a:path>
                <a:path w="38100" h="342900">
                  <a:moveTo>
                    <a:pt x="38100" y="168935"/>
                  </a:moveTo>
                  <a:lnTo>
                    <a:pt x="21577" y="152400"/>
                  </a:lnTo>
                  <a:lnTo>
                    <a:pt x="16535" y="152400"/>
                  </a:lnTo>
                  <a:lnTo>
                    <a:pt x="0" y="168935"/>
                  </a:lnTo>
                  <a:lnTo>
                    <a:pt x="0" y="173977"/>
                  </a:lnTo>
                  <a:lnTo>
                    <a:pt x="16535" y="190500"/>
                  </a:lnTo>
                  <a:lnTo>
                    <a:pt x="21577" y="190500"/>
                  </a:lnTo>
                  <a:lnTo>
                    <a:pt x="38100" y="173977"/>
                  </a:lnTo>
                  <a:lnTo>
                    <a:pt x="38100" y="171450"/>
                  </a:lnTo>
                  <a:lnTo>
                    <a:pt x="38100" y="168935"/>
                  </a:lnTo>
                  <a:close/>
                </a:path>
                <a:path w="38100" h="342900">
                  <a:moveTo>
                    <a:pt x="38100" y="16535"/>
                  </a:moveTo>
                  <a:lnTo>
                    <a:pt x="21577" y="0"/>
                  </a:lnTo>
                  <a:lnTo>
                    <a:pt x="16535" y="0"/>
                  </a:lnTo>
                  <a:lnTo>
                    <a:pt x="0" y="16535"/>
                  </a:lnTo>
                  <a:lnTo>
                    <a:pt x="0" y="21577"/>
                  </a:lnTo>
                  <a:lnTo>
                    <a:pt x="16535" y="38100"/>
                  </a:lnTo>
                  <a:lnTo>
                    <a:pt x="21577" y="38100"/>
                  </a:lnTo>
                  <a:lnTo>
                    <a:pt x="38100" y="21577"/>
                  </a:lnTo>
                  <a:lnTo>
                    <a:pt x="38100" y="19050"/>
                  </a:lnTo>
                  <a:lnTo>
                    <a:pt x="38100" y="16535"/>
                  </a:lnTo>
                  <a:close/>
                </a:path>
              </a:pathLst>
            </a:custGeom>
            <a:solidFill>
              <a:srgbClr val="37405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" name="object 20" descr=""/>
          <p:cNvSpPr txBox="1"/>
          <p:nvPr/>
        </p:nvSpPr>
        <p:spPr>
          <a:xfrm>
            <a:off x="1016000" y="1139586"/>
            <a:ext cx="2207895" cy="2546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80" b="1">
                <a:solidFill>
                  <a:srgbClr val="1D40AF"/>
                </a:solidFill>
                <a:latin typeface="Roboto"/>
                <a:cs typeface="Roboto"/>
              </a:rPr>
              <a:t>IEEE</a:t>
            </a:r>
            <a:r>
              <a:rPr dirty="0" sz="1500" spc="-5" b="1">
                <a:solidFill>
                  <a:srgbClr val="1D40AF"/>
                </a:solidFill>
                <a:latin typeface="Roboto"/>
                <a:cs typeface="Roboto"/>
              </a:rPr>
              <a:t> </a:t>
            </a:r>
            <a:r>
              <a:rPr dirty="0" sz="1500" spc="-90" b="1">
                <a:solidFill>
                  <a:srgbClr val="1D40AF"/>
                </a:solidFill>
                <a:latin typeface="Roboto"/>
                <a:cs typeface="Roboto"/>
              </a:rPr>
              <a:t>33-</a:t>
            </a:r>
            <a:r>
              <a:rPr dirty="0" sz="1500" spc="-100" b="1">
                <a:solidFill>
                  <a:srgbClr val="1D40AF"/>
                </a:solidFill>
                <a:latin typeface="Roboto"/>
                <a:cs typeface="Roboto"/>
              </a:rPr>
              <a:t>Bus</a:t>
            </a:r>
            <a:r>
              <a:rPr dirty="0" sz="1500" b="1">
                <a:solidFill>
                  <a:srgbClr val="1D40AF"/>
                </a:solidFill>
                <a:latin typeface="Roboto"/>
                <a:cs typeface="Roboto"/>
              </a:rPr>
              <a:t> </a:t>
            </a:r>
            <a:r>
              <a:rPr dirty="0" sz="1500" spc="-95" b="1">
                <a:solidFill>
                  <a:srgbClr val="1D40AF"/>
                </a:solidFill>
                <a:latin typeface="Roboto"/>
                <a:cs typeface="Roboto"/>
              </a:rPr>
              <a:t>System</a:t>
            </a:r>
            <a:r>
              <a:rPr dirty="0" sz="1500" spc="-5" b="1">
                <a:solidFill>
                  <a:srgbClr val="1D40AF"/>
                </a:solidFill>
                <a:latin typeface="Roboto"/>
                <a:cs typeface="Roboto"/>
              </a:rPr>
              <a:t> </a:t>
            </a:r>
            <a:r>
              <a:rPr dirty="0" sz="1500" spc="-70" b="1">
                <a:solidFill>
                  <a:srgbClr val="1D40AF"/>
                </a:solidFill>
                <a:latin typeface="Roboto"/>
                <a:cs typeface="Roboto"/>
              </a:rPr>
              <a:t>Results</a:t>
            </a:r>
            <a:endParaRPr sz="1500">
              <a:latin typeface="Roboto"/>
              <a:cs typeface="Roboto"/>
            </a:endParaRPr>
          </a:p>
        </p:txBody>
      </p:sp>
      <p:sp>
        <p:nvSpPr>
          <p:cNvPr id="21" name="object 21" descr=""/>
          <p:cNvSpPr/>
          <p:nvPr/>
        </p:nvSpPr>
        <p:spPr>
          <a:xfrm>
            <a:off x="781049" y="1790699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21576" y="38099"/>
                </a:moveTo>
                <a:lnTo>
                  <a:pt x="16523" y="38099"/>
                </a:lnTo>
                <a:lnTo>
                  <a:pt x="14093" y="37616"/>
                </a:lnTo>
                <a:lnTo>
                  <a:pt x="0" y="21576"/>
                </a:lnTo>
                <a:lnTo>
                  <a:pt x="0" y="16523"/>
                </a:lnTo>
                <a:lnTo>
                  <a:pt x="16523" y="0"/>
                </a:lnTo>
                <a:lnTo>
                  <a:pt x="21576" y="0"/>
                </a:lnTo>
                <a:lnTo>
                  <a:pt x="38100" y="19049"/>
                </a:lnTo>
                <a:lnTo>
                  <a:pt x="38099" y="21576"/>
                </a:lnTo>
                <a:lnTo>
                  <a:pt x="21576" y="38099"/>
                </a:lnTo>
                <a:close/>
              </a:path>
            </a:pathLst>
          </a:custGeom>
          <a:solidFill>
            <a:srgbClr val="3740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 descr=""/>
          <p:cNvSpPr/>
          <p:nvPr/>
        </p:nvSpPr>
        <p:spPr>
          <a:xfrm>
            <a:off x="781049" y="1943099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21576" y="38099"/>
                </a:moveTo>
                <a:lnTo>
                  <a:pt x="16523" y="38099"/>
                </a:lnTo>
                <a:lnTo>
                  <a:pt x="14093" y="37616"/>
                </a:lnTo>
                <a:lnTo>
                  <a:pt x="0" y="21576"/>
                </a:lnTo>
                <a:lnTo>
                  <a:pt x="0" y="16523"/>
                </a:lnTo>
                <a:lnTo>
                  <a:pt x="16523" y="0"/>
                </a:lnTo>
                <a:lnTo>
                  <a:pt x="21576" y="0"/>
                </a:lnTo>
                <a:lnTo>
                  <a:pt x="38100" y="19049"/>
                </a:lnTo>
                <a:lnTo>
                  <a:pt x="38099" y="21576"/>
                </a:lnTo>
                <a:lnTo>
                  <a:pt x="21576" y="38099"/>
                </a:lnTo>
                <a:close/>
              </a:path>
            </a:pathLst>
          </a:custGeom>
          <a:solidFill>
            <a:srgbClr val="3740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 descr=""/>
          <p:cNvSpPr/>
          <p:nvPr/>
        </p:nvSpPr>
        <p:spPr>
          <a:xfrm>
            <a:off x="781049" y="2095499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21576" y="38099"/>
                </a:moveTo>
                <a:lnTo>
                  <a:pt x="16523" y="38099"/>
                </a:lnTo>
                <a:lnTo>
                  <a:pt x="14093" y="37616"/>
                </a:lnTo>
                <a:lnTo>
                  <a:pt x="0" y="21576"/>
                </a:lnTo>
                <a:lnTo>
                  <a:pt x="0" y="16523"/>
                </a:lnTo>
                <a:lnTo>
                  <a:pt x="16523" y="0"/>
                </a:lnTo>
                <a:lnTo>
                  <a:pt x="21576" y="0"/>
                </a:lnTo>
                <a:lnTo>
                  <a:pt x="38100" y="19049"/>
                </a:lnTo>
                <a:lnTo>
                  <a:pt x="38099" y="21576"/>
                </a:lnTo>
                <a:lnTo>
                  <a:pt x="21576" y="38099"/>
                </a:lnTo>
                <a:close/>
              </a:path>
            </a:pathLst>
          </a:custGeom>
          <a:solidFill>
            <a:srgbClr val="3740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 descr=""/>
          <p:cNvSpPr txBox="1"/>
          <p:nvPr/>
        </p:nvSpPr>
        <p:spPr>
          <a:xfrm>
            <a:off x="711199" y="1515297"/>
            <a:ext cx="1381760" cy="66611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150" spc="-35" b="1">
                <a:latin typeface="Roboto"/>
                <a:cs typeface="Roboto"/>
              </a:rPr>
              <a:t>Initial</a:t>
            </a:r>
            <a:r>
              <a:rPr dirty="0" sz="1150" spc="-30" b="1">
                <a:latin typeface="Roboto"/>
                <a:cs typeface="Roboto"/>
              </a:rPr>
              <a:t> </a:t>
            </a:r>
            <a:r>
              <a:rPr dirty="0" sz="1150" spc="-10" b="1">
                <a:latin typeface="Roboto"/>
                <a:cs typeface="Roboto"/>
              </a:rPr>
              <a:t>Condition</a:t>
            </a:r>
            <a:endParaRPr sz="1150">
              <a:latin typeface="Roboto"/>
              <a:cs typeface="Roboto"/>
            </a:endParaRPr>
          </a:p>
          <a:p>
            <a:pPr marL="202565" marR="5080">
              <a:lnSpc>
                <a:spcPct val="100000"/>
              </a:lnSpc>
              <a:spcBef>
                <a:spcPts val="45"/>
              </a:spcBef>
            </a:pPr>
            <a:r>
              <a:rPr dirty="0" sz="1000" spc="-60">
                <a:solidFill>
                  <a:srgbClr val="374050"/>
                </a:solidFill>
                <a:latin typeface="Roboto"/>
                <a:cs typeface="Roboto"/>
              </a:rPr>
              <a:t>Power</a:t>
            </a:r>
            <a:r>
              <a:rPr dirty="0" sz="1000" spc="-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000" spc="-50">
                <a:solidFill>
                  <a:srgbClr val="374050"/>
                </a:solidFill>
                <a:latin typeface="Roboto"/>
                <a:cs typeface="Roboto"/>
              </a:rPr>
              <a:t>Loss:</a:t>
            </a:r>
            <a:r>
              <a:rPr dirty="0" sz="100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000" spc="-55">
                <a:solidFill>
                  <a:srgbClr val="374050"/>
                </a:solidFill>
                <a:latin typeface="Roboto"/>
                <a:cs typeface="Roboto"/>
              </a:rPr>
              <a:t>202.7</a:t>
            </a:r>
            <a:r>
              <a:rPr dirty="0" sz="1000" spc="-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000" spc="-25">
                <a:solidFill>
                  <a:srgbClr val="374050"/>
                </a:solidFill>
                <a:latin typeface="Roboto"/>
                <a:cs typeface="Roboto"/>
              </a:rPr>
              <a:t>kW </a:t>
            </a:r>
            <a:r>
              <a:rPr dirty="0" sz="1000" spc="-65">
                <a:solidFill>
                  <a:srgbClr val="374050"/>
                </a:solidFill>
                <a:latin typeface="Roboto"/>
                <a:cs typeface="Roboto"/>
              </a:rPr>
              <a:t>Min</a:t>
            </a:r>
            <a:r>
              <a:rPr dirty="0" sz="1000" spc="-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000" spc="-50">
                <a:solidFill>
                  <a:srgbClr val="374050"/>
                </a:solidFill>
                <a:latin typeface="Roboto"/>
                <a:cs typeface="Roboto"/>
              </a:rPr>
              <a:t>Voltage:</a:t>
            </a:r>
            <a:r>
              <a:rPr dirty="0" sz="100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000" spc="-55">
                <a:solidFill>
                  <a:srgbClr val="374050"/>
                </a:solidFill>
                <a:latin typeface="Roboto"/>
                <a:cs typeface="Roboto"/>
              </a:rPr>
              <a:t>0.913</a:t>
            </a:r>
            <a:r>
              <a:rPr dirty="0" sz="1000" spc="-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000" spc="-55">
                <a:solidFill>
                  <a:srgbClr val="374050"/>
                </a:solidFill>
                <a:latin typeface="Roboto"/>
                <a:cs typeface="Roboto"/>
              </a:rPr>
              <a:t>p.u.</a:t>
            </a:r>
            <a:r>
              <a:rPr dirty="0" sz="1000" spc="50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000" spc="-55">
                <a:solidFill>
                  <a:srgbClr val="374050"/>
                </a:solidFill>
                <a:latin typeface="Roboto"/>
                <a:cs typeface="Roboto"/>
              </a:rPr>
              <a:t>Computation:</a:t>
            </a:r>
            <a:r>
              <a:rPr dirty="0" sz="1000" spc="1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000" spc="-25">
                <a:solidFill>
                  <a:srgbClr val="374050"/>
                </a:solidFill>
                <a:latin typeface="Roboto"/>
                <a:cs typeface="Roboto"/>
              </a:rPr>
              <a:t>N/A</a:t>
            </a:r>
            <a:endParaRPr sz="1000">
              <a:latin typeface="Roboto"/>
              <a:cs typeface="Roboto"/>
            </a:endParaRPr>
          </a:p>
        </p:txBody>
      </p:sp>
      <p:sp>
        <p:nvSpPr>
          <p:cNvPr id="25" name="object 25" descr=""/>
          <p:cNvSpPr/>
          <p:nvPr/>
        </p:nvSpPr>
        <p:spPr>
          <a:xfrm>
            <a:off x="3448049" y="1790699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21576" y="38099"/>
                </a:moveTo>
                <a:lnTo>
                  <a:pt x="16523" y="38099"/>
                </a:lnTo>
                <a:lnTo>
                  <a:pt x="14093" y="37616"/>
                </a:lnTo>
                <a:lnTo>
                  <a:pt x="0" y="21576"/>
                </a:lnTo>
                <a:lnTo>
                  <a:pt x="0" y="16523"/>
                </a:lnTo>
                <a:lnTo>
                  <a:pt x="16523" y="0"/>
                </a:lnTo>
                <a:lnTo>
                  <a:pt x="21576" y="0"/>
                </a:lnTo>
                <a:lnTo>
                  <a:pt x="38100" y="19049"/>
                </a:lnTo>
                <a:lnTo>
                  <a:pt x="38099" y="21576"/>
                </a:lnTo>
                <a:lnTo>
                  <a:pt x="21576" y="38099"/>
                </a:lnTo>
                <a:close/>
              </a:path>
            </a:pathLst>
          </a:custGeom>
          <a:solidFill>
            <a:srgbClr val="3740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 descr=""/>
          <p:cNvSpPr/>
          <p:nvPr/>
        </p:nvSpPr>
        <p:spPr>
          <a:xfrm>
            <a:off x="3448049" y="1943099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21576" y="38099"/>
                </a:moveTo>
                <a:lnTo>
                  <a:pt x="16523" y="38099"/>
                </a:lnTo>
                <a:lnTo>
                  <a:pt x="14093" y="37616"/>
                </a:lnTo>
                <a:lnTo>
                  <a:pt x="0" y="21576"/>
                </a:lnTo>
                <a:lnTo>
                  <a:pt x="0" y="16523"/>
                </a:lnTo>
                <a:lnTo>
                  <a:pt x="16523" y="0"/>
                </a:lnTo>
                <a:lnTo>
                  <a:pt x="21576" y="0"/>
                </a:lnTo>
                <a:lnTo>
                  <a:pt x="38100" y="19049"/>
                </a:lnTo>
                <a:lnTo>
                  <a:pt x="38099" y="21576"/>
                </a:lnTo>
                <a:lnTo>
                  <a:pt x="21576" y="38099"/>
                </a:lnTo>
                <a:close/>
              </a:path>
            </a:pathLst>
          </a:custGeom>
          <a:solidFill>
            <a:srgbClr val="3740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 descr=""/>
          <p:cNvSpPr/>
          <p:nvPr/>
        </p:nvSpPr>
        <p:spPr>
          <a:xfrm>
            <a:off x="3448049" y="2095499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21576" y="38099"/>
                </a:moveTo>
                <a:lnTo>
                  <a:pt x="16523" y="38099"/>
                </a:lnTo>
                <a:lnTo>
                  <a:pt x="14093" y="37616"/>
                </a:lnTo>
                <a:lnTo>
                  <a:pt x="0" y="21576"/>
                </a:lnTo>
                <a:lnTo>
                  <a:pt x="0" y="16523"/>
                </a:lnTo>
                <a:lnTo>
                  <a:pt x="16523" y="0"/>
                </a:lnTo>
                <a:lnTo>
                  <a:pt x="21576" y="0"/>
                </a:lnTo>
                <a:lnTo>
                  <a:pt x="38100" y="19049"/>
                </a:lnTo>
                <a:lnTo>
                  <a:pt x="38099" y="21576"/>
                </a:lnTo>
                <a:lnTo>
                  <a:pt x="21576" y="38099"/>
                </a:lnTo>
                <a:close/>
              </a:path>
            </a:pathLst>
          </a:custGeom>
          <a:solidFill>
            <a:srgbClr val="3740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 descr=""/>
          <p:cNvSpPr txBox="1"/>
          <p:nvPr/>
        </p:nvSpPr>
        <p:spPr>
          <a:xfrm>
            <a:off x="3378200" y="1515297"/>
            <a:ext cx="1812925" cy="66611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algn="just" marL="12700">
              <a:lnSpc>
                <a:spcPct val="100000"/>
              </a:lnSpc>
              <a:spcBef>
                <a:spcPts val="114"/>
              </a:spcBef>
            </a:pPr>
            <a:r>
              <a:rPr dirty="0" sz="1150" spc="-60" b="1">
                <a:latin typeface="Roboto"/>
                <a:cs typeface="Roboto"/>
              </a:rPr>
              <a:t>Hybrid</a:t>
            </a:r>
            <a:r>
              <a:rPr dirty="0" sz="1150" spc="20" b="1">
                <a:latin typeface="Roboto"/>
                <a:cs typeface="Roboto"/>
              </a:rPr>
              <a:t> </a:t>
            </a:r>
            <a:r>
              <a:rPr dirty="0" sz="1150" spc="-10" b="1">
                <a:latin typeface="Roboto"/>
                <a:cs typeface="Roboto"/>
              </a:rPr>
              <a:t>Framework</a:t>
            </a:r>
            <a:endParaRPr sz="1150">
              <a:latin typeface="Roboto"/>
              <a:cs typeface="Roboto"/>
            </a:endParaRPr>
          </a:p>
          <a:p>
            <a:pPr algn="just" marL="202565" marR="5080">
              <a:lnSpc>
                <a:spcPct val="100000"/>
              </a:lnSpc>
              <a:spcBef>
                <a:spcPts val="45"/>
              </a:spcBef>
            </a:pPr>
            <a:r>
              <a:rPr dirty="0" sz="1000" spc="-70">
                <a:solidFill>
                  <a:srgbClr val="374050"/>
                </a:solidFill>
                <a:latin typeface="Roboto"/>
                <a:cs typeface="Roboto"/>
              </a:rPr>
              <a:t>Power</a:t>
            </a:r>
            <a:r>
              <a:rPr dirty="0" sz="1000" spc="2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000" spc="-60">
                <a:solidFill>
                  <a:srgbClr val="374050"/>
                </a:solidFill>
                <a:latin typeface="Roboto"/>
                <a:cs typeface="Roboto"/>
              </a:rPr>
              <a:t>Loss:</a:t>
            </a:r>
            <a:r>
              <a:rPr dirty="0" sz="1000" spc="4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000" spc="-55">
                <a:solidFill>
                  <a:srgbClr val="374050"/>
                </a:solidFill>
                <a:latin typeface="Roboto"/>
                <a:cs typeface="Roboto"/>
              </a:rPr>
              <a:t>138.5</a:t>
            </a:r>
            <a:r>
              <a:rPr dirty="0" sz="1000" spc="3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000" spc="-110">
                <a:solidFill>
                  <a:srgbClr val="374050"/>
                </a:solidFill>
                <a:latin typeface="Roboto"/>
                <a:cs typeface="Roboto"/>
              </a:rPr>
              <a:t>kW</a:t>
            </a:r>
            <a:r>
              <a:rPr dirty="0" sz="1000" spc="4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000" spc="-50">
                <a:solidFill>
                  <a:srgbClr val="374050"/>
                </a:solidFill>
                <a:latin typeface="Roboto"/>
                <a:cs typeface="Roboto"/>
              </a:rPr>
              <a:t>(</a:t>
            </a:r>
            <a:r>
              <a:rPr dirty="0" sz="800" spc="-50">
                <a:solidFill>
                  <a:srgbClr val="374050"/>
                </a:solidFill>
                <a:latin typeface="Arial"/>
                <a:cs typeface="Arial"/>
              </a:rPr>
              <a:t>↓</a:t>
            </a:r>
            <a:r>
              <a:rPr dirty="0" sz="1000" spc="-50">
                <a:solidFill>
                  <a:srgbClr val="374050"/>
                </a:solidFill>
                <a:latin typeface="Roboto"/>
                <a:cs typeface="Roboto"/>
              </a:rPr>
              <a:t>31.7%)</a:t>
            </a:r>
            <a:r>
              <a:rPr dirty="0" sz="1000" spc="50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000" spc="-70">
                <a:solidFill>
                  <a:srgbClr val="374050"/>
                </a:solidFill>
                <a:latin typeface="Roboto"/>
                <a:cs typeface="Roboto"/>
              </a:rPr>
              <a:t>Min</a:t>
            </a:r>
            <a:r>
              <a:rPr dirty="0" sz="1000" spc="2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000" spc="-60">
                <a:solidFill>
                  <a:srgbClr val="374050"/>
                </a:solidFill>
                <a:latin typeface="Roboto"/>
                <a:cs typeface="Roboto"/>
              </a:rPr>
              <a:t>Voltage:</a:t>
            </a:r>
            <a:r>
              <a:rPr dirty="0" sz="1000" spc="2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000" spc="-55">
                <a:solidFill>
                  <a:srgbClr val="374050"/>
                </a:solidFill>
                <a:latin typeface="Roboto"/>
                <a:cs typeface="Roboto"/>
              </a:rPr>
              <a:t>0.937</a:t>
            </a:r>
            <a:r>
              <a:rPr dirty="0" sz="1000" spc="2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000" spc="-50">
                <a:solidFill>
                  <a:srgbClr val="374050"/>
                </a:solidFill>
                <a:latin typeface="Roboto"/>
                <a:cs typeface="Roboto"/>
              </a:rPr>
              <a:t>p.u.</a:t>
            </a:r>
            <a:r>
              <a:rPr dirty="0" sz="1000" spc="2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000" spc="-10">
                <a:solidFill>
                  <a:srgbClr val="374050"/>
                </a:solidFill>
                <a:latin typeface="Roboto"/>
                <a:cs typeface="Roboto"/>
              </a:rPr>
              <a:t>(</a:t>
            </a:r>
            <a:r>
              <a:rPr dirty="0" sz="800" spc="-10">
                <a:solidFill>
                  <a:srgbClr val="374050"/>
                </a:solidFill>
                <a:latin typeface="Arial"/>
                <a:cs typeface="Arial"/>
              </a:rPr>
              <a:t>↑</a:t>
            </a:r>
            <a:r>
              <a:rPr dirty="0" sz="1000" spc="-10">
                <a:solidFill>
                  <a:srgbClr val="374050"/>
                </a:solidFill>
                <a:latin typeface="Roboto"/>
                <a:cs typeface="Roboto"/>
              </a:rPr>
              <a:t>2.6%) </a:t>
            </a:r>
            <a:r>
              <a:rPr dirty="0" sz="1000" spc="-55">
                <a:solidFill>
                  <a:srgbClr val="374050"/>
                </a:solidFill>
                <a:latin typeface="Roboto"/>
                <a:cs typeface="Roboto"/>
              </a:rPr>
              <a:t>Computation:</a:t>
            </a:r>
            <a:r>
              <a:rPr dirty="0" sz="1000" spc="1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000" spc="-20">
                <a:solidFill>
                  <a:srgbClr val="374050"/>
                </a:solidFill>
                <a:latin typeface="Roboto"/>
                <a:cs typeface="Roboto"/>
              </a:rPr>
              <a:t>0.3s</a:t>
            </a:r>
            <a:endParaRPr sz="1000">
              <a:latin typeface="Roboto"/>
              <a:cs typeface="Roboto"/>
            </a:endParaRPr>
          </a:p>
        </p:txBody>
      </p:sp>
      <p:sp>
        <p:nvSpPr>
          <p:cNvPr id="29" name="object 29" descr=""/>
          <p:cNvSpPr txBox="1"/>
          <p:nvPr/>
        </p:nvSpPr>
        <p:spPr>
          <a:xfrm>
            <a:off x="711199" y="2231866"/>
            <a:ext cx="5152390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60">
                <a:solidFill>
                  <a:srgbClr val="4A5462"/>
                </a:solidFill>
                <a:latin typeface="Roboto"/>
                <a:cs typeface="Roboto"/>
              </a:rPr>
              <a:t>High</a:t>
            </a:r>
            <a:r>
              <a:rPr dirty="0" sz="1000" spc="-5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1000" spc="-75">
                <a:solidFill>
                  <a:srgbClr val="4A5462"/>
                </a:solidFill>
                <a:latin typeface="Roboto"/>
                <a:cs typeface="Roboto"/>
              </a:rPr>
              <a:t>PV</a:t>
            </a:r>
            <a:r>
              <a:rPr dirty="0" sz="1000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1000" spc="-50">
                <a:solidFill>
                  <a:srgbClr val="4A5462"/>
                </a:solidFill>
                <a:latin typeface="Roboto"/>
                <a:cs typeface="Roboto"/>
              </a:rPr>
              <a:t>(1.5</a:t>
            </a:r>
            <a:r>
              <a:rPr dirty="0" sz="1000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1000" spc="-80">
                <a:solidFill>
                  <a:srgbClr val="4A5462"/>
                </a:solidFill>
                <a:latin typeface="Roboto"/>
                <a:cs typeface="Roboto"/>
              </a:rPr>
              <a:t>MW)</a:t>
            </a:r>
            <a:r>
              <a:rPr dirty="0" sz="1000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1000" spc="-55">
                <a:solidFill>
                  <a:srgbClr val="4A5462"/>
                </a:solidFill>
                <a:latin typeface="Roboto"/>
                <a:cs typeface="Roboto"/>
              </a:rPr>
              <a:t>reconfiguration</a:t>
            </a:r>
            <a:r>
              <a:rPr dirty="0" sz="1000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1000" spc="-60">
                <a:solidFill>
                  <a:srgbClr val="4A5462"/>
                </a:solidFill>
                <a:latin typeface="Roboto"/>
                <a:cs typeface="Roboto"/>
              </a:rPr>
              <a:t>showed</a:t>
            </a:r>
            <a:r>
              <a:rPr dirty="0" sz="1000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1000" spc="-70">
                <a:solidFill>
                  <a:srgbClr val="4A5462"/>
                </a:solidFill>
                <a:latin typeface="Roboto"/>
                <a:cs typeface="Roboto"/>
              </a:rPr>
              <a:t>19%</a:t>
            </a:r>
            <a:r>
              <a:rPr dirty="0" sz="1000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1000" spc="-50">
                <a:solidFill>
                  <a:srgbClr val="4A5462"/>
                </a:solidFill>
                <a:latin typeface="Roboto"/>
                <a:cs typeface="Roboto"/>
              </a:rPr>
              <a:t>additional</a:t>
            </a:r>
            <a:r>
              <a:rPr dirty="0" sz="1000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1000" spc="-45">
                <a:solidFill>
                  <a:srgbClr val="4A5462"/>
                </a:solidFill>
                <a:latin typeface="Roboto"/>
                <a:cs typeface="Roboto"/>
              </a:rPr>
              <a:t>loss</a:t>
            </a:r>
            <a:r>
              <a:rPr dirty="0" sz="1000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1000" spc="-55">
                <a:solidFill>
                  <a:srgbClr val="4A5462"/>
                </a:solidFill>
                <a:latin typeface="Roboto"/>
                <a:cs typeface="Roboto"/>
              </a:rPr>
              <a:t>reduction</a:t>
            </a:r>
            <a:r>
              <a:rPr dirty="0" sz="1000" spc="-5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1000" spc="-60">
                <a:solidFill>
                  <a:srgbClr val="4A5462"/>
                </a:solidFill>
                <a:latin typeface="Roboto"/>
                <a:cs typeface="Roboto"/>
              </a:rPr>
              <a:t>compared</a:t>
            </a:r>
            <a:r>
              <a:rPr dirty="0" sz="1000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1000" spc="-55">
                <a:solidFill>
                  <a:srgbClr val="4A5462"/>
                </a:solidFill>
                <a:latin typeface="Roboto"/>
                <a:cs typeface="Roboto"/>
              </a:rPr>
              <a:t>to</a:t>
            </a:r>
            <a:r>
              <a:rPr dirty="0" sz="1000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1000" spc="-45">
                <a:solidFill>
                  <a:srgbClr val="4A5462"/>
                </a:solidFill>
                <a:latin typeface="Roboto"/>
                <a:cs typeface="Roboto"/>
              </a:rPr>
              <a:t>static</a:t>
            </a:r>
            <a:r>
              <a:rPr dirty="0" sz="1000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1000" spc="-40">
                <a:solidFill>
                  <a:srgbClr val="4A5462"/>
                </a:solidFill>
                <a:latin typeface="Roboto"/>
                <a:cs typeface="Roboto"/>
              </a:rPr>
              <a:t>topology.</a:t>
            </a:r>
            <a:endParaRPr sz="1000">
              <a:latin typeface="Roboto"/>
              <a:cs typeface="Roboto"/>
            </a:endParaRPr>
          </a:p>
        </p:txBody>
      </p:sp>
      <p:grpSp>
        <p:nvGrpSpPr>
          <p:cNvPr id="30" name="object 30" descr=""/>
          <p:cNvGrpSpPr/>
          <p:nvPr/>
        </p:nvGrpSpPr>
        <p:grpSpPr>
          <a:xfrm>
            <a:off x="647699" y="2714624"/>
            <a:ext cx="285750" cy="342900"/>
            <a:chOff x="647699" y="2714624"/>
            <a:chExt cx="285750" cy="342900"/>
          </a:xfrm>
        </p:grpSpPr>
        <p:sp>
          <p:nvSpPr>
            <p:cNvPr id="31" name="object 31" descr=""/>
            <p:cNvSpPr/>
            <p:nvPr/>
          </p:nvSpPr>
          <p:spPr>
            <a:xfrm>
              <a:off x="647699" y="2714624"/>
              <a:ext cx="285750" cy="342900"/>
            </a:xfrm>
            <a:custGeom>
              <a:avLst/>
              <a:gdLst/>
              <a:ahLst/>
              <a:cxnLst/>
              <a:rect l="l" t="t" r="r" b="b"/>
              <a:pathLst>
                <a:path w="285750" h="342900">
                  <a:moveTo>
                    <a:pt x="252702" y="342899"/>
                  </a:moveTo>
                  <a:lnTo>
                    <a:pt x="33047" y="342899"/>
                  </a:lnTo>
                  <a:lnTo>
                    <a:pt x="28187" y="341932"/>
                  </a:lnTo>
                  <a:lnTo>
                    <a:pt x="966" y="314711"/>
                  </a:lnTo>
                  <a:lnTo>
                    <a:pt x="0" y="309852"/>
                  </a:lnTo>
                  <a:lnTo>
                    <a:pt x="0" y="304799"/>
                  </a:lnTo>
                  <a:lnTo>
                    <a:pt x="0" y="33047"/>
                  </a:lnTo>
                  <a:lnTo>
                    <a:pt x="28187" y="966"/>
                  </a:lnTo>
                  <a:lnTo>
                    <a:pt x="33047" y="0"/>
                  </a:lnTo>
                  <a:lnTo>
                    <a:pt x="252702" y="0"/>
                  </a:lnTo>
                  <a:lnTo>
                    <a:pt x="284783" y="28187"/>
                  </a:lnTo>
                  <a:lnTo>
                    <a:pt x="285749" y="33047"/>
                  </a:lnTo>
                  <a:lnTo>
                    <a:pt x="285749" y="309852"/>
                  </a:lnTo>
                  <a:lnTo>
                    <a:pt x="257562" y="341932"/>
                  </a:lnTo>
                  <a:lnTo>
                    <a:pt x="252702" y="342899"/>
                  </a:lnTo>
                  <a:close/>
                </a:path>
              </a:pathLst>
            </a:custGeom>
            <a:solidFill>
              <a:srgbClr val="04956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2" name="object 32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04850" y="2809874"/>
              <a:ext cx="171449" cy="133349"/>
            </a:xfrm>
            <a:prstGeom prst="rect">
              <a:avLst/>
            </a:prstGeom>
          </p:spPr>
        </p:pic>
      </p:grpSp>
      <p:sp>
        <p:nvSpPr>
          <p:cNvPr id="33" name="object 33" descr=""/>
          <p:cNvSpPr txBox="1"/>
          <p:nvPr/>
        </p:nvSpPr>
        <p:spPr>
          <a:xfrm>
            <a:off x="1035050" y="2739786"/>
            <a:ext cx="2306320" cy="2546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80" b="1">
                <a:solidFill>
                  <a:srgbClr val="055E45"/>
                </a:solidFill>
                <a:latin typeface="Roboto"/>
                <a:cs typeface="Roboto"/>
              </a:rPr>
              <a:t>IEEE</a:t>
            </a:r>
            <a:r>
              <a:rPr dirty="0" sz="1500" spc="-5" b="1">
                <a:solidFill>
                  <a:srgbClr val="055E45"/>
                </a:solidFill>
                <a:latin typeface="Roboto"/>
                <a:cs typeface="Roboto"/>
              </a:rPr>
              <a:t> </a:t>
            </a:r>
            <a:r>
              <a:rPr dirty="0" sz="1500" spc="-90" b="1">
                <a:solidFill>
                  <a:srgbClr val="055E45"/>
                </a:solidFill>
                <a:latin typeface="Roboto"/>
                <a:cs typeface="Roboto"/>
              </a:rPr>
              <a:t>123-</a:t>
            </a:r>
            <a:r>
              <a:rPr dirty="0" sz="1500" spc="-100" b="1">
                <a:solidFill>
                  <a:srgbClr val="055E45"/>
                </a:solidFill>
                <a:latin typeface="Roboto"/>
                <a:cs typeface="Roboto"/>
              </a:rPr>
              <a:t>Bus</a:t>
            </a:r>
            <a:r>
              <a:rPr dirty="0" sz="1500" spc="-5" b="1">
                <a:solidFill>
                  <a:srgbClr val="055E45"/>
                </a:solidFill>
                <a:latin typeface="Roboto"/>
                <a:cs typeface="Roboto"/>
              </a:rPr>
              <a:t> </a:t>
            </a:r>
            <a:r>
              <a:rPr dirty="0" sz="1500" spc="-95" b="1">
                <a:solidFill>
                  <a:srgbClr val="055E45"/>
                </a:solidFill>
                <a:latin typeface="Roboto"/>
                <a:cs typeface="Roboto"/>
              </a:rPr>
              <a:t>System</a:t>
            </a:r>
            <a:r>
              <a:rPr dirty="0" sz="1500" spc="-5" b="1">
                <a:solidFill>
                  <a:srgbClr val="055E45"/>
                </a:solidFill>
                <a:latin typeface="Roboto"/>
                <a:cs typeface="Roboto"/>
              </a:rPr>
              <a:t> </a:t>
            </a:r>
            <a:r>
              <a:rPr dirty="0" sz="1500" spc="-70" b="1">
                <a:solidFill>
                  <a:srgbClr val="055E45"/>
                </a:solidFill>
                <a:latin typeface="Roboto"/>
                <a:cs typeface="Roboto"/>
              </a:rPr>
              <a:t>Results</a:t>
            </a:r>
            <a:endParaRPr sz="1500">
              <a:latin typeface="Roboto"/>
              <a:cs typeface="Roboto"/>
            </a:endParaRPr>
          </a:p>
        </p:txBody>
      </p:sp>
      <p:sp>
        <p:nvSpPr>
          <p:cNvPr id="34" name="object 34" descr=""/>
          <p:cNvSpPr/>
          <p:nvPr/>
        </p:nvSpPr>
        <p:spPr>
          <a:xfrm>
            <a:off x="781049" y="3390899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21576" y="38099"/>
                </a:moveTo>
                <a:lnTo>
                  <a:pt x="16523" y="38099"/>
                </a:lnTo>
                <a:lnTo>
                  <a:pt x="14093" y="37616"/>
                </a:lnTo>
                <a:lnTo>
                  <a:pt x="0" y="21576"/>
                </a:lnTo>
                <a:lnTo>
                  <a:pt x="0" y="16523"/>
                </a:lnTo>
                <a:lnTo>
                  <a:pt x="16523" y="0"/>
                </a:lnTo>
                <a:lnTo>
                  <a:pt x="21576" y="0"/>
                </a:lnTo>
                <a:lnTo>
                  <a:pt x="38100" y="19049"/>
                </a:lnTo>
                <a:lnTo>
                  <a:pt x="38099" y="21576"/>
                </a:lnTo>
                <a:lnTo>
                  <a:pt x="21576" y="38099"/>
                </a:lnTo>
                <a:close/>
              </a:path>
            </a:pathLst>
          </a:custGeom>
          <a:solidFill>
            <a:srgbClr val="3740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 descr=""/>
          <p:cNvSpPr/>
          <p:nvPr/>
        </p:nvSpPr>
        <p:spPr>
          <a:xfrm>
            <a:off x="781049" y="3543299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21576" y="38099"/>
                </a:moveTo>
                <a:lnTo>
                  <a:pt x="16523" y="38099"/>
                </a:lnTo>
                <a:lnTo>
                  <a:pt x="14093" y="37616"/>
                </a:lnTo>
                <a:lnTo>
                  <a:pt x="0" y="21575"/>
                </a:lnTo>
                <a:lnTo>
                  <a:pt x="0" y="16523"/>
                </a:lnTo>
                <a:lnTo>
                  <a:pt x="16523" y="0"/>
                </a:lnTo>
                <a:lnTo>
                  <a:pt x="21576" y="0"/>
                </a:lnTo>
                <a:lnTo>
                  <a:pt x="38100" y="19049"/>
                </a:lnTo>
                <a:lnTo>
                  <a:pt x="38099" y="21575"/>
                </a:lnTo>
                <a:lnTo>
                  <a:pt x="21576" y="38099"/>
                </a:lnTo>
                <a:close/>
              </a:path>
            </a:pathLst>
          </a:custGeom>
          <a:solidFill>
            <a:srgbClr val="3740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 descr=""/>
          <p:cNvSpPr/>
          <p:nvPr/>
        </p:nvSpPr>
        <p:spPr>
          <a:xfrm>
            <a:off x="781049" y="3695699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21576" y="38099"/>
                </a:moveTo>
                <a:lnTo>
                  <a:pt x="16523" y="38099"/>
                </a:lnTo>
                <a:lnTo>
                  <a:pt x="14093" y="37616"/>
                </a:lnTo>
                <a:lnTo>
                  <a:pt x="0" y="21576"/>
                </a:lnTo>
                <a:lnTo>
                  <a:pt x="0" y="16523"/>
                </a:lnTo>
                <a:lnTo>
                  <a:pt x="16523" y="0"/>
                </a:lnTo>
                <a:lnTo>
                  <a:pt x="21576" y="0"/>
                </a:lnTo>
                <a:lnTo>
                  <a:pt x="38100" y="19049"/>
                </a:lnTo>
                <a:lnTo>
                  <a:pt x="38099" y="21576"/>
                </a:lnTo>
                <a:lnTo>
                  <a:pt x="21576" y="38099"/>
                </a:lnTo>
                <a:close/>
              </a:path>
            </a:pathLst>
          </a:custGeom>
          <a:solidFill>
            <a:srgbClr val="3740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 descr=""/>
          <p:cNvSpPr txBox="1"/>
          <p:nvPr/>
        </p:nvSpPr>
        <p:spPr>
          <a:xfrm>
            <a:off x="711199" y="3115497"/>
            <a:ext cx="1390650" cy="66611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150" spc="-35" b="1">
                <a:latin typeface="Roboto"/>
                <a:cs typeface="Roboto"/>
              </a:rPr>
              <a:t>Initial</a:t>
            </a:r>
            <a:r>
              <a:rPr dirty="0" sz="1150" spc="-30" b="1">
                <a:latin typeface="Roboto"/>
                <a:cs typeface="Roboto"/>
              </a:rPr>
              <a:t> </a:t>
            </a:r>
            <a:r>
              <a:rPr dirty="0" sz="1150" spc="-10" b="1">
                <a:latin typeface="Roboto"/>
                <a:cs typeface="Roboto"/>
              </a:rPr>
              <a:t>Condition</a:t>
            </a:r>
            <a:endParaRPr sz="1150">
              <a:latin typeface="Roboto"/>
              <a:cs typeface="Roboto"/>
            </a:endParaRPr>
          </a:p>
          <a:p>
            <a:pPr marL="202565" marR="5080">
              <a:lnSpc>
                <a:spcPct val="100000"/>
              </a:lnSpc>
              <a:spcBef>
                <a:spcPts val="45"/>
              </a:spcBef>
            </a:pPr>
            <a:r>
              <a:rPr dirty="0" sz="1000" spc="-60">
                <a:solidFill>
                  <a:srgbClr val="374050"/>
                </a:solidFill>
                <a:latin typeface="Roboto"/>
                <a:cs typeface="Roboto"/>
              </a:rPr>
              <a:t>Power</a:t>
            </a:r>
            <a:r>
              <a:rPr dirty="0" sz="1000" spc="-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000" spc="-50">
                <a:solidFill>
                  <a:srgbClr val="374050"/>
                </a:solidFill>
                <a:latin typeface="Roboto"/>
                <a:cs typeface="Roboto"/>
              </a:rPr>
              <a:t>Loss:</a:t>
            </a:r>
            <a:r>
              <a:rPr dirty="0" sz="1000" spc="-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000" spc="-55">
                <a:solidFill>
                  <a:srgbClr val="374050"/>
                </a:solidFill>
                <a:latin typeface="Roboto"/>
                <a:cs typeface="Roboto"/>
              </a:rPr>
              <a:t>97.6</a:t>
            </a:r>
            <a:r>
              <a:rPr dirty="0" sz="1000" spc="-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000" spc="-25">
                <a:solidFill>
                  <a:srgbClr val="374050"/>
                </a:solidFill>
                <a:latin typeface="Roboto"/>
                <a:cs typeface="Roboto"/>
              </a:rPr>
              <a:t>kW </a:t>
            </a:r>
            <a:r>
              <a:rPr dirty="0" sz="1000" spc="-65">
                <a:solidFill>
                  <a:srgbClr val="374050"/>
                </a:solidFill>
                <a:latin typeface="Roboto"/>
                <a:cs typeface="Roboto"/>
              </a:rPr>
              <a:t>Phase</a:t>
            </a:r>
            <a:r>
              <a:rPr dirty="0" sz="1000" spc="2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000" spc="-55">
                <a:solidFill>
                  <a:srgbClr val="374050"/>
                </a:solidFill>
                <a:latin typeface="Roboto"/>
                <a:cs typeface="Roboto"/>
              </a:rPr>
              <a:t>Imbalance:</a:t>
            </a:r>
            <a:r>
              <a:rPr dirty="0" sz="1000" spc="2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000" spc="-65">
                <a:solidFill>
                  <a:srgbClr val="374050"/>
                </a:solidFill>
                <a:latin typeface="Roboto"/>
                <a:cs typeface="Roboto"/>
              </a:rPr>
              <a:t>8.3%</a:t>
            </a:r>
            <a:r>
              <a:rPr dirty="0" sz="1000" spc="50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000" spc="-55">
                <a:solidFill>
                  <a:srgbClr val="374050"/>
                </a:solidFill>
                <a:latin typeface="Roboto"/>
                <a:cs typeface="Roboto"/>
              </a:rPr>
              <a:t>Computation:</a:t>
            </a:r>
            <a:r>
              <a:rPr dirty="0" sz="1000" spc="1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000" spc="-25">
                <a:solidFill>
                  <a:srgbClr val="374050"/>
                </a:solidFill>
                <a:latin typeface="Roboto"/>
                <a:cs typeface="Roboto"/>
              </a:rPr>
              <a:t>N/A</a:t>
            </a:r>
            <a:endParaRPr sz="1000">
              <a:latin typeface="Roboto"/>
              <a:cs typeface="Roboto"/>
            </a:endParaRPr>
          </a:p>
        </p:txBody>
      </p:sp>
      <p:sp>
        <p:nvSpPr>
          <p:cNvPr id="38" name="object 38" descr=""/>
          <p:cNvSpPr/>
          <p:nvPr/>
        </p:nvSpPr>
        <p:spPr>
          <a:xfrm>
            <a:off x="3448049" y="3390899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21576" y="38099"/>
                </a:moveTo>
                <a:lnTo>
                  <a:pt x="16523" y="38099"/>
                </a:lnTo>
                <a:lnTo>
                  <a:pt x="14093" y="37616"/>
                </a:lnTo>
                <a:lnTo>
                  <a:pt x="0" y="21576"/>
                </a:lnTo>
                <a:lnTo>
                  <a:pt x="0" y="16523"/>
                </a:lnTo>
                <a:lnTo>
                  <a:pt x="16523" y="0"/>
                </a:lnTo>
                <a:lnTo>
                  <a:pt x="21576" y="0"/>
                </a:lnTo>
                <a:lnTo>
                  <a:pt x="38100" y="19049"/>
                </a:lnTo>
                <a:lnTo>
                  <a:pt x="38099" y="21576"/>
                </a:lnTo>
                <a:lnTo>
                  <a:pt x="21576" y="38099"/>
                </a:lnTo>
                <a:close/>
              </a:path>
            </a:pathLst>
          </a:custGeom>
          <a:solidFill>
            <a:srgbClr val="3740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object 39" descr=""/>
          <p:cNvSpPr/>
          <p:nvPr/>
        </p:nvSpPr>
        <p:spPr>
          <a:xfrm>
            <a:off x="3448049" y="3543299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21576" y="38099"/>
                </a:moveTo>
                <a:lnTo>
                  <a:pt x="16523" y="38099"/>
                </a:lnTo>
                <a:lnTo>
                  <a:pt x="14093" y="37616"/>
                </a:lnTo>
                <a:lnTo>
                  <a:pt x="0" y="21575"/>
                </a:lnTo>
                <a:lnTo>
                  <a:pt x="0" y="16523"/>
                </a:lnTo>
                <a:lnTo>
                  <a:pt x="16523" y="0"/>
                </a:lnTo>
                <a:lnTo>
                  <a:pt x="21576" y="0"/>
                </a:lnTo>
                <a:lnTo>
                  <a:pt x="38100" y="19049"/>
                </a:lnTo>
                <a:lnTo>
                  <a:pt x="38099" y="21575"/>
                </a:lnTo>
                <a:lnTo>
                  <a:pt x="21576" y="38099"/>
                </a:lnTo>
                <a:close/>
              </a:path>
            </a:pathLst>
          </a:custGeom>
          <a:solidFill>
            <a:srgbClr val="3740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 descr=""/>
          <p:cNvSpPr/>
          <p:nvPr/>
        </p:nvSpPr>
        <p:spPr>
          <a:xfrm>
            <a:off x="3448049" y="3695699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21576" y="38099"/>
                </a:moveTo>
                <a:lnTo>
                  <a:pt x="16523" y="38099"/>
                </a:lnTo>
                <a:lnTo>
                  <a:pt x="14093" y="37616"/>
                </a:lnTo>
                <a:lnTo>
                  <a:pt x="0" y="21576"/>
                </a:lnTo>
                <a:lnTo>
                  <a:pt x="0" y="16523"/>
                </a:lnTo>
                <a:lnTo>
                  <a:pt x="16523" y="0"/>
                </a:lnTo>
                <a:lnTo>
                  <a:pt x="21576" y="0"/>
                </a:lnTo>
                <a:lnTo>
                  <a:pt x="38100" y="19049"/>
                </a:lnTo>
                <a:lnTo>
                  <a:pt x="38099" y="21576"/>
                </a:lnTo>
                <a:lnTo>
                  <a:pt x="21576" y="38099"/>
                </a:lnTo>
                <a:close/>
              </a:path>
            </a:pathLst>
          </a:custGeom>
          <a:solidFill>
            <a:srgbClr val="3740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object 41" descr=""/>
          <p:cNvSpPr txBox="1"/>
          <p:nvPr/>
        </p:nvSpPr>
        <p:spPr>
          <a:xfrm>
            <a:off x="3378200" y="3115497"/>
            <a:ext cx="1861820" cy="66611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150" spc="-60" b="1">
                <a:latin typeface="Roboto"/>
                <a:cs typeface="Roboto"/>
              </a:rPr>
              <a:t>Hybrid</a:t>
            </a:r>
            <a:r>
              <a:rPr dirty="0" sz="1150" spc="20" b="1">
                <a:latin typeface="Roboto"/>
                <a:cs typeface="Roboto"/>
              </a:rPr>
              <a:t> </a:t>
            </a:r>
            <a:r>
              <a:rPr dirty="0" sz="1150" spc="-10" b="1">
                <a:latin typeface="Roboto"/>
                <a:cs typeface="Roboto"/>
              </a:rPr>
              <a:t>Framework</a:t>
            </a:r>
            <a:endParaRPr sz="1150">
              <a:latin typeface="Roboto"/>
              <a:cs typeface="Roboto"/>
            </a:endParaRPr>
          </a:p>
          <a:p>
            <a:pPr marL="202565" marR="5080">
              <a:lnSpc>
                <a:spcPct val="100000"/>
              </a:lnSpc>
              <a:spcBef>
                <a:spcPts val="45"/>
              </a:spcBef>
            </a:pPr>
            <a:r>
              <a:rPr dirty="0" sz="1000" spc="-60">
                <a:solidFill>
                  <a:srgbClr val="374050"/>
                </a:solidFill>
                <a:latin typeface="Roboto"/>
                <a:cs typeface="Roboto"/>
              </a:rPr>
              <a:t>Power</a:t>
            </a:r>
            <a:r>
              <a:rPr dirty="0" sz="1000" spc="-1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000" spc="-50">
                <a:solidFill>
                  <a:srgbClr val="374050"/>
                </a:solidFill>
                <a:latin typeface="Roboto"/>
                <a:cs typeface="Roboto"/>
              </a:rPr>
              <a:t>Loss:</a:t>
            </a:r>
            <a:r>
              <a:rPr dirty="0" sz="1000" spc="-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000" spc="-55">
                <a:solidFill>
                  <a:srgbClr val="374050"/>
                </a:solidFill>
                <a:latin typeface="Roboto"/>
                <a:cs typeface="Roboto"/>
              </a:rPr>
              <a:t>68.2</a:t>
            </a:r>
            <a:r>
              <a:rPr dirty="0" sz="1000" spc="-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000" spc="-80">
                <a:solidFill>
                  <a:srgbClr val="374050"/>
                </a:solidFill>
                <a:latin typeface="Roboto"/>
                <a:cs typeface="Roboto"/>
              </a:rPr>
              <a:t>kW</a:t>
            </a:r>
            <a:r>
              <a:rPr dirty="0" sz="1000" spc="-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000" spc="-10">
                <a:solidFill>
                  <a:srgbClr val="374050"/>
                </a:solidFill>
                <a:latin typeface="Roboto"/>
                <a:cs typeface="Roboto"/>
              </a:rPr>
              <a:t>(</a:t>
            </a:r>
            <a:r>
              <a:rPr dirty="0" sz="800" spc="-10">
                <a:solidFill>
                  <a:srgbClr val="374050"/>
                </a:solidFill>
                <a:latin typeface="Arial"/>
                <a:cs typeface="Arial"/>
              </a:rPr>
              <a:t>↓</a:t>
            </a:r>
            <a:r>
              <a:rPr dirty="0" sz="1000" spc="-10">
                <a:solidFill>
                  <a:srgbClr val="374050"/>
                </a:solidFill>
                <a:latin typeface="Roboto"/>
                <a:cs typeface="Roboto"/>
              </a:rPr>
              <a:t>30.1%) </a:t>
            </a:r>
            <a:r>
              <a:rPr dirty="0" sz="1000" spc="-65">
                <a:solidFill>
                  <a:srgbClr val="374050"/>
                </a:solidFill>
                <a:latin typeface="Roboto"/>
                <a:cs typeface="Roboto"/>
              </a:rPr>
              <a:t>Phase</a:t>
            </a:r>
            <a:r>
              <a:rPr dirty="0" sz="1000" spc="1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000" spc="-55">
                <a:solidFill>
                  <a:srgbClr val="374050"/>
                </a:solidFill>
                <a:latin typeface="Roboto"/>
                <a:cs typeface="Roboto"/>
              </a:rPr>
              <a:t>Imbalance:</a:t>
            </a:r>
            <a:r>
              <a:rPr dirty="0" sz="1000" spc="1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000" spc="-60">
                <a:solidFill>
                  <a:srgbClr val="374050"/>
                </a:solidFill>
                <a:latin typeface="Roboto"/>
                <a:cs typeface="Roboto"/>
              </a:rPr>
              <a:t>4.2%</a:t>
            </a:r>
            <a:r>
              <a:rPr dirty="0" sz="1000" spc="2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000" spc="-45">
                <a:solidFill>
                  <a:srgbClr val="374050"/>
                </a:solidFill>
                <a:latin typeface="Roboto"/>
                <a:cs typeface="Roboto"/>
              </a:rPr>
              <a:t>(</a:t>
            </a:r>
            <a:r>
              <a:rPr dirty="0" sz="800" spc="-45">
                <a:solidFill>
                  <a:srgbClr val="374050"/>
                </a:solidFill>
                <a:latin typeface="Arial"/>
                <a:cs typeface="Arial"/>
              </a:rPr>
              <a:t>↓</a:t>
            </a:r>
            <a:r>
              <a:rPr dirty="0" sz="1000" spc="-45">
                <a:solidFill>
                  <a:srgbClr val="374050"/>
                </a:solidFill>
                <a:latin typeface="Roboto"/>
                <a:cs typeface="Roboto"/>
              </a:rPr>
              <a:t>49.4%) </a:t>
            </a:r>
            <a:r>
              <a:rPr dirty="0" sz="1000" spc="-55">
                <a:solidFill>
                  <a:srgbClr val="374050"/>
                </a:solidFill>
                <a:latin typeface="Roboto"/>
                <a:cs typeface="Roboto"/>
              </a:rPr>
              <a:t>Computation:</a:t>
            </a:r>
            <a:r>
              <a:rPr dirty="0" sz="1000" spc="1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000" spc="-20">
                <a:solidFill>
                  <a:srgbClr val="374050"/>
                </a:solidFill>
                <a:latin typeface="Roboto"/>
                <a:cs typeface="Roboto"/>
              </a:rPr>
              <a:t>0.8s</a:t>
            </a:r>
            <a:endParaRPr sz="1000">
              <a:latin typeface="Roboto"/>
              <a:cs typeface="Roboto"/>
            </a:endParaRPr>
          </a:p>
        </p:txBody>
      </p:sp>
      <p:sp>
        <p:nvSpPr>
          <p:cNvPr id="42" name="object 42" descr=""/>
          <p:cNvSpPr txBox="1"/>
          <p:nvPr/>
        </p:nvSpPr>
        <p:spPr>
          <a:xfrm>
            <a:off x="711199" y="3832066"/>
            <a:ext cx="500507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000" spc="-70">
                <a:solidFill>
                  <a:srgbClr val="4A5462"/>
                </a:solidFill>
                <a:latin typeface="Roboto"/>
                <a:cs typeface="Roboto"/>
              </a:rPr>
              <a:t>RL</a:t>
            </a:r>
            <a:r>
              <a:rPr dirty="0" sz="1000" spc="5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1000" spc="-55">
                <a:solidFill>
                  <a:srgbClr val="4A5462"/>
                </a:solidFill>
                <a:latin typeface="Roboto"/>
                <a:cs typeface="Roboto"/>
              </a:rPr>
              <a:t>agents</a:t>
            </a:r>
            <a:r>
              <a:rPr dirty="0" sz="1000" spc="10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1000" spc="-50">
                <a:solidFill>
                  <a:srgbClr val="4A5462"/>
                </a:solidFill>
                <a:latin typeface="Roboto"/>
                <a:cs typeface="Roboto"/>
              </a:rPr>
              <a:t>successfully</a:t>
            </a:r>
            <a:r>
              <a:rPr dirty="0" sz="1000" spc="10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1000" spc="-55">
                <a:solidFill>
                  <a:srgbClr val="4A5462"/>
                </a:solidFill>
                <a:latin typeface="Roboto"/>
                <a:cs typeface="Roboto"/>
              </a:rPr>
              <a:t>handled</a:t>
            </a:r>
            <a:r>
              <a:rPr dirty="0" sz="1000" spc="10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1000" spc="-60">
                <a:solidFill>
                  <a:srgbClr val="4A5462"/>
                </a:solidFill>
                <a:latin typeface="Roboto"/>
                <a:cs typeface="Roboto"/>
              </a:rPr>
              <a:t>unbalanced</a:t>
            </a:r>
            <a:r>
              <a:rPr dirty="0" sz="1000" spc="5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1000" spc="-50">
                <a:solidFill>
                  <a:srgbClr val="4A5462"/>
                </a:solidFill>
                <a:latin typeface="Roboto"/>
                <a:cs typeface="Roboto"/>
              </a:rPr>
              <a:t>3-</a:t>
            </a:r>
            <a:r>
              <a:rPr dirty="0" sz="1000" spc="-65">
                <a:solidFill>
                  <a:srgbClr val="4A5462"/>
                </a:solidFill>
                <a:latin typeface="Roboto"/>
                <a:cs typeface="Roboto"/>
              </a:rPr>
              <a:t>phase</a:t>
            </a:r>
            <a:r>
              <a:rPr dirty="0" sz="1000" spc="10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1000" spc="-65">
                <a:solidFill>
                  <a:srgbClr val="4A5462"/>
                </a:solidFill>
                <a:latin typeface="Roboto"/>
                <a:cs typeface="Roboto"/>
              </a:rPr>
              <a:t>model</a:t>
            </a:r>
            <a:r>
              <a:rPr dirty="0" sz="1000" spc="10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1000" spc="-55">
                <a:solidFill>
                  <a:srgbClr val="4A5462"/>
                </a:solidFill>
                <a:latin typeface="Roboto"/>
                <a:cs typeface="Roboto"/>
              </a:rPr>
              <a:t>with</a:t>
            </a:r>
            <a:r>
              <a:rPr dirty="0" sz="1000" spc="10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1000" spc="-50">
                <a:solidFill>
                  <a:srgbClr val="4A5462"/>
                </a:solidFill>
                <a:latin typeface="Roboto"/>
                <a:cs typeface="Roboto"/>
              </a:rPr>
              <a:t>adaptability</a:t>
            </a:r>
            <a:r>
              <a:rPr dirty="0" sz="1000" spc="5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1000" spc="-55">
                <a:solidFill>
                  <a:srgbClr val="4A5462"/>
                </a:solidFill>
                <a:latin typeface="Roboto"/>
                <a:cs typeface="Roboto"/>
              </a:rPr>
              <a:t>to</a:t>
            </a:r>
            <a:r>
              <a:rPr dirty="0" sz="1000" spc="10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1000" spc="-55">
                <a:solidFill>
                  <a:srgbClr val="4A5462"/>
                </a:solidFill>
                <a:latin typeface="Roboto"/>
                <a:cs typeface="Roboto"/>
              </a:rPr>
              <a:t>reverse</a:t>
            </a:r>
            <a:r>
              <a:rPr dirty="0" sz="1000" spc="10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1000" spc="-55">
                <a:solidFill>
                  <a:srgbClr val="4A5462"/>
                </a:solidFill>
                <a:latin typeface="Roboto"/>
                <a:cs typeface="Roboto"/>
              </a:rPr>
              <a:t>power</a:t>
            </a:r>
            <a:r>
              <a:rPr dirty="0" sz="1000" spc="10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1000" spc="-30">
                <a:solidFill>
                  <a:srgbClr val="4A5462"/>
                </a:solidFill>
                <a:latin typeface="Roboto"/>
                <a:cs typeface="Roboto"/>
              </a:rPr>
              <a:t>flow </a:t>
            </a:r>
            <a:r>
              <a:rPr dirty="0" sz="1000" spc="-10">
                <a:solidFill>
                  <a:srgbClr val="4A5462"/>
                </a:solidFill>
                <a:latin typeface="Roboto"/>
                <a:cs typeface="Roboto"/>
              </a:rPr>
              <a:t>scenarios.</a:t>
            </a:r>
            <a:endParaRPr sz="1000">
              <a:latin typeface="Roboto"/>
              <a:cs typeface="Roboto"/>
            </a:endParaRPr>
          </a:p>
        </p:txBody>
      </p:sp>
      <p:sp>
        <p:nvSpPr>
          <p:cNvPr id="43" name="object 43" descr=""/>
          <p:cNvSpPr txBox="1"/>
          <p:nvPr/>
        </p:nvSpPr>
        <p:spPr>
          <a:xfrm>
            <a:off x="568325" y="4455286"/>
            <a:ext cx="4336415" cy="821690"/>
          </a:xfrm>
          <a:prstGeom prst="rect">
            <a:avLst/>
          </a:prstGeom>
        </p:spPr>
        <p:txBody>
          <a:bodyPr wrap="square" lIns="0" tIns="946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45"/>
              </a:spcBef>
            </a:pPr>
            <a:r>
              <a:rPr dirty="0" sz="1300" spc="-45" b="1">
                <a:solidFill>
                  <a:srgbClr val="1F2937"/>
                </a:solidFill>
                <a:latin typeface="Roboto"/>
                <a:cs typeface="Roboto"/>
              </a:rPr>
              <a:t>Scalability</a:t>
            </a:r>
            <a:r>
              <a:rPr dirty="0" sz="1300" spc="-20" b="1">
                <a:solidFill>
                  <a:srgbClr val="1F2937"/>
                </a:solidFill>
                <a:latin typeface="Roboto"/>
                <a:cs typeface="Roboto"/>
              </a:rPr>
              <a:t> </a:t>
            </a:r>
            <a:r>
              <a:rPr dirty="0" sz="1300" spc="-70" b="1">
                <a:solidFill>
                  <a:srgbClr val="1F2937"/>
                </a:solidFill>
                <a:latin typeface="Roboto"/>
                <a:cs typeface="Roboto"/>
              </a:rPr>
              <a:t>&amp;</a:t>
            </a:r>
            <a:r>
              <a:rPr dirty="0" sz="1300" spc="-15" b="1">
                <a:solidFill>
                  <a:srgbClr val="1F2937"/>
                </a:solidFill>
                <a:latin typeface="Roboto"/>
                <a:cs typeface="Roboto"/>
              </a:rPr>
              <a:t> </a:t>
            </a:r>
            <a:r>
              <a:rPr dirty="0" sz="1300" spc="-10" b="1">
                <a:solidFill>
                  <a:srgbClr val="1F2937"/>
                </a:solidFill>
                <a:latin typeface="Roboto"/>
                <a:cs typeface="Roboto"/>
              </a:rPr>
              <a:t>Robustness</a:t>
            </a:r>
            <a:endParaRPr sz="1300">
              <a:latin typeface="Roboto"/>
              <a:cs typeface="Roboto"/>
            </a:endParaRPr>
          </a:p>
          <a:p>
            <a:pPr marL="240665" marR="5080">
              <a:lnSpc>
                <a:spcPct val="100000"/>
              </a:lnSpc>
              <a:spcBef>
                <a:spcPts val="464"/>
              </a:spcBef>
            </a:pPr>
            <a:r>
              <a:rPr dirty="0" sz="1000" spc="-70">
                <a:solidFill>
                  <a:srgbClr val="374050"/>
                </a:solidFill>
                <a:latin typeface="Roboto"/>
                <a:cs typeface="Roboto"/>
              </a:rPr>
              <a:t>RL</a:t>
            </a:r>
            <a:r>
              <a:rPr dirty="0" sz="1000" spc="-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000" spc="-50">
                <a:solidFill>
                  <a:srgbClr val="374050"/>
                </a:solidFill>
                <a:latin typeface="Roboto"/>
                <a:cs typeface="Roboto"/>
              </a:rPr>
              <a:t>training</a:t>
            </a:r>
            <a:r>
              <a:rPr dirty="0" sz="100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000" spc="-50">
                <a:solidFill>
                  <a:srgbClr val="374050"/>
                </a:solidFill>
                <a:latin typeface="Roboto"/>
                <a:cs typeface="Roboto"/>
              </a:rPr>
              <a:t>time</a:t>
            </a:r>
            <a:r>
              <a:rPr dirty="0" sz="100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000" spc="-50">
                <a:solidFill>
                  <a:srgbClr val="374050"/>
                </a:solidFill>
                <a:latin typeface="Roboto"/>
                <a:cs typeface="Roboto"/>
              </a:rPr>
              <a:t>scales</a:t>
            </a:r>
            <a:r>
              <a:rPr dirty="0" sz="100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000" spc="-55">
                <a:solidFill>
                  <a:srgbClr val="374050"/>
                </a:solidFill>
                <a:latin typeface="Roboto"/>
                <a:cs typeface="Roboto"/>
              </a:rPr>
              <a:t>with</a:t>
            </a:r>
            <a:r>
              <a:rPr dirty="0" sz="100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000" spc="-60">
                <a:solidFill>
                  <a:srgbClr val="374050"/>
                </a:solidFill>
                <a:latin typeface="Roboto"/>
                <a:cs typeface="Roboto"/>
              </a:rPr>
              <a:t>O(n)</a:t>
            </a:r>
            <a:r>
              <a:rPr dirty="0" sz="100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000" spc="-45">
                <a:solidFill>
                  <a:srgbClr val="374050"/>
                </a:solidFill>
                <a:latin typeface="Roboto"/>
                <a:cs typeface="Roboto"/>
              </a:rPr>
              <a:t>for</a:t>
            </a:r>
            <a:r>
              <a:rPr dirty="0" sz="1000" spc="-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000" spc="-60">
                <a:solidFill>
                  <a:srgbClr val="374050"/>
                </a:solidFill>
                <a:latin typeface="Roboto"/>
                <a:cs typeface="Roboto"/>
              </a:rPr>
              <a:t>switch</a:t>
            </a:r>
            <a:r>
              <a:rPr dirty="0" sz="100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000" spc="-65">
                <a:solidFill>
                  <a:srgbClr val="374050"/>
                </a:solidFill>
                <a:latin typeface="Roboto"/>
                <a:cs typeface="Roboto"/>
              </a:rPr>
              <a:t>count</a:t>
            </a:r>
            <a:r>
              <a:rPr dirty="0" sz="100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000" spc="-50">
                <a:solidFill>
                  <a:srgbClr val="374050"/>
                </a:solidFill>
                <a:latin typeface="Roboto"/>
                <a:cs typeface="Roboto"/>
              </a:rPr>
              <a:t>vs.</a:t>
            </a:r>
            <a:r>
              <a:rPr dirty="0" sz="100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000" spc="-25">
                <a:solidFill>
                  <a:srgbClr val="374050"/>
                </a:solidFill>
                <a:latin typeface="Roboto"/>
                <a:cs typeface="Roboto"/>
              </a:rPr>
              <a:t>O(2</a:t>
            </a:r>
            <a:r>
              <a:rPr dirty="0" sz="850" spc="-25">
                <a:solidFill>
                  <a:srgbClr val="374050"/>
                </a:solidFill>
                <a:latin typeface="Arial"/>
                <a:cs typeface="Arial"/>
              </a:rPr>
              <a:t>ⁿ</a:t>
            </a:r>
            <a:r>
              <a:rPr dirty="0" sz="1000" spc="-25">
                <a:solidFill>
                  <a:srgbClr val="374050"/>
                </a:solidFill>
                <a:latin typeface="Roboto"/>
                <a:cs typeface="Roboto"/>
              </a:rPr>
              <a:t>)</a:t>
            </a:r>
            <a:r>
              <a:rPr dirty="0" sz="100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000" spc="-45">
                <a:solidFill>
                  <a:srgbClr val="374050"/>
                </a:solidFill>
                <a:latin typeface="Roboto"/>
                <a:cs typeface="Roboto"/>
              </a:rPr>
              <a:t>for</a:t>
            </a:r>
            <a:r>
              <a:rPr dirty="0" sz="100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000" spc="-55">
                <a:solidFill>
                  <a:srgbClr val="374050"/>
                </a:solidFill>
                <a:latin typeface="Roboto"/>
                <a:cs typeface="Roboto"/>
              </a:rPr>
              <a:t>exhaustive</a:t>
            </a:r>
            <a:r>
              <a:rPr dirty="0" sz="1000" spc="-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000" spc="-40">
                <a:solidFill>
                  <a:srgbClr val="374050"/>
                </a:solidFill>
                <a:latin typeface="Roboto"/>
                <a:cs typeface="Roboto"/>
              </a:rPr>
              <a:t>search </a:t>
            </a:r>
            <a:r>
              <a:rPr dirty="0" sz="1000" spc="-50">
                <a:solidFill>
                  <a:srgbClr val="374050"/>
                </a:solidFill>
                <a:latin typeface="Roboto"/>
                <a:cs typeface="Roboto"/>
              </a:rPr>
              <a:t>Decision</a:t>
            </a:r>
            <a:r>
              <a:rPr dirty="0" sz="1000" spc="-1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000" spc="-50">
                <a:solidFill>
                  <a:srgbClr val="374050"/>
                </a:solidFill>
                <a:latin typeface="Roboto"/>
                <a:cs typeface="Roboto"/>
              </a:rPr>
              <a:t>time</a:t>
            </a:r>
            <a:r>
              <a:rPr dirty="0" sz="1000" spc="-1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000" spc="-55">
                <a:solidFill>
                  <a:srgbClr val="374050"/>
                </a:solidFill>
                <a:latin typeface="Roboto"/>
                <a:cs typeface="Roboto"/>
              </a:rPr>
              <a:t>remains</a:t>
            </a:r>
            <a:r>
              <a:rPr dirty="0" sz="1000" spc="-1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000" spc="-55">
                <a:solidFill>
                  <a:srgbClr val="374050"/>
                </a:solidFill>
                <a:latin typeface="Roboto"/>
                <a:cs typeface="Roboto"/>
              </a:rPr>
              <a:t>constant</a:t>
            </a:r>
            <a:r>
              <a:rPr dirty="0" sz="1000" spc="-1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000" spc="-55">
                <a:solidFill>
                  <a:srgbClr val="374050"/>
                </a:solidFill>
                <a:latin typeface="Roboto"/>
                <a:cs typeface="Roboto"/>
              </a:rPr>
              <a:t>(&lt;100ms)</a:t>
            </a:r>
            <a:r>
              <a:rPr dirty="0" sz="1000" spc="-1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000" spc="-50">
                <a:solidFill>
                  <a:srgbClr val="374050"/>
                </a:solidFill>
                <a:latin typeface="Roboto"/>
                <a:cs typeface="Roboto"/>
              </a:rPr>
              <a:t>regardless</a:t>
            </a:r>
            <a:r>
              <a:rPr dirty="0" sz="1000" spc="-1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000" spc="-50">
                <a:solidFill>
                  <a:srgbClr val="374050"/>
                </a:solidFill>
                <a:latin typeface="Roboto"/>
                <a:cs typeface="Roboto"/>
              </a:rPr>
              <a:t>of</a:t>
            </a:r>
            <a:r>
              <a:rPr dirty="0" sz="1000" spc="-1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000" spc="-55">
                <a:solidFill>
                  <a:srgbClr val="374050"/>
                </a:solidFill>
                <a:latin typeface="Roboto"/>
                <a:cs typeface="Roboto"/>
              </a:rPr>
              <a:t>system</a:t>
            </a:r>
            <a:r>
              <a:rPr dirty="0" sz="1000" spc="-1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000" spc="-20">
                <a:solidFill>
                  <a:srgbClr val="374050"/>
                </a:solidFill>
                <a:latin typeface="Roboto"/>
                <a:cs typeface="Roboto"/>
              </a:rPr>
              <a:t>size</a:t>
            </a:r>
            <a:endParaRPr sz="1000">
              <a:latin typeface="Roboto"/>
              <a:cs typeface="Roboto"/>
            </a:endParaRPr>
          </a:p>
          <a:p>
            <a:pPr marL="240665">
              <a:lnSpc>
                <a:spcPct val="100000"/>
              </a:lnSpc>
            </a:pPr>
            <a:r>
              <a:rPr dirty="0" sz="1000" spc="-60">
                <a:solidFill>
                  <a:srgbClr val="374050"/>
                </a:solidFill>
                <a:latin typeface="Roboto"/>
                <a:cs typeface="Roboto"/>
              </a:rPr>
              <a:t>Framework</a:t>
            </a:r>
            <a:r>
              <a:rPr dirty="0" sz="100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000" spc="-55">
                <a:solidFill>
                  <a:srgbClr val="374050"/>
                </a:solidFill>
                <a:latin typeface="Roboto"/>
                <a:cs typeface="Roboto"/>
              </a:rPr>
              <a:t>maintains</a:t>
            </a:r>
            <a:r>
              <a:rPr dirty="0" sz="1000" spc="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000" spc="-70">
                <a:solidFill>
                  <a:srgbClr val="374050"/>
                </a:solidFill>
                <a:latin typeface="Roboto"/>
                <a:cs typeface="Roboto"/>
              </a:rPr>
              <a:t>95%</a:t>
            </a:r>
            <a:r>
              <a:rPr dirty="0" sz="100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000" spc="-50">
                <a:solidFill>
                  <a:srgbClr val="374050"/>
                </a:solidFill>
                <a:latin typeface="Roboto"/>
                <a:cs typeface="Roboto"/>
              </a:rPr>
              <a:t>optimality</a:t>
            </a:r>
            <a:r>
              <a:rPr dirty="0" sz="1000" spc="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000" spc="-55">
                <a:solidFill>
                  <a:srgbClr val="374050"/>
                </a:solidFill>
                <a:latin typeface="Roboto"/>
                <a:cs typeface="Roboto"/>
              </a:rPr>
              <a:t>under</a:t>
            </a:r>
            <a:r>
              <a:rPr dirty="0" sz="100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000" spc="-55">
                <a:solidFill>
                  <a:srgbClr val="374050"/>
                </a:solidFill>
                <a:latin typeface="Roboto"/>
                <a:cs typeface="Roboto"/>
              </a:rPr>
              <a:t>extreme</a:t>
            </a:r>
            <a:r>
              <a:rPr dirty="0" sz="1000" spc="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000" spc="-55">
                <a:solidFill>
                  <a:srgbClr val="374050"/>
                </a:solidFill>
                <a:latin typeface="Roboto"/>
                <a:cs typeface="Roboto"/>
              </a:rPr>
              <a:t>renewable</a:t>
            </a:r>
            <a:r>
              <a:rPr dirty="0" sz="100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000" spc="-10">
                <a:solidFill>
                  <a:srgbClr val="374050"/>
                </a:solidFill>
                <a:latin typeface="Roboto"/>
                <a:cs typeface="Roboto"/>
              </a:rPr>
              <a:t>fluctuations</a:t>
            </a:r>
            <a:endParaRPr sz="1000">
              <a:latin typeface="Roboto"/>
              <a:cs typeface="Roboto"/>
            </a:endParaRPr>
          </a:p>
        </p:txBody>
      </p:sp>
      <p:grpSp>
        <p:nvGrpSpPr>
          <p:cNvPr id="44" name="object 44" descr=""/>
          <p:cNvGrpSpPr/>
          <p:nvPr/>
        </p:nvGrpSpPr>
        <p:grpSpPr>
          <a:xfrm>
            <a:off x="6210299" y="5133974"/>
            <a:ext cx="5524500" cy="1085850"/>
            <a:chOff x="6210299" y="5133974"/>
            <a:chExt cx="5524500" cy="1085850"/>
          </a:xfrm>
        </p:grpSpPr>
        <p:sp>
          <p:nvSpPr>
            <p:cNvPr id="45" name="object 45" descr=""/>
            <p:cNvSpPr/>
            <p:nvPr/>
          </p:nvSpPr>
          <p:spPr>
            <a:xfrm>
              <a:off x="6215061" y="5138736"/>
              <a:ext cx="5514975" cy="1076325"/>
            </a:xfrm>
            <a:custGeom>
              <a:avLst/>
              <a:gdLst/>
              <a:ahLst/>
              <a:cxnLst/>
              <a:rect l="l" t="t" r="r" b="b"/>
              <a:pathLst>
                <a:path w="5514975" h="1076325">
                  <a:moveTo>
                    <a:pt x="5448227" y="1076324"/>
                  </a:moveTo>
                  <a:lnTo>
                    <a:pt x="66746" y="1076324"/>
                  </a:lnTo>
                  <a:lnTo>
                    <a:pt x="62100" y="1075867"/>
                  </a:lnTo>
                  <a:lnTo>
                    <a:pt x="24239" y="1058717"/>
                  </a:lnTo>
                  <a:lnTo>
                    <a:pt x="2287" y="1023424"/>
                  </a:lnTo>
                  <a:lnTo>
                    <a:pt x="0" y="1009578"/>
                  </a:lnTo>
                  <a:lnTo>
                    <a:pt x="0" y="1004887"/>
                  </a:lnTo>
                  <a:lnTo>
                    <a:pt x="0" y="66746"/>
                  </a:lnTo>
                  <a:lnTo>
                    <a:pt x="14644" y="27848"/>
                  </a:lnTo>
                  <a:lnTo>
                    <a:pt x="48432" y="3642"/>
                  </a:lnTo>
                  <a:lnTo>
                    <a:pt x="66746" y="0"/>
                  </a:lnTo>
                  <a:lnTo>
                    <a:pt x="5448227" y="0"/>
                  </a:lnTo>
                  <a:lnTo>
                    <a:pt x="5487124" y="14645"/>
                  </a:lnTo>
                  <a:lnTo>
                    <a:pt x="5511330" y="48433"/>
                  </a:lnTo>
                  <a:lnTo>
                    <a:pt x="5514973" y="66746"/>
                  </a:lnTo>
                  <a:lnTo>
                    <a:pt x="5514973" y="1009578"/>
                  </a:lnTo>
                  <a:lnTo>
                    <a:pt x="5500327" y="1048475"/>
                  </a:lnTo>
                  <a:lnTo>
                    <a:pt x="5466540" y="1072680"/>
                  </a:lnTo>
                  <a:lnTo>
                    <a:pt x="5452872" y="1075867"/>
                  </a:lnTo>
                  <a:lnTo>
                    <a:pt x="5448227" y="1076324"/>
                  </a:lnTo>
                  <a:close/>
                </a:path>
              </a:pathLst>
            </a:custGeom>
            <a:solidFill>
              <a:srgbClr val="F9FA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 descr=""/>
            <p:cNvSpPr/>
            <p:nvPr/>
          </p:nvSpPr>
          <p:spPr>
            <a:xfrm>
              <a:off x="6215061" y="5138736"/>
              <a:ext cx="5514975" cy="1076325"/>
            </a:xfrm>
            <a:custGeom>
              <a:avLst/>
              <a:gdLst/>
              <a:ahLst/>
              <a:cxnLst/>
              <a:rect l="l" t="t" r="r" b="b"/>
              <a:pathLst>
                <a:path w="5514975" h="1076325">
                  <a:moveTo>
                    <a:pt x="0" y="1004887"/>
                  </a:moveTo>
                  <a:lnTo>
                    <a:pt x="0" y="71437"/>
                  </a:lnTo>
                  <a:lnTo>
                    <a:pt x="0" y="66746"/>
                  </a:lnTo>
                  <a:lnTo>
                    <a:pt x="457" y="62100"/>
                  </a:lnTo>
                  <a:lnTo>
                    <a:pt x="1372" y="57500"/>
                  </a:lnTo>
                  <a:lnTo>
                    <a:pt x="2287" y="52900"/>
                  </a:lnTo>
                  <a:lnTo>
                    <a:pt x="3642" y="48433"/>
                  </a:lnTo>
                  <a:lnTo>
                    <a:pt x="5436" y="44099"/>
                  </a:lnTo>
                  <a:lnTo>
                    <a:pt x="7232" y="39765"/>
                  </a:lnTo>
                  <a:lnTo>
                    <a:pt x="9432" y="35649"/>
                  </a:lnTo>
                  <a:lnTo>
                    <a:pt x="12038" y="31749"/>
                  </a:lnTo>
                  <a:lnTo>
                    <a:pt x="14644" y="27848"/>
                  </a:lnTo>
                  <a:lnTo>
                    <a:pt x="17605" y="24239"/>
                  </a:lnTo>
                  <a:lnTo>
                    <a:pt x="20923" y="20923"/>
                  </a:lnTo>
                  <a:lnTo>
                    <a:pt x="24239" y="17606"/>
                  </a:lnTo>
                  <a:lnTo>
                    <a:pt x="27848" y="14645"/>
                  </a:lnTo>
                  <a:lnTo>
                    <a:pt x="31748" y="12038"/>
                  </a:lnTo>
                  <a:lnTo>
                    <a:pt x="35648" y="9432"/>
                  </a:lnTo>
                  <a:lnTo>
                    <a:pt x="39764" y="7232"/>
                  </a:lnTo>
                  <a:lnTo>
                    <a:pt x="44099" y="5437"/>
                  </a:lnTo>
                  <a:lnTo>
                    <a:pt x="48432" y="3642"/>
                  </a:lnTo>
                  <a:lnTo>
                    <a:pt x="52899" y="2287"/>
                  </a:lnTo>
                  <a:lnTo>
                    <a:pt x="57500" y="1372"/>
                  </a:lnTo>
                  <a:lnTo>
                    <a:pt x="62100" y="457"/>
                  </a:lnTo>
                  <a:lnTo>
                    <a:pt x="66746" y="0"/>
                  </a:lnTo>
                  <a:lnTo>
                    <a:pt x="71437" y="0"/>
                  </a:lnTo>
                  <a:lnTo>
                    <a:pt x="5443536" y="0"/>
                  </a:lnTo>
                  <a:lnTo>
                    <a:pt x="5448227" y="0"/>
                  </a:lnTo>
                  <a:lnTo>
                    <a:pt x="5452872" y="457"/>
                  </a:lnTo>
                  <a:lnTo>
                    <a:pt x="5457473" y="1372"/>
                  </a:lnTo>
                  <a:lnTo>
                    <a:pt x="5462074" y="2287"/>
                  </a:lnTo>
                  <a:lnTo>
                    <a:pt x="5497366" y="24239"/>
                  </a:lnTo>
                  <a:lnTo>
                    <a:pt x="5513601" y="57500"/>
                  </a:lnTo>
                  <a:lnTo>
                    <a:pt x="5514516" y="62100"/>
                  </a:lnTo>
                  <a:lnTo>
                    <a:pt x="5514973" y="66746"/>
                  </a:lnTo>
                  <a:lnTo>
                    <a:pt x="5514974" y="71437"/>
                  </a:lnTo>
                  <a:lnTo>
                    <a:pt x="5514974" y="1004887"/>
                  </a:lnTo>
                  <a:lnTo>
                    <a:pt x="5514973" y="1009578"/>
                  </a:lnTo>
                  <a:lnTo>
                    <a:pt x="5514516" y="1014223"/>
                  </a:lnTo>
                  <a:lnTo>
                    <a:pt x="5513601" y="1018824"/>
                  </a:lnTo>
                  <a:lnTo>
                    <a:pt x="5512686" y="1023424"/>
                  </a:lnTo>
                  <a:lnTo>
                    <a:pt x="5490732" y="1058717"/>
                  </a:lnTo>
                  <a:lnTo>
                    <a:pt x="5457473" y="1074951"/>
                  </a:lnTo>
                  <a:lnTo>
                    <a:pt x="5452872" y="1075867"/>
                  </a:lnTo>
                  <a:lnTo>
                    <a:pt x="5448227" y="1076324"/>
                  </a:lnTo>
                  <a:lnTo>
                    <a:pt x="5443536" y="1076324"/>
                  </a:lnTo>
                  <a:lnTo>
                    <a:pt x="71437" y="1076324"/>
                  </a:lnTo>
                  <a:lnTo>
                    <a:pt x="66746" y="1076324"/>
                  </a:lnTo>
                  <a:lnTo>
                    <a:pt x="62100" y="1075867"/>
                  </a:lnTo>
                  <a:lnTo>
                    <a:pt x="57500" y="1074951"/>
                  </a:lnTo>
                  <a:lnTo>
                    <a:pt x="52899" y="1074036"/>
                  </a:lnTo>
                  <a:lnTo>
                    <a:pt x="20923" y="1055401"/>
                  </a:lnTo>
                  <a:lnTo>
                    <a:pt x="17605" y="1052084"/>
                  </a:lnTo>
                  <a:lnTo>
                    <a:pt x="14644" y="1048475"/>
                  </a:lnTo>
                  <a:lnTo>
                    <a:pt x="12038" y="1044575"/>
                  </a:lnTo>
                  <a:lnTo>
                    <a:pt x="9432" y="1040675"/>
                  </a:lnTo>
                  <a:lnTo>
                    <a:pt x="1372" y="1018824"/>
                  </a:lnTo>
                  <a:lnTo>
                    <a:pt x="457" y="1014223"/>
                  </a:lnTo>
                  <a:lnTo>
                    <a:pt x="0" y="1009578"/>
                  </a:lnTo>
                  <a:lnTo>
                    <a:pt x="0" y="1004887"/>
                  </a:lnTo>
                </a:path>
              </a:pathLst>
            </a:custGeom>
            <a:ln w="9524">
              <a:solidFill>
                <a:srgbClr val="E4E7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 descr=""/>
            <p:cNvSpPr/>
            <p:nvPr/>
          </p:nvSpPr>
          <p:spPr>
            <a:xfrm>
              <a:off x="6391262" y="5553074"/>
              <a:ext cx="2619375" cy="38100"/>
            </a:xfrm>
            <a:custGeom>
              <a:avLst/>
              <a:gdLst/>
              <a:ahLst/>
              <a:cxnLst/>
              <a:rect l="l" t="t" r="r" b="b"/>
              <a:pathLst>
                <a:path w="2619375" h="38100">
                  <a:moveTo>
                    <a:pt x="38100" y="16522"/>
                  </a:moveTo>
                  <a:lnTo>
                    <a:pt x="21577" y="0"/>
                  </a:lnTo>
                  <a:lnTo>
                    <a:pt x="16522" y="0"/>
                  </a:lnTo>
                  <a:lnTo>
                    <a:pt x="0" y="16522"/>
                  </a:lnTo>
                  <a:lnTo>
                    <a:pt x="0" y="21577"/>
                  </a:lnTo>
                  <a:lnTo>
                    <a:pt x="16522" y="38100"/>
                  </a:lnTo>
                  <a:lnTo>
                    <a:pt x="21577" y="38100"/>
                  </a:lnTo>
                  <a:lnTo>
                    <a:pt x="38100" y="21577"/>
                  </a:lnTo>
                  <a:lnTo>
                    <a:pt x="38100" y="19050"/>
                  </a:lnTo>
                  <a:lnTo>
                    <a:pt x="38100" y="16522"/>
                  </a:lnTo>
                  <a:close/>
                </a:path>
                <a:path w="2619375" h="38100">
                  <a:moveTo>
                    <a:pt x="2619375" y="16522"/>
                  </a:moveTo>
                  <a:lnTo>
                    <a:pt x="2602852" y="0"/>
                  </a:lnTo>
                  <a:lnTo>
                    <a:pt x="2597797" y="0"/>
                  </a:lnTo>
                  <a:lnTo>
                    <a:pt x="2581275" y="16522"/>
                  </a:lnTo>
                  <a:lnTo>
                    <a:pt x="2581275" y="21577"/>
                  </a:lnTo>
                  <a:lnTo>
                    <a:pt x="2597797" y="38100"/>
                  </a:lnTo>
                  <a:lnTo>
                    <a:pt x="2602852" y="38100"/>
                  </a:lnTo>
                  <a:lnTo>
                    <a:pt x="2619375" y="21577"/>
                  </a:lnTo>
                  <a:lnTo>
                    <a:pt x="2619375" y="19050"/>
                  </a:lnTo>
                  <a:lnTo>
                    <a:pt x="2619375" y="16522"/>
                  </a:lnTo>
                  <a:close/>
                </a:path>
              </a:pathLst>
            </a:custGeom>
            <a:solidFill>
              <a:srgbClr val="37405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8" name="object 48" descr=""/>
          <p:cNvSpPr txBox="1"/>
          <p:nvPr/>
        </p:nvSpPr>
        <p:spPr>
          <a:xfrm>
            <a:off x="6197599" y="1063386"/>
            <a:ext cx="2748915" cy="2546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90" b="1">
                <a:solidFill>
                  <a:srgbClr val="1F2937"/>
                </a:solidFill>
                <a:latin typeface="Roboto"/>
                <a:cs typeface="Roboto"/>
              </a:rPr>
              <a:t>Comparative</a:t>
            </a:r>
            <a:r>
              <a:rPr dirty="0" sz="1500" spc="-5" b="1">
                <a:solidFill>
                  <a:srgbClr val="1F2937"/>
                </a:solidFill>
                <a:latin typeface="Roboto"/>
                <a:cs typeface="Roboto"/>
              </a:rPr>
              <a:t> </a:t>
            </a:r>
            <a:r>
              <a:rPr dirty="0" sz="1500" spc="-85" b="1">
                <a:solidFill>
                  <a:srgbClr val="1F2937"/>
                </a:solidFill>
                <a:latin typeface="Roboto"/>
                <a:cs typeface="Roboto"/>
              </a:rPr>
              <a:t>Performance</a:t>
            </a:r>
            <a:r>
              <a:rPr dirty="0" sz="1500" b="1">
                <a:solidFill>
                  <a:srgbClr val="1F2937"/>
                </a:solidFill>
                <a:latin typeface="Roboto"/>
                <a:cs typeface="Roboto"/>
              </a:rPr>
              <a:t> </a:t>
            </a:r>
            <a:r>
              <a:rPr dirty="0" sz="1500" spc="-70" b="1">
                <a:solidFill>
                  <a:srgbClr val="1F2937"/>
                </a:solidFill>
                <a:latin typeface="Roboto"/>
                <a:cs typeface="Roboto"/>
              </a:rPr>
              <a:t>Analysis</a:t>
            </a:r>
            <a:endParaRPr sz="1500">
              <a:latin typeface="Roboto"/>
              <a:cs typeface="Roboto"/>
            </a:endParaRPr>
          </a:p>
        </p:txBody>
      </p:sp>
      <p:pic>
        <p:nvPicPr>
          <p:cNvPr id="49" name="object 49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210300" y="1457325"/>
            <a:ext cx="5524499" cy="2133599"/>
          </a:xfrm>
          <a:prstGeom prst="rect">
            <a:avLst/>
          </a:prstGeom>
        </p:spPr>
      </p:pic>
      <p:grpSp>
        <p:nvGrpSpPr>
          <p:cNvPr id="50" name="object 50" descr=""/>
          <p:cNvGrpSpPr/>
          <p:nvPr/>
        </p:nvGrpSpPr>
        <p:grpSpPr>
          <a:xfrm>
            <a:off x="6210299" y="3743324"/>
            <a:ext cx="2686050" cy="1238250"/>
            <a:chOff x="6210299" y="3743324"/>
            <a:chExt cx="2686050" cy="1238250"/>
          </a:xfrm>
        </p:grpSpPr>
        <p:sp>
          <p:nvSpPr>
            <p:cNvPr id="51" name="object 51" descr=""/>
            <p:cNvSpPr/>
            <p:nvPr/>
          </p:nvSpPr>
          <p:spPr>
            <a:xfrm>
              <a:off x="6215061" y="3748087"/>
              <a:ext cx="2676525" cy="1228725"/>
            </a:xfrm>
            <a:custGeom>
              <a:avLst/>
              <a:gdLst/>
              <a:ahLst/>
              <a:cxnLst/>
              <a:rect l="l" t="t" r="r" b="b"/>
              <a:pathLst>
                <a:path w="2676525" h="1228725">
                  <a:moveTo>
                    <a:pt x="2609777" y="1228724"/>
                  </a:moveTo>
                  <a:lnTo>
                    <a:pt x="66746" y="1228724"/>
                  </a:lnTo>
                  <a:lnTo>
                    <a:pt x="62100" y="1228266"/>
                  </a:lnTo>
                  <a:lnTo>
                    <a:pt x="24239" y="1211117"/>
                  </a:lnTo>
                  <a:lnTo>
                    <a:pt x="2287" y="1175824"/>
                  </a:lnTo>
                  <a:lnTo>
                    <a:pt x="0" y="1161978"/>
                  </a:lnTo>
                  <a:lnTo>
                    <a:pt x="0" y="1157287"/>
                  </a:lnTo>
                  <a:lnTo>
                    <a:pt x="0" y="66746"/>
                  </a:lnTo>
                  <a:lnTo>
                    <a:pt x="14644" y="27848"/>
                  </a:lnTo>
                  <a:lnTo>
                    <a:pt x="48432" y="3642"/>
                  </a:lnTo>
                  <a:lnTo>
                    <a:pt x="66746" y="0"/>
                  </a:lnTo>
                  <a:lnTo>
                    <a:pt x="2609777" y="0"/>
                  </a:lnTo>
                  <a:lnTo>
                    <a:pt x="2648674" y="14644"/>
                  </a:lnTo>
                  <a:lnTo>
                    <a:pt x="2672881" y="48432"/>
                  </a:lnTo>
                  <a:lnTo>
                    <a:pt x="2676524" y="66746"/>
                  </a:lnTo>
                  <a:lnTo>
                    <a:pt x="2676524" y="1161978"/>
                  </a:lnTo>
                  <a:lnTo>
                    <a:pt x="2661879" y="1200875"/>
                  </a:lnTo>
                  <a:lnTo>
                    <a:pt x="2628090" y="1225081"/>
                  </a:lnTo>
                  <a:lnTo>
                    <a:pt x="2614422" y="1228266"/>
                  </a:lnTo>
                  <a:lnTo>
                    <a:pt x="2609777" y="1228724"/>
                  </a:lnTo>
                  <a:close/>
                </a:path>
              </a:pathLst>
            </a:custGeom>
            <a:solidFill>
              <a:srgbClr val="EFF5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 descr=""/>
            <p:cNvSpPr/>
            <p:nvPr/>
          </p:nvSpPr>
          <p:spPr>
            <a:xfrm>
              <a:off x="6215061" y="3748087"/>
              <a:ext cx="2676525" cy="1228725"/>
            </a:xfrm>
            <a:custGeom>
              <a:avLst/>
              <a:gdLst/>
              <a:ahLst/>
              <a:cxnLst/>
              <a:rect l="l" t="t" r="r" b="b"/>
              <a:pathLst>
                <a:path w="2676525" h="1228725">
                  <a:moveTo>
                    <a:pt x="0" y="1157287"/>
                  </a:moveTo>
                  <a:lnTo>
                    <a:pt x="0" y="71437"/>
                  </a:lnTo>
                  <a:lnTo>
                    <a:pt x="0" y="66746"/>
                  </a:lnTo>
                  <a:lnTo>
                    <a:pt x="457" y="62101"/>
                  </a:lnTo>
                  <a:lnTo>
                    <a:pt x="1372" y="57500"/>
                  </a:lnTo>
                  <a:lnTo>
                    <a:pt x="2287" y="52899"/>
                  </a:lnTo>
                  <a:lnTo>
                    <a:pt x="3642" y="48432"/>
                  </a:lnTo>
                  <a:lnTo>
                    <a:pt x="5436" y="44099"/>
                  </a:lnTo>
                  <a:lnTo>
                    <a:pt x="7232" y="39765"/>
                  </a:lnTo>
                  <a:lnTo>
                    <a:pt x="9432" y="35648"/>
                  </a:lnTo>
                  <a:lnTo>
                    <a:pt x="12038" y="31748"/>
                  </a:lnTo>
                  <a:lnTo>
                    <a:pt x="14644" y="27848"/>
                  </a:lnTo>
                  <a:lnTo>
                    <a:pt x="17605" y="24240"/>
                  </a:lnTo>
                  <a:lnTo>
                    <a:pt x="20923" y="20923"/>
                  </a:lnTo>
                  <a:lnTo>
                    <a:pt x="24239" y="17606"/>
                  </a:lnTo>
                  <a:lnTo>
                    <a:pt x="27848" y="14645"/>
                  </a:lnTo>
                  <a:lnTo>
                    <a:pt x="31748" y="12039"/>
                  </a:lnTo>
                  <a:lnTo>
                    <a:pt x="35648" y="9433"/>
                  </a:lnTo>
                  <a:lnTo>
                    <a:pt x="39764" y="7232"/>
                  </a:lnTo>
                  <a:lnTo>
                    <a:pt x="44099" y="5437"/>
                  </a:lnTo>
                  <a:lnTo>
                    <a:pt x="48432" y="3642"/>
                  </a:lnTo>
                  <a:lnTo>
                    <a:pt x="52899" y="2287"/>
                  </a:lnTo>
                  <a:lnTo>
                    <a:pt x="57500" y="1372"/>
                  </a:lnTo>
                  <a:lnTo>
                    <a:pt x="62100" y="457"/>
                  </a:lnTo>
                  <a:lnTo>
                    <a:pt x="66746" y="0"/>
                  </a:lnTo>
                  <a:lnTo>
                    <a:pt x="71437" y="0"/>
                  </a:lnTo>
                  <a:lnTo>
                    <a:pt x="2605087" y="0"/>
                  </a:lnTo>
                  <a:lnTo>
                    <a:pt x="2609777" y="0"/>
                  </a:lnTo>
                  <a:lnTo>
                    <a:pt x="2614422" y="457"/>
                  </a:lnTo>
                  <a:lnTo>
                    <a:pt x="2619022" y="1372"/>
                  </a:lnTo>
                  <a:lnTo>
                    <a:pt x="2623623" y="2287"/>
                  </a:lnTo>
                  <a:lnTo>
                    <a:pt x="2628090" y="3642"/>
                  </a:lnTo>
                  <a:lnTo>
                    <a:pt x="2632423" y="5437"/>
                  </a:lnTo>
                  <a:lnTo>
                    <a:pt x="2636757" y="7232"/>
                  </a:lnTo>
                  <a:lnTo>
                    <a:pt x="2640874" y="9432"/>
                  </a:lnTo>
                  <a:lnTo>
                    <a:pt x="2644774" y="12038"/>
                  </a:lnTo>
                  <a:lnTo>
                    <a:pt x="2648674" y="14644"/>
                  </a:lnTo>
                  <a:lnTo>
                    <a:pt x="2664484" y="31748"/>
                  </a:lnTo>
                  <a:lnTo>
                    <a:pt x="2667090" y="35648"/>
                  </a:lnTo>
                  <a:lnTo>
                    <a:pt x="2669291" y="39765"/>
                  </a:lnTo>
                  <a:lnTo>
                    <a:pt x="2671086" y="44099"/>
                  </a:lnTo>
                  <a:lnTo>
                    <a:pt x="2672881" y="48432"/>
                  </a:lnTo>
                  <a:lnTo>
                    <a:pt x="2674237" y="52899"/>
                  </a:lnTo>
                  <a:lnTo>
                    <a:pt x="2675151" y="57500"/>
                  </a:lnTo>
                  <a:lnTo>
                    <a:pt x="2676067" y="62101"/>
                  </a:lnTo>
                  <a:lnTo>
                    <a:pt x="2676524" y="66746"/>
                  </a:lnTo>
                  <a:lnTo>
                    <a:pt x="2676524" y="71437"/>
                  </a:lnTo>
                  <a:lnTo>
                    <a:pt x="2676524" y="1157287"/>
                  </a:lnTo>
                  <a:lnTo>
                    <a:pt x="2676524" y="1161978"/>
                  </a:lnTo>
                  <a:lnTo>
                    <a:pt x="2676067" y="1166623"/>
                  </a:lnTo>
                  <a:lnTo>
                    <a:pt x="2675151" y="1171224"/>
                  </a:lnTo>
                  <a:lnTo>
                    <a:pt x="2674237" y="1175824"/>
                  </a:lnTo>
                  <a:lnTo>
                    <a:pt x="2672881" y="1180291"/>
                  </a:lnTo>
                  <a:lnTo>
                    <a:pt x="2671086" y="1184624"/>
                  </a:lnTo>
                  <a:lnTo>
                    <a:pt x="2669291" y="1188958"/>
                  </a:lnTo>
                  <a:lnTo>
                    <a:pt x="2667090" y="1193075"/>
                  </a:lnTo>
                  <a:lnTo>
                    <a:pt x="2664484" y="1196975"/>
                  </a:lnTo>
                  <a:lnTo>
                    <a:pt x="2661879" y="1200875"/>
                  </a:lnTo>
                  <a:lnTo>
                    <a:pt x="2644774" y="1216684"/>
                  </a:lnTo>
                  <a:lnTo>
                    <a:pt x="2640874" y="1219290"/>
                  </a:lnTo>
                  <a:lnTo>
                    <a:pt x="2636757" y="1221491"/>
                  </a:lnTo>
                  <a:lnTo>
                    <a:pt x="2632423" y="1223286"/>
                  </a:lnTo>
                  <a:lnTo>
                    <a:pt x="2628090" y="1225081"/>
                  </a:lnTo>
                  <a:lnTo>
                    <a:pt x="2623623" y="1226436"/>
                  </a:lnTo>
                  <a:lnTo>
                    <a:pt x="2619022" y="1227351"/>
                  </a:lnTo>
                  <a:lnTo>
                    <a:pt x="2614422" y="1228266"/>
                  </a:lnTo>
                  <a:lnTo>
                    <a:pt x="2609777" y="1228724"/>
                  </a:lnTo>
                  <a:lnTo>
                    <a:pt x="2605087" y="1228724"/>
                  </a:lnTo>
                  <a:lnTo>
                    <a:pt x="71437" y="1228724"/>
                  </a:lnTo>
                  <a:lnTo>
                    <a:pt x="66746" y="1228724"/>
                  </a:lnTo>
                  <a:lnTo>
                    <a:pt x="62100" y="1228266"/>
                  </a:lnTo>
                  <a:lnTo>
                    <a:pt x="57500" y="1227351"/>
                  </a:lnTo>
                  <a:lnTo>
                    <a:pt x="52899" y="1226436"/>
                  </a:lnTo>
                  <a:lnTo>
                    <a:pt x="48432" y="1225081"/>
                  </a:lnTo>
                  <a:lnTo>
                    <a:pt x="44099" y="1223286"/>
                  </a:lnTo>
                  <a:lnTo>
                    <a:pt x="39764" y="1221491"/>
                  </a:lnTo>
                  <a:lnTo>
                    <a:pt x="35648" y="1219291"/>
                  </a:lnTo>
                  <a:lnTo>
                    <a:pt x="31748" y="1216684"/>
                  </a:lnTo>
                  <a:lnTo>
                    <a:pt x="27848" y="1214078"/>
                  </a:lnTo>
                  <a:lnTo>
                    <a:pt x="24239" y="1211117"/>
                  </a:lnTo>
                  <a:lnTo>
                    <a:pt x="20923" y="1207800"/>
                  </a:lnTo>
                  <a:lnTo>
                    <a:pt x="17605" y="1204483"/>
                  </a:lnTo>
                  <a:lnTo>
                    <a:pt x="14644" y="1200875"/>
                  </a:lnTo>
                  <a:lnTo>
                    <a:pt x="12038" y="1196975"/>
                  </a:lnTo>
                  <a:lnTo>
                    <a:pt x="9432" y="1193075"/>
                  </a:lnTo>
                  <a:lnTo>
                    <a:pt x="1372" y="1171223"/>
                  </a:lnTo>
                  <a:lnTo>
                    <a:pt x="457" y="1166623"/>
                  </a:lnTo>
                  <a:lnTo>
                    <a:pt x="0" y="1161978"/>
                  </a:lnTo>
                  <a:lnTo>
                    <a:pt x="0" y="1157287"/>
                  </a:lnTo>
                </a:path>
              </a:pathLst>
            </a:custGeom>
            <a:ln w="9524">
              <a:solidFill>
                <a:srgbClr val="BEDAF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 descr=""/>
            <p:cNvSpPr/>
            <p:nvPr/>
          </p:nvSpPr>
          <p:spPr>
            <a:xfrm>
              <a:off x="6391262" y="4162424"/>
              <a:ext cx="38100" cy="647700"/>
            </a:xfrm>
            <a:custGeom>
              <a:avLst/>
              <a:gdLst/>
              <a:ahLst/>
              <a:cxnLst/>
              <a:rect l="l" t="t" r="r" b="b"/>
              <a:pathLst>
                <a:path w="38100" h="647700">
                  <a:moveTo>
                    <a:pt x="38100" y="626135"/>
                  </a:moveTo>
                  <a:lnTo>
                    <a:pt x="21577" y="609600"/>
                  </a:lnTo>
                  <a:lnTo>
                    <a:pt x="16522" y="609600"/>
                  </a:lnTo>
                  <a:lnTo>
                    <a:pt x="0" y="626135"/>
                  </a:lnTo>
                  <a:lnTo>
                    <a:pt x="0" y="631177"/>
                  </a:lnTo>
                  <a:lnTo>
                    <a:pt x="16522" y="647700"/>
                  </a:lnTo>
                  <a:lnTo>
                    <a:pt x="21577" y="647700"/>
                  </a:lnTo>
                  <a:lnTo>
                    <a:pt x="38100" y="631177"/>
                  </a:lnTo>
                  <a:lnTo>
                    <a:pt x="38100" y="628650"/>
                  </a:lnTo>
                  <a:lnTo>
                    <a:pt x="38100" y="626135"/>
                  </a:lnTo>
                  <a:close/>
                </a:path>
                <a:path w="38100" h="647700">
                  <a:moveTo>
                    <a:pt x="38100" y="321335"/>
                  </a:moveTo>
                  <a:lnTo>
                    <a:pt x="21577" y="304800"/>
                  </a:lnTo>
                  <a:lnTo>
                    <a:pt x="16522" y="304800"/>
                  </a:lnTo>
                  <a:lnTo>
                    <a:pt x="0" y="321335"/>
                  </a:lnTo>
                  <a:lnTo>
                    <a:pt x="0" y="326377"/>
                  </a:lnTo>
                  <a:lnTo>
                    <a:pt x="16522" y="342900"/>
                  </a:lnTo>
                  <a:lnTo>
                    <a:pt x="21577" y="342900"/>
                  </a:lnTo>
                  <a:lnTo>
                    <a:pt x="38100" y="326377"/>
                  </a:lnTo>
                  <a:lnTo>
                    <a:pt x="38100" y="323850"/>
                  </a:lnTo>
                  <a:lnTo>
                    <a:pt x="38100" y="321335"/>
                  </a:lnTo>
                  <a:close/>
                </a:path>
                <a:path w="38100" h="647700">
                  <a:moveTo>
                    <a:pt x="38100" y="168935"/>
                  </a:moveTo>
                  <a:lnTo>
                    <a:pt x="21577" y="152400"/>
                  </a:lnTo>
                  <a:lnTo>
                    <a:pt x="16522" y="152400"/>
                  </a:lnTo>
                  <a:lnTo>
                    <a:pt x="0" y="168935"/>
                  </a:lnTo>
                  <a:lnTo>
                    <a:pt x="0" y="173977"/>
                  </a:lnTo>
                  <a:lnTo>
                    <a:pt x="16522" y="190500"/>
                  </a:lnTo>
                  <a:lnTo>
                    <a:pt x="21577" y="190500"/>
                  </a:lnTo>
                  <a:lnTo>
                    <a:pt x="38100" y="173977"/>
                  </a:lnTo>
                  <a:lnTo>
                    <a:pt x="38100" y="171450"/>
                  </a:lnTo>
                  <a:lnTo>
                    <a:pt x="38100" y="168935"/>
                  </a:lnTo>
                  <a:close/>
                </a:path>
                <a:path w="38100" h="647700">
                  <a:moveTo>
                    <a:pt x="38100" y="16535"/>
                  </a:moveTo>
                  <a:lnTo>
                    <a:pt x="21577" y="0"/>
                  </a:lnTo>
                  <a:lnTo>
                    <a:pt x="16522" y="0"/>
                  </a:lnTo>
                  <a:lnTo>
                    <a:pt x="0" y="16535"/>
                  </a:lnTo>
                  <a:lnTo>
                    <a:pt x="0" y="21577"/>
                  </a:lnTo>
                  <a:lnTo>
                    <a:pt x="16522" y="38100"/>
                  </a:lnTo>
                  <a:lnTo>
                    <a:pt x="21577" y="38100"/>
                  </a:lnTo>
                  <a:lnTo>
                    <a:pt x="38100" y="21577"/>
                  </a:lnTo>
                  <a:lnTo>
                    <a:pt x="38100" y="19050"/>
                  </a:lnTo>
                  <a:lnTo>
                    <a:pt x="38100" y="16535"/>
                  </a:lnTo>
                  <a:close/>
                </a:path>
              </a:pathLst>
            </a:custGeom>
            <a:solidFill>
              <a:srgbClr val="37405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4" name="object 54" descr=""/>
          <p:cNvSpPr txBox="1"/>
          <p:nvPr/>
        </p:nvSpPr>
        <p:spPr>
          <a:xfrm>
            <a:off x="6321424" y="3798577"/>
            <a:ext cx="2393315" cy="1059815"/>
          </a:xfrm>
          <a:prstGeom prst="rect">
            <a:avLst/>
          </a:prstGeom>
        </p:spPr>
        <p:txBody>
          <a:bodyPr wrap="square" lIns="0" tIns="654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dirty="0" sz="1150" spc="-60" b="1">
                <a:solidFill>
                  <a:srgbClr val="1D40AF"/>
                </a:solidFill>
                <a:latin typeface="Roboto"/>
                <a:cs typeface="Roboto"/>
              </a:rPr>
              <a:t>High</a:t>
            </a:r>
            <a:r>
              <a:rPr dirty="0" sz="1150" b="1">
                <a:solidFill>
                  <a:srgbClr val="1D40AF"/>
                </a:solidFill>
                <a:latin typeface="Roboto"/>
                <a:cs typeface="Roboto"/>
              </a:rPr>
              <a:t> </a:t>
            </a:r>
            <a:r>
              <a:rPr dirty="0" sz="1150" spc="-60" b="1">
                <a:solidFill>
                  <a:srgbClr val="1D40AF"/>
                </a:solidFill>
                <a:latin typeface="Roboto"/>
                <a:cs typeface="Roboto"/>
              </a:rPr>
              <a:t>Renewable</a:t>
            </a:r>
            <a:r>
              <a:rPr dirty="0" sz="1150" b="1">
                <a:solidFill>
                  <a:srgbClr val="1D40AF"/>
                </a:solidFill>
                <a:latin typeface="Roboto"/>
                <a:cs typeface="Roboto"/>
              </a:rPr>
              <a:t> </a:t>
            </a:r>
            <a:r>
              <a:rPr dirty="0" sz="1150" spc="-10" b="1">
                <a:solidFill>
                  <a:srgbClr val="1D40AF"/>
                </a:solidFill>
                <a:latin typeface="Roboto"/>
                <a:cs typeface="Roboto"/>
              </a:rPr>
              <a:t>Adaptability</a:t>
            </a:r>
            <a:endParaRPr sz="1150">
              <a:latin typeface="Roboto"/>
              <a:cs typeface="Roboto"/>
            </a:endParaRPr>
          </a:p>
          <a:p>
            <a:pPr marL="202565" marR="5080">
              <a:lnSpc>
                <a:spcPct val="100000"/>
              </a:lnSpc>
              <a:spcBef>
                <a:spcPts val="345"/>
              </a:spcBef>
            </a:pPr>
            <a:r>
              <a:rPr dirty="0" sz="1000" spc="-70">
                <a:solidFill>
                  <a:srgbClr val="374050"/>
                </a:solidFill>
                <a:latin typeface="Roboto"/>
                <a:cs typeface="Roboto"/>
              </a:rPr>
              <a:t>MADRL</a:t>
            </a:r>
            <a:r>
              <a:rPr dirty="0" sz="1000" spc="-2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000" spc="-55">
                <a:solidFill>
                  <a:srgbClr val="374050"/>
                </a:solidFill>
                <a:latin typeface="Roboto"/>
                <a:cs typeface="Roboto"/>
              </a:rPr>
              <a:t>agents</a:t>
            </a:r>
            <a:r>
              <a:rPr dirty="0" sz="1000" spc="-1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000" spc="-45">
                <a:solidFill>
                  <a:srgbClr val="374050"/>
                </a:solidFill>
                <a:latin typeface="Roboto"/>
                <a:cs typeface="Roboto"/>
              </a:rPr>
              <a:t>learn</a:t>
            </a:r>
            <a:r>
              <a:rPr dirty="0" sz="1000" spc="-1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000" spc="-50">
                <a:solidFill>
                  <a:srgbClr val="374050"/>
                </a:solidFill>
                <a:latin typeface="Roboto"/>
                <a:cs typeface="Roboto"/>
              </a:rPr>
              <a:t>patterns</a:t>
            </a:r>
            <a:r>
              <a:rPr dirty="0" sz="1000" spc="-2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000" spc="-40">
                <a:solidFill>
                  <a:srgbClr val="374050"/>
                </a:solidFill>
                <a:latin typeface="Roboto"/>
                <a:cs typeface="Roboto"/>
              </a:rPr>
              <a:t>in</a:t>
            </a:r>
            <a:r>
              <a:rPr dirty="0" sz="1000" spc="-1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000" spc="-50">
                <a:solidFill>
                  <a:srgbClr val="374050"/>
                </a:solidFill>
                <a:latin typeface="Roboto"/>
                <a:cs typeface="Roboto"/>
              </a:rPr>
              <a:t>generation</a:t>
            </a:r>
            <a:r>
              <a:rPr dirty="0" sz="1000" spc="50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000" spc="-50">
                <a:solidFill>
                  <a:srgbClr val="374050"/>
                </a:solidFill>
                <a:latin typeface="Roboto"/>
                <a:cs typeface="Roboto"/>
              </a:rPr>
              <a:t>Anticipates</a:t>
            </a:r>
            <a:r>
              <a:rPr dirty="0" sz="1000" spc="-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000" spc="-75">
                <a:solidFill>
                  <a:srgbClr val="374050"/>
                </a:solidFill>
                <a:latin typeface="Roboto"/>
                <a:cs typeface="Roboto"/>
              </a:rPr>
              <a:t>PV</a:t>
            </a:r>
            <a:r>
              <a:rPr dirty="0" sz="1000" spc="-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000" spc="-55">
                <a:solidFill>
                  <a:srgbClr val="374050"/>
                </a:solidFill>
                <a:latin typeface="Roboto"/>
                <a:cs typeface="Roboto"/>
              </a:rPr>
              <a:t>surges</a:t>
            </a:r>
            <a:r>
              <a:rPr dirty="0" sz="1000" spc="-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000" spc="-60">
                <a:solidFill>
                  <a:srgbClr val="374050"/>
                </a:solidFill>
                <a:latin typeface="Roboto"/>
                <a:cs typeface="Roboto"/>
              </a:rPr>
              <a:t>by</a:t>
            </a:r>
            <a:r>
              <a:rPr dirty="0" sz="1000" spc="-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000" spc="-50">
                <a:solidFill>
                  <a:srgbClr val="374050"/>
                </a:solidFill>
                <a:latin typeface="Roboto"/>
                <a:cs typeface="Roboto"/>
              </a:rPr>
              <a:t>5-</a:t>
            </a:r>
            <a:r>
              <a:rPr dirty="0" sz="1000" spc="-55">
                <a:solidFill>
                  <a:srgbClr val="374050"/>
                </a:solidFill>
                <a:latin typeface="Roboto"/>
                <a:cs typeface="Roboto"/>
              </a:rPr>
              <a:t>10</a:t>
            </a:r>
            <a:r>
              <a:rPr dirty="0" sz="1000" spc="-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000" spc="-25">
                <a:solidFill>
                  <a:srgbClr val="374050"/>
                </a:solidFill>
                <a:latin typeface="Roboto"/>
                <a:cs typeface="Roboto"/>
              </a:rPr>
              <a:t>min</a:t>
            </a:r>
            <a:endParaRPr sz="1000">
              <a:latin typeface="Roboto"/>
              <a:cs typeface="Roboto"/>
            </a:endParaRPr>
          </a:p>
          <a:p>
            <a:pPr marL="202565" marR="267970">
              <a:lnSpc>
                <a:spcPct val="100000"/>
              </a:lnSpc>
            </a:pPr>
            <a:r>
              <a:rPr dirty="0" sz="1000" spc="-50">
                <a:solidFill>
                  <a:srgbClr val="374050"/>
                </a:solidFill>
                <a:latin typeface="Roboto"/>
                <a:cs typeface="Roboto"/>
              </a:rPr>
              <a:t>Self-</a:t>
            </a:r>
            <a:r>
              <a:rPr dirty="0" sz="1000" spc="-55">
                <a:solidFill>
                  <a:srgbClr val="374050"/>
                </a:solidFill>
                <a:latin typeface="Roboto"/>
                <a:cs typeface="Roboto"/>
              </a:rPr>
              <a:t>adapts</a:t>
            </a:r>
            <a:r>
              <a:rPr dirty="0" sz="100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000" spc="-55">
                <a:solidFill>
                  <a:srgbClr val="374050"/>
                </a:solidFill>
                <a:latin typeface="Roboto"/>
                <a:cs typeface="Roboto"/>
              </a:rPr>
              <a:t>to</a:t>
            </a:r>
            <a:r>
              <a:rPr dirty="0" sz="100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000" spc="-70">
                <a:solidFill>
                  <a:srgbClr val="374050"/>
                </a:solidFill>
                <a:latin typeface="Roboto"/>
                <a:cs typeface="Roboto"/>
              </a:rPr>
              <a:t>new</a:t>
            </a:r>
            <a:r>
              <a:rPr dirty="0" sz="100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000" spc="-50">
                <a:solidFill>
                  <a:srgbClr val="374050"/>
                </a:solidFill>
                <a:latin typeface="Roboto"/>
                <a:cs typeface="Roboto"/>
              </a:rPr>
              <a:t>conditions</a:t>
            </a:r>
            <a:r>
              <a:rPr dirty="0" sz="100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000" spc="-50">
                <a:solidFill>
                  <a:srgbClr val="374050"/>
                </a:solidFill>
                <a:latin typeface="Roboto"/>
                <a:cs typeface="Roboto"/>
              </a:rPr>
              <a:t>without</a:t>
            </a:r>
            <a:r>
              <a:rPr dirty="0" sz="1000" spc="-10">
                <a:solidFill>
                  <a:srgbClr val="374050"/>
                </a:solidFill>
                <a:latin typeface="Roboto"/>
                <a:cs typeface="Roboto"/>
              </a:rPr>
              <a:t> retraining</a:t>
            </a:r>
            <a:endParaRPr sz="1000">
              <a:latin typeface="Roboto"/>
              <a:cs typeface="Roboto"/>
            </a:endParaRPr>
          </a:p>
          <a:p>
            <a:pPr marL="202565">
              <a:lnSpc>
                <a:spcPct val="100000"/>
              </a:lnSpc>
            </a:pPr>
            <a:r>
              <a:rPr dirty="0" sz="1000" spc="-55">
                <a:solidFill>
                  <a:srgbClr val="374050"/>
                </a:solidFill>
                <a:latin typeface="Roboto"/>
                <a:cs typeface="Roboto"/>
              </a:rPr>
              <a:t>Handles</a:t>
            </a:r>
            <a:r>
              <a:rPr dirty="0" sz="1000" spc="-1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000" spc="-65">
                <a:solidFill>
                  <a:srgbClr val="374050"/>
                </a:solidFill>
                <a:latin typeface="Roboto"/>
                <a:cs typeface="Roboto"/>
              </a:rPr>
              <a:t>up</a:t>
            </a:r>
            <a:r>
              <a:rPr dirty="0" sz="1000" spc="-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000" spc="-55">
                <a:solidFill>
                  <a:srgbClr val="374050"/>
                </a:solidFill>
                <a:latin typeface="Roboto"/>
                <a:cs typeface="Roboto"/>
              </a:rPr>
              <a:t>to</a:t>
            </a:r>
            <a:r>
              <a:rPr dirty="0" sz="1000" spc="-1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000" spc="-70">
                <a:solidFill>
                  <a:srgbClr val="374050"/>
                </a:solidFill>
                <a:latin typeface="Roboto"/>
                <a:cs typeface="Roboto"/>
              </a:rPr>
              <a:t>80%</a:t>
            </a:r>
            <a:r>
              <a:rPr dirty="0" sz="1000" spc="-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000" spc="-55">
                <a:solidFill>
                  <a:srgbClr val="374050"/>
                </a:solidFill>
                <a:latin typeface="Roboto"/>
                <a:cs typeface="Roboto"/>
              </a:rPr>
              <a:t>renewable</a:t>
            </a:r>
            <a:r>
              <a:rPr dirty="0" sz="1000" spc="-10">
                <a:solidFill>
                  <a:srgbClr val="374050"/>
                </a:solidFill>
                <a:latin typeface="Roboto"/>
                <a:cs typeface="Roboto"/>
              </a:rPr>
              <a:t> penetration</a:t>
            </a:r>
            <a:endParaRPr sz="1000">
              <a:latin typeface="Roboto"/>
              <a:cs typeface="Roboto"/>
            </a:endParaRPr>
          </a:p>
        </p:txBody>
      </p:sp>
      <p:grpSp>
        <p:nvGrpSpPr>
          <p:cNvPr id="55" name="object 55" descr=""/>
          <p:cNvGrpSpPr/>
          <p:nvPr/>
        </p:nvGrpSpPr>
        <p:grpSpPr>
          <a:xfrm>
            <a:off x="9048748" y="3743324"/>
            <a:ext cx="2686050" cy="1238250"/>
            <a:chOff x="9048748" y="3743324"/>
            <a:chExt cx="2686050" cy="1238250"/>
          </a:xfrm>
        </p:grpSpPr>
        <p:sp>
          <p:nvSpPr>
            <p:cNvPr id="56" name="object 56" descr=""/>
            <p:cNvSpPr/>
            <p:nvPr/>
          </p:nvSpPr>
          <p:spPr>
            <a:xfrm>
              <a:off x="9053510" y="3748087"/>
              <a:ext cx="2676525" cy="1228725"/>
            </a:xfrm>
            <a:custGeom>
              <a:avLst/>
              <a:gdLst/>
              <a:ahLst/>
              <a:cxnLst/>
              <a:rect l="l" t="t" r="r" b="b"/>
              <a:pathLst>
                <a:path w="2676525" h="1228725">
                  <a:moveTo>
                    <a:pt x="2609778" y="1228724"/>
                  </a:moveTo>
                  <a:lnTo>
                    <a:pt x="66747" y="1228724"/>
                  </a:lnTo>
                  <a:lnTo>
                    <a:pt x="62100" y="1228266"/>
                  </a:lnTo>
                  <a:lnTo>
                    <a:pt x="24240" y="1211117"/>
                  </a:lnTo>
                  <a:lnTo>
                    <a:pt x="2287" y="1175824"/>
                  </a:lnTo>
                  <a:lnTo>
                    <a:pt x="0" y="1161978"/>
                  </a:lnTo>
                  <a:lnTo>
                    <a:pt x="0" y="1157287"/>
                  </a:lnTo>
                  <a:lnTo>
                    <a:pt x="0" y="66746"/>
                  </a:lnTo>
                  <a:lnTo>
                    <a:pt x="14645" y="27848"/>
                  </a:lnTo>
                  <a:lnTo>
                    <a:pt x="48432" y="3642"/>
                  </a:lnTo>
                  <a:lnTo>
                    <a:pt x="66747" y="0"/>
                  </a:lnTo>
                  <a:lnTo>
                    <a:pt x="2609778" y="0"/>
                  </a:lnTo>
                  <a:lnTo>
                    <a:pt x="2648675" y="14644"/>
                  </a:lnTo>
                  <a:lnTo>
                    <a:pt x="2672881" y="48432"/>
                  </a:lnTo>
                  <a:lnTo>
                    <a:pt x="2676524" y="66746"/>
                  </a:lnTo>
                  <a:lnTo>
                    <a:pt x="2676524" y="1161978"/>
                  </a:lnTo>
                  <a:lnTo>
                    <a:pt x="2661878" y="1200875"/>
                  </a:lnTo>
                  <a:lnTo>
                    <a:pt x="2628090" y="1225081"/>
                  </a:lnTo>
                  <a:lnTo>
                    <a:pt x="2614423" y="1228266"/>
                  </a:lnTo>
                  <a:lnTo>
                    <a:pt x="2609778" y="1228724"/>
                  </a:lnTo>
                  <a:close/>
                </a:path>
              </a:pathLst>
            </a:custGeom>
            <a:solidFill>
              <a:srgbClr val="F5F2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 descr=""/>
            <p:cNvSpPr/>
            <p:nvPr/>
          </p:nvSpPr>
          <p:spPr>
            <a:xfrm>
              <a:off x="9053510" y="3748087"/>
              <a:ext cx="2676525" cy="1228725"/>
            </a:xfrm>
            <a:custGeom>
              <a:avLst/>
              <a:gdLst/>
              <a:ahLst/>
              <a:cxnLst/>
              <a:rect l="l" t="t" r="r" b="b"/>
              <a:pathLst>
                <a:path w="2676525" h="1228725">
                  <a:moveTo>
                    <a:pt x="0" y="1157287"/>
                  </a:moveTo>
                  <a:lnTo>
                    <a:pt x="0" y="71437"/>
                  </a:lnTo>
                  <a:lnTo>
                    <a:pt x="0" y="66746"/>
                  </a:lnTo>
                  <a:lnTo>
                    <a:pt x="457" y="62101"/>
                  </a:lnTo>
                  <a:lnTo>
                    <a:pt x="1372" y="57500"/>
                  </a:lnTo>
                  <a:lnTo>
                    <a:pt x="2287" y="52899"/>
                  </a:lnTo>
                  <a:lnTo>
                    <a:pt x="3642" y="48432"/>
                  </a:lnTo>
                  <a:lnTo>
                    <a:pt x="5437" y="44099"/>
                  </a:lnTo>
                  <a:lnTo>
                    <a:pt x="7232" y="39765"/>
                  </a:lnTo>
                  <a:lnTo>
                    <a:pt x="9433" y="35648"/>
                  </a:lnTo>
                  <a:lnTo>
                    <a:pt x="12039" y="31748"/>
                  </a:lnTo>
                  <a:lnTo>
                    <a:pt x="14645" y="27848"/>
                  </a:lnTo>
                  <a:lnTo>
                    <a:pt x="17606" y="24240"/>
                  </a:lnTo>
                  <a:lnTo>
                    <a:pt x="20923" y="20923"/>
                  </a:lnTo>
                  <a:lnTo>
                    <a:pt x="24240" y="17606"/>
                  </a:lnTo>
                  <a:lnTo>
                    <a:pt x="27848" y="14645"/>
                  </a:lnTo>
                  <a:lnTo>
                    <a:pt x="66747" y="0"/>
                  </a:lnTo>
                  <a:lnTo>
                    <a:pt x="71438" y="0"/>
                  </a:lnTo>
                  <a:lnTo>
                    <a:pt x="2605087" y="0"/>
                  </a:lnTo>
                  <a:lnTo>
                    <a:pt x="2609778" y="0"/>
                  </a:lnTo>
                  <a:lnTo>
                    <a:pt x="2614423" y="457"/>
                  </a:lnTo>
                  <a:lnTo>
                    <a:pt x="2619024" y="1372"/>
                  </a:lnTo>
                  <a:lnTo>
                    <a:pt x="2623625" y="2287"/>
                  </a:lnTo>
                  <a:lnTo>
                    <a:pt x="2658917" y="24240"/>
                  </a:lnTo>
                  <a:lnTo>
                    <a:pt x="2675152" y="57500"/>
                  </a:lnTo>
                  <a:lnTo>
                    <a:pt x="2676067" y="62101"/>
                  </a:lnTo>
                  <a:lnTo>
                    <a:pt x="2676524" y="66746"/>
                  </a:lnTo>
                  <a:lnTo>
                    <a:pt x="2676525" y="71437"/>
                  </a:lnTo>
                  <a:lnTo>
                    <a:pt x="2676525" y="1157287"/>
                  </a:lnTo>
                  <a:lnTo>
                    <a:pt x="2676524" y="1161978"/>
                  </a:lnTo>
                  <a:lnTo>
                    <a:pt x="2676067" y="1166623"/>
                  </a:lnTo>
                  <a:lnTo>
                    <a:pt x="2675152" y="1171224"/>
                  </a:lnTo>
                  <a:lnTo>
                    <a:pt x="2674237" y="1175824"/>
                  </a:lnTo>
                  <a:lnTo>
                    <a:pt x="2672881" y="1180291"/>
                  </a:lnTo>
                  <a:lnTo>
                    <a:pt x="2671086" y="1184624"/>
                  </a:lnTo>
                  <a:lnTo>
                    <a:pt x="2669290" y="1188958"/>
                  </a:lnTo>
                  <a:lnTo>
                    <a:pt x="2667089" y="1193075"/>
                  </a:lnTo>
                  <a:lnTo>
                    <a:pt x="2664484" y="1196975"/>
                  </a:lnTo>
                  <a:lnTo>
                    <a:pt x="2661878" y="1200875"/>
                  </a:lnTo>
                  <a:lnTo>
                    <a:pt x="2632424" y="1223286"/>
                  </a:lnTo>
                  <a:lnTo>
                    <a:pt x="2628090" y="1225081"/>
                  </a:lnTo>
                  <a:lnTo>
                    <a:pt x="2623625" y="1226436"/>
                  </a:lnTo>
                  <a:lnTo>
                    <a:pt x="2619024" y="1227351"/>
                  </a:lnTo>
                  <a:lnTo>
                    <a:pt x="2614423" y="1228266"/>
                  </a:lnTo>
                  <a:lnTo>
                    <a:pt x="2609778" y="1228724"/>
                  </a:lnTo>
                  <a:lnTo>
                    <a:pt x="2605087" y="1228724"/>
                  </a:lnTo>
                  <a:lnTo>
                    <a:pt x="71438" y="1228724"/>
                  </a:lnTo>
                  <a:lnTo>
                    <a:pt x="44098" y="1223286"/>
                  </a:lnTo>
                  <a:lnTo>
                    <a:pt x="39764" y="1221491"/>
                  </a:lnTo>
                  <a:lnTo>
                    <a:pt x="35648" y="1219291"/>
                  </a:lnTo>
                  <a:lnTo>
                    <a:pt x="31748" y="1216684"/>
                  </a:lnTo>
                  <a:lnTo>
                    <a:pt x="27848" y="1214078"/>
                  </a:lnTo>
                  <a:lnTo>
                    <a:pt x="24240" y="1211117"/>
                  </a:lnTo>
                  <a:lnTo>
                    <a:pt x="20923" y="1207800"/>
                  </a:lnTo>
                  <a:lnTo>
                    <a:pt x="17606" y="1204483"/>
                  </a:lnTo>
                  <a:lnTo>
                    <a:pt x="14645" y="1200875"/>
                  </a:lnTo>
                  <a:lnTo>
                    <a:pt x="12038" y="1196975"/>
                  </a:lnTo>
                  <a:lnTo>
                    <a:pt x="9432" y="1193075"/>
                  </a:lnTo>
                  <a:lnTo>
                    <a:pt x="7232" y="1188958"/>
                  </a:lnTo>
                  <a:lnTo>
                    <a:pt x="5437" y="1184624"/>
                  </a:lnTo>
                  <a:lnTo>
                    <a:pt x="3642" y="1180291"/>
                  </a:lnTo>
                  <a:lnTo>
                    <a:pt x="2287" y="1175824"/>
                  </a:lnTo>
                  <a:lnTo>
                    <a:pt x="1372" y="1171223"/>
                  </a:lnTo>
                  <a:lnTo>
                    <a:pt x="457" y="1166623"/>
                  </a:lnTo>
                  <a:lnTo>
                    <a:pt x="0" y="1161978"/>
                  </a:lnTo>
                  <a:lnTo>
                    <a:pt x="0" y="1157287"/>
                  </a:lnTo>
                </a:path>
              </a:pathLst>
            </a:custGeom>
            <a:ln w="9524">
              <a:solidFill>
                <a:srgbClr val="DDD5F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8" name="object 58" descr=""/>
          <p:cNvSpPr txBox="1"/>
          <p:nvPr/>
        </p:nvSpPr>
        <p:spPr>
          <a:xfrm>
            <a:off x="9159875" y="3848972"/>
            <a:ext cx="1389380" cy="20383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150" spc="-55" b="1">
                <a:solidFill>
                  <a:srgbClr val="5B20B5"/>
                </a:solidFill>
                <a:latin typeface="Roboto"/>
                <a:cs typeface="Roboto"/>
              </a:rPr>
              <a:t>Robustness</a:t>
            </a:r>
            <a:r>
              <a:rPr dirty="0" sz="1150" spc="-20" b="1">
                <a:solidFill>
                  <a:srgbClr val="5B20B5"/>
                </a:solidFill>
                <a:latin typeface="Roboto"/>
                <a:cs typeface="Roboto"/>
              </a:rPr>
              <a:t> </a:t>
            </a:r>
            <a:r>
              <a:rPr dirty="0" sz="1150" spc="-50" b="1">
                <a:solidFill>
                  <a:srgbClr val="5B20B5"/>
                </a:solidFill>
                <a:latin typeface="Roboto"/>
                <a:cs typeface="Roboto"/>
              </a:rPr>
              <a:t>Evaluation</a:t>
            </a:r>
            <a:endParaRPr sz="1150">
              <a:latin typeface="Roboto"/>
              <a:cs typeface="Roboto"/>
            </a:endParaRPr>
          </a:p>
        </p:txBody>
      </p:sp>
      <p:sp>
        <p:nvSpPr>
          <p:cNvPr id="59" name="object 59" descr=""/>
          <p:cNvSpPr/>
          <p:nvPr/>
        </p:nvSpPr>
        <p:spPr>
          <a:xfrm>
            <a:off x="9229712" y="4162425"/>
            <a:ext cx="38100" cy="495300"/>
          </a:xfrm>
          <a:custGeom>
            <a:avLst/>
            <a:gdLst/>
            <a:ahLst/>
            <a:cxnLst/>
            <a:rect l="l" t="t" r="r" b="b"/>
            <a:pathLst>
              <a:path w="38100" h="495300">
                <a:moveTo>
                  <a:pt x="38100" y="473735"/>
                </a:moveTo>
                <a:lnTo>
                  <a:pt x="21577" y="457200"/>
                </a:lnTo>
                <a:lnTo>
                  <a:pt x="16535" y="457200"/>
                </a:lnTo>
                <a:lnTo>
                  <a:pt x="0" y="473735"/>
                </a:lnTo>
                <a:lnTo>
                  <a:pt x="0" y="478777"/>
                </a:lnTo>
                <a:lnTo>
                  <a:pt x="16535" y="495300"/>
                </a:lnTo>
                <a:lnTo>
                  <a:pt x="21577" y="495300"/>
                </a:lnTo>
                <a:lnTo>
                  <a:pt x="38100" y="478777"/>
                </a:lnTo>
                <a:lnTo>
                  <a:pt x="38100" y="476250"/>
                </a:lnTo>
                <a:lnTo>
                  <a:pt x="38100" y="473735"/>
                </a:lnTo>
                <a:close/>
              </a:path>
              <a:path w="38100" h="495300">
                <a:moveTo>
                  <a:pt x="38100" y="321335"/>
                </a:moveTo>
                <a:lnTo>
                  <a:pt x="21577" y="304800"/>
                </a:lnTo>
                <a:lnTo>
                  <a:pt x="16535" y="304800"/>
                </a:lnTo>
                <a:lnTo>
                  <a:pt x="0" y="321335"/>
                </a:lnTo>
                <a:lnTo>
                  <a:pt x="0" y="326377"/>
                </a:lnTo>
                <a:lnTo>
                  <a:pt x="16535" y="342900"/>
                </a:lnTo>
                <a:lnTo>
                  <a:pt x="21577" y="342900"/>
                </a:lnTo>
                <a:lnTo>
                  <a:pt x="38100" y="326377"/>
                </a:lnTo>
                <a:lnTo>
                  <a:pt x="38100" y="323850"/>
                </a:lnTo>
                <a:lnTo>
                  <a:pt x="38100" y="321335"/>
                </a:lnTo>
                <a:close/>
              </a:path>
              <a:path w="38100" h="495300">
                <a:moveTo>
                  <a:pt x="38100" y="168935"/>
                </a:moveTo>
                <a:lnTo>
                  <a:pt x="21577" y="152400"/>
                </a:lnTo>
                <a:lnTo>
                  <a:pt x="16535" y="152400"/>
                </a:lnTo>
                <a:lnTo>
                  <a:pt x="0" y="168935"/>
                </a:lnTo>
                <a:lnTo>
                  <a:pt x="0" y="173977"/>
                </a:lnTo>
                <a:lnTo>
                  <a:pt x="16535" y="190500"/>
                </a:lnTo>
                <a:lnTo>
                  <a:pt x="21577" y="190500"/>
                </a:lnTo>
                <a:lnTo>
                  <a:pt x="38100" y="173977"/>
                </a:lnTo>
                <a:lnTo>
                  <a:pt x="38100" y="171450"/>
                </a:lnTo>
                <a:lnTo>
                  <a:pt x="38100" y="168935"/>
                </a:lnTo>
                <a:close/>
              </a:path>
              <a:path w="38100" h="495300">
                <a:moveTo>
                  <a:pt x="38100" y="16535"/>
                </a:moveTo>
                <a:lnTo>
                  <a:pt x="21577" y="0"/>
                </a:lnTo>
                <a:lnTo>
                  <a:pt x="16535" y="0"/>
                </a:lnTo>
                <a:lnTo>
                  <a:pt x="0" y="16535"/>
                </a:lnTo>
                <a:lnTo>
                  <a:pt x="0" y="21577"/>
                </a:lnTo>
                <a:lnTo>
                  <a:pt x="16535" y="38100"/>
                </a:lnTo>
                <a:lnTo>
                  <a:pt x="21577" y="38100"/>
                </a:lnTo>
                <a:lnTo>
                  <a:pt x="38100" y="21577"/>
                </a:lnTo>
                <a:lnTo>
                  <a:pt x="38100" y="19050"/>
                </a:lnTo>
                <a:lnTo>
                  <a:pt x="38100" y="16535"/>
                </a:lnTo>
                <a:close/>
              </a:path>
            </a:pathLst>
          </a:custGeom>
          <a:solidFill>
            <a:srgbClr val="3740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0" name="object 60" descr=""/>
          <p:cNvSpPr txBox="1"/>
          <p:nvPr/>
        </p:nvSpPr>
        <p:spPr>
          <a:xfrm>
            <a:off x="9350374" y="4070191"/>
            <a:ext cx="2209165" cy="6356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000" spc="-70">
                <a:solidFill>
                  <a:srgbClr val="374050"/>
                </a:solidFill>
                <a:latin typeface="Roboto"/>
                <a:cs typeface="Roboto"/>
              </a:rPr>
              <a:t>92%</a:t>
            </a:r>
            <a:r>
              <a:rPr dirty="0" sz="1000" spc="-1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000" spc="-55">
                <a:solidFill>
                  <a:srgbClr val="374050"/>
                </a:solidFill>
                <a:latin typeface="Roboto"/>
                <a:cs typeface="Roboto"/>
              </a:rPr>
              <a:t>success</a:t>
            </a:r>
            <a:r>
              <a:rPr dirty="0" sz="1000" spc="-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000" spc="-55">
                <a:solidFill>
                  <a:srgbClr val="374050"/>
                </a:solidFill>
                <a:latin typeface="Roboto"/>
                <a:cs typeface="Roboto"/>
              </a:rPr>
              <a:t>rate</a:t>
            </a:r>
            <a:r>
              <a:rPr dirty="0" sz="1000" spc="-1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000" spc="-55">
                <a:solidFill>
                  <a:srgbClr val="374050"/>
                </a:solidFill>
                <a:latin typeface="Roboto"/>
                <a:cs typeface="Roboto"/>
              </a:rPr>
              <a:t>under</a:t>
            </a:r>
            <a:r>
              <a:rPr dirty="0" sz="1000" spc="-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000" spc="-60">
                <a:solidFill>
                  <a:srgbClr val="374050"/>
                </a:solidFill>
                <a:latin typeface="Roboto"/>
                <a:cs typeface="Roboto"/>
              </a:rPr>
              <a:t>N-1</a:t>
            </a:r>
            <a:r>
              <a:rPr dirty="0" sz="1000" spc="-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000" spc="-10">
                <a:solidFill>
                  <a:srgbClr val="374050"/>
                </a:solidFill>
                <a:latin typeface="Roboto"/>
                <a:cs typeface="Roboto"/>
              </a:rPr>
              <a:t>contingency </a:t>
            </a:r>
            <a:r>
              <a:rPr dirty="0" sz="1000" spc="-55">
                <a:solidFill>
                  <a:srgbClr val="374050"/>
                </a:solidFill>
                <a:latin typeface="Roboto"/>
                <a:cs typeface="Roboto"/>
              </a:rPr>
              <a:t>Maintains</a:t>
            </a:r>
            <a:r>
              <a:rPr dirty="0" sz="100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000" spc="-45">
                <a:solidFill>
                  <a:srgbClr val="374050"/>
                </a:solidFill>
                <a:latin typeface="Roboto"/>
                <a:cs typeface="Roboto"/>
              </a:rPr>
              <a:t>radiality</a:t>
            </a:r>
            <a:r>
              <a:rPr dirty="0" sz="1000" spc="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000" spc="-55">
                <a:solidFill>
                  <a:srgbClr val="374050"/>
                </a:solidFill>
                <a:latin typeface="Roboto"/>
                <a:cs typeface="Roboto"/>
              </a:rPr>
              <a:t>under</a:t>
            </a:r>
            <a:r>
              <a:rPr dirty="0" sz="100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000" spc="-35">
                <a:solidFill>
                  <a:srgbClr val="374050"/>
                </a:solidFill>
                <a:latin typeface="Roboto"/>
                <a:cs typeface="Roboto"/>
              </a:rPr>
              <a:t>all</a:t>
            </a:r>
            <a:r>
              <a:rPr dirty="0" sz="1000" spc="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000" spc="-55">
                <a:solidFill>
                  <a:srgbClr val="374050"/>
                </a:solidFill>
                <a:latin typeface="Roboto"/>
                <a:cs typeface="Roboto"/>
              </a:rPr>
              <a:t>test</a:t>
            </a:r>
            <a:r>
              <a:rPr dirty="0" sz="100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000" spc="-45">
                <a:solidFill>
                  <a:srgbClr val="374050"/>
                </a:solidFill>
                <a:latin typeface="Roboto"/>
                <a:cs typeface="Roboto"/>
              </a:rPr>
              <a:t>conditions </a:t>
            </a:r>
            <a:r>
              <a:rPr dirty="0" sz="1000" spc="-55">
                <a:solidFill>
                  <a:srgbClr val="374050"/>
                </a:solidFill>
                <a:latin typeface="Roboto"/>
                <a:cs typeface="Roboto"/>
              </a:rPr>
              <a:t>Recovery</a:t>
            </a:r>
            <a:r>
              <a:rPr dirty="0" sz="1000" spc="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000" spc="-65">
                <a:solidFill>
                  <a:srgbClr val="374050"/>
                </a:solidFill>
                <a:latin typeface="Roboto"/>
                <a:cs typeface="Roboto"/>
              </a:rPr>
              <a:t>from</a:t>
            </a:r>
            <a:r>
              <a:rPr dirty="0" sz="1000" spc="1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000" spc="-55">
                <a:solidFill>
                  <a:srgbClr val="374050"/>
                </a:solidFill>
                <a:latin typeface="Roboto"/>
                <a:cs typeface="Roboto"/>
              </a:rPr>
              <a:t>suboptimal</a:t>
            </a:r>
            <a:r>
              <a:rPr dirty="0" sz="1000" spc="1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000" spc="-10">
                <a:solidFill>
                  <a:srgbClr val="374050"/>
                </a:solidFill>
                <a:latin typeface="Roboto"/>
                <a:cs typeface="Roboto"/>
              </a:rPr>
              <a:t>configurations </a:t>
            </a:r>
            <a:r>
              <a:rPr dirty="0" sz="1000" spc="-55">
                <a:solidFill>
                  <a:srgbClr val="374050"/>
                </a:solidFill>
                <a:latin typeface="Roboto"/>
                <a:cs typeface="Roboto"/>
              </a:rPr>
              <a:t>Handles</a:t>
            </a:r>
            <a:r>
              <a:rPr dirty="0" sz="1000" spc="-1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000" spc="-60">
                <a:solidFill>
                  <a:srgbClr val="374050"/>
                </a:solidFill>
                <a:latin typeface="Roboto"/>
                <a:cs typeface="Roboto"/>
              </a:rPr>
              <a:t>communication</a:t>
            </a:r>
            <a:r>
              <a:rPr dirty="0" sz="1000" spc="-1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000" spc="-50">
                <a:solidFill>
                  <a:srgbClr val="374050"/>
                </a:solidFill>
                <a:latin typeface="Roboto"/>
                <a:cs typeface="Roboto"/>
              </a:rPr>
              <a:t>delays</a:t>
            </a:r>
            <a:r>
              <a:rPr dirty="0" sz="1000" spc="-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000" spc="-65">
                <a:solidFill>
                  <a:srgbClr val="374050"/>
                </a:solidFill>
                <a:latin typeface="Roboto"/>
                <a:cs typeface="Roboto"/>
              </a:rPr>
              <a:t>up</a:t>
            </a:r>
            <a:r>
              <a:rPr dirty="0" sz="1000" spc="-1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000" spc="-55">
                <a:solidFill>
                  <a:srgbClr val="374050"/>
                </a:solidFill>
                <a:latin typeface="Roboto"/>
                <a:cs typeface="Roboto"/>
              </a:rPr>
              <a:t>to</a:t>
            </a:r>
            <a:r>
              <a:rPr dirty="0" sz="1000" spc="-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000" spc="-60">
                <a:solidFill>
                  <a:srgbClr val="374050"/>
                </a:solidFill>
                <a:latin typeface="Roboto"/>
                <a:cs typeface="Roboto"/>
              </a:rPr>
              <a:t>2</a:t>
            </a:r>
            <a:r>
              <a:rPr dirty="0" sz="1000" spc="-1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000" spc="-50">
                <a:solidFill>
                  <a:srgbClr val="374050"/>
                </a:solidFill>
                <a:latin typeface="Roboto"/>
                <a:cs typeface="Roboto"/>
              </a:rPr>
              <a:t>sec</a:t>
            </a:r>
            <a:endParaRPr sz="1000">
              <a:latin typeface="Roboto"/>
              <a:cs typeface="Roboto"/>
            </a:endParaRPr>
          </a:p>
        </p:txBody>
      </p:sp>
      <p:sp>
        <p:nvSpPr>
          <p:cNvPr id="61" name="object 61" descr=""/>
          <p:cNvSpPr txBox="1"/>
          <p:nvPr/>
        </p:nvSpPr>
        <p:spPr>
          <a:xfrm>
            <a:off x="9093200" y="5460841"/>
            <a:ext cx="2378710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70">
                <a:solidFill>
                  <a:srgbClr val="374050"/>
                </a:solidFill>
                <a:latin typeface="Roboto"/>
                <a:cs typeface="Roboto"/>
              </a:rPr>
              <a:t>30%</a:t>
            </a:r>
            <a:r>
              <a:rPr dirty="0" sz="1000" spc="-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000" spc="-60">
                <a:solidFill>
                  <a:srgbClr val="374050"/>
                </a:solidFill>
                <a:latin typeface="Roboto"/>
                <a:cs typeface="Roboto"/>
              </a:rPr>
              <a:t>average</a:t>
            </a:r>
            <a:r>
              <a:rPr dirty="0" sz="1000" spc="-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000" spc="-55">
                <a:solidFill>
                  <a:srgbClr val="374050"/>
                </a:solidFill>
                <a:latin typeface="Roboto"/>
                <a:cs typeface="Roboto"/>
              </a:rPr>
              <a:t>reduction</a:t>
            </a:r>
            <a:r>
              <a:rPr dirty="0" sz="100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000" spc="-40">
                <a:solidFill>
                  <a:srgbClr val="374050"/>
                </a:solidFill>
                <a:latin typeface="Roboto"/>
                <a:cs typeface="Roboto"/>
              </a:rPr>
              <a:t>in</a:t>
            </a:r>
            <a:r>
              <a:rPr dirty="0" sz="1000" spc="-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000" spc="-50">
                <a:solidFill>
                  <a:srgbClr val="374050"/>
                </a:solidFill>
                <a:latin typeface="Roboto"/>
                <a:cs typeface="Roboto"/>
              </a:rPr>
              <a:t>switching</a:t>
            </a:r>
            <a:r>
              <a:rPr dirty="0" sz="100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000" spc="-45">
                <a:solidFill>
                  <a:srgbClr val="374050"/>
                </a:solidFill>
                <a:latin typeface="Roboto"/>
                <a:cs typeface="Roboto"/>
              </a:rPr>
              <a:t>operations</a:t>
            </a:r>
            <a:endParaRPr sz="1000">
              <a:latin typeface="Roboto"/>
              <a:cs typeface="Roboto"/>
            </a:endParaRPr>
          </a:p>
        </p:txBody>
      </p:sp>
      <p:sp>
        <p:nvSpPr>
          <p:cNvPr id="62" name="object 62" descr=""/>
          <p:cNvSpPr/>
          <p:nvPr/>
        </p:nvSpPr>
        <p:spPr>
          <a:xfrm>
            <a:off x="6391273" y="5857874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21576" y="38099"/>
                </a:moveTo>
                <a:lnTo>
                  <a:pt x="16523" y="38099"/>
                </a:lnTo>
                <a:lnTo>
                  <a:pt x="14093" y="37615"/>
                </a:lnTo>
                <a:lnTo>
                  <a:pt x="0" y="21576"/>
                </a:lnTo>
                <a:lnTo>
                  <a:pt x="0" y="16523"/>
                </a:lnTo>
                <a:lnTo>
                  <a:pt x="16523" y="0"/>
                </a:lnTo>
                <a:lnTo>
                  <a:pt x="21576" y="0"/>
                </a:lnTo>
                <a:lnTo>
                  <a:pt x="38100" y="19049"/>
                </a:lnTo>
                <a:lnTo>
                  <a:pt x="38099" y="21576"/>
                </a:lnTo>
                <a:lnTo>
                  <a:pt x="21576" y="38099"/>
                </a:lnTo>
                <a:close/>
              </a:path>
            </a:pathLst>
          </a:custGeom>
          <a:solidFill>
            <a:srgbClr val="3740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3" name="object 63" descr=""/>
          <p:cNvSpPr txBox="1"/>
          <p:nvPr/>
        </p:nvSpPr>
        <p:spPr>
          <a:xfrm>
            <a:off x="6321424" y="5189227"/>
            <a:ext cx="2538095" cy="755015"/>
          </a:xfrm>
          <a:prstGeom prst="rect">
            <a:avLst/>
          </a:prstGeom>
        </p:spPr>
        <p:txBody>
          <a:bodyPr wrap="square" lIns="0" tIns="654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dirty="0" sz="1150" spc="-70" b="1">
                <a:solidFill>
                  <a:srgbClr val="1F2937"/>
                </a:solidFill>
                <a:latin typeface="Roboto"/>
                <a:cs typeface="Roboto"/>
              </a:rPr>
              <a:t>Key</a:t>
            </a:r>
            <a:r>
              <a:rPr dirty="0" sz="1150" spc="-15" b="1">
                <a:solidFill>
                  <a:srgbClr val="1F2937"/>
                </a:solidFill>
                <a:latin typeface="Roboto"/>
                <a:cs typeface="Roboto"/>
              </a:rPr>
              <a:t> </a:t>
            </a:r>
            <a:r>
              <a:rPr dirty="0" sz="1150" spc="-10" b="1">
                <a:solidFill>
                  <a:srgbClr val="1F2937"/>
                </a:solidFill>
                <a:latin typeface="Roboto"/>
                <a:cs typeface="Roboto"/>
              </a:rPr>
              <a:t>Findings</a:t>
            </a:r>
            <a:endParaRPr sz="1150">
              <a:latin typeface="Roboto"/>
              <a:cs typeface="Roboto"/>
            </a:endParaRPr>
          </a:p>
          <a:p>
            <a:pPr marL="202565" marR="295910">
              <a:lnSpc>
                <a:spcPct val="100000"/>
              </a:lnSpc>
              <a:spcBef>
                <a:spcPts val="345"/>
              </a:spcBef>
            </a:pPr>
            <a:r>
              <a:rPr dirty="0" sz="1000" spc="-50">
                <a:solidFill>
                  <a:srgbClr val="374050"/>
                </a:solidFill>
                <a:latin typeface="Roboto"/>
                <a:cs typeface="Roboto"/>
              </a:rPr>
              <a:t>Hybrid</a:t>
            </a:r>
            <a:r>
              <a:rPr dirty="0" sz="1000" spc="1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000" spc="-60">
                <a:solidFill>
                  <a:srgbClr val="374050"/>
                </a:solidFill>
                <a:latin typeface="Roboto"/>
                <a:cs typeface="Roboto"/>
              </a:rPr>
              <a:t>approach</a:t>
            </a:r>
            <a:r>
              <a:rPr dirty="0" sz="1000" spc="1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000" spc="-60">
                <a:solidFill>
                  <a:srgbClr val="374050"/>
                </a:solidFill>
                <a:latin typeface="Roboto"/>
                <a:cs typeface="Roboto"/>
              </a:rPr>
              <a:t>shows</a:t>
            </a:r>
            <a:r>
              <a:rPr dirty="0" sz="1000" spc="1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000" spc="-55">
                <a:solidFill>
                  <a:srgbClr val="374050"/>
                </a:solidFill>
                <a:latin typeface="Roboto"/>
                <a:cs typeface="Roboto"/>
              </a:rPr>
              <a:t>consistent</a:t>
            </a:r>
            <a:r>
              <a:rPr dirty="0" sz="1000" spc="1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000" spc="-50">
                <a:solidFill>
                  <a:srgbClr val="374050"/>
                </a:solidFill>
                <a:latin typeface="Roboto"/>
                <a:cs typeface="Roboto"/>
              </a:rPr>
              <a:t>2-</a:t>
            </a:r>
            <a:r>
              <a:rPr dirty="0" sz="1000" spc="-70">
                <a:solidFill>
                  <a:srgbClr val="374050"/>
                </a:solidFill>
                <a:latin typeface="Roboto"/>
                <a:cs typeface="Roboto"/>
              </a:rPr>
              <a:t>5%</a:t>
            </a:r>
            <a:r>
              <a:rPr dirty="0" sz="1000" spc="50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000" spc="-60">
                <a:solidFill>
                  <a:srgbClr val="374050"/>
                </a:solidFill>
                <a:latin typeface="Roboto"/>
                <a:cs typeface="Roboto"/>
              </a:rPr>
              <a:t>improvement</a:t>
            </a:r>
            <a:r>
              <a:rPr dirty="0" sz="1000" spc="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000" spc="-60">
                <a:solidFill>
                  <a:srgbClr val="374050"/>
                </a:solidFill>
                <a:latin typeface="Roboto"/>
                <a:cs typeface="Roboto"/>
              </a:rPr>
              <a:t>over</a:t>
            </a:r>
            <a:r>
              <a:rPr dirty="0" sz="1000" spc="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000" spc="-60">
                <a:solidFill>
                  <a:srgbClr val="374050"/>
                </a:solidFill>
                <a:latin typeface="Roboto"/>
                <a:cs typeface="Roboto"/>
              </a:rPr>
              <a:t>pure</a:t>
            </a:r>
            <a:r>
              <a:rPr dirty="0" sz="1000" spc="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000" spc="-25">
                <a:solidFill>
                  <a:srgbClr val="374050"/>
                </a:solidFill>
                <a:latin typeface="Roboto"/>
                <a:cs typeface="Roboto"/>
              </a:rPr>
              <a:t>RL</a:t>
            </a:r>
            <a:endParaRPr sz="1000">
              <a:latin typeface="Roboto"/>
              <a:cs typeface="Roboto"/>
            </a:endParaRPr>
          </a:p>
          <a:p>
            <a:pPr marL="202565">
              <a:lnSpc>
                <a:spcPct val="100000"/>
              </a:lnSpc>
            </a:pPr>
            <a:r>
              <a:rPr dirty="0" sz="1000" spc="-75">
                <a:solidFill>
                  <a:srgbClr val="374050"/>
                </a:solidFill>
                <a:latin typeface="Roboto"/>
                <a:cs typeface="Roboto"/>
              </a:rPr>
              <a:t>GA</a:t>
            </a:r>
            <a:r>
              <a:rPr dirty="0" sz="100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000" spc="-55">
                <a:solidFill>
                  <a:srgbClr val="374050"/>
                </a:solidFill>
                <a:latin typeface="Roboto"/>
                <a:cs typeface="Roboto"/>
              </a:rPr>
              <a:t>fine-</a:t>
            </a:r>
            <a:r>
              <a:rPr dirty="0" sz="1000" spc="-50">
                <a:solidFill>
                  <a:srgbClr val="374050"/>
                </a:solidFill>
                <a:latin typeface="Roboto"/>
                <a:cs typeface="Roboto"/>
              </a:rPr>
              <a:t>tuning</a:t>
            </a:r>
            <a:r>
              <a:rPr dirty="0" sz="1000" spc="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000" spc="-40">
                <a:solidFill>
                  <a:srgbClr val="374050"/>
                </a:solidFill>
                <a:latin typeface="Roboto"/>
                <a:cs typeface="Roboto"/>
              </a:rPr>
              <a:t>critical</a:t>
            </a:r>
            <a:r>
              <a:rPr dirty="0" sz="1000" spc="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000" spc="-40">
                <a:solidFill>
                  <a:srgbClr val="374050"/>
                </a:solidFill>
                <a:latin typeface="Roboto"/>
                <a:cs typeface="Roboto"/>
              </a:rPr>
              <a:t>in</a:t>
            </a:r>
            <a:r>
              <a:rPr dirty="0" sz="100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000" spc="-60">
                <a:solidFill>
                  <a:srgbClr val="374050"/>
                </a:solidFill>
                <a:latin typeface="Roboto"/>
                <a:cs typeface="Roboto"/>
              </a:rPr>
              <a:t>unbalanced</a:t>
            </a:r>
            <a:r>
              <a:rPr dirty="0" sz="1000" spc="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000" spc="-40">
                <a:solidFill>
                  <a:srgbClr val="374050"/>
                </a:solidFill>
                <a:latin typeface="Roboto"/>
                <a:cs typeface="Roboto"/>
              </a:rPr>
              <a:t>networks</a:t>
            </a:r>
            <a:endParaRPr sz="1000">
              <a:latin typeface="Roboto"/>
              <a:cs typeface="Roboto"/>
            </a:endParaRPr>
          </a:p>
        </p:txBody>
      </p:sp>
      <p:sp>
        <p:nvSpPr>
          <p:cNvPr id="64" name="object 64" descr=""/>
          <p:cNvSpPr/>
          <p:nvPr/>
        </p:nvSpPr>
        <p:spPr>
          <a:xfrm>
            <a:off x="8972548" y="5857874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21576" y="38099"/>
                </a:moveTo>
                <a:lnTo>
                  <a:pt x="16523" y="38099"/>
                </a:lnTo>
                <a:lnTo>
                  <a:pt x="14093" y="37615"/>
                </a:lnTo>
                <a:lnTo>
                  <a:pt x="0" y="21576"/>
                </a:lnTo>
                <a:lnTo>
                  <a:pt x="0" y="16523"/>
                </a:lnTo>
                <a:lnTo>
                  <a:pt x="16523" y="0"/>
                </a:lnTo>
                <a:lnTo>
                  <a:pt x="21576" y="0"/>
                </a:lnTo>
                <a:lnTo>
                  <a:pt x="38100" y="19049"/>
                </a:lnTo>
                <a:lnTo>
                  <a:pt x="38099" y="21576"/>
                </a:lnTo>
                <a:lnTo>
                  <a:pt x="21576" y="38099"/>
                </a:lnTo>
                <a:close/>
              </a:path>
            </a:pathLst>
          </a:custGeom>
          <a:solidFill>
            <a:srgbClr val="3740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5" name="object 65" descr=""/>
          <p:cNvSpPr txBox="1"/>
          <p:nvPr/>
        </p:nvSpPr>
        <p:spPr>
          <a:xfrm>
            <a:off x="9093200" y="5765641"/>
            <a:ext cx="197485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000" spc="-55">
                <a:solidFill>
                  <a:srgbClr val="374050"/>
                </a:solidFill>
                <a:latin typeface="Roboto"/>
                <a:cs typeface="Roboto"/>
              </a:rPr>
              <a:t>Performance</a:t>
            </a:r>
            <a:r>
              <a:rPr dirty="0" sz="1000" spc="-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000" spc="-65">
                <a:solidFill>
                  <a:srgbClr val="374050"/>
                </a:solidFill>
                <a:latin typeface="Roboto"/>
                <a:cs typeface="Roboto"/>
              </a:rPr>
              <a:t>gap</a:t>
            </a:r>
            <a:r>
              <a:rPr dirty="0" sz="1000" spc="-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000" spc="-55">
                <a:solidFill>
                  <a:srgbClr val="374050"/>
                </a:solidFill>
                <a:latin typeface="Roboto"/>
                <a:cs typeface="Roboto"/>
              </a:rPr>
              <a:t>widens</a:t>
            </a:r>
            <a:r>
              <a:rPr dirty="0" sz="1000" spc="-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000" spc="-55">
                <a:solidFill>
                  <a:srgbClr val="374050"/>
                </a:solidFill>
                <a:latin typeface="Roboto"/>
                <a:cs typeface="Roboto"/>
              </a:rPr>
              <a:t>with</a:t>
            </a:r>
            <a:r>
              <a:rPr dirty="0" sz="1000" spc="-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000" spc="-55">
                <a:solidFill>
                  <a:srgbClr val="374050"/>
                </a:solidFill>
                <a:latin typeface="Roboto"/>
                <a:cs typeface="Roboto"/>
              </a:rPr>
              <a:t>network</a:t>
            </a:r>
            <a:r>
              <a:rPr dirty="0" sz="1000" spc="-10">
                <a:solidFill>
                  <a:srgbClr val="374050"/>
                </a:solidFill>
                <a:latin typeface="Roboto"/>
                <a:cs typeface="Roboto"/>
              </a:rPr>
              <a:t> complexity</a:t>
            </a:r>
            <a:endParaRPr sz="1000">
              <a:latin typeface="Roboto"/>
              <a:cs typeface="Roboto"/>
            </a:endParaRPr>
          </a:p>
        </p:txBody>
      </p:sp>
      <p:grpSp>
        <p:nvGrpSpPr>
          <p:cNvPr id="66" name="object 66" descr=""/>
          <p:cNvGrpSpPr/>
          <p:nvPr/>
        </p:nvGrpSpPr>
        <p:grpSpPr>
          <a:xfrm>
            <a:off x="152399" y="6581774"/>
            <a:ext cx="11887200" cy="428625"/>
            <a:chOff x="152399" y="6581774"/>
            <a:chExt cx="11887200" cy="428625"/>
          </a:xfrm>
        </p:grpSpPr>
        <p:sp>
          <p:nvSpPr>
            <p:cNvPr id="67" name="object 67" descr=""/>
            <p:cNvSpPr/>
            <p:nvPr/>
          </p:nvSpPr>
          <p:spPr>
            <a:xfrm>
              <a:off x="152399" y="6581774"/>
              <a:ext cx="11887200" cy="428625"/>
            </a:xfrm>
            <a:custGeom>
              <a:avLst/>
              <a:gdLst/>
              <a:ahLst/>
              <a:cxnLst/>
              <a:rect l="l" t="t" r="r" b="b"/>
              <a:pathLst>
                <a:path w="11887200" h="428625">
                  <a:moveTo>
                    <a:pt x="11810999" y="428624"/>
                  </a:moveTo>
                  <a:lnTo>
                    <a:pt x="76200" y="428624"/>
                  </a:lnTo>
                  <a:lnTo>
                    <a:pt x="68693" y="428262"/>
                  </a:lnTo>
                  <a:lnTo>
                    <a:pt x="27882" y="411357"/>
                  </a:lnTo>
                  <a:lnTo>
                    <a:pt x="3262" y="374511"/>
                  </a:lnTo>
                  <a:lnTo>
                    <a:pt x="0" y="352425"/>
                  </a:lnTo>
                  <a:lnTo>
                    <a:pt x="0" y="0"/>
                  </a:lnTo>
                  <a:lnTo>
                    <a:pt x="11887199" y="0"/>
                  </a:lnTo>
                  <a:lnTo>
                    <a:pt x="11887199" y="352425"/>
                  </a:lnTo>
                  <a:lnTo>
                    <a:pt x="11874368" y="394766"/>
                  </a:lnTo>
                  <a:lnTo>
                    <a:pt x="11840158" y="422824"/>
                  </a:lnTo>
                  <a:lnTo>
                    <a:pt x="11810999" y="428624"/>
                  </a:lnTo>
                  <a:close/>
                </a:path>
              </a:pathLst>
            </a:custGeom>
            <a:solidFill>
              <a:srgbClr val="F2F4F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8" name="object 68" descr=""/>
            <p:cNvSpPr/>
            <p:nvPr/>
          </p:nvSpPr>
          <p:spPr>
            <a:xfrm>
              <a:off x="152399" y="6581774"/>
              <a:ext cx="11887200" cy="9525"/>
            </a:xfrm>
            <a:custGeom>
              <a:avLst/>
              <a:gdLst/>
              <a:ahLst/>
              <a:cxnLst/>
              <a:rect l="l" t="t" r="r" b="b"/>
              <a:pathLst>
                <a:path w="11887200" h="9525">
                  <a:moveTo>
                    <a:pt x="11887199" y="9524"/>
                  </a:moveTo>
                  <a:lnTo>
                    <a:pt x="0" y="9524"/>
                  </a:lnTo>
                  <a:lnTo>
                    <a:pt x="0" y="0"/>
                  </a:lnTo>
                  <a:lnTo>
                    <a:pt x="11887199" y="0"/>
                  </a:lnTo>
                  <a:lnTo>
                    <a:pt x="11887199" y="9524"/>
                  </a:lnTo>
                  <a:close/>
                </a:path>
              </a:pathLst>
            </a:custGeom>
            <a:solidFill>
              <a:srgbClr val="D0D5D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9" name="object 69" descr=""/>
            <p:cNvSpPr/>
            <p:nvPr/>
          </p:nvSpPr>
          <p:spPr>
            <a:xfrm>
              <a:off x="10544174" y="6648449"/>
              <a:ext cx="1457325" cy="323850"/>
            </a:xfrm>
            <a:custGeom>
              <a:avLst/>
              <a:gdLst/>
              <a:ahLst/>
              <a:cxnLst/>
              <a:rect l="l" t="t" r="r" b="b"/>
              <a:pathLst>
                <a:path w="1457325" h="323850">
                  <a:moveTo>
                    <a:pt x="1424277" y="323849"/>
                  </a:moveTo>
                  <a:lnTo>
                    <a:pt x="33047" y="323849"/>
                  </a:lnTo>
                  <a:lnTo>
                    <a:pt x="28187" y="322883"/>
                  </a:lnTo>
                  <a:lnTo>
                    <a:pt x="966" y="295662"/>
                  </a:lnTo>
                  <a:lnTo>
                    <a:pt x="0" y="290802"/>
                  </a:lnTo>
                  <a:lnTo>
                    <a:pt x="0" y="285749"/>
                  </a:lnTo>
                  <a:lnTo>
                    <a:pt x="0" y="33047"/>
                  </a:lnTo>
                  <a:lnTo>
                    <a:pt x="28187" y="966"/>
                  </a:lnTo>
                  <a:lnTo>
                    <a:pt x="33047" y="0"/>
                  </a:lnTo>
                  <a:lnTo>
                    <a:pt x="1424277" y="0"/>
                  </a:lnTo>
                  <a:lnTo>
                    <a:pt x="1456357" y="28187"/>
                  </a:lnTo>
                  <a:lnTo>
                    <a:pt x="1457324" y="33047"/>
                  </a:lnTo>
                  <a:lnTo>
                    <a:pt x="1457324" y="290802"/>
                  </a:lnTo>
                  <a:lnTo>
                    <a:pt x="1429137" y="322883"/>
                  </a:lnTo>
                  <a:lnTo>
                    <a:pt x="1424277" y="323849"/>
                  </a:lnTo>
                  <a:close/>
                </a:path>
              </a:pathLst>
            </a:custGeom>
            <a:solidFill>
              <a:srgbClr val="33333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0" name="object 70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658474" y="6743699"/>
              <a:ext cx="133349" cy="133349"/>
            </a:xfrm>
            <a:prstGeom prst="rect">
              <a:avLst/>
            </a:prstGeom>
          </p:spPr>
        </p:pic>
      </p:grpSp>
      <p:sp>
        <p:nvSpPr>
          <p:cNvPr id="71" name="object 71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30"/>
              </a:lnSpc>
            </a:pPr>
            <a:r>
              <a:rPr dirty="0" spc="-60"/>
              <a:t>IEEE</a:t>
            </a:r>
            <a:r>
              <a:rPr dirty="0"/>
              <a:t> </a:t>
            </a:r>
            <a:r>
              <a:rPr dirty="0" spc="-70"/>
              <a:t>Power</a:t>
            </a:r>
            <a:r>
              <a:rPr dirty="0" spc="5"/>
              <a:t> </a:t>
            </a:r>
            <a:r>
              <a:rPr dirty="0" spc="-60"/>
              <a:t>Systems</a:t>
            </a:r>
            <a:r>
              <a:rPr dirty="0"/>
              <a:t> </a:t>
            </a:r>
            <a:r>
              <a:rPr dirty="0" spc="-60"/>
              <a:t>Conference</a:t>
            </a:r>
            <a:r>
              <a:rPr dirty="0" spc="5"/>
              <a:t> </a:t>
            </a:r>
            <a:r>
              <a:rPr dirty="0" spc="-30"/>
              <a:t>2023</a:t>
            </a:r>
          </a:p>
        </p:txBody>
      </p:sp>
      <p:sp>
        <p:nvSpPr>
          <p:cNvPr id="72" name="object 72" descr=""/>
          <p:cNvSpPr txBox="1"/>
          <p:nvPr/>
        </p:nvSpPr>
        <p:spPr>
          <a:xfrm>
            <a:off x="10833000" y="6734395"/>
            <a:ext cx="1066800" cy="15557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30"/>
              </a:lnSpc>
            </a:pPr>
            <a:r>
              <a:rPr dirty="0" sz="1000" spc="-55">
                <a:solidFill>
                  <a:srgbClr val="FFFFFF"/>
                </a:solidFill>
                <a:latin typeface="Roboto"/>
                <a:cs typeface="Roboto"/>
              </a:rPr>
              <a:t>Ma</a:t>
            </a:r>
            <a:r>
              <a:rPr dirty="0" sz="1000" spc="-204">
                <a:solidFill>
                  <a:srgbClr val="FFFFFF"/>
                </a:solidFill>
                <a:latin typeface="Roboto"/>
                <a:cs typeface="Roboto"/>
              </a:rPr>
              <a:t>d</a:t>
            </a:r>
            <a:r>
              <a:rPr dirty="0" sz="1150" spc="-600">
                <a:solidFill>
                  <a:srgbClr val="6A7280"/>
                </a:solidFill>
                <a:latin typeface="Roboto"/>
                <a:cs typeface="Roboto"/>
              </a:rPr>
              <a:t>S</a:t>
            </a:r>
            <a:r>
              <a:rPr dirty="0" sz="1000" spc="-40">
                <a:solidFill>
                  <a:srgbClr val="FFFFFF"/>
                </a:solidFill>
                <a:latin typeface="Roboto"/>
                <a:cs typeface="Roboto"/>
              </a:rPr>
              <a:t>e</a:t>
            </a:r>
            <a:r>
              <a:rPr dirty="0" sz="1150" spc="-110">
                <a:solidFill>
                  <a:srgbClr val="6A7280"/>
                </a:solidFill>
                <a:latin typeface="Roboto"/>
                <a:cs typeface="Roboto"/>
              </a:rPr>
              <a:t>l</a:t>
            </a:r>
            <a:r>
              <a:rPr dirty="0" sz="1000" spc="-755">
                <a:solidFill>
                  <a:srgbClr val="FFFFFF"/>
                </a:solidFill>
                <a:latin typeface="Roboto"/>
                <a:cs typeface="Roboto"/>
              </a:rPr>
              <a:t>w</a:t>
            </a:r>
            <a:r>
              <a:rPr dirty="0" sz="1150" spc="-55">
                <a:solidFill>
                  <a:srgbClr val="6A7280"/>
                </a:solidFill>
                <a:latin typeface="Roboto"/>
                <a:cs typeface="Roboto"/>
              </a:rPr>
              <a:t>i</a:t>
            </a:r>
            <a:r>
              <a:rPr dirty="0" sz="1150" spc="-300">
                <a:solidFill>
                  <a:srgbClr val="6A7280"/>
                </a:solidFill>
                <a:latin typeface="Roboto"/>
                <a:cs typeface="Roboto"/>
              </a:rPr>
              <a:t>d</a:t>
            </a:r>
            <a:r>
              <a:rPr dirty="0" sz="1000" spc="-55">
                <a:solidFill>
                  <a:srgbClr val="FFFFFF"/>
                </a:solidFill>
                <a:latin typeface="Roboto"/>
                <a:cs typeface="Roboto"/>
              </a:rPr>
              <a:t>i</a:t>
            </a:r>
            <a:r>
              <a:rPr dirty="0" sz="1000" spc="-395">
                <a:solidFill>
                  <a:srgbClr val="FFFFFF"/>
                </a:solidFill>
                <a:latin typeface="Roboto"/>
                <a:cs typeface="Roboto"/>
              </a:rPr>
              <a:t>t</a:t>
            </a:r>
            <a:r>
              <a:rPr dirty="0" sz="1150" spc="-350">
                <a:solidFill>
                  <a:srgbClr val="6A7280"/>
                </a:solidFill>
                <a:latin typeface="Roboto"/>
                <a:cs typeface="Roboto"/>
              </a:rPr>
              <a:t>e</a:t>
            </a:r>
            <a:r>
              <a:rPr dirty="0" sz="1000" spc="-30">
                <a:solidFill>
                  <a:srgbClr val="FFFFFF"/>
                </a:solidFill>
                <a:latin typeface="Roboto"/>
                <a:cs typeface="Roboto"/>
              </a:rPr>
              <a:t>h</a:t>
            </a:r>
            <a:fld id="{81D60167-4931-47E6-BA6A-407CBD079E47}" type="slidenum">
              <a:rPr dirty="0" sz="1150" spc="-55">
                <a:solidFill>
                  <a:srgbClr val="6A7280"/>
                </a:solidFill>
                <a:latin typeface="Roboto"/>
                <a:cs typeface="Roboto"/>
              </a:rPr>
              <a:t>9</a:t>
            </a:fld>
            <a:r>
              <a:rPr dirty="0" sz="1000" spc="-300">
                <a:solidFill>
                  <a:srgbClr val="FFFFFF"/>
                </a:solidFill>
                <a:latin typeface="Roboto"/>
                <a:cs typeface="Roboto"/>
              </a:rPr>
              <a:t>G</a:t>
            </a:r>
            <a:r>
              <a:rPr dirty="0" sz="1150" spc="-300">
                <a:solidFill>
                  <a:srgbClr val="6A7280"/>
                </a:solidFill>
                <a:latin typeface="Roboto"/>
                <a:cs typeface="Roboto"/>
              </a:rPr>
              <a:t>/</a:t>
            </a:r>
            <a:r>
              <a:rPr dirty="0" sz="1000" spc="-350">
                <a:solidFill>
                  <a:srgbClr val="FFFFFF"/>
                </a:solidFill>
                <a:latin typeface="Roboto"/>
                <a:cs typeface="Roboto"/>
              </a:rPr>
              <a:t>e</a:t>
            </a:r>
            <a:r>
              <a:rPr dirty="0" sz="1150" spc="-420">
                <a:solidFill>
                  <a:srgbClr val="6A7280"/>
                </a:solidFill>
                <a:latin typeface="Roboto"/>
                <a:cs typeface="Roboto"/>
              </a:rPr>
              <a:t>1</a:t>
            </a:r>
            <a:r>
              <a:rPr dirty="0" sz="1000" spc="-250">
                <a:solidFill>
                  <a:srgbClr val="FFFFFF"/>
                </a:solidFill>
                <a:latin typeface="Roboto"/>
                <a:cs typeface="Roboto"/>
              </a:rPr>
              <a:t>n</a:t>
            </a:r>
            <a:r>
              <a:rPr dirty="0" sz="1150" spc="-525">
                <a:solidFill>
                  <a:srgbClr val="6A7280"/>
                </a:solidFill>
                <a:latin typeface="Roboto"/>
                <a:cs typeface="Roboto"/>
              </a:rPr>
              <a:t>0</a:t>
            </a:r>
            <a:r>
              <a:rPr dirty="0" sz="1000" spc="-55">
                <a:solidFill>
                  <a:srgbClr val="FFFFFF"/>
                </a:solidFill>
                <a:latin typeface="Roboto"/>
                <a:cs typeface="Roboto"/>
              </a:rPr>
              <a:t>spark</a:t>
            </a:r>
            <a:endParaRPr sz="10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12192000" cy="7162800"/>
          </a:xfrm>
          <a:custGeom>
            <a:avLst/>
            <a:gdLst/>
            <a:ahLst/>
            <a:cxnLst/>
            <a:rect l="l" t="t" r="r" b="b"/>
            <a:pathLst>
              <a:path w="12192000" h="7162800">
                <a:moveTo>
                  <a:pt x="12191999" y="7162799"/>
                </a:moveTo>
                <a:lnTo>
                  <a:pt x="0" y="7162799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7162799"/>
                </a:lnTo>
                <a:close/>
              </a:path>
            </a:pathLst>
          </a:custGeom>
          <a:solidFill>
            <a:srgbClr val="F5F6FA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" name="object 3" descr=""/>
          <p:cNvGrpSpPr/>
          <p:nvPr/>
        </p:nvGrpSpPr>
        <p:grpSpPr>
          <a:xfrm>
            <a:off x="152399" y="152399"/>
            <a:ext cx="11887200" cy="6858000"/>
            <a:chOff x="152399" y="152399"/>
            <a:chExt cx="11887200" cy="6858000"/>
          </a:xfrm>
        </p:grpSpPr>
        <p:sp>
          <p:nvSpPr>
            <p:cNvPr id="4" name="object 4" descr=""/>
            <p:cNvSpPr/>
            <p:nvPr/>
          </p:nvSpPr>
          <p:spPr>
            <a:xfrm>
              <a:off x="152399" y="152399"/>
              <a:ext cx="11887200" cy="6858000"/>
            </a:xfrm>
            <a:custGeom>
              <a:avLst/>
              <a:gdLst/>
              <a:ahLst/>
              <a:cxnLst/>
              <a:rect l="l" t="t" r="r" b="b"/>
              <a:pathLst>
                <a:path w="11887200" h="6858000">
                  <a:moveTo>
                    <a:pt x="11816002" y="6857998"/>
                  </a:moveTo>
                  <a:lnTo>
                    <a:pt x="71196" y="6857998"/>
                  </a:lnTo>
                  <a:lnTo>
                    <a:pt x="66241" y="6857510"/>
                  </a:lnTo>
                  <a:lnTo>
                    <a:pt x="29705" y="6842377"/>
                  </a:lnTo>
                  <a:lnTo>
                    <a:pt x="3885" y="6806336"/>
                  </a:lnTo>
                  <a:lnTo>
                    <a:pt x="0" y="6786802"/>
                  </a:lnTo>
                  <a:lnTo>
                    <a:pt x="0" y="6781799"/>
                  </a:lnTo>
                  <a:lnTo>
                    <a:pt x="0" y="71196"/>
                  </a:lnTo>
                  <a:lnTo>
                    <a:pt x="15621" y="29705"/>
                  </a:lnTo>
                  <a:lnTo>
                    <a:pt x="51662" y="3885"/>
                  </a:lnTo>
                  <a:lnTo>
                    <a:pt x="71196" y="0"/>
                  </a:lnTo>
                  <a:lnTo>
                    <a:pt x="11816002" y="0"/>
                  </a:lnTo>
                  <a:lnTo>
                    <a:pt x="11857492" y="15621"/>
                  </a:lnTo>
                  <a:lnTo>
                    <a:pt x="11883312" y="51662"/>
                  </a:lnTo>
                  <a:lnTo>
                    <a:pt x="11887197" y="71196"/>
                  </a:lnTo>
                  <a:lnTo>
                    <a:pt x="11887197" y="6786802"/>
                  </a:lnTo>
                  <a:lnTo>
                    <a:pt x="11871575" y="6828293"/>
                  </a:lnTo>
                  <a:lnTo>
                    <a:pt x="11835535" y="6854112"/>
                  </a:lnTo>
                  <a:lnTo>
                    <a:pt x="11820956" y="6857510"/>
                  </a:lnTo>
                  <a:lnTo>
                    <a:pt x="11816002" y="685799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2399" y="152400"/>
              <a:ext cx="11887199" cy="76199"/>
            </a:xfrm>
            <a:prstGeom prst="rect">
              <a:avLst/>
            </a:prstGeom>
          </p:spPr>
        </p:pic>
        <p:sp>
          <p:nvSpPr>
            <p:cNvPr id="6" name="object 6" descr=""/>
            <p:cNvSpPr/>
            <p:nvPr/>
          </p:nvSpPr>
          <p:spPr>
            <a:xfrm>
              <a:off x="152399" y="228599"/>
              <a:ext cx="11887200" cy="542925"/>
            </a:xfrm>
            <a:custGeom>
              <a:avLst/>
              <a:gdLst/>
              <a:ahLst/>
              <a:cxnLst/>
              <a:rect l="l" t="t" r="r" b="b"/>
              <a:pathLst>
                <a:path w="11887200" h="542925">
                  <a:moveTo>
                    <a:pt x="11887199" y="542924"/>
                  </a:moveTo>
                  <a:lnTo>
                    <a:pt x="0" y="542924"/>
                  </a:lnTo>
                  <a:lnTo>
                    <a:pt x="0" y="0"/>
                  </a:lnTo>
                  <a:lnTo>
                    <a:pt x="11887199" y="0"/>
                  </a:lnTo>
                  <a:lnTo>
                    <a:pt x="11887199" y="542924"/>
                  </a:lnTo>
                  <a:close/>
                </a:path>
              </a:pathLst>
            </a:custGeom>
            <a:solidFill>
              <a:srgbClr val="F2F4F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152399" y="761999"/>
              <a:ext cx="11887200" cy="9525"/>
            </a:xfrm>
            <a:custGeom>
              <a:avLst/>
              <a:gdLst/>
              <a:ahLst/>
              <a:cxnLst/>
              <a:rect l="l" t="t" r="r" b="b"/>
              <a:pathLst>
                <a:path w="11887200" h="9525">
                  <a:moveTo>
                    <a:pt x="11887199" y="9524"/>
                  </a:moveTo>
                  <a:lnTo>
                    <a:pt x="0" y="9524"/>
                  </a:lnTo>
                  <a:lnTo>
                    <a:pt x="0" y="0"/>
                  </a:lnTo>
                  <a:lnTo>
                    <a:pt x="11887199" y="0"/>
                  </a:lnTo>
                  <a:lnTo>
                    <a:pt x="11887199" y="9524"/>
                  </a:lnTo>
                  <a:close/>
                </a:path>
              </a:pathLst>
            </a:custGeom>
            <a:solidFill>
              <a:srgbClr val="D0D5D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520700" y="304396"/>
            <a:ext cx="3035300" cy="33083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14"/>
              <a:t>Conclusions</a:t>
            </a:r>
            <a:r>
              <a:rPr dirty="0"/>
              <a:t> </a:t>
            </a:r>
            <a:r>
              <a:rPr dirty="0" spc="-120"/>
              <a:t>and</a:t>
            </a:r>
            <a:r>
              <a:rPr dirty="0"/>
              <a:t> </a:t>
            </a:r>
            <a:r>
              <a:rPr dirty="0" spc="-120"/>
              <a:t>Future</a:t>
            </a:r>
            <a:r>
              <a:rPr dirty="0"/>
              <a:t> </a:t>
            </a:r>
            <a:r>
              <a:rPr dirty="0" spc="-80"/>
              <a:t>Work</a:t>
            </a:r>
          </a:p>
        </p:txBody>
      </p:sp>
      <p:sp>
        <p:nvSpPr>
          <p:cNvPr id="9" name="object 9" descr=""/>
          <p:cNvSpPr/>
          <p:nvPr/>
        </p:nvSpPr>
        <p:spPr>
          <a:xfrm>
            <a:off x="11353798" y="342899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399" y="304799"/>
                </a:moveTo>
                <a:lnTo>
                  <a:pt x="108158" y="298239"/>
                </a:lnTo>
                <a:lnTo>
                  <a:pt x="67730" y="279115"/>
                </a:lnTo>
                <a:lnTo>
                  <a:pt x="34591" y="249082"/>
                </a:lnTo>
                <a:lnTo>
                  <a:pt x="11599" y="210720"/>
                </a:lnTo>
                <a:lnTo>
                  <a:pt x="731" y="167337"/>
                </a:lnTo>
                <a:lnTo>
                  <a:pt x="0" y="152399"/>
                </a:lnTo>
                <a:lnTo>
                  <a:pt x="182" y="144912"/>
                </a:lnTo>
                <a:lnTo>
                  <a:pt x="8903" y="101066"/>
                </a:lnTo>
                <a:lnTo>
                  <a:pt x="29994" y="61607"/>
                </a:lnTo>
                <a:lnTo>
                  <a:pt x="61607" y="29995"/>
                </a:lnTo>
                <a:lnTo>
                  <a:pt x="101064" y="8904"/>
                </a:lnTo>
                <a:lnTo>
                  <a:pt x="144912" y="183"/>
                </a:lnTo>
                <a:lnTo>
                  <a:pt x="152399" y="0"/>
                </a:lnTo>
                <a:lnTo>
                  <a:pt x="159886" y="183"/>
                </a:lnTo>
                <a:lnTo>
                  <a:pt x="203731" y="8904"/>
                </a:lnTo>
                <a:lnTo>
                  <a:pt x="243190" y="29995"/>
                </a:lnTo>
                <a:lnTo>
                  <a:pt x="274802" y="61607"/>
                </a:lnTo>
                <a:lnTo>
                  <a:pt x="295894" y="101066"/>
                </a:lnTo>
                <a:lnTo>
                  <a:pt x="304616" y="144912"/>
                </a:lnTo>
                <a:lnTo>
                  <a:pt x="304799" y="152399"/>
                </a:lnTo>
                <a:lnTo>
                  <a:pt x="304616" y="159886"/>
                </a:lnTo>
                <a:lnTo>
                  <a:pt x="295894" y="203733"/>
                </a:lnTo>
                <a:lnTo>
                  <a:pt x="274803" y="243192"/>
                </a:lnTo>
                <a:lnTo>
                  <a:pt x="243190" y="274804"/>
                </a:lnTo>
                <a:lnTo>
                  <a:pt x="203731" y="295895"/>
                </a:lnTo>
                <a:lnTo>
                  <a:pt x="159886" y="304616"/>
                </a:lnTo>
                <a:lnTo>
                  <a:pt x="152399" y="304799"/>
                </a:lnTo>
                <a:close/>
              </a:path>
            </a:pathLst>
          </a:custGeom>
          <a:solidFill>
            <a:srgbClr val="1D40A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 txBox="1"/>
          <p:nvPr/>
        </p:nvSpPr>
        <p:spPr>
          <a:xfrm>
            <a:off x="10506173" y="360679"/>
            <a:ext cx="1100455" cy="22923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911860" algn="l"/>
              </a:tabLst>
            </a:pPr>
            <a:r>
              <a:rPr dirty="0" sz="1300" spc="-10">
                <a:solidFill>
                  <a:srgbClr val="6A7280"/>
                </a:solidFill>
                <a:latin typeface="Roboto"/>
                <a:cs typeface="Roboto"/>
              </a:rPr>
              <a:t>Framework</a:t>
            </a:r>
            <a:r>
              <a:rPr dirty="0" sz="1300">
                <a:solidFill>
                  <a:srgbClr val="6A7280"/>
                </a:solidFill>
                <a:latin typeface="Roboto"/>
                <a:cs typeface="Roboto"/>
              </a:rPr>
              <a:t>	</a:t>
            </a:r>
            <a:r>
              <a:rPr dirty="0" sz="1300" spc="-25" b="1">
                <a:solidFill>
                  <a:srgbClr val="FFFFFF"/>
                </a:solidFill>
                <a:latin typeface="Arial Nova"/>
                <a:cs typeface="Arial Nova"/>
              </a:rPr>
              <a:t>32</a:t>
            </a:r>
            <a:endParaRPr sz="1300">
              <a:latin typeface="Arial Nova"/>
              <a:cs typeface="Arial Nova"/>
            </a:endParaRPr>
          </a:p>
        </p:txBody>
      </p:sp>
      <p:sp>
        <p:nvSpPr>
          <p:cNvPr id="11" name="object 11" descr=""/>
          <p:cNvSpPr/>
          <p:nvPr/>
        </p:nvSpPr>
        <p:spPr>
          <a:xfrm>
            <a:off x="380999" y="2714624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11429998" y="9524"/>
                </a:moveTo>
                <a:lnTo>
                  <a:pt x="0" y="9524"/>
                </a:lnTo>
                <a:lnTo>
                  <a:pt x="0" y="0"/>
                </a:lnTo>
                <a:lnTo>
                  <a:pt x="11429998" y="0"/>
                </a:lnTo>
                <a:lnTo>
                  <a:pt x="11429998" y="9524"/>
                </a:lnTo>
                <a:close/>
              </a:path>
            </a:pathLst>
          </a:custGeom>
          <a:solidFill>
            <a:srgbClr val="D0D5D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"/>
          <p:cNvSpPr/>
          <p:nvPr/>
        </p:nvSpPr>
        <p:spPr>
          <a:xfrm>
            <a:off x="380999" y="1000124"/>
            <a:ext cx="38100" cy="1485900"/>
          </a:xfrm>
          <a:custGeom>
            <a:avLst/>
            <a:gdLst/>
            <a:ahLst/>
            <a:cxnLst/>
            <a:rect l="l" t="t" r="r" b="b"/>
            <a:pathLst>
              <a:path w="38100" h="1485900">
                <a:moveTo>
                  <a:pt x="38099" y="1485899"/>
                </a:moveTo>
                <a:lnTo>
                  <a:pt x="0" y="1485899"/>
                </a:lnTo>
                <a:lnTo>
                  <a:pt x="0" y="0"/>
                </a:lnTo>
                <a:lnTo>
                  <a:pt x="38099" y="0"/>
                </a:lnTo>
                <a:lnTo>
                  <a:pt x="38099" y="14858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3" name="object 13" descr=""/>
          <p:cNvGrpSpPr/>
          <p:nvPr/>
        </p:nvGrpSpPr>
        <p:grpSpPr>
          <a:xfrm>
            <a:off x="571499" y="1038224"/>
            <a:ext cx="323850" cy="381000"/>
            <a:chOff x="571499" y="1038224"/>
            <a:chExt cx="323850" cy="381000"/>
          </a:xfrm>
        </p:grpSpPr>
        <p:sp>
          <p:nvSpPr>
            <p:cNvPr id="14" name="object 14" descr=""/>
            <p:cNvSpPr/>
            <p:nvPr/>
          </p:nvSpPr>
          <p:spPr>
            <a:xfrm>
              <a:off x="571499" y="1038224"/>
              <a:ext cx="323850" cy="381000"/>
            </a:xfrm>
            <a:custGeom>
              <a:avLst/>
              <a:gdLst/>
              <a:ahLst/>
              <a:cxnLst/>
              <a:rect l="l" t="t" r="r" b="b"/>
              <a:pathLst>
                <a:path w="323850" h="381000">
                  <a:moveTo>
                    <a:pt x="161924" y="380999"/>
                  </a:moveTo>
                  <a:lnTo>
                    <a:pt x="122570" y="376145"/>
                  </a:lnTo>
                  <a:lnTo>
                    <a:pt x="85593" y="361881"/>
                  </a:lnTo>
                  <a:lnTo>
                    <a:pt x="53189" y="339060"/>
                  </a:lnTo>
                  <a:lnTo>
                    <a:pt x="27289" y="309035"/>
                  </a:lnTo>
                  <a:lnTo>
                    <a:pt x="9461" y="273617"/>
                  </a:lnTo>
                  <a:lnTo>
                    <a:pt x="777" y="234946"/>
                  </a:lnTo>
                  <a:lnTo>
                    <a:pt x="0" y="219074"/>
                  </a:lnTo>
                  <a:lnTo>
                    <a:pt x="0" y="161924"/>
                  </a:lnTo>
                  <a:lnTo>
                    <a:pt x="4853" y="122570"/>
                  </a:lnTo>
                  <a:lnTo>
                    <a:pt x="19118" y="85593"/>
                  </a:lnTo>
                  <a:lnTo>
                    <a:pt x="41939" y="53189"/>
                  </a:lnTo>
                  <a:lnTo>
                    <a:pt x="71964" y="27289"/>
                  </a:lnTo>
                  <a:lnTo>
                    <a:pt x="107382" y="9461"/>
                  </a:lnTo>
                  <a:lnTo>
                    <a:pt x="146053" y="777"/>
                  </a:lnTo>
                  <a:lnTo>
                    <a:pt x="161924" y="0"/>
                  </a:lnTo>
                  <a:lnTo>
                    <a:pt x="169879" y="194"/>
                  </a:lnTo>
                  <a:lnTo>
                    <a:pt x="208929" y="6970"/>
                  </a:lnTo>
                  <a:lnTo>
                    <a:pt x="245163" y="23031"/>
                  </a:lnTo>
                  <a:lnTo>
                    <a:pt x="276423" y="47426"/>
                  </a:lnTo>
                  <a:lnTo>
                    <a:pt x="300818" y="78686"/>
                  </a:lnTo>
                  <a:lnTo>
                    <a:pt x="316879" y="114920"/>
                  </a:lnTo>
                  <a:lnTo>
                    <a:pt x="323655" y="153969"/>
                  </a:lnTo>
                  <a:lnTo>
                    <a:pt x="323849" y="161924"/>
                  </a:lnTo>
                  <a:lnTo>
                    <a:pt x="323849" y="219074"/>
                  </a:lnTo>
                  <a:lnTo>
                    <a:pt x="318995" y="258428"/>
                  </a:lnTo>
                  <a:lnTo>
                    <a:pt x="304731" y="295406"/>
                  </a:lnTo>
                  <a:lnTo>
                    <a:pt x="281910" y="327810"/>
                  </a:lnTo>
                  <a:lnTo>
                    <a:pt x="251885" y="353710"/>
                  </a:lnTo>
                  <a:lnTo>
                    <a:pt x="216467" y="371538"/>
                  </a:lnTo>
                  <a:lnTo>
                    <a:pt x="177796" y="380221"/>
                  </a:lnTo>
                  <a:lnTo>
                    <a:pt x="161924" y="380999"/>
                  </a:lnTo>
                  <a:close/>
                </a:path>
              </a:pathLst>
            </a:custGeom>
            <a:solidFill>
              <a:srgbClr val="2562E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5" name="object 1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47700" y="1142999"/>
              <a:ext cx="171449" cy="152399"/>
            </a:xfrm>
            <a:prstGeom prst="rect">
              <a:avLst/>
            </a:prstGeom>
          </p:spPr>
        </p:pic>
      </p:grpSp>
      <p:grpSp>
        <p:nvGrpSpPr>
          <p:cNvPr id="16" name="object 16" descr=""/>
          <p:cNvGrpSpPr/>
          <p:nvPr/>
        </p:nvGrpSpPr>
        <p:grpSpPr>
          <a:xfrm>
            <a:off x="380999" y="4248149"/>
            <a:ext cx="11430000" cy="723900"/>
            <a:chOff x="380999" y="4248149"/>
            <a:chExt cx="11430000" cy="723900"/>
          </a:xfrm>
        </p:grpSpPr>
        <p:sp>
          <p:nvSpPr>
            <p:cNvPr id="17" name="object 17" descr=""/>
            <p:cNvSpPr/>
            <p:nvPr/>
          </p:nvSpPr>
          <p:spPr>
            <a:xfrm>
              <a:off x="380999" y="4248149"/>
              <a:ext cx="11430000" cy="723900"/>
            </a:xfrm>
            <a:custGeom>
              <a:avLst/>
              <a:gdLst/>
              <a:ahLst/>
              <a:cxnLst/>
              <a:rect l="l" t="t" r="r" b="b"/>
              <a:pathLst>
                <a:path w="11430000" h="723900">
                  <a:moveTo>
                    <a:pt x="11358801" y="723899"/>
                  </a:moveTo>
                  <a:lnTo>
                    <a:pt x="71196" y="723899"/>
                  </a:lnTo>
                  <a:lnTo>
                    <a:pt x="66241" y="723410"/>
                  </a:lnTo>
                  <a:lnTo>
                    <a:pt x="29705" y="708277"/>
                  </a:lnTo>
                  <a:lnTo>
                    <a:pt x="3885" y="672237"/>
                  </a:lnTo>
                  <a:lnTo>
                    <a:pt x="0" y="652703"/>
                  </a:lnTo>
                  <a:lnTo>
                    <a:pt x="0" y="647699"/>
                  </a:lnTo>
                  <a:lnTo>
                    <a:pt x="0" y="71196"/>
                  </a:lnTo>
                  <a:lnTo>
                    <a:pt x="15621" y="29705"/>
                  </a:lnTo>
                  <a:lnTo>
                    <a:pt x="51661" y="3885"/>
                  </a:lnTo>
                  <a:lnTo>
                    <a:pt x="71196" y="0"/>
                  </a:lnTo>
                  <a:lnTo>
                    <a:pt x="11358801" y="0"/>
                  </a:lnTo>
                  <a:lnTo>
                    <a:pt x="11400293" y="15621"/>
                  </a:lnTo>
                  <a:lnTo>
                    <a:pt x="11426112" y="51661"/>
                  </a:lnTo>
                  <a:lnTo>
                    <a:pt x="11429998" y="71196"/>
                  </a:lnTo>
                  <a:lnTo>
                    <a:pt x="11429998" y="652703"/>
                  </a:lnTo>
                  <a:lnTo>
                    <a:pt x="11414376" y="694194"/>
                  </a:lnTo>
                  <a:lnTo>
                    <a:pt x="11378336" y="720013"/>
                  </a:lnTo>
                  <a:lnTo>
                    <a:pt x="11363757" y="723411"/>
                  </a:lnTo>
                  <a:lnTo>
                    <a:pt x="11358801" y="723899"/>
                  </a:lnTo>
                  <a:close/>
                </a:path>
              </a:pathLst>
            </a:custGeom>
            <a:solidFill>
              <a:srgbClr val="EFF5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495299" y="4419599"/>
              <a:ext cx="323850" cy="381000"/>
            </a:xfrm>
            <a:custGeom>
              <a:avLst/>
              <a:gdLst/>
              <a:ahLst/>
              <a:cxnLst/>
              <a:rect l="l" t="t" r="r" b="b"/>
              <a:pathLst>
                <a:path w="323850" h="381000">
                  <a:moveTo>
                    <a:pt x="161924" y="380999"/>
                  </a:moveTo>
                  <a:lnTo>
                    <a:pt x="122570" y="376145"/>
                  </a:lnTo>
                  <a:lnTo>
                    <a:pt x="85593" y="361881"/>
                  </a:lnTo>
                  <a:lnTo>
                    <a:pt x="53189" y="339060"/>
                  </a:lnTo>
                  <a:lnTo>
                    <a:pt x="27289" y="309035"/>
                  </a:lnTo>
                  <a:lnTo>
                    <a:pt x="9461" y="273616"/>
                  </a:lnTo>
                  <a:lnTo>
                    <a:pt x="777" y="234946"/>
                  </a:lnTo>
                  <a:lnTo>
                    <a:pt x="0" y="219074"/>
                  </a:lnTo>
                  <a:lnTo>
                    <a:pt x="0" y="161924"/>
                  </a:lnTo>
                  <a:lnTo>
                    <a:pt x="4853" y="122570"/>
                  </a:lnTo>
                  <a:lnTo>
                    <a:pt x="19118" y="85592"/>
                  </a:lnTo>
                  <a:lnTo>
                    <a:pt x="41939" y="53189"/>
                  </a:lnTo>
                  <a:lnTo>
                    <a:pt x="71964" y="27288"/>
                  </a:lnTo>
                  <a:lnTo>
                    <a:pt x="107382" y="9460"/>
                  </a:lnTo>
                  <a:lnTo>
                    <a:pt x="146053" y="777"/>
                  </a:lnTo>
                  <a:lnTo>
                    <a:pt x="161924" y="0"/>
                  </a:lnTo>
                  <a:lnTo>
                    <a:pt x="169879" y="194"/>
                  </a:lnTo>
                  <a:lnTo>
                    <a:pt x="208929" y="6970"/>
                  </a:lnTo>
                  <a:lnTo>
                    <a:pt x="245163" y="23031"/>
                  </a:lnTo>
                  <a:lnTo>
                    <a:pt x="276423" y="47426"/>
                  </a:lnTo>
                  <a:lnTo>
                    <a:pt x="300818" y="78686"/>
                  </a:lnTo>
                  <a:lnTo>
                    <a:pt x="316879" y="114919"/>
                  </a:lnTo>
                  <a:lnTo>
                    <a:pt x="323655" y="153969"/>
                  </a:lnTo>
                  <a:lnTo>
                    <a:pt x="323849" y="161924"/>
                  </a:lnTo>
                  <a:lnTo>
                    <a:pt x="323849" y="219074"/>
                  </a:lnTo>
                  <a:lnTo>
                    <a:pt x="318995" y="258428"/>
                  </a:lnTo>
                  <a:lnTo>
                    <a:pt x="304731" y="295406"/>
                  </a:lnTo>
                  <a:lnTo>
                    <a:pt x="281910" y="327810"/>
                  </a:lnTo>
                  <a:lnTo>
                    <a:pt x="251885" y="353710"/>
                  </a:lnTo>
                  <a:lnTo>
                    <a:pt x="216467" y="371538"/>
                  </a:lnTo>
                  <a:lnTo>
                    <a:pt x="177796" y="380221"/>
                  </a:lnTo>
                  <a:lnTo>
                    <a:pt x="161924" y="380999"/>
                  </a:lnTo>
                  <a:close/>
                </a:path>
              </a:pathLst>
            </a:custGeom>
            <a:solidFill>
              <a:srgbClr val="DAE9FE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9" name="object 19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81024" y="4533899"/>
              <a:ext cx="152399" cy="133349"/>
            </a:xfrm>
            <a:prstGeom prst="rect">
              <a:avLst/>
            </a:prstGeom>
          </p:spPr>
        </p:pic>
      </p:grpSp>
      <p:sp>
        <p:nvSpPr>
          <p:cNvPr id="20" name="object 20" descr=""/>
          <p:cNvSpPr txBox="1"/>
          <p:nvPr/>
        </p:nvSpPr>
        <p:spPr>
          <a:xfrm>
            <a:off x="996950" y="1082436"/>
            <a:ext cx="1400810" cy="2546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105" b="1">
                <a:solidFill>
                  <a:srgbClr val="1D40AF"/>
                </a:solidFill>
                <a:latin typeface="Roboto"/>
                <a:cs typeface="Roboto"/>
              </a:rPr>
              <a:t>Key</a:t>
            </a:r>
            <a:r>
              <a:rPr dirty="0" sz="1500" spc="-20" b="1">
                <a:solidFill>
                  <a:srgbClr val="1D40AF"/>
                </a:solidFill>
                <a:latin typeface="Roboto"/>
                <a:cs typeface="Roboto"/>
              </a:rPr>
              <a:t> </a:t>
            </a:r>
            <a:r>
              <a:rPr dirty="0" sz="1500" spc="-75" b="1">
                <a:solidFill>
                  <a:srgbClr val="1D40AF"/>
                </a:solidFill>
                <a:latin typeface="Roboto"/>
                <a:cs typeface="Roboto"/>
              </a:rPr>
              <a:t>Contributions</a:t>
            </a:r>
            <a:endParaRPr sz="1500">
              <a:latin typeface="Roboto"/>
              <a:cs typeface="Roboto"/>
            </a:endParaRPr>
          </a:p>
        </p:txBody>
      </p:sp>
      <p:sp>
        <p:nvSpPr>
          <p:cNvPr id="21" name="object 21" descr=""/>
          <p:cNvSpPr/>
          <p:nvPr/>
        </p:nvSpPr>
        <p:spPr>
          <a:xfrm>
            <a:off x="657224" y="1581149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21576" y="38099"/>
                </a:moveTo>
                <a:lnTo>
                  <a:pt x="16523" y="38099"/>
                </a:lnTo>
                <a:lnTo>
                  <a:pt x="14093" y="37616"/>
                </a:lnTo>
                <a:lnTo>
                  <a:pt x="0" y="21576"/>
                </a:lnTo>
                <a:lnTo>
                  <a:pt x="0" y="16523"/>
                </a:lnTo>
                <a:lnTo>
                  <a:pt x="16523" y="0"/>
                </a:lnTo>
                <a:lnTo>
                  <a:pt x="21576" y="0"/>
                </a:lnTo>
                <a:lnTo>
                  <a:pt x="38100" y="19049"/>
                </a:lnTo>
                <a:lnTo>
                  <a:pt x="38099" y="21576"/>
                </a:lnTo>
                <a:lnTo>
                  <a:pt x="21576" y="38099"/>
                </a:lnTo>
                <a:close/>
              </a:path>
            </a:pathLst>
          </a:custGeom>
          <a:solidFill>
            <a:srgbClr val="3740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 descr=""/>
          <p:cNvSpPr/>
          <p:nvPr/>
        </p:nvSpPr>
        <p:spPr>
          <a:xfrm>
            <a:off x="657224" y="1771649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21576" y="38099"/>
                </a:moveTo>
                <a:lnTo>
                  <a:pt x="16523" y="38099"/>
                </a:lnTo>
                <a:lnTo>
                  <a:pt x="14093" y="37616"/>
                </a:lnTo>
                <a:lnTo>
                  <a:pt x="0" y="21576"/>
                </a:lnTo>
                <a:lnTo>
                  <a:pt x="0" y="16523"/>
                </a:lnTo>
                <a:lnTo>
                  <a:pt x="16523" y="0"/>
                </a:lnTo>
                <a:lnTo>
                  <a:pt x="21576" y="0"/>
                </a:lnTo>
                <a:lnTo>
                  <a:pt x="38100" y="19049"/>
                </a:lnTo>
                <a:lnTo>
                  <a:pt x="38099" y="21576"/>
                </a:lnTo>
                <a:lnTo>
                  <a:pt x="21576" y="38099"/>
                </a:lnTo>
                <a:close/>
              </a:path>
            </a:pathLst>
          </a:custGeom>
          <a:solidFill>
            <a:srgbClr val="3740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 descr=""/>
          <p:cNvSpPr/>
          <p:nvPr/>
        </p:nvSpPr>
        <p:spPr>
          <a:xfrm>
            <a:off x="657224" y="1962149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21576" y="38099"/>
                </a:moveTo>
                <a:lnTo>
                  <a:pt x="16523" y="38099"/>
                </a:lnTo>
                <a:lnTo>
                  <a:pt x="14093" y="37616"/>
                </a:lnTo>
                <a:lnTo>
                  <a:pt x="0" y="21576"/>
                </a:lnTo>
                <a:lnTo>
                  <a:pt x="0" y="16523"/>
                </a:lnTo>
                <a:lnTo>
                  <a:pt x="16523" y="0"/>
                </a:lnTo>
                <a:lnTo>
                  <a:pt x="21576" y="0"/>
                </a:lnTo>
                <a:lnTo>
                  <a:pt x="38100" y="19049"/>
                </a:lnTo>
                <a:lnTo>
                  <a:pt x="38099" y="21576"/>
                </a:lnTo>
                <a:lnTo>
                  <a:pt x="21576" y="38099"/>
                </a:lnTo>
                <a:close/>
              </a:path>
            </a:pathLst>
          </a:custGeom>
          <a:solidFill>
            <a:srgbClr val="3740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 descr=""/>
          <p:cNvSpPr/>
          <p:nvPr/>
        </p:nvSpPr>
        <p:spPr>
          <a:xfrm>
            <a:off x="657224" y="2152649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21576" y="38099"/>
                </a:moveTo>
                <a:lnTo>
                  <a:pt x="16523" y="38099"/>
                </a:lnTo>
                <a:lnTo>
                  <a:pt x="14093" y="37616"/>
                </a:lnTo>
                <a:lnTo>
                  <a:pt x="0" y="21576"/>
                </a:lnTo>
                <a:lnTo>
                  <a:pt x="0" y="16523"/>
                </a:lnTo>
                <a:lnTo>
                  <a:pt x="16523" y="0"/>
                </a:lnTo>
                <a:lnTo>
                  <a:pt x="21576" y="0"/>
                </a:lnTo>
                <a:lnTo>
                  <a:pt x="38100" y="19049"/>
                </a:lnTo>
                <a:lnTo>
                  <a:pt x="38099" y="21576"/>
                </a:lnTo>
                <a:lnTo>
                  <a:pt x="21576" y="38099"/>
                </a:lnTo>
                <a:close/>
              </a:path>
            </a:pathLst>
          </a:custGeom>
          <a:solidFill>
            <a:srgbClr val="3740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 descr=""/>
          <p:cNvSpPr/>
          <p:nvPr/>
        </p:nvSpPr>
        <p:spPr>
          <a:xfrm>
            <a:off x="657224" y="2343149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21576" y="38099"/>
                </a:moveTo>
                <a:lnTo>
                  <a:pt x="16523" y="38099"/>
                </a:lnTo>
                <a:lnTo>
                  <a:pt x="14093" y="37616"/>
                </a:lnTo>
                <a:lnTo>
                  <a:pt x="0" y="21575"/>
                </a:lnTo>
                <a:lnTo>
                  <a:pt x="0" y="16523"/>
                </a:lnTo>
                <a:lnTo>
                  <a:pt x="16523" y="0"/>
                </a:lnTo>
                <a:lnTo>
                  <a:pt x="21576" y="0"/>
                </a:lnTo>
                <a:lnTo>
                  <a:pt x="38100" y="19049"/>
                </a:lnTo>
                <a:lnTo>
                  <a:pt x="38099" y="21575"/>
                </a:lnTo>
                <a:lnTo>
                  <a:pt x="21576" y="38099"/>
                </a:lnTo>
                <a:close/>
              </a:path>
            </a:pathLst>
          </a:custGeom>
          <a:solidFill>
            <a:srgbClr val="3740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 descr=""/>
          <p:cNvSpPr txBox="1"/>
          <p:nvPr/>
        </p:nvSpPr>
        <p:spPr>
          <a:xfrm>
            <a:off x="787399" y="1464770"/>
            <a:ext cx="3136265" cy="9779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77470">
              <a:lnSpc>
                <a:spcPct val="108700"/>
              </a:lnSpc>
              <a:spcBef>
                <a:spcPts val="95"/>
              </a:spcBef>
            </a:pPr>
            <a:r>
              <a:rPr dirty="0" sz="1150" spc="-65">
                <a:solidFill>
                  <a:srgbClr val="374050"/>
                </a:solidFill>
                <a:latin typeface="Roboto"/>
                <a:cs typeface="Roboto"/>
              </a:rPr>
              <a:t>Novel</a:t>
            </a:r>
            <a:r>
              <a:rPr dirty="0" sz="1150" spc="1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150" spc="-55">
                <a:solidFill>
                  <a:srgbClr val="374050"/>
                </a:solidFill>
                <a:latin typeface="Roboto"/>
                <a:cs typeface="Roboto"/>
              </a:rPr>
              <a:t>hybrid</a:t>
            </a:r>
            <a:r>
              <a:rPr dirty="0" sz="1150" spc="1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150" spc="-80">
                <a:solidFill>
                  <a:srgbClr val="374050"/>
                </a:solidFill>
                <a:latin typeface="Roboto"/>
                <a:cs typeface="Roboto"/>
              </a:rPr>
              <a:t>MADRL</a:t>
            </a:r>
            <a:r>
              <a:rPr dirty="0" sz="1150" spc="1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150" spc="-50">
                <a:solidFill>
                  <a:srgbClr val="374050"/>
                </a:solidFill>
                <a:latin typeface="Roboto"/>
                <a:cs typeface="Roboto"/>
              </a:rPr>
              <a:t>with</a:t>
            </a:r>
            <a:r>
              <a:rPr dirty="0" sz="1150" spc="1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150" spc="-80">
                <a:solidFill>
                  <a:srgbClr val="374050"/>
                </a:solidFill>
                <a:latin typeface="Roboto"/>
                <a:cs typeface="Roboto"/>
              </a:rPr>
              <a:t>GA</a:t>
            </a:r>
            <a:r>
              <a:rPr dirty="0" sz="1150" spc="1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150" spc="-55">
                <a:solidFill>
                  <a:srgbClr val="374050"/>
                </a:solidFill>
                <a:latin typeface="Roboto"/>
                <a:cs typeface="Roboto"/>
              </a:rPr>
              <a:t>fine-</a:t>
            </a:r>
            <a:r>
              <a:rPr dirty="0" sz="1150" spc="-45">
                <a:solidFill>
                  <a:srgbClr val="374050"/>
                </a:solidFill>
                <a:latin typeface="Roboto"/>
                <a:cs typeface="Roboto"/>
              </a:rPr>
              <a:t>tuning</a:t>
            </a:r>
            <a:r>
              <a:rPr dirty="0" sz="1150" spc="1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150" spc="-65">
                <a:solidFill>
                  <a:srgbClr val="374050"/>
                </a:solidFill>
                <a:latin typeface="Roboto"/>
                <a:cs typeface="Roboto"/>
              </a:rPr>
              <a:t>framework </a:t>
            </a:r>
            <a:r>
              <a:rPr dirty="0" sz="1150" spc="-55">
                <a:solidFill>
                  <a:srgbClr val="374050"/>
                </a:solidFill>
                <a:latin typeface="Roboto"/>
                <a:cs typeface="Roboto"/>
              </a:rPr>
              <a:t>Real-</a:t>
            </a:r>
            <a:r>
              <a:rPr dirty="0" sz="1150" spc="-60">
                <a:solidFill>
                  <a:srgbClr val="374050"/>
                </a:solidFill>
                <a:latin typeface="Roboto"/>
                <a:cs typeface="Roboto"/>
              </a:rPr>
              <a:t>time</a:t>
            </a:r>
            <a:r>
              <a:rPr dirty="0" sz="1150" spc="2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150" spc="-55">
                <a:solidFill>
                  <a:srgbClr val="374050"/>
                </a:solidFill>
                <a:latin typeface="Roboto"/>
                <a:cs typeface="Roboto"/>
              </a:rPr>
              <a:t>reconfiguration</a:t>
            </a:r>
            <a:r>
              <a:rPr dirty="0" sz="1150" spc="2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150" spc="-45">
                <a:solidFill>
                  <a:srgbClr val="374050"/>
                </a:solidFill>
                <a:latin typeface="Roboto"/>
                <a:cs typeface="Roboto"/>
              </a:rPr>
              <a:t>capability</a:t>
            </a:r>
            <a:r>
              <a:rPr dirty="0" sz="1150" spc="2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150" spc="-10">
                <a:solidFill>
                  <a:srgbClr val="374050"/>
                </a:solidFill>
                <a:latin typeface="Roboto"/>
                <a:cs typeface="Roboto"/>
              </a:rPr>
              <a:t>(milliseconds) </a:t>
            </a:r>
            <a:r>
              <a:rPr dirty="0" sz="1150" spc="-75">
                <a:solidFill>
                  <a:srgbClr val="374050"/>
                </a:solidFill>
                <a:latin typeface="Roboto"/>
                <a:cs typeface="Roboto"/>
              </a:rPr>
              <a:t>30%</a:t>
            </a:r>
            <a:r>
              <a:rPr dirty="0" sz="115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150" spc="-65">
                <a:solidFill>
                  <a:srgbClr val="374050"/>
                </a:solidFill>
                <a:latin typeface="Roboto"/>
                <a:cs typeface="Roboto"/>
              </a:rPr>
              <a:t>power</a:t>
            </a:r>
            <a:r>
              <a:rPr dirty="0" sz="1150" spc="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150" spc="-50">
                <a:solidFill>
                  <a:srgbClr val="374050"/>
                </a:solidFill>
                <a:latin typeface="Roboto"/>
                <a:cs typeface="Roboto"/>
              </a:rPr>
              <a:t>loss</a:t>
            </a:r>
            <a:r>
              <a:rPr dirty="0" sz="1150" spc="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150" spc="-50">
                <a:solidFill>
                  <a:srgbClr val="374050"/>
                </a:solidFill>
                <a:latin typeface="Roboto"/>
                <a:cs typeface="Roboto"/>
              </a:rPr>
              <a:t>reduction</a:t>
            </a:r>
            <a:r>
              <a:rPr dirty="0" sz="1150" spc="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150" spc="-10">
                <a:solidFill>
                  <a:srgbClr val="374050"/>
                </a:solidFill>
                <a:latin typeface="Roboto"/>
                <a:cs typeface="Roboto"/>
              </a:rPr>
              <a:t>demonstrated</a:t>
            </a:r>
            <a:endParaRPr sz="115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150" spc="-75">
                <a:solidFill>
                  <a:srgbClr val="374050"/>
                </a:solidFill>
                <a:latin typeface="Roboto"/>
                <a:cs typeface="Roboto"/>
              </a:rPr>
              <a:t>50%</a:t>
            </a:r>
            <a:r>
              <a:rPr dirty="0" sz="1150" spc="1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150" spc="-60">
                <a:solidFill>
                  <a:srgbClr val="374050"/>
                </a:solidFill>
                <a:latin typeface="Roboto"/>
                <a:cs typeface="Roboto"/>
              </a:rPr>
              <a:t>voltage</a:t>
            </a:r>
            <a:r>
              <a:rPr dirty="0" sz="1150" spc="1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150" spc="-50">
                <a:solidFill>
                  <a:srgbClr val="374050"/>
                </a:solidFill>
                <a:latin typeface="Roboto"/>
                <a:cs typeface="Roboto"/>
              </a:rPr>
              <a:t>deviation</a:t>
            </a:r>
            <a:r>
              <a:rPr dirty="0" sz="1150" spc="1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150" spc="-10">
                <a:solidFill>
                  <a:srgbClr val="374050"/>
                </a:solidFill>
                <a:latin typeface="Roboto"/>
                <a:cs typeface="Roboto"/>
              </a:rPr>
              <a:t>improvement</a:t>
            </a:r>
            <a:endParaRPr sz="115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150" spc="-50">
                <a:solidFill>
                  <a:srgbClr val="374050"/>
                </a:solidFill>
                <a:latin typeface="Roboto"/>
                <a:cs typeface="Roboto"/>
              </a:rPr>
              <a:t>Successful</a:t>
            </a:r>
            <a:r>
              <a:rPr dirty="0" sz="1150" spc="-1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150" spc="-50">
                <a:solidFill>
                  <a:srgbClr val="374050"/>
                </a:solidFill>
                <a:latin typeface="Roboto"/>
                <a:cs typeface="Roboto"/>
              </a:rPr>
              <a:t>handling</a:t>
            </a:r>
            <a:r>
              <a:rPr dirty="0" sz="115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150" spc="-50">
                <a:solidFill>
                  <a:srgbClr val="374050"/>
                </a:solidFill>
                <a:latin typeface="Roboto"/>
                <a:cs typeface="Roboto"/>
              </a:rPr>
              <a:t>of</a:t>
            </a:r>
            <a:r>
              <a:rPr dirty="0" sz="1150" spc="-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150" spc="-55">
                <a:solidFill>
                  <a:srgbClr val="374050"/>
                </a:solidFill>
                <a:latin typeface="Roboto"/>
                <a:cs typeface="Roboto"/>
              </a:rPr>
              <a:t>unbalanced</a:t>
            </a:r>
            <a:r>
              <a:rPr dirty="0" sz="115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150" spc="-50">
                <a:solidFill>
                  <a:srgbClr val="374050"/>
                </a:solidFill>
                <a:latin typeface="Roboto"/>
                <a:cs typeface="Roboto"/>
              </a:rPr>
              <a:t>3-</a:t>
            </a:r>
            <a:r>
              <a:rPr dirty="0" sz="1150" spc="-65">
                <a:solidFill>
                  <a:srgbClr val="374050"/>
                </a:solidFill>
                <a:latin typeface="Roboto"/>
                <a:cs typeface="Roboto"/>
              </a:rPr>
              <a:t>phase</a:t>
            </a:r>
            <a:r>
              <a:rPr dirty="0" sz="115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150" spc="-50">
                <a:solidFill>
                  <a:srgbClr val="374050"/>
                </a:solidFill>
                <a:latin typeface="Roboto"/>
                <a:cs typeface="Roboto"/>
              </a:rPr>
              <a:t>systems</a:t>
            </a:r>
            <a:endParaRPr sz="1150">
              <a:latin typeface="Roboto"/>
              <a:cs typeface="Roboto"/>
            </a:endParaRPr>
          </a:p>
        </p:txBody>
      </p:sp>
      <p:sp>
        <p:nvSpPr>
          <p:cNvPr id="27" name="object 27" descr=""/>
          <p:cNvSpPr/>
          <p:nvPr/>
        </p:nvSpPr>
        <p:spPr>
          <a:xfrm>
            <a:off x="4267199" y="1000124"/>
            <a:ext cx="38100" cy="1485900"/>
          </a:xfrm>
          <a:custGeom>
            <a:avLst/>
            <a:gdLst/>
            <a:ahLst/>
            <a:cxnLst/>
            <a:rect l="l" t="t" r="r" b="b"/>
            <a:pathLst>
              <a:path w="38100" h="1485900">
                <a:moveTo>
                  <a:pt x="38099" y="1485899"/>
                </a:moveTo>
                <a:lnTo>
                  <a:pt x="0" y="1485899"/>
                </a:lnTo>
                <a:lnTo>
                  <a:pt x="0" y="0"/>
                </a:lnTo>
                <a:lnTo>
                  <a:pt x="38099" y="0"/>
                </a:lnTo>
                <a:lnTo>
                  <a:pt x="38099" y="14858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28" name="object 28" descr=""/>
          <p:cNvGrpSpPr/>
          <p:nvPr/>
        </p:nvGrpSpPr>
        <p:grpSpPr>
          <a:xfrm>
            <a:off x="4457699" y="1038224"/>
            <a:ext cx="304800" cy="381000"/>
            <a:chOff x="4457699" y="1038224"/>
            <a:chExt cx="304800" cy="381000"/>
          </a:xfrm>
        </p:grpSpPr>
        <p:sp>
          <p:nvSpPr>
            <p:cNvPr id="29" name="object 29" descr=""/>
            <p:cNvSpPr/>
            <p:nvPr/>
          </p:nvSpPr>
          <p:spPr>
            <a:xfrm>
              <a:off x="4457699" y="1038224"/>
              <a:ext cx="304800" cy="381000"/>
            </a:xfrm>
            <a:custGeom>
              <a:avLst/>
              <a:gdLst/>
              <a:ahLst/>
              <a:cxnLst/>
              <a:rect l="l" t="t" r="r" b="b"/>
              <a:pathLst>
                <a:path w="304800" h="381000">
                  <a:moveTo>
                    <a:pt x="152399" y="380999"/>
                  </a:moveTo>
                  <a:lnTo>
                    <a:pt x="108159" y="374439"/>
                  </a:lnTo>
                  <a:lnTo>
                    <a:pt x="67730" y="355315"/>
                  </a:lnTo>
                  <a:lnTo>
                    <a:pt x="34591" y="325282"/>
                  </a:lnTo>
                  <a:lnTo>
                    <a:pt x="11600" y="286920"/>
                  </a:lnTo>
                  <a:lnTo>
                    <a:pt x="731" y="243538"/>
                  </a:lnTo>
                  <a:lnTo>
                    <a:pt x="0" y="228599"/>
                  </a:lnTo>
                  <a:lnTo>
                    <a:pt x="0" y="152399"/>
                  </a:lnTo>
                  <a:lnTo>
                    <a:pt x="6559" y="108159"/>
                  </a:lnTo>
                  <a:lnTo>
                    <a:pt x="25683" y="67730"/>
                  </a:lnTo>
                  <a:lnTo>
                    <a:pt x="55716" y="34591"/>
                  </a:lnTo>
                  <a:lnTo>
                    <a:pt x="94078" y="11600"/>
                  </a:lnTo>
                  <a:lnTo>
                    <a:pt x="137461" y="732"/>
                  </a:lnTo>
                  <a:lnTo>
                    <a:pt x="152399" y="0"/>
                  </a:lnTo>
                  <a:lnTo>
                    <a:pt x="159886" y="183"/>
                  </a:lnTo>
                  <a:lnTo>
                    <a:pt x="203732" y="8904"/>
                  </a:lnTo>
                  <a:lnTo>
                    <a:pt x="243191" y="29995"/>
                  </a:lnTo>
                  <a:lnTo>
                    <a:pt x="274803" y="61607"/>
                  </a:lnTo>
                  <a:lnTo>
                    <a:pt x="295894" y="101066"/>
                  </a:lnTo>
                  <a:lnTo>
                    <a:pt x="304616" y="144912"/>
                  </a:lnTo>
                  <a:lnTo>
                    <a:pt x="304799" y="152399"/>
                  </a:lnTo>
                  <a:lnTo>
                    <a:pt x="304799" y="228599"/>
                  </a:lnTo>
                  <a:lnTo>
                    <a:pt x="298238" y="272839"/>
                  </a:lnTo>
                  <a:lnTo>
                    <a:pt x="279115" y="313268"/>
                  </a:lnTo>
                  <a:lnTo>
                    <a:pt x="249081" y="346408"/>
                  </a:lnTo>
                  <a:lnTo>
                    <a:pt x="210719" y="369399"/>
                  </a:lnTo>
                  <a:lnTo>
                    <a:pt x="167337" y="380267"/>
                  </a:lnTo>
                  <a:lnTo>
                    <a:pt x="152399" y="380999"/>
                  </a:lnTo>
                  <a:close/>
                </a:path>
              </a:pathLst>
            </a:custGeom>
            <a:solidFill>
              <a:srgbClr val="DB252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0" name="object 30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33899" y="1142999"/>
              <a:ext cx="152399" cy="152399"/>
            </a:xfrm>
            <a:prstGeom prst="rect">
              <a:avLst/>
            </a:prstGeom>
          </p:spPr>
        </p:pic>
      </p:grpSp>
      <p:sp>
        <p:nvSpPr>
          <p:cNvPr id="31" name="object 31" descr=""/>
          <p:cNvSpPr txBox="1"/>
          <p:nvPr/>
        </p:nvSpPr>
        <p:spPr>
          <a:xfrm>
            <a:off x="4864099" y="1082436"/>
            <a:ext cx="1947545" cy="2546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75" b="1">
                <a:solidFill>
                  <a:srgbClr val="991B1B"/>
                </a:solidFill>
                <a:latin typeface="Roboto"/>
                <a:cs typeface="Roboto"/>
              </a:rPr>
              <a:t>Limitations</a:t>
            </a:r>
            <a:r>
              <a:rPr dirty="0" sz="1500" spc="-30" b="1">
                <a:solidFill>
                  <a:srgbClr val="991B1B"/>
                </a:solidFill>
                <a:latin typeface="Roboto"/>
                <a:cs typeface="Roboto"/>
              </a:rPr>
              <a:t> </a:t>
            </a:r>
            <a:r>
              <a:rPr dirty="0" sz="1500" spc="-100" b="1">
                <a:solidFill>
                  <a:srgbClr val="991B1B"/>
                </a:solidFill>
                <a:latin typeface="Roboto"/>
                <a:cs typeface="Roboto"/>
              </a:rPr>
              <a:t>&amp;</a:t>
            </a:r>
            <a:r>
              <a:rPr dirty="0" sz="1500" spc="-25" b="1">
                <a:solidFill>
                  <a:srgbClr val="991B1B"/>
                </a:solidFill>
                <a:latin typeface="Roboto"/>
                <a:cs typeface="Roboto"/>
              </a:rPr>
              <a:t> </a:t>
            </a:r>
            <a:r>
              <a:rPr dirty="0" sz="1500" spc="-75" b="1">
                <a:solidFill>
                  <a:srgbClr val="991B1B"/>
                </a:solidFill>
                <a:latin typeface="Roboto"/>
                <a:cs typeface="Roboto"/>
              </a:rPr>
              <a:t>Challenges</a:t>
            </a:r>
            <a:endParaRPr sz="1500">
              <a:latin typeface="Roboto"/>
              <a:cs typeface="Roboto"/>
            </a:endParaRPr>
          </a:p>
        </p:txBody>
      </p:sp>
      <p:sp>
        <p:nvSpPr>
          <p:cNvPr id="32" name="object 32" descr=""/>
          <p:cNvSpPr/>
          <p:nvPr/>
        </p:nvSpPr>
        <p:spPr>
          <a:xfrm>
            <a:off x="4543424" y="1581149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21576" y="38099"/>
                </a:moveTo>
                <a:lnTo>
                  <a:pt x="16523" y="38099"/>
                </a:lnTo>
                <a:lnTo>
                  <a:pt x="14093" y="37616"/>
                </a:lnTo>
                <a:lnTo>
                  <a:pt x="0" y="21576"/>
                </a:lnTo>
                <a:lnTo>
                  <a:pt x="0" y="16523"/>
                </a:lnTo>
                <a:lnTo>
                  <a:pt x="16523" y="0"/>
                </a:lnTo>
                <a:lnTo>
                  <a:pt x="21576" y="0"/>
                </a:lnTo>
                <a:lnTo>
                  <a:pt x="38100" y="19049"/>
                </a:lnTo>
                <a:lnTo>
                  <a:pt x="38099" y="21576"/>
                </a:lnTo>
                <a:lnTo>
                  <a:pt x="21576" y="38099"/>
                </a:lnTo>
                <a:close/>
              </a:path>
            </a:pathLst>
          </a:custGeom>
          <a:solidFill>
            <a:srgbClr val="3740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 descr=""/>
          <p:cNvSpPr/>
          <p:nvPr/>
        </p:nvSpPr>
        <p:spPr>
          <a:xfrm>
            <a:off x="4543424" y="1771649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21576" y="38099"/>
                </a:moveTo>
                <a:lnTo>
                  <a:pt x="16523" y="38099"/>
                </a:lnTo>
                <a:lnTo>
                  <a:pt x="14093" y="37616"/>
                </a:lnTo>
                <a:lnTo>
                  <a:pt x="0" y="21576"/>
                </a:lnTo>
                <a:lnTo>
                  <a:pt x="0" y="16523"/>
                </a:lnTo>
                <a:lnTo>
                  <a:pt x="16523" y="0"/>
                </a:lnTo>
                <a:lnTo>
                  <a:pt x="21576" y="0"/>
                </a:lnTo>
                <a:lnTo>
                  <a:pt x="38100" y="19049"/>
                </a:lnTo>
                <a:lnTo>
                  <a:pt x="38099" y="21576"/>
                </a:lnTo>
                <a:lnTo>
                  <a:pt x="21576" y="38099"/>
                </a:lnTo>
                <a:close/>
              </a:path>
            </a:pathLst>
          </a:custGeom>
          <a:solidFill>
            <a:srgbClr val="3740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 descr=""/>
          <p:cNvSpPr/>
          <p:nvPr/>
        </p:nvSpPr>
        <p:spPr>
          <a:xfrm>
            <a:off x="4543424" y="1962149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21576" y="38099"/>
                </a:moveTo>
                <a:lnTo>
                  <a:pt x="16523" y="38099"/>
                </a:lnTo>
                <a:lnTo>
                  <a:pt x="14093" y="37616"/>
                </a:lnTo>
                <a:lnTo>
                  <a:pt x="0" y="21576"/>
                </a:lnTo>
                <a:lnTo>
                  <a:pt x="0" y="16523"/>
                </a:lnTo>
                <a:lnTo>
                  <a:pt x="16523" y="0"/>
                </a:lnTo>
                <a:lnTo>
                  <a:pt x="21576" y="0"/>
                </a:lnTo>
                <a:lnTo>
                  <a:pt x="38100" y="19049"/>
                </a:lnTo>
                <a:lnTo>
                  <a:pt x="38099" y="21576"/>
                </a:lnTo>
                <a:lnTo>
                  <a:pt x="21576" y="38099"/>
                </a:lnTo>
                <a:close/>
              </a:path>
            </a:pathLst>
          </a:custGeom>
          <a:solidFill>
            <a:srgbClr val="3740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 descr=""/>
          <p:cNvSpPr/>
          <p:nvPr/>
        </p:nvSpPr>
        <p:spPr>
          <a:xfrm>
            <a:off x="4543424" y="2152649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21576" y="38099"/>
                </a:moveTo>
                <a:lnTo>
                  <a:pt x="16523" y="38099"/>
                </a:lnTo>
                <a:lnTo>
                  <a:pt x="14093" y="37616"/>
                </a:lnTo>
                <a:lnTo>
                  <a:pt x="0" y="21576"/>
                </a:lnTo>
                <a:lnTo>
                  <a:pt x="0" y="16523"/>
                </a:lnTo>
                <a:lnTo>
                  <a:pt x="16523" y="0"/>
                </a:lnTo>
                <a:lnTo>
                  <a:pt x="21576" y="0"/>
                </a:lnTo>
                <a:lnTo>
                  <a:pt x="38100" y="19049"/>
                </a:lnTo>
                <a:lnTo>
                  <a:pt x="38099" y="21576"/>
                </a:lnTo>
                <a:lnTo>
                  <a:pt x="21576" y="38099"/>
                </a:lnTo>
                <a:close/>
              </a:path>
            </a:pathLst>
          </a:custGeom>
          <a:solidFill>
            <a:srgbClr val="3740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 descr=""/>
          <p:cNvSpPr/>
          <p:nvPr/>
        </p:nvSpPr>
        <p:spPr>
          <a:xfrm>
            <a:off x="4543424" y="2343149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21576" y="38099"/>
                </a:moveTo>
                <a:lnTo>
                  <a:pt x="16523" y="38099"/>
                </a:lnTo>
                <a:lnTo>
                  <a:pt x="14093" y="37616"/>
                </a:lnTo>
                <a:lnTo>
                  <a:pt x="0" y="21575"/>
                </a:lnTo>
                <a:lnTo>
                  <a:pt x="0" y="16523"/>
                </a:lnTo>
                <a:lnTo>
                  <a:pt x="16523" y="0"/>
                </a:lnTo>
                <a:lnTo>
                  <a:pt x="21576" y="0"/>
                </a:lnTo>
                <a:lnTo>
                  <a:pt x="38100" y="19049"/>
                </a:lnTo>
                <a:lnTo>
                  <a:pt x="38099" y="21575"/>
                </a:lnTo>
                <a:lnTo>
                  <a:pt x="21576" y="38099"/>
                </a:lnTo>
                <a:close/>
              </a:path>
            </a:pathLst>
          </a:custGeom>
          <a:solidFill>
            <a:srgbClr val="3740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 descr=""/>
          <p:cNvSpPr txBox="1"/>
          <p:nvPr/>
        </p:nvSpPr>
        <p:spPr>
          <a:xfrm>
            <a:off x="4673599" y="1464770"/>
            <a:ext cx="2755900" cy="9779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8700"/>
              </a:lnSpc>
              <a:spcBef>
                <a:spcPts val="95"/>
              </a:spcBef>
            </a:pPr>
            <a:r>
              <a:rPr dirty="0" sz="1150" spc="-50">
                <a:solidFill>
                  <a:srgbClr val="374050"/>
                </a:solidFill>
                <a:latin typeface="Roboto"/>
                <a:cs typeface="Roboto"/>
              </a:rPr>
              <a:t>Retraining</a:t>
            </a:r>
            <a:r>
              <a:rPr dirty="0" sz="1150" spc="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150" spc="-65">
                <a:solidFill>
                  <a:srgbClr val="374050"/>
                </a:solidFill>
                <a:latin typeface="Roboto"/>
                <a:cs typeface="Roboto"/>
              </a:rPr>
              <a:t>needed</a:t>
            </a:r>
            <a:r>
              <a:rPr dirty="0" sz="1150" spc="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150" spc="-45">
                <a:solidFill>
                  <a:srgbClr val="374050"/>
                </a:solidFill>
                <a:latin typeface="Roboto"/>
                <a:cs typeface="Roboto"/>
              </a:rPr>
              <a:t>for</a:t>
            </a:r>
            <a:r>
              <a:rPr dirty="0" sz="1150" spc="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150" spc="-65">
                <a:solidFill>
                  <a:srgbClr val="374050"/>
                </a:solidFill>
                <a:latin typeface="Roboto"/>
                <a:cs typeface="Roboto"/>
              </a:rPr>
              <a:t>major</a:t>
            </a:r>
            <a:r>
              <a:rPr dirty="0" sz="1150" spc="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150" spc="-55">
                <a:solidFill>
                  <a:srgbClr val="374050"/>
                </a:solidFill>
                <a:latin typeface="Roboto"/>
                <a:cs typeface="Roboto"/>
              </a:rPr>
              <a:t>topology</a:t>
            </a:r>
            <a:r>
              <a:rPr dirty="0" sz="1150" spc="1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150" spc="-60">
                <a:solidFill>
                  <a:srgbClr val="374050"/>
                </a:solidFill>
                <a:latin typeface="Roboto"/>
                <a:cs typeface="Roboto"/>
              </a:rPr>
              <a:t>changes </a:t>
            </a:r>
            <a:r>
              <a:rPr dirty="0" sz="1150" spc="-70">
                <a:solidFill>
                  <a:srgbClr val="374050"/>
                </a:solidFill>
                <a:latin typeface="Roboto"/>
                <a:cs typeface="Roboto"/>
              </a:rPr>
              <a:t>Reward</a:t>
            </a:r>
            <a:r>
              <a:rPr dirty="0" sz="1150" spc="-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150" spc="-45">
                <a:solidFill>
                  <a:srgbClr val="374050"/>
                </a:solidFill>
                <a:latin typeface="Roboto"/>
                <a:cs typeface="Roboto"/>
              </a:rPr>
              <a:t>function</a:t>
            </a:r>
            <a:r>
              <a:rPr dirty="0" sz="1150" spc="-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150" spc="-45">
                <a:solidFill>
                  <a:srgbClr val="374050"/>
                </a:solidFill>
                <a:latin typeface="Roboto"/>
                <a:cs typeface="Roboto"/>
              </a:rPr>
              <a:t>tuning</a:t>
            </a:r>
            <a:r>
              <a:rPr dirty="0" sz="1150" spc="-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150" spc="-10">
                <a:solidFill>
                  <a:srgbClr val="374050"/>
                </a:solidFill>
                <a:latin typeface="Roboto"/>
                <a:cs typeface="Roboto"/>
              </a:rPr>
              <a:t>complexity</a:t>
            </a:r>
            <a:endParaRPr sz="1150">
              <a:latin typeface="Roboto"/>
              <a:cs typeface="Roboto"/>
            </a:endParaRPr>
          </a:p>
          <a:p>
            <a:pPr marL="12700" marR="164465">
              <a:lnSpc>
                <a:spcPct val="108700"/>
              </a:lnSpc>
            </a:pPr>
            <a:r>
              <a:rPr dirty="0" sz="1150" spc="-45">
                <a:solidFill>
                  <a:srgbClr val="374050"/>
                </a:solidFill>
                <a:latin typeface="Roboto"/>
                <a:cs typeface="Roboto"/>
              </a:rPr>
              <a:t>Scalability</a:t>
            </a:r>
            <a:r>
              <a:rPr dirty="0" sz="115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150" spc="-55">
                <a:solidFill>
                  <a:srgbClr val="374050"/>
                </a:solidFill>
                <a:latin typeface="Roboto"/>
                <a:cs typeface="Roboto"/>
              </a:rPr>
              <a:t>concerns</a:t>
            </a:r>
            <a:r>
              <a:rPr dirty="0" sz="1150" spc="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150" spc="-45">
                <a:solidFill>
                  <a:srgbClr val="374050"/>
                </a:solidFill>
                <a:latin typeface="Roboto"/>
                <a:cs typeface="Roboto"/>
              </a:rPr>
              <a:t>for</a:t>
            </a:r>
            <a:r>
              <a:rPr dirty="0" sz="115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150" spc="-60">
                <a:solidFill>
                  <a:srgbClr val="374050"/>
                </a:solidFill>
                <a:latin typeface="Roboto"/>
                <a:cs typeface="Roboto"/>
              </a:rPr>
              <a:t>very</a:t>
            </a:r>
            <a:r>
              <a:rPr dirty="0" sz="1150" spc="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150" spc="-55">
                <a:solidFill>
                  <a:srgbClr val="374050"/>
                </a:solidFill>
                <a:latin typeface="Roboto"/>
                <a:cs typeface="Roboto"/>
              </a:rPr>
              <a:t>large</a:t>
            </a:r>
            <a:r>
              <a:rPr dirty="0" sz="115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150" spc="-55">
                <a:solidFill>
                  <a:srgbClr val="374050"/>
                </a:solidFill>
                <a:latin typeface="Roboto"/>
                <a:cs typeface="Roboto"/>
              </a:rPr>
              <a:t>networks </a:t>
            </a:r>
            <a:r>
              <a:rPr dirty="0" sz="1150" spc="-50">
                <a:solidFill>
                  <a:srgbClr val="374050"/>
                </a:solidFill>
                <a:latin typeface="Roboto"/>
                <a:cs typeface="Roboto"/>
              </a:rPr>
              <a:t>Limited</a:t>
            </a:r>
            <a:r>
              <a:rPr dirty="0" sz="1150" spc="-2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150" spc="-45">
                <a:solidFill>
                  <a:srgbClr val="374050"/>
                </a:solidFill>
                <a:latin typeface="Roboto"/>
                <a:cs typeface="Roboto"/>
              </a:rPr>
              <a:t>uncertainty</a:t>
            </a:r>
            <a:r>
              <a:rPr dirty="0" sz="1150" spc="-1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150" spc="-55">
                <a:solidFill>
                  <a:srgbClr val="374050"/>
                </a:solidFill>
                <a:latin typeface="Roboto"/>
                <a:cs typeface="Roboto"/>
              </a:rPr>
              <a:t>modeling</a:t>
            </a:r>
            <a:r>
              <a:rPr dirty="0" sz="1150" spc="-1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150" spc="-30">
                <a:solidFill>
                  <a:srgbClr val="374050"/>
                </a:solidFill>
                <a:latin typeface="Roboto"/>
                <a:cs typeface="Roboto"/>
              </a:rPr>
              <a:t>in</a:t>
            </a:r>
            <a:r>
              <a:rPr dirty="0" sz="1150" spc="-1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150" spc="-10">
                <a:solidFill>
                  <a:srgbClr val="374050"/>
                </a:solidFill>
                <a:latin typeface="Roboto"/>
                <a:cs typeface="Roboto"/>
              </a:rPr>
              <a:t>training </a:t>
            </a:r>
            <a:r>
              <a:rPr dirty="0" sz="1150" spc="-50">
                <a:solidFill>
                  <a:srgbClr val="374050"/>
                </a:solidFill>
                <a:latin typeface="Roboto"/>
                <a:cs typeface="Roboto"/>
              </a:rPr>
              <a:t>Validation</a:t>
            </a:r>
            <a:r>
              <a:rPr dirty="0" sz="1150" spc="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150" spc="-65">
                <a:solidFill>
                  <a:srgbClr val="374050"/>
                </a:solidFill>
                <a:latin typeface="Roboto"/>
                <a:cs typeface="Roboto"/>
              </a:rPr>
              <a:t>needed</a:t>
            </a:r>
            <a:r>
              <a:rPr dirty="0" sz="1150" spc="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150" spc="-55">
                <a:solidFill>
                  <a:srgbClr val="374050"/>
                </a:solidFill>
                <a:latin typeface="Roboto"/>
                <a:cs typeface="Roboto"/>
              </a:rPr>
              <a:t>on</a:t>
            </a:r>
            <a:r>
              <a:rPr dirty="0" sz="1150" spc="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150" spc="-50">
                <a:solidFill>
                  <a:srgbClr val="374050"/>
                </a:solidFill>
                <a:latin typeface="Roboto"/>
                <a:cs typeface="Roboto"/>
              </a:rPr>
              <a:t>physical</a:t>
            </a:r>
            <a:r>
              <a:rPr dirty="0" sz="1150" spc="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150" spc="-10">
                <a:solidFill>
                  <a:srgbClr val="374050"/>
                </a:solidFill>
                <a:latin typeface="Roboto"/>
                <a:cs typeface="Roboto"/>
              </a:rPr>
              <a:t>testbeds</a:t>
            </a:r>
            <a:endParaRPr sz="1150">
              <a:latin typeface="Roboto"/>
              <a:cs typeface="Roboto"/>
            </a:endParaRPr>
          </a:p>
        </p:txBody>
      </p:sp>
      <p:sp>
        <p:nvSpPr>
          <p:cNvPr id="38" name="object 38" descr=""/>
          <p:cNvSpPr/>
          <p:nvPr/>
        </p:nvSpPr>
        <p:spPr>
          <a:xfrm>
            <a:off x="8153399" y="1000124"/>
            <a:ext cx="38100" cy="1485900"/>
          </a:xfrm>
          <a:custGeom>
            <a:avLst/>
            <a:gdLst/>
            <a:ahLst/>
            <a:cxnLst/>
            <a:rect l="l" t="t" r="r" b="b"/>
            <a:pathLst>
              <a:path w="38100" h="1485900">
                <a:moveTo>
                  <a:pt x="38099" y="1485899"/>
                </a:moveTo>
                <a:lnTo>
                  <a:pt x="0" y="1485899"/>
                </a:lnTo>
                <a:lnTo>
                  <a:pt x="0" y="0"/>
                </a:lnTo>
                <a:lnTo>
                  <a:pt x="38099" y="0"/>
                </a:lnTo>
                <a:lnTo>
                  <a:pt x="38099" y="14858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9" name="object 39" descr=""/>
          <p:cNvGrpSpPr/>
          <p:nvPr/>
        </p:nvGrpSpPr>
        <p:grpSpPr>
          <a:xfrm>
            <a:off x="8343899" y="1038224"/>
            <a:ext cx="304800" cy="381000"/>
            <a:chOff x="8343899" y="1038224"/>
            <a:chExt cx="304800" cy="381000"/>
          </a:xfrm>
        </p:grpSpPr>
        <p:sp>
          <p:nvSpPr>
            <p:cNvPr id="40" name="object 40" descr=""/>
            <p:cNvSpPr/>
            <p:nvPr/>
          </p:nvSpPr>
          <p:spPr>
            <a:xfrm>
              <a:off x="8343899" y="1038224"/>
              <a:ext cx="304800" cy="381000"/>
            </a:xfrm>
            <a:custGeom>
              <a:avLst/>
              <a:gdLst/>
              <a:ahLst/>
              <a:cxnLst/>
              <a:rect l="l" t="t" r="r" b="b"/>
              <a:pathLst>
                <a:path w="304800" h="381000">
                  <a:moveTo>
                    <a:pt x="152399" y="380999"/>
                  </a:moveTo>
                  <a:lnTo>
                    <a:pt x="108158" y="374439"/>
                  </a:lnTo>
                  <a:lnTo>
                    <a:pt x="67730" y="355315"/>
                  </a:lnTo>
                  <a:lnTo>
                    <a:pt x="34591" y="325282"/>
                  </a:lnTo>
                  <a:lnTo>
                    <a:pt x="11599" y="286920"/>
                  </a:lnTo>
                  <a:lnTo>
                    <a:pt x="731" y="243538"/>
                  </a:lnTo>
                  <a:lnTo>
                    <a:pt x="0" y="228599"/>
                  </a:lnTo>
                  <a:lnTo>
                    <a:pt x="0" y="152399"/>
                  </a:lnTo>
                  <a:lnTo>
                    <a:pt x="6559" y="108159"/>
                  </a:lnTo>
                  <a:lnTo>
                    <a:pt x="25683" y="67730"/>
                  </a:lnTo>
                  <a:lnTo>
                    <a:pt x="55716" y="34591"/>
                  </a:lnTo>
                  <a:lnTo>
                    <a:pt x="94077" y="11600"/>
                  </a:lnTo>
                  <a:lnTo>
                    <a:pt x="137461" y="732"/>
                  </a:lnTo>
                  <a:lnTo>
                    <a:pt x="152399" y="0"/>
                  </a:lnTo>
                  <a:lnTo>
                    <a:pt x="159886" y="183"/>
                  </a:lnTo>
                  <a:lnTo>
                    <a:pt x="203732" y="8904"/>
                  </a:lnTo>
                  <a:lnTo>
                    <a:pt x="243191" y="29995"/>
                  </a:lnTo>
                  <a:lnTo>
                    <a:pt x="274803" y="61607"/>
                  </a:lnTo>
                  <a:lnTo>
                    <a:pt x="295894" y="101066"/>
                  </a:lnTo>
                  <a:lnTo>
                    <a:pt x="304616" y="144912"/>
                  </a:lnTo>
                  <a:lnTo>
                    <a:pt x="304799" y="152399"/>
                  </a:lnTo>
                  <a:lnTo>
                    <a:pt x="304799" y="228599"/>
                  </a:lnTo>
                  <a:lnTo>
                    <a:pt x="298238" y="272839"/>
                  </a:lnTo>
                  <a:lnTo>
                    <a:pt x="279115" y="313268"/>
                  </a:lnTo>
                  <a:lnTo>
                    <a:pt x="249082" y="346408"/>
                  </a:lnTo>
                  <a:lnTo>
                    <a:pt x="210719" y="369399"/>
                  </a:lnTo>
                  <a:lnTo>
                    <a:pt x="167337" y="380267"/>
                  </a:lnTo>
                  <a:lnTo>
                    <a:pt x="152399" y="380999"/>
                  </a:lnTo>
                  <a:close/>
                </a:path>
              </a:pathLst>
            </a:custGeom>
            <a:solidFill>
              <a:srgbClr val="04956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1" name="object 41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419742" y="1143019"/>
              <a:ext cx="152675" cy="152707"/>
            </a:xfrm>
            <a:prstGeom prst="rect">
              <a:avLst/>
            </a:prstGeom>
          </p:spPr>
        </p:pic>
      </p:grpSp>
      <p:sp>
        <p:nvSpPr>
          <p:cNvPr id="42" name="object 42" descr=""/>
          <p:cNvSpPr txBox="1"/>
          <p:nvPr/>
        </p:nvSpPr>
        <p:spPr>
          <a:xfrm>
            <a:off x="8750300" y="1082436"/>
            <a:ext cx="2112645" cy="2546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85" b="1">
                <a:solidFill>
                  <a:srgbClr val="055E45"/>
                </a:solidFill>
                <a:latin typeface="Roboto"/>
                <a:cs typeface="Roboto"/>
              </a:rPr>
              <a:t>Future</a:t>
            </a:r>
            <a:r>
              <a:rPr dirty="0" sz="1500" spc="-5" b="1">
                <a:solidFill>
                  <a:srgbClr val="055E45"/>
                </a:solidFill>
                <a:latin typeface="Roboto"/>
                <a:cs typeface="Roboto"/>
              </a:rPr>
              <a:t> </a:t>
            </a:r>
            <a:r>
              <a:rPr dirty="0" sz="1500" spc="-85" b="1">
                <a:solidFill>
                  <a:srgbClr val="055E45"/>
                </a:solidFill>
                <a:latin typeface="Roboto"/>
                <a:cs typeface="Roboto"/>
              </a:rPr>
              <a:t>Research</a:t>
            </a:r>
            <a:r>
              <a:rPr dirty="0" sz="1500" spc="-5" b="1">
                <a:solidFill>
                  <a:srgbClr val="055E45"/>
                </a:solidFill>
                <a:latin typeface="Roboto"/>
                <a:cs typeface="Roboto"/>
              </a:rPr>
              <a:t> </a:t>
            </a:r>
            <a:r>
              <a:rPr dirty="0" sz="1500" spc="-75" b="1">
                <a:solidFill>
                  <a:srgbClr val="055E45"/>
                </a:solidFill>
                <a:latin typeface="Roboto"/>
                <a:cs typeface="Roboto"/>
              </a:rPr>
              <a:t>Directions</a:t>
            </a:r>
            <a:endParaRPr sz="1500">
              <a:latin typeface="Roboto"/>
              <a:cs typeface="Roboto"/>
            </a:endParaRPr>
          </a:p>
        </p:txBody>
      </p:sp>
      <p:sp>
        <p:nvSpPr>
          <p:cNvPr id="43" name="object 43" descr=""/>
          <p:cNvSpPr/>
          <p:nvPr/>
        </p:nvSpPr>
        <p:spPr>
          <a:xfrm>
            <a:off x="8429623" y="1581149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21576" y="38099"/>
                </a:moveTo>
                <a:lnTo>
                  <a:pt x="16523" y="38099"/>
                </a:lnTo>
                <a:lnTo>
                  <a:pt x="14093" y="37616"/>
                </a:lnTo>
                <a:lnTo>
                  <a:pt x="0" y="21576"/>
                </a:lnTo>
                <a:lnTo>
                  <a:pt x="0" y="16523"/>
                </a:lnTo>
                <a:lnTo>
                  <a:pt x="16523" y="0"/>
                </a:lnTo>
                <a:lnTo>
                  <a:pt x="21576" y="0"/>
                </a:lnTo>
                <a:lnTo>
                  <a:pt x="38100" y="19049"/>
                </a:lnTo>
                <a:lnTo>
                  <a:pt x="38099" y="21576"/>
                </a:lnTo>
                <a:lnTo>
                  <a:pt x="21576" y="38099"/>
                </a:lnTo>
                <a:close/>
              </a:path>
            </a:pathLst>
          </a:custGeom>
          <a:solidFill>
            <a:srgbClr val="3740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" name="object 44" descr=""/>
          <p:cNvSpPr/>
          <p:nvPr/>
        </p:nvSpPr>
        <p:spPr>
          <a:xfrm>
            <a:off x="8429623" y="1771649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21576" y="38099"/>
                </a:moveTo>
                <a:lnTo>
                  <a:pt x="16523" y="38099"/>
                </a:lnTo>
                <a:lnTo>
                  <a:pt x="14093" y="37616"/>
                </a:lnTo>
                <a:lnTo>
                  <a:pt x="0" y="21576"/>
                </a:lnTo>
                <a:lnTo>
                  <a:pt x="0" y="16523"/>
                </a:lnTo>
                <a:lnTo>
                  <a:pt x="16523" y="0"/>
                </a:lnTo>
                <a:lnTo>
                  <a:pt x="21576" y="0"/>
                </a:lnTo>
                <a:lnTo>
                  <a:pt x="38100" y="19049"/>
                </a:lnTo>
                <a:lnTo>
                  <a:pt x="38099" y="21576"/>
                </a:lnTo>
                <a:lnTo>
                  <a:pt x="21576" y="38099"/>
                </a:lnTo>
                <a:close/>
              </a:path>
            </a:pathLst>
          </a:custGeom>
          <a:solidFill>
            <a:srgbClr val="3740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" name="object 45" descr=""/>
          <p:cNvSpPr/>
          <p:nvPr/>
        </p:nvSpPr>
        <p:spPr>
          <a:xfrm>
            <a:off x="8429623" y="1962149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21576" y="38099"/>
                </a:moveTo>
                <a:lnTo>
                  <a:pt x="16523" y="38099"/>
                </a:lnTo>
                <a:lnTo>
                  <a:pt x="14093" y="37616"/>
                </a:lnTo>
                <a:lnTo>
                  <a:pt x="0" y="21576"/>
                </a:lnTo>
                <a:lnTo>
                  <a:pt x="0" y="16523"/>
                </a:lnTo>
                <a:lnTo>
                  <a:pt x="16523" y="0"/>
                </a:lnTo>
                <a:lnTo>
                  <a:pt x="21576" y="0"/>
                </a:lnTo>
                <a:lnTo>
                  <a:pt x="38100" y="19049"/>
                </a:lnTo>
                <a:lnTo>
                  <a:pt x="38099" y="21576"/>
                </a:lnTo>
                <a:lnTo>
                  <a:pt x="21576" y="38099"/>
                </a:lnTo>
                <a:close/>
              </a:path>
            </a:pathLst>
          </a:custGeom>
          <a:solidFill>
            <a:srgbClr val="3740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6" name="object 46" descr=""/>
          <p:cNvSpPr/>
          <p:nvPr/>
        </p:nvSpPr>
        <p:spPr>
          <a:xfrm>
            <a:off x="8429623" y="2152649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21576" y="38099"/>
                </a:moveTo>
                <a:lnTo>
                  <a:pt x="16523" y="38099"/>
                </a:lnTo>
                <a:lnTo>
                  <a:pt x="14093" y="37616"/>
                </a:lnTo>
                <a:lnTo>
                  <a:pt x="0" y="21576"/>
                </a:lnTo>
                <a:lnTo>
                  <a:pt x="0" y="16523"/>
                </a:lnTo>
                <a:lnTo>
                  <a:pt x="16523" y="0"/>
                </a:lnTo>
                <a:lnTo>
                  <a:pt x="21576" y="0"/>
                </a:lnTo>
                <a:lnTo>
                  <a:pt x="38100" y="19049"/>
                </a:lnTo>
                <a:lnTo>
                  <a:pt x="38099" y="21576"/>
                </a:lnTo>
                <a:lnTo>
                  <a:pt x="21576" y="38099"/>
                </a:lnTo>
                <a:close/>
              </a:path>
            </a:pathLst>
          </a:custGeom>
          <a:solidFill>
            <a:srgbClr val="3740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7" name="object 47" descr=""/>
          <p:cNvSpPr/>
          <p:nvPr/>
        </p:nvSpPr>
        <p:spPr>
          <a:xfrm>
            <a:off x="8429623" y="2343149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21576" y="38099"/>
                </a:moveTo>
                <a:lnTo>
                  <a:pt x="16523" y="38099"/>
                </a:lnTo>
                <a:lnTo>
                  <a:pt x="14093" y="37616"/>
                </a:lnTo>
                <a:lnTo>
                  <a:pt x="0" y="21575"/>
                </a:lnTo>
                <a:lnTo>
                  <a:pt x="0" y="16523"/>
                </a:lnTo>
                <a:lnTo>
                  <a:pt x="16523" y="0"/>
                </a:lnTo>
                <a:lnTo>
                  <a:pt x="21576" y="0"/>
                </a:lnTo>
                <a:lnTo>
                  <a:pt x="38100" y="19049"/>
                </a:lnTo>
                <a:lnTo>
                  <a:pt x="38099" y="21575"/>
                </a:lnTo>
                <a:lnTo>
                  <a:pt x="21576" y="38099"/>
                </a:lnTo>
                <a:close/>
              </a:path>
            </a:pathLst>
          </a:custGeom>
          <a:solidFill>
            <a:srgbClr val="3740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8" name="object 48" descr=""/>
          <p:cNvSpPr txBox="1"/>
          <p:nvPr/>
        </p:nvSpPr>
        <p:spPr>
          <a:xfrm>
            <a:off x="8559800" y="1464770"/>
            <a:ext cx="2962275" cy="9779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360045">
              <a:lnSpc>
                <a:spcPct val="108700"/>
              </a:lnSpc>
              <a:spcBef>
                <a:spcPts val="95"/>
              </a:spcBef>
            </a:pPr>
            <a:r>
              <a:rPr dirty="0" sz="1150" spc="-50">
                <a:solidFill>
                  <a:srgbClr val="374050"/>
                </a:solidFill>
                <a:latin typeface="Roboto"/>
                <a:cs typeface="Roboto"/>
              </a:rPr>
              <a:t>Incorporation</a:t>
            </a:r>
            <a:r>
              <a:rPr dirty="0" sz="1150" spc="-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150" spc="-50">
                <a:solidFill>
                  <a:srgbClr val="374050"/>
                </a:solidFill>
                <a:latin typeface="Roboto"/>
                <a:cs typeface="Roboto"/>
              </a:rPr>
              <a:t>of</a:t>
            </a:r>
            <a:r>
              <a:rPr dirty="0" sz="115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150" spc="-45">
                <a:solidFill>
                  <a:srgbClr val="374050"/>
                </a:solidFill>
                <a:latin typeface="Roboto"/>
                <a:cs typeface="Roboto"/>
              </a:rPr>
              <a:t>probabilistic</a:t>
            </a:r>
            <a:r>
              <a:rPr dirty="0" sz="115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150" spc="-10">
                <a:solidFill>
                  <a:srgbClr val="374050"/>
                </a:solidFill>
                <a:latin typeface="Roboto"/>
                <a:cs typeface="Roboto"/>
              </a:rPr>
              <a:t>uncertainty </a:t>
            </a:r>
            <a:r>
              <a:rPr dirty="0" sz="1150" spc="-50">
                <a:solidFill>
                  <a:srgbClr val="374050"/>
                </a:solidFill>
                <a:latin typeface="Roboto"/>
                <a:cs typeface="Roboto"/>
              </a:rPr>
              <a:t>Integrating</a:t>
            </a:r>
            <a:r>
              <a:rPr dirty="0" sz="1150" spc="1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150" spc="-50">
                <a:solidFill>
                  <a:srgbClr val="374050"/>
                </a:solidFill>
                <a:latin typeface="Roboto"/>
                <a:cs typeface="Roboto"/>
              </a:rPr>
              <a:t>with</a:t>
            </a:r>
            <a:r>
              <a:rPr dirty="0" sz="1150" spc="1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150" spc="-50">
                <a:solidFill>
                  <a:srgbClr val="374050"/>
                </a:solidFill>
                <a:latin typeface="Roboto"/>
                <a:cs typeface="Roboto"/>
              </a:rPr>
              <a:t>volt/var</a:t>
            </a:r>
            <a:r>
              <a:rPr dirty="0" sz="1150" spc="1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150" spc="-55">
                <a:solidFill>
                  <a:srgbClr val="374050"/>
                </a:solidFill>
                <a:latin typeface="Roboto"/>
                <a:cs typeface="Roboto"/>
              </a:rPr>
              <a:t>control</a:t>
            </a:r>
            <a:r>
              <a:rPr dirty="0" sz="1150" spc="1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150" spc="-10">
                <a:solidFill>
                  <a:srgbClr val="374050"/>
                </a:solidFill>
                <a:latin typeface="Roboto"/>
                <a:cs typeface="Roboto"/>
              </a:rPr>
              <a:t>systems </a:t>
            </a:r>
            <a:r>
              <a:rPr dirty="0" sz="1150" spc="-50">
                <a:solidFill>
                  <a:srgbClr val="374050"/>
                </a:solidFill>
                <a:latin typeface="Roboto"/>
                <a:cs typeface="Roboto"/>
              </a:rPr>
              <a:t>Self-</a:t>
            </a:r>
            <a:r>
              <a:rPr dirty="0" sz="1150" spc="-55">
                <a:solidFill>
                  <a:srgbClr val="374050"/>
                </a:solidFill>
                <a:latin typeface="Roboto"/>
                <a:cs typeface="Roboto"/>
              </a:rPr>
              <a:t>adaptive</a:t>
            </a:r>
            <a:r>
              <a:rPr dirty="0" sz="1150" spc="3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150" spc="-50">
                <a:solidFill>
                  <a:srgbClr val="374050"/>
                </a:solidFill>
                <a:latin typeface="Roboto"/>
                <a:cs typeface="Roboto"/>
              </a:rPr>
              <a:t>retraining</a:t>
            </a:r>
            <a:r>
              <a:rPr dirty="0" sz="1150" spc="3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150" spc="-10">
                <a:solidFill>
                  <a:srgbClr val="374050"/>
                </a:solidFill>
                <a:latin typeface="Roboto"/>
                <a:cs typeface="Roboto"/>
              </a:rPr>
              <a:t>mechanisms </a:t>
            </a:r>
            <a:r>
              <a:rPr dirty="0" sz="1150" spc="-55">
                <a:solidFill>
                  <a:srgbClr val="374050"/>
                </a:solidFill>
                <a:latin typeface="Roboto"/>
                <a:cs typeface="Roboto"/>
              </a:rPr>
              <a:t>Extended</a:t>
            </a:r>
            <a:r>
              <a:rPr dirty="0" sz="1150" spc="-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150" spc="-55">
                <a:solidFill>
                  <a:srgbClr val="374050"/>
                </a:solidFill>
                <a:latin typeface="Roboto"/>
                <a:cs typeface="Roboto"/>
              </a:rPr>
              <a:t>co-</a:t>
            </a:r>
            <a:r>
              <a:rPr dirty="0" sz="1150" spc="-50">
                <a:solidFill>
                  <a:srgbClr val="374050"/>
                </a:solidFill>
                <a:latin typeface="Roboto"/>
                <a:cs typeface="Roboto"/>
              </a:rPr>
              <a:t>simulation</a:t>
            </a:r>
            <a:r>
              <a:rPr dirty="0" sz="1150" spc="-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150" spc="-50">
                <a:solidFill>
                  <a:srgbClr val="374050"/>
                </a:solidFill>
                <a:latin typeface="Roboto"/>
                <a:cs typeface="Roboto"/>
              </a:rPr>
              <a:t>with</a:t>
            </a:r>
            <a:r>
              <a:rPr dirty="0" sz="115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150" spc="-90">
                <a:solidFill>
                  <a:srgbClr val="374050"/>
                </a:solidFill>
                <a:latin typeface="Roboto"/>
                <a:cs typeface="Roboto"/>
              </a:rPr>
              <a:t>FACTS</a:t>
            </a:r>
            <a:r>
              <a:rPr dirty="0" sz="1150" spc="-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150" spc="-55">
                <a:solidFill>
                  <a:srgbClr val="374050"/>
                </a:solidFill>
                <a:latin typeface="Roboto"/>
                <a:cs typeface="Roboto"/>
              </a:rPr>
              <a:t>devices</a:t>
            </a:r>
            <a:endParaRPr sz="115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150" spc="-70">
                <a:solidFill>
                  <a:srgbClr val="374050"/>
                </a:solidFill>
                <a:latin typeface="Roboto"/>
                <a:cs typeface="Roboto"/>
              </a:rPr>
              <a:t>Edge</a:t>
            </a:r>
            <a:r>
              <a:rPr dirty="0" sz="115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150" spc="-55">
                <a:solidFill>
                  <a:srgbClr val="374050"/>
                </a:solidFill>
                <a:latin typeface="Roboto"/>
                <a:cs typeface="Roboto"/>
              </a:rPr>
              <a:t>computing</a:t>
            </a:r>
            <a:r>
              <a:rPr dirty="0" sz="1150" spc="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150" spc="-60">
                <a:solidFill>
                  <a:srgbClr val="374050"/>
                </a:solidFill>
                <a:latin typeface="Roboto"/>
                <a:cs typeface="Roboto"/>
              </a:rPr>
              <a:t>deployment</a:t>
            </a:r>
            <a:r>
              <a:rPr dirty="0" sz="115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150" spc="-45">
                <a:solidFill>
                  <a:srgbClr val="374050"/>
                </a:solidFill>
                <a:latin typeface="Roboto"/>
                <a:cs typeface="Roboto"/>
              </a:rPr>
              <a:t>for</a:t>
            </a:r>
            <a:r>
              <a:rPr dirty="0" sz="1150" spc="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150" spc="-55">
                <a:solidFill>
                  <a:srgbClr val="374050"/>
                </a:solidFill>
                <a:latin typeface="Roboto"/>
                <a:cs typeface="Roboto"/>
              </a:rPr>
              <a:t>field</a:t>
            </a:r>
            <a:r>
              <a:rPr dirty="0" sz="115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150" spc="-45">
                <a:solidFill>
                  <a:srgbClr val="374050"/>
                </a:solidFill>
                <a:latin typeface="Roboto"/>
                <a:cs typeface="Roboto"/>
              </a:rPr>
              <a:t>applications</a:t>
            </a:r>
            <a:endParaRPr sz="1150">
              <a:latin typeface="Roboto"/>
              <a:cs typeface="Roboto"/>
            </a:endParaRPr>
          </a:p>
        </p:txBody>
      </p:sp>
      <p:pic>
        <p:nvPicPr>
          <p:cNvPr id="49" name="object 49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83939" y="2878923"/>
            <a:ext cx="184621" cy="147086"/>
          </a:xfrm>
          <a:prstGeom prst="rect">
            <a:avLst/>
          </a:prstGeom>
        </p:spPr>
      </p:pic>
      <p:sp>
        <p:nvSpPr>
          <p:cNvPr id="50" name="object 50" descr=""/>
          <p:cNvSpPr txBox="1"/>
          <p:nvPr/>
        </p:nvSpPr>
        <p:spPr>
          <a:xfrm>
            <a:off x="634999" y="2818072"/>
            <a:ext cx="1379855" cy="22923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300" spc="-60" b="1">
                <a:solidFill>
                  <a:srgbClr val="374050"/>
                </a:solidFill>
                <a:latin typeface="Roboto"/>
                <a:cs typeface="Roboto"/>
              </a:rPr>
              <a:t>Acknowledgements</a:t>
            </a:r>
            <a:endParaRPr sz="1300">
              <a:latin typeface="Roboto"/>
              <a:cs typeface="Roboto"/>
            </a:endParaRPr>
          </a:p>
        </p:txBody>
      </p:sp>
      <p:sp>
        <p:nvSpPr>
          <p:cNvPr id="51" name="object 51" descr=""/>
          <p:cNvSpPr txBox="1"/>
          <p:nvPr/>
        </p:nvSpPr>
        <p:spPr>
          <a:xfrm>
            <a:off x="368299" y="3089306"/>
            <a:ext cx="3382010" cy="77787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 marR="5080">
              <a:lnSpc>
                <a:spcPct val="122900"/>
              </a:lnSpc>
              <a:spcBef>
                <a:spcPts val="125"/>
              </a:spcBef>
            </a:pPr>
            <a:r>
              <a:rPr dirty="0" sz="1000" spc="-55">
                <a:solidFill>
                  <a:srgbClr val="4A5462"/>
                </a:solidFill>
                <a:latin typeface="Roboto"/>
                <a:cs typeface="Roboto"/>
              </a:rPr>
              <a:t>This</a:t>
            </a:r>
            <a:r>
              <a:rPr dirty="0" sz="1000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1000" spc="-55">
                <a:solidFill>
                  <a:srgbClr val="4A5462"/>
                </a:solidFill>
                <a:latin typeface="Roboto"/>
                <a:cs typeface="Roboto"/>
              </a:rPr>
              <a:t>research</a:t>
            </a:r>
            <a:r>
              <a:rPr dirty="0" sz="1000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1000" spc="-70">
                <a:solidFill>
                  <a:srgbClr val="4A5462"/>
                </a:solidFill>
                <a:latin typeface="Roboto"/>
                <a:cs typeface="Roboto"/>
              </a:rPr>
              <a:t>was</a:t>
            </a:r>
            <a:r>
              <a:rPr dirty="0" sz="1000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1000" spc="-55">
                <a:solidFill>
                  <a:srgbClr val="4A5462"/>
                </a:solidFill>
                <a:latin typeface="Roboto"/>
                <a:cs typeface="Roboto"/>
              </a:rPr>
              <a:t>supported</a:t>
            </a:r>
            <a:r>
              <a:rPr dirty="0" sz="1000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1000" spc="-60">
                <a:solidFill>
                  <a:srgbClr val="4A5462"/>
                </a:solidFill>
                <a:latin typeface="Roboto"/>
                <a:cs typeface="Roboto"/>
              </a:rPr>
              <a:t>by</a:t>
            </a:r>
            <a:r>
              <a:rPr dirty="0" sz="1000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1000" spc="-55">
                <a:solidFill>
                  <a:srgbClr val="4A5462"/>
                </a:solidFill>
                <a:latin typeface="Roboto"/>
                <a:cs typeface="Roboto"/>
              </a:rPr>
              <a:t>the</a:t>
            </a:r>
            <a:r>
              <a:rPr dirty="0" sz="1000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1000" spc="-65">
                <a:solidFill>
                  <a:srgbClr val="4A5462"/>
                </a:solidFill>
                <a:latin typeface="Roboto"/>
                <a:cs typeface="Roboto"/>
              </a:rPr>
              <a:t>Advanced</a:t>
            </a:r>
            <a:r>
              <a:rPr dirty="0" sz="1000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1000" spc="-60">
                <a:solidFill>
                  <a:srgbClr val="4A5462"/>
                </a:solidFill>
                <a:latin typeface="Roboto"/>
                <a:cs typeface="Roboto"/>
              </a:rPr>
              <a:t>Power</a:t>
            </a:r>
            <a:r>
              <a:rPr dirty="0" sz="1000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1000" spc="-10">
                <a:solidFill>
                  <a:srgbClr val="4A5462"/>
                </a:solidFill>
                <a:latin typeface="Roboto"/>
                <a:cs typeface="Roboto"/>
              </a:rPr>
              <a:t>Systems </a:t>
            </a:r>
            <a:r>
              <a:rPr dirty="0" sz="1000" spc="-60">
                <a:solidFill>
                  <a:srgbClr val="4A5462"/>
                </a:solidFill>
                <a:latin typeface="Roboto"/>
                <a:cs typeface="Roboto"/>
              </a:rPr>
              <a:t>Laboratory.</a:t>
            </a:r>
            <a:r>
              <a:rPr dirty="0" sz="1000" spc="-10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1000" spc="-50">
                <a:solidFill>
                  <a:srgbClr val="4A5462"/>
                </a:solidFill>
                <a:latin typeface="Roboto"/>
                <a:cs typeface="Roboto"/>
              </a:rPr>
              <a:t>Special</a:t>
            </a:r>
            <a:r>
              <a:rPr dirty="0" sz="1000" spc="-10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1000" spc="-55">
                <a:solidFill>
                  <a:srgbClr val="4A5462"/>
                </a:solidFill>
                <a:latin typeface="Roboto"/>
                <a:cs typeface="Roboto"/>
              </a:rPr>
              <a:t>thanks</a:t>
            </a:r>
            <a:r>
              <a:rPr dirty="0" sz="1000" spc="-5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1000" spc="-55">
                <a:solidFill>
                  <a:srgbClr val="4A5462"/>
                </a:solidFill>
                <a:latin typeface="Roboto"/>
                <a:cs typeface="Roboto"/>
              </a:rPr>
              <a:t>to</a:t>
            </a:r>
            <a:r>
              <a:rPr dirty="0" sz="1000" spc="-10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1000" spc="-55">
                <a:solidFill>
                  <a:srgbClr val="4A5462"/>
                </a:solidFill>
                <a:latin typeface="Roboto"/>
                <a:cs typeface="Roboto"/>
              </a:rPr>
              <a:t>IEEE</a:t>
            </a:r>
            <a:r>
              <a:rPr dirty="0" sz="1000" spc="-5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1000" spc="-60">
                <a:solidFill>
                  <a:srgbClr val="4A5462"/>
                </a:solidFill>
                <a:latin typeface="Roboto"/>
                <a:cs typeface="Roboto"/>
              </a:rPr>
              <a:t>Power</a:t>
            </a:r>
            <a:r>
              <a:rPr dirty="0" sz="1000" spc="-10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1000" spc="-70">
                <a:solidFill>
                  <a:srgbClr val="4A5462"/>
                </a:solidFill>
                <a:latin typeface="Roboto"/>
                <a:cs typeface="Roboto"/>
              </a:rPr>
              <a:t>&amp;</a:t>
            </a:r>
            <a:r>
              <a:rPr dirty="0" sz="1000" spc="-10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1000" spc="-55">
                <a:solidFill>
                  <a:srgbClr val="4A5462"/>
                </a:solidFill>
                <a:latin typeface="Roboto"/>
                <a:cs typeface="Roboto"/>
              </a:rPr>
              <a:t>Energy</a:t>
            </a:r>
            <a:r>
              <a:rPr dirty="0" sz="1000" spc="-5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1000" spc="-50">
                <a:solidFill>
                  <a:srgbClr val="4A5462"/>
                </a:solidFill>
                <a:latin typeface="Roboto"/>
                <a:cs typeface="Roboto"/>
              </a:rPr>
              <a:t>Society</a:t>
            </a:r>
            <a:r>
              <a:rPr dirty="0" sz="1000" spc="-10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1000" spc="-65">
                <a:solidFill>
                  <a:srgbClr val="4A5462"/>
                </a:solidFill>
                <a:latin typeface="Roboto"/>
                <a:cs typeface="Roboto"/>
              </a:rPr>
              <a:t>and</a:t>
            </a:r>
            <a:r>
              <a:rPr dirty="0" sz="1000" spc="-5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1000" spc="-25">
                <a:solidFill>
                  <a:srgbClr val="4A5462"/>
                </a:solidFill>
                <a:latin typeface="Roboto"/>
                <a:cs typeface="Roboto"/>
              </a:rPr>
              <a:t>the </a:t>
            </a:r>
            <a:r>
              <a:rPr dirty="0" sz="1000" spc="-50">
                <a:solidFill>
                  <a:srgbClr val="4A5462"/>
                </a:solidFill>
                <a:latin typeface="Roboto"/>
                <a:cs typeface="Roboto"/>
              </a:rPr>
              <a:t>Distribution</a:t>
            </a:r>
            <a:r>
              <a:rPr dirty="0" sz="1000" spc="-20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1000" spc="-70">
                <a:solidFill>
                  <a:srgbClr val="4A5462"/>
                </a:solidFill>
                <a:latin typeface="Roboto"/>
                <a:cs typeface="Roboto"/>
              </a:rPr>
              <a:t>Test</a:t>
            </a:r>
            <a:r>
              <a:rPr dirty="0" sz="1000" spc="5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1000" spc="-55">
                <a:solidFill>
                  <a:srgbClr val="4A5462"/>
                </a:solidFill>
                <a:latin typeface="Roboto"/>
                <a:cs typeface="Roboto"/>
              </a:rPr>
              <a:t>Feeders</a:t>
            </a:r>
            <a:r>
              <a:rPr dirty="0" sz="1000" spc="5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1000" spc="-55">
                <a:solidFill>
                  <a:srgbClr val="4A5462"/>
                </a:solidFill>
                <a:latin typeface="Roboto"/>
                <a:cs typeface="Roboto"/>
              </a:rPr>
              <a:t>Working</a:t>
            </a:r>
            <a:r>
              <a:rPr dirty="0" sz="1000" spc="5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1000" spc="-65">
                <a:solidFill>
                  <a:srgbClr val="4A5462"/>
                </a:solidFill>
                <a:latin typeface="Roboto"/>
                <a:cs typeface="Roboto"/>
              </a:rPr>
              <a:t>Group</a:t>
            </a:r>
            <a:r>
              <a:rPr dirty="0" sz="1000" spc="5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1000" spc="-45">
                <a:solidFill>
                  <a:srgbClr val="4A5462"/>
                </a:solidFill>
                <a:latin typeface="Roboto"/>
                <a:cs typeface="Roboto"/>
              </a:rPr>
              <a:t>for</a:t>
            </a:r>
            <a:r>
              <a:rPr dirty="0" sz="1000" spc="5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1000" spc="-50">
                <a:solidFill>
                  <a:srgbClr val="4A5462"/>
                </a:solidFill>
                <a:latin typeface="Roboto"/>
                <a:cs typeface="Roboto"/>
              </a:rPr>
              <a:t>providing</a:t>
            </a:r>
            <a:r>
              <a:rPr dirty="0" sz="1000" spc="5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1000" spc="-55">
                <a:solidFill>
                  <a:srgbClr val="4A5462"/>
                </a:solidFill>
                <a:latin typeface="Roboto"/>
                <a:cs typeface="Roboto"/>
              </a:rPr>
              <a:t>test</a:t>
            </a:r>
            <a:r>
              <a:rPr dirty="0" sz="1000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1000" spc="-25">
                <a:solidFill>
                  <a:srgbClr val="4A5462"/>
                </a:solidFill>
                <a:latin typeface="Roboto"/>
                <a:cs typeface="Roboto"/>
              </a:rPr>
              <a:t>system </a:t>
            </a:r>
            <a:r>
              <a:rPr dirty="0" sz="1000" spc="-10">
                <a:solidFill>
                  <a:srgbClr val="4A5462"/>
                </a:solidFill>
                <a:latin typeface="Roboto"/>
                <a:cs typeface="Roboto"/>
              </a:rPr>
              <a:t>data.</a:t>
            </a:r>
            <a:endParaRPr sz="1000">
              <a:latin typeface="Roboto"/>
              <a:cs typeface="Roboto"/>
            </a:endParaRPr>
          </a:p>
        </p:txBody>
      </p:sp>
      <p:pic>
        <p:nvPicPr>
          <p:cNvPr id="52" name="object 52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190999" y="2876549"/>
            <a:ext cx="133349" cy="152399"/>
          </a:xfrm>
          <a:prstGeom prst="rect">
            <a:avLst/>
          </a:prstGeom>
        </p:spPr>
      </p:pic>
      <p:sp>
        <p:nvSpPr>
          <p:cNvPr id="53" name="object 53" descr=""/>
          <p:cNvSpPr txBox="1"/>
          <p:nvPr/>
        </p:nvSpPr>
        <p:spPr>
          <a:xfrm>
            <a:off x="4387850" y="2818072"/>
            <a:ext cx="1438275" cy="22923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300" spc="-50" b="1">
                <a:solidFill>
                  <a:srgbClr val="374050"/>
                </a:solidFill>
                <a:latin typeface="Roboto"/>
                <a:cs typeface="Roboto"/>
              </a:rPr>
              <a:t>Selected</a:t>
            </a:r>
            <a:r>
              <a:rPr dirty="0" sz="1300" spc="-35" b="1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50" b="1">
                <a:solidFill>
                  <a:srgbClr val="374050"/>
                </a:solidFill>
                <a:latin typeface="Roboto"/>
                <a:cs typeface="Roboto"/>
              </a:rPr>
              <a:t>References</a:t>
            </a:r>
            <a:endParaRPr sz="1300">
              <a:latin typeface="Roboto"/>
              <a:cs typeface="Roboto"/>
            </a:endParaRPr>
          </a:p>
        </p:txBody>
      </p:sp>
      <p:sp>
        <p:nvSpPr>
          <p:cNvPr id="54" name="object 54" descr=""/>
          <p:cNvSpPr txBox="1"/>
          <p:nvPr/>
        </p:nvSpPr>
        <p:spPr>
          <a:xfrm>
            <a:off x="4178300" y="3106661"/>
            <a:ext cx="3629660" cy="48260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11100"/>
              </a:lnSpc>
              <a:spcBef>
                <a:spcPts val="90"/>
              </a:spcBef>
            </a:pPr>
            <a:r>
              <a:rPr dirty="0" sz="900" spc="-20">
                <a:solidFill>
                  <a:srgbClr val="4A5462"/>
                </a:solidFill>
                <a:latin typeface="Roboto"/>
                <a:cs typeface="Roboto"/>
              </a:rPr>
              <a:t>[1]</a:t>
            </a:r>
            <a:r>
              <a:rPr dirty="0" sz="900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900" spc="-30">
                <a:solidFill>
                  <a:srgbClr val="4A5462"/>
                </a:solidFill>
                <a:latin typeface="Roboto"/>
                <a:cs typeface="Roboto"/>
              </a:rPr>
              <a:t>A.</a:t>
            </a:r>
            <a:r>
              <a:rPr dirty="0" sz="900" spc="5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900" spc="-45">
                <a:solidFill>
                  <a:srgbClr val="4A5462"/>
                </a:solidFill>
                <a:latin typeface="Roboto"/>
                <a:cs typeface="Roboto"/>
              </a:rPr>
              <a:t>Smith</a:t>
            </a:r>
            <a:r>
              <a:rPr dirty="0" sz="900" spc="-5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900" spc="-20">
                <a:solidFill>
                  <a:srgbClr val="4A5462"/>
                </a:solidFill>
                <a:latin typeface="Roboto"/>
                <a:cs typeface="Roboto"/>
              </a:rPr>
              <a:t>et</a:t>
            </a:r>
            <a:r>
              <a:rPr dirty="0" sz="900" spc="5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900" spc="-25">
                <a:solidFill>
                  <a:srgbClr val="4A5462"/>
                </a:solidFill>
                <a:latin typeface="Roboto"/>
                <a:cs typeface="Roboto"/>
              </a:rPr>
              <a:t>al.,</a:t>
            </a:r>
            <a:r>
              <a:rPr dirty="0" sz="900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900" spc="-65">
                <a:solidFill>
                  <a:srgbClr val="4A5462"/>
                </a:solidFill>
                <a:latin typeface="Roboto"/>
                <a:cs typeface="Roboto"/>
              </a:rPr>
              <a:t>"A</a:t>
            </a:r>
            <a:r>
              <a:rPr dirty="0" sz="900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900" spc="-45">
                <a:solidFill>
                  <a:srgbClr val="4A5462"/>
                </a:solidFill>
                <a:latin typeface="Roboto"/>
                <a:cs typeface="Roboto"/>
              </a:rPr>
              <a:t>Generalized</a:t>
            </a:r>
            <a:r>
              <a:rPr dirty="0" sz="900" spc="-5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900" spc="-40">
                <a:solidFill>
                  <a:srgbClr val="4A5462"/>
                </a:solidFill>
                <a:latin typeface="Roboto"/>
                <a:cs typeface="Roboto"/>
              </a:rPr>
              <a:t>Deep</a:t>
            </a:r>
            <a:r>
              <a:rPr dirty="0" sz="900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900" spc="-40">
                <a:solidFill>
                  <a:srgbClr val="4A5462"/>
                </a:solidFill>
                <a:latin typeface="Roboto"/>
                <a:cs typeface="Roboto"/>
              </a:rPr>
              <a:t>Reinforcement</a:t>
            </a:r>
            <a:r>
              <a:rPr dirty="0" sz="900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900" spc="-40">
                <a:solidFill>
                  <a:srgbClr val="4A5462"/>
                </a:solidFill>
                <a:latin typeface="Roboto"/>
                <a:cs typeface="Roboto"/>
              </a:rPr>
              <a:t>Learning</a:t>
            </a:r>
            <a:r>
              <a:rPr dirty="0" sz="900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900" spc="-50">
                <a:solidFill>
                  <a:srgbClr val="4A5462"/>
                </a:solidFill>
                <a:latin typeface="Roboto"/>
                <a:cs typeface="Roboto"/>
              </a:rPr>
              <a:t>Model</a:t>
            </a:r>
            <a:r>
              <a:rPr dirty="0" sz="900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900" spc="-25">
                <a:solidFill>
                  <a:srgbClr val="4A5462"/>
                </a:solidFill>
                <a:latin typeface="Roboto"/>
                <a:cs typeface="Roboto"/>
              </a:rPr>
              <a:t>for</a:t>
            </a:r>
            <a:r>
              <a:rPr dirty="0" sz="900" spc="500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900" spc="-35">
                <a:solidFill>
                  <a:srgbClr val="4A5462"/>
                </a:solidFill>
                <a:latin typeface="Roboto"/>
                <a:cs typeface="Roboto"/>
              </a:rPr>
              <a:t>Distribution</a:t>
            </a:r>
            <a:r>
              <a:rPr dirty="0" sz="900" spc="-5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900" spc="-45">
                <a:solidFill>
                  <a:srgbClr val="4A5462"/>
                </a:solidFill>
                <a:latin typeface="Roboto"/>
                <a:cs typeface="Roboto"/>
              </a:rPr>
              <a:t>Networks,"</a:t>
            </a:r>
            <a:r>
              <a:rPr dirty="0" sz="900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900" spc="-30">
                <a:solidFill>
                  <a:srgbClr val="4A5462"/>
                </a:solidFill>
                <a:latin typeface="Roboto"/>
                <a:cs typeface="Roboto"/>
              </a:rPr>
              <a:t>IEEE</a:t>
            </a:r>
            <a:r>
              <a:rPr dirty="0" sz="900" spc="-15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900" spc="-45">
                <a:solidFill>
                  <a:srgbClr val="4A5462"/>
                </a:solidFill>
                <a:latin typeface="Roboto"/>
                <a:cs typeface="Roboto"/>
              </a:rPr>
              <a:t>Trans.</a:t>
            </a:r>
            <a:r>
              <a:rPr dirty="0" sz="900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900" spc="-50">
                <a:solidFill>
                  <a:srgbClr val="4A5462"/>
                </a:solidFill>
                <a:latin typeface="Roboto"/>
                <a:cs typeface="Roboto"/>
              </a:rPr>
              <a:t>Power</a:t>
            </a:r>
            <a:r>
              <a:rPr dirty="0" sz="900" spc="5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900" spc="-30">
                <a:solidFill>
                  <a:srgbClr val="4A5462"/>
                </a:solidFill>
                <a:latin typeface="Roboto"/>
                <a:cs typeface="Roboto"/>
              </a:rPr>
              <a:t>Syst.,</a:t>
            </a:r>
            <a:r>
              <a:rPr dirty="0" sz="900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900" spc="-40">
                <a:solidFill>
                  <a:srgbClr val="4A5462"/>
                </a:solidFill>
                <a:latin typeface="Roboto"/>
                <a:cs typeface="Roboto"/>
              </a:rPr>
              <a:t>vol.</a:t>
            </a:r>
            <a:r>
              <a:rPr dirty="0" sz="900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900" spc="-35">
                <a:solidFill>
                  <a:srgbClr val="4A5462"/>
                </a:solidFill>
                <a:latin typeface="Roboto"/>
                <a:cs typeface="Roboto"/>
              </a:rPr>
              <a:t>36,</a:t>
            </a:r>
            <a:r>
              <a:rPr dirty="0" sz="900" spc="5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900" spc="-35">
                <a:solidFill>
                  <a:srgbClr val="4A5462"/>
                </a:solidFill>
                <a:latin typeface="Roboto"/>
                <a:cs typeface="Roboto"/>
              </a:rPr>
              <a:t>no.</a:t>
            </a:r>
            <a:r>
              <a:rPr dirty="0" sz="900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900" spc="-20">
                <a:solidFill>
                  <a:srgbClr val="4A5462"/>
                </a:solidFill>
                <a:latin typeface="Roboto"/>
                <a:cs typeface="Roboto"/>
              </a:rPr>
              <a:t>4,</a:t>
            </a:r>
            <a:r>
              <a:rPr dirty="0" sz="900" spc="5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900" spc="-35">
                <a:solidFill>
                  <a:srgbClr val="4A5462"/>
                </a:solidFill>
                <a:latin typeface="Roboto"/>
                <a:cs typeface="Roboto"/>
              </a:rPr>
              <a:t>pp.</a:t>
            </a:r>
            <a:r>
              <a:rPr dirty="0" sz="900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900" spc="-45">
                <a:solidFill>
                  <a:srgbClr val="4A5462"/>
                </a:solidFill>
                <a:latin typeface="Roboto"/>
                <a:cs typeface="Roboto"/>
              </a:rPr>
              <a:t>3238-</a:t>
            </a:r>
            <a:r>
              <a:rPr dirty="0" sz="900" spc="-10">
                <a:solidFill>
                  <a:srgbClr val="4A5462"/>
                </a:solidFill>
                <a:latin typeface="Roboto"/>
                <a:cs typeface="Roboto"/>
              </a:rPr>
              <a:t>3249, 2022.</a:t>
            </a:r>
            <a:endParaRPr sz="900">
              <a:latin typeface="Roboto"/>
              <a:cs typeface="Roboto"/>
            </a:endParaRPr>
          </a:p>
        </p:txBody>
      </p:sp>
      <p:sp>
        <p:nvSpPr>
          <p:cNvPr id="55" name="object 55" descr=""/>
          <p:cNvSpPr txBox="1"/>
          <p:nvPr/>
        </p:nvSpPr>
        <p:spPr>
          <a:xfrm>
            <a:off x="8064500" y="3106661"/>
            <a:ext cx="3491865" cy="48260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11100"/>
              </a:lnSpc>
              <a:spcBef>
                <a:spcPts val="90"/>
              </a:spcBef>
            </a:pPr>
            <a:r>
              <a:rPr dirty="0" sz="900" spc="-20">
                <a:solidFill>
                  <a:srgbClr val="4A5462"/>
                </a:solidFill>
                <a:latin typeface="Roboto"/>
                <a:cs typeface="Roboto"/>
              </a:rPr>
              <a:t>[2]</a:t>
            </a:r>
            <a:r>
              <a:rPr dirty="0" sz="900" spc="-10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900" spc="-30">
                <a:solidFill>
                  <a:srgbClr val="4A5462"/>
                </a:solidFill>
                <a:latin typeface="Roboto"/>
                <a:cs typeface="Roboto"/>
              </a:rPr>
              <a:t>B.</a:t>
            </a:r>
            <a:r>
              <a:rPr dirty="0" sz="900" spc="-10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900" spc="-40">
                <a:solidFill>
                  <a:srgbClr val="4A5462"/>
                </a:solidFill>
                <a:latin typeface="Roboto"/>
                <a:cs typeface="Roboto"/>
              </a:rPr>
              <a:t>Johnson</a:t>
            </a:r>
            <a:r>
              <a:rPr dirty="0" sz="900" spc="-15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900" spc="-20">
                <a:solidFill>
                  <a:srgbClr val="4A5462"/>
                </a:solidFill>
                <a:latin typeface="Roboto"/>
                <a:cs typeface="Roboto"/>
              </a:rPr>
              <a:t>et</a:t>
            </a:r>
            <a:r>
              <a:rPr dirty="0" sz="900" spc="-10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900" spc="-25">
                <a:solidFill>
                  <a:srgbClr val="4A5462"/>
                </a:solidFill>
                <a:latin typeface="Roboto"/>
                <a:cs typeface="Roboto"/>
              </a:rPr>
              <a:t>al.,</a:t>
            </a:r>
            <a:r>
              <a:rPr dirty="0" sz="900" spc="-10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900" spc="-45">
                <a:solidFill>
                  <a:srgbClr val="4A5462"/>
                </a:solidFill>
                <a:latin typeface="Roboto"/>
                <a:cs typeface="Roboto"/>
              </a:rPr>
              <a:t>"Adaptive</a:t>
            </a:r>
            <a:r>
              <a:rPr dirty="0" sz="900" spc="-15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900" spc="-35">
                <a:solidFill>
                  <a:srgbClr val="4A5462"/>
                </a:solidFill>
                <a:latin typeface="Roboto"/>
                <a:cs typeface="Roboto"/>
              </a:rPr>
              <a:t>Energy</a:t>
            </a:r>
            <a:r>
              <a:rPr dirty="0" sz="900" spc="-15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900" spc="-45">
                <a:solidFill>
                  <a:srgbClr val="4A5462"/>
                </a:solidFill>
                <a:latin typeface="Roboto"/>
                <a:cs typeface="Roboto"/>
              </a:rPr>
              <a:t>Loss</a:t>
            </a:r>
            <a:r>
              <a:rPr dirty="0" sz="900" spc="-15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900" spc="-40">
                <a:solidFill>
                  <a:srgbClr val="4A5462"/>
                </a:solidFill>
                <a:latin typeface="Roboto"/>
                <a:cs typeface="Roboto"/>
              </a:rPr>
              <a:t>Optimization</a:t>
            </a:r>
            <a:r>
              <a:rPr dirty="0" sz="900" spc="-15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900" spc="-20">
                <a:solidFill>
                  <a:srgbClr val="4A5462"/>
                </a:solidFill>
                <a:latin typeface="Roboto"/>
                <a:cs typeface="Roboto"/>
              </a:rPr>
              <a:t>in</a:t>
            </a:r>
            <a:r>
              <a:rPr dirty="0" sz="900" spc="-10">
                <a:solidFill>
                  <a:srgbClr val="4A5462"/>
                </a:solidFill>
                <a:latin typeface="Roboto"/>
                <a:cs typeface="Roboto"/>
              </a:rPr>
              <a:t> Distribution </a:t>
            </a:r>
            <a:r>
              <a:rPr dirty="0" sz="900" spc="-40">
                <a:solidFill>
                  <a:srgbClr val="4A5462"/>
                </a:solidFill>
                <a:latin typeface="Roboto"/>
                <a:cs typeface="Roboto"/>
              </a:rPr>
              <a:t>Networks</a:t>
            </a:r>
            <a:r>
              <a:rPr dirty="0" sz="900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900" spc="-35">
                <a:solidFill>
                  <a:srgbClr val="4A5462"/>
                </a:solidFill>
                <a:latin typeface="Roboto"/>
                <a:cs typeface="Roboto"/>
              </a:rPr>
              <a:t>using</a:t>
            </a:r>
            <a:r>
              <a:rPr dirty="0" sz="900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900" spc="-40">
                <a:solidFill>
                  <a:srgbClr val="4A5462"/>
                </a:solidFill>
                <a:latin typeface="Roboto"/>
                <a:cs typeface="Roboto"/>
              </a:rPr>
              <a:t>Reinforcement</a:t>
            </a:r>
            <a:r>
              <a:rPr dirty="0" sz="900" spc="5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900" spc="-40">
                <a:solidFill>
                  <a:srgbClr val="4A5462"/>
                </a:solidFill>
                <a:latin typeface="Roboto"/>
                <a:cs typeface="Roboto"/>
              </a:rPr>
              <a:t>Learning,"</a:t>
            </a:r>
            <a:r>
              <a:rPr dirty="0" sz="900" spc="5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900" spc="-40">
                <a:solidFill>
                  <a:srgbClr val="4A5462"/>
                </a:solidFill>
                <a:latin typeface="Roboto"/>
                <a:cs typeface="Roboto"/>
              </a:rPr>
              <a:t>Scientific</a:t>
            </a:r>
            <a:r>
              <a:rPr dirty="0" sz="900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900" spc="-35">
                <a:solidFill>
                  <a:srgbClr val="4A5462"/>
                </a:solidFill>
                <a:latin typeface="Roboto"/>
                <a:cs typeface="Roboto"/>
              </a:rPr>
              <a:t>Reports,</a:t>
            </a:r>
            <a:r>
              <a:rPr dirty="0" sz="900" spc="5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900" spc="-40">
                <a:solidFill>
                  <a:srgbClr val="4A5462"/>
                </a:solidFill>
                <a:latin typeface="Roboto"/>
                <a:cs typeface="Roboto"/>
              </a:rPr>
              <a:t>vol.</a:t>
            </a:r>
            <a:r>
              <a:rPr dirty="0" sz="900" spc="5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900" spc="-35">
                <a:solidFill>
                  <a:srgbClr val="4A5462"/>
                </a:solidFill>
                <a:latin typeface="Roboto"/>
                <a:cs typeface="Roboto"/>
              </a:rPr>
              <a:t>12,</a:t>
            </a:r>
            <a:r>
              <a:rPr dirty="0" sz="900" spc="5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900" spc="-35">
                <a:solidFill>
                  <a:srgbClr val="4A5462"/>
                </a:solidFill>
                <a:latin typeface="Roboto"/>
                <a:cs typeface="Roboto"/>
              </a:rPr>
              <a:t>no.</a:t>
            </a:r>
            <a:r>
              <a:rPr dirty="0" sz="900" spc="5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900" spc="-25">
                <a:solidFill>
                  <a:srgbClr val="4A5462"/>
                </a:solidFill>
                <a:latin typeface="Roboto"/>
                <a:cs typeface="Roboto"/>
              </a:rPr>
              <a:t>3,</a:t>
            </a:r>
            <a:r>
              <a:rPr dirty="0" sz="900" spc="-10">
                <a:solidFill>
                  <a:srgbClr val="4A5462"/>
                </a:solidFill>
                <a:latin typeface="Roboto"/>
                <a:cs typeface="Roboto"/>
              </a:rPr>
              <a:t> 2021.</a:t>
            </a:r>
            <a:endParaRPr sz="900">
              <a:latin typeface="Roboto"/>
              <a:cs typeface="Roboto"/>
            </a:endParaRPr>
          </a:p>
        </p:txBody>
      </p:sp>
      <p:sp>
        <p:nvSpPr>
          <p:cNvPr id="56" name="object 56" descr=""/>
          <p:cNvSpPr txBox="1"/>
          <p:nvPr/>
        </p:nvSpPr>
        <p:spPr>
          <a:xfrm>
            <a:off x="4178300" y="3640061"/>
            <a:ext cx="3702050" cy="33020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11100"/>
              </a:lnSpc>
              <a:spcBef>
                <a:spcPts val="90"/>
              </a:spcBef>
            </a:pPr>
            <a:r>
              <a:rPr dirty="0" sz="900" spc="-20">
                <a:solidFill>
                  <a:srgbClr val="4A5462"/>
                </a:solidFill>
                <a:latin typeface="Roboto"/>
                <a:cs typeface="Roboto"/>
              </a:rPr>
              <a:t>[3]</a:t>
            </a:r>
            <a:r>
              <a:rPr dirty="0" sz="900" spc="-5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900" spc="-30">
                <a:solidFill>
                  <a:srgbClr val="4A5462"/>
                </a:solidFill>
                <a:latin typeface="Roboto"/>
                <a:cs typeface="Roboto"/>
              </a:rPr>
              <a:t>C.</a:t>
            </a:r>
            <a:r>
              <a:rPr dirty="0" sz="900" spc="-5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900" spc="-40">
                <a:solidFill>
                  <a:srgbClr val="4A5462"/>
                </a:solidFill>
                <a:latin typeface="Roboto"/>
                <a:cs typeface="Roboto"/>
              </a:rPr>
              <a:t>Williams</a:t>
            </a:r>
            <a:r>
              <a:rPr dirty="0" sz="900" spc="-10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900" spc="-20">
                <a:solidFill>
                  <a:srgbClr val="4A5462"/>
                </a:solidFill>
                <a:latin typeface="Roboto"/>
                <a:cs typeface="Roboto"/>
              </a:rPr>
              <a:t>et</a:t>
            </a:r>
            <a:r>
              <a:rPr dirty="0" sz="900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900" spc="-25">
                <a:solidFill>
                  <a:srgbClr val="4A5462"/>
                </a:solidFill>
                <a:latin typeface="Roboto"/>
                <a:cs typeface="Roboto"/>
              </a:rPr>
              <a:t>al.,</a:t>
            </a:r>
            <a:r>
              <a:rPr dirty="0" sz="900" spc="-5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900" spc="-40">
                <a:solidFill>
                  <a:srgbClr val="4A5462"/>
                </a:solidFill>
                <a:latin typeface="Roboto"/>
                <a:cs typeface="Roboto"/>
              </a:rPr>
              <a:t>"Power</a:t>
            </a:r>
            <a:r>
              <a:rPr dirty="0" sz="900" spc="-5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900" spc="-35">
                <a:solidFill>
                  <a:srgbClr val="4A5462"/>
                </a:solidFill>
                <a:latin typeface="Roboto"/>
                <a:cs typeface="Roboto"/>
              </a:rPr>
              <a:t>Distribution</a:t>
            </a:r>
            <a:r>
              <a:rPr dirty="0" sz="900" spc="-5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900" spc="-40">
                <a:solidFill>
                  <a:srgbClr val="4A5462"/>
                </a:solidFill>
                <a:latin typeface="Roboto"/>
                <a:cs typeface="Roboto"/>
              </a:rPr>
              <a:t>Network</a:t>
            </a:r>
            <a:r>
              <a:rPr dirty="0" sz="900" spc="-10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900" spc="-45">
                <a:solidFill>
                  <a:srgbClr val="4A5462"/>
                </a:solidFill>
                <a:latin typeface="Roboto"/>
                <a:cs typeface="Roboto"/>
              </a:rPr>
              <a:t>Reconfiguration</a:t>
            </a:r>
            <a:r>
              <a:rPr dirty="0" sz="900" spc="-25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900" spc="-10">
                <a:solidFill>
                  <a:srgbClr val="4A5462"/>
                </a:solidFill>
                <a:latin typeface="Roboto"/>
                <a:cs typeface="Roboto"/>
              </a:rPr>
              <a:t>Techniques: </a:t>
            </a:r>
            <a:r>
              <a:rPr dirty="0" sz="900" spc="-50">
                <a:solidFill>
                  <a:srgbClr val="4A5462"/>
                </a:solidFill>
                <a:latin typeface="Roboto"/>
                <a:cs typeface="Roboto"/>
              </a:rPr>
              <a:t>A</a:t>
            </a:r>
            <a:r>
              <a:rPr dirty="0" sz="900" spc="-15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900" spc="-50">
                <a:solidFill>
                  <a:srgbClr val="4A5462"/>
                </a:solidFill>
                <a:latin typeface="Roboto"/>
                <a:cs typeface="Roboto"/>
              </a:rPr>
              <a:t>Review,"</a:t>
            </a:r>
            <a:r>
              <a:rPr dirty="0" sz="900" spc="-5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900" spc="-30">
                <a:solidFill>
                  <a:srgbClr val="4A5462"/>
                </a:solidFill>
                <a:latin typeface="Roboto"/>
                <a:cs typeface="Roboto"/>
              </a:rPr>
              <a:t>IEEE</a:t>
            </a:r>
            <a:r>
              <a:rPr dirty="0" sz="900" spc="-25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900" spc="-45">
                <a:solidFill>
                  <a:srgbClr val="4A5462"/>
                </a:solidFill>
                <a:latin typeface="Roboto"/>
                <a:cs typeface="Roboto"/>
              </a:rPr>
              <a:t>Trans.</a:t>
            </a:r>
            <a:r>
              <a:rPr dirty="0" sz="900" spc="-5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900" spc="-35">
                <a:solidFill>
                  <a:srgbClr val="4A5462"/>
                </a:solidFill>
                <a:latin typeface="Roboto"/>
                <a:cs typeface="Roboto"/>
              </a:rPr>
              <a:t>Smart</a:t>
            </a:r>
            <a:r>
              <a:rPr dirty="0" sz="900" spc="-5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900" spc="-35">
                <a:solidFill>
                  <a:srgbClr val="4A5462"/>
                </a:solidFill>
                <a:latin typeface="Roboto"/>
                <a:cs typeface="Roboto"/>
              </a:rPr>
              <a:t>Grid,</a:t>
            </a:r>
            <a:r>
              <a:rPr dirty="0" sz="900" spc="-10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900" spc="-40">
                <a:solidFill>
                  <a:srgbClr val="4A5462"/>
                </a:solidFill>
                <a:latin typeface="Roboto"/>
                <a:cs typeface="Roboto"/>
              </a:rPr>
              <a:t>vol.</a:t>
            </a:r>
            <a:r>
              <a:rPr dirty="0" sz="900" spc="-5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900" spc="-35">
                <a:solidFill>
                  <a:srgbClr val="4A5462"/>
                </a:solidFill>
                <a:latin typeface="Roboto"/>
                <a:cs typeface="Roboto"/>
              </a:rPr>
              <a:t>11,</a:t>
            </a:r>
            <a:r>
              <a:rPr dirty="0" sz="900" spc="-5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900" spc="-35">
                <a:solidFill>
                  <a:srgbClr val="4A5462"/>
                </a:solidFill>
                <a:latin typeface="Roboto"/>
                <a:cs typeface="Roboto"/>
              </a:rPr>
              <a:t>no.</a:t>
            </a:r>
            <a:r>
              <a:rPr dirty="0" sz="900" spc="-5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900" spc="-20">
                <a:solidFill>
                  <a:srgbClr val="4A5462"/>
                </a:solidFill>
                <a:latin typeface="Roboto"/>
                <a:cs typeface="Roboto"/>
              </a:rPr>
              <a:t>3,</a:t>
            </a:r>
            <a:r>
              <a:rPr dirty="0" sz="900" spc="-5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900" spc="-35">
                <a:solidFill>
                  <a:srgbClr val="4A5462"/>
                </a:solidFill>
                <a:latin typeface="Roboto"/>
                <a:cs typeface="Roboto"/>
              </a:rPr>
              <a:t>pp.</a:t>
            </a:r>
            <a:r>
              <a:rPr dirty="0" sz="900" spc="-5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900" spc="-45">
                <a:solidFill>
                  <a:srgbClr val="4A5462"/>
                </a:solidFill>
                <a:latin typeface="Roboto"/>
                <a:cs typeface="Roboto"/>
              </a:rPr>
              <a:t>2851-</a:t>
            </a:r>
            <a:r>
              <a:rPr dirty="0" sz="900" spc="-35">
                <a:solidFill>
                  <a:srgbClr val="4A5462"/>
                </a:solidFill>
                <a:latin typeface="Roboto"/>
                <a:cs typeface="Roboto"/>
              </a:rPr>
              <a:t>2862,</a:t>
            </a:r>
            <a:r>
              <a:rPr dirty="0" sz="900" spc="-5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900" spc="-20">
                <a:solidFill>
                  <a:srgbClr val="4A5462"/>
                </a:solidFill>
                <a:latin typeface="Roboto"/>
                <a:cs typeface="Roboto"/>
              </a:rPr>
              <a:t>2020.</a:t>
            </a:r>
            <a:endParaRPr sz="900">
              <a:latin typeface="Roboto"/>
              <a:cs typeface="Roboto"/>
            </a:endParaRPr>
          </a:p>
        </p:txBody>
      </p:sp>
      <p:sp>
        <p:nvSpPr>
          <p:cNvPr id="57" name="object 57" descr=""/>
          <p:cNvSpPr txBox="1"/>
          <p:nvPr/>
        </p:nvSpPr>
        <p:spPr>
          <a:xfrm>
            <a:off x="8064500" y="3640061"/>
            <a:ext cx="3608070" cy="48260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11100"/>
              </a:lnSpc>
              <a:spcBef>
                <a:spcPts val="90"/>
              </a:spcBef>
            </a:pPr>
            <a:r>
              <a:rPr dirty="0" sz="900" spc="-20">
                <a:solidFill>
                  <a:srgbClr val="4A5462"/>
                </a:solidFill>
                <a:latin typeface="Roboto"/>
                <a:cs typeface="Roboto"/>
              </a:rPr>
              <a:t>[4]</a:t>
            </a:r>
            <a:r>
              <a:rPr dirty="0" sz="900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900" spc="-55">
                <a:solidFill>
                  <a:srgbClr val="4A5462"/>
                </a:solidFill>
                <a:latin typeface="Roboto"/>
                <a:cs typeface="Roboto"/>
              </a:rPr>
              <a:t>D.</a:t>
            </a:r>
            <a:r>
              <a:rPr dirty="0" sz="900" spc="5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900" spc="-50">
                <a:solidFill>
                  <a:srgbClr val="4A5462"/>
                </a:solidFill>
                <a:latin typeface="Roboto"/>
                <a:cs typeface="Roboto"/>
              </a:rPr>
              <a:t>Gao</a:t>
            </a:r>
            <a:r>
              <a:rPr dirty="0" sz="900" spc="-5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900" spc="-20">
                <a:solidFill>
                  <a:srgbClr val="4A5462"/>
                </a:solidFill>
                <a:latin typeface="Roboto"/>
                <a:cs typeface="Roboto"/>
              </a:rPr>
              <a:t>et</a:t>
            </a:r>
            <a:r>
              <a:rPr dirty="0" sz="900" spc="5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900" spc="-25">
                <a:solidFill>
                  <a:srgbClr val="4A5462"/>
                </a:solidFill>
                <a:latin typeface="Roboto"/>
                <a:cs typeface="Roboto"/>
              </a:rPr>
              <a:t>al.,</a:t>
            </a:r>
            <a:r>
              <a:rPr dirty="0" sz="900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900" spc="-65">
                <a:solidFill>
                  <a:srgbClr val="4A5462"/>
                </a:solidFill>
                <a:latin typeface="Roboto"/>
                <a:cs typeface="Roboto"/>
              </a:rPr>
              <a:t>"A</a:t>
            </a:r>
            <a:r>
              <a:rPr dirty="0" sz="900" spc="-20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900" spc="-55">
                <a:solidFill>
                  <a:srgbClr val="4A5462"/>
                </a:solidFill>
                <a:latin typeface="Roboto"/>
                <a:cs typeface="Roboto"/>
              </a:rPr>
              <a:t>Two-</a:t>
            </a:r>
            <a:r>
              <a:rPr dirty="0" sz="900" spc="-45">
                <a:solidFill>
                  <a:srgbClr val="4A5462"/>
                </a:solidFill>
                <a:latin typeface="Roboto"/>
                <a:cs typeface="Roboto"/>
              </a:rPr>
              <a:t>Stage</a:t>
            </a:r>
            <a:r>
              <a:rPr dirty="0" sz="900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900" spc="-40">
                <a:solidFill>
                  <a:srgbClr val="4A5462"/>
                </a:solidFill>
                <a:latin typeface="Roboto"/>
                <a:cs typeface="Roboto"/>
              </a:rPr>
              <a:t>Multi-</a:t>
            </a:r>
            <a:r>
              <a:rPr dirty="0" sz="900" spc="-45">
                <a:solidFill>
                  <a:srgbClr val="4A5462"/>
                </a:solidFill>
                <a:latin typeface="Roboto"/>
                <a:cs typeface="Roboto"/>
              </a:rPr>
              <a:t>Agent</a:t>
            </a:r>
            <a:r>
              <a:rPr dirty="0" sz="900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900" spc="-40">
                <a:solidFill>
                  <a:srgbClr val="4A5462"/>
                </a:solidFill>
                <a:latin typeface="Roboto"/>
                <a:cs typeface="Roboto"/>
              </a:rPr>
              <a:t>Deep</a:t>
            </a:r>
            <a:r>
              <a:rPr dirty="0" sz="900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900" spc="-40">
                <a:solidFill>
                  <a:srgbClr val="4A5462"/>
                </a:solidFill>
                <a:latin typeface="Roboto"/>
                <a:cs typeface="Roboto"/>
              </a:rPr>
              <a:t>Reinforcement</a:t>
            </a:r>
            <a:r>
              <a:rPr dirty="0" sz="900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900" spc="-10">
                <a:solidFill>
                  <a:srgbClr val="4A5462"/>
                </a:solidFill>
                <a:latin typeface="Roboto"/>
                <a:cs typeface="Roboto"/>
              </a:rPr>
              <a:t>Learning </a:t>
            </a:r>
            <a:r>
              <a:rPr dirty="0" sz="900" spc="-50">
                <a:solidFill>
                  <a:srgbClr val="4A5462"/>
                </a:solidFill>
                <a:latin typeface="Roboto"/>
                <a:cs typeface="Roboto"/>
              </a:rPr>
              <a:t>Method</a:t>
            </a:r>
            <a:r>
              <a:rPr dirty="0" sz="900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900" spc="-35">
                <a:solidFill>
                  <a:srgbClr val="4A5462"/>
                </a:solidFill>
                <a:latin typeface="Roboto"/>
                <a:cs typeface="Roboto"/>
              </a:rPr>
              <a:t>for</a:t>
            </a:r>
            <a:r>
              <a:rPr dirty="0" sz="900" spc="15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900" spc="-40">
                <a:solidFill>
                  <a:srgbClr val="4A5462"/>
                </a:solidFill>
                <a:latin typeface="Roboto"/>
                <a:cs typeface="Roboto"/>
              </a:rPr>
              <a:t>Urban</a:t>
            </a:r>
            <a:r>
              <a:rPr dirty="0" sz="900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900" spc="-35">
                <a:solidFill>
                  <a:srgbClr val="4A5462"/>
                </a:solidFill>
                <a:latin typeface="Roboto"/>
                <a:cs typeface="Roboto"/>
              </a:rPr>
              <a:t>Distribution</a:t>
            </a:r>
            <a:r>
              <a:rPr dirty="0" sz="900" spc="5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900" spc="-40">
                <a:solidFill>
                  <a:srgbClr val="4A5462"/>
                </a:solidFill>
                <a:latin typeface="Roboto"/>
                <a:cs typeface="Roboto"/>
              </a:rPr>
              <a:t>Network</a:t>
            </a:r>
            <a:r>
              <a:rPr dirty="0" sz="900" spc="5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900" spc="-45">
                <a:solidFill>
                  <a:srgbClr val="4A5462"/>
                </a:solidFill>
                <a:latin typeface="Roboto"/>
                <a:cs typeface="Roboto"/>
              </a:rPr>
              <a:t>Reconfiguration,"</a:t>
            </a:r>
            <a:r>
              <a:rPr dirty="0" sz="900" spc="10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900" spc="-30">
                <a:solidFill>
                  <a:srgbClr val="4A5462"/>
                </a:solidFill>
                <a:latin typeface="Roboto"/>
                <a:cs typeface="Roboto"/>
              </a:rPr>
              <a:t>IEEE</a:t>
            </a:r>
            <a:r>
              <a:rPr dirty="0" sz="900" spc="5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900" spc="-40">
                <a:solidFill>
                  <a:srgbClr val="4A5462"/>
                </a:solidFill>
                <a:latin typeface="Roboto"/>
                <a:cs typeface="Roboto"/>
              </a:rPr>
              <a:t>Access,</a:t>
            </a:r>
            <a:r>
              <a:rPr dirty="0" sz="900" spc="10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900" spc="-40">
                <a:solidFill>
                  <a:srgbClr val="4A5462"/>
                </a:solidFill>
                <a:latin typeface="Roboto"/>
                <a:cs typeface="Roboto"/>
              </a:rPr>
              <a:t>vol.</a:t>
            </a:r>
            <a:r>
              <a:rPr dirty="0" sz="900" spc="15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900" spc="-25">
                <a:solidFill>
                  <a:srgbClr val="4A5462"/>
                </a:solidFill>
                <a:latin typeface="Roboto"/>
                <a:cs typeface="Roboto"/>
              </a:rPr>
              <a:t>9,</a:t>
            </a:r>
            <a:endParaRPr sz="9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900" spc="-35">
                <a:solidFill>
                  <a:srgbClr val="4A5462"/>
                </a:solidFill>
                <a:latin typeface="Roboto"/>
                <a:cs typeface="Roboto"/>
              </a:rPr>
              <a:t>pp.</a:t>
            </a:r>
            <a:r>
              <a:rPr dirty="0" sz="900" spc="35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900" spc="-45">
                <a:solidFill>
                  <a:srgbClr val="4A5462"/>
                </a:solidFill>
                <a:latin typeface="Roboto"/>
                <a:cs typeface="Roboto"/>
              </a:rPr>
              <a:t>15125-15140,</a:t>
            </a:r>
            <a:r>
              <a:rPr dirty="0" sz="900" spc="35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900" spc="-20">
                <a:solidFill>
                  <a:srgbClr val="4A5462"/>
                </a:solidFill>
                <a:latin typeface="Roboto"/>
                <a:cs typeface="Roboto"/>
              </a:rPr>
              <a:t>2021.</a:t>
            </a:r>
            <a:endParaRPr sz="900">
              <a:latin typeface="Roboto"/>
              <a:cs typeface="Roboto"/>
            </a:endParaRPr>
          </a:p>
        </p:txBody>
      </p:sp>
      <p:sp>
        <p:nvSpPr>
          <p:cNvPr id="58" name="object 58" descr=""/>
          <p:cNvSpPr txBox="1"/>
          <p:nvPr/>
        </p:nvSpPr>
        <p:spPr>
          <a:xfrm>
            <a:off x="920750" y="4344272"/>
            <a:ext cx="10784205" cy="51371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150" spc="-55" b="1">
                <a:solidFill>
                  <a:srgbClr val="1D40AF"/>
                </a:solidFill>
                <a:latin typeface="Roboto"/>
                <a:cs typeface="Roboto"/>
              </a:rPr>
              <a:t>Real-</a:t>
            </a:r>
            <a:r>
              <a:rPr dirty="0" sz="1150" spc="-65" b="1">
                <a:solidFill>
                  <a:srgbClr val="1D40AF"/>
                </a:solidFill>
                <a:latin typeface="Roboto"/>
                <a:cs typeface="Roboto"/>
              </a:rPr>
              <a:t>World</a:t>
            </a:r>
            <a:r>
              <a:rPr dirty="0" sz="1150" spc="35" b="1">
                <a:solidFill>
                  <a:srgbClr val="1D40AF"/>
                </a:solidFill>
                <a:latin typeface="Roboto"/>
                <a:cs typeface="Roboto"/>
              </a:rPr>
              <a:t> </a:t>
            </a:r>
            <a:r>
              <a:rPr dirty="0" sz="1150" spc="-55" b="1">
                <a:solidFill>
                  <a:srgbClr val="1D40AF"/>
                </a:solidFill>
                <a:latin typeface="Roboto"/>
                <a:cs typeface="Roboto"/>
              </a:rPr>
              <a:t>Application</a:t>
            </a:r>
            <a:r>
              <a:rPr dirty="0" sz="1150" spc="35" b="1">
                <a:solidFill>
                  <a:srgbClr val="1D40AF"/>
                </a:solidFill>
                <a:latin typeface="Roboto"/>
                <a:cs typeface="Roboto"/>
              </a:rPr>
              <a:t> </a:t>
            </a:r>
            <a:r>
              <a:rPr dirty="0" sz="1150" spc="-10" b="1">
                <a:solidFill>
                  <a:srgbClr val="1D40AF"/>
                </a:solidFill>
                <a:latin typeface="Roboto"/>
                <a:cs typeface="Roboto"/>
              </a:rPr>
              <a:t>Potential</a:t>
            </a:r>
            <a:endParaRPr sz="1150">
              <a:latin typeface="Roboto"/>
              <a:cs typeface="Roboto"/>
            </a:endParaRPr>
          </a:p>
          <a:p>
            <a:pPr marL="12700" marR="5080">
              <a:lnSpc>
                <a:spcPct val="100000"/>
              </a:lnSpc>
              <a:spcBef>
                <a:spcPts val="45"/>
              </a:spcBef>
            </a:pPr>
            <a:r>
              <a:rPr dirty="0" sz="1000" spc="-60">
                <a:solidFill>
                  <a:srgbClr val="374050"/>
                </a:solidFill>
                <a:latin typeface="Roboto"/>
                <a:cs typeface="Roboto"/>
              </a:rPr>
              <a:t>Framework</a:t>
            </a:r>
            <a:r>
              <a:rPr dirty="0" sz="100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000" spc="-55">
                <a:solidFill>
                  <a:srgbClr val="374050"/>
                </a:solidFill>
                <a:latin typeface="Roboto"/>
                <a:cs typeface="Roboto"/>
              </a:rPr>
              <a:t>32</a:t>
            </a:r>
            <a:r>
              <a:rPr dirty="0" sz="100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000" spc="-60">
                <a:solidFill>
                  <a:srgbClr val="374050"/>
                </a:solidFill>
                <a:latin typeface="Roboto"/>
                <a:cs typeface="Roboto"/>
              </a:rPr>
              <a:t>shows</a:t>
            </a:r>
            <a:r>
              <a:rPr dirty="0" sz="100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000" spc="-55">
                <a:solidFill>
                  <a:srgbClr val="374050"/>
                </a:solidFill>
                <a:latin typeface="Roboto"/>
                <a:cs typeface="Roboto"/>
              </a:rPr>
              <a:t>promise</a:t>
            </a:r>
            <a:r>
              <a:rPr dirty="0" sz="100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000" spc="-45">
                <a:solidFill>
                  <a:srgbClr val="374050"/>
                </a:solidFill>
                <a:latin typeface="Roboto"/>
                <a:cs typeface="Roboto"/>
              </a:rPr>
              <a:t>for</a:t>
            </a:r>
            <a:r>
              <a:rPr dirty="0" sz="100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000" spc="-50">
                <a:solidFill>
                  <a:srgbClr val="374050"/>
                </a:solidFill>
                <a:latin typeface="Roboto"/>
                <a:cs typeface="Roboto"/>
              </a:rPr>
              <a:t>integration</a:t>
            </a:r>
            <a:r>
              <a:rPr dirty="0" sz="1000" spc="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000" spc="-55">
                <a:solidFill>
                  <a:srgbClr val="374050"/>
                </a:solidFill>
                <a:latin typeface="Roboto"/>
                <a:cs typeface="Roboto"/>
              </a:rPr>
              <a:t>with</a:t>
            </a:r>
            <a:r>
              <a:rPr dirty="0" sz="100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000" spc="-60">
                <a:solidFill>
                  <a:srgbClr val="374050"/>
                </a:solidFill>
                <a:latin typeface="Roboto"/>
                <a:cs typeface="Roboto"/>
              </a:rPr>
              <a:t>advanced</a:t>
            </a:r>
            <a:r>
              <a:rPr dirty="0" sz="100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000" spc="-45">
                <a:solidFill>
                  <a:srgbClr val="374050"/>
                </a:solidFill>
                <a:latin typeface="Roboto"/>
                <a:cs typeface="Roboto"/>
              </a:rPr>
              <a:t>distribution</a:t>
            </a:r>
            <a:r>
              <a:rPr dirty="0" sz="100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000" spc="-65">
                <a:solidFill>
                  <a:srgbClr val="374050"/>
                </a:solidFill>
                <a:latin typeface="Roboto"/>
                <a:cs typeface="Roboto"/>
              </a:rPr>
              <a:t>management</a:t>
            </a:r>
            <a:r>
              <a:rPr dirty="0" sz="100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000" spc="-55">
                <a:solidFill>
                  <a:srgbClr val="374050"/>
                </a:solidFill>
                <a:latin typeface="Roboto"/>
                <a:cs typeface="Roboto"/>
              </a:rPr>
              <a:t>systems</a:t>
            </a:r>
            <a:r>
              <a:rPr dirty="0" sz="100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000" spc="-60">
                <a:solidFill>
                  <a:srgbClr val="374050"/>
                </a:solidFill>
                <a:latin typeface="Roboto"/>
                <a:cs typeface="Roboto"/>
              </a:rPr>
              <a:t>(ADMS),</a:t>
            </a:r>
            <a:r>
              <a:rPr dirty="0" sz="1000" spc="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000" spc="-50">
                <a:solidFill>
                  <a:srgbClr val="374050"/>
                </a:solidFill>
                <a:latin typeface="Roboto"/>
                <a:cs typeface="Roboto"/>
              </a:rPr>
              <a:t>microgrid</a:t>
            </a:r>
            <a:r>
              <a:rPr dirty="0" sz="100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000" spc="-45">
                <a:solidFill>
                  <a:srgbClr val="374050"/>
                </a:solidFill>
                <a:latin typeface="Roboto"/>
                <a:cs typeface="Roboto"/>
              </a:rPr>
              <a:t>controllers,</a:t>
            </a:r>
            <a:r>
              <a:rPr dirty="0" sz="100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000" spc="-65">
                <a:solidFill>
                  <a:srgbClr val="374050"/>
                </a:solidFill>
                <a:latin typeface="Roboto"/>
                <a:cs typeface="Roboto"/>
              </a:rPr>
              <a:t>and</a:t>
            </a:r>
            <a:r>
              <a:rPr dirty="0" sz="100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000" spc="-40">
                <a:solidFill>
                  <a:srgbClr val="374050"/>
                </a:solidFill>
                <a:latin typeface="Roboto"/>
                <a:cs typeface="Roboto"/>
              </a:rPr>
              <a:t>virtual</a:t>
            </a:r>
            <a:r>
              <a:rPr dirty="0" sz="100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000" spc="-55">
                <a:solidFill>
                  <a:srgbClr val="374050"/>
                </a:solidFill>
                <a:latin typeface="Roboto"/>
                <a:cs typeface="Roboto"/>
              </a:rPr>
              <a:t>power</a:t>
            </a:r>
            <a:r>
              <a:rPr dirty="0" sz="100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000" spc="-55">
                <a:solidFill>
                  <a:srgbClr val="374050"/>
                </a:solidFill>
                <a:latin typeface="Roboto"/>
                <a:cs typeface="Roboto"/>
              </a:rPr>
              <a:t>plant</a:t>
            </a:r>
            <a:r>
              <a:rPr dirty="0" sz="1000" spc="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000" spc="-50">
                <a:solidFill>
                  <a:srgbClr val="374050"/>
                </a:solidFill>
                <a:latin typeface="Roboto"/>
                <a:cs typeface="Roboto"/>
              </a:rPr>
              <a:t>applications.</a:t>
            </a:r>
            <a:r>
              <a:rPr dirty="0" sz="100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000" spc="-45">
                <a:solidFill>
                  <a:srgbClr val="374050"/>
                </a:solidFill>
                <a:latin typeface="Roboto"/>
                <a:cs typeface="Roboto"/>
              </a:rPr>
              <a:t>Field</a:t>
            </a:r>
            <a:r>
              <a:rPr dirty="0" sz="100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000" spc="-60">
                <a:solidFill>
                  <a:srgbClr val="374050"/>
                </a:solidFill>
                <a:latin typeface="Roboto"/>
                <a:cs typeface="Roboto"/>
              </a:rPr>
              <a:t>demonstrations</a:t>
            </a:r>
            <a:r>
              <a:rPr dirty="0" sz="100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000" spc="-55">
                <a:solidFill>
                  <a:srgbClr val="374050"/>
                </a:solidFill>
                <a:latin typeface="Roboto"/>
                <a:cs typeface="Roboto"/>
              </a:rPr>
              <a:t>planned</a:t>
            </a:r>
            <a:r>
              <a:rPr dirty="0" sz="100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000" spc="-55">
                <a:solidFill>
                  <a:srgbClr val="374050"/>
                </a:solidFill>
                <a:latin typeface="Roboto"/>
                <a:cs typeface="Roboto"/>
              </a:rPr>
              <a:t>with</a:t>
            </a:r>
            <a:r>
              <a:rPr dirty="0" sz="100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000" spc="-35">
                <a:solidFill>
                  <a:srgbClr val="374050"/>
                </a:solidFill>
                <a:latin typeface="Roboto"/>
                <a:cs typeface="Roboto"/>
              </a:rPr>
              <a:t>utility</a:t>
            </a:r>
            <a:r>
              <a:rPr dirty="0" sz="1000" spc="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000" spc="-10">
                <a:solidFill>
                  <a:srgbClr val="374050"/>
                </a:solidFill>
                <a:latin typeface="Roboto"/>
                <a:cs typeface="Roboto"/>
              </a:rPr>
              <a:t>partners </a:t>
            </a:r>
            <a:r>
              <a:rPr dirty="0" sz="1000" spc="-40">
                <a:solidFill>
                  <a:srgbClr val="374050"/>
                </a:solidFill>
                <a:latin typeface="Roboto"/>
                <a:cs typeface="Roboto"/>
              </a:rPr>
              <a:t>in</a:t>
            </a:r>
            <a:r>
              <a:rPr dirty="0" sz="1000" spc="-2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000" spc="-20">
                <a:solidFill>
                  <a:srgbClr val="374050"/>
                </a:solidFill>
                <a:latin typeface="Roboto"/>
                <a:cs typeface="Roboto"/>
              </a:rPr>
              <a:t>2024.</a:t>
            </a:r>
            <a:endParaRPr sz="1000">
              <a:latin typeface="Roboto"/>
              <a:cs typeface="Roboto"/>
            </a:endParaRPr>
          </a:p>
        </p:txBody>
      </p:sp>
      <p:grpSp>
        <p:nvGrpSpPr>
          <p:cNvPr id="59" name="object 59" descr=""/>
          <p:cNvGrpSpPr/>
          <p:nvPr/>
        </p:nvGrpSpPr>
        <p:grpSpPr>
          <a:xfrm>
            <a:off x="152399" y="6581774"/>
            <a:ext cx="11887200" cy="428625"/>
            <a:chOff x="152399" y="6581774"/>
            <a:chExt cx="11887200" cy="428625"/>
          </a:xfrm>
        </p:grpSpPr>
        <p:sp>
          <p:nvSpPr>
            <p:cNvPr id="60" name="object 60" descr=""/>
            <p:cNvSpPr/>
            <p:nvPr/>
          </p:nvSpPr>
          <p:spPr>
            <a:xfrm>
              <a:off x="152399" y="6581774"/>
              <a:ext cx="11887200" cy="428625"/>
            </a:xfrm>
            <a:custGeom>
              <a:avLst/>
              <a:gdLst/>
              <a:ahLst/>
              <a:cxnLst/>
              <a:rect l="l" t="t" r="r" b="b"/>
              <a:pathLst>
                <a:path w="11887200" h="428625">
                  <a:moveTo>
                    <a:pt x="11810999" y="428624"/>
                  </a:moveTo>
                  <a:lnTo>
                    <a:pt x="76200" y="428624"/>
                  </a:lnTo>
                  <a:lnTo>
                    <a:pt x="68693" y="428262"/>
                  </a:lnTo>
                  <a:lnTo>
                    <a:pt x="27882" y="411357"/>
                  </a:lnTo>
                  <a:lnTo>
                    <a:pt x="3262" y="374511"/>
                  </a:lnTo>
                  <a:lnTo>
                    <a:pt x="0" y="352425"/>
                  </a:lnTo>
                  <a:lnTo>
                    <a:pt x="0" y="0"/>
                  </a:lnTo>
                  <a:lnTo>
                    <a:pt x="11887199" y="0"/>
                  </a:lnTo>
                  <a:lnTo>
                    <a:pt x="11887199" y="352425"/>
                  </a:lnTo>
                  <a:lnTo>
                    <a:pt x="11874368" y="394766"/>
                  </a:lnTo>
                  <a:lnTo>
                    <a:pt x="11840158" y="422824"/>
                  </a:lnTo>
                  <a:lnTo>
                    <a:pt x="11810999" y="428624"/>
                  </a:lnTo>
                  <a:close/>
                </a:path>
              </a:pathLst>
            </a:custGeom>
            <a:solidFill>
              <a:srgbClr val="F2F4F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1" name="object 61" descr=""/>
            <p:cNvSpPr/>
            <p:nvPr/>
          </p:nvSpPr>
          <p:spPr>
            <a:xfrm>
              <a:off x="152399" y="6581774"/>
              <a:ext cx="11887200" cy="9525"/>
            </a:xfrm>
            <a:custGeom>
              <a:avLst/>
              <a:gdLst/>
              <a:ahLst/>
              <a:cxnLst/>
              <a:rect l="l" t="t" r="r" b="b"/>
              <a:pathLst>
                <a:path w="11887200" h="9525">
                  <a:moveTo>
                    <a:pt x="11887199" y="9524"/>
                  </a:moveTo>
                  <a:lnTo>
                    <a:pt x="0" y="9524"/>
                  </a:lnTo>
                  <a:lnTo>
                    <a:pt x="0" y="0"/>
                  </a:lnTo>
                  <a:lnTo>
                    <a:pt x="11887199" y="0"/>
                  </a:lnTo>
                  <a:lnTo>
                    <a:pt x="11887199" y="9524"/>
                  </a:lnTo>
                  <a:close/>
                </a:path>
              </a:pathLst>
            </a:custGeom>
            <a:solidFill>
              <a:srgbClr val="D0D5D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2" name="object 62" descr=""/>
            <p:cNvSpPr/>
            <p:nvPr/>
          </p:nvSpPr>
          <p:spPr>
            <a:xfrm>
              <a:off x="10544174" y="6648449"/>
              <a:ext cx="1457325" cy="323850"/>
            </a:xfrm>
            <a:custGeom>
              <a:avLst/>
              <a:gdLst/>
              <a:ahLst/>
              <a:cxnLst/>
              <a:rect l="l" t="t" r="r" b="b"/>
              <a:pathLst>
                <a:path w="1457325" h="323850">
                  <a:moveTo>
                    <a:pt x="1424277" y="323849"/>
                  </a:moveTo>
                  <a:lnTo>
                    <a:pt x="33047" y="323849"/>
                  </a:lnTo>
                  <a:lnTo>
                    <a:pt x="28187" y="322883"/>
                  </a:lnTo>
                  <a:lnTo>
                    <a:pt x="966" y="295662"/>
                  </a:lnTo>
                  <a:lnTo>
                    <a:pt x="0" y="290802"/>
                  </a:lnTo>
                  <a:lnTo>
                    <a:pt x="0" y="285749"/>
                  </a:lnTo>
                  <a:lnTo>
                    <a:pt x="0" y="33047"/>
                  </a:lnTo>
                  <a:lnTo>
                    <a:pt x="28187" y="966"/>
                  </a:lnTo>
                  <a:lnTo>
                    <a:pt x="33047" y="0"/>
                  </a:lnTo>
                  <a:lnTo>
                    <a:pt x="1424277" y="0"/>
                  </a:lnTo>
                  <a:lnTo>
                    <a:pt x="1456357" y="28187"/>
                  </a:lnTo>
                  <a:lnTo>
                    <a:pt x="1457324" y="33047"/>
                  </a:lnTo>
                  <a:lnTo>
                    <a:pt x="1457324" y="290802"/>
                  </a:lnTo>
                  <a:lnTo>
                    <a:pt x="1429137" y="322883"/>
                  </a:lnTo>
                  <a:lnTo>
                    <a:pt x="1424277" y="323849"/>
                  </a:lnTo>
                  <a:close/>
                </a:path>
              </a:pathLst>
            </a:custGeom>
            <a:solidFill>
              <a:srgbClr val="33333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3" name="object 63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0658474" y="6743699"/>
              <a:ext cx="133349" cy="133349"/>
            </a:xfrm>
            <a:prstGeom prst="rect">
              <a:avLst/>
            </a:prstGeom>
          </p:spPr>
        </p:pic>
      </p:grpSp>
      <p:sp>
        <p:nvSpPr>
          <p:cNvPr id="64" name="object 6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30"/>
              </a:lnSpc>
            </a:pPr>
            <a:r>
              <a:rPr dirty="0" spc="-60"/>
              <a:t>IEEE</a:t>
            </a:r>
            <a:r>
              <a:rPr dirty="0"/>
              <a:t> </a:t>
            </a:r>
            <a:r>
              <a:rPr dirty="0" spc="-70"/>
              <a:t>Power</a:t>
            </a:r>
            <a:r>
              <a:rPr dirty="0" spc="5"/>
              <a:t> </a:t>
            </a:r>
            <a:r>
              <a:rPr dirty="0" spc="-60"/>
              <a:t>Systems</a:t>
            </a:r>
            <a:r>
              <a:rPr dirty="0"/>
              <a:t> </a:t>
            </a:r>
            <a:r>
              <a:rPr dirty="0" spc="-60"/>
              <a:t>Conference</a:t>
            </a:r>
            <a:r>
              <a:rPr dirty="0" spc="5"/>
              <a:t> </a:t>
            </a:r>
            <a:r>
              <a:rPr dirty="0" spc="-30"/>
              <a:t>2023</a:t>
            </a:r>
          </a:p>
        </p:txBody>
      </p:sp>
      <p:sp>
        <p:nvSpPr>
          <p:cNvPr id="65" name="object 65" descr=""/>
          <p:cNvSpPr txBox="1"/>
          <p:nvPr/>
        </p:nvSpPr>
        <p:spPr>
          <a:xfrm>
            <a:off x="10833000" y="6734395"/>
            <a:ext cx="1066800" cy="15557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30"/>
              </a:lnSpc>
            </a:pPr>
            <a:r>
              <a:rPr dirty="0" sz="1000" spc="-35">
                <a:solidFill>
                  <a:srgbClr val="FFFFFF"/>
                </a:solidFill>
                <a:latin typeface="Roboto"/>
                <a:cs typeface="Roboto"/>
              </a:rPr>
              <a:t>M</a:t>
            </a:r>
            <a:r>
              <a:rPr dirty="0" sz="1000" spc="-275">
                <a:solidFill>
                  <a:srgbClr val="FFFFFF"/>
                </a:solidFill>
                <a:latin typeface="Roboto"/>
                <a:cs typeface="Roboto"/>
              </a:rPr>
              <a:t>a</a:t>
            </a:r>
            <a:r>
              <a:rPr dirty="0" sz="1150" spc="-495">
                <a:solidFill>
                  <a:srgbClr val="6A7280"/>
                </a:solidFill>
                <a:latin typeface="Roboto"/>
                <a:cs typeface="Roboto"/>
              </a:rPr>
              <a:t>S</a:t>
            </a:r>
            <a:r>
              <a:rPr dirty="0" sz="1000" spc="-150">
                <a:solidFill>
                  <a:srgbClr val="FFFFFF"/>
                </a:solidFill>
                <a:latin typeface="Roboto"/>
                <a:cs typeface="Roboto"/>
              </a:rPr>
              <a:t>d</a:t>
            </a:r>
            <a:r>
              <a:rPr dirty="0" sz="1150" spc="-210">
                <a:solidFill>
                  <a:srgbClr val="6A7280"/>
                </a:solidFill>
                <a:latin typeface="Roboto"/>
                <a:cs typeface="Roboto"/>
              </a:rPr>
              <a:t>l</a:t>
            </a:r>
            <a:r>
              <a:rPr dirty="0" sz="1000" spc="-395">
                <a:solidFill>
                  <a:srgbClr val="FFFFFF"/>
                </a:solidFill>
                <a:latin typeface="Roboto"/>
                <a:cs typeface="Roboto"/>
              </a:rPr>
              <a:t>e</a:t>
            </a:r>
            <a:r>
              <a:rPr dirty="0" sz="1150" spc="-35">
                <a:solidFill>
                  <a:srgbClr val="6A7280"/>
                </a:solidFill>
                <a:latin typeface="Roboto"/>
                <a:cs typeface="Roboto"/>
              </a:rPr>
              <a:t>i</a:t>
            </a:r>
            <a:r>
              <a:rPr dirty="0" sz="1150" spc="-375">
                <a:solidFill>
                  <a:srgbClr val="6A7280"/>
                </a:solidFill>
                <a:latin typeface="Roboto"/>
                <a:cs typeface="Roboto"/>
              </a:rPr>
              <a:t>d</a:t>
            </a:r>
            <a:r>
              <a:rPr dirty="0" sz="1000" spc="-455">
                <a:solidFill>
                  <a:srgbClr val="FFFFFF"/>
                </a:solidFill>
                <a:latin typeface="Roboto"/>
                <a:cs typeface="Roboto"/>
              </a:rPr>
              <a:t>w</a:t>
            </a:r>
            <a:r>
              <a:rPr dirty="0" sz="1150" spc="-250">
                <a:solidFill>
                  <a:srgbClr val="6A7280"/>
                </a:solidFill>
                <a:latin typeface="Roboto"/>
                <a:cs typeface="Roboto"/>
              </a:rPr>
              <a:t>e</a:t>
            </a:r>
            <a:r>
              <a:rPr dirty="0" sz="1000" spc="-35">
                <a:solidFill>
                  <a:srgbClr val="FFFFFF"/>
                </a:solidFill>
                <a:latin typeface="Roboto"/>
                <a:cs typeface="Roboto"/>
              </a:rPr>
              <a:t>i</a:t>
            </a:r>
            <a:r>
              <a:rPr dirty="0" sz="1000" spc="-114">
                <a:solidFill>
                  <a:srgbClr val="FFFFFF"/>
                </a:solidFill>
                <a:latin typeface="Roboto"/>
                <a:cs typeface="Roboto"/>
              </a:rPr>
              <a:t>t</a:t>
            </a:r>
            <a:r>
              <a:rPr dirty="0" sz="1150" spc="-615">
                <a:solidFill>
                  <a:srgbClr val="6A7280"/>
                </a:solidFill>
                <a:latin typeface="Roboto"/>
                <a:cs typeface="Roboto"/>
              </a:rPr>
              <a:t>1</a:t>
            </a:r>
            <a:r>
              <a:rPr dirty="0" sz="1000" spc="-10">
                <a:solidFill>
                  <a:srgbClr val="FFFFFF"/>
                </a:solidFill>
                <a:latin typeface="Roboto"/>
                <a:cs typeface="Roboto"/>
              </a:rPr>
              <a:t>h</a:t>
            </a:r>
            <a:r>
              <a:rPr dirty="0" sz="1150" spc="-470">
                <a:solidFill>
                  <a:srgbClr val="6A7280"/>
                </a:solidFill>
                <a:latin typeface="Roboto"/>
                <a:cs typeface="Roboto"/>
              </a:rPr>
              <a:t>0</a:t>
            </a:r>
            <a:r>
              <a:rPr dirty="0" sz="1000" spc="-280">
                <a:solidFill>
                  <a:srgbClr val="FFFFFF"/>
                </a:solidFill>
                <a:latin typeface="Roboto"/>
                <a:cs typeface="Roboto"/>
              </a:rPr>
              <a:t>G</a:t>
            </a:r>
            <a:r>
              <a:rPr dirty="0" sz="1150" spc="-275">
                <a:solidFill>
                  <a:srgbClr val="6A7280"/>
                </a:solidFill>
                <a:latin typeface="Roboto"/>
                <a:cs typeface="Roboto"/>
              </a:rPr>
              <a:t>/</a:t>
            </a:r>
            <a:r>
              <a:rPr dirty="0" sz="1000" spc="-330">
                <a:solidFill>
                  <a:srgbClr val="FFFFFF"/>
                </a:solidFill>
                <a:latin typeface="Roboto"/>
                <a:cs typeface="Roboto"/>
              </a:rPr>
              <a:t>e</a:t>
            </a:r>
            <a:r>
              <a:rPr dirty="0" sz="1150" spc="-400">
                <a:solidFill>
                  <a:srgbClr val="6A7280"/>
                </a:solidFill>
                <a:latin typeface="Roboto"/>
                <a:cs typeface="Roboto"/>
              </a:rPr>
              <a:t>1</a:t>
            </a:r>
            <a:r>
              <a:rPr dirty="0" sz="1000" spc="-229">
                <a:solidFill>
                  <a:srgbClr val="FFFFFF"/>
                </a:solidFill>
                <a:latin typeface="Roboto"/>
                <a:cs typeface="Roboto"/>
              </a:rPr>
              <a:t>n</a:t>
            </a:r>
            <a:r>
              <a:rPr dirty="0" sz="1150" spc="-505">
                <a:solidFill>
                  <a:srgbClr val="6A7280"/>
                </a:solidFill>
                <a:latin typeface="Roboto"/>
                <a:cs typeface="Roboto"/>
              </a:rPr>
              <a:t>0</a:t>
            </a:r>
            <a:r>
              <a:rPr dirty="0" sz="1000" spc="-35">
                <a:solidFill>
                  <a:srgbClr val="FFFFFF"/>
                </a:solidFill>
                <a:latin typeface="Roboto"/>
                <a:cs typeface="Roboto"/>
              </a:rPr>
              <a:t>spark</a:t>
            </a:r>
            <a:endParaRPr sz="10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2025-06-14T23:27:43Z</dcterms:created>
  <dcterms:modified xsi:type="dcterms:W3CDTF">2025-06-14T23:27:43Z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2025-06-14T00:00:00Z</vt:filetime>
  </property>
  <property fmtid="{D5CDD505-2E9C-101B-9397-08002B2CF9AE}" pid="3" name="Producer">
    <vt:lpwstr>pypdf</vt:lpwstr>
  </property>
  <property fmtid="{D5CDD505-2E9C-101B-9397-08002B2CF9AE}" pid="4" name="LastSaved">
    <vt:filetime>2025-06-14T00:00:00Z</vt:filetime>
  </property>
</Properties>
</file>