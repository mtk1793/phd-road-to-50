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7142"/>
  <p:notesSz cx="12192000" cy="69024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002854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994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155"/>
              <a:t>Gens</a:t>
            </a:r>
            <a:fld id="{81D60167-4931-47E6-BA6A-407CBD079E47}" type="slidenum">
              <a:rPr dirty="0" baseline="-12626" sz="1650" spc="-232">
                <a:solidFill>
                  <a:srgbClr val="545454"/>
                </a:solidFill>
                <a:latin typeface="Eras Medium ITC"/>
                <a:cs typeface="Eras Medium ITC"/>
              </a:rPr>
              <a:t>#</a:t>
            </a:fld>
            <a:r>
              <a:rPr dirty="0" sz="1000" spc="-155"/>
              <a:t>pa</a:t>
            </a:r>
            <a:r>
              <a:rPr dirty="0" baseline="-12626" sz="1650" spc="-232">
                <a:solidFill>
                  <a:srgbClr val="545454"/>
                </a:solidFill>
                <a:latin typeface="Eras Medium ITC"/>
                <a:cs typeface="Eras Medium ITC"/>
              </a:rPr>
              <a:t>/</a:t>
            </a:r>
            <a:r>
              <a:rPr dirty="0" sz="1000" spc="-155"/>
              <a:t>rk</a:t>
            </a:r>
            <a:r>
              <a:rPr dirty="0" baseline="-12626" sz="1650" spc="-232">
                <a:solidFill>
                  <a:srgbClr val="545454"/>
                </a:solidFill>
                <a:latin typeface="Eras Medium ITC"/>
                <a:cs typeface="Eras Medium ITC"/>
              </a:rPr>
              <a:t>10</a:t>
            </a:r>
            <a:endParaRPr baseline="-12626" sz="1650">
              <a:latin typeface="Eras Medium ITC"/>
              <a:cs typeface="Eras Medium ITC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002854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994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155"/>
              <a:t>Gens</a:t>
            </a:r>
            <a:fld id="{81D60167-4931-47E6-BA6A-407CBD079E47}" type="slidenum">
              <a:rPr dirty="0" baseline="-12626" sz="1650" spc="-232">
                <a:solidFill>
                  <a:srgbClr val="545454"/>
                </a:solidFill>
                <a:latin typeface="Eras Medium ITC"/>
                <a:cs typeface="Eras Medium ITC"/>
              </a:rPr>
              <a:t>#</a:t>
            </a:fld>
            <a:r>
              <a:rPr dirty="0" sz="1000" spc="-155"/>
              <a:t>pa</a:t>
            </a:r>
            <a:r>
              <a:rPr dirty="0" baseline="-12626" sz="1650" spc="-232">
                <a:solidFill>
                  <a:srgbClr val="545454"/>
                </a:solidFill>
                <a:latin typeface="Eras Medium ITC"/>
                <a:cs typeface="Eras Medium ITC"/>
              </a:rPr>
              <a:t>/</a:t>
            </a:r>
            <a:r>
              <a:rPr dirty="0" sz="1000" spc="-155"/>
              <a:t>rk</a:t>
            </a:r>
            <a:r>
              <a:rPr dirty="0" baseline="-12626" sz="1650" spc="-232">
                <a:solidFill>
                  <a:srgbClr val="545454"/>
                </a:solidFill>
                <a:latin typeface="Eras Medium ITC"/>
                <a:cs typeface="Eras Medium ITC"/>
              </a:rPr>
              <a:t>10</a:t>
            </a:r>
            <a:endParaRPr baseline="-12626" sz="1650">
              <a:latin typeface="Eras Medium ITC"/>
              <a:cs typeface="Eras Medium ITC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002854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994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155"/>
              <a:t>Gens</a:t>
            </a:r>
            <a:fld id="{81D60167-4931-47E6-BA6A-407CBD079E47}" type="slidenum">
              <a:rPr dirty="0" baseline="-12626" sz="1650" spc="-232">
                <a:solidFill>
                  <a:srgbClr val="545454"/>
                </a:solidFill>
                <a:latin typeface="Eras Medium ITC"/>
                <a:cs typeface="Eras Medium ITC"/>
              </a:rPr>
              <a:t>#</a:t>
            </a:fld>
            <a:r>
              <a:rPr dirty="0" sz="1000" spc="-155"/>
              <a:t>pa</a:t>
            </a:r>
            <a:r>
              <a:rPr dirty="0" baseline="-12626" sz="1650" spc="-232">
                <a:solidFill>
                  <a:srgbClr val="545454"/>
                </a:solidFill>
                <a:latin typeface="Eras Medium ITC"/>
                <a:cs typeface="Eras Medium ITC"/>
              </a:rPr>
              <a:t>/</a:t>
            </a:r>
            <a:r>
              <a:rPr dirty="0" sz="1000" spc="-155"/>
              <a:t>rk</a:t>
            </a:r>
            <a:r>
              <a:rPr dirty="0" baseline="-12626" sz="1650" spc="-232">
                <a:solidFill>
                  <a:srgbClr val="545454"/>
                </a:solidFill>
                <a:latin typeface="Eras Medium ITC"/>
                <a:cs typeface="Eras Medium ITC"/>
              </a:rPr>
              <a:t>10</a:t>
            </a:r>
            <a:endParaRPr baseline="-12626" sz="1650">
              <a:latin typeface="Eras Medium ITC"/>
              <a:cs typeface="Eras Medium ITC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002854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994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155"/>
              <a:t>Gens</a:t>
            </a:r>
            <a:fld id="{81D60167-4931-47E6-BA6A-407CBD079E47}" type="slidenum">
              <a:rPr dirty="0" baseline="-12626" sz="1650" spc="-232">
                <a:solidFill>
                  <a:srgbClr val="545454"/>
                </a:solidFill>
                <a:latin typeface="Eras Medium ITC"/>
                <a:cs typeface="Eras Medium ITC"/>
              </a:rPr>
              <a:t>#</a:t>
            </a:fld>
            <a:r>
              <a:rPr dirty="0" sz="1000" spc="-155"/>
              <a:t>pa</a:t>
            </a:r>
            <a:r>
              <a:rPr dirty="0" baseline="-12626" sz="1650" spc="-232">
                <a:solidFill>
                  <a:srgbClr val="545454"/>
                </a:solidFill>
                <a:latin typeface="Eras Medium ITC"/>
                <a:cs typeface="Eras Medium ITC"/>
              </a:rPr>
              <a:t>/</a:t>
            </a:r>
            <a:r>
              <a:rPr dirty="0" sz="1000" spc="-155"/>
              <a:t>rk</a:t>
            </a:r>
            <a:r>
              <a:rPr dirty="0" baseline="-12626" sz="1650" spc="-232">
                <a:solidFill>
                  <a:srgbClr val="545454"/>
                </a:solidFill>
                <a:latin typeface="Eras Medium ITC"/>
                <a:cs typeface="Eras Medium ITC"/>
              </a:rPr>
              <a:t>10</a:t>
            </a:r>
            <a:endParaRPr baseline="-12626" sz="1650">
              <a:latin typeface="Eras Medium ITC"/>
              <a:cs typeface="Eras Medium ITC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994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155"/>
              <a:t>Gens</a:t>
            </a:r>
            <a:fld id="{81D60167-4931-47E6-BA6A-407CBD079E47}" type="slidenum">
              <a:rPr dirty="0" baseline="-12626" sz="1650" spc="-232">
                <a:solidFill>
                  <a:srgbClr val="545454"/>
                </a:solidFill>
                <a:latin typeface="Eras Medium ITC"/>
                <a:cs typeface="Eras Medium ITC"/>
              </a:rPr>
              <a:t>#</a:t>
            </a:fld>
            <a:r>
              <a:rPr dirty="0" sz="1000" spc="-155"/>
              <a:t>pa</a:t>
            </a:r>
            <a:r>
              <a:rPr dirty="0" baseline="-12626" sz="1650" spc="-232">
                <a:solidFill>
                  <a:srgbClr val="545454"/>
                </a:solidFill>
                <a:latin typeface="Eras Medium ITC"/>
                <a:cs typeface="Eras Medium ITC"/>
              </a:rPr>
              <a:t>/</a:t>
            </a:r>
            <a:r>
              <a:rPr dirty="0" sz="1000" spc="-155"/>
              <a:t>rk</a:t>
            </a:r>
            <a:r>
              <a:rPr dirty="0" baseline="-12626" sz="1650" spc="-232">
                <a:solidFill>
                  <a:srgbClr val="545454"/>
                </a:solidFill>
                <a:latin typeface="Eras Medium ITC"/>
                <a:cs typeface="Eras Medium ITC"/>
              </a:rPr>
              <a:t>10</a:t>
            </a:r>
            <a:endParaRPr baseline="-12626" sz="1650">
              <a:latin typeface="Eras Medium ITC"/>
              <a:cs typeface="Eras Medium ITC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99" cy="1333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2234" y="469342"/>
            <a:ext cx="4150255" cy="600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002854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00774" y="1538287"/>
            <a:ext cx="5419725" cy="17259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833000" y="6445249"/>
            <a:ext cx="1181734" cy="168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994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155"/>
              <a:t>Gens</a:t>
            </a:r>
            <a:fld id="{81D60167-4931-47E6-BA6A-407CBD079E47}" type="slidenum">
              <a:rPr dirty="0" baseline="-12626" sz="1650" spc="-232">
                <a:solidFill>
                  <a:srgbClr val="545454"/>
                </a:solidFill>
                <a:latin typeface="Eras Medium ITC"/>
                <a:cs typeface="Eras Medium ITC"/>
              </a:rPr>
              <a:t>#</a:t>
            </a:fld>
            <a:r>
              <a:rPr dirty="0" sz="1000" spc="-155"/>
              <a:t>pa</a:t>
            </a:r>
            <a:r>
              <a:rPr dirty="0" baseline="-12626" sz="1650" spc="-232">
                <a:solidFill>
                  <a:srgbClr val="545454"/>
                </a:solidFill>
                <a:latin typeface="Eras Medium ITC"/>
                <a:cs typeface="Eras Medium ITC"/>
              </a:rPr>
              <a:t>/</a:t>
            </a:r>
            <a:r>
              <a:rPr dirty="0" sz="1000" spc="-155"/>
              <a:t>rk</a:t>
            </a:r>
            <a:r>
              <a:rPr dirty="0" baseline="-12626" sz="1650" spc="-232">
                <a:solidFill>
                  <a:srgbClr val="545454"/>
                </a:solidFill>
                <a:latin typeface="Eras Medium ITC"/>
                <a:cs typeface="Eras Medium ITC"/>
              </a:rPr>
              <a:t>10</a:t>
            </a:r>
            <a:endParaRPr baseline="-12626" sz="1650">
              <a:latin typeface="Eras Medium ITC"/>
              <a:cs typeface="Eras Medium ITC"/>
            </a:endParaRP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png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1.png"/><Relationship Id="rId9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1.png"/><Relationship Id="rId10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31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1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Relationship Id="rId11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image" Target="../media/image4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hyperlink" Target="http://www.researchgroup.institution.edu/" TargetMode="External"/><Relationship Id="rId6" Type="http://schemas.openxmlformats.org/officeDocument/2006/relationships/image" Target="../media/image52.png"/><Relationship Id="rId7" Type="http://schemas.openxmlformats.org/officeDocument/2006/relationships/image" Target="../media/image53.png"/><Relationship Id="rId8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809782" y="500615"/>
            <a:ext cx="1014094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20" b="1">
                <a:solidFill>
                  <a:srgbClr val="6A7280"/>
                </a:solidFill>
                <a:latin typeface="Roboto"/>
                <a:cs typeface="Roboto"/>
              </a:rPr>
              <a:t>IEEE</a:t>
            </a:r>
            <a:r>
              <a:rPr dirty="0" sz="1100" spc="-40" b="1">
                <a:solidFill>
                  <a:srgbClr val="6A7280"/>
                </a:solidFill>
                <a:latin typeface="Roboto"/>
                <a:cs typeface="Roboto"/>
              </a:rPr>
              <a:t> </a:t>
            </a:r>
            <a:r>
              <a:rPr dirty="0" sz="1100" spc="-35" b="1">
                <a:solidFill>
                  <a:srgbClr val="6A7280"/>
                </a:solidFill>
                <a:latin typeface="Roboto"/>
                <a:cs typeface="Roboto"/>
              </a:rPr>
              <a:t>Conference</a:t>
            </a:r>
            <a:endParaRPr sz="1100">
              <a:latin typeface="Roboto"/>
              <a:cs typeface="Roboto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9048750" y="3714750"/>
            <a:ext cx="2952750" cy="2952750"/>
            <a:chOff x="9048750" y="3714750"/>
            <a:chExt cx="2952750" cy="2952750"/>
          </a:xfrm>
        </p:grpSpPr>
        <p:sp>
          <p:nvSpPr>
            <p:cNvPr id="4" name="object 4" descr=""/>
            <p:cNvSpPr/>
            <p:nvPr/>
          </p:nvSpPr>
          <p:spPr>
            <a:xfrm>
              <a:off x="9048750" y="3714750"/>
              <a:ext cx="2857500" cy="2857500"/>
            </a:xfrm>
            <a:custGeom>
              <a:avLst/>
              <a:gdLst/>
              <a:ahLst/>
              <a:cxnLst/>
              <a:rect l="l" t="t" r="r" b="b"/>
              <a:pathLst>
                <a:path w="2857500" h="2857500">
                  <a:moveTo>
                    <a:pt x="2500312" y="714374"/>
                  </a:moveTo>
                  <a:lnTo>
                    <a:pt x="357187" y="714374"/>
                  </a:lnTo>
                  <a:lnTo>
                    <a:pt x="360453" y="665960"/>
                  </a:lnTo>
                  <a:lnTo>
                    <a:pt x="369964" y="619509"/>
                  </a:lnTo>
                  <a:lnTo>
                    <a:pt x="385293" y="575450"/>
                  </a:lnTo>
                  <a:lnTo>
                    <a:pt x="406011" y="534210"/>
                  </a:lnTo>
                  <a:lnTo>
                    <a:pt x="431690" y="496218"/>
                  </a:lnTo>
                  <a:lnTo>
                    <a:pt x="461901" y="461901"/>
                  </a:lnTo>
                  <a:lnTo>
                    <a:pt x="496218" y="431690"/>
                  </a:lnTo>
                  <a:lnTo>
                    <a:pt x="534210" y="406011"/>
                  </a:lnTo>
                  <a:lnTo>
                    <a:pt x="575450" y="385293"/>
                  </a:lnTo>
                  <a:lnTo>
                    <a:pt x="619509" y="369964"/>
                  </a:lnTo>
                  <a:lnTo>
                    <a:pt x="665960" y="360453"/>
                  </a:lnTo>
                  <a:lnTo>
                    <a:pt x="714374" y="357187"/>
                  </a:lnTo>
                  <a:lnTo>
                    <a:pt x="714374" y="133945"/>
                  </a:lnTo>
                  <a:lnTo>
                    <a:pt x="721179" y="91511"/>
                  </a:lnTo>
                  <a:lnTo>
                    <a:pt x="740145" y="54730"/>
                  </a:lnTo>
                  <a:lnTo>
                    <a:pt x="769104" y="25771"/>
                  </a:lnTo>
                  <a:lnTo>
                    <a:pt x="805886" y="6804"/>
                  </a:lnTo>
                  <a:lnTo>
                    <a:pt x="848320" y="0"/>
                  </a:lnTo>
                  <a:lnTo>
                    <a:pt x="890754" y="6804"/>
                  </a:lnTo>
                  <a:lnTo>
                    <a:pt x="927535" y="25771"/>
                  </a:lnTo>
                  <a:lnTo>
                    <a:pt x="956494" y="54730"/>
                  </a:lnTo>
                  <a:lnTo>
                    <a:pt x="975461" y="91511"/>
                  </a:lnTo>
                  <a:lnTo>
                    <a:pt x="982265" y="133945"/>
                  </a:lnTo>
                  <a:lnTo>
                    <a:pt x="982265" y="357187"/>
                  </a:lnTo>
                  <a:lnTo>
                    <a:pt x="2143124" y="357187"/>
                  </a:lnTo>
                  <a:lnTo>
                    <a:pt x="2191538" y="360453"/>
                  </a:lnTo>
                  <a:lnTo>
                    <a:pt x="2237989" y="369964"/>
                  </a:lnTo>
                  <a:lnTo>
                    <a:pt x="2282049" y="385293"/>
                  </a:lnTo>
                  <a:lnTo>
                    <a:pt x="2323289" y="406011"/>
                  </a:lnTo>
                  <a:lnTo>
                    <a:pt x="2361281" y="431690"/>
                  </a:lnTo>
                  <a:lnTo>
                    <a:pt x="2395597" y="461901"/>
                  </a:lnTo>
                  <a:lnTo>
                    <a:pt x="2425809" y="496218"/>
                  </a:lnTo>
                  <a:lnTo>
                    <a:pt x="2451488" y="534210"/>
                  </a:lnTo>
                  <a:lnTo>
                    <a:pt x="2472206" y="575450"/>
                  </a:lnTo>
                  <a:lnTo>
                    <a:pt x="2487535" y="619509"/>
                  </a:lnTo>
                  <a:lnTo>
                    <a:pt x="2497046" y="665960"/>
                  </a:lnTo>
                  <a:lnTo>
                    <a:pt x="2500312" y="714374"/>
                  </a:lnTo>
                  <a:close/>
                </a:path>
                <a:path w="2857500" h="2857500">
                  <a:moveTo>
                    <a:pt x="1562695" y="357187"/>
                  </a:moveTo>
                  <a:lnTo>
                    <a:pt x="1294804" y="357187"/>
                  </a:lnTo>
                  <a:lnTo>
                    <a:pt x="1294804" y="133945"/>
                  </a:lnTo>
                  <a:lnTo>
                    <a:pt x="1301608" y="91511"/>
                  </a:lnTo>
                  <a:lnTo>
                    <a:pt x="1320575" y="54730"/>
                  </a:lnTo>
                  <a:lnTo>
                    <a:pt x="1349534" y="25771"/>
                  </a:lnTo>
                  <a:lnTo>
                    <a:pt x="1386315" y="6804"/>
                  </a:lnTo>
                  <a:lnTo>
                    <a:pt x="1428749" y="0"/>
                  </a:lnTo>
                  <a:lnTo>
                    <a:pt x="1471183" y="6804"/>
                  </a:lnTo>
                  <a:lnTo>
                    <a:pt x="1507965" y="25771"/>
                  </a:lnTo>
                  <a:lnTo>
                    <a:pt x="1536924" y="54730"/>
                  </a:lnTo>
                  <a:lnTo>
                    <a:pt x="1555890" y="91511"/>
                  </a:lnTo>
                  <a:lnTo>
                    <a:pt x="1562695" y="133945"/>
                  </a:lnTo>
                  <a:lnTo>
                    <a:pt x="1562695" y="357187"/>
                  </a:lnTo>
                  <a:close/>
                </a:path>
                <a:path w="2857500" h="2857500">
                  <a:moveTo>
                    <a:pt x="2143124" y="357187"/>
                  </a:moveTo>
                  <a:lnTo>
                    <a:pt x="1875234" y="357187"/>
                  </a:lnTo>
                  <a:lnTo>
                    <a:pt x="1875234" y="133945"/>
                  </a:lnTo>
                  <a:lnTo>
                    <a:pt x="1882038" y="91511"/>
                  </a:lnTo>
                  <a:lnTo>
                    <a:pt x="1901005" y="54730"/>
                  </a:lnTo>
                  <a:lnTo>
                    <a:pt x="1929964" y="25771"/>
                  </a:lnTo>
                  <a:lnTo>
                    <a:pt x="1966745" y="6804"/>
                  </a:lnTo>
                  <a:lnTo>
                    <a:pt x="2009179" y="0"/>
                  </a:lnTo>
                  <a:lnTo>
                    <a:pt x="2051613" y="6804"/>
                  </a:lnTo>
                  <a:lnTo>
                    <a:pt x="2088394" y="25771"/>
                  </a:lnTo>
                  <a:lnTo>
                    <a:pt x="2117353" y="54730"/>
                  </a:lnTo>
                  <a:lnTo>
                    <a:pt x="2136320" y="91511"/>
                  </a:lnTo>
                  <a:lnTo>
                    <a:pt x="2143124" y="133945"/>
                  </a:lnTo>
                  <a:lnTo>
                    <a:pt x="2143124" y="357187"/>
                  </a:lnTo>
                  <a:close/>
                </a:path>
                <a:path w="2857500" h="2857500">
                  <a:moveTo>
                    <a:pt x="892968" y="2143124"/>
                  </a:moveTo>
                  <a:lnTo>
                    <a:pt x="133945" y="2143124"/>
                  </a:lnTo>
                  <a:lnTo>
                    <a:pt x="91511" y="2136320"/>
                  </a:lnTo>
                  <a:lnTo>
                    <a:pt x="54730" y="2117353"/>
                  </a:lnTo>
                  <a:lnTo>
                    <a:pt x="25771" y="2088394"/>
                  </a:lnTo>
                  <a:lnTo>
                    <a:pt x="6804" y="2051613"/>
                  </a:lnTo>
                  <a:lnTo>
                    <a:pt x="0" y="2009179"/>
                  </a:lnTo>
                  <a:lnTo>
                    <a:pt x="6804" y="1966745"/>
                  </a:lnTo>
                  <a:lnTo>
                    <a:pt x="25771" y="1929964"/>
                  </a:lnTo>
                  <a:lnTo>
                    <a:pt x="54730" y="1901005"/>
                  </a:lnTo>
                  <a:lnTo>
                    <a:pt x="91511" y="1882038"/>
                  </a:lnTo>
                  <a:lnTo>
                    <a:pt x="133945" y="1875234"/>
                  </a:lnTo>
                  <a:lnTo>
                    <a:pt x="357187" y="1875234"/>
                  </a:lnTo>
                  <a:lnTo>
                    <a:pt x="357187" y="1562695"/>
                  </a:lnTo>
                  <a:lnTo>
                    <a:pt x="133945" y="1562695"/>
                  </a:lnTo>
                  <a:lnTo>
                    <a:pt x="91511" y="1555890"/>
                  </a:lnTo>
                  <a:lnTo>
                    <a:pt x="54730" y="1536924"/>
                  </a:lnTo>
                  <a:lnTo>
                    <a:pt x="25771" y="1507965"/>
                  </a:lnTo>
                  <a:lnTo>
                    <a:pt x="6804" y="1471183"/>
                  </a:lnTo>
                  <a:lnTo>
                    <a:pt x="0" y="1428749"/>
                  </a:lnTo>
                  <a:lnTo>
                    <a:pt x="6804" y="1386315"/>
                  </a:lnTo>
                  <a:lnTo>
                    <a:pt x="25771" y="1349534"/>
                  </a:lnTo>
                  <a:lnTo>
                    <a:pt x="54730" y="1320575"/>
                  </a:lnTo>
                  <a:lnTo>
                    <a:pt x="91511" y="1301608"/>
                  </a:lnTo>
                  <a:lnTo>
                    <a:pt x="133945" y="1294804"/>
                  </a:lnTo>
                  <a:lnTo>
                    <a:pt x="357187" y="1294804"/>
                  </a:lnTo>
                  <a:lnTo>
                    <a:pt x="357187" y="982265"/>
                  </a:lnTo>
                  <a:lnTo>
                    <a:pt x="133945" y="982265"/>
                  </a:lnTo>
                  <a:lnTo>
                    <a:pt x="91511" y="975461"/>
                  </a:lnTo>
                  <a:lnTo>
                    <a:pt x="54730" y="956494"/>
                  </a:lnTo>
                  <a:lnTo>
                    <a:pt x="25771" y="927535"/>
                  </a:lnTo>
                  <a:lnTo>
                    <a:pt x="6804" y="890754"/>
                  </a:lnTo>
                  <a:lnTo>
                    <a:pt x="0" y="848320"/>
                  </a:lnTo>
                  <a:lnTo>
                    <a:pt x="6804" y="805886"/>
                  </a:lnTo>
                  <a:lnTo>
                    <a:pt x="25771" y="769104"/>
                  </a:lnTo>
                  <a:lnTo>
                    <a:pt x="54730" y="740145"/>
                  </a:lnTo>
                  <a:lnTo>
                    <a:pt x="91511" y="721179"/>
                  </a:lnTo>
                  <a:lnTo>
                    <a:pt x="133945" y="714374"/>
                  </a:lnTo>
                  <a:lnTo>
                    <a:pt x="892968" y="714374"/>
                  </a:lnTo>
                  <a:lnTo>
                    <a:pt x="845439" y="720744"/>
                  </a:lnTo>
                  <a:lnTo>
                    <a:pt x="802762" y="738724"/>
                  </a:lnTo>
                  <a:lnTo>
                    <a:pt x="766627" y="766627"/>
                  </a:lnTo>
                  <a:lnTo>
                    <a:pt x="738724" y="802762"/>
                  </a:lnTo>
                  <a:lnTo>
                    <a:pt x="720744" y="845439"/>
                  </a:lnTo>
                  <a:lnTo>
                    <a:pt x="714374" y="892968"/>
                  </a:lnTo>
                  <a:lnTo>
                    <a:pt x="714374" y="1964531"/>
                  </a:lnTo>
                  <a:lnTo>
                    <a:pt x="720744" y="2012060"/>
                  </a:lnTo>
                  <a:lnTo>
                    <a:pt x="738724" y="2054737"/>
                  </a:lnTo>
                  <a:lnTo>
                    <a:pt x="766627" y="2090872"/>
                  </a:lnTo>
                  <a:lnTo>
                    <a:pt x="802762" y="2118774"/>
                  </a:lnTo>
                  <a:lnTo>
                    <a:pt x="845439" y="2136755"/>
                  </a:lnTo>
                  <a:lnTo>
                    <a:pt x="892968" y="2143124"/>
                  </a:lnTo>
                  <a:close/>
                </a:path>
                <a:path w="2857500" h="2857500">
                  <a:moveTo>
                    <a:pt x="2723554" y="2143124"/>
                  </a:moveTo>
                  <a:lnTo>
                    <a:pt x="1964531" y="2143124"/>
                  </a:lnTo>
                  <a:lnTo>
                    <a:pt x="2012060" y="2136755"/>
                  </a:lnTo>
                  <a:lnTo>
                    <a:pt x="2054737" y="2118774"/>
                  </a:lnTo>
                  <a:lnTo>
                    <a:pt x="2090872" y="2090872"/>
                  </a:lnTo>
                  <a:lnTo>
                    <a:pt x="2118774" y="2054737"/>
                  </a:lnTo>
                  <a:lnTo>
                    <a:pt x="2136755" y="2012060"/>
                  </a:lnTo>
                  <a:lnTo>
                    <a:pt x="2143124" y="1964531"/>
                  </a:lnTo>
                  <a:lnTo>
                    <a:pt x="2143124" y="892968"/>
                  </a:lnTo>
                  <a:lnTo>
                    <a:pt x="2136755" y="845439"/>
                  </a:lnTo>
                  <a:lnTo>
                    <a:pt x="2118774" y="802762"/>
                  </a:lnTo>
                  <a:lnTo>
                    <a:pt x="2090872" y="766627"/>
                  </a:lnTo>
                  <a:lnTo>
                    <a:pt x="2054737" y="738724"/>
                  </a:lnTo>
                  <a:lnTo>
                    <a:pt x="2012060" y="720744"/>
                  </a:lnTo>
                  <a:lnTo>
                    <a:pt x="1964531" y="714374"/>
                  </a:lnTo>
                  <a:lnTo>
                    <a:pt x="2723554" y="714374"/>
                  </a:lnTo>
                  <a:lnTo>
                    <a:pt x="2765988" y="721179"/>
                  </a:lnTo>
                  <a:lnTo>
                    <a:pt x="2802769" y="740145"/>
                  </a:lnTo>
                  <a:lnTo>
                    <a:pt x="2831728" y="769104"/>
                  </a:lnTo>
                  <a:lnTo>
                    <a:pt x="2850695" y="805886"/>
                  </a:lnTo>
                  <a:lnTo>
                    <a:pt x="2857499" y="848320"/>
                  </a:lnTo>
                  <a:lnTo>
                    <a:pt x="2850695" y="890754"/>
                  </a:lnTo>
                  <a:lnTo>
                    <a:pt x="2831728" y="927535"/>
                  </a:lnTo>
                  <a:lnTo>
                    <a:pt x="2802769" y="956494"/>
                  </a:lnTo>
                  <a:lnTo>
                    <a:pt x="2765988" y="975461"/>
                  </a:lnTo>
                  <a:lnTo>
                    <a:pt x="2723554" y="982265"/>
                  </a:lnTo>
                  <a:lnTo>
                    <a:pt x="2500312" y="982265"/>
                  </a:lnTo>
                  <a:lnTo>
                    <a:pt x="2500312" y="1294804"/>
                  </a:lnTo>
                  <a:lnTo>
                    <a:pt x="2723554" y="1294804"/>
                  </a:lnTo>
                  <a:lnTo>
                    <a:pt x="2765988" y="1301608"/>
                  </a:lnTo>
                  <a:lnTo>
                    <a:pt x="2802769" y="1320575"/>
                  </a:lnTo>
                  <a:lnTo>
                    <a:pt x="2831728" y="1349534"/>
                  </a:lnTo>
                  <a:lnTo>
                    <a:pt x="2850695" y="1386315"/>
                  </a:lnTo>
                  <a:lnTo>
                    <a:pt x="2857499" y="1428749"/>
                  </a:lnTo>
                  <a:lnTo>
                    <a:pt x="2850695" y="1471183"/>
                  </a:lnTo>
                  <a:lnTo>
                    <a:pt x="2831728" y="1507965"/>
                  </a:lnTo>
                  <a:lnTo>
                    <a:pt x="2802769" y="1536924"/>
                  </a:lnTo>
                  <a:lnTo>
                    <a:pt x="2765988" y="1555890"/>
                  </a:lnTo>
                  <a:lnTo>
                    <a:pt x="2723554" y="1562695"/>
                  </a:lnTo>
                  <a:lnTo>
                    <a:pt x="2500312" y="1562695"/>
                  </a:lnTo>
                  <a:lnTo>
                    <a:pt x="2500312" y="1875234"/>
                  </a:lnTo>
                  <a:lnTo>
                    <a:pt x="2723554" y="1875234"/>
                  </a:lnTo>
                  <a:lnTo>
                    <a:pt x="2765988" y="1882038"/>
                  </a:lnTo>
                  <a:lnTo>
                    <a:pt x="2802769" y="1901005"/>
                  </a:lnTo>
                  <a:lnTo>
                    <a:pt x="2831728" y="1929964"/>
                  </a:lnTo>
                  <a:lnTo>
                    <a:pt x="2850695" y="1966745"/>
                  </a:lnTo>
                  <a:lnTo>
                    <a:pt x="2857499" y="2009179"/>
                  </a:lnTo>
                  <a:lnTo>
                    <a:pt x="2850695" y="2051613"/>
                  </a:lnTo>
                  <a:lnTo>
                    <a:pt x="2831728" y="2088394"/>
                  </a:lnTo>
                  <a:lnTo>
                    <a:pt x="2802769" y="2117353"/>
                  </a:lnTo>
                  <a:lnTo>
                    <a:pt x="2765988" y="2136320"/>
                  </a:lnTo>
                  <a:lnTo>
                    <a:pt x="2723554" y="2143124"/>
                  </a:lnTo>
                  <a:close/>
                </a:path>
                <a:path w="2857500" h="2857500">
                  <a:moveTo>
                    <a:pt x="1964531" y="1964531"/>
                  </a:moveTo>
                  <a:lnTo>
                    <a:pt x="892968" y="1964531"/>
                  </a:lnTo>
                  <a:lnTo>
                    <a:pt x="892968" y="892968"/>
                  </a:lnTo>
                  <a:lnTo>
                    <a:pt x="1964531" y="892968"/>
                  </a:lnTo>
                  <a:lnTo>
                    <a:pt x="1964531" y="1964531"/>
                  </a:lnTo>
                  <a:close/>
                </a:path>
                <a:path w="2857500" h="2857500">
                  <a:moveTo>
                    <a:pt x="848320" y="2857499"/>
                  </a:moveTo>
                  <a:lnTo>
                    <a:pt x="805886" y="2850695"/>
                  </a:lnTo>
                  <a:lnTo>
                    <a:pt x="769104" y="2831728"/>
                  </a:lnTo>
                  <a:lnTo>
                    <a:pt x="740145" y="2802769"/>
                  </a:lnTo>
                  <a:lnTo>
                    <a:pt x="721179" y="2765988"/>
                  </a:lnTo>
                  <a:lnTo>
                    <a:pt x="714374" y="2723554"/>
                  </a:lnTo>
                  <a:lnTo>
                    <a:pt x="714374" y="2500312"/>
                  </a:lnTo>
                  <a:lnTo>
                    <a:pt x="665960" y="2497046"/>
                  </a:lnTo>
                  <a:lnTo>
                    <a:pt x="619509" y="2487535"/>
                  </a:lnTo>
                  <a:lnTo>
                    <a:pt x="575450" y="2472206"/>
                  </a:lnTo>
                  <a:lnTo>
                    <a:pt x="534210" y="2451488"/>
                  </a:lnTo>
                  <a:lnTo>
                    <a:pt x="496218" y="2425809"/>
                  </a:lnTo>
                  <a:lnTo>
                    <a:pt x="461901" y="2395597"/>
                  </a:lnTo>
                  <a:lnTo>
                    <a:pt x="431690" y="2361281"/>
                  </a:lnTo>
                  <a:lnTo>
                    <a:pt x="406011" y="2323289"/>
                  </a:lnTo>
                  <a:lnTo>
                    <a:pt x="385293" y="2282049"/>
                  </a:lnTo>
                  <a:lnTo>
                    <a:pt x="369964" y="2237989"/>
                  </a:lnTo>
                  <a:lnTo>
                    <a:pt x="360453" y="2191538"/>
                  </a:lnTo>
                  <a:lnTo>
                    <a:pt x="357187" y="2143124"/>
                  </a:lnTo>
                  <a:lnTo>
                    <a:pt x="2500312" y="2143124"/>
                  </a:lnTo>
                  <a:lnTo>
                    <a:pt x="2497046" y="2191538"/>
                  </a:lnTo>
                  <a:lnTo>
                    <a:pt x="2487535" y="2237989"/>
                  </a:lnTo>
                  <a:lnTo>
                    <a:pt x="2472206" y="2282049"/>
                  </a:lnTo>
                  <a:lnTo>
                    <a:pt x="2451488" y="2323289"/>
                  </a:lnTo>
                  <a:lnTo>
                    <a:pt x="2425809" y="2361281"/>
                  </a:lnTo>
                  <a:lnTo>
                    <a:pt x="2395597" y="2395597"/>
                  </a:lnTo>
                  <a:lnTo>
                    <a:pt x="2361281" y="2425809"/>
                  </a:lnTo>
                  <a:lnTo>
                    <a:pt x="2323289" y="2451488"/>
                  </a:lnTo>
                  <a:lnTo>
                    <a:pt x="2282049" y="2472206"/>
                  </a:lnTo>
                  <a:lnTo>
                    <a:pt x="2237989" y="2487535"/>
                  </a:lnTo>
                  <a:lnTo>
                    <a:pt x="2191538" y="2497046"/>
                  </a:lnTo>
                  <a:lnTo>
                    <a:pt x="2143124" y="2500312"/>
                  </a:lnTo>
                  <a:lnTo>
                    <a:pt x="982265" y="2500312"/>
                  </a:lnTo>
                  <a:lnTo>
                    <a:pt x="982265" y="2723554"/>
                  </a:lnTo>
                  <a:lnTo>
                    <a:pt x="975461" y="2765988"/>
                  </a:lnTo>
                  <a:lnTo>
                    <a:pt x="956494" y="2802769"/>
                  </a:lnTo>
                  <a:lnTo>
                    <a:pt x="927535" y="2831728"/>
                  </a:lnTo>
                  <a:lnTo>
                    <a:pt x="890754" y="2850695"/>
                  </a:lnTo>
                  <a:lnTo>
                    <a:pt x="848320" y="2857499"/>
                  </a:lnTo>
                  <a:close/>
                </a:path>
                <a:path w="2857500" h="2857500">
                  <a:moveTo>
                    <a:pt x="1428749" y="2857499"/>
                  </a:moveTo>
                  <a:lnTo>
                    <a:pt x="1386315" y="2850695"/>
                  </a:lnTo>
                  <a:lnTo>
                    <a:pt x="1349534" y="2831728"/>
                  </a:lnTo>
                  <a:lnTo>
                    <a:pt x="1320575" y="2802769"/>
                  </a:lnTo>
                  <a:lnTo>
                    <a:pt x="1301608" y="2765988"/>
                  </a:lnTo>
                  <a:lnTo>
                    <a:pt x="1294804" y="2723554"/>
                  </a:lnTo>
                  <a:lnTo>
                    <a:pt x="1294804" y="2500312"/>
                  </a:lnTo>
                  <a:lnTo>
                    <a:pt x="1562695" y="2500312"/>
                  </a:lnTo>
                  <a:lnTo>
                    <a:pt x="1562695" y="2723554"/>
                  </a:lnTo>
                  <a:lnTo>
                    <a:pt x="1555890" y="2765988"/>
                  </a:lnTo>
                  <a:lnTo>
                    <a:pt x="1536924" y="2802769"/>
                  </a:lnTo>
                  <a:lnTo>
                    <a:pt x="1507965" y="2831728"/>
                  </a:lnTo>
                  <a:lnTo>
                    <a:pt x="1471183" y="2850695"/>
                  </a:lnTo>
                  <a:lnTo>
                    <a:pt x="1428749" y="2857499"/>
                  </a:lnTo>
                  <a:close/>
                </a:path>
                <a:path w="2857500" h="2857500">
                  <a:moveTo>
                    <a:pt x="2009179" y="2857499"/>
                  </a:moveTo>
                  <a:lnTo>
                    <a:pt x="1966745" y="2850695"/>
                  </a:lnTo>
                  <a:lnTo>
                    <a:pt x="1929964" y="2831728"/>
                  </a:lnTo>
                  <a:lnTo>
                    <a:pt x="1901005" y="2802769"/>
                  </a:lnTo>
                  <a:lnTo>
                    <a:pt x="1882038" y="2765988"/>
                  </a:lnTo>
                  <a:lnTo>
                    <a:pt x="1875234" y="2723554"/>
                  </a:lnTo>
                  <a:lnTo>
                    <a:pt x="1875234" y="2500312"/>
                  </a:lnTo>
                  <a:lnTo>
                    <a:pt x="2143124" y="2500312"/>
                  </a:lnTo>
                  <a:lnTo>
                    <a:pt x="2143124" y="2723554"/>
                  </a:lnTo>
                  <a:lnTo>
                    <a:pt x="2136320" y="2765988"/>
                  </a:lnTo>
                  <a:lnTo>
                    <a:pt x="2117353" y="2802769"/>
                  </a:lnTo>
                  <a:lnTo>
                    <a:pt x="2088394" y="2831728"/>
                  </a:lnTo>
                  <a:lnTo>
                    <a:pt x="2051613" y="2850695"/>
                  </a:lnTo>
                  <a:lnTo>
                    <a:pt x="2009179" y="2857499"/>
                  </a:lnTo>
                  <a:close/>
                </a:path>
              </a:pathLst>
            </a:custGeom>
            <a:solidFill>
              <a:srgbClr val="0057A8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0544174" y="63436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58474" y="6438899"/>
              <a:ext cx="133349" cy="133349"/>
            </a:xfrm>
            <a:prstGeom prst="rect">
              <a:avLst/>
            </a:prstGeom>
          </p:spPr>
        </p:pic>
      </p:grp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724649"/>
            <a:ext cx="12191999" cy="13334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96899" y="1415444"/>
            <a:ext cx="7807325" cy="1712595"/>
          </a:xfrm>
          <a:prstGeom prst="rect"/>
        </p:spPr>
        <p:txBody>
          <a:bodyPr wrap="square" lIns="0" tIns="66040" rIns="0" bIns="0" rtlCol="0" vert="horz">
            <a:spAutoFit/>
          </a:bodyPr>
          <a:lstStyle/>
          <a:p>
            <a:pPr marL="12700" marR="5080">
              <a:lnSpc>
                <a:spcPts val="3229"/>
              </a:lnSpc>
              <a:spcBef>
                <a:spcPts val="520"/>
              </a:spcBef>
            </a:pPr>
            <a:r>
              <a:rPr dirty="0" sz="3000" spc="-210"/>
              <a:t>A</a:t>
            </a:r>
            <a:r>
              <a:rPr dirty="0" sz="3000" spc="-30"/>
              <a:t> </a:t>
            </a:r>
            <a:r>
              <a:rPr dirty="0" sz="3000" spc="-175"/>
              <a:t>Robust</a:t>
            </a:r>
            <a:r>
              <a:rPr dirty="0" sz="3000" spc="-25"/>
              <a:t> </a:t>
            </a:r>
            <a:r>
              <a:rPr dirty="0" sz="3000" spc="-145"/>
              <a:t>Multi-</a:t>
            </a:r>
            <a:r>
              <a:rPr dirty="0" sz="3000" spc="-160"/>
              <a:t>Objective</a:t>
            </a:r>
            <a:r>
              <a:rPr dirty="0" sz="3000" spc="-25"/>
              <a:t> </a:t>
            </a:r>
            <a:r>
              <a:rPr dirty="0" sz="3000" spc="-185"/>
              <a:t>Model</a:t>
            </a:r>
            <a:r>
              <a:rPr dirty="0" sz="3000" spc="-25"/>
              <a:t> </a:t>
            </a:r>
            <a:r>
              <a:rPr dirty="0" sz="3000" spc="-155"/>
              <a:t>Predictive</a:t>
            </a:r>
            <a:r>
              <a:rPr dirty="0" sz="3000" spc="-30"/>
              <a:t> </a:t>
            </a:r>
            <a:r>
              <a:rPr dirty="0" sz="3000" spc="-105"/>
              <a:t>Control </a:t>
            </a:r>
            <a:r>
              <a:rPr dirty="0" sz="3000" spc="-195"/>
              <a:t>Framework</a:t>
            </a:r>
            <a:r>
              <a:rPr dirty="0" sz="3000" spc="-20"/>
              <a:t> </a:t>
            </a:r>
            <a:r>
              <a:rPr dirty="0" sz="3000" spc="-140"/>
              <a:t>for</a:t>
            </a:r>
            <a:r>
              <a:rPr dirty="0" sz="3000" spc="-15"/>
              <a:t> </a:t>
            </a:r>
            <a:r>
              <a:rPr dirty="0" sz="3000" spc="-195"/>
              <a:t>Power</a:t>
            </a:r>
            <a:r>
              <a:rPr dirty="0" sz="3000" spc="-15"/>
              <a:t> </a:t>
            </a:r>
            <a:r>
              <a:rPr dirty="0" sz="3000" spc="-175"/>
              <a:t>Factor</a:t>
            </a:r>
            <a:r>
              <a:rPr dirty="0" sz="3000" spc="-15"/>
              <a:t> </a:t>
            </a:r>
            <a:r>
              <a:rPr dirty="0" sz="3000" spc="-155"/>
              <a:t>Optimization,</a:t>
            </a:r>
            <a:r>
              <a:rPr dirty="0" sz="3000" spc="-15"/>
              <a:t> </a:t>
            </a:r>
            <a:r>
              <a:rPr dirty="0" sz="3000" spc="-140"/>
              <a:t>Voltage </a:t>
            </a:r>
            <a:r>
              <a:rPr dirty="0" sz="3000" spc="-145"/>
              <a:t>Regulation,</a:t>
            </a:r>
            <a:r>
              <a:rPr dirty="0" sz="3000" spc="-50"/>
              <a:t> </a:t>
            </a:r>
            <a:r>
              <a:rPr dirty="0" sz="3000" spc="-185"/>
              <a:t>and</a:t>
            </a:r>
            <a:r>
              <a:rPr dirty="0" sz="3000" spc="-125"/>
              <a:t> </a:t>
            </a:r>
            <a:r>
              <a:rPr dirty="0" sz="3000" spc="-220"/>
              <a:t>THD</a:t>
            </a:r>
            <a:r>
              <a:rPr dirty="0" sz="3000" spc="-50"/>
              <a:t> </a:t>
            </a:r>
            <a:r>
              <a:rPr dirty="0" sz="3000" spc="-170"/>
              <a:t>Reduction</a:t>
            </a:r>
            <a:r>
              <a:rPr dirty="0" sz="3000" spc="-50"/>
              <a:t> </a:t>
            </a:r>
            <a:r>
              <a:rPr dirty="0" sz="3000" spc="-130"/>
              <a:t>in</a:t>
            </a:r>
            <a:r>
              <a:rPr dirty="0" sz="3000" spc="-50"/>
              <a:t> Renewable- </a:t>
            </a:r>
            <a:r>
              <a:rPr dirty="0" sz="3000" spc="-160"/>
              <a:t>Integrated</a:t>
            </a:r>
            <a:r>
              <a:rPr dirty="0" sz="3000" spc="-15"/>
              <a:t> </a:t>
            </a:r>
            <a:r>
              <a:rPr dirty="0" sz="3000" spc="-195"/>
              <a:t>Power</a:t>
            </a:r>
            <a:r>
              <a:rPr dirty="0" sz="3000" spc="-10"/>
              <a:t> </a:t>
            </a:r>
            <a:r>
              <a:rPr dirty="0" sz="3000" spc="-20"/>
              <a:t>Systems</a:t>
            </a:r>
            <a:endParaRPr sz="3000"/>
          </a:p>
        </p:txBody>
      </p:sp>
      <p:sp>
        <p:nvSpPr>
          <p:cNvPr id="9" name="object 9" descr=""/>
          <p:cNvSpPr txBox="1"/>
          <p:nvPr/>
        </p:nvSpPr>
        <p:spPr>
          <a:xfrm>
            <a:off x="596899" y="3323907"/>
            <a:ext cx="5866765" cy="21456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5" b="0">
                <a:solidFill>
                  <a:srgbClr val="0057A8"/>
                </a:solidFill>
                <a:latin typeface="Roboto Medium"/>
                <a:cs typeface="Roboto Medium"/>
              </a:rPr>
              <a:t>Unified</a:t>
            </a:r>
            <a:r>
              <a:rPr dirty="0" sz="2000" spc="15" b="0">
                <a:solidFill>
                  <a:srgbClr val="0057A8"/>
                </a:solidFill>
                <a:latin typeface="Roboto Medium"/>
                <a:cs typeface="Roboto Medium"/>
              </a:rPr>
              <a:t> </a:t>
            </a:r>
            <a:r>
              <a:rPr dirty="0" sz="2000" spc="-125" b="0">
                <a:solidFill>
                  <a:srgbClr val="0057A8"/>
                </a:solidFill>
                <a:latin typeface="Roboto Medium"/>
                <a:cs typeface="Roboto Medium"/>
              </a:rPr>
              <a:t>Advanced</a:t>
            </a:r>
            <a:r>
              <a:rPr dirty="0" sz="2000" spc="20" b="0">
                <a:solidFill>
                  <a:srgbClr val="0057A8"/>
                </a:solidFill>
                <a:latin typeface="Roboto Medium"/>
                <a:cs typeface="Roboto Medium"/>
              </a:rPr>
              <a:t> </a:t>
            </a:r>
            <a:r>
              <a:rPr dirty="0" sz="2000" spc="-110" b="0">
                <a:solidFill>
                  <a:srgbClr val="0057A8"/>
                </a:solidFill>
                <a:latin typeface="Roboto Medium"/>
                <a:cs typeface="Roboto Medium"/>
              </a:rPr>
              <a:t>Control</a:t>
            </a:r>
            <a:r>
              <a:rPr dirty="0" sz="2000" spc="15" b="0">
                <a:solidFill>
                  <a:srgbClr val="0057A8"/>
                </a:solidFill>
                <a:latin typeface="Roboto Medium"/>
                <a:cs typeface="Roboto Medium"/>
              </a:rPr>
              <a:t> </a:t>
            </a:r>
            <a:r>
              <a:rPr dirty="0" sz="2000" spc="-100" b="0">
                <a:solidFill>
                  <a:srgbClr val="0057A8"/>
                </a:solidFill>
                <a:latin typeface="Roboto Medium"/>
                <a:cs typeface="Roboto Medium"/>
              </a:rPr>
              <a:t>for</a:t>
            </a:r>
            <a:r>
              <a:rPr dirty="0" sz="2000" spc="20" b="0">
                <a:solidFill>
                  <a:srgbClr val="0057A8"/>
                </a:solidFill>
                <a:latin typeface="Roboto Medium"/>
                <a:cs typeface="Roboto Medium"/>
              </a:rPr>
              <a:t> </a:t>
            </a:r>
            <a:r>
              <a:rPr dirty="0" sz="2000" spc="-114" b="0">
                <a:solidFill>
                  <a:srgbClr val="0057A8"/>
                </a:solidFill>
                <a:latin typeface="Roboto Medium"/>
                <a:cs typeface="Roboto Medium"/>
              </a:rPr>
              <a:t>Renewable-</a:t>
            </a:r>
            <a:r>
              <a:rPr dirty="0" sz="2000" spc="-110" b="0">
                <a:solidFill>
                  <a:srgbClr val="0057A8"/>
                </a:solidFill>
                <a:latin typeface="Roboto Medium"/>
                <a:cs typeface="Roboto Medium"/>
              </a:rPr>
              <a:t>Integrated</a:t>
            </a:r>
            <a:r>
              <a:rPr dirty="0" sz="2000" spc="15" b="0">
                <a:solidFill>
                  <a:srgbClr val="0057A8"/>
                </a:solidFill>
                <a:latin typeface="Roboto Medium"/>
                <a:cs typeface="Roboto Medium"/>
              </a:rPr>
              <a:t> </a:t>
            </a:r>
            <a:r>
              <a:rPr dirty="0" sz="2000" spc="-55" b="0">
                <a:solidFill>
                  <a:srgbClr val="0057A8"/>
                </a:solidFill>
                <a:latin typeface="Roboto Medium"/>
                <a:cs typeface="Roboto Medium"/>
              </a:rPr>
              <a:t>Grids</a:t>
            </a:r>
            <a:endParaRPr sz="2000">
              <a:latin typeface="Roboto Medium"/>
              <a:cs typeface="Roboto Medium"/>
            </a:endParaRPr>
          </a:p>
          <a:p>
            <a:pPr>
              <a:lnSpc>
                <a:spcPct val="100000"/>
              </a:lnSpc>
            </a:pPr>
            <a:endParaRPr sz="1800">
              <a:latin typeface="Roboto Medium"/>
              <a:cs typeface="Roboto Medium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1800">
              <a:latin typeface="Roboto Medium"/>
              <a:cs typeface="Roboto Medium"/>
            </a:endParaRPr>
          </a:p>
          <a:p>
            <a:pPr marL="12700">
              <a:lnSpc>
                <a:spcPct val="100000"/>
              </a:lnSpc>
            </a:pPr>
            <a:r>
              <a:rPr dirty="0" sz="1650" spc="-75">
                <a:solidFill>
                  <a:srgbClr val="444444"/>
                </a:solidFill>
                <a:latin typeface="Roboto"/>
                <a:cs typeface="Roboto"/>
              </a:rPr>
              <a:t>Presenter:</a:t>
            </a:r>
            <a:r>
              <a:rPr dirty="0" sz="1650" spc="-2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90">
                <a:solidFill>
                  <a:srgbClr val="444444"/>
                </a:solidFill>
                <a:latin typeface="Roboto"/>
                <a:cs typeface="Roboto"/>
              </a:rPr>
              <a:t>[Your</a:t>
            </a:r>
            <a:r>
              <a:rPr dirty="0" sz="1650" spc="-20">
                <a:solidFill>
                  <a:srgbClr val="444444"/>
                </a:solidFill>
                <a:latin typeface="Roboto"/>
                <a:cs typeface="Roboto"/>
              </a:rPr>
              <a:t> Name]</a:t>
            </a:r>
            <a:endParaRPr sz="16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500" spc="-10">
                <a:solidFill>
                  <a:srgbClr val="444444"/>
                </a:solidFill>
                <a:latin typeface="Roboto"/>
                <a:cs typeface="Roboto"/>
              </a:rPr>
              <a:t>[Affiliation]</a:t>
            </a:r>
            <a:endParaRPr sz="15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z="13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1450" spc="-50" b="0">
                <a:solidFill>
                  <a:srgbClr val="545454"/>
                </a:solidFill>
                <a:latin typeface="Roboto Light"/>
                <a:cs typeface="Roboto Light"/>
              </a:rPr>
              <a:t>[Presentation</a:t>
            </a:r>
            <a:r>
              <a:rPr dirty="0" sz="1450" spc="-15" b="0">
                <a:solidFill>
                  <a:srgbClr val="545454"/>
                </a:solidFill>
                <a:latin typeface="Roboto Light"/>
                <a:cs typeface="Roboto Light"/>
              </a:rPr>
              <a:t> </a:t>
            </a:r>
            <a:r>
              <a:rPr dirty="0" sz="1450" spc="-20" b="0">
                <a:solidFill>
                  <a:srgbClr val="545454"/>
                </a:solidFill>
                <a:latin typeface="Roboto Light"/>
                <a:cs typeface="Roboto Light"/>
              </a:rPr>
              <a:t>Date]</a:t>
            </a:r>
            <a:endParaRPr sz="1450">
              <a:latin typeface="Roboto Light"/>
              <a:cs typeface="Roboto Ligh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0833000" y="6403816"/>
            <a:ext cx="106680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75">
                <a:solidFill>
                  <a:srgbClr val="FFFFFF"/>
                </a:solidFill>
                <a:latin typeface="Roboto"/>
                <a:cs typeface="Roboto"/>
              </a:rPr>
              <a:t>Made</a:t>
            </a:r>
            <a:r>
              <a:rPr dirty="0" sz="10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FFFFFF"/>
                </a:solidFill>
                <a:latin typeface="Roboto"/>
                <a:cs typeface="Roboto"/>
              </a:rPr>
              <a:t>with</a:t>
            </a:r>
            <a:r>
              <a:rPr dirty="0" sz="10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FFFFFF"/>
                </a:solidFill>
                <a:latin typeface="Roboto"/>
                <a:cs typeface="Roboto"/>
              </a:rPr>
              <a:t>Genspark</a:t>
            </a:r>
            <a:endParaRPr sz="10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899" y="586898"/>
            <a:ext cx="1205865" cy="48323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70"/>
              <a:t>Agenda</a:t>
            </a:r>
            <a:endParaRPr sz="3000"/>
          </a:p>
        </p:txBody>
      </p:sp>
      <p:sp>
        <p:nvSpPr>
          <p:cNvPr id="3" name="object 3" descr=""/>
          <p:cNvSpPr txBox="1"/>
          <p:nvPr/>
        </p:nvSpPr>
        <p:spPr>
          <a:xfrm>
            <a:off x="10809782" y="500615"/>
            <a:ext cx="1014094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20" b="1">
                <a:solidFill>
                  <a:srgbClr val="6A7280"/>
                </a:solidFill>
                <a:latin typeface="Roboto"/>
                <a:cs typeface="Roboto"/>
              </a:rPr>
              <a:t>IEEE</a:t>
            </a:r>
            <a:r>
              <a:rPr dirty="0" sz="1100" spc="-40" b="1">
                <a:solidFill>
                  <a:srgbClr val="6A7280"/>
                </a:solidFill>
                <a:latin typeface="Roboto"/>
                <a:cs typeface="Roboto"/>
              </a:rPr>
              <a:t> </a:t>
            </a:r>
            <a:r>
              <a:rPr dirty="0" sz="1100" spc="-35" b="1">
                <a:solidFill>
                  <a:srgbClr val="6A7280"/>
                </a:solidFill>
                <a:latin typeface="Roboto"/>
                <a:cs typeface="Roboto"/>
              </a:rPr>
              <a:t>Conference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9905999" y="4495800"/>
            <a:ext cx="1371600" cy="1066800"/>
          </a:xfrm>
          <a:custGeom>
            <a:avLst/>
            <a:gdLst/>
            <a:ahLst/>
            <a:cxnLst/>
            <a:rect l="l" t="t" r="r" b="b"/>
            <a:pathLst>
              <a:path w="1371600" h="1066800">
                <a:moveTo>
                  <a:pt x="1257299" y="1066799"/>
                </a:moveTo>
                <a:lnTo>
                  <a:pt x="1104899" y="1066799"/>
                </a:lnTo>
                <a:lnTo>
                  <a:pt x="1060418" y="1057814"/>
                </a:lnTo>
                <a:lnTo>
                  <a:pt x="1024086" y="1033313"/>
                </a:lnTo>
                <a:lnTo>
                  <a:pt x="999585" y="996980"/>
                </a:lnTo>
                <a:lnTo>
                  <a:pt x="990599" y="952499"/>
                </a:lnTo>
                <a:lnTo>
                  <a:pt x="990599" y="800099"/>
                </a:lnTo>
                <a:lnTo>
                  <a:pt x="999585" y="755618"/>
                </a:lnTo>
                <a:lnTo>
                  <a:pt x="1024086" y="719286"/>
                </a:lnTo>
                <a:lnTo>
                  <a:pt x="1060418" y="694785"/>
                </a:lnTo>
                <a:lnTo>
                  <a:pt x="1104899" y="685799"/>
                </a:lnTo>
                <a:lnTo>
                  <a:pt x="1123949" y="685799"/>
                </a:lnTo>
                <a:lnTo>
                  <a:pt x="1123949" y="609599"/>
                </a:lnTo>
                <a:lnTo>
                  <a:pt x="1122446" y="602203"/>
                </a:lnTo>
                <a:lnTo>
                  <a:pt x="1118353" y="596145"/>
                </a:lnTo>
                <a:lnTo>
                  <a:pt x="1112296" y="592053"/>
                </a:lnTo>
                <a:lnTo>
                  <a:pt x="1104899" y="590549"/>
                </a:lnTo>
                <a:lnTo>
                  <a:pt x="742949" y="590549"/>
                </a:lnTo>
                <a:lnTo>
                  <a:pt x="742949" y="685799"/>
                </a:lnTo>
                <a:lnTo>
                  <a:pt x="761999" y="685799"/>
                </a:lnTo>
                <a:lnTo>
                  <a:pt x="806480" y="694785"/>
                </a:lnTo>
                <a:lnTo>
                  <a:pt x="842813" y="719286"/>
                </a:lnTo>
                <a:lnTo>
                  <a:pt x="867314" y="755618"/>
                </a:lnTo>
                <a:lnTo>
                  <a:pt x="876299" y="800099"/>
                </a:lnTo>
                <a:lnTo>
                  <a:pt x="876299" y="952499"/>
                </a:lnTo>
                <a:lnTo>
                  <a:pt x="867314" y="996980"/>
                </a:lnTo>
                <a:lnTo>
                  <a:pt x="842813" y="1033313"/>
                </a:lnTo>
                <a:lnTo>
                  <a:pt x="806480" y="1057814"/>
                </a:lnTo>
                <a:lnTo>
                  <a:pt x="761999" y="1066799"/>
                </a:lnTo>
                <a:lnTo>
                  <a:pt x="609599" y="1066799"/>
                </a:lnTo>
                <a:lnTo>
                  <a:pt x="565118" y="1057814"/>
                </a:lnTo>
                <a:lnTo>
                  <a:pt x="528786" y="1033313"/>
                </a:lnTo>
                <a:lnTo>
                  <a:pt x="504285" y="996980"/>
                </a:lnTo>
                <a:lnTo>
                  <a:pt x="495299" y="952499"/>
                </a:lnTo>
                <a:lnTo>
                  <a:pt x="495299" y="800099"/>
                </a:lnTo>
                <a:lnTo>
                  <a:pt x="504285" y="755618"/>
                </a:lnTo>
                <a:lnTo>
                  <a:pt x="528786" y="719286"/>
                </a:lnTo>
                <a:lnTo>
                  <a:pt x="565118" y="694785"/>
                </a:lnTo>
                <a:lnTo>
                  <a:pt x="609599" y="685799"/>
                </a:lnTo>
                <a:lnTo>
                  <a:pt x="628649" y="685799"/>
                </a:lnTo>
                <a:lnTo>
                  <a:pt x="628649" y="590549"/>
                </a:lnTo>
                <a:lnTo>
                  <a:pt x="266699" y="590549"/>
                </a:lnTo>
                <a:lnTo>
                  <a:pt x="259303" y="592053"/>
                </a:lnTo>
                <a:lnTo>
                  <a:pt x="253245" y="596145"/>
                </a:lnTo>
                <a:lnTo>
                  <a:pt x="249153" y="602203"/>
                </a:lnTo>
                <a:lnTo>
                  <a:pt x="247649" y="609599"/>
                </a:lnTo>
                <a:lnTo>
                  <a:pt x="247649" y="685799"/>
                </a:lnTo>
                <a:lnTo>
                  <a:pt x="266699" y="685799"/>
                </a:lnTo>
                <a:lnTo>
                  <a:pt x="311180" y="694785"/>
                </a:lnTo>
                <a:lnTo>
                  <a:pt x="347513" y="719286"/>
                </a:lnTo>
                <a:lnTo>
                  <a:pt x="372014" y="755618"/>
                </a:lnTo>
                <a:lnTo>
                  <a:pt x="380999" y="800099"/>
                </a:lnTo>
                <a:lnTo>
                  <a:pt x="380999" y="952499"/>
                </a:lnTo>
                <a:lnTo>
                  <a:pt x="372014" y="996980"/>
                </a:lnTo>
                <a:lnTo>
                  <a:pt x="347513" y="1033313"/>
                </a:lnTo>
                <a:lnTo>
                  <a:pt x="311180" y="1057814"/>
                </a:lnTo>
                <a:lnTo>
                  <a:pt x="266699" y="1066799"/>
                </a:lnTo>
                <a:lnTo>
                  <a:pt x="114299" y="1066799"/>
                </a:lnTo>
                <a:lnTo>
                  <a:pt x="69818" y="1057814"/>
                </a:lnTo>
                <a:lnTo>
                  <a:pt x="33486" y="1033313"/>
                </a:lnTo>
                <a:lnTo>
                  <a:pt x="8985" y="996980"/>
                </a:lnTo>
                <a:lnTo>
                  <a:pt x="0" y="952499"/>
                </a:lnTo>
                <a:lnTo>
                  <a:pt x="0" y="800099"/>
                </a:lnTo>
                <a:lnTo>
                  <a:pt x="8985" y="755618"/>
                </a:lnTo>
                <a:lnTo>
                  <a:pt x="33486" y="719286"/>
                </a:lnTo>
                <a:lnTo>
                  <a:pt x="69818" y="694785"/>
                </a:lnTo>
                <a:lnTo>
                  <a:pt x="114299" y="685799"/>
                </a:lnTo>
                <a:lnTo>
                  <a:pt x="133349" y="685799"/>
                </a:lnTo>
                <a:lnTo>
                  <a:pt x="133349" y="609599"/>
                </a:lnTo>
                <a:lnTo>
                  <a:pt x="140154" y="567476"/>
                </a:lnTo>
                <a:lnTo>
                  <a:pt x="159097" y="530873"/>
                </a:lnTo>
                <a:lnTo>
                  <a:pt x="187973" y="501997"/>
                </a:lnTo>
                <a:lnTo>
                  <a:pt x="224576" y="483054"/>
                </a:lnTo>
                <a:lnTo>
                  <a:pt x="266699" y="476249"/>
                </a:lnTo>
                <a:lnTo>
                  <a:pt x="628649" y="476249"/>
                </a:lnTo>
                <a:lnTo>
                  <a:pt x="628649" y="380999"/>
                </a:lnTo>
                <a:lnTo>
                  <a:pt x="609599" y="380999"/>
                </a:lnTo>
                <a:lnTo>
                  <a:pt x="565118" y="372014"/>
                </a:lnTo>
                <a:lnTo>
                  <a:pt x="528786" y="347513"/>
                </a:lnTo>
                <a:lnTo>
                  <a:pt x="504285" y="311180"/>
                </a:lnTo>
                <a:lnTo>
                  <a:pt x="495299" y="266699"/>
                </a:lnTo>
                <a:lnTo>
                  <a:pt x="495299" y="114299"/>
                </a:lnTo>
                <a:lnTo>
                  <a:pt x="504285" y="69818"/>
                </a:lnTo>
                <a:lnTo>
                  <a:pt x="528786" y="33486"/>
                </a:lnTo>
                <a:lnTo>
                  <a:pt x="565118" y="8985"/>
                </a:lnTo>
                <a:lnTo>
                  <a:pt x="609599" y="0"/>
                </a:lnTo>
                <a:lnTo>
                  <a:pt x="761999" y="0"/>
                </a:lnTo>
                <a:lnTo>
                  <a:pt x="806480" y="8985"/>
                </a:lnTo>
                <a:lnTo>
                  <a:pt x="842813" y="33486"/>
                </a:lnTo>
                <a:lnTo>
                  <a:pt x="867314" y="69818"/>
                </a:lnTo>
                <a:lnTo>
                  <a:pt x="876299" y="114299"/>
                </a:lnTo>
                <a:lnTo>
                  <a:pt x="876299" y="266699"/>
                </a:lnTo>
                <a:lnTo>
                  <a:pt x="867314" y="311180"/>
                </a:lnTo>
                <a:lnTo>
                  <a:pt x="842813" y="347513"/>
                </a:lnTo>
                <a:lnTo>
                  <a:pt x="806480" y="372014"/>
                </a:lnTo>
                <a:lnTo>
                  <a:pt x="761999" y="380999"/>
                </a:lnTo>
                <a:lnTo>
                  <a:pt x="742949" y="380999"/>
                </a:lnTo>
                <a:lnTo>
                  <a:pt x="742949" y="476249"/>
                </a:lnTo>
                <a:lnTo>
                  <a:pt x="1104899" y="476249"/>
                </a:lnTo>
                <a:lnTo>
                  <a:pt x="1147023" y="483054"/>
                </a:lnTo>
                <a:lnTo>
                  <a:pt x="1183625" y="501997"/>
                </a:lnTo>
                <a:lnTo>
                  <a:pt x="1212501" y="530873"/>
                </a:lnTo>
                <a:lnTo>
                  <a:pt x="1231445" y="567476"/>
                </a:lnTo>
                <a:lnTo>
                  <a:pt x="1238249" y="609599"/>
                </a:lnTo>
                <a:lnTo>
                  <a:pt x="1238249" y="685799"/>
                </a:lnTo>
                <a:lnTo>
                  <a:pt x="1257299" y="685799"/>
                </a:lnTo>
                <a:lnTo>
                  <a:pt x="1301780" y="694785"/>
                </a:lnTo>
                <a:lnTo>
                  <a:pt x="1338113" y="719286"/>
                </a:lnTo>
                <a:lnTo>
                  <a:pt x="1362614" y="755618"/>
                </a:lnTo>
                <a:lnTo>
                  <a:pt x="1371599" y="800099"/>
                </a:lnTo>
                <a:lnTo>
                  <a:pt x="1371599" y="952499"/>
                </a:lnTo>
                <a:lnTo>
                  <a:pt x="1362614" y="996980"/>
                </a:lnTo>
                <a:lnTo>
                  <a:pt x="1338113" y="1033313"/>
                </a:lnTo>
                <a:lnTo>
                  <a:pt x="1301780" y="1057814"/>
                </a:lnTo>
                <a:lnTo>
                  <a:pt x="1257299" y="1066799"/>
                </a:lnTo>
                <a:close/>
              </a:path>
            </a:pathLst>
          </a:custGeom>
          <a:solidFill>
            <a:srgbClr val="1D3A8A">
              <a:alpha val="9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724649"/>
            <a:ext cx="12191999" cy="13334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111250" y="1666557"/>
            <a:ext cx="259270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95">
                <a:solidFill>
                  <a:srgbClr val="333333"/>
                </a:solidFill>
                <a:latin typeface="Roboto"/>
                <a:cs typeface="Roboto"/>
              </a:rPr>
              <a:t>Introduction</a:t>
            </a:r>
            <a:r>
              <a:rPr dirty="0" sz="2000" spc="-3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2000" spc="-145">
                <a:solidFill>
                  <a:srgbClr val="333333"/>
                </a:solidFill>
                <a:latin typeface="Roboto"/>
                <a:cs typeface="Roboto"/>
              </a:rPr>
              <a:t>&amp;</a:t>
            </a:r>
            <a:r>
              <a:rPr dirty="0" sz="2000" spc="-2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2000" spc="-95">
                <a:solidFill>
                  <a:srgbClr val="333333"/>
                </a:solidFill>
                <a:latin typeface="Roboto"/>
                <a:cs typeface="Roboto"/>
              </a:rPr>
              <a:t>Motivation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800099" y="1724024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49" y="266699"/>
                </a:moveTo>
                <a:lnTo>
                  <a:pt x="94639" y="260959"/>
                </a:lnTo>
                <a:lnTo>
                  <a:pt x="59264" y="244226"/>
                </a:lnTo>
                <a:lnTo>
                  <a:pt x="30267" y="217946"/>
                </a:lnTo>
                <a:lnTo>
                  <a:pt x="10150" y="184380"/>
                </a:lnTo>
                <a:lnTo>
                  <a:pt x="640" y="146420"/>
                </a:lnTo>
                <a:lnTo>
                  <a:pt x="0" y="133349"/>
                </a:lnTo>
                <a:lnTo>
                  <a:pt x="160" y="126798"/>
                </a:lnTo>
                <a:lnTo>
                  <a:pt x="7791" y="88432"/>
                </a:lnTo>
                <a:lnTo>
                  <a:pt x="26246" y="53906"/>
                </a:lnTo>
                <a:lnTo>
                  <a:pt x="53906" y="26246"/>
                </a:lnTo>
                <a:lnTo>
                  <a:pt x="88432" y="7791"/>
                </a:lnTo>
                <a:lnTo>
                  <a:pt x="126798" y="160"/>
                </a:lnTo>
                <a:lnTo>
                  <a:pt x="133349" y="0"/>
                </a:lnTo>
                <a:lnTo>
                  <a:pt x="139901" y="160"/>
                </a:lnTo>
                <a:lnTo>
                  <a:pt x="178266" y="7791"/>
                </a:lnTo>
                <a:lnTo>
                  <a:pt x="212793" y="26246"/>
                </a:lnTo>
                <a:lnTo>
                  <a:pt x="240453" y="53906"/>
                </a:lnTo>
                <a:lnTo>
                  <a:pt x="258908" y="88432"/>
                </a:lnTo>
                <a:lnTo>
                  <a:pt x="266539" y="126798"/>
                </a:lnTo>
                <a:lnTo>
                  <a:pt x="266699" y="133349"/>
                </a:lnTo>
                <a:lnTo>
                  <a:pt x="266539" y="139901"/>
                </a:lnTo>
                <a:lnTo>
                  <a:pt x="258908" y="178266"/>
                </a:lnTo>
                <a:lnTo>
                  <a:pt x="240453" y="212792"/>
                </a:lnTo>
                <a:lnTo>
                  <a:pt x="212793" y="240453"/>
                </a:lnTo>
                <a:lnTo>
                  <a:pt x="178266" y="258908"/>
                </a:lnTo>
                <a:lnTo>
                  <a:pt x="139901" y="266539"/>
                </a:lnTo>
                <a:lnTo>
                  <a:pt x="133349" y="266699"/>
                </a:lnTo>
                <a:close/>
              </a:path>
            </a:pathLst>
          </a:custGeom>
          <a:solidFill>
            <a:srgbClr val="0057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882798" y="1748412"/>
            <a:ext cx="101600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0" b="0">
                <a:solidFill>
                  <a:srgbClr val="FFFFFF"/>
                </a:solidFill>
                <a:latin typeface="Ubuntu Light"/>
                <a:cs typeface="Ubuntu Light"/>
              </a:rPr>
              <a:t>1</a:t>
            </a:r>
            <a:endParaRPr sz="1100">
              <a:latin typeface="Ubuntu Light"/>
              <a:cs typeface="Ubuntu Ligh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111250" y="2199957"/>
            <a:ext cx="30308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14">
                <a:solidFill>
                  <a:srgbClr val="333333"/>
                </a:solidFill>
                <a:latin typeface="Roboto"/>
                <a:cs typeface="Roboto"/>
              </a:rPr>
              <a:t>Background</a:t>
            </a:r>
            <a:r>
              <a:rPr dirty="0" sz="2000" spc="-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2000" spc="-145">
                <a:solidFill>
                  <a:srgbClr val="333333"/>
                </a:solidFill>
                <a:latin typeface="Roboto"/>
                <a:cs typeface="Roboto"/>
              </a:rPr>
              <a:t>&amp;</a:t>
            </a:r>
            <a:r>
              <a:rPr dirty="0" sz="2000" spc="-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2000" spc="-120">
                <a:solidFill>
                  <a:srgbClr val="333333"/>
                </a:solidFill>
                <a:latin typeface="Roboto"/>
                <a:cs typeface="Roboto"/>
              </a:rPr>
              <a:t>Core</a:t>
            </a:r>
            <a:r>
              <a:rPr dirty="0" sz="2000" spc="-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2000" spc="-80">
                <a:solidFill>
                  <a:srgbClr val="333333"/>
                </a:solidFill>
                <a:latin typeface="Roboto"/>
                <a:cs typeface="Roboto"/>
              </a:rPr>
              <a:t>Principles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800099" y="2257424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49" y="266699"/>
                </a:moveTo>
                <a:lnTo>
                  <a:pt x="94639" y="260959"/>
                </a:lnTo>
                <a:lnTo>
                  <a:pt x="59264" y="244226"/>
                </a:lnTo>
                <a:lnTo>
                  <a:pt x="30267" y="217947"/>
                </a:lnTo>
                <a:lnTo>
                  <a:pt x="10150" y="184380"/>
                </a:lnTo>
                <a:lnTo>
                  <a:pt x="640" y="146420"/>
                </a:lnTo>
                <a:lnTo>
                  <a:pt x="0" y="133349"/>
                </a:lnTo>
                <a:lnTo>
                  <a:pt x="160" y="126798"/>
                </a:lnTo>
                <a:lnTo>
                  <a:pt x="7791" y="88432"/>
                </a:lnTo>
                <a:lnTo>
                  <a:pt x="26246" y="53906"/>
                </a:lnTo>
                <a:lnTo>
                  <a:pt x="53906" y="26246"/>
                </a:lnTo>
                <a:lnTo>
                  <a:pt x="88432" y="7791"/>
                </a:lnTo>
                <a:lnTo>
                  <a:pt x="126798" y="160"/>
                </a:lnTo>
                <a:lnTo>
                  <a:pt x="133349" y="0"/>
                </a:lnTo>
                <a:lnTo>
                  <a:pt x="139901" y="160"/>
                </a:lnTo>
                <a:lnTo>
                  <a:pt x="178266" y="7791"/>
                </a:lnTo>
                <a:lnTo>
                  <a:pt x="212793" y="26245"/>
                </a:lnTo>
                <a:lnTo>
                  <a:pt x="240453" y="53906"/>
                </a:lnTo>
                <a:lnTo>
                  <a:pt x="258908" y="88432"/>
                </a:lnTo>
                <a:lnTo>
                  <a:pt x="266539" y="126798"/>
                </a:lnTo>
                <a:lnTo>
                  <a:pt x="266699" y="133349"/>
                </a:lnTo>
                <a:lnTo>
                  <a:pt x="266539" y="139901"/>
                </a:lnTo>
                <a:lnTo>
                  <a:pt x="258908" y="178266"/>
                </a:lnTo>
                <a:lnTo>
                  <a:pt x="240453" y="212793"/>
                </a:lnTo>
                <a:lnTo>
                  <a:pt x="212793" y="240453"/>
                </a:lnTo>
                <a:lnTo>
                  <a:pt x="178266" y="258908"/>
                </a:lnTo>
                <a:lnTo>
                  <a:pt x="139901" y="266539"/>
                </a:lnTo>
                <a:lnTo>
                  <a:pt x="133349" y="266699"/>
                </a:lnTo>
                <a:close/>
              </a:path>
            </a:pathLst>
          </a:custGeom>
          <a:solidFill>
            <a:srgbClr val="0057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882798" y="2281812"/>
            <a:ext cx="101600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0" b="0">
                <a:solidFill>
                  <a:srgbClr val="FFFFFF"/>
                </a:solidFill>
                <a:latin typeface="Ubuntu Light"/>
                <a:cs typeface="Ubuntu Light"/>
              </a:rPr>
              <a:t>2</a:t>
            </a:r>
            <a:endParaRPr sz="1100">
              <a:latin typeface="Ubuntu Light"/>
              <a:cs typeface="Ubuntu Ligh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111250" y="2733357"/>
            <a:ext cx="32442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20">
                <a:solidFill>
                  <a:srgbClr val="333333"/>
                </a:solidFill>
                <a:latin typeface="Roboto"/>
                <a:cs typeface="Roboto"/>
              </a:rPr>
              <a:t>Proposed</a:t>
            </a:r>
            <a:r>
              <a:rPr dirty="0" sz="20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2000" spc="-165">
                <a:solidFill>
                  <a:srgbClr val="333333"/>
                </a:solidFill>
                <a:latin typeface="Roboto"/>
                <a:cs typeface="Roboto"/>
              </a:rPr>
              <a:t>RMOMPC</a:t>
            </a:r>
            <a:r>
              <a:rPr dirty="0" sz="20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2000" spc="-105">
                <a:solidFill>
                  <a:srgbClr val="333333"/>
                </a:solidFill>
                <a:latin typeface="Roboto"/>
                <a:cs typeface="Roboto"/>
              </a:rPr>
              <a:t>Framework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800099" y="2790824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49" y="266699"/>
                </a:moveTo>
                <a:lnTo>
                  <a:pt x="94639" y="260959"/>
                </a:lnTo>
                <a:lnTo>
                  <a:pt x="59264" y="244226"/>
                </a:lnTo>
                <a:lnTo>
                  <a:pt x="30267" y="217946"/>
                </a:lnTo>
                <a:lnTo>
                  <a:pt x="10150" y="184380"/>
                </a:lnTo>
                <a:lnTo>
                  <a:pt x="640" y="146420"/>
                </a:lnTo>
                <a:lnTo>
                  <a:pt x="0" y="133349"/>
                </a:lnTo>
                <a:lnTo>
                  <a:pt x="160" y="126798"/>
                </a:lnTo>
                <a:lnTo>
                  <a:pt x="7791" y="88432"/>
                </a:lnTo>
                <a:lnTo>
                  <a:pt x="26246" y="53906"/>
                </a:lnTo>
                <a:lnTo>
                  <a:pt x="53906" y="26246"/>
                </a:lnTo>
                <a:lnTo>
                  <a:pt x="88432" y="7791"/>
                </a:lnTo>
                <a:lnTo>
                  <a:pt x="126798" y="160"/>
                </a:lnTo>
                <a:lnTo>
                  <a:pt x="133349" y="0"/>
                </a:lnTo>
                <a:lnTo>
                  <a:pt x="139901" y="160"/>
                </a:lnTo>
                <a:lnTo>
                  <a:pt x="178266" y="7791"/>
                </a:lnTo>
                <a:lnTo>
                  <a:pt x="212793" y="26246"/>
                </a:lnTo>
                <a:lnTo>
                  <a:pt x="240453" y="53906"/>
                </a:lnTo>
                <a:lnTo>
                  <a:pt x="258908" y="88432"/>
                </a:lnTo>
                <a:lnTo>
                  <a:pt x="266539" y="126798"/>
                </a:lnTo>
                <a:lnTo>
                  <a:pt x="266699" y="133349"/>
                </a:lnTo>
                <a:lnTo>
                  <a:pt x="266539" y="139900"/>
                </a:lnTo>
                <a:lnTo>
                  <a:pt x="258908" y="178266"/>
                </a:lnTo>
                <a:lnTo>
                  <a:pt x="240453" y="212793"/>
                </a:lnTo>
                <a:lnTo>
                  <a:pt x="212793" y="240453"/>
                </a:lnTo>
                <a:lnTo>
                  <a:pt x="178266" y="258908"/>
                </a:lnTo>
                <a:lnTo>
                  <a:pt x="139901" y="266539"/>
                </a:lnTo>
                <a:lnTo>
                  <a:pt x="133349" y="266699"/>
                </a:lnTo>
                <a:close/>
              </a:path>
            </a:pathLst>
          </a:custGeom>
          <a:solidFill>
            <a:srgbClr val="0057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882798" y="2815212"/>
            <a:ext cx="101600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0" b="0">
                <a:solidFill>
                  <a:srgbClr val="FFFFFF"/>
                </a:solidFill>
                <a:latin typeface="Ubuntu Light"/>
                <a:cs typeface="Ubuntu Light"/>
              </a:rPr>
              <a:t>3</a:t>
            </a:r>
            <a:endParaRPr sz="1100">
              <a:latin typeface="Ubuntu Light"/>
              <a:cs typeface="Ubuntu Ligh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111250" y="3266757"/>
            <a:ext cx="232600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30">
                <a:solidFill>
                  <a:srgbClr val="333333"/>
                </a:solidFill>
                <a:latin typeface="Roboto"/>
                <a:cs typeface="Roboto"/>
              </a:rPr>
              <a:t>Key</a:t>
            </a:r>
            <a:r>
              <a:rPr dirty="0" sz="20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2000" spc="-105">
                <a:solidFill>
                  <a:srgbClr val="333333"/>
                </a:solidFill>
                <a:latin typeface="Roboto"/>
                <a:cs typeface="Roboto"/>
              </a:rPr>
              <a:t>Results</a:t>
            </a:r>
            <a:r>
              <a:rPr dirty="0" sz="20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2000" spc="-145">
                <a:solidFill>
                  <a:srgbClr val="333333"/>
                </a:solidFill>
                <a:latin typeface="Roboto"/>
                <a:cs typeface="Roboto"/>
              </a:rPr>
              <a:t>&amp;</a:t>
            </a:r>
            <a:r>
              <a:rPr dirty="0" sz="20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2000" spc="-95">
                <a:solidFill>
                  <a:srgbClr val="333333"/>
                </a:solidFill>
                <a:latin typeface="Roboto"/>
                <a:cs typeface="Roboto"/>
              </a:rPr>
              <a:t>Findings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800099" y="3324224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49" y="266699"/>
                </a:moveTo>
                <a:lnTo>
                  <a:pt x="94639" y="260958"/>
                </a:lnTo>
                <a:lnTo>
                  <a:pt x="59264" y="244225"/>
                </a:lnTo>
                <a:lnTo>
                  <a:pt x="30267" y="217946"/>
                </a:lnTo>
                <a:lnTo>
                  <a:pt x="10150" y="184380"/>
                </a:lnTo>
                <a:lnTo>
                  <a:pt x="640" y="146420"/>
                </a:lnTo>
                <a:lnTo>
                  <a:pt x="0" y="133349"/>
                </a:lnTo>
                <a:lnTo>
                  <a:pt x="160" y="126798"/>
                </a:lnTo>
                <a:lnTo>
                  <a:pt x="7791" y="88432"/>
                </a:lnTo>
                <a:lnTo>
                  <a:pt x="26246" y="53906"/>
                </a:lnTo>
                <a:lnTo>
                  <a:pt x="53906" y="26246"/>
                </a:lnTo>
                <a:lnTo>
                  <a:pt x="88432" y="7791"/>
                </a:lnTo>
                <a:lnTo>
                  <a:pt x="126798" y="160"/>
                </a:lnTo>
                <a:lnTo>
                  <a:pt x="133349" y="0"/>
                </a:lnTo>
                <a:lnTo>
                  <a:pt x="139901" y="160"/>
                </a:lnTo>
                <a:lnTo>
                  <a:pt x="178266" y="7791"/>
                </a:lnTo>
                <a:lnTo>
                  <a:pt x="212793" y="26245"/>
                </a:lnTo>
                <a:lnTo>
                  <a:pt x="240453" y="53906"/>
                </a:lnTo>
                <a:lnTo>
                  <a:pt x="258908" y="88432"/>
                </a:lnTo>
                <a:lnTo>
                  <a:pt x="266539" y="126798"/>
                </a:lnTo>
                <a:lnTo>
                  <a:pt x="266699" y="133349"/>
                </a:lnTo>
                <a:lnTo>
                  <a:pt x="266539" y="139900"/>
                </a:lnTo>
                <a:lnTo>
                  <a:pt x="258908" y="178266"/>
                </a:lnTo>
                <a:lnTo>
                  <a:pt x="240453" y="212792"/>
                </a:lnTo>
                <a:lnTo>
                  <a:pt x="212793" y="240453"/>
                </a:lnTo>
                <a:lnTo>
                  <a:pt x="178266" y="258907"/>
                </a:lnTo>
                <a:lnTo>
                  <a:pt x="139901" y="266539"/>
                </a:lnTo>
                <a:lnTo>
                  <a:pt x="133349" y="266699"/>
                </a:lnTo>
                <a:close/>
              </a:path>
            </a:pathLst>
          </a:custGeom>
          <a:solidFill>
            <a:srgbClr val="0057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882798" y="3348612"/>
            <a:ext cx="101600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0" b="0">
                <a:solidFill>
                  <a:srgbClr val="FFFFFF"/>
                </a:solidFill>
                <a:latin typeface="Ubuntu Light"/>
                <a:cs typeface="Ubuntu Light"/>
              </a:rPr>
              <a:t>4</a:t>
            </a:r>
            <a:endParaRPr sz="1100">
              <a:latin typeface="Ubuntu Light"/>
              <a:cs typeface="Ubuntu Ligh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111250" y="3800157"/>
            <a:ext cx="26498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0">
                <a:solidFill>
                  <a:srgbClr val="333333"/>
                </a:solidFill>
                <a:latin typeface="Roboto"/>
                <a:cs typeface="Roboto"/>
              </a:rPr>
              <a:t>Discussion</a:t>
            </a:r>
            <a:r>
              <a:rPr dirty="0" sz="2000" spc="-3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2000" spc="-145">
                <a:solidFill>
                  <a:srgbClr val="333333"/>
                </a:solidFill>
                <a:latin typeface="Roboto"/>
                <a:cs typeface="Roboto"/>
              </a:rPr>
              <a:t>&amp;</a:t>
            </a:r>
            <a:r>
              <a:rPr dirty="0" sz="2000" spc="-3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2000" spc="-95">
                <a:solidFill>
                  <a:srgbClr val="333333"/>
                </a:solidFill>
                <a:latin typeface="Roboto"/>
                <a:cs typeface="Roboto"/>
              </a:rPr>
              <a:t>Implications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800099" y="3857624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49" y="266699"/>
                </a:moveTo>
                <a:lnTo>
                  <a:pt x="94639" y="260958"/>
                </a:lnTo>
                <a:lnTo>
                  <a:pt x="59264" y="244226"/>
                </a:lnTo>
                <a:lnTo>
                  <a:pt x="30267" y="217946"/>
                </a:lnTo>
                <a:lnTo>
                  <a:pt x="10150" y="184380"/>
                </a:lnTo>
                <a:lnTo>
                  <a:pt x="640" y="146420"/>
                </a:lnTo>
                <a:lnTo>
                  <a:pt x="0" y="133349"/>
                </a:lnTo>
                <a:lnTo>
                  <a:pt x="160" y="126798"/>
                </a:lnTo>
                <a:lnTo>
                  <a:pt x="7791" y="88432"/>
                </a:lnTo>
                <a:lnTo>
                  <a:pt x="26246" y="53906"/>
                </a:lnTo>
                <a:lnTo>
                  <a:pt x="53906" y="26245"/>
                </a:lnTo>
                <a:lnTo>
                  <a:pt x="88432" y="7791"/>
                </a:lnTo>
                <a:lnTo>
                  <a:pt x="126798" y="160"/>
                </a:lnTo>
                <a:lnTo>
                  <a:pt x="133349" y="0"/>
                </a:lnTo>
                <a:lnTo>
                  <a:pt x="139901" y="160"/>
                </a:lnTo>
                <a:lnTo>
                  <a:pt x="178266" y="7791"/>
                </a:lnTo>
                <a:lnTo>
                  <a:pt x="212793" y="26246"/>
                </a:lnTo>
                <a:lnTo>
                  <a:pt x="240453" y="53905"/>
                </a:lnTo>
                <a:lnTo>
                  <a:pt x="258908" y="88432"/>
                </a:lnTo>
                <a:lnTo>
                  <a:pt x="266539" y="126798"/>
                </a:lnTo>
                <a:lnTo>
                  <a:pt x="266699" y="133349"/>
                </a:lnTo>
                <a:lnTo>
                  <a:pt x="266539" y="139901"/>
                </a:lnTo>
                <a:lnTo>
                  <a:pt x="258908" y="178266"/>
                </a:lnTo>
                <a:lnTo>
                  <a:pt x="240453" y="212792"/>
                </a:lnTo>
                <a:lnTo>
                  <a:pt x="212793" y="240453"/>
                </a:lnTo>
                <a:lnTo>
                  <a:pt x="178266" y="258907"/>
                </a:lnTo>
                <a:lnTo>
                  <a:pt x="139901" y="266539"/>
                </a:lnTo>
                <a:lnTo>
                  <a:pt x="133349" y="266699"/>
                </a:lnTo>
                <a:close/>
              </a:path>
            </a:pathLst>
          </a:custGeom>
          <a:solidFill>
            <a:srgbClr val="0057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882798" y="3882012"/>
            <a:ext cx="101600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0" b="0">
                <a:solidFill>
                  <a:srgbClr val="FFFFFF"/>
                </a:solidFill>
                <a:latin typeface="Ubuntu Light"/>
                <a:cs typeface="Ubuntu Light"/>
              </a:rPr>
              <a:t>5</a:t>
            </a:r>
            <a:endParaRPr sz="1100">
              <a:latin typeface="Ubuntu Light"/>
              <a:cs typeface="Ubuntu Ligh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111250" y="4333557"/>
            <a:ext cx="26333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10">
                <a:solidFill>
                  <a:srgbClr val="333333"/>
                </a:solidFill>
                <a:latin typeface="Roboto"/>
                <a:cs typeface="Roboto"/>
              </a:rPr>
              <a:t>Challenges</a:t>
            </a:r>
            <a:r>
              <a:rPr dirty="0" sz="20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2000" spc="-145">
                <a:solidFill>
                  <a:srgbClr val="333333"/>
                </a:solidFill>
                <a:latin typeface="Roboto"/>
                <a:cs typeface="Roboto"/>
              </a:rPr>
              <a:t>&amp;</a:t>
            </a:r>
            <a:r>
              <a:rPr dirty="0" sz="20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2000" spc="-110">
                <a:solidFill>
                  <a:srgbClr val="333333"/>
                </a:solidFill>
                <a:latin typeface="Roboto"/>
                <a:cs typeface="Roboto"/>
              </a:rPr>
              <a:t>Future</a:t>
            </a:r>
            <a:r>
              <a:rPr dirty="0" sz="20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2000" spc="-100">
                <a:solidFill>
                  <a:srgbClr val="333333"/>
                </a:solidFill>
                <a:latin typeface="Roboto"/>
                <a:cs typeface="Roboto"/>
              </a:rPr>
              <a:t>Work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800099" y="4391024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49" y="266699"/>
                </a:moveTo>
                <a:lnTo>
                  <a:pt x="94639" y="260959"/>
                </a:lnTo>
                <a:lnTo>
                  <a:pt x="59264" y="244226"/>
                </a:lnTo>
                <a:lnTo>
                  <a:pt x="30267" y="217946"/>
                </a:lnTo>
                <a:lnTo>
                  <a:pt x="10150" y="184379"/>
                </a:lnTo>
                <a:lnTo>
                  <a:pt x="640" y="146420"/>
                </a:lnTo>
                <a:lnTo>
                  <a:pt x="0" y="133349"/>
                </a:lnTo>
                <a:lnTo>
                  <a:pt x="160" y="126798"/>
                </a:lnTo>
                <a:lnTo>
                  <a:pt x="7791" y="88432"/>
                </a:lnTo>
                <a:lnTo>
                  <a:pt x="26246" y="53906"/>
                </a:lnTo>
                <a:lnTo>
                  <a:pt x="53906" y="26245"/>
                </a:lnTo>
                <a:lnTo>
                  <a:pt x="88432" y="7791"/>
                </a:lnTo>
                <a:lnTo>
                  <a:pt x="126798" y="160"/>
                </a:lnTo>
                <a:lnTo>
                  <a:pt x="133349" y="0"/>
                </a:lnTo>
                <a:lnTo>
                  <a:pt x="139901" y="160"/>
                </a:lnTo>
                <a:lnTo>
                  <a:pt x="178266" y="7790"/>
                </a:lnTo>
                <a:lnTo>
                  <a:pt x="212793" y="26245"/>
                </a:lnTo>
                <a:lnTo>
                  <a:pt x="240453" y="53905"/>
                </a:lnTo>
                <a:lnTo>
                  <a:pt x="258908" y="88432"/>
                </a:lnTo>
                <a:lnTo>
                  <a:pt x="266539" y="126798"/>
                </a:lnTo>
                <a:lnTo>
                  <a:pt x="266699" y="133349"/>
                </a:lnTo>
                <a:lnTo>
                  <a:pt x="266539" y="139900"/>
                </a:lnTo>
                <a:lnTo>
                  <a:pt x="258908" y="178266"/>
                </a:lnTo>
                <a:lnTo>
                  <a:pt x="240453" y="212792"/>
                </a:lnTo>
                <a:lnTo>
                  <a:pt x="212793" y="240453"/>
                </a:lnTo>
                <a:lnTo>
                  <a:pt x="178266" y="258907"/>
                </a:lnTo>
                <a:lnTo>
                  <a:pt x="139901" y="266539"/>
                </a:lnTo>
                <a:lnTo>
                  <a:pt x="133349" y="266699"/>
                </a:lnTo>
                <a:close/>
              </a:path>
            </a:pathLst>
          </a:custGeom>
          <a:solidFill>
            <a:srgbClr val="0057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882798" y="4415412"/>
            <a:ext cx="101600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0" b="0">
                <a:solidFill>
                  <a:srgbClr val="FFFFFF"/>
                </a:solidFill>
                <a:latin typeface="Ubuntu Light"/>
                <a:cs typeface="Ubuntu Light"/>
              </a:rPr>
              <a:t>6</a:t>
            </a:r>
            <a:endParaRPr sz="1100">
              <a:latin typeface="Ubuntu Light"/>
              <a:cs typeface="Ubuntu Ligh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111250" y="4866957"/>
            <a:ext cx="254190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10">
                <a:solidFill>
                  <a:srgbClr val="333333"/>
                </a:solidFill>
                <a:latin typeface="Roboto"/>
                <a:cs typeface="Roboto"/>
              </a:rPr>
              <a:t>Conclusion</a:t>
            </a:r>
            <a:r>
              <a:rPr dirty="0" sz="20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2000" spc="-145">
                <a:solidFill>
                  <a:srgbClr val="333333"/>
                </a:solidFill>
                <a:latin typeface="Roboto"/>
                <a:cs typeface="Roboto"/>
              </a:rPr>
              <a:t>&amp;</a:t>
            </a:r>
            <a:r>
              <a:rPr dirty="0" sz="2000" spc="-3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2000" spc="-125">
                <a:solidFill>
                  <a:srgbClr val="333333"/>
                </a:solidFill>
                <a:latin typeface="Roboto"/>
                <a:cs typeface="Roboto"/>
              </a:rPr>
              <a:t>Takeaways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800099" y="4924424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49" y="266699"/>
                </a:moveTo>
                <a:lnTo>
                  <a:pt x="94639" y="260958"/>
                </a:lnTo>
                <a:lnTo>
                  <a:pt x="59264" y="244225"/>
                </a:lnTo>
                <a:lnTo>
                  <a:pt x="30267" y="217946"/>
                </a:lnTo>
                <a:lnTo>
                  <a:pt x="10150" y="184379"/>
                </a:lnTo>
                <a:lnTo>
                  <a:pt x="640" y="146420"/>
                </a:lnTo>
                <a:lnTo>
                  <a:pt x="0" y="133349"/>
                </a:lnTo>
                <a:lnTo>
                  <a:pt x="160" y="126798"/>
                </a:lnTo>
                <a:lnTo>
                  <a:pt x="7791" y="88432"/>
                </a:lnTo>
                <a:lnTo>
                  <a:pt x="26246" y="53906"/>
                </a:lnTo>
                <a:lnTo>
                  <a:pt x="53906" y="26246"/>
                </a:lnTo>
                <a:lnTo>
                  <a:pt x="88432" y="7791"/>
                </a:lnTo>
                <a:lnTo>
                  <a:pt x="126798" y="160"/>
                </a:lnTo>
                <a:lnTo>
                  <a:pt x="133349" y="0"/>
                </a:lnTo>
                <a:lnTo>
                  <a:pt x="139901" y="160"/>
                </a:lnTo>
                <a:lnTo>
                  <a:pt x="178266" y="7791"/>
                </a:lnTo>
                <a:lnTo>
                  <a:pt x="212793" y="26246"/>
                </a:lnTo>
                <a:lnTo>
                  <a:pt x="240453" y="53906"/>
                </a:lnTo>
                <a:lnTo>
                  <a:pt x="258908" y="88432"/>
                </a:lnTo>
                <a:lnTo>
                  <a:pt x="266539" y="126798"/>
                </a:lnTo>
                <a:lnTo>
                  <a:pt x="266699" y="133349"/>
                </a:lnTo>
                <a:lnTo>
                  <a:pt x="266539" y="139901"/>
                </a:lnTo>
                <a:lnTo>
                  <a:pt x="258908" y="178266"/>
                </a:lnTo>
                <a:lnTo>
                  <a:pt x="240453" y="212792"/>
                </a:lnTo>
                <a:lnTo>
                  <a:pt x="212793" y="240453"/>
                </a:lnTo>
                <a:lnTo>
                  <a:pt x="178266" y="258907"/>
                </a:lnTo>
                <a:lnTo>
                  <a:pt x="139901" y="266539"/>
                </a:lnTo>
                <a:lnTo>
                  <a:pt x="133349" y="266699"/>
                </a:lnTo>
                <a:close/>
              </a:path>
            </a:pathLst>
          </a:custGeom>
          <a:solidFill>
            <a:srgbClr val="0057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882798" y="4948812"/>
            <a:ext cx="101600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0" b="0">
                <a:solidFill>
                  <a:srgbClr val="FFFFFF"/>
                </a:solidFill>
                <a:latin typeface="Ubuntu Light"/>
                <a:cs typeface="Ubuntu Light"/>
              </a:rPr>
              <a:t>7</a:t>
            </a:r>
            <a:endParaRPr sz="1100">
              <a:latin typeface="Ubuntu Light"/>
              <a:cs typeface="Ubuntu Light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111250" y="5400357"/>
            <a:ext cx="4743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14">
                <a:solidFill>
                  <a:srgbClr val="333333"/>
                </a:solidFill>
                <a:latin typeface="Roboto"/>
                <a:cs typeface="Roboto"/>
              </a:rPr>
              <a:t>Q&amp;A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28" name="object 28" descr=""/>
          <p:cNvSpPr/>
          <p:nvPr/>
        </p:nvSpPr>
        <p:spPr>
          <a:xfrm>
            <a:off x="800099" y="5457824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49" y="266699"/>
                </a:moveTo>
                <a:lnTo>
                  <a:pt x="94639" y="260959"/>
                </a:lnTo>
                <a:lnTo>
                  <a:pt x="59264" y="244226"/>
                </a:lnTo>
                <a:lnTo>
                  <a:pt x="30267" y="217947"/>
                </a:lnTo>
                <a:lnTo>
                  <a:pt x="10150" y="184380"/>
                </a:lnTo>
                <a:lnTo>
                  <a:pt x="640" y="146420"/>
                </a:lnTo>
                <a:lnTo>
                  <a:pt x="0" y="133349"/>
                </a:lnTo>
                <a:lnTo>
                  <a:pt x="160" y="126798"/>
                </a:lnTo>
                <a:lnTo>
                  <a:pt x="7791" y="88432"/>
                </a:lnTo>
                <a:lnTo>
                  <a:pt x="26246" y="53906"/>
                </a:lnTo>
                <a:lnTo>
                  <a:pt x="53906" y="26245"/>
                </a:lnTo>
                <a:lnTo>
                  <a:pt x="88432" y="7791"/>
                </a:lnTo>
                <a:lnTo>
                  <a:pt x="126798" y="160"/>
                </a:lnTo>
                <a:lnTo>
                  <a:pt x="133349" y="0"/>
                </a:lnTo>
                <a:lnTo>
                  <a:pt x="139901" y="160"/>
                </a:lnTo>
                <a:lnTo>
                  <a:pt x="178266" y="7791"/>
                </a:lnTo>
                <a:lnTo>
                  <a:pt x="212793" y="26245"/>
                </a:lnTo>
                <a:lnTo>
                  <a:pt x="240453" y="53905"/>
                </a:lnTo>
                <a:lnTo>
                  <a:pt x="258908" y="88432"/>
                </a:lnTo>
                <a:lnTo>
                  <a:pt x="266539" y="126798"/>
                </a:lnTo>
                <a:lnTo>
                  <a:pt x="266699" y="133349"/>
                </a:lnTo>
                <a:lnTo>
                  <a:pt x="266539" y="139901"/>
                </a:lnTo>
                <a:lnTo>
                  <a:pt x="258908" y="178266"/>
                </a:lnTo>
                <a:lnTo>
                  <a:pt x="240453" y="212793"/>
                </a:lnTo>
                <a:lnTo>
                  <a:pt x="212793" y="240453"/>
                </a:lnTo>
                <a:lnTo>
                  <a:pt x="178266" y="258908"/>
                </a:lnTo>
                <a:lnTo>
                  <a:pt x="139901" y="266539"/>
                </a:lnTo>
                <a:lnTo>
                  <a:pt x="133349" y="266699"/>
                </a:lnTo>
                <a:close/>
              </a:path>
            </a:pathLst>
          </a:custGeom>
          <a:solidFill>
            <a:srgbClr val="0057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 txBox="1"/>
          <p:nvPr/>
        </p:nvSpPr>
        <p:spPr>
          <a:xfrm>
            <a:off x="882798" y="5482212"/>
            <a:ext cx="101600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0" b="0">
                <a:solidFill>
                  <a:srgbClr val="FFFFFF"/>
                </a:solidFill>
                <a:latin typeface="Ubuntu Light"/>
                <a:cs typeface="Ubuntu Light"/>
              </a:rPr>
              <a:t>8</a:t>
            </a:r>
            <a:endParaRPr sz="1100">
              <a:latin typeface="Ubuntu Light"/>
              <a:cs typeface="Ubuntu Light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10544174" y="6343649"/>
            <a:ext cx="1457325" cy="323850"/>
            <a:chOff x="10544174" y="6343649"/>
            <a:chExt cx="1457325" cy="323850"/>
          </a:xfrm>
        </p:grpSpPr>
        <p:sp>
          <p:nvSpPr>
            <p:cNvPr id="31" name="object 31" descr=""/>
            <p:cNvSpPr/>
            <p:nvPr/>
          </p:nvSpPr>
          <p:spPr>
            <a:xfrm>
              <a:off x="10544174" y="63436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584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33" name="object 3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94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155"/>
              <a:t>Gens</a:t>
            </a:r>
            <a:fld id="{81D60167-4931-47E6-BA6A-407CBD079E47}" type="slidenum">
              <a:rPr dirty="0" baseline="-12626" sz="1650" spc="-232">
                <a:solidFill>
                  <a:srgbClr val="545454"/>
                </a:solidFill>
                <a:latin typeface="Eras Medium ITC"/>
                <a:cs typeface="Eras Medium ITC"/>
              </a:rPr>
              <a:t>2</a:t>
            </a:fld>
            <a:r>
              <a:rPr dirty="0" sz="1000" spc="-155"/>
              <a:t>pa</a:t>
            </a:r>
            <a:r>
              <a:rPr dirty="0" baseline="-12626" sz="1650" spc="-232">
                <a:solidFill>
                  <a:srgbClr val="545454"/>
                </a:solidFill>
                <a:latin typeface="Eras Medium ITC"/>
                <a:cs typeface="Eras Medium ITC"/>
              </a:rPr>
              <a:t>/</a:t>
            </a:r>
            <a:r>
              <a:rPr dirty="0" sz="1000" spc="-155"/>
              <a:t>rk</a:t>
            </a:r>
            <a:r>
              <a:rPr dirty="0" baseline="-12626" sz="1650" spc="-232">
                <a:solidFill>
                  <a:srgbClr val="545454"/>
                </a:solidFill>
                <a:latin typeface="Eras Medium ITC"/>
                <a:cs typeface="Eras Medium ITC"/>
              </a:rPr>
              <a:t>10</a:t>
            </a:r>
            <a:endParaRPr baseline="-12626" sz="1650">
              <a:latin typeface="Eras Medium ITC"/>
              <a:cs typeface="Eras Medium IT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0010" rIns="0" bIns="0" rtlCol="0" vert="horz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dirty="0" sz="2500" spc="-135"/>
              <a:t>Introduction</a:t>
            </a:r>
            <a:r>
              <a:rPr dirty="0" sz="2500" spc="-15"/>
              <a:t> </a:t>
            </a:r>
            <a:r>
              <a:rPr dirty="0" sz="2500" spc="-170"/>
              <a:t>&amp;</a:t>
            </a:r>
            <a:r>
              <a:rPr dirty="0" sz="2500" spc="-10"/>
              <a:t> </a:t>
            </a:r>
            <a:r>
              <a:rPr dirty="0" sz="2500" spc="-114"/>
              <a:t>Motivation</a:t>
            </a:r>
            <a:endParaRPr sz="25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1409699"/>
            <a:ext cx="190499" cy="19049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915987" y="1300749"/>
            <a:ext cx="6029325" cy="32353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6195" marR="139065">
              <a:lnSpc>
                <a:spcPct val="107600"/>
              </a:lnSpc>
              <a:spcBef>
                <a:spcPts val="90"/>
              </a:spcBef>
            </a:pPr>
            <a:r>
              <a:rPr dirty="0" sz="1800" spc="-95">
                <a:solidFill>
                  <a:srgbClr val="333333"/>
                </a:solidFill>
                <a:latin typeface="Roboto"/>
                <a:cs typeface="Roboto"/>
              </a:rPr>
              <a:t>Growing</a:t>
            </a:r>
            <a:r>
              <a:rPr dirty="0" sz="18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75">
                <a:solidFill>
                  <a:srgbClr val="333333"/>
                </a:solidFill>
                <a:latin typeface="Roboto"/>
                <a:cs typeface="Roboto"/>
              </a:rPr>
              <a:t>integration</a:t>
            </a:r>
            <a:r>
              <a:rPr dirty="0" sz="18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75">
                <a:solidFill>
                  <a:srgbClr val="333333"/>
                </a:solidFill>
                <a:latin typeface="Roboto"/>
                <a:cs typeface="Roboto"/>
              </a:rPr>
              <a:t>of</a:t>
            </a:r>
            <a:r>
              <a:rPr dirty="0" sz="18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5">
                <a:solidFill>
                  <a:srgbClr val="333333"/>
                </a:solidFill>
                <a:latin typeface="Roboto"/>
                <a:cs typeface="Roboto"/>
              </a:rPr>
              <a:t>renewables</a:t>
            </a:r>
            <a:r>
              <a:rPr dirty="0" sz="18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5">
                <a:solidFill>
                  <a:srgbClr val="333333"/>
                </a:solidFill>
                <a:latin typeface="Roboto"/>
                <a:cs typeface="Roboto"/>
              </a:rPr>
              <a:t>(solar,</a:t>
            </a:r>
            <a:r>
              <a:rPr dirty="0" sz="18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0">
                <a:solidFill>
                  <a:srgbClr val="333333"/>
                </a:solidFill>
                <a:latin typeface="Roboto"/>
                <a:cs typeface="Roboto"/>
              </a:rPr>
              <a:t>wind)</a:t>
            </a:r>
            <a:r>
              <a:rPr dirty="0" sz="18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5">
                <a:solidFill>
                  <a:srgbClr val="333333"/>
                </a:solidFill>
                <a:latin typeface="Roboto"/>
                <a:cs typeface="Roboto"/>
              </a:rPr>
              <a:t>introduces</a:t>
            </a:r>
            <a:r>
              <a:rPr dirty="0" sz="18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25">
                <a:solidFill>
                  <a:srgbClr val="333333"/>
                </a:solidFill>
                <a:latin typeface="Roboto"/>
                <a:cs typeface="Roboto"/>
              </a:rPr>
              <a:t>new </a:t>
            </a:r>
            <a:r>
              <a:rPr dirty="0" sz="1800" spc="-65">
                <a:solidFill>
                  <a:srgbClr val="333333"/>
                </a:solidFill>
                <a:latin typeface="Roboto"/>
                <a:cs typeface="Roboto"/>
              </a:rPr>
              <a:t>grid</a:t>
            </a:r>
            <a:r>
              <a:rPr dirty="0" sz="1800" spc="-3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0">
                <a:solidFill>
                  <a:srgbClr val="333333"/>
                </a:solidFill>
                <a:latin typeface="Roboto"/>
                <a:cs typeface="Roboto"/>
              </a:rPr>
              <a:t>challenges</a:t>
            </a:r>
            <a:r>
              <a:rPr dirty="0" sz="1800" spc="-2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75">
                <a:solidFill>
                  <a:srgbClr val="333333"/>
                </a:solidFill>
                <a:latin typeface="Roboto"/>
                <a:cs typeface="Roboto"/>
              </a:rPr>
              <a:t>with</a:t>
            </a:r>
            <a:r>
              <a:rPr dirty="0" sz="1800" spc="-3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70">
                <a:solidFill>
                  <a:srgbClr val="333333"/>
                </a:solidFill>
                <a:latin typeface="Roboto"/>
                <a:cs typeface="Roboto"/>
              </a:rPr>
              <a:t>intermittent</a:t>
            </a:r>
            <a:r>
              <a:rPr dirty="0" sz="1800" spc="-2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0">
                <a:solidFill>
                  <a:srgbClr val="333333"/>
                </a:solidFill>
                <a:latin typeface="Roboto"/>
                <a:cs typeface="Roboto"/>
              </a:rPr>
              <a:t>generation</a:t>
            </a:r>
            <a:r>
              <a:rPr dirty="0" sz="1800" spc="-3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90">
                <a:solidFill>
                  <a:srgbClr val="333333"/>
                </a:solidFill>
                <a:latin typeface="Roboto"/>
                <a:cs typeface="Roboto"/>
              </a:rPr>
              <a:t>and</a:t>
            </a:r>
            <a:r>
              <a:rPr dirty="0" sz="1800" spc="-2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333333"/>
                </a:solidFill>
                <a:latin typeface="Roboto"/>
                <a:cs typeface="Roboto"/>
              </a:rPr>
              <a:t>power </a:t>
            </a:r>
            <a:r>
              <a:rPr dirty="0" sz="1800" spc="-80">
                <a:solidFill>
                  <a:srgbClr val="333333"/>
                </a:solidFill>
                <a:latin typeface="Roboto"/>
                <a:cs typeface="Roboto"/>
              </a:rPr>
              <a:t>electronic</a:t>
            </a:r>
            <a:r>
              <a:rPr dirty="0" sz="1800" spc="4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333333"/>
                </a:solidFill>
                <a:latin typeface="Roboto"/>
                <a:cs typeface="Roboto"/>
              </a:rPr>
              <a:t>interfaces</a:t>
            </a:r>
            <a:endParaRPr sz="1800">
              <a:latin typeface="Roboto"/>
              <a:cs typeface="Roboto"/>
            </a:endParaRPr>
          </a:p>
          <a:p>
            <a:pPr marL="12700" marR="81280">
              <a:lnSpc>
                <a:spcPct val="107600"/>
              </a:lnSpc>
              <a:spcBef>
                <a:spcPts val="1430"/>
              </a:spcBef>
            </a:pPr>
            <a:r>
              <a:rPr dirty="0" sz="1800" spc="-100">
                <a:solidFill>
                  <a:srgbClr val="333333"/>
                </a:solidFill>
                <a:latin typeface="Roboto"/>
                <a:cs typeface="Roboto"/>
              </a:rPr>
              <a:t>Power</a:t>
            </a:r>
            <a:r>
              <a:rPr dirty="0" sz="18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75">
                <a:solidFill>
                  <a:srgbClr val="333333"/>
                </a:solidFill>
                <a:latin typeface="Roboto"/>
                <a:cs typeface="Roboto"/>
              </a:rPr>
              <a:t>quality</a:t>
            </a:r>
            <a:r>
              <a:rPr dirty="0" sz="18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5">
                <a:solidFill>
                  <a:srgbClr val="333333"/>
                </a:solidFill>
                <a:latin typeface="Roboto"/>
                <a:cs typeface="Roboto"/>
              </a:rPr>
              <a:t>concerns:</a:t>
            </a:r>
            <a:r>
              <a:rPr dirty="0" sz="18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90">
                <a:solidFill>
                  <a:srgbClr val="333333"/>
                </a:solidFill>
                <a:latin typeface="Roboto"/>
                <a:cs typeface="Roboto"/>
              </a:rPr>
              <a:t>Voltage</a:t>
            </a:r>
            <a:r>
              <a:rPr dirty="0" sz="18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70">
                <a:solidFill>
                  <a:srgbClr val="333333"/>
                </a:solidFill>
                <a:latin typeface="Roboto"/>
                <a:cs typeface="Roboto"/>
              </a:rPr>
              <a:t>fluctuations,</a:t>
            </a:r>
            <a:r>
              <a:rPr dirty="0" sz="18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0">
                <a:solidFill>
                  <a:srgbClr val="333333"/>
                </a:solidFill>
                <a:latin typeface="Roboto"/>
                <a:cs typeface="Roboto"/>
              </a:rPr>
              <a:t>poor</a:t>
            </a:r>
            <a:r>
              <a:rPr dirty="0" sz="18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95">
                <a:solidFill>
                  <a:srgbClr val="333333"/>
                </a:solidFill>
                <a:latin typeface="Roboto"/>
                <a:cs typeface="Roboto"/>
              </a:rPr>
              <a:t>power</a:t>
            </a:r>
            <a:r>
              <a:rPr dirty="0" sz="18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50">
                <a:solidFill>
                  <a:srgbClr val="333333"/>
                </a:solidFill>
                <a:latin typeface="Roboto"/>
                <a:cs typeface="Roboto"/>
              </a:rPr>
              <a:t>factor, </a:t>
            </a:r>
            <a:r>
              <a:rPr dirty="0" sz="1800" spc="-85">
                <a:solidFill>
                  <a:srgbClr val="333333"/>
                </a:solidFill>
                <a:latin typeface="Roboto"/>
                <a:cs typeface="Roboto"/>
              </a:rPr>
              <a:t>high</a:t>
            </a:r>
            <a:r>
              <a:rPr dirty="0" sz="1800" spc="-5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114">
                <a:solidFill>
                  <a:srgbClr val="333333"/>
                </a:solidFill>
                <a:latin typeface="Roboto"/>
                <a:cs typeface="Roboto"/>
              </a:rPr>
              <a:t>THD</a:t>
            </a:r>
            <a:r>
              <a:rPr dirty="0" sz="1800" spc="-2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90">
                <a:solidFill>
                  <a:srgbClr val="333333"/>
                </a:solidFill>
                <a:latin typeface="Roboto"/>
                <a:cs typeface="Roboto"/>
              </a:rPr>
              <a:t>impact</a:t>
            </a:r>
            <a:r>
              <a:rPr dirty="0" sz="1800" spc="-2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65">
                <a:solidFill>
                  <a:srgbClr val="333333"/>
                </a:solidFill>
                <a:latin typeface="Roboto"/>
                <a:cs typeface="Roboto"/>
              </a:rPr>
              <a:t>grid</a:t>
            </a:r>
            <a:r>
              <a:rPr dirty="0" sz="18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60">
                <a:solidFill>
                  <a:srgbClr val="333333"/>
                </a:solidFill>
                <a:latin typeface="Roboto"/>
                <a:cs typeface="Roboto"/>
              </a:rPr>
              <a:t>stability</a:t>
            </a:r>
            <a:r>
              <a:rPr dirty="0" sz="1800" spc="-2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90">
                <a:solidFill>
                  <a:srgbClr val="333333"/>
                </a:solidFill>
                <a:latin typeface="Roboto"/>
                <a:cs typeface="Roboto"/>
              </a:rPr>
              <a:t>and</a:t>
            </a:r>
            <a:r>
              <a:rPr dirty="0" sz="1800" spc="-2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5">
                <a:solidFill>
                  <a:srgbClr val="333333"/>
                </a:solidFill>
                <a:latin typeface="Roboto"/>
                <a:cs typeface="Roboto"/>
              </a:rPr>
              <a:t>equipment</a:t>
            </a:r>
            <a:r>
              <a:rPr dirty="0" sz="18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333333"/>
                </a:solidFill>
                <a:latin typeface="Roboto"/>
                <a:cs typeface="Roboto"/>
              </a:rPr>
              <a:t>lifespan</a:t>
            </a:r>
            <a:endParaRPr sz="1800">
              <a:latin typeface="Roboto"/>
              <a:cs typeface="Roboto"/>
            </a:endParaRPr>
          </a:p>
          <a:p>
            <a:pPr marL="83820" marR="5080">
              <a:lnSpc>
                <a:spcPct val="107600"/>
              </a:lnSpc>
              <a:spcBef>
                <a:spcPts val="1500"/>
              </a:spcBef>
            </a:pPr>
            <a:r>
              <a:rPr dirty="0" sz="1800" spc="-100">
                <a:solidFill>
                  <a:srgbClr val="333333"/>
                </a:solidFill>
                <a:latin typeface="Roboto"/>
                <a:cs typeface="Roboto"/>
              </a:rPr>
              <a:t>Need</a:t>
            </a:r>
            <a:r>
              <a:rPr dirty="0" sz="18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70">
                <a:solidFill>
                  <a:srgbClr val="333333"/>
                </a:solidFill>
                <a:latin typeface="Roboto"/>
                <a:cs typeface="Roboto"/>
              </a:rPr>
              <a:t>for</a:t>
            </a:r>
            <a:r>
              <a:rPr dirty="0" sz="18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0">
                <a:solidFill>
                  <a:srgbClr val="333333"/>
                </a:solidFill>
                <a:latin typeface="Roboto"/>
                <a:cs typeface="Roboto"/>
              </a:rPr>
              <a:t>unified,</a:t>
            </a:r>
            <a:r>
              <a:rPr dirty="0" sz="18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5">
                <a:solidFill>
                  <a:srgbClr val="333333"/>
                </a:solidFill>
                <a:latin typeface="Roboto"/>
                <a:cs typeface="Roboto"/>
              </a:rPr>
              <a:t>robust</a:t>
            </a:r>
            <a:r>
              <a:rPr dirty="0" sz="18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0">
                <a:solidFill>
                  <a:srgbClr val="333333"/>
                </a:solidFill>
                <a:latin typeface="Roboto"/>
                <a:cs typeface="Roboto"/>
              </a:rPr>
              <a:t>control</a:t>
            </a:r>
            <a:r>
              <a:rPr dirty="0" sz="18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0">
                <a:solidFill>
                  <a:srgbClr val="333333"/>
                </a:solidFill>
                <a:latin typeface="Roboto"/>
                <a:cs typeface="Roboto"/>
              </a:rPr>
              <a:t>solutions</a:t>
            </a:r>
            <a:r>
              <a:rPr dirty="0" sz="18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75">
                <a:solidFill>
                  <a:srgbClr val="333333"/>
                </a:solidFill>
                <a:latin typeface="Roboto"/>
                <a:cs typeface="Roboto"/>
              </a:rPr>
              <a:t>to</a:t>
            </a:r>
            <a:r>
              <a:rPr dirty="0" sz="18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90">
                <a:solidFill>
                  <a:srgbClr val="333333"/>
                </a:solidFill>
                <a:latin typeface="Roboto"/>
                <a:cs typeface="Roboto"/>
              </a:rPr>
              <a:t>ensure</a:t>
            </a:r>
            <a:r>
              <a:rPr dirty="0" sz="18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65">
                <a:solidFill>
                  <a:srgbClr val="333333"/>
                </a:solidFill>
                <a:latin typeface="Roboto"/>
                <a:cs typeface="Roboto"/>
              </a:rPr>
              <a:t>grid</a:t>
            </a:r>
            <a:r>
              <a:rPr dirty="0" sz="18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50">
                <a:solidFill>
                  <a:srgbClr val="333333"/>
                </a:solidFill>
                <a:latin typeface="Roboto"/>
                <a:cs typeface="Roboto"/>
              </a:rPr>
              <a:t>stability, </a:t>
            </a:r>
            <a:r>
              <a:rPr dirty="0" sz="1800" spc="-75">
                <a:solidFill>
                  <a:srgbClr val="333333"/>
                </a:solidFill>
                <a:latin typeface="Roboto"/>
                <a:cs typeface="Roboto"/>
              </a:rPr>
              <a:t>regulatory</a:t>
            </a:r>
            <a:r>
              <a:rPr dirty="0" sz="18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0">
                <a:solidFill>
                  <a:srgbClr val="333333"/>
                </a:solidFill>
                <a:latin typeface="Roboto"/>
                <a:cs typeface="Roboto"/>
              </a:rPr>
              <a:t>compliance,</a:t>
            </a:r>
            <a:r>
              <a:rPr dirty="0" sz="18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90">
                <a:solidFill>
                  <a:srgbClr val="333333"/>
                </a:solidFill>
                <a:latin typeface="Roboto"/>
                <a:cs typeface="Roboto"/>
              </a:rPr>
              <a:t>and</a:t>
            </a:r>
            <a:r>
              <a:rPr dirty="0" sz="18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5">
                <a:solidFill>
                  <a:srgbClr val="333333"/>
                </a:solidFill>
                <a:latin typeface="Roboto"/>
                <a:cs typeface="Roboto"/>
              </a:rPr>
              <a:t>optimal</a:t>
            </a:r>
            <a:r>
              <a:rPr dirty="0" sz="18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90">
                <a:solidFill>
                  <a:srgbClr val="333333"/>
                </a:solidFill>
                <a:latin typeface="Roboto"/>
                <a:cs typeface="Roboto"/>
              </a:rPr>
              <a:t>system</a:t>
            </a:r>
            <a:r>
              <a:rPr dirty="0" sz="1800" spc="-10">
                <a:solidFill>
                  <a:srgbClr val="333333"/>
                </a:solidFill>
                <a:latin typeface="Roboto"/>
                <a:cs typeface="Roboto"/>
              </a:rPr>
              <a:t> performance</a:t>
            </a:r>
            <a:endParaRPr sz="1800">
              <a:latin typeface="Roboto"/>
              <a:cs typeface="Roboto"/>
            </a:endParaRPr>
          </a:p>
          <a:p>
            <a:pPr marL="36195" marR="57150">
              <a:lnSpc>
                <a:spcPct val="104200"/>
              </a:lnSpc>
              <a:spcBef>
                <a:spcPts val="1575"/>
              </a:spcBef>
            </a:pPr>
            <a:r>
              <a:rPr dirty="0" sz="1800" spc="-75">
                <a:solidFill>
                  <a:srgbClr val="333333"/>
                </a:solidFill>
                <a:latin typeface="Roboto"/>
                <a:cs typeface="Roboto"/>
              </a:rPr>
              <a:t>Motivation:</a:t>
            </a:r>
            <a:r>
              <a:rPr dirty="0" sz="18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0">
                <a:solidFill>
                  <a:srgbClr val="333333"/>
                </a:solidFill>
                <a:latin typeface="Roboto"/>
                <a:cs typeface="Roboto"/>
              </a:rPr>
              <a:t>Simultaneous</a:t>
            </a:r>
            <a:r>
              <a:rPr dirty="0" sz="18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75">
                <a:solidFill>
                  <a:srgbClr val="333333"/>
                </a:solidFill>
                <a:latin typeface="Roboto"/>
                <a:cs typeface="Roboto"/>
              </a:rPr>
              <a:t>optimization</a:t>
            </a:r>
            <a:r>
              <a:rPr dirty="0" sz="18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75">
                <a:solidFill>
                  <a:srgbClr val="333333"/>
                </a:solidFill>
                <a:latin typeface="Roboto"/>
                <a:cs typeface="Roboto"/>
              </a:rPr>
              <a:t>of</a:t>
            </a:r>
            <a:r>
              <a:rPr dirty="0" sz="18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95">
                <a:solidFill>
                  <a:srgbClr val="333333"/>
                </a:solidFill>
                <a:latin typeface="Roboto"/>
                <a:cs typeface="Roboto"/>
              </a:rPr>
              <a:t>power</a:t>
            </a:r>
            <a:r>
              <a:rPr dirty="0" sz="18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90">
                <a:solidFill>
                  <a:srgbClr val="333333"/>
                </a:solidFill>
                <a:latin typeface="Roboto"/>
                <a:cs typeface="Roboto"/>
              </a:rPr>
              <a:t>factor,</a:t>
            </a:r>
            <a:r>
              <a:rPr dirty="0" sz="18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333333"/>
                </a:solidFill>
                <a:latin typeface="Roboto"/>
                <a:cs typeface="Roboto"/>
              </a:rPr>
              <a:t>voltage </a:t>
            </a:r>
            <a:r>
              <a:rPr dirty="0" sz="1800" spc="-70">
                <a:solidFill>
                  <a:srgbClr val="333333"/>
                </a:solidFill>
                <a:latin typeface="Roboto"/>
                <a:cs typeface="Roboto"/>
              </a:rPr>
              <a:t>regulation,</a:t>
            </a:r>
            <a:r>
              <a:rPr dirty="0" sz="1800" spc="-2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90">
                <a:solidFill>
                  <a:srgbClr val="333333"/>
                </a:solidFill>
                <a:latin typeface="Roboto"/>
                <a:cs typeface="Roboto"/>
              </a:rPr>
              <a:t>and</a:t>
            </a:r>
            <a:r>
              <a:rPr dirty="0" sz="18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90">
                <a:solidFill>
                  <a:srgbClr val="333333"/>
                </a:solidFill>
                <a:latin typeface="Roboto"/>
                <a:cs typeface="Roboto"/>
              </a:rPr>
              <a:t>harmonic</a:t>
            </a:r>
            <a:r>
              <a:rPr dirty="0" sz="18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75">
                <a:solidFill>
                  <a:srgbClr val="333333"/>
                </a:solidFill>
                <a:latin typeface="Roboto"/>
                <a:cs typeface="Roboto"/>
              </a:rPr>
              <a:t>reduction</a:t>
            </a:r>
            <a:r>
              <a:rPr dirty="0" sz="1800" spc="-2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5">
                <a:solidFill>
                  <a:srgbClr val="333333"/>
                </a:solidFill>
                <a:latin typeface="Roboto"/>
                <a:cs typeface="Roboto"/>
              </a:rPr>
              <a:t>under</a:t>
            </a:r>
            <a:r>
              <a:rPr dirty="0" sz="18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5">
                <a:solidFill>
                  <a:srgbClr val="333333"/>
                </a:solidFill>
                <a:latin typeface="Roboto"/>
                <a:cs typeface="Roboto"/>
              </a:rPr>
              <a:t>renewable</a:t>
            </a:r>
            <a:r>
              <a:rPr dirty="0" sz="18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45">
                <a:solidFill>
                  <a:srgbClr val="333333"/>
                </a:solidFill>
                <a:latin typeface="Roboto"/>
                <a:cs typeface="Roboto"/>
              </a:rPr>
              <a:t>uncertainty</a:t>
            </a:r>
            <a:endParaRPr sz="1800">
              <a:latin typeface="Roboto"/>
              <a:cs typeface="Roboto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0501" y="2475495"/>
            <a:ext cx="144884" cy="19250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0195" y="3260526"/>
            <a:ext cx="234408" cy="186853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9746" y="4038600"/>
            <a:ext cx="190206" cy="190499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8086724" y="4591049"/>
            <a:ext cx="2762250" cy="1381125"/>
            <a:chOff x="8086724" y="4591049"/>
            <a:chExt cx="2762250" cy="1381125"/>
          </a:xfrm>
        </p:grpSpPr>
        <p:sp>
          <p:nvSpPr>
            <p:cNvPr id="9" name="object 9" descr=""/>
            <p:cNvSpPr/>
            <p:nvPr/>
          </p:nvSpPr>
          <p:spPr>
            <a:xfrm>
              <a:off x="8105774" y="4591049"/>
              <a:ext cx="2743200" cy="1381125"/>
            </a:xfrm>
            <a:custGeom>
              <a:avLst/>
              <a:gdLst/>
              <a:ahLst/>
              <a:cxnLst/>
              <a:rect l="l" t="t" r="r" b="b"/>
              <a:pathLst>
                <a:path w="2743200" h="1381125">
                  <a:moveTo>
                    <a:pt x="2710150" y="1381124"/>
                  </a:moveTo>
                  <a:lnTo>
                    <a:pt x="0" y="1381124"/>
                  </a:lnTo>
                  <a:lnTo>
                    <a:pt x="0" y="0"/>
                  </a:lnTo>
                  <a:lnTo>
                    <a:pt x="2710150" y="0"/>
                  </a:lnTo>
                  <a:lnTo>
                    <a:pt x="2715009" y="966"/>
                  </a:lnTo>
                  <a:lnTo>
                    <a:pt x="2742231" y="28187"/>
                  </a:lnTo>
                  <a:lnTo>
                    <a:pt x="2743198" y="33047"/>
                  </a:lnTo>
                  <a:lnTo>
                    <a:pt x="2743198" y="1348076"/>
                  </a:lnTo>
                  <a:lnTo>
                    <a:pt x="2715009" y="1380157"/>
                  </a:lnTo>
                  <a:lnTo>
                    <a:pt x="2710150" y="1381124"/>
                  </a:lnTo>
                  <a:close/>
                </a:path>
              </a:pathLst>
            </a:custGeom>
            <a:solidFill>
              <a:srgbClr val="0057A8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8086724" y="4591049"/>
              <a:ext cx="38100" cy="1381125"/>
            </a:xfrm>
            <a:custGeom>
              <a:avLst/>
              <a:gdLst/>
              <a:ahLst/>
              <a:cxnLst/>
              <a:rect l="l" t="t" r="r" b="b"/>
              <a:pathLst>
                <a:path w="38100" h="1381125">
                  <a:moveTo>
                    <a:pt x="38099" y="1381124"/>
                  </a:moveTo>
                  <a:lnTo>
                    <a:pt x="0" y="1381124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381124"/>
                  </a:lnTo>
                  <a:close/>
                </a:path>
              </a:pathLst>
            </a:custGeom>
            <a:solidFill>
              <a:srgbClr val="0057A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8250832" y="4593378"/>
            <a:ext cx="2465070" cy="1231265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dirty="0" sz="1500" spc="-105" b="0">
                <a:solidFill>
                  <a:srgbClr val="002854"/>
                </a:solidFill>
                <a:latin typeface="Roboto Medium"/>
                <a:cs typeface="Roboto Medium"/>
              </a:rPr>
              <a:t>Key</a:t>
            </a:r>
            <a:r>
              <a:rPr dirty="0" sz="1500" spc="-20" b="0">
                <a:solidFill>
                  <a:srgbClr val="002854"/>
                </a:solidFill>
                <a:latin typeface="Roboto Medium"/>
                <a:cs typeface="Roboto Medium"/>
              </a:rPr>
              <a:t> </a:t>
            </a:r>
            <a:r>
              <a:rPr dirty="0" sz="1500" spc="-95" b="0">
                <a:solidFill>
                  <a:srgbClr val="002854"/>
                </a:solidFill>
                <a:latin typeface="Roboto Medium"/>
                <a:cs typeface="Roboto Medium"/>
              </a:rPr>
              <a:t>Technical</a:t>
            </a:r>
            <a:r>
              <a:rPr dirty="0" sz="1500" spc="15" b="0">
                <a:solidFill>
                  <a:srgbClr val="002854"/>
                </a:solidFill>
                <a:latin typeface="Roboto Medium"/>
                <a:cs typeface="Roboto Medium"/>
              </a:rPr>
              <a:t> </a:t>
            </a:r>
            <a:r>
              <a:rPr dirty="0" sz="1500" spc="-10" b="0">
                <a:solidFill>
                  <a:srgbClr val="002854"/>
                </a:solidFill>
                <a:latin typeface="Roboto Medium"/>
                <a:cs typeface="Roboto Medium"/>
              </a:rPr>
              <a:t>Challenges:</a:t>
            </a:r>
            <a:endParaRPr sz="1500">
              <a:latin typeface="Roboto Medium"/>
              <a:cs typeface="Roboto Medium"/>
            </a:endParaRPr>
          </a:p>
          <a:p>
            <a:pPr marL="91440" indent="-78740">
              <a:lnSpc>
                <a:spcPct val="100000"/>
              </a:lnSpc>
              <a:spcBef>
                <a:spcPts val="800"/>
              </a:spcBef>
              <a:buChar char="•"/>
              <a:tabLst>
                <a:tab pos="91440" algn="l"/>
              </a:tabLst>
            </a:pPr>
            <a:r>
              <a:rPr dirty="0" sz="1150" spc="-60">
                <a:solidFill>
                  <a:srgbClr val="374050"/>
                </a:solidFill>
                <a:latin typeface="Roboto"/>
                <a:cs typeface="Roboto"/>
              </a:rPr>
              <a:t>Renewable</a:t>
            </a:r>
            <a:r>
              <a:rPr dirty="0" sz="11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intermittency</a:t>
            </a:r>
            <a:r>
              <a:rPr dirty="0" sz="11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70">
                <a:solidFill>
                  <a:srgbClr val="374050"/>
                </a:solidFill>
                <a:latin typeface="Roboto"/>
                <a:cs typeface="Roboto"/>
              </a:rPr>
              <a:t>&amp;</a:t>
            </a:r>
            <a:r>
              <a:rPr dirty="0" sz="11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74050"/>
                </a:solidFill>
                <a:latin typeface="Roboto"/>
                <a:cs typeface="Roboto"/>
              </a:rPr>
              <a:t>uncertainty</a:t>
            </a:r>
            <a:endParaRPr sz="1150">
              <a:latin typeface="Roboto"/>
              <a:cs typeface="Roboto"/>
            </a:endParaRPr>
          </a:p>
          <a:p>
            <a:pPr marL="91440" indent="-78740">
              <a:lnSpc>
                <a:spcPct val="100000"/>
              </a:lnSpc>
              <a:spcBef>
                <a:spcPts val="120"/>
              </a:spcBef>
              <a:buChar char="•"/>
              <a:tabLst>
                <a:tab pos="91440" algn="l"/>
              </a:tabLst>
            </a:pP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Conflicting</a:t>
            </a:r>
            <a:r>
              <a:rPr dirty="0" sz="1150" spc="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optimization</a:t>
            </a:r>
            <a:r>
              <a:rPr dirty="0" sz="1150" spc="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74050"/>
                </a:solidFill>
                <a:latin typeface="Roboto"/>
                <a:cs typeface="Roboto"/>
              </a:rPr>
              <a:t>objectives</a:t>
            </a:r>
            <a:endParaRPr sz="1150">
              <a:latin typeface="Roboto"/>
              <a:cs typeface="Roboto"/>
            </a:endParaRPr>
          </a:p>
          <a:p>
            <a:pPr marL="91440" indent="-78740">
              <a:lnSpc>
                <a:spcPct val="100000"/>
              </a:lnSpc>
              <a:spcBef>
                <a:spcPts val="120"/>
              </a:spcBef>
              <a:buChar char="•"/>
              <a:tabLst>
                <a:tab pos="91440" algn="l"/>
              </a:tabLst>
            </a:pP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Coordination</a:t>
            </a:r>
            <a:r>
              <a:rPr dirty="0" sz="1150" spc="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of</a:t>
            </a:r>
            <a:r>
              <a:rPr dirty="0" sz="1150" spc="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multiple</a:t>
            </a:r>
            <a:r>
              <a:rPr dirty="0" sz="1150" spc="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control</a:t>
            </a:r>
            <a:r>
              <a:rPr dirty="0" sz="1150" spc="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374050"/>
                </a:solidFill>
                <a:latin typeface="Roboto"/>
                <a:cs typeface="Roboto"/>
              </a:rPr>
              <a:t>devices</a:t>
            </a:r>
            <a:endParaRPr sz="1150">
              <a:latin typeface="Roboto"/>
              <a:cs typeface="Roboto"/>
            </a:endParaRPr>
          </a:p>
          <a:p>
            <a:pPr marL="91440" indent="-78740">
              <a:lnSpc>
                <a:spcPct val="100000"/>
              </a:lnSpc>
              <a:spcBef>
                <a:spcPts val="120"/>
              </a:spcBef>
              <a:buChar char="•"/>
              <a:tabLst>
                <a:tab pos="91440" algn="l"/>
              </a:tabLst>
            </a:pP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Real-</a:t>
            </a:r>
            <a:r>
              <a:rPr dirty="0" sz="1150" spc="-60">
                <a:solidFill>
                  <a:srgbClr val="374050"/>
                </a:solidFill>
                <a:latin typeface="Roboto"/>
                <a:cs typeface="Roboto"/>
              </a:rPr>
              <a:t>time</a:t>
            </a:r>
            <a:r>
              <a:rPr dirty="0" sz="1150" spc="3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computational</a:t>
            </a:r>
            <a:r>
              <a:rPr dirty="0" sz="1150" spc="3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74050"/>
                </a:solidFill>
                <a:latin typeface="Roboto"/>
                <a:cs typeface="Roboto"/>
              </a:rPr>
              <a:t>constraints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0809782" y="500615"/>
            <a:ext cx="1014094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20" b="1">
                <a:solidFill>
                  <a:srgbClr val="6A7280"/>
                </a:solidFill>
                <a:latin typeface="Roboto"/>
                <a:cs typeface="Roboto"/>
              </a:rPr>
              <a:t>IEEE</a:t>
            </a:r>
            <a:r>
              <a:rPr dirty="0" sz="1100" spc="-40" b="1">
                <a:solidFill>
                  <a:srgbClr val="6A7280"/>
                </a:solidFill>
                <a:latin typeface="Roboto"/>
                <a:cs typeface="Roboto"/>
              </a:rPr>
              <a:t> </a:t>
            </a:r>
            <a:r>
              <a:rPr dirty="0" sz="1100" spc="-35" b="1">
                <a:solidFill>
                  <a:srgbClr val="6A7280"/>
                </a:solidFill>
                <a:latin typeface="Roboto"/>
                <a:cs typeface="Roboto"/>
              </a:rPr>
              <a:t>Conference</a:t>
            </a:r>
            <a:endParaRPr sz="1100">
              <a:latin typeface="Roboto"/>
              <a:cs typeface="Roboto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7343774" y="1352549"/>
            <a:ext cx="4238625" cy="2857500"/>
            <a:chOff x="7343774" y="1352549"/>
            <a:chExt cx="4238625" cy="2857500"/>
          </a:xfrm>
        </p:grpSpPr>
        <p:pic>
          <p:nvPicPr>
            <p:cNvPr id="14" name="object 1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43774" y="1352549"/>
              <a:ext cx="4238624" cy="2857499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7343774" y="1352549"/>
              <a:ext cx="4238625" cy="2857500"/>
            </a:xfrm>
            <a:custGeom>
              <a:avLst/>
              <a:gdLst/>
              <a:ahLst/>
              <a:cxnLst/>
              <a:rect l="l" t="t" r="r" b="b"/>
              <a:pathLst>
                <a:path w="4238625" h="2857500">
                  <a:moveTo>
                    <a:pt x="4162424" y="2857499"/>
                  </a:moveTo>
                  <a:lnTo>
                    <a:pt x="76199" y="2857499"/>
                  </a:lnTo>
                  <a:lnTo>
                    <a:pt x="68693" y="2857137"/>
                  </a:lnTo>
                  <a:lnTo>
                    <a:pt x="27882" y="2840232"/>
                  </a:lnTo>
                  <a:lnTo>
                    <a:pt x="3262" y="2803385"/>
                  </a:lnTo>
                  <a:lnTo>
                    <a:pt x="0" y="278129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4162424" y="0"/>
                  </a:lnTo>
                  <a:lnTo>
                    <a:pt x="4204766" y="12829"/>
                  </a:lnTo>
                  <a:lnTo>
                    <a:pt x="4232823" y="47039"/>
                  </a:lnTo>
                  <a:lnTo>
                    <a:pt x="4238624" y="76199"/>
                  </a:lnTo>
                  <a:lnTo>
                    <a:pt x="4238624" y="2781299"/>
                  </a:lnTo>
                  <a:lnTo>
                    <a:pt x="4225793" y="2823641"/>
                  </a:lnTo>
                  <a:lnTo>
                    <a:pt x="4191584" y="2851698"/>
                  </a:lnTo>
                  <a:lnTo>
                    <a:pt x="4162424" y="2857499"/>
                  </a:lnTo>
                  <a:close/>
                </a:path>
              </a:pathLst>
            </a:custGeom>
            <a:solidFill>
              <a:srgbClr val="002854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8910472" y="1714499"/>
              <a:ext cx="1115060" cy="2133600"/>
            </a:xfrm>
            <a:custGeom>
              <a:avLst/>
              <a:gdLst/>
              <a:ahLst/>
              <a:cxnLst/>
              <a:rect l="l" t="t" r="r" b="b"/>
              <a:pathLst>
                <a:path w="1115059" h="2133600">
                  <a:moveTo>
                    <a:pt x="557364" y="1962150"/>
                  </a:moveTo>
                  <a:lnTo>
                    <a:pt x="551243" y="1916595"/>
                  </a:lnTo>
                  <a:lnTo>
                    <a:pt x="533958" y="1875637"/>
                  </a:lnTo>
                  <a:lnTo>
                    <a:pt x="507136" y="1840941"/>
                  </a:lnTo>
                  <a:lnTo>
                    <a:pt x="472440" y="1814118"/>
                  </a:lnTo>
                  <a:lnTo>
                    <a:pt x="431482" y="1796834"/>
                  </a:lnTo>
                  <a:lnTo>
                    <a:pt x="385914" y="1790700"/>
                  </a:lnTo>
                  <a:lnTo>
                    <a:pt x="157314" y="1790700"/>
                  </a:lnTo>
                  <a:lnTo>
                    <a:pt x="135051" y="1795195"/>
                  </a:lnTo>
                  <a:lnTo>
                    <a:pt x="116890" y="1807425"/>
                  </a:lnTo>
                  <a:lnTo>
                    <a:pt x="104660" y="1825586"/>
                  </a:lnTo>
                  <a:lnTo>
                    <a:pt x="100164" y="1847850"/>
                  </a:lnTo>
                  <a:lnTo>
                    <a:pt x="104660" y="1870125"/>
                  </a:lnTo>
                  <a:lnTo>
                    <a:pt x="116890" y="1888286"/>
                  </a:lnTo>
                  <a:lnTo>
                    <a:pt x="135051" y="1900516"/>
                  </a:lnTo>
                  <a:lnTo>
                    <a:pt x="157314" y="1905000"/>
                  </a:lnTo>
                  <a:lnTo>
                    <a:pt x="385914" y="1905000"/>
                  </a:lnTo>
                  <a:lnTo>
                    <a:pt x="408190" y="1909495"/>
                  </a:lnTo>
                  <a:lnTo>
                    <a:pt x="426351" y="1921725"/>
                  </a:lnTo>
                  <a:lnTo>
                    <a:pt x="438581" y="1939886"/>
                  </a:lnTo>
                  <a:lnTo>
                    <a:pt x="443064" y="1962150"/>
                  </a:lnTo>
                  <a:lnTo>
                    <a:pt x="438581" y="1984425"/>
                  </a:lnTo>
                  <a:lnTo>
                    <a:pt x="426351" y="2002586"/>
                  </a:lnTo>
                  <a:lnTo>
                    <a:pt x="408190" y="2014816"/>
                  </a:lnTo>
                  <a:lnTo>
                    <a:pt x="385914" y="2019300"/>
                  </a:lnTo>
                  <a:lnTo>
                    <a:pt x="328764" y="2019300"/>
                  </a:lnTo>
                  <a:lnTo>
                    <a:pt x="306501" y="2023795"/>
                  </a:lnTo>
                  <a:lnTo>
                    <a:pt x="288340" y="2036025"/>
                  </a:lnTo>
                  <a:lnTo>
                    <a:pt x="276110" y="2054186"/>
                  </a:lnTo>
                  <a:lnTo>
                    <a:pt x="271614" y="2076450"/>
                  </a:lnTo>
                  <a:lnTo>
                    <a:pt x="276110" y="2098725"/>
                  </a:lnTo>
                  <a:lnTo>
                    <a:pt x="288340" y="2116886"/>
                  </a:lnTo>
                  <a:lnTo>
                    <a:pt x="306501" y="2129117"/>
                  </a:lnTo>
                  <a:lnTo>
                    <a:pt x="328764" y="2133600"/>
                  </a:lnTo>
                  <a:lnTo>
                    <a:pt x="385914" y="2133600"/>
                  </a:lnTo>
                  <a:lnTo>
                    <a:pt x="431482" y="2127478"/>
                  </a:lnTo>
                  <a:lnTo>
                    <a:pt x="472440" y="2110194"/>
                  </a:lnTo>
                  <a:lnTo>
                    <a:pt x="507136" y="2083371"/>
                  </a:lnTo>
                  <a:lnTo>
                    <a:pt x="533958" y="2048675"/>
                  </a:lnTo>
                  <a:lnTo>
                    <a:pt x="551243" y="2007717"/>
                  </a:lnTo>
                  <a:lnTo>
                    <a:pt x="557364" y="1962150"/>
                  </a:lnTo>
                  <a:close/>
                </a:path>
                <a:path w="1115059" h="2133600">
                  <a:moveTo>
                    <a:pt x="900264" y="1390650"/>
                  </a:moveTo>
                  <a:lnTo>
                    <a:pt x="894143" y="1345095"/>
                  </a:lnTo>
                  <a:lnTo>
                    <a:pt x="876858" y="1304137"/>
                  </a:lnTo>
                  <a:lnTo>
                    <a:pt x="850036" y="1269441"/>
                  </a:lnTo>
                  <a:lnTo>
                    <a:pt x="815340" y="1242618"/>
                  </a:lnTo>
                  <a:lnTo>
                    <a:pt x="774382" y="1225334"/>
                  </a:lnTo>
                  <a:lnTo>
                    <a:pt x="728814" y="1219200"/>
                  </a:lnTo>
                  <a:lnTo>
                    <a:pt x="671664" y="1219200"/>
                  </a:lnTo>
                  <a:lnTo>
                    <a:pt x="649401" y="1223695"/>
                  </a:lnTo>
                  <a:lnTo>
                    <a:pt x="631240" y="1235925"/>
                  </a:lnTo>
                  <a:lnTo>
                    <a:pt x="619010" y="1254086"/>
                  </a:lnTo>
                  <a:lnTo>
                    <a:pt x="614514" y="1276350"/>
                  </a:lnTo>
                  <a:lnTo>
                    <a:pt x="619010" y="1298625"/>
                  </a:lnTo>
                  <a:lnTo>
                    <a:pt x="631240" y="1316786"/>
                  </a:lnTo>
                  <a:lnTo>
                    <a:pt x="649401" y="1329016"/>
                  </a:lnTo>
                  <a:lnTo>
                    <a:pt x="671664" y="1333500"/>
                  </a:lnTo>
                  <a:lnTo>
                    <a:pt x="728814" y="1333500"/>
                  </a:lnTo>
                  <a:lnTo>
                    <a:pt x="751090" y="1337995"/>
                  </a:lnTo>
                  <a:lnTo>
                    <a:pt x="769251" y="1350225"/>
                  </a:lnTo>
                  <a:lnTo>
                    <a:pt x="781481" y="1368386"/>
                  </a:lnTo>
                  <a:lnTo>
                    <a:pt x="785964" y="1390650"/>
                  </a:lnTo>
                  <a:lnTo>
                    <a:pt x="781481" y="1412925"/>
                  </a:lnTo>
                  <a:lnTo>
                    <a:pt x="769251" y="1431086"/>
                  </a:lnTo>
                  <a:lnTo>
                    <a:pt x="751090" y="1443316"/>
                  </a:lnTo>
                  <a:lnTo>
                    <a:pt x="728814" y="1447800"/>
                  </a:lnTo>
                  <a:lnTo>
                    <a:pt x="157314" y="1447800"/>
                  </a:lnTo>
                  <a:lnTo>
                    <a:pt x="135051" y="1452295"/>
                  </a:lnTo>
                  <a:lnTo>
                    <a:pt x="116890" y="1464525"/>
                  </a:lnTo>
                  <a:lnTo>
                    <a:pt x="104660" y="1482686"/>
                  </a:lnTo>
                  <a:lnTo>
                    <a:pt x="100164" y="1504950"/>
                  </a:lnTo>
                  <a:lnTo>
                    <a:pt x="104660" y="1527225"/>
                  </a:lnTo>
                  <a:lnTo>
                    <a:pt x="116890" y="1545386"/>
                  </a:lnTo>
                  <a:lnTo>
                    <a:pt x="135051" y="1557616"/>
                  </a:lnTo>
                  <a:lnTo>
                    <a:pt x="157314" y="1562100"/>
                  </a:lnTo>
                  <a:lnTo>
                    <a:pt x="728814" y="1562100"/>
                  </a:lnTo>
                  <a:lnTo>
                    <a:pt x="774382" y="1555978"/>
                  </a:lnTo>
                  <a:lnTo>
                    <a:pt x="815340" y="1538693"/>
                  </a:lnTo>
                  <a:lnTo>
                    <a:pt x="850036" y="1511871"/>
                  </a:lnTo>
                  <a:lnTo>
                    <a:pt x="876858" y="1477175"/>
                  </a:lnTo>
                  <a:lnTo>
                    <a:pt x="894143" y="1436217"/>
                  </a:lnTo>
                  <a:lnTo>
                    <a:pt x="900264" y="1390650"/>
                  </a:lnTo>
                  <a:close/>
                </a:path>
                <a:path w="1115059" h="2133600">
                  <a:moveTo>
                    <a:pt x="1014564" y="1790700"/>
                  </a:moveTo>
                  <a:lnTo>
                    <a:pt x="1008443" y="1745145"/>
                  </a:lnTo>
                  <a:lnTo>
                    <a:pt x="991158" y="1704187"/>
                  </a:lnTo>
                  <a:lnTo>
                    <a:pt x="964336" y="1669491"/>
                  </a:lnTo>
                  <a:lnTo>
                    <a:pt x="929640" y="1642668"/>
                  </a:lnTo>
                  <a:lnTo>
                    <a:pt x="888682" y="1625384"/>
                  </a:lnTo>
                  <a:lnTo>
                    <a:pt x="843114" y="1619250"/>
                  </a:lnTo>
                  <a:lnTo>
                    <a:pt x="157314" y="1619250"/>
                  </a:lnTo>
                  <a:lnTo>
                    <a:pt x="135051" y="1623745"/>
                  </a:lnTo>
                  <a:lnTo>
                    <a:pt x="116890" y="1635975"/>
                  </a:lnTo>
                  <a:lnTo>
                    <a:pt x="104660" y="1654136"/>
                  </a:lnTo>
                  <a:lnTo>
                    <a:pt x="100164" y="1676400"/>
                  </a:lnTo>
                  <a:lnTo>
                    <a:pt x="104660" y="1698675"/>
                  </a:lnTo>
                  <a:lnTo>
                    <a:pt x="116890" y="1716836"/>
                  </a:lnTo>
                  <a:lnTo>
                    <a:pt x="135051" y="1729066"/>
                  </a:lnTo>
                  <a:lnTo>
                    <a:pt x="157314" y="1733550"/>
                  </a:lnTo>
                  <a:lnTo>
                    <a:pt x="843114" y="1733550"/>
                  </a:lnTo>
                  <a:lnTo>
                    <a:pt x="865390" y="1738045"/>
                  </a:lnTo>
                  <a:lnTo>
                    <a:pt x="883551" y="1750275"/>
                  </a:lnTo>
                  <a:lnTo>
                    <a:pt x="895781" y="1768436"/>
                  </a:lnTo>
                  <a:lnTo>
                    <a:pt x="900264" y="1790700"/>
                  </a:lnTo>
                  <a:lnTo>
                    <a:pt x="895781" y="1812975"/>
                  </a:lnTo>
                  <a:lnTo>
                    <a:pt x="883551" y="1831136"/>
                  </a:lnTo>
                  <a:lnTo>
                    <a:pt x="865390" y="1843366"/>
                  </a:lnTo>
                  <a:lnTo>
                    <a:pt x="843114" y="1847850"/>
                  </a:lnTo>
                  <a:lnTo>
                    <a:pt x="785964" y="1847850"/>
                  </a:lnTo>
                  <a:lnTo>
                    <a:pt x="763701" y="1852345"/>
                  </a:lnTo>
                  <a:lnTo>
                    <a:pt x="745540" y="1864575"/>
                  </a:lnTo>
                  <a:lnTo>
                    <a:pt x="733310" y="1882736"/>
                  </a:lnTo>
                  <a:lnTo>
                    <a:pt x="728814" y="1905000"/>
                  </a:lnTo>
                  <a:lnTo>
                    <a:pt x="733310" y="1927275"/>
                  </a:lnTo>
                  <a:lnTo>
                    <a:pt x="745540" y="1945436"/>
                  </a:lnTo>
                  <a:lnTo>
                    <a:pt x="763701" y="1957666"/>
                  </a:lnTo>
                  <a:lnTo>
                    <a:pt x="785964" y="1962150"/>
                  </a:lnTo>
                  <a:lnTo>
                    <a:pt x="843114" y="1962150"/>
                  </a:lnTo>
                  <a:lnTo>
                    <a:pt x="888682" y="1956028"/>
                  </a:lnTo>
                  <a:lnTo>
                    <a:pt x="929640" y="1938743"/>
                  </a:lnTo>
                  <a:lnTo>
                    <a:pt x="964336" y="1911921"/>
                  </a:lnTo>
                  <a:lnTo>
                    <a:pt x="991158" y="1877225"/>
                  </a:lnTo>
                  <a:lnTo>
                    <a:pt x="1008443" y="1836267"/>
                  </a:lnTo>
                  <a:lnTo>
                    <a:pt x="1014564" y="1790700"/>
                  </a:lnTo>
                  <a:close/>
                </a:path>
                <a:path w="1115059" h="2133600">
                  <a:moveTo>
                    <a:pt x="1114907" y="590384"/>
                  </a:moveTo>
                  <a:lnTo>
                    <a:pt x="1114590" y="571500"/>
                  </a:lnTo>
                  <a:lnTo>
                    <a:pt x="1114221" y="549008"/>
                  </a:lnTo>
                  <a:lnTo>
                    <a:pt x="1081582" y="385762"/>
                  </a:lnTo>
                  <a:lnTo>
                    <a:pt x="1064437" y="300037"/>
                  </a:lnTo>
                  <a:lnTo>
                    <a:pt x="1025042" y="103060"/>
                  </a:lnTo>
                  <a:lnTo>
                    <a:pt x="1022781" y="91808"/>
                  </a:lnTo>
                  <a:lnTo>
                    <a:pt x="1008329" y="54927"/>
                  </a:lnTo>
                  <a:lnTo>
                    <a:pt x="1002068" y="47739"/>
                  </a:lnTo>
                  <a:lnTo>
                    <a:pt x="1002068" y="571500"/>
                  </a:lnTo>
                  <a:lnTo>
                    <a:pt x="794905" y="571500"/>
                  </a:lnTo>
                  <a:lnTo>
                    <a:pt x="776147" y="385762"/>
                  </a:lnTo>
                  <a:lnTo>
                    <a:pt x="964920" y="385762"/>
                  </a:lnTo>
                  <a:lnTo>
                    <a:pt x="1002068" y="571500"/>
                  </a:lnTo>
                  <a:lnTo>
                    <a:pt x="1002068" y="47739"/>
                  </a:lnTo>
                  <a:lnTo>
                    <a:pt x="983043" y="25882"/>
                  </a:lnTo>
                  <a:lnTo>
                    <a:pt x="966533" y="16484"/>
                  </a:lnTo>
                  <a:lnTo>
                    <a:pt x="966533" y="103060"/>
                  </a:lnTo>
                  <a:lnTo>
                    <a:pt x="910805" y="114274"/>
                  </a:lnTo>
                  <a:lnTo>
                    <a:pt x="910628" y="114274"/>
                  </a:lnTo>
                  <a:lnTo>
                    <a:pt x="947775" y="300037"/>
                  </a:lnTo>
                  <a:lnTo>
                    <a:pt x="767575" y="300037"/>
                  </a:lnTo>
                  <a:lnTo>
                    <a:pt x="748995" y="114274"/>
                  </a:lnTo>
                  <a:lnTo>
                    <a:pt x="910628" y="114274"/>
                  </a:lnTo>
                  <a:lnTo>
                    <a:pt x="966533" y="103060"/>
                  </a:lnTo>
                  <a:lnTo>
                    <a:pt x="966533" y="16484"/>
                  </a:lnTo>
                  <a:lnTo>
                    <a:pt x="949604" y="6845"/>
                  </a:lnTo>
                  <a:lnTo>
                    <a:pt x="910628" y="0"/>
                  </a:lnTo>
                  <a:lnTo>
                    <a:pt x="708634" y="0"/>
                  </a:lnTo>
                  <a:lnTo>
                    <a:pt x="708634" y="571500"/>
                  </a:lnTo>
                  <a:lnTo>
                    <a:pt x="406107" y="571500"/>
                  </a:lnTo>
                  <a:lnTo>
                    <a:pt x="424675" y="385762"/>
                  </a:lnTo>
                  <a:lnTo>
                    <a:pt x="690067" y="385762"/>
                  </a:lnTo>
                  <a:lnTo>
                    <a:pt x="708634" y="571500"/>
                  </a:lnTo>
                  <a:lnTo>
                    <a:pt x="708634" y="0"/>
                  </a:lnTo>
                  <a:lnTo>
                    <a:pt x="681494" y="0"/>
                  </a:lnTo>
                  <a:lnTo>
                    <a:pt x="681494" y="300037"/>
                  </a:lnTo>
                  <a:lnTo>
                    <a:pt x="433247" y="300037"/>
                  </a:lnTo>
                  <a:lnTo>
                    <a:pt x="451827" y="114274"/>
                  </a:lnTo>
                  <a:lnTo>
                    <a:pt x="662914" y="114274"/>
                  </a:lnTo>
                  <a:lnTo>
                    <a:pt x="681494" y="300037"/>
                  </a:lnTo>
                  <a:lnTo>
                    <a:pt x="681494" y="0"/>
                  </a:lnTo>
                  <a:lnTo>
                    <a:pt x="365569" y="0"/>
                  </a:lnTo>
                  <a:lnTo>
                    <a:pt x="365569" y="114274"/>
                  </a:lnTo>
                  <a:lnTo>
                    <a:pt x="347167" y="300037"/>
                  </a:lnTo>
                  <a:lnTo>
                    <a:pt x="338594" y="300037"/>
                  </a:lnTo>
                  <a:lnTo>
                    <a:pt x="338594" y="385762"/>
                  </a:lnTo>
                  <a:lnTo>
                    <a:pt x="320014" y="571500"/>
                  </a:lnTo>
                  <a:lnTo>
                    <a:pt x="112674" y="571500"/>
                  </a:lnTo>
                  <a:lnTo>
                    <a:pt x="149821" y="385762"/>
                  </a:lnTo>
                  <a:lnTo>
                    <a:pt x="338594" y="385762"/>
                  </a:lnTo>
                  <a:lnTo>
                    <a:pt x="338594" y="300037"/>
                  </a:lnTo>
                  <a:lnTo>
                    <a:pt x="166966" y="300037"/>
                  </a:lnTo>
                  <a:lnTo>
                    <a:pt x="204114" y="114274"/>
                  </a:lnTo>
                  <a:lnTo>
                    <a:pt x="365569" y="114274"/>
                  </a:lnTo>
                  <a:lnTo>
                    <a:pt x="365569" y="0"/>
                  </a:lnTo>
                  <a:lnTo>
                    <a:pt x="204114" y="0"/>
                  </a:lnTo>
                  <a:lnTo>
                    <a:pt x="165138" y="6845"/>
                  </a:lnTo>
                  <a:lnTo>
                    <a:pt x="131711" y="25882"/>
                  </a:lnTo>
                  <a:lnTo>
                    <a:pt x="106489" y="54927"/>
                  </a:lnTo>
                  <a:lnTo>
                    <a:pt x="92138" y="91808"/>
                  </a:lnTo>
                  <a:lnTo>
                    <a:pt x="698" y="549008"/>
                  </a:lnTo>
                  <a:lnTo>
                    <a:pt x="0" y="590384"/>
                  </a:lnTo>
                  <a:lnTo>
                    <a:pt x="13233" y="627710"/>
                  </a:lnTo>
                  <a:lnTo>
                    <a:pt x="38023" y="658025"/>
                  </a:lnTo>
                  <a:lnTo>
                    <a:pt x="71970" y="678370"/>
                  </a:lnTo>
                  <a:lnTo>
                    <a:pt x="112674" y="685800"/>
                  </a:lnTo>
                  <a:lnTo>
                    <a:pt x="500214" y="685800"/>
                  </a:lnTo>
                  <a:lnTo>
                    <a:pt x="500214" y="800100"/>
                  </a:lnTo>
                  <a:lnTo>
                    <a:pt x="385914" y="800100"/>
                  </a:lnTo>
                  <a:lnTo>
                    <a:pt x="363651" y="804595"/>
                  </a:lnTo>
                  <a:lnTo>
                    <a:pt x="345490" y="816825"/>
                  </a:lnTo>
                  <a:lnTo>
                    <a:pt x="333260" y="834986"/>
                  </a:lnTo>
                  <a:lnTo>
                    <a:pt x="328764" y="857250"/>
                  </a:lnTo>
                  <a:lnTo>
                    <a:pt x="333260" y="879525"/>
                  </a:lnTo>
                  <a:lnTo>
                    <a:pt x="345490" y="897686"/>
                  </a:lnTo>
                  <a:lnTo>
                    <a:pt x="363651" y="909916"/>
                  </a:lnTo>
                  <a:lnTo>
                    <a:pt x="385914" y="914400"/>
                  </a:lnTo>
                  <a:lnTo>
                    <a:pt x="728814" y="914400"/>
                  </a:lnTo>
                  <a:lnTo>
                    <a:pt x="751090" y="909916"/>
                  </a:lnTo>
                  <a:lnTo>
                    <a:pt x="769251" y="897686"/>
                  </a:lnTo>
                  <a:lnTo>
                    <a:pt x="781481" y="879525"/>
                  </a:lnTo>
                  <a:lnTo>
                    <a:pt x="785964" y="857250"/>
                  </a:lnTo>
                  <a:lnTo>
                    <a:pt x="781481" y="834986"/>
                  </a:lnTo>
                  <a:lnTo>
                    <a:pt x="769251" y="816825"/>
                  </a:lnTo>
                  <a:lnTo>
                    <a:pt x="751090" y="804595"/>
                  </a:lnTo>
                  <a:lnTo>
                    <a:pt x="728814" y="800100"/>
                  </a:lnTo>
                  <a:lnTo>
                    <a:pt x="614514" y="800100"/>
                  </a:lnTo>
                  <a:lnTo>
                    <a:pt x="614514" y="685800"/>
                  </a:lnTo>
                  <a:lnTo>
                    <a:pt x="1002068" y="685800"/>
                  </a:lnTo>
                  <a:lnTo>
                    <a:pt x="1042822" y="678370"/>
                  </a:lnTo>
                  <a:lnTo>
                    <a:pt x="1076820" y="658025"/>
                  </a:lnTo>
                  <a:lnTo>
                    <a:pt x="1101648" y="627710"/>
                  </a:lnTo>
                  <a:lnTo>
                    <a:pt x="1114907" y="590384"/>
                  </a:lnTo>
                  <a:close/>
                </a:path>
              </a:pathLst>
            </a:custGeom>
            <a:solidFill>
              <a:srgbClr val="1D3A8A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7" name="object 1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724649"/>
            <a:ext cx="12191999" cy="133349"/>
          </a:xfrm>
          <a:prstGeom prst="rect">
            <a:avLst/>
          </a:prstGeom>
        </p:spPr>
      </p:pic>
      <p:grpSp>
        <p:nvGrpSpPr>
          <p:cNvPr id="18" name="object 18" descr=""/>
          <p:cNvGrpSpPr/>
          <p:nvPr/>
        </p:nvGrpSpPr>
        <p:grpSpPr>
          <a:xfrm>
            <a:off x="10544174" y="6343649"/>
            <a:ext cx="1457325" cy="323850"/>
            <a:chOff x="10544174" y="6343649"/>
            <a:chExt cx="1457325" cy="323850"/>
          </a:xfrm>
        </p:grpSpPr>
        <p:sp>
          <p:nvSpPr>
            <p:cNvPr id="19" name="object 19" descr=""/>
            <p:cNvSpPr/>
            <p:nvPr/>
          </p:nvSpPr>
          <p:spPr>
            <a:xfrm>
              <a:off x="10544174" y="63436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6584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21" name="object 2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94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155"/>
              <a:t>Gens</a:t>
            </a:r>
            <a:fld id="{81D60167-4931-47E6-BA6A-407CBD079E47}" type="slidenum">
              <a:rPr dirty="0" baseline="-12626" sz="1650" spc="-232">
                <a:solidFill>
                  <a:srgbClr val="545454"/>
                </a:solidFill>
                <a:latin typeface="Eras Medium ITC"/>
                <a:cs typeface="Eras Medium ITC"/>
              </a:rPr>
              <a:t>2</a:t>
            </a:fld>
            <a:r>
              <a:rPr dirty="0" sz="1000" spc="-155"/>
              <a:t>pa</a:t>
            </a:r>
            <a:r>
              <a:rPr dirty="0" baseline="-12626" sz="1650" spc="-232">
                <a:solidFill>
                  <a:srgbClr val="545454"/>
                </a:solidFill>
                <a:latin typeface="Eras Medium ITC"/>
                <a:cs typeface="Eras Medium ITC"/>
              </a:rPr>
              <a:t>/</a:t>
            </a:r>
            <a:r>
              <a:rPr dirty="0" sz="1000" spc="-155"/>
              <a:t>rk</a:t>
            </a:r>
            <a:r>
              <a:rPr dirty="0" baseline="-12626" sz="1650" spc="-232">
                <a:solidFill>
                  <a:srgbClr val="545454"/>
                </a:solidFill>
                <a:latin typeface="Eras Medium ITC"/>
                <a:cs typeface="Eras Medium ITC"/>
              </a:rPr>
              <a:t>10</a:t>
            </a:r>
            <a:endParaRPr baseline="-12626" sz="1650">
              <a:latin typeface="Eras Medium ITC"/>
              <a:cs typeface="Eras Medium IT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9902" rIns="0" bIns="0" rtlCol="0" vert="horz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dirty="0" sz="2500" spc="-160"/>
              <a:t>Background</a:t>
            </a:r>
            <a:r>
              <a:rPr dirty="0" sz="2500" spc="-30"/>
              <a:t> </a:t>
            </a:r>
            <a:r>
              <a:rPr dirty="0" sz="2500" spc="-170"/>
              <a:t>&amp;</a:t>
            </a:r>
            <a:r>
              <a:rPr dirty="0" sz="2500" spc="-30"/>
              <a:t> </a:t>
            </a:r>
            <a:r>
              <a:rPr dirty="0" sz="2500" spc="-155"/>
              <a:t>Core</a:t>
            </a:r>
            <a:r>
              <a:rPr dirty="0" sz="2500" spc="-30"/>
              <a:t> </a:t>
            </a:r>
            <a:r>
              <a:rPr dirty="0" sz="2500" spc="-100"/>
              <a:t>Principles</a:t>
            </a:r>
            <a:endParaRPr sz="25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1409290"/>
            <a:ext cx="214349" cy="191541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963612" y="1316275"/>
            <a:ext cx="2974975" cy="3054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800" spc="-105">
                <a:solidFill>
                  <a:srgbClr val="333333"/>
                </a:solidFill>
                <a:latin typeface="Roboto"/>
                <a:cs typeface="Roboto"/>
              </a:rPr>
              <a:t>Key</a:t>
            </a:r>
            <a:r>
              <a:rPr dirty="0" sz="1800" spc="-2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90">
                <a:solidFill>
                  <a:srgbClr val="333333"/>
                </a:solidFill>
                <a:latin typeface="Roboto"/>
                <a:cs typeface="Roboto"/>
              </a:rPr>
              <a:t>components</a:t>
            </a:r>
            <a:r>
              <a:rPr dirty="0" sz="1800" spc="-2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60">
                <a:solidFill>
                  <a:srgbClr val="333333"/>
                </a:solidFill>
                <a:latin typeface="Roboto"/>
                <a:cs typeface="Roboto"/>
              </a:rPr>
              <a:t>in</a:t>
            </a:r>
            <a:r>
              <a:rPr dirty="0" sz="1800" spc="-2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0">
                <a:solidFill>
                  <a:srgbClr val="333333"/>
                </a:solidFill>
                <a:latin typeface="Roboto"/>
                <a:cs typeface="Roboto"/>
              </a:rPr>
              <a:t>smart</a:t>
            </a:r>
            <a:r>
              <a:rPr dirty="0" sz="1800" spc="-2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35">
                <a:solidFill>
                  <a:srgbClr val="333333"/>
                </a:solidFill>
                <a:latin typeface="Roboto"/>
                <a:cs typeface="Roboto"/>
              </a:rPr>
              <a:t>grids:</a:t>
            </a:r>
            <a:endParaRPr sz="1800">
              <a:latin typeface="Roboto"/>
              <a:cs typeface="Roboto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0600" y="1905000"/>
            <a:ext cx="128587" cy="17144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220787" y="1804193"/>
            <a:ext cx="5189220" cy="52768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 marR="5080">
              <a:lnSpc>
                <a:spcPts val="1950"/>
              </a:lnSpc>
              <a:spcBef>
                <a:spcPts val="204"/>
              </a:spcBef>
            </a:pPr>
            <a:r>
              <a:rPr dirty="0" sz="1650" spc="-135">
                <a:solidFill>
                  <a:srgbClr val="444444"/>
                </a:solidFill>
                <a:latin typeface="Roboto"/>
                <a:cs typeface="Roboto"/>
              </a:rPr>
              <a:t>FACTS</a:t>
            </a:r>
            <a:r>
              <a:rPr dirty="0" sz="1650" spc="-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90">
                <a:solidFill>
                  <a:srgbClr val="444444"/>
                </a:solidFill>
                <a:latin typeface="Roboto"/>
                <a:cs typeface="Roboto"/>
              </a:rPr>
              <a:t>Devices</a:t>
            </a:r>
            <a:r>
              <a:rPr dirty="0" sz="165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120">
                <a:solidFill>
                  <a:srgbClr val="444444"/>
                </a:solidFill>
                <a:latin typeface="Roboto"/>
                <a:cs typeface="Roboto"/>
              </a:rPr>
              <a:t>(STATCOM,</a:t>
            </a:r>
            <a:r>
              <a:rPr dirty="0" sz="165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100">
                <a:solidFill>
                  <a:srgbClr val="444444"/>
                </a:solidFill>
                <a:latin typeface="Roboto"/>
                <a:cs typeface="Roboto"/>
              </a:rPr>
              <a:t>UPFC)</a:t>
            </a:r>
            <a:r>
              <a:rPr dirty="0" sz="165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70">
                <a:solidFill>
                  <a:srgbClr val="444444"/>
                </a:solidFill>
                <a:latin typeface="Roboto"/>
                <a:cs typeface="Roboto"/>
              </a:rPr>
              <a:t>for</a:t>
            </a:r>
            <a:r>
              <a:rPr dirty="0" sz="1650" spc="-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80">
                <a:solidFill>
                  <a:srgbClr val="444444"/>
                </a:solidFill>
                <a:latin typeface="Roboto"/>
                <a:cs typeface="Roboto"/>
              </a:rPr>
              <a:t>voltage</a:t>
            </a:r>
            <a:r>
              <a:rPr dirty="0" sz="165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90">
                <a:solidFill>
                  <a:srgbClr val="444444"/>
                </a:solidFill>
                <a:latin typeface="Roboto"/>
                <a:cs typeface="Roboto"/>
              </a:rPr>
              <a:t>and</a:t>
            </a:r>
            <a:r>
              <a:rPr dirty="0" sz="165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90">
                <a:solidFill>
                  <a:srgbClr val="444444"/>
                </a:solidFill>
                <a:latin typeface="Roboto"/>
                <a:cs typeface="Roboto"/>
              </a:rPr>
              <a:t>power</a:t>
            </a:r>
            <a:r>
              <a:rPr dirty="0" sz="165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55">
                <a:solidFill>
                  <a:srgbClr val="444444"/>
                </a:solidFill>
                <a:latin typeface="Roboto"/>
                <a:cs typeface="Roboto"/>
              </a:rPr>
              <a:t>flow </a:t>
            </a:r>
            <a:r>
              <a:rPr dirty="0" sz="1650" spc="-10">
                <a:solidFill>
                  <a:srgbClr val="444444"/>
                </a:solidFill>
                <a:latin typeface="Roboto"/>
                <a:cs typeface="Roboto"/>
              </a:rPr>
              <a:t>regulation</a:t>
            </a:r>
            <a:endParaRPr sz="1650">
              <a:latin typeface="Roboto"/>
              <a:cs typeface="Roboto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0600" y="2544365"/>
            <a:ext cx="171449" cy="150018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1263649" y="2432843"/>
            <a:ext cx="5287645" cy="52768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 marR="5080">
              <a:lnSpc>
                <a:spcPts val="1950"/>
              </a:lnSpc>
              <a:spcBef>
                <a:spcPts val="204"/>
              </a:spcBef>
            </a:pPr>
            <a:r>
              <a:rPr dirty="0" sz="1650" spc="-95">
                <a:solidFill>
                  <a:srgbClr val="444444"/>
                </a:solidFill>
                <a:latin typeface="Roboto"/>
                <a:cs typeface="Roboto"/>
              </a:rPr>
              <a:t>Model</a:t>
            </a:r>
            <a:r>
              <a:rPr dirty="0" sz="1650" spc="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75">
                <a:solidFill>
                  <a:srgbClr val="444444"/>
                </a:solidFill>
                <a:latin typeface="Roboto"/>
                <a:cs typeface="Roboto"/>
              </a:rPr>
              <a:t>Predictive</a:t>
            </a:r>
            <a:r>
              <a:rPr dirty="0" sz="1650" spc="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80">
                <a:solidFill>
                  <a:srgbClr val="444444"/>
                </a:solidFill>
                <a:latin typeface="Roboto"/>
                <a:cs typeface="Roboto"/>
              </a:rPr>
              <a:t>Control</a:t>
            </a:r>
            <a:r>
              <a:rPr dirty="0" sz="1650" spc="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100">
                <a:solidFill>
                  <a:srgbClr val="444444"/>
                </a:solidFill>
                <a:latin typeface="Roboto"/>
                <a:cs typeface="Roboto"/>
              </a:rPr>
              <a:t>(MPC)</a:t>
            </a:r>
            <a:r>
              <a:rPr dirty="0" sz="1650" spc="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70">
                <a:solidFill>
                  <a:srgbClr val="444444"/>
                </a:solidFill>
                <a:latin typeface="Roboto"/>
                <a:cs typeface="Roboto"/>
              </a:rPr>
              <a:t>for</a:t>
            </a:r>
            <a:r>
              <a:rPr dirty="0" sz="1650" spc="1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80">
                <a:solidFill>
                  <a:srgbClr val="444444"/>
                </a:solidFill>
                <a:latin typeface="Roboto"/>
                <a:cs typeface="Roboto"/>
              </a:rPr>
              <a:t>forecast-</a:t>
            </a:r>
            <a:r>
              <a:rPr dirty="0" sz="1650" spc="-75">
                <a:solidFill>
                  <a:srgbClr val="444444"/>
                </a:solidFill>
                <a:latin typeface="Roboto"/>
                <a:cs typeface="Roboto"/>
              </a:rPr>
              <a:t>driven,</a:t>
            </a:r>
            <a:r>
              <a:rPr dirty="0" sz="1650" spc="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60">
                <a:solidFill>
                  <a:srgbClr val="444444"/>
                </a:solidFill>
                <a:latin typeface="Roboto"/>
                <a:cs typeface="Roboto"/>
              </a:rPr>
              <a:t>constraint- </a:t>
            </a:r>
            <a:r>
              <a:rPr dirty="0" sz="1650" spc="-95">
                <a:solidFill>
                  <a:srgbClr val="444444"/>
                </a:solidFill>
                <a:latin typeface="Roboto"/>
                <a:cs typeface="Roboto"/>
              </a:rPr>
              <a:t>aware</a:t>
            </a:r>
            <a:r>
              <a:rPr dirty="0" sz="165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10">
                <a:solidFill>
                  <a:srgbClr val="444444"/>
                </a:solidFill>
                <a:latin typeface="Roboto"/>
                <a:cs typeface="Roboto"/>
              </a:rPr>
              <a:t>control</a:t>
            </a:r>
            <a:endParaRPr sz="1650">
              <a:latin typeface="Roboto"/>
              <a:cs typeface="Roboto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90030" y="3162299"/>
            <a:ext cx="215082" cy="171449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1306512" y="3061493"/>
            <a:ext cx="4874260" cy="52768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 marR="5080">
              <a:lnSpc>
                <a:spcPts val="1950"/>
              </a:lnSpc>
              <a:spcBef>
                <a:spcPts val="204"/>
              </a:spcBef>
            </a:pPr>
            <a:r>
              <a:rPr dirty="0" sz="1650" spc="-70">
                <a:solidFill>
                  <a:srgbClr val="444444"/>
                </a:solidFill>
                <a:latin typeface="Roboto"/>
                <a:cs typeface="Roboto"/>
              </a:rPr>
              <a:t>Multi-</a:t>
            </a:r>
            <a:r>
              <a:rPr dirty="0" sz="1650" spc="-80">
                <a:solidFill>
                  <a:srgbClr val="444444"/>
                </a:solidFill>
                <a:latin typeface="Roboto"/>
                <a:cs typeface="Roboto"/>
              </a:rPr>
              <a:t>objective</a:t>
            </a:r>
            <a:r>
              <a:rPr dirty="0" sz="1650" spc="1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75">
                <a:solidFill>
                  <a:srgbClr val="444444"/>
                </a:solidFill>
                <a:latin typeface="Roboto"/>
                <a:cs typeface="Roboto"/>
              </a:rPr>
              <a:t>Optimization</a:t>
            </a:r>
            <a:r>
              <a:rPr dirty="0" sz="1650" spc="2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90">
                <a:solidFill>
                  <a:srgbClr val="444444"/>
                </a:solidFill>
                <a:latin typeface="Roboto"/>
                <a:cs typeface="Roboto"/>
              </a:rPr>
              <a:t>(NSGA-</a:t>
            </a:r>
            <a:r>
              <a:rPr dirty="0" sz="1650" spc="-40">
                <a:solidFill>
                  <a:srgbClr val="444444"/>
                </a:solidFill>
                <a:latin typeface="Roboto"/>
                <a:cs typeface="Roboto"/>
              </a:rPr>
              <a:t>II,</a:t>
            </a:r>
            <a:r>
              <a:rPr dirty="0" sz="1650" spc="1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85">
                <a:solidFill>
                  <a:srgbClr val="444444"/>
                </a:solidFill>
                <a:latin typeface="Roboto"/>
                <a:cs typeface="Roboto"/>
              </a:rPr>
              <a:t>Hybrid</a:t>
            </a:r>
            <a:r>
              <a:rPr dirty="0" sz="1650" spc="2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90">
                <a:solidFill>
                  <a:srgbClr val="444444"/>
                </a:solidFill>
                <a:latin typeface="Roboto"/>
                <a:cs typeface="Roboto"/>
              </a:rPr>
              <a:t>GA-</a:t>
            </a:r>
            <a:r>
              <a:rPr dirty="0" sz="1650" spc="-100">
                <a:solidFill>
                  <a:srgbClr val="444444"/>
                </a:solidFill>
                <a:latin typeface="Roboto"/>
                <a:cs typeface="Roboto"/>
              </a:rPr>
              <a:t>PSO)</a:t>
            </a:r>
            <a:r>
              <a:rPr dirty="0" sz="1650" spc="1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25">
                <a:solidFill>
                  <a:srgbClr val="444444"/>
                </a:solidFill>
                <a:latin typeface="Roboto"/>
                <a:cs typeface="Roboto"/>
              </a:rPr>
              <a:t>for </a:t>
            </a:r>
            <a:r>
              <a:rPr dirty="0" sz="1650" spc="-75">
                <a:solidFill>
                  <a:srgbClr val="444444"/>
                </a:solidFill>
                <a:latin typeface="Roboto"/>
                <a:cs typeface="Roboto"/>
              </a:rPr>
              <a:t>balancing</a:t>
            </a:r>
            <a:r>
              <a:rPr dirty="0" sz="1650" spc="2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80">
                <a:solidFill>
                  <a:srgbClr val="444444"/>
                </a:solidFill>
                <a:latin typeface="Roboto"/>
                <a:cs typeface="Roboto"/>
              </a:rPr>
              <a:t>trade-</a:t>
            </a:r>
            <a:r>
              <a:rPr dirty="0" sz="1650" spc="-20">
                <a:solidFill>
                  <a:srgbClr val="444444"/>
                </a:solidFill>
                <a:latin typeface="Roboto"/>
                <a:cs typeface="Roboto"/>
              </a:rPr>
              <a:t>offs</a:t>
            </a:r>
            <a:endParaRPr sz="1650">
              <a:latin typeface="Roboto"/>
              <a:cs typeface="Roboto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9599" y="3876675"/>
            <a:ext cx="190499" cy="190499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939800" y="3767724"/>
            <a:ext cx="5504815" cy="6159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7600"/>
              </a:lnSpc>
              <a:spcBef>
                <a:spcPts val="90"/>
              </a:spcBef>
            </a:pPr>
            <a:r>
              <a:rPr dirty="0" sz="1800" spc="-85">
                <a:solidFill>
                  <a:srgbClr val="333333"/>
                </a:solidFill>
                <a:latin typeface="Roboto"/>
                <a:cs typeface="Roboto"/>
              </a:rPr>
              <a:t>Importance</a:t>
            </a:r>
            <a:r>
              <a:rPr dirty="0" sz="18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75">
                <a:solidFill>
                  <a:srgbClr val="333333"/>
                </a:solidFill>
                <a:latin typeface="Roboto"/>
                <a:cs typeface="Roboto"/>
              </a:rPr>
              <a:t>of</a:t>
            </a:r>
            <a:r>
              <a:rPr dirty="0" sz="18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75">
                <a:solidFill>
                  <a:srgbClr val="333333"/>
                </a:solidFill>
                <a:latin typeface="Roboto"/>
                <a:cs typeface="Roboto"/>
              </a:rPr>
              <a:t>real-</a:t>
            </a:r>
            <a:r>
              <a:rPr dirty="0" sz="1800" spc="-85">
                <a:solidFill>
                  <a:srgbClr val="333333"/>
                </a:solidFill>
                <a:latin typeface="Roboto"/>
                <a:cs typeface="Roboto"/>
              </a:rPr>
              <a:t>time</a:t>
            </a:r>
            <a:r>
              <a:rPr dirty="0" sz="18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75">
                <a:solidFill>
                  <a:srgbClr val="333333"/>
                </a:solidFill>
                <a:latin typeface="Roboto"/>
                <a:cs typeface="Roboto"/>
              </a:rPr>
              <a:t>forecasting</a:t>
            </a:r>
            <a:r>
              <a:rPr dirty="0" sz="18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110">
                <a:solidFill>
                  <a:srgbClr val="333333"/>
                </a:solidFill>
                <a:latin typeface="Roboto"/>
                <a:cs typeface="Roboto"/>
              </a:rPr>
              <a:t>&amp;</a:t>
            </a:r>
            <a:r>
              <a:rPr dirty="0" sz="18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5">
                <a:solidFill>
                  <a:srgbClr val="333333"/>
                </a:solidFill>
                <a:latin typeface="Roboto"/>
                <a:cs typeface="Roboto"/>
              </a:rPr>
              <a:t>adaptive</a:t>
            </a:r>
            <a:r>
              <a:rPr dirty="0" sz="18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90">
                <a:solidFill>
                  <a:srgbClr val="333333"/>
                </a:solidFill>
                <a:latin typeface="Roboto"/>
                <a:cs typeface="Roboto"/>
              </a:rPr>
              <a:t>systems</a:t>
            </a:r>
            <a:r>
              <a:rPr dirty="0" sz="18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25">
                <a:solidFill>
                  <a:srgbClr val="333333"/>
                </a:solidFill>
                <a:latin typeface="Roboto"/>
                <a:cs typeface="Roboto"/>
              </a:rPr>
              <a:t>for </a:t>
            </a:r>
            <a:r>
              <a:rPr dirty="0" sz="1800" spc="-85">
                <a:solidFill>
                  <a:srgbClr val="333333"/>
                </a:solidFill>
                <a:latin typeface="Roboto"/>
                <a:cs typeface="Roboto"/>
              </a:rPr>
              <a:t>proactive</a:t>
            </a:r>
            <a:r>
              <a:rPr dirty="0" sz="1800" spc="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95">
                <a:solidFill>
                  <a:srgbClr val="333333"/>
                </a:solidFill>
                <a:latin typeface="Roboto"/>
                <a:cs typeface="Roboto"/>
              </a:rPr>
              <a:t>power</a:t>
            </a:r>
            <a:r>
              <a:rPr dirty="0" sz="1800" spc="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75">
                <a:solidFill>
                  <a:srgbClr val="333333"/>
                </a:solidFill>
                <a:latin typeface="Roboto"/>
                <a:cs typeface="Roboto"/>
              </a:rPr>
              <a:t>quality</a:t>
            </a:r>
            <a:r>
              <a:rPr dirty="0" sz="1800" spc="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333333"/>
                </a:solidFill>
                <a:latin typeface="Roboto"/>
                <a:cs typeface="Roboto"/>
              </a:rPr>
              <a:t>management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7343774" y="1352549"/>
            <a:ext cx="4238625" cy="1304925"/>
            <a:chOff x="7343774" y="1352549"/>
            <a:chExt cx="4238625" cy="1304925"/>
          </a:xfrm>
        </p:grpSpPr>
        <p:sp>
          <p:nvSpPr>
            <p:cNvPr id="14" name="object 14" descr=""/>
            <p:cNvSpPr/>
            <p:nvPr/>
          </p:nvSpPr>
          <p:spPr>
            <a:xfrm>
              <a:off x="7362824" y="1352549"/>
              <a:ext cx="4219575" cy="1304925"/>
            </a:xfrm>
            <a:custGeom>
              <a:avLst/>
              <a:gdLst/>
              <a:ahLst/>
              <a:cxnLst/>
              <a:rect l="l" t="t" r="r" b="b"/>
              <a:pathLst>
                <a:path w="4219575" h="1304925">
                  <a:moveTo>
                    <a:pt x="4148378" y="1304924"/>
                  </a:moveTo>
                  <a:lnTo>
                    <a:pt x="53397" y="1304924"/>
                  </a:lnTo>
                  <a:lnTo>
                    <a:pt x="49681" y="1304436"/>
                  </a:lnTo>
                  <a:lnTo>
                    <a:pt x="14084" y="1279068"/>
                  </a:lnTo>
                  <a:lnTo>
                    <a:pt x="365" y="1238683"/>
                  </a:lnTo>
                  <a:lnTo>
                    <a:pt x="0" y="1233728"/>
                  </a:lnTo>
                  <a:lnTo>
                    <a:pt x="0" y="1228724"/>
                  </a:lnTo>
                  <a:lnTo>
                    <a:pt x="0" y="71196"/>
                  </a:lnTo>
                  <a:lnTo>
                    <a:pt x="11716" y="29705"/>
                  </a:lnTo>
                  <a:lnTo>
                    <a:pt x="42320" y="2440"/>
                  </a:lnTo>
                  <a:lnTo>
                    <a:pt x="53397" y="0"/>
                  </a:lnTo>
                  <a:lnTo>
                    <a:pt x="4148378" y="0"/>
                  </a:lnTo>
                  <a:lnTo>
                    <a:pt x="4189867" y="15621"/>
                  </a:lnTo>
                  <a:lnTo>
                    <a:pt x="4215687" y="51661"/>
                  </a:lnTo>
                  <a:lnTo>
                    <a:pt x="4219574" y="71196"/>
                  </a:lnTo>
                  <a:lnTo>
                    <a:pt x="4219574" y="1233728"/>
                  </a:lnTo>
                  <a:lnTo>
                    <a:pt x="4203951" y="1275219"/>
                  </a:lnTo>
                  <a:lnTo>
                    <a:pt x="4167912" y="1301038"/>
                  </a:lnTo>
                  <a:lnTo>
                    <a:pt x="4153332" y="1304436"/>
                  </a:lnTo>
                  <a:lnTo>
                    <a:pt x="4148378" y="1304924"/>
                  </a:lnTo>
                  <a:close/>
                </a:path>
              </a:pathLst>
            </a:custGeom>
            <a:solidFill>
              <a:srgbClr val="0057A8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343774" y="1352827"/>
              <a:ext cx="70485" cy="1304925"/>
            </a:xfrm>
            <a:custGeom>
              <a:avLst/>
              <a:gdLst/>
              <a:ahLst/>
              <a:cxnLst/>
              <a:rect l="l" t="t" r="r" b="b"/>
              <a:pathLst>
                <a:path w="70484" h="1304925">
                  <a:moveTo>
                    <a:pt x="70449" y="1304369"/>
                  </a:moveTo>
                  <a:lnTo>
                    <a:pt x="33857" y="1291817"/>
                  </a:lnTo>
                  <a:lnTo>
                    <a:pt x="5801" y="1257607"/>
                  </a:lnTo>
                  <a:lnTo>
                    <a:pt x="0" y="1228447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8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1228447"/>
                  </a:lnTo>
                  <a:lnTo>
                    <a:pt x="44514" y="1270789"/>
                  </a:lnTo>
                  <a:lnTo>
                    <a:pt x="66287" y="1302713"/>
                  </a:lnTo>
                  <a:lnTo>
                    <a:pt x="70449" y="1304369"/>
                  </a:lnTo>
                  <a:close/>
                </a:path>
              </a:pathLst>
            </a:custGeom>
            <a:solidFill>
              <a:srgbClr val="0057A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44086" y="1542145"/>
              <a:ext cx="130395" cy="173258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7768778" y="1492011"/>
            <a:ext cx="117792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40" b="0">
                <a:solidFill>
                  <a:srgbClr val="002854"/>
                </a:solidFill>
                <a:latin typeface="Roboto Medium"/>
                <a:cs typeface="Roboto Medium"/>
              </a:rPr>
              <a:t>FACTS</a:t>
            </a:r>
            <a:r>
              <a:rPr dirty="0" sz="1500" b="0">
                <a:solidFill>
                  <a:srgbClr val="002854"/>
                </a:solidFill>
                <a:latin typeface="Roboto Medium"/>
                <a:cs typeface="Roboto Medium"/>
              </a:rPr>
              <a:t> </a:t>
            </a:r>
            <a:r>
              <a:rPr dirty="0" sz="1500" spc="-70" b="0">
                <a:solidFill>
                  <a:srgbClr val="002854"/>
                </a:solidFill>
                <a:latin typeface="Roboto Medium"/>
                <a:cs typeface="Roboto Medium"/>
              </a:rPr>
              <a:t>Devices</a:t>
            </a:r>
            <a:endParaRPr sz="1500">
              <a:latin typeface="Roboto Medium"/>
              <a:cs typeface="Roboto Medium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523509" y="1773808"/>
            <a:ext cx="3907154" cy="7112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0"/>
              </a:spcBef>
            </a:pPr>
            <a:r>
              <a:rPr dirty="0" sz="1300" spc="-40">
                <a:solidFill>
                  <a:srgbClr val="444444"/>
                </a:solidFill>
                <a:latin typeface="Roboto"/>
                <a:cs typeface="Roboto"/>
              </a:rPr>
              <a:t>Static</a:t>
            </a:r>
            <a:r>
              <a:rPr dirty="0" sz="1300" spc="-1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444444"/>
                </a:solidFill>
                <a:latin typeface="Roboto"/>
                <a:cs typeface="Roboto"/>
              </a:rPr>
              <a:t>synchronous</a:t>
            </a:r>
            <a:r>
              <a:rPr dirty="0" sz="1300" spc="-1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444444"/>
                </a:solidFill>
                <a:latin typeface="Roboto"/>
                <a:cs typeface="Roboto"/>
              </a:rPr>
              <a:t>compensators</a:t>
            </a:r>
            <a:r>
              <a:rPr dirty="0" sz="1300" spc="-1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444444"/>
                </a:solidFill>
                <a:latin typeface="Roboto"/>
                <a:cs typeface="Roboto"/>
              </a:rPr>
              <a:t>and</a:t>
            </a:r>
            <a:r>
              <a:rPr dirty="0" sz="1300" spc="-1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444444"/>
                </a:solidFill>
                <a:latin typeface="Roboto"/>
                <a:cs typeface="Roboto"/>
              </a:rPr>
              <a:t>unified</a:t>
            </a:r>
            <a:r>
              <a:rPr dirty="0" sz="1300" spc="-1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444444"/>
                </a:solidFill>
                <a:latin typeface="Roboto"/>
                <a:cs typeface="Roboto"/>
              </a:rPr>
              <a:t>power</a:t>
            </a:r>
            <a:r>
              <a:rPr dirty="0" sz="1300" spc="-1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300" spc="-25">
                <a:solidFill>
                  <a:srgbClr val="444444"/>
                </a:solidFill>
                <a:latin typeface="Roboto"/>
                <a:cs typeface="Roboto"/>
              </a:rPr>
              <a:t>flow </a:t>
            </a:r>
            <a:r>
              <a:rPr dirty="0" sz="1300" spc="-50">
                <a:solidFill>
                  <a:srgbClr val="444444"/>
                </a:solidFill>
                <a:latin typeface="Roboto"/>
                <a:cs typeface="Roboto"/>
              </a:rPr>
              <a:t>controllers</a:t>
            </a:r>
            <a:r>
              <a:rPr dirty="0" sz="1300" spc="-1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444444"/>
                </a:solidFill>
                <a:latin typeface="Roboto"/>
                <a:cs typeface="Roboto"/>
              </a:rPr>
              <a:t>provide</a:t>
            </a:r>
            <a:r>
              <a:rPr dirty="0" sz="1300" spc="-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444444"/>
                </a:solidFill>
                <a:latin typeface="Roboto"/>
                <a:cs typeface="Roboto"/>
              </a:rPr>
              <a:t>dynamic</a:t>
            </a:r>
            <a:r>
              <a:rPr dirty="0" sz="1300" spc="-1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444444"/>
                </a:solidFill>
                <a:latin typeface="Roboto"/>
                <a:cs typeface="Roboto"/>
              </a:rPr>
              <a:t>reactive</a:t>
            </a:r>
            <a:r>
              <a:rPr dirty="0" sz="1300" spc="-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300" spc="-20">
                <a:solidFill>
                  <a:srgbClr val="444444"/>
                </a:solidFill>
                <a:latin typeface="Roboto"/>
                <a:cs typeface="Roboto"/>
              </a:rPr>
              <a:t>power</a:t>
            </a:r>
            <a:r>
              <a:rPr dirty="0" sz="1300" spc="50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444444"/>
                </a:solidFill>
                <a:latin typeface="Roboto"/>
                <a:cs typeface="Roboto"/>
              </a:rPr>
              <a:t>compensation</a:t>
            </a:r>
            <a:r>
              <a:rPr dirty="0" sz="130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444444"/>
                </a:solidFill>
                <a:latin typeface="Roboto"/>
                <a:cs typeface="Roboto"/>
              </a:rPr>
              <a:t>and</a:t>
            </a:r>
            <a:r>
              <a:rPr dirty="0" sz="130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444444"/>
                </a:solidFill>
                <a:latin typeface="Roboto"/>
                <a:cs typeface="Roboto"/>
              </a:rPr>
              <a:t>power</a:t>
            </a:r>
            <a:r>
              <a:rPr dirty="0" sz="130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444444"/>
                </a:solidFill>
                <a:latin typeface="Roboto"/>
                <a:cs typeface="Roboto"/>
              </a:rPr>
              <a:t>flow</a:t>
            </a:r>
            <a:r>
              <a:rPr dirty="0" sz="130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444444"/>
                </a:solidFill>
                <a:latin typeface="Roboto"/>
                <a:cs typeface="Roboto"/>
              </a:rPr>
              <a:t>control</a:t>
            </a:r>
            <a:endParaRPr sz="1300">
              <a:latin typeface="Roboto"/>
              <a:cs typeface="Roboto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7343774" y="2809874"/>
            <a:ext cx="4238625" cy="1076325"/>
            <a:chOff x="7343774" y="2809874"/>
            <a:chExt cx="4238625" cy="1076325"/>
          </a:xfrm>
        </p:grpSpPr>
        <p:sp>
          <p:nvSpPr>
            <p:cNvPr id="20" name="object 20" descr=""/>
            <p:cNvSpPr/>
            <p:nvPr/>
          </p:nvSpPr>
          <p:spPr>
            <a:xfrm>
              <a:off x="7362824" y="2809874"/>
              <a:ext cx="4219575" cy="1076325"/>
            </a:xfrm>
            <a:custGeom>
              <a:avLst/>
              <a:gdLst/>
              <a:ahLst/>
              <a:cxnLst/>
              <a:rect l="l" t="t" r="r" b="b"/>
              <a:pathLst>
                <a:path w="4219575" h="1076325">
                  <a:moveTo>
                    <a:pt x="4148378" y="1076324"/>
                  </a:moveTo>
                  <a:lnTo>
                    <a:pt x="53397" y="1076324"/>
                  </a:lnTo>
                  <a:lnTo>
                    <a:pt x="49681" y="1075836"/>
                  </a:lnTo>
                  <a:lnTo>
                    <a:pt x="14084" y="1050468"/>
                  </a:lnTo>
                  <a:lnTo>
                    <a:pt x="365" y="1010083"/>
                  </a:lnTo>
                  <a:lnTo>
                    <a:pt x="0" y="1005128"/>
                  </a:lnTo>
                  <a:lnTo>
                    <a:pt x="0" y="1000124"/>
                  </a:lnTo>
                  <a:lnTo>
                    <a:pt x="0" y="71196"/>
                  </a:lnTo>
                  <a:lnTo>
                    <a:pt x="11716" y="29705"/>
                  </a:lnTo>
                  <a:lnTo>
                    <a:pt x="42320" y="2440"/>
                  </a:lnTo>
                  <a:lnTo>
                    <a:pt x="53397" y="0"/>
                  </a:lnTo>
                  <a:lnTo>
                    <a:pt x="4148378" y="0"/>
                  </a:lnTo>
                  <a:lnTo>
                    <a:pt x="4189867" y="15621"/>
                  </a:lnTo>
                  <a:lnTo>
                    <a:pt x="4215687" y="51661"/>
                  </a:lnTo>
                  <a:lnTo>
                    <a:pt x="4219574" y="71196"/>
                  </a:lnTo>
                  <a:lnTo>
                    <a:pt x="4219574" y="1005128"/>
                  </a:lnTo>
                  <a:lnTo>
                    <a:pt x="4203951" y="1046619"/>
                  </a:lnTo>
                  <a:lnTo>
                    <a:pt x="4167912" y="1072438"/>
                  </a:lnTo>
                  <a:lnTo>
                    <a:pt x="4153332" y="1075836"/>
                  </a:lnTo>
                  <a:lnTo>
                    <a:pt x="4148378" y="1076324"/>
                  </a:lnTo>
                  <a:close/>
                </a:path>
              </a:pathLst>
            </a:custGeom>
            <a:solidFill>
              <a:srgbClr val="0057A8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7343774" y="2810152"/>
              <a:ext cx="70485" cy="1076325"/>
            </a:xfrm>
            <a:custGeom>
              <a:avLst/>
              <a:gdLst/>
              <a:ahLst/>
              <a:cxnLst/>
              <a:rect l="l" t="t" r="r" b="b"/>
              <a:pathLst>
                <a:path w="70484" h="1076325">
                  <a:moveTo>
                    <a:pt x="70450" y="1075769"/>
                  </a:moveTo>
                  <a:lnTo>
                    <a:pt x="33857" y="1063216"/>
                  </a:lnTo>
                  <a:lnTo>
                    <a:pt x="5801" y="1029007"/>
                  </a:lnTo>
                  <a:lnTo>
                    <a:pt x="0" y="999847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8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999847"/>
                  </a:lnTo>
                  <a:lnTo>
                    <a:pt x="44514" y="1042188"/>
                  </a:lnTo>
                  <a:lnTo>
                    <a:pt x="66287" y="1074113"/>
                  </a:lnTo>
                  <a:lnTo>
                    <a:pt x="70450" y="1075769"/>
                  </a:lnTo>
                  <a:close/>
                </a:path>
              </a:pathLst>
            </a:custGeom>
            <a:solidFill>
              <a:srgbClr val="0057A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34274" y="3010958"/>
              <a:ext cx="190499" cy="148166"/>
            </a:xfrm>
            <a:prstGeom prst="rect">
              <a:avLst/>
            </a:prstGeom>
          </p:spPr>
        </p:pic>
      </p:grpSp>
      <p:sp>
        <p:nvSpPr>
          <p:cNvPr id="23" name="object 23" descr=""/>
          <p:cNvSpPr txBox="1"/>
          <p:nvPr/>
        </p:nvSpPr>
        <p:spPr>
          <a:xfrm>
            <a:off x="7811641" y="2949336"/>
            <a:ext cx="191833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0" b="0">
                <a:solidFill>
                  <a:srgbClr val="002854"/>
                </a:solidFill>
                <a:latin typeface="Roboto Medium"/>
                <a:cs typeface="Roboto Medium"/>
              </a:rPr>
              <a:t>Model</a:t>
            </a:r>
            <a:r>
              <a:rPr dirty="0" sz="1500" b="0">
                <a:solidFill>
                  <a:srgbClr val="002854"/>
                </a:solidFill>
                <a:latin typeface="Roboto Medium"/>
                <a:cs typeface="Roboto Medium"/>
              </a:rPr>
              <a:t> </a:t>
            </a:r>
            <a:r>
              <a:rPr dirty="0" sz="1500" spc="-80" b="0">
                <a:solidFill>
                  <a:srgbClr val="002854"/>
                </a:solidFill>
                <a:latin typeface="Roboto Medium"/>
                <a:cs typeface="Roboto Medium"/>
              </a:rPr>
              <a:t>Predictive</a:t>
            </a:r>
            <a:r>
              <a:rPr dirty="0" sz="1500" b="0">
                <a:solidFill>
                  <a:srgbClr val="002854"/>
                </a:solidFill>
                <a:latin typeface="Roboto Medium"/>
                <a:cs typeface="Roboto Medium"/>
              </a:rPr>
              <a:t> </a:t>
            </a:r>
            <a:r>
              <a:rPr dirty="0" sz="1500" spc="-60" b="0">
                <a:solidFill>
                  <a:srgbClr val="002854"/>
                </a:solidFill>
                <a:latin typeface="Roboto Medium"/>
                <a:cs typeface="Roboto Medium"/>
              </a:rPr>
              <a:t>Control</a:t>
            </a:r>
            <a:endParaRPr sz="1500">
              <a:latin typeface="Roboto Medium"/>
              <a:cs typeface="Roboto Medium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7523509" y="3231134"/>
            <a:ext cx="3726179" cy="4826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0"/>
              </a:spcBef>
            </a:pPr>
            <a:r>
              <a:rPr dirty="0" sz="1300" spc="-50">
                <a:solidFill>
                  <a:srgbClr val="444444"/>
                </a:solidFill>
                <a:latin typeface="Roboto"/>
                <a:cs typeface="Roboto"/>
              </a:rPr>
              <a:t>Anticipates</a:t>
            </a:r>
            <a:r>
              <a:rPr dirty="0" sz="1300" spc="-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444444"/>
                </a:solidFill>
                <a:latin typeface="Roboto"/>
                <a:cs typeface="Roboto"/>
              </a:rPr>
              <a:t>future</a:t>
            </a:r>
            <a:r>
              <a:rPr dirty="0" sz="130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444444"/>
                </a:solidFill>
                <a:latin typeface="Roboto"/>
                <a:cs typeface="Roboto"/>
              </a:rPr>
              <a:t>system</a:t>
            </a:r>
            <a:r>
              <a:rPr dirty="0" sz="1300" spc="-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444444"/>
                </a:solidFill>
                <a:latin typeface="Roboto"/>
                <a:cs typeface="Roboto"/>
              </a:rPr>
              <a:t>states</a:t>
            </a:r>
            <a:r>
              <a:rPr dirty="0" sz="130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444444"/>
                </a:solidFill>
                <a:latin typeface="Roboto"/>
                <a:cs typeface="Roboto"/>
              </a:rPr>
              <a:t>and</a:t>
            </a:r>
            <a:r>
              <a:rPr dirty="0" sz="130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444444"/>
                </a:solidFill>
                <a:latin typeface="Roboto"/>
                <a:cs typeface="Roboto"/>
              </a:rPr>
              <a:t>optimizes</a:t>
            </a:r>
            <a:r>
              <a:rPr dirty="0" sz="1300" spc="-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444444"/>
                </a:solidFill>
                <a:latin typeface="Roboto"/>
                <a:cs typeface="Roboto"/>
              </a:rPr>
              <a:t>control </a:t>
            </a:r>
            <a:r>
              <a:rPr dirty="0" sz="1300" spc="-50">
                <a:solidFill>
                  <a:srgbClr val="444444"/>
                </a:solidFill>
                <a:latin typeface="Roboto"/>
                <a:cs typeface="Roboto"/>
              </a:rPr>
              <a:t>actions</a:t>
            </a:r>
            <a:r>
              <a:rPr dirty="0" sz="1300" spc="-2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444444"/>
                </a:solidFill>
                <a:latin typeface="Roboto"/>
                <a:cs typeface="Roboto"/>
              </a:rPr>
              <a:t>while</a:t>
            </a:r>
            <a:r>
              <a:rPr dirty="0" sz="1300" spc="-2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444444"/>
                </a:solidFill>
                <a:latin typeface="Roboto"/>
                <a:cs typeface="Roboto"/>
              </a:rPr>
              <a:t>respecting</a:t>
            </a:r>
            <a:r>
              <a:rPr dirty="0" sz="1300" spc="-2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444444"/>
                </a:solidFill>
                <a:latin typeface="Roboto"/>
                <a:cs typeface="Roboto"/>
              </a:rPr>
              <a:t>operational</a:t>
            </a:r>
            <a:r>
              <a:rPr dirty="0" sz="1300" spc="-2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444444"/>
                </a:solidFill>
                <a:latin typeface="Roboto"/>
                <a:cs typeface="Roboto"/>
              </a:rPr>
              <a:t>constraints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0809782" y="500615"/>
            <a:ext cx="1014094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20" b="1">
                <a:solidFill>
                  <a:srgbClr val="6A7280"/>
                </a:solidFill>
                <a:latin typeface="Roboto"/>
                <a:cs typeface="Roboto"/>
              </a:rPr>
              <a:t>IEEE</a:t>
            </a:r>
            <a:r>
              <a:rPr dirty="0" sz="1100" spc="-40" b="1">
                <a:solidFill>
                  <a:srgbClr val="6A7280"/>
                </a:solidFill>
                <a:latin typeface="Roboto"/>
                <a:cs typeface="Roboto"/>
              </a:rPr>
              <a:t> </a:t>
            </a:r>
            <a:r>
              <a:rPr dirty="0" sz="1100" spc="-35" b="1">
                <a:solidFill>
                  <a:srgbClr val="6A7280"/>
                </a:solidFill>
                <a:latin typeface="Roboto"/>
                <a:cs typeface="Roboto"/>
              </a:rPr>
              <a:t>Conference</a:t>
            </a:r>
            <a:endParaRPr sz="1100">
              <a:latin typeface="Roboto"/>
              <a:cs typeface="Roboto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7343774" y="3952874"/>
            <a:ext cx="4238625" cy="1609725"/>
            <a:chOff x="7343774" y="3952874"/>
            <a:chExt cx="4238625" cy="1609725"/>
          </a:xfrm>
        </p:grpSpPr>
        <p:sp>
          <p:nvSpPr>
            <p:cNvPr id="27" name="object 27" descr=""/>
            <p:cNvSpPr/>
            <p:nvPr/>
          </p:nvSpPr>
          <p:spPr>
            <a:xfrm>
              <a:off x="7343774" y="4038599"/>
              <a:ext cx="4238625" cy="1524000"/>
            </a:xfrm>
            <a:custGeom>
              <a:avLst/>
              <a:gdLst/>
              <a:ahLst/>
              <a:cxnLst/>
              <a:rect l="l" t="t" r="r" b="b"/>
              <a:pathLst>
                <a:path w="4238625" h="1524000">
                  <a:moveTo>
                    <a:pt x="4162424" y="1523999"/>
                  </a:moveTo>
                  <a:lnTo>
                    <a:pt x="76199" y="1523999"/>
                  </a:lnTo>
                  <a:lnTo>
                    <a:pt x="68693" y="1523637"/>
                  </a:lnTo>
                  <a:lnTo>
                    <a:pt x="27882" y="1506732"/>
                  </a:lnTo>
                  <a:lnTo>
                    <a:pt x="3262" y="1469885"/>
                  </a:lnTo>
                  <a:lnTo>
                    <a:pt x="0" y="144779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799"/>
                  </a:lnTo>
                  <a:lnTo>
                    <a:pt x="76199" y="0"/>
                  </a:lnTo>
                  <a:lnTo>
                    <a:pt x="4162424" y="0"/>
                  </a:lnTo>
                  <a:lnTo>
                    <a:pt x="4204766" y="12829"/>
                  </a:lnTo>
                  <a:lnTo>
                    <a:pt x="4232823" y="47038"/>
                  </a:lnTo>
                  <a:lnTo>
                    <a:pt x="4238624" y="76199"/>
                  </a:lnTo>
                  <a:lnTo>
                    <a:pt x="4238624" y="1447799"/>
                  </a:lnTo>
                  <a:lnTo>
                    <a:pt x="4225793" y="1490141"/>
                  </a:lnTo>
                  <a:lnTo>
                    <a:pt x="4191583" y="1518198"/>
                  </a:lnTo>
                  <a:lnTo>
                    <a:pt x="4162424" y="1523999"/>
                  </a:lnTo>
                  <a:close/>
                </a:path>
              </a:pathLst>
            </a:custGeom>
            <a:solidFill>
              <a:srgbClr val="F7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7343774" y="4038599"/>
              <a:ext cx="4238625" cy="1524000"/>
            </a:xfrm>
            <a:custGeom>
              <a:avLst/>
              <a:gdLst/>
              <a:ahLst/>
              <a:cxnLst/>
              <a:rect l="l" t="t" r="r" b="b"/>
              <a:pathLst>
                <a:path w="4238625" h="1524000">
                  <a:moveTo>
                    <a:pt x="4162424" y="1523999"/>
                  </a:moveTo>
                  <a:lnTo>
                    <a:pt x="76199" y="1523999"/>
                  </a:lnTo>
                  <a:lnTo>
                    <a:pt x="68693" y="1523637"/>
                  </a:lnTo>
                  <a:lnTo>
                    <a:pt x="27882" y="1506732"/>
                  </a:lnTo>
                  <a:lnTo>
                    <a:pt x="3262" y="1469885"/>
                  </a:lnTo>
                  <a:lnTo>
                    <a:pt x="0" y="144779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799"/>
                  </a:lnTo>
                  <a:lnTo>
                    <a:pt x="76199" y="0"/>
                  </a:lnTo>
                  <a:lnTo>
                    <a:pt x="4162424" y="0"/>
                  </a:lnTo>
                  <a:lnTo>
                    <a:pt x="4199245" y="9524"/>
                  </a:lnTo>
                  <a:lnTo>
                    <a:pt x="71821" y="9524"/>
                  </a:lnTo>
                  <a:lnTo>
                    <a:pt x="67485" y="9951"/>
                  </a:lnTo>
                  <a:lnTo>
                    <a:pt x="32148" y="25957"/>
                  </a:lnTo>
                  <a:lnTo>
                    <a:pt x="11659" y="58897"/>
                  </a:lnTo>
                  <a:lnTo>
                    <a:pt x="9524" y="71821"/>
                  </a:lnTo>
                  <a:lnTo>
                    <a:pt x="9524" y="1452177"/>
                  </a:lnTo>
                  <a:lnTo>
                    <a:pt x="23193" y="1488482"/>
                  </a:lnTo>
                  <a:lnTo>
                    <a:pt x="54728" y="1511074"/>
                  </a:lnTo>
                  <a:lnTo>
                    <a:pt x="71821" y="1514474"/>
                  </a:lnTo>
                  <a:lnTo>
                    <a:pt x="4199243" y="1514474"/>
                  </a:lnTo>
                  <a:lnTo>
                    <a:pt x="4198380" y="1514991"/>
                  </a:lnTo>
                  <a:lnTo>
                    <a:pt x="4191583" y="1518198"/>
                  </a:lnTo>
                  <a:lnTo>
                    <a:pt x="4184509" y="1520736"/>
                  </a:lnTo>
                  <a:lnTo>
                    <a:pt x="4177291" y="1522549"/>
                  </a:lnTo>
                  <a:lnTo>
                    <a:pt x="4169929" y="1523637"/>
                  </a:lnTo>
                  <a:lnTo>
                    <a:pt x="4162424" y="1523999"/>
                  </a:lnTo>
                  <a:close/>
                </a:path>
                <a:path w="4238625" h="1524000">
                  <a:moveTo>
                    <a:pt x="4199243" y="1514474"/>
                  </a:moveTo>
                  <a:lnTo>
                    <a:pt x="4166801" y="1514474"/>
                  </a:lnTo>
                  <a:lnTo>
                    <a:pt x="4171137" y="1514047"/>
                  </a:lnTo>
                  <a:lnTo>
                    <a:pt x="4179725" y="1512339"/>
                  </a:lnTo>
                  <a:lnTo>
                    <a:pt x="4212666" y="1491849"/>
                  </a:lnTo>
                  <a:lnTo>
                    <a:pt x="4228672" y="1456513"/>
                  </a:lnTo>
                  <a:lnTo>
                    <a:pt x="4229099" y="1452177"/>
                  </a:lnTo>
                  <a:lnTo>
                    <a:pt x="4229099" y="71821"/>
                  </a:lnTo>
                  <a:lnTo>
                    <a:pt x="4228791" y="68693"/>
                  </a:lnTo>
                  <a:lnTo>
                    <a:pt x="4228672" y="67485"/>
                  </a:lnTo>
                  <a:lnTo>
                    <a:pt x="4212666" y="32148"/>
                  </a:lnTo>
                  <a:lnTo>
                    <a:pt x="4179725" y="11659"/>
                  </a:lnTo>
                  <a:lnTo>
                    <a:pt x="4166801" y="9524"/>
                  </a:lnTo>
                  <a:lnTo>
                    <a:pt x="4199245" y="9524"/>
                  </a:lnTo>
                  <a:lnTo>
                    <a:pt x="4229615" y="40242"/>
                  </a:lnTo>
                  <a:lnTo>
                    <a:pt x="4238624" y="1447799"/>
                  </a:lnTo>
                  <a:lnTo>
                    <a:pt x="4238261" y="1455306"/>
                  </a:lnTo>
                  <a:lnTo>
                    <a:pt x="4221357" y="1496116"/>
                  </a:lnTo>
                  <a:lnTo>
                    <a:pt x="4204893" y="1511074"/>
                  </a:lnTo>
                  <a:lnTo>
                    <a:pt x="4199243" y="1514474"/>
                  </a:lnTo>
                  <a:close/>
                </a:path>
              </a:pathLst>
            </a:custGeom>
            <a:solidFill>
              <a:srgbClr val="002854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7781923" y="3962399"/>
              <a:ext cx="1057275" cy="590550"/>
            </a:xfrm>
            <a:custGeom>
              <a:avLst/>
              <a:gdLst/>
              <a:ahLst/>
              <a:cxnLst/>
              <a:rect l="l" t="t" r="r" b="b"/>
              <a:pathLst>
                <a:path w="1057275" h="590550">
                  <a:moveTo>
                    <a:pt x="1015965" y="590549"/>
                  </a:moveTo>
                  <a:lnTo>
                    <a:pt x="41310" y="590549"/>
                  </a:lnTo>
                  <a:lnTo>
                    <a:pt x="35235" y="589341"/>
                  </a:lnTo>
                  <a:lnTo>
                    <a:pt x="1208" y="555315"/>
                  </a:lnTo>
                  <a:lnTo>
                    <a:pt x="0" y="549240"/>
                  </a:lnTo>
                  <a:lnTo>
                    <a:pt x="0" y="542924"/>
                  </a:lnTo>
                  <a:lnTo>
                    <a:pt x="0" y="41309"/>
                  </a:lnTo>
                  <a:lnTo>
                    <a:pt x="23564" y="6041"/>
                  </a:lnTo>
                  <a:lnTo>
                    <a:pt x="41310" y="0"/>
                  </a:lnTo>
                  <a:lnTo>
                    <a:pt x="1015965" y="0"/>
                  </a:lnTo>
                  <a:lnTo>
                    <a:pt x="1051232" y="23564"/>
                  </a:lnTo>
                  <a:lnTo>
                    <a:pt x="1057274" y="41309"/>
                  </a:lnTo>
                  <a:lnTo>
                    <a:pt x="1057274" y="549240"/>
                  </a:lnTo>
                  <a:lnTo>
                    <a:pt x="1033709" y="584507"/>
                  </a:lnTo>
                  <a:lnTo>
                    <a:pt x="1022039" y="589341"/>
                  </a:lnTo>
                  <a:lnTo>
                    <a:pt x="1015965" y="5905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7781923" y="3962399"/>
              <a:ext cx="1057275" cy="590550"/>
            </a:xfrm>
            <a:custGeom>
              <a:avLst/>
              <a:gdLst/>
              <a:ahLst/>
              <a:cxnLst/>
              <a:rect l="l" t="t" r="r" b="b"/>
              <a:pathLst>
                <a:path w="1057275" h="590550">
                  <a:moveTo>
                    <a:pt x="0" y="542924"/>
                  </a:moveTo>
                  <a:lnTo>
                    <a:pt x="0" y="47624"/>
                  </a:lnTo>
                  <a:lnTo>
                    <a:pt x="0" y="41309"/>
                  </a:lnTo>
                  <a:lnTo>
                    <a:pt x="1208" y="35233"/>
                  </a:lnTo>
                  <a:lnTo>
                    <a:pt x="3624" y="29398"/>
                  </a:lnTo>
                  <a:lnTo>
                    <a:pt x="6042" y="23564"/>
                  </a:lnTo>
                  <a:lnTo>
                    <a:pt x="9483" y="18414"/>
                  </a:lnTo>
                  <a:lnTo>
                    <a:pt x="13949" y="13948"/>
                  </a:lnTo>
                  <a:lnTo>
                    <a:pt x="18415" y="9482"/>
                  </a:lnTo>
                  <a:lnTo>
                    <a:pt x="23564" y="6041"/>
                  </a:lnTo>
                  <a:lnTo>
                    <a:pt x="29399" y="3624"/>
                  </a:lnTo>
                  <a:lnTo>
                    <a:pt x="35235" y="1208"/>
                  </a:lnTo>
                  <a:lnTo>
                    <a:pt x="41310" y="0"/>
                  </a:lnTo>
                  <a:lnTo>
                    <a:pt x="47625" y="0"/>
                  </a:lnTo>
                  <a:lnTo>
                    <a:pt x="1009650" y="0"/>
                  </a:lnTo>
                  <a:lnTo>
                    <a:pt x="1015965" y="0"/>
                  </a:lnTo>
                  <a:lnTo>
                    <a:pt x="1022039" y="1208"/>
                  </a:lnTo>
                  <a:lnTo>
                    <a:pt x="1053649" y="29399"/>
                  </a:lnTo>
                  <a:lnTo>
                    <a:pt x="1057275" y="47624"/>
                  </a:lnTo>
                  <a:lnTo>
                    <a:pt x="1057275" y="542924"/>
                  </a:lnTo>
                  <a:lnTo>
                    <a:pt x="1057274" y="549240"/>
                  </a:lnTo>
                  <a:lnTo>
                    <a:pt x="1056065" y="555315"/>
                  </a:lnTo>
                  <a:lnTo>
                    <a:pt x="1053648" y="561149"/>
                  </a:lnTo>
                  <a:lnTo>
                    <a:pt x="1051231" y="566984"/>
                  </a:lnTo>
                  <a:lnTo>
                    <a:pt x="1027874" y="586924"/>
                  </a:lnTo>
                  <a:lnTo>
                    <a:pt x="1022039" y="589341"/>
                  </a:lnTo>
                  <a:lnTo>
                    <a:pt x="1015965" y="590549"/>
                  </a:lnTo>
                  <a:lnTo>
                    <a:pt x="1009650" y="590549"/>
                  </a:lnTo>
                  <a:lnTo>
                    <a:pt x="47625" y="590549"/>
                  </a:lnTo>
                  <a:lnTo>
                    <a:pt x="41310" y="590549"/>
                  </a:lnTo>
                  <a:lnTo>
                    <a:pt x="35235" y="589341"/>
                  </a:lnTo>
                  <a:lnTo>
                    <a:pt x="29399" y="586924"/>
                  </a:lnTo>
                  <a:lnTo>
                    <a:pt x="23564" y="584507"/>
                  </a:lnTo>
                  <a:lnTo>
                    <a:pt x="18415" y="581066"/>
                  </a:lnTo>
                  <a:lnTo>
                    <a:pt x="13949" y="576600"/>
                  </a:lnTo>
                  <a:lnTo>
                    <a:pt x="9483" y="572135"/>
                  </a:lnTo>
                  <a:lnTo>
                    <a:pt x="6042" y="566984"/>
                  </a:lnTo>
                  <a:lnTo>
                    <a:pt x="3625" y="561149"/>
                  </a:lnTo>
                  <a:lnTo>
                    <a:pt x="1208" y="555315"/>
                  </a:lnTo>
                  <a:lnTo>
                    <a:pt x="0" y="549240"/>
                  </a:lnTo>
                  <a:lnTo>
                    <a:pt x="0" y="542924"/>
                  </a:lnTo>
                  <a:close/>
                </a:path>
              </a:pathLst>
            </a:custGeom>
            <a:ln w="19049">
              <a:solidFill>
                <a:srgbClr val="0057A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458324" y="4191339"/>
              <a:ext cx="143863" cy="124505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10220322" y="3962399"/>
              <a:ext cx="923925" cy="590550"/>
            </a:xfrm>
            <a:custGeom>
              <a:avLst/>
              <a:gdLst/>
              <a:ahLst/>
              <a:cxnLst/>
              <a:rect l="l" t="t" r="r" b="b"/>
              <a:pathLst>
                <a:path w="923925" h="590550">
                  <a:moveTo>
                    <a:pt x="882615" y="590549"/>
                  </a:moveTo>
                  <a:lnTo>
                    <a:pt x="41310" y="590549"/>
                  </a:lnTo>
                  <a:lnTo>
                    <a:pt x="35235" y="589341"/>
                  </a:lnTo>
                  <a:lnTo>
                    <a:pt x="1208" y="555315"/>
                  </a:lnTo>
                  <a:lnTo>
                    <a:pt x="0" y="549240"/>
                  </a:lnTo>
                  <a:lnTo>
                    <a:pt x="1" y="542924"/>
                  </a:lnTo>
                  <a:lnTo>
                    <a:pt x="0" y="41309"/>
                  </a:lnTo>
                  <a:lnTo>
                    <a:pt x="23564" y="6041"/>
                  </a:lnTo>
                  <a:lnTo>
                    <a:pt x="41310" y="0"/>
                  </a:lnTo>
                  <a:lnTo>
                    <a:pt x="882615" y="0"/>
                  </a:lnTo>
                  <a:lnTo>
                    <a:pt x="917882" y="23564"/>
                  </a:lnTo>
                  <a:lnTo>
                    <a:pt x="923924" y="41309"/>
                  </a:lnTo>
                  <a:lnTo>
                    <a:pt x="923924" y="549240"/>
                  </a:lnTo>
                  <a:lnTo>
                    <a:pt x="900360" y="584507"/>
                  </a:lnTo>
                  <a:lnTo>
                    <a:pt x="888689" y="589341"/>
                  </a:lnTo>
                  <a:lnTo>
                    <a:pt x="882615" y="5905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0220322" y="3962399"/>
              <a:ext cx="923925" cy="590550"/>
            </a:xfrm>
            <a:custGeom>
              <a:avLst/>
              <a:gdLst/>
              <a:ahLst/>
              <a:cxnLst/>
              <a:rect l="l" t="t" r="r" b="b"/>
              <a:pathLst>
                <a:path w="923925" h="590550">
                  <a:moveTo>
                    <a:pt x="1" y="542924"/>
                  </a:moveTo>
                  <a:lnTo>
                    <a:pt x="1" y="47624"/>
                  </a:lnTo>
                  <a:lnTo>
                    <a:pt x="0" y="41309"/>
                  </a:lnTo>
                  <a:lnTo>
                    <a:pt x="1208" y="35233"/>
                  </a:lnTo>
                  <a:lnTo>
                    <a:pt x="3625" y="29398"/>
                  </a:lnTo>
                  <a:lnTo>
                    <a:pt x="6042" y="23564"/>
                  </a:lnTo>
                  <a:lnTo>
                    <a:pt x="9483" y="18414"/>
                  </a:lnTo>
                  <a:lnTo>
                    <a:pt x="13949" y="13948"/>
                  </a:lnTo>
                  <a:lnTo>
                    <a:pt x="18415" y="9482"/>
                  </a:lnTo>
                  <a:lnTo>
                    <a:pt x="23564" y="6041"/>
                  </a:lnTo>
                  <a:lnTo>
                    <a:pt x="29399" y="3624"/>
                  </a:lnTo>
                  <a:lnTo>
                    <a:pt x="35235" y="1208"/>
                  </a:lnTo>
                  <a:lnTo>
                    <a:pt x="41310" y="0"/>
                  </a:lnTo>
                  <a:lnTo>
                    <a:pt x="47626" y="0"/>
                  </a:lnTo>
                  <a:lnTo>
                    <a:pt x="876301" y="0"/>
                  </a:lnTo>
                  <a:lnTo>
                    <a:pt x="882615" y="0"/>
                  </a:lnTo>
                  <a:lnTo>
                    <a:pt x="888689" y="1208"/>
                  </a:lnTo>
                  <a:lnTo>
                    <a:pt x="920299" y="29399"/>
                  </a:lnTo>
                  <a:lnTo>
                    <a:pt x="922716" y="35233"/>
                  </a:lnTo>
                  <a:lnTo>
                    <a:pt x="923924" y="41309"/>
                  </a:lnTo>
                  <a:lnTo>
                    <a:pt x="923926" y="47624"/>
                  </a:lnTo>
                  <a:lnTo>
                    <a:pt x="923926" y="542924"/>
                  </a:lnTo>
                  <a:lnTo>
                    <a:pt x="923924" y="549240"/>
                  </a:lnTo>
                  <a:lnTo>
                    <a:pt x="922716" y="555315"/>
                  </a:lnTo>
                  <a:lnTo>
                    <a:pt x="920299" y="561149"/>
                  </a:lnTo>
                  <a:lnTo>
                    <a:pt x="917882" y="566984"/>
                  </a:lnTo>
                  <a:lnTo>
                    <a:pt x="894524" y="586924"/>
                  </a:lnTo>
                  <a:lnTo>
                    <a:pt x="888689" y="589341"/>
                  </a:lnTo>
                  <a:lnTo>
                    <a:pt x="882615" y="590549"/>
                  </a:lnTo>
                  <a:lnTo>
                    <a:pt x="876301" y="590549"/>
                  </a:lnTo>
                  <a:lnTo>
                    <a:pt x="47626" y="590549"/>
                  </a:lnTo>
                  <a:lnTo>
                    <a:pt x="13949" y="576600"/>
                  </a:lnTo>
                  <a:lnTo>
                    <a:pt x="9483" y="572135"/>
                  </a:lnTo>
                  <a:lnTo>
                    <a:pt x="6042" y="566984"/>
                  </a:lnTo>
                  <a:lnTo>
                    <a:pt x="3625" y="561149"/>
                  </a:lnTo>
                  <a:lnTo>
                    <a:pt x="1208" y="555315"/>
                  </a:lnTo>
                  <a:lnTo>
                    <a:pt x="0" y="549240"/>
                  </a:lnTo>
                  <a:lnTo>
                    <a:pt x="1" y="542924"/>
                  </a:lnTo>
                  <a:close/>
                </a:path>
              </a:pathLst>
            </a:custGeom>
            <a:ln w="19049">
              <a:solidFill>
                <a:srgbClr val="0057A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10334425" y="3983608"/>
            <a:ext cx="699135" cy="482600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330"/>
              </a:spcBef>
            </a:pPr>
            <a:r>
              <a:rPr dirty="0" sz="1300" spc="-65" b="0">
                <a:solidFill>
                  <a:srgbClr val="002854"/>
                </a:solidFill>
                <a:latin typeface="Roboto Medium"/>
                <a:cs typeface="Roboto Medium"/>
              </a:rPr>
              <a:t>RMOMPC</a:t>
            </a:r>
            <a:endParaRPr sz="1300">
              <a:latin typeface="Roboto Medium"/>
              <a:cs typeface="Roboto Medium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1300" spc="-50" b="0">
                <a:solidFill>
                  <a:srgbClr val="002854"/>
                </a:solidFill>
                <a:latin typeface="Roboto Medium"/>
                <a:cs typeface="Roboto Medium"/>
              </a:rPr>
              <a:t>Controller</a:t>
            </a:r>
            <a:endParaRPr sz="1300">
              <a:latin typeface="Roboto Medium"/>
              <a:cs typeface="Roboto Medium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7800974" y="4724552"/>
            <a:ext cx="2725420" cy="923925"/>
            <a:chOff x="7800974" y="4724552"/>
            <a:chExt cx="2725420" cy="923925"/>
          </a:xfrm>
        </p:grpSpPr>
        <p:pic>
          <p:nvPicPr>
            <p:cNvPr id="36" name="object 3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399977" y="4724552"/>
              <a:ext cx="130730" cy="151056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400267" y="4725193"/>
              <a:ext cx="125888" cy="145462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7810499" y="5048249"/>
              <a:ext cx="1000125" cy="590550"/>
            </a:xfrm>
            <a:custGeom>
              <a:avLst/>
              <a:gdLst/>
              <a:ahLst/>
              <a:cxnLst/>
              <a:rect l="l" t="t" r="r" b="b"/>
              <a:pathLst>
                <a:path w="1000125" h="590550">
                  <a:moveTo>
                    <a:pt x="958814" y="590549"/>
                  </a:moveTo>
                  <a:lnTo>
                    <a:pt x="41309" y="590549"/>
                  </a:lnTo>
                  <a:lnTo>
                    <a:pt x="35233" y="589340"/>
                  </a:lnTo>
                  <a:lnTo>
                    <a:pt x="1208" y="555314"/>
                  </a:lnTo>
                  <a:lnTo>
                    <a:pt x="0" y="549240"/>
                  </a:lnTo>
                  <a:lnTo>
                    <a:pt x="0" y="542924"/>
                  </a:lnTo>
                  <a:lnTo>
                    <a:pt x="0" y="41309"/>
                  </a:lnTo>
                  <a:lnTo>
                    <a:pt x="23564" y="6041"/>
                  </a:lnTo>
                  <a:lnTo>
                    <a:pt x="41309" y="0"/>
                  </a:lnTo>
                  <a:lnTo>
                    <a:pt x="958814" y="0"/>
                  </a:lnTo>
                  <a:lnTo>
                    <a:pt x="994081" y="23564"/>
                  </a:lnTo>
                  <a:lnTo>
                    <a:pt x="1000124" y="41309"/>
                  </a:lnTo>
                  <a:lnTo>
                    <a:pt x="1000124" y="549240"/>
                  </a:lnTo>
                  <a:lnTo>
                    <a:pt x="976558" y="584506"/>
                  </a:lnTo>
                  <a:lnTo>
                    <a:pt x="964889" y="589340"/>
                  </a:lnTo>
                  <a:lnTo>
                    <a:pt x="958814" y="5905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7810499" y="5048249"/>
              <a:ext cx="1000125" cy="590550"/>
            </a:xfrm>
            <a:custGeom>
              <a:avLst/>
              <a:gdLst/>
              <a:ahLst/>
              <a:cxnLst/>
              <a:rect l="l" t="t" r="r" b="b"/>
              <a:pathLst>
                <a:path w="1000125" h="590550">
                  <a:moveTo>
                    <a:pt x="0" y="542924"/>
                  </a:moveTo>
                  <a:lnTo>
                    <a:pt x="0" y="47624"/>
                  </a:lnTo>
                  <a:lnTo>
                    <a:pt x="0" y="41309"/>
                  </a:lnTo>
                  <a:lnTo>
                    <a:pt x="1208" y="35233"/>
                  </a:lnTo>
                  <a:lnTo>
                    <a:pt x="3624" y="29399"/>
                  </a:lnTo>
                  <a:lnTo>
                    <a:pt x="6041" y="23564"/>
                  </a:lnTo>
                  <a:lnTo>
                    <a:pt x="9482" y="18414"/>
                  </a:lnTo>
                  <a:lnTo>
                    <a:pt x="13949" y="13948"/>
                  </a:lnTo>
                  <a:lnTo>
                    <a:pt x="18414" y="9483"/>
                  </a:lnTo>
                  <a:lnTo>
                    <a:pt x="23564" y="6041"/>
                  </a:lnTo>
                  <a:lnTo>
                    <a:pt x="29399" y="3624"/>
                  </a:lnTo>
                  <a:lnTo>
                    <a:pt x="35233" y="1208"/>
                  </a:lnTo>
                  <a:lnTo>
                    <a:pt x="41309" y="0"/>
                  </a:lnTo>
                  <a:lnTo>
                    <a:pt x="47624" y="0"/>
                  </a:lnTo>
                  <a:lnTo>
                    <a:pt x="952499" y="0"/>
                  </a:lnTo>
                  <a:lnTo>
                    <a:pt x="958814" y="0"/>
                  </a:lnTo>
                  <a:lnTo>
                    <a:pt x="964889" y="1208"/>
                  </a:lnTo>
                  <a:lnTo>
                    <a:pt x="996498" y="29399"/>
                  </a:lnTo>
                  <a:lnTo>
                    <a:pt x="1000124" y="47624"/>
                  </a:lnTo>
                  <a:lnTo>
                    <a:pt x="1000124" y="542924"/>
                  </a:lnTo>
                  <a:lnTo>
                    <a:pt x="981708" y="581065"/>
                  </a:lnTo>
                  <a:lnTo>
                    <a:pt x="970723" y="586923"/>
                  </a:lnTo>
                  <a:lnTo>
                    <a:pt x="964889" y="589340"/>
                  </a:lnTo>
                  <a:lnTo>
                    <a:pt x="958814" y="590549"/>
                  </a:lnTo>
                  <a:lnTo>
                    <a:pt x="952499" y="590549"/>
                  </a:lnTo>
                  <a:lnTo>
                    <a:pt x="47624" y="590549"/>
                  </a:lnTo>
                  <a:lnTo>
                    <a:pt x="41309" y="590549"/>
                  </a:lnTo>
                  <a:lnTo>
                    <a:pt x="35233" y="589340"/>
                  </a:lnTo>
                  <a:lnTo>
                    <a:pt x="29399" y="586923"/>
                  </a:lnTo>
                  <a:lnTo>
                    <a:pt x="23564" y="584506"/>
                  </a:lnTo>
                  <a:lnTo>
                    <a:pt x="18414" y="581065"/>
                  </a:lnTo>
                  <a:lnTo>
                    <a:pt x="13949" y="576600"/>
                  </a:lnTo>
                  <a:lnTo>
                    <a:pt x="9482" y="572134"/>
                  </a:lnTo>
                  <a:lnTo>
                    <a:pt x="6041" y="566983"/>
                  </a:lnTo>
                  <a:lnTo>
                    <a:pt x="3624" y="561149"/>
                  </a:lnTo>
                  <a:lnTo>
                    <a:pt x="1208" y="555314"/>
                  </a:lnTo>
                  <a:lnTo>
                    <a:pt x="0" y="549240"/>
                  </a:lnTo>
                  <a:lnTo>
                    <a:pt x="0" y="542924"/>
                  </a:lnTo>
                  <a:close/>
                </a:path>
              </a:pathLst>
            </a:custGeom>
            <a:ln w="19049">
              <a:solidFill>
                <a:srgbClr val="0057A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 descr=""/>
          <p:cNvSpPr txBox="1"/>
          <p:nvPr/>
        </p:nvSpPr>
        <p:spPr>
          <a:xfrm>
            <a:off x="7924155" y="5069458"/>
            <a:ext cx="770890" cy="4826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07314" marR="5080" indent="-95250">
              <a:lnSpc>
                <a:spcPct val="115399"/>
              </a:lnSpc>
              <a:spcBef>
                <a:spcPts val="90"/>
              </a:spcBef>
            </a:pPr>
            <a:r>
              <a:rPr dirty="0" sz="1300" spc="-60" b="0">
                <a:solidFill>
                  <a:srgbClr val="002854"/>
                </a:solidFill>
                <a:latin typeface="Roboto Medium"/>
                <a:cs typeface="Roboto Medium"/>
              </a:rPr>
              <a:t>Renewable </a:t>
            </a:r>
            <a:r>
              <a:rPr dirty="0" sz="1300" spc="-10" b="0">
                <a:solidFill>
                  <a:srgbClr val="002854"/>
                </a:solidFill>
                <a:latin typeface="Roboto Medium"/>
                <a:cs typeface="Roboto Medium"/>
              </a:rPr>
              <a:t>Sources</a:t>
            </a:r>
            <a:endParaRPr sz="1300">
              <a:latin typeface="Roboto Medium"/>
              <a:cs typeface="Roboto Medium"/>
            </a:endParaRPr>
          </a:p>
        </p:txBody>
      </p:sp>
      <p:grpSp>
        <p:nvGrpSpPr>
          <p:cNvPr id="41" name="object 41" descr=""/>
          <p:cNvGrpSpPr/>
          <p:nvPr/>
        </p:nvGrpSpPr>
        <p:grpSpPr>
          <a:xfrm>
            <a:off x="9486899" y="5038724"/>
            <a:ext cx="1638300" cy="609600"/>
            <a:chOff x="9486899" y="5038724"/>
            <a:chExt cx="1638300" cy="609600"/>
          </a:xfrm>
        </p:grpSpPr>
        <p:pic>
          <p:nvPicPr>
            <p:cNvPr id="42" name="object 4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486899" y="5300059"/>
              <a:ext cx="171449" cy="86930"/>
            </a:xfrm>
            <a:prstGeom prst="rect">
              <a:avLst/>
            </a:prstGeom>
          </p:spPr>
        </p:pic>
        <p:sp>
          <p:nvSpPr>
            <p:cNvPr id="43" name="object 43" descr=""/>
            <p:cNvSpPr/>
            <p:nvPr/>
          </p:nvSpPr>
          <p:spPr>
            <a:xfrm>
              <a:off x="10334622" y="5048249"/>
              <a:ext cx="781050" cy="590550"/>
            </a:xfrm>
            <a:custGeom>
              <a:avLst/>
              <a:gdLst/>
              <a:ahLst/>
              <a:cxnLst/>
              <a:rect l="l" t="t" r="r" b="b"/>
              <a:pathLst>
                <a:path w="781050" h="590550">
                  <a:moveTo>
                    <a:pt x="739740" y="590549"/>
                  </a:moveTo>
                  <a:lnTo>
                    <a:pt x="41310" y="590549"/>
                  </a:lnTo>
                  <a:lnTo>
                    <a:pt x="35235" y="589340"/>
                  </a:lnTo>
                  <a:lnTo>
                    <a:pt x="1208" y="555314"/>
                  </a:lnTo>
                  <a:lnTo>
                    <a:pt x="0" y="549240"/>
                  </a:lnTo>
                  <a:lnTo>
                    <a:pt x="1" y="542924"/>
                  </a:lnTo>
                  <a:lnTo>
                    <a:pt x="0" y="41309"/>
                  </a:lnTo>
                  <a:lnTo>
                    <a:pt x="23564" y="6041"/>
                  </a:lnTo>
                  <a:lnTo>
                    <a:pt x="41310" y="0"/>
                  </a:lnTo>
                  <a:lnTo>
                    <a:pt x="739740" y="0"/>
                  </a:lnTo>
                  <a:lnTo>
                    <a:pt x="775007" y="23564"/>
                  </a:lnTo>
                  <a:lnTo>
                    <a:pt x="781049" y="41309"/>
                  </a:lnTo>
                  <a:lnTo>
                    <a:pt x="781049" y="549240"/>
                  </a:lnTo>
                  <a:lnTo>
                    <a:pt x="757485" y="584506"/>
                  </a:lnTo>
                  <a:lnTo>
                    <a:pt x="745816" y="589340"/>
                  </a:lnTo>
                  <a:lnTo>
                    <a:pt x="739740" y="5905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0334622" y="5048249"/>
              <a:ext cx="781050" cy="590550"/>
            </a:xfrm>
            <a:custGeom>
              <a:avLst/>
              <a:gdLst/>
              <a:ahLst/>
              <a:cxnLst/>
              <a:rect l="l" t="t" r="r" b="b"/>
              <a:pathLst>
                <a:path w="781050" h="590550">
                  <a:moveTo>
                    <a:pt x="1" y="542924"/>
                  </a:moveTo>
                  <a:lnTo>
                    <a:pt x="1" y="47624"/>
                  </a:lnTo>
                  <a:lnTo>
                    <a:pt x="0" y="41309"/>
                  </a:lnTo>
                  <a:lnTo>
                    <a:pt x="1208" y="35233"/>
                  </a:lnTo>
                  <a:lnTo>
                    <a:pt x="3624" y="29399"/>
                  </a:lnTo>
                  <a:lnTo>
                    <a:pt x="6041" y="23564"/>
                  </a:lnTo>
                  <a:lnTo>
                    <a:pt x="9483" y="18414"/>
                  </a:lnTo>
                  <a:lnTo>
                    <a:pt x="13949" y="13948"/>
                  </a:lnTo>
                  <a:lnTo>
                    <a:pt x="18415" y="9483"/>
                  </a:lnTo>
                  <a:lnTo>
                    <a:pt x="23564" y="6041"/>
                  </a:lnTo>
                  <a:lnTo>
                    <a:pt x="29399" y="3624"/>
                  </a:lnTo>
                  <a:lnTo>
                    <a:pt x="35235" y="1208"/>
                  </a:lnTo>
                  <a:lnTo>
                    <a:pt x="41310" y="0"/>
                  </a:lnTo>
                  <a:lnTo>
                    <a:pt x="47626" y="0"/>
                  </a:lnTo>
                  <a:lnTo>
                    <a:pt x="733426" y="0"/>
                  </a:lnTo>
                  <a:lnTo>
                    <a:pt x="739740" y="0"/>
                  </a:lnTo>
                  <a:lnTo>
                    <a:pt x="745816" y="1208"/>
                  </a:lnTo>
                  <a:lnTo>
                    <a:pt x="777424" y="29399"/>
                  </a:lnTo>
                  <a:lnTo>
                    <a:pt x="779841" y="35233"/>
                  </a:lnTo>
                  <a:lnTo>
                    <a:pt x="781049" y="41309"/>
                  </a:lnTo>
                  <a:lnTo>
                    <a:pt x="781051" y="47624"/>
                  </a:lnTo>
                  <a:lnTo>
                    <a:pt x="781051" y="542924"/>
                  </a:lnTo>
                  <a:lnTo>
                    <a:pt x="781049" y="549240"/>
                  </a:lnTo>
                  <a:lnTo>
                    <a:pt x="779841" y="555314"/>
                  </a:lnTo>
                  <a:lnTo>
                    <a:pt x="777424" y="561149"/>
                  </a:lnTo>
                  <a:lnTo>
                    <a:pt x="775007" y="566983"/>
                  </a:lnTo>
                  <a:lnTo>
                    <a:pt x="751649" y="586923"/>
                  </a:lnTo>
                  <a:lnTo>
                    <a:pt x="745816" y="589340"/>
                  </a:lnTo>
                  <a:lnTo>
                    <a:pt x="739740" y="590549"/>
                  </a:lnTo>
                  <a:lnTo>
                    <a:pt x="733426" y="590549"/>
                  </a:lnTo>
                  <a:lnTo>
                    <a:pt x="47626" y="590549"/>
                  </a:lnTo>
                  <a:lnTo>
                    <a:pt x="41310" y="590549"/>
                  </a:lnTo>
                  <a:lnTo>
                    <a:pt x="35235" y="589340"/>
                  </a:lnTo>
                  <a:lnTo>
                    <a:pt x="29399" y="586923"/>
                  </a:lnTo>
                  <a:lnTo>
                    <a:pt x="23564" y="584506"/>
                  </a:lnTo>
                  <a:lnTo>
                    <a:pt x="0" y="549240"/>
                  </a:lnTo>
                  <a:lnTo>
                    <a:pt x="1" y="542924"/>
                  </a:lnTo>
                  <a:close/>
                </a:path>
              </a:pathLst>
            </a:custGeom>
            <a:ln w="19049">
              <a:solidFill>
                <a:srgbClr val="0057A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 descr=""/>
          <p:cNvSpPr txBox="1"/>
          <p:nvPr/>
        </p:nvSpPr>
        <p:spPr>
          <a:xfrm>
            <a:off x="10443963" y="5069458"/>
            <a:ext cx="560070" cy="4826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125730">
              <a:lnSpc>
                <a:spcPct val="115399"/>
              </a:lnSpc>
              <a:spcBef>
                <a:spcPts val="90"/>
              </a:spcBef>
            </a:pPr>
            <a:r>
              <a:rPr dirty="0" sz="1300" spc="-20" b="0">
                <a:solidFill>
                  <a:srgbClr val="002854"/>
                </a:solidFill>
                <a:latin typeface="Roboto Medium"/>
                <a:cs typeface="Roboto Medium"/>
              </a:rPr>
              <a:t>Grid </a:t>
            </a:r>
            <a:r>
              <a:rPr dirty="0" sz="1300" spc="-65" b="0">
                <a:solidFill>
                  <a:srgbClr val="002854"/>
                </a:solidFill>
                <a:latin typeface="Roboto Medium"/>
                <a:cs typeface="Roboto Medium"/>
              </a:rPr>
              <a:t>Devices</a:t>
            </a:r>
            <a:endParaRPr sz="1300">
              <a:latin typeface="Roboto Medium"/>
              <a:cs typeface="Roboto Medium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7431434" y="4046854"/>
            <a:ext cx="1758950" cy="4197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ts val="1530"/>
              </a:lnSpc>
              <a:spcBef>
                <a:spcPts val="135"/>
              </a:spcBef>
            </a:pPr>
            <a:r>
              <a:rPr dirty="0" sz="1000" spc="-25" b="0">
                <a:solidFill>
                  <a:srgbClr val="0057A8"/>
                </a:solidFill>
                <a:latin typeface="Roboto Medium"/>
                <a:cs typeface="Roboto Medium"/>
              </a:rPr>
              <a:t>RMOMP</a:t>
            </a:r>
            <a:r>
              <a:rPr dirty="0" sz="1000" spc="-555" b="0">
                <a:solidFill>
                  <a:srgbClr val="0057A8"/>
                </a:solidFill>
                <a:latin typeface="Roboto Medium"/>
                <a:cs typeface="Roboto Medium"/>
              </a:rPr>
              <a:t>C</a:t>
            </a:r>
            <a:r>
              <a:rPr dirty="0" baseline="12820" sz="1950" spc="-67" b="0">
                <a:solidFill>
                  <a:srgbClr val="002854"/>
                </a:solidFill>
                <a:latin typeface="Roboto Medium"/>
                <a:cs typeface="Roboto Medium"/>
              </a:rPr>
              <a:t>F</a:t>
            </a:r>
            <a:r>
              <a:rPr dirty="0" baseline="12820" sz="1950" spc="-1087" b="0">
                <a:solidFill>
                  <a:srgbClr val="002854"/>
                </a:solidFill>
                <a:latin typeface="Roboto Medium"/>
                <a:cs typeface="Roboto Medium"/>
              </a:rPr>
              <a:t>o</a:t>
            </a:r>
            <a:r>
              <a:rPr dirty="0" sz="1000" spc="-25" b="0">
                <a:solidFill>
                  <a:srgbClr val="0057A8"/>
                </a:solidFill>
                <a:latin typeface="Roboto Medium"/>
                <a:cs typeface="Roboto Medium"/>
              </a:rPr>
              <a:t>I</a:t>
            </a:r>
            <a:r>
              <a:rPr dirty="0" sz="1000" spc="-165" b="0">
                <a:solidFill>
                  <a:srgbClr val="0057A8"/>
                </a:solidFill>
                <a:latin typeface="Roboto Medium"/>
                <a:cs typeface="Roboto Medium"/>
              </a:rPr>
              <a:t>n</a:t>
            </a:r>
            <a:r>
              <a:rPr dirty="0" baseline="12820" sz="1950" spc="-540" b="0">
                <a:solidFill>
                  <a:srgbClr val="002854"/>
                </a:solidFill>
                <a:latin typeface="Roboto Medium"/>
                <a:cs typeface="Roboto Medium"/>
              </a:rPr>
              <a:t>r</a:t>
            </a:r>
            <a:r>
              <a:rPr dirty="0" sz="1000" spc="-45" b="0">
                <a:solidFill>
                  <a:srgbClr val="0057A8"/>
                </a:solidFill>
                <a:latin typeface="Roboto Medium"/>
                <a:cs typeface="Roboto Medium"/>
              </a:rPr>
              <a:t>t</a:t>
            </a:r>
            <a:r>
              <a:rPr dirty="0" baseline="12820" sz="1950" spc="-1087" b="0">
                <a:solidFill>
                  <a:srgbClr val="002854"/>
                </a:solidFill>
                <a:latin typeface="Roboto Medium"/>
                <a:cs typeface="Roboto Medium"/>
              </a:rPr>
              <a:t>e</a:t>
            </a:r>
            <a:r>
              <a:rPr dirty="0" sz="1000" spc="-25" b="0">
                <a:solidFill>
                  <a:srgbClr val="0057A8"/>
                </a:solidFill>
                <a:latin typeface="Roboto Medium"/>
                <a:cs typeface="Roboto Medium"/>
              </a:rPr>
              <a:t>e</a:t>
            </a:r>
            <a:r>
              <a:rPr dirty="0" sz="1000" spc="-430" b="0">
                <a:solidFill>
                  <a:srgbClr val="0057A8"/>
                </a:solidFill>
                <a:latin typeface="Roboto Medium"/>
                <a:cs typeface="Roboto Medium"/>
              </a:rPr>
              <a:t>g</a:t>
            </a:r>
            <a:r>
              <a:rPr dirty="0" baseline="12820" sz="1950" spc="-480" b="0">
                <a:solidFill>
                  <a:srgbClr val="002854"/>
                </a:solidFill>
                <a:latin typeface="Roboto Medium"/>
                <a:cs typeface="Roboto Medium"/>
              </a:rPr>
              <a:t>c</a:t>
            </a:r>
            <a:r>
              <a:rPr dirty="0" sz="1000" spc="-90" b="0">
                <a:solidFill>
                  <a:srgbClr val="0057A8"/>
                </a:solidFill>
                <a:latin typeface="Roboto Medium"/>
                <a:cs typeface="Roboto Medium"/>
              </a:rPr>
              <a:t>r</a:t>
            </a:r>
            <a:r>
              <a:rPr dirty="0" baseline="12820" sz="1950" spc="-1057" b="0">
                <a:solidFill>
                  <a:srgbClr val="002854"/>
                </a:solidFill>
                <a:latin typeface="Roboto Medium"/>
                <a:cs typeface="Roboto Medium"/>
              </a:rPr>
              <a:t>a</a:t>
            </a:r>
            <a:r>
              <a:rPr dirty="0" sz="1000" spc="-25" b="0">
                <a:solidFill>
                  <a:srgbClr val="0057A8"/>
                </a:solidFill>
                <a:latin typeface="Roboto Medium"/>
                <a:cs typeface="Roboto Medium"/>
              </a:rPr>
              <a:t>a</a:t>
            </a:r>
            <a:r>
              <a:rPr dirty="0" sz="1000" spc="-225" b="0">
                <a:solidFill>
                  <a:srgbClr val="0057A8"/>
                </a:solidFill>
                <a:latin typeface="Roboto Medium"/>
                <a:cs typeface="Roboto Medium"/>
              </a:rPr>
              <a:t>t</a:t>
            </a:r>
            <a:r>
              <a:rPr dirty="0" baseline="12820" sz="1950" spc="-772" b="0">
                <a:solidFill>
                  <a:srgbClr val="002854"/>
                </a:solidFill>
                <a:latin typeface="Roboto Medium"/>
                <a:cs typeface="Roboto Medium"/>
              </a:rPr>
              <a:t>s</a:t>
            </a:r>
            <a:r>
              <a:rPr dirty="0" sz="1000" spc="-25" b="0">
                <a:solidFill>
                  <a:srgbClr val="0057A8"/>
                </a:solidFill>
                <a:latin typeface="Roboto Medium"/>
                <a:cs typeface="Roboto Medium"/>
              </a:rPr>
              <a:t>i</a:t>
            </a:r>
            <a:r>
              <a:rPr dirty="0" sz="1000" spc="-365" b="0">
                <a:solidFill>
                  <a:srgbClr val="0057A8"/>
                </a:solidFill>
                <a:latin typeface="Roboto Medium"/>
                <a:cs typeface="Roboto Medium"/>
              </a:rPr>
              <a:t>o</a:t>
            </a:r>
            <a:r>
              <a:rPr dirty="0" baseline="12820" sz="1950" spc="-209" b="0">
                <a:solidFill>
                  <a:srgbClr val="002854"/>
                </a:solidFill>
                <a:latin typeface="Roboto Medium"/>
                <a:cs typeface="Roboto Medium"/>
              </a:rPr>
              <a:t>t</a:t>
            </a:r>
            <a:r>
              <a:rPr dirty="0" sz="1000" spc="-470" b="0">
                <a:solidFill>
                  <a:srgbClr val="0057A8"/>
                </a:solidFill>
                <a:latin typeface="Roboto Medium"/>
                <a:cs typeface="Roboto Medium"/>
              </a:rPr>
              <a:t>n</a:t>
            </a:r>
            <a:r>
              <a:rPr dirty="0" baseline="12820" sz="1950" spc="-37" b="0">
                <a:solidFill>
                  <a:srgbClr val="002854"/>
                </a:solidFill>
                <a:latin typeface="Roboto Medium"/>
                <a:cs typeface="Roboto Medium"/>
              </a:rPr>
              <a:t>i</a:t>
            </a:r>
            <a:r>
              <a:rPr dirty="0" baseline="12820" sz="1950" spc="-615" b="0">
                <a:solidFill>
                  <a:srgbClr val="002854"/>
                </a:solidFill>
                <a:latin typeface="Roboto Medium"/>
                <a:cs typeface="Roboto Medium"/>
              </a:rPr>
              <a:t>n</a:t>
            </a:r>
            <a:r>
              <a:rPr dirty="0" sz="1000" spc="-190" b="0">
                <a:solidFill>
                  <a:srgbClr val="0057A8"/>
                </a:solidFill>
                <a:latin typeface="Roboto Medium"/>
                <a:cs typeface="Roboto Medium"/>
              </a:rPr>
              <a:t>F</a:t>
            </a:r>
            <a:r>
              <a:rPr dirty="0" baseline="12820" sz="1950" spc="-930" b="0">
                <a:solidFill>
                  <a:srgbClr val="002854"/>
                </a:solidFill>
                <a:latin typeface="Roboto Medium"/>
                <a:cs typeface="Roboto Medium"/>
              </a:rPr>
              <a:t>g</a:t>
            </a:r>
            <a:r>
              <a:rPr dirty="0" sz="1000" spc="-50" b="0">
                <a:solidFill>
                  <a:srgbClr val="0057A8"/>
                </a:solidFill>
                <a:latin typeface="Roboto Medium"/>
                <a:cs typeface="Roboto Medium"/>
              </a:rPr>
              <a:t>r</a:t>
            </a:r>
            <a:r>
              <a:rPr dirty="0" sz="1000" spc="-25" b="0">
                <a:solidFill>
                  <a:srgbClr val="0057A8"/>
                </a:solidFill>
                <a:latin typeface="Roboto Medium"/>
                <a:cs typeface="Roboto Medium"/>
              </a:rPr>
              <a:t>amework</a:t>
            </a:r>
            <a:endParaRPr sz="1000">
              <a:latin typeface="Roboto Medium"/>
              <a:cs typeface="Roboto Medium"/>
            </a:endParaRPr>
          </a:p>
          <a:p>
            <a:pPr algn="ctr">
              <a:lnSpc>
                <a:spcPts val="1530"/>
              </a:lnSpc>
            </a:pPr>
            <a:r>
              <a:rPr dirty="0" sz="1300" spc="-10" b="0">
                <a:solidFill>
                  <a:srgbClr val="002854"/>
                </a:solidFill>
                <a:latin typeface="Roboto Medium"/>
                <a:cs typeface="Roboto Medium"/>
              </a:rPr>
              <a:t>Module</a:t>
            </a:r>
            <a:endParaRPr sz="1300">
              <a:latin typeface="Roboto Medium"/>
              <a:cs typeface="Roboto Medium"/>
            </a:endParaRPr>
          </a:p>
        </p:txBody>
      </p:sp>
      <p:pic>
        <p:nvPicPr>
          <p:cNvPr id="47" name="object 47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0" y="6724649"/>
            <a:ext cx="12191999" cy="133349"/>
          </a:xfrm>
          <a:prstGeom prst="rect">
            <a:avLst/>
          </a:prstGeom>
        </p:spPr>
      </p:pic>
      <p:grpSp>
        <p:nvGrpSpPr>
          <p:cNvPr id="48" name="object 48" descr=""/>
          <p:cNvGrpSpPr/>
          <p:nvPr/>
        </p:nvGrpSpPr>
        <p:grpSpPr>
          <a:xfrm>
            <a:off x="10544174" y="6343649"/>
            <a:ext cx="1457325" cy="323850"/>
            <a:chOff x="10544174" y="6343649"/>
            <a:chExt cx="1457325" cy="323850"/>
          </a:xfrm>
        </p:grpSpPr>
        <p:sp>
          <p:nvSpPr>
            <p:cNvPr id="49" name="object 49" descr=""/>
            <p:cNvSpPr/>
            <p:nvPr/>
          </p:nvSpPr>
          <p:spPr>
            <a:xfrm>
              <a:off x="10544174" y="63436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6584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51" name="object 5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94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155"/>
              <a:t>Gens</a:t>
            </a:r>
            <a:fld id="{81D60167-4931-47E6-BA6A-407CBD079E47}" type="slidenum">
              <a:rPr dirty="0" baseline="-12626" sz="1650" spc="-232">
                <a:solidFill>
                  <a:srgbClr val="545454"/>
                </a:solidFill>
                <a:latin typeface="Eras Medium ITC"/>
                <a:cs typeface="Eras Medium ITC"/>
              </a:rPr>
              <a:t>2</a:t>
            </a:fld>
            <a:r>
              <a:rPr dirty="0" sz="1000" spc="-155"/>
              <a:t>pa</a:t>
            </a:r>
            <a:r>
              <a:rPr dirty="0" baseline="-12626" sz="1650" spc="-232">
                <a:solidFill>
                  <a:srgbClr val="545454"/>
                </a:solidFill>
                <a:latin typeface="Eras Medium ITC"/>
                <a:cs typeface="Eras Medium ITC"/>
              </a:rPr>
              <a:t>/</a:t>
            </a:r>
            <a:r>
              <a:rPr dirty="0" sz="1000" spc="-155"/>
              <a:t>rk</a:t>
            </a:r>
            <a:r>
              <a:rPr dirty="0" baseline="-12626" sz="1650" spc="-232">
                <a:solidFill>
                  <a:srgbClr val="545454"/>
                </a:solidFill>
                <a:latin typeface="Eras Medium ITC"/>
                <a:cs typeface="Eras Medium ITC"/>
              </a:rPr>
              <a:t>10</a:t>
            </a:r>
            <a:endParaRPr baseline="-12626" sz="1650">
              <a:latin typeface="Eras Medium ITC"/>
              <a:cs typeface="Eras Medium IT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9902" rIns="0" bIns="0" rtlCol="0" vert="horz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dirty="0" sz="2500" spc="-155"/>
              <a:t>Proposed</a:t>
            </a:r>
            <a:r>
              <a:rPr dirty="0" sz="2500" spc="-10"/>
              <a:t> </a:t>
            </a:r>
            <a:r>
              <a:rPr dirty="0" sz="2500" spc="-200"/>
              <a:t>RMOMPC</a:t>
            </a:r>
            <a:r>
              <a:rPr dirty="0" sz="2500" spc="-5"/>
              <a:t> </a:t>
            </a:r>
            <a:r>
              <a:rPr dirty="0" sz="2500" spc="-140"/>
              <a:t>Framework</a:t>
            </a:r>
            <a:endParaRPr sz="25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1409290"/>
            <a:ext cx="214349" cy="191541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963612" y="1316275"/>
            <a:ext cx="3578860" cy="3054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800" spc="-85">
                <a:solidFill>
                  <a:srgbClr val="333333"/>
                </a:solidFill>
                <a:latin typeface="Roboto"/>
                <a:cs typeface="Roboto"/>
              </a:rPr>
              <a:t>Unified</a:t>
            </a:r>
            <a:r>
              <a:rPr dirty="0" sz="18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0">
                <a:solidFill>
                  <a:srgbClr val="333333"/>
                </a:solidFill>
                <a:latin typeface="Roboto"/>
                <a:cs typeface="Roboto"/>
              </a:rPr>
              <a:t>control</a:t>
            </a:r>
            <a:r>
              <a:rPr dirty="0" sz="18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75">
                <a:solidFill>
                  <a:srgbClr val="333333"/>
                </a:solidFill>
                <a:latin typeface="Roboto"/>
                <a:cs typeface="Roboto"/>
              </a:rPr>
              <a:t>architecture</a:t>
            </a:r>
            <a:r>
              <a:rPr dirty="0" sz="18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55">
                <a:solidFill>
                  <a:srgbClr val="333333"/>
                </a:solidFill>
                <a:latin typeface="Roboto"/>
                <a:cs typeface="Roboto"/>
              </a:rPr>
              <a:t>integrates:</a:t>
            </a:r>
            <a:endParaRPr sz="1800">
              <a:latin typeface="Roboto"/>
              <a:cs typeface="Roboto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0599" y="1943099"/>
            <a:ext cx="76200" cy="7619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149350" y="1823243"/>
            <a:ext cx="4220845" cy="2800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50" spc="-85">
                <a:solidFill>
                  <a:srgbClr val="444444"/>
                </a:solidFill>
                <a:latin typeface="Roboto"/>
                <a:cs typeface="Roboto"/>
              </a:rPr>
              <a:t>Hybrid</a:t>
            </a:r>
            <a:r>
              <a:rPr dirty="0" sz="1650" spc="-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100">
                <a:solidFill>
                  <a:srgbClr val="444444"/>
                </a:solidFill>
                <a:latin typeface="Roboto"/>
                <a:cs typeface="Roboto"/>
              </a:rPr>
              <a:t>LSTM-</a:t>
            </a:r>
            <a:r>
              <a:rPr dirty="0" sz="1650" spc="-85">
                <a:solidFill>
                  <a:srgbClr val="444444"/>
                </a:solidFill>
                <a:latin typeface="Roboto"/>
                <a:cs typeface="Roboto"/>
              </a:rPr>
              <a:t>Wavelet</a:t>
            </a:r>
            <a:r>
              <a:rPr dirty="0" sz="1650" spc="-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70">
                <a:solidFill>
                  <a:srgbClr val="444444"/>
                </a:solidFill>
                <a:latin typeface="Roboto"/>
                <a:cs typeface="Roboto"/>
              </a:rPr>
              <a:t>for</a:t>
            </a:r>
            <a:r>
              <a:rPr dirty="0" sz="165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75">
                <a:solidFill>
                  <a:srgbClr val="444444"/>
                </a:solidFill>
                <a:latin typeface="Roboto"/>
                <a:cs typeface="Roboto"/>
              </a:rPr>
              <a:t>solar</a:t>
            </a:r>
            <a:r>
              <a:rPr dirty="0" sz="1650" spc="-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90">
                <a:solidFill>
                  <a:srgbClr val="444444"/>
                </a:solidFill>
                <a:latin typeface="Roboto"/>
                <a:cs typeface="Roboto"/>
              </a:rPr>
              <a:t>energy</a:t>
            </a:r>
            <a:r>
              <a:rPr dirty="0" sz="1650" spc="-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60">
                <a:solidFill>
                  <a:srgbClr val="444444"/>
                </a:solidFill>
                <a:latin typeface="Roboto"/>
                <a:cs typeface="Roboto"/>
              </a:rPr>
              <a:t>forecasting</a:t>
            </a:r>
            <a:endParaRPr sz="1650">
              <a:latin typeface="Roboto"/>
              <a:cs typeface="Roboto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0599" y="2486024"/>
            <a:ext cx="66674" cy="76199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1143099" y="2191861"/>
            <a:ext cx="4129404" cy="596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3599"/>
              </a:lnSpc>
              <a:spcBef>
                <a:spcPts val="95"/>
              </a:spcBef>
            </a:pPr>
            <a:r>
              <a:rPr dirty="0" sz="1650" spc="-70">
                <a:solidFill>
                  <a:srgbClr val="444444"/>
                </a:solidFill>
                <a:latin typeface="Roboto"/>
                <a:cs typeface="Roboto"/>
              </a:rPr>
              <a:t>Multi-</a:t>
            </a:r>
            <a:r>
              <a:rPr dirty="0" sz="1650" spc="-80">
                <a:solidFill>
                  <a:srgbClr val="444444"/>
                </a:solidFill>
                <a:latin typeface="Roboto"/>
                <a:cs typeface="Roboto"/>
              </a:rPr>
              <a:t>objective</a:t>
            </a:r>
            <a:r>
              <a:rPr dirty="0" sz="165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120">
                <a:solidFill>
                  <a:srgbClr val="444444"/>
                </a:solidFill>
                <a:latin typeface="Roboto"/>
                <a:cs typeface="Roboto"/>
              </a:rPr>
              <a:t>MPC</a:t>
            </a:r>
            <a:r>
              <a:rPr dirty="0" sz="165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80">
                <a:solidFill>
                  <a:srgbClr val="444444"/>
                </a:solidFill>
                <a:latin typeface="Roboto"/>
                <a:cs typeface="Roboto"/>
              </a:rPr>
              <a:t>to</a:t>
            </a:r>
            <a:r>
              <a:rPr dirty="0" sz="165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80">
                <a:solidFill>
                  <a:srgbClr val="444444"/>
                </a:solidFill>
                <a:latin typeface="Roboto"/>
                <a:cs typeface="Roboto"/>
              </a:rPr>
              <a:t>co-</a:t>
            </a:r>
            <a:r>
              <a:rPr dirty="0" sz="1650" spc="-75">
                <a:solidFill>
                  <a:srgbClr val="444444"/>
                </a:solidFill>
                <a:latin typeface="Roboto"/>
                <a:cs typeface="Roboto"/>
              </a:rPr>
              <a:t>optimize</a:t>
            </a:r>
            <a:r>
              <a:rPr dirty="0" sz="1650" spc="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90">
                <a:solidFill>
                  <a:srgbClr val="444444"/>
                </a:solidFill>
                <a:latin typeface="Roboto"/>
                <a:cs typeface="Roboto"/>
              </a:rPr>
              <a:t>power</a:t>
            </a:r>
            <a:r>
              <a:rPr dirty="0" sz="165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70">
                <a:solidFill>
                  <a:srgbClr val="444444"/>
                </a:solidFill>
                <a:latin typeface="Roboto"/>
                <a:cs typeface="Roboto"/>
              </a:rPr>
              <a:t>factor, voltage,</a:t>
            </a:r>
            <a:r>
              <a:rPr dirty="0" sz="1650" spc="-5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25">
                <a:solidFill>
                  <a:srgbClr val="444444"/>
                </a:solidFill>
                <a:latin typeface="Roboto"/>
                <a:cs typeface="Roboto"/>
              </a:rPr>
              <a:t>THD</a:t>
            </a:r>
            <a:endParaRPr sz="1650">
              <a:latin typeface="Roboto"/>
              <a:cs typeface="Roboto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5553" y="2993217"/>
            <a:ext cx="178593" cy="166715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939800" y="2887900"/>
            <a:ext cx="4199255" cy="3054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800" spc="-80">
                <a:solidFill>
                  <a:srgbClr val="333333"/>
                </a:solidFill>
                <a:latin typeface="Roboto"/>
                <a:cs typeface="Roboto"/>
              </a:rPr>
              <a:t>Coordinated</a:t>
            </a:r>
            <a:r>
              <a:rPr dirty="0" sz="18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0">
                <a:solidFill>
                  <a:srgbClr val="333333"/>
                </a:solidFill>
                <a:latin typeface="Roboto"/>
                <a:cs typeface="Roboto"/>
              </a:rPr>
              <a:t>actions</a:t>
            </a:r>
            <a:r>
              <a:rPr dirty="0" sz="18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90">
                <a:solidFill>
                  <a:srgbClr val="333333"/>
                </a:solidFill>
                <a:latin typeface="Roboto"/>
                <a:cs typeface="Roboto"/>
              </a:rPr>
              <a:t>across</a:t>
            </a:r>
            <a:r>
              <a:rPr dirty="0" sz="18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0">
                <a:solidFill>
                  <a:srgbClr val="333333"/>
                </a:solidFill>
                <a:latin typeface="Roboto"/>
                <a:cs typeface="Roboto"/>
              </a:rPr>
              <a:t>multiple</a:t>
            </a:r>
            <a:r>
              <a:rPr dirty="0" sz="18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45">
                <a:solidFill>
                  <a:srgbClr val="333333"/>
                </a:solidFill>
                <a:latin typeface="Roboto"/>
                <a:cs typeface="Roboto"/>
              </a:rPr>
              <a:t>devices:</a:t>
            </a:r>
            <a:endParaRPr sz="1800">
              <a:latin typeface="Roboto"/>
              <a:cs typeface="Roboto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0599" y="3514724"/>
            <a:ext cx="76200" cy="76199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1149350" y="3394868"/>
            <a:ext cx="2353310" cy="2800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50" spc="-105">
                <a:solidFill>
                  <a:srgbClr val="444444"/>
                </a:solidFill>
                <a:latin typeface="Roboto"/>
                <a:cs typeface="Roboto"/>
              </a:rPr>
              <a:t>PV</a:t>
            </a:r>
            <a:r>
              <a:rPr dirty="0" sz="1650" spc="-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75">
                <a:solidFill>
                  <a:srgbClr val="444444"/>
                </a:solidFill>
                <a:latin typeface="Roboto"/>
                <a:cs typeface="Roboto"/>
              </a:rPr>
              <a:t>inverters</a:t>
            </a:r>
            <a:r>
              <a:rPr dirty="0" sz="1650" spc="-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75">
                <a:solidFill>
                  <a:srgbClr val="444444"/>
                </a:solidFill>
                <a:latin typeface="Roboto"/>
                <a:cs typeface="Roboto"/>
              </a:rPr>
              <a:t>with</a:t>
            </a:r>
            <a:r>
              <a:rPr dirty="0" sz="1650" spc="-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114">
                <a:solidFill>
                  <a:srgbClr val="444444"/>
                </a:solidFill>
                <a:latin typeface="Roboto"/>
                <a:cs typeface="Roboto"/>
              </a:rPr>
              <a:t>LCL</a:t>
            </a:r>
            <a:r>
              <a:rPr dirty="0" sz="1650" spc="-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55">
                <a:solidFill>
                  <a:srgbClr val="444444"/>
                </a:solidFill>
                <a:latin typeface="Roboto"/>
                <a:cs typeface="Roboto"/>
              </a:rPr>
              <a:t>filters</a:t>
            </a:r>
            <a:endParaRPr sz="1650">
              <a:latin typeface="Roboto"/>
              <a:cs typeface="Roboto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0599" y="3914774"/>
            <a:ext cx="76200" cy="76199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1149350" y="3794918"/>
            <a:ext cx="2548255" cy="2800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50" spc="-140">
                <a:solidFill>
                  <a:srgbClr val="444444"/>
                </a:solidFill>
                <a:latin typeface="Roboto"/>
                <a:cs typeface="Roboto"/>
              </a:rPr>
              <a:t>STATCOM</a:t>
            </a:r>
            <a:r>
              <a:rPr dirty="0" sz="165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70">
                <a:solidFill>
                  <a:srgbClr val="444444"/>
                </a:solidFill>
                <a:latin typeface="Roboto"/>
                <a:cs typeface="Roboto"/>
              </a:rPr>
              <a:t>for</a:t>
            </a:r>
            <a:r>
              <a:rPr dirty="0" sz="1650" spc="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80">
                <a:solidFill>
                  <a:srgbClr val="444444"/>
                </a:solidFill>
                <a:latin typeface="Roboto"/>
                <a:cs typeface="Roboto"/>
              </a:rPr>
              <a:t>voltage</a:t>
            </a:r>
            <a:r>
              <a:rPr dirty="0" sz="165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60">
                <a:solidFill>
                  <a:srgbClr val="444444"/>
                </a:solidFill>
                <a:latin typeface="Roboto"/>
                <a:cs typeface="Roboto"/>
              </a:rPr>
              <a:t>support</a:t>
            </a:r>
            <a:endParaRPr sz="1650">
              <a:latin typeface="Roboto"/>
              <a:cs typeface="Roboto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0599" y="4314824"/>
            <a:ext cx="76200" cy="76199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1149350" y="4194968"/>
            <a:ext cx="2404745" cy="2800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50" spc="-105">
                <a:solidFill>
                  <a:srgbClr val="444444"/>
                </a:solidFill>
                <a:latin typeface="Roboto"/>
                <a:cs typeface="Roboto"/>
              </a:rPr>
              <a:t>UPFC</a:t>
            </a:r>
            <a:r>
              <a:rPr dirty="0" sz="1650" spc="-2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70">
                <a:solidFill>
                  <a:srgbClr val="444444"/>
                </a:solidFill>
                <a:latin typeface="Roboto"/>
                <a:cs typeface="Roboto"/>
              </a:rPr>
              <a:t>for</a:t>
            </a:r>
            <a:r>
              <a:rPr dirty="0" sz="1650" spc="-2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90">
                <a:solidFill>
                  <a:srgbClr val="444444"/>
                </a:solidFill>
                <a:latin typeface="Roboto"/>
                <a:cs typeface="Roboto"/>
              </a:rPr>
              <a:t>power</a:t>
            </a:r>
            <a:r>
              <a:rPr dirty="0" sz="1650" spc="-2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85">
                <a:solidFill>
                  <a:srgbClr val="444444"/>
                </a:solidFill>
                <a:latin typeface="Roboto"/>
                <a:cs typeface="Roboto"/>
              </a:rPr>
              <a:t>flow</a:t>
            </a:r>
            <a:r>
              <a:rPr dirty="0" sz="1650" spc="-1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60">
                <a:solidFill>
                  <a:srgbClr val="444444"/>
                </a:solidFill>
                <a:latin typeface="Roboto"/>
                <a:cs typeface="Roboto"/>
              </a:rPr>
              <a:t>control</a:t>
            </a:r>
            <a:endParaRPr sz="1650">
              <a:latin typeface="Roboto"/>
              <a:cs typeface="Roboto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9599" y="4678188"/>
            <a:ext cx="190537" cy="168622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939800" y="4573825"/>
            <a:ext cx="4255770" cy="3054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800" spc="-75">
                <a:solidFill>
                  <a:srgbClr val="333333"/>
                </a:solidFill>
                <a:latin typeface="Roboto"/>
                <a:cs typeface="Roboto"/>
              </a:rPr>
              <a:t>Stochastic</a:t>
            </a:r>
            <a:r>
              <a:rPr dirty="0" sz="18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90">
                <a:solidFill>
                  <a:srgbClr val="333333"/>
                </a:solidFill>
                <a:latin typeface="Roboto"/>
                <a:cs typeface="Roboto"/>
              </a:rPr>
              <a:t>modeling</a:t>
            </a:r>
            <a:r>
              <a:rPr dirty="0" sz="18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5">
                <a:solidFill>
                  <a:srgbClr val="333333"/>
                </a:solidFill>
                <a:latin typeface="Roboto"/>
                <a:cs typeface="Roboto"/>
              </a:rPr>
              <a:t>handles</a:t>
            </a:r>
            <a:r>
              <a:rPr dirty="0" sz="18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70">
                <a:solidFill>
                  <a:srgbClr val="333333"/>
                </a:solidFill>
                <a:latin typeface="Roboto"/>
                <a:cs typeface="Roboto"/>
              </a:rPr>
              <a:t>uncertainties</a:t>
            </a:r>
            <a:r>
              <a:rPr dirty="0" sz="18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25">
                <a:solidFill>
                  <a:srgbClr val="333333"/>
                </a:solidFill>
                <a:latin typeface="Roboto"/>
                <a:cs typeface="Roboto"/>
              </a:rPr>
              <a:t>in:</a:t>
            </a:r>
            <a:endParaRPr sz="1800">
              <a:latin typeface="Roboto"/>
              <a:cs typeface="Roboto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0599" y="5191124"/>
            <a:ext cx="76200" cy="76199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1149350" y="5071268"/>
            <a:ext cx="2754630" cy="2800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50" spc="-85">
                <a:solidFill>
                  <a:srgbClr val="444444"/>
                </a:solidFill>
                <a:latin typeface="Roboto"/>
                <a:cs typeface="Roboto"/>
              </a:rPr>
              <a:t>Renewable</a:t>
            </a:r>
            <a:r>
              <a:rPr dirty="0" sz="1650" spc="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85">
                <a:solidFill>
                  <a:srgbClr val="444444"/>
                </a:solidFill>
                <a:latin typeface="Roboto"/>
                <a:cs typeface="Roboto"/>
              </a:rPr>
              <a:t>generation</a:t>
            </a:r>
            <a:r>
              <a:rPr dirty="0" sz="1650" spc="1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55">
                <a:solidFill>
                  <a:srgbClr val="444444"/>
                </a:solidFill>
                <a:latin typeface="Roboto"/>
                <a:cs typeface="Roboto"/>
              </a:rPr>
              <a:t>variability</a:t>
            </a:r>
            <a:endParaRPr sz="1650">
              <a:latin typeface="Roboto"/>
              <a:cs typeface="Roboto"/>
            </a:endParaRPr>
          </a:p>
        </p:txBody>
      </p:sp>
      <p:pic>
        <p:nvPicPr>
          <p:cNvPr id="21" name="object 2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0599" y="5591174"/>
            <a:ext cx="76200" cy="76199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1149350" y="5471318"/>
            <a:ext cx="3478529" cy="2800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50" spc="-95">
                <a:solidFill>
                  <a:srgbClr val="444444"/>
                </a:solidFill>
                <a:latin typeface="Roboto"/>
                <a:cs typeface="Roboto"/>
              </a:rPr>
              <a:t>Load</a:t>
            </a:r>
            <a:r>
              <a:rPr dirty="0" sz="165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80">
                <a:solidFill>
                  <a:srgbClr val="444444"/>
                </a:solidFill>
                <a:latin typeface="Roboto"/>
                <a:cs typeface="Roboto"/>
              </a:rPr>
              <a:t>fluctuations</a:t>
            </a:r>
            <a:r>
              <a:rPr dirty="0" sz="165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90">
                <a:solidFill>
                  <a:srgbClr val="444444"/>
                </a:solidFill>
                <a:latin typeface="Roboto"/>
                <a:cs typeface="Roboto"/>
              </a:rPr>
              <a:t>and</a:t>
            </a:r>
            <a:r>
              <a:rPr dirty="0" sz="1650" spc="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80">
                <a:solidFill>
                  <a:srgbClr val="444444"/>
                </a:solidFill>
                <a:latin typeface="Roboto"/>
                <a:cs typeface="Roboto"/>
              </a:rPr>
              <a:t>harmonic</a:t>
            </a:r>
            <a:r>
              <a:rPr dirty="0" sz="165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60">
                <a:solidFill>
                  <a:srgbClr val="444444"/>
                </a:solidFill>
                <a:latin typeface="Roboto"/>
                <a:cs typeface="Roboto"/>
              </a:rPr>
              <a:t>injection</a:t>
            </a:r>
            <a:endParaRPr sz="1650">
              <a:latin typeface="Roboto"/>
              <a:cs typeface="Roboto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7256958" y="5982572"/>
            <a:ext cx="3307715" cy="2038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50" spc="-45">
                <a:solidFill>
                  <a:srgbClr val="6A7280"/>
                </a:solidFill>
                <a:latin typeface="Roboto"/>
                <a:cs typeface="Roboto"/>
              </a:rPr>
              <a:t>Fig</a:t>
            </a:r>
            <a:r>
              <a:rPr dirty="0" sz="1150" spc="-5">
                <a:solidFill>
                  <a:srgbClr val="6A7280"/>
                </a:solidFill>
                <a:latin typeface="Roboto"/>
                <a:cs typeface="Roboto"/>
              </a:rPr>
              <a:t> </a:t>
            </a:r>
            <a:r>
              <a:rPr dirty="0" sz="1150" spc="-35">
                <a:solidFill>
                  <a:srgbClr val="6A7280"/>
                </a:solidFill>
                <a:latin typeface="Roboto"/>
                <a:cs typeface="Roboto"/>
              </a:rPr>
              <a:t>1:</a:t>
            </a:r>
            <a:r>
              <a:rPr dirty="0" sz="1150" spc="-5">
                <a:solidFill>
                  <a:srgbClr val="6A7280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6A7280"/>
                </a:solidFill>
                <a:latin typeface="Roboto"/>
                <a:cs typeface="Roboto"/>
              </a:rPr>
              <a:t>Block</a:t>
            </a:r>
            <a:r>
              <a:rPr dirty="0" sz="1150">
                <a:solidFill>
                  <a:srgbClr val="6A7280"/>
                </a:solidFill>
                <a:latin typeface="Roboto"/>
                <a:cs typeface="Roboto"/>
              </a:rPr>
              <a:t> </a:t>
            </a:r>
            <a:r>
              <a:rPr dirty="0" sz="1150" spc="-70">
                <a:solidFill>
                  <a:srgbClr val="6A7280"/>
                </a:solidFill>
                <a:latin typeface="Roboto"/>
                <a:cs typeface="Roboto"/>
              </a:rPr>
              <a:t>Diagram</a:t>
            </a:r>
            <a:r>
              <a:rPr dirty="0" sz="1150" spc="-5">
                <a:solidFill>
                  <a:srgbClr val="6A728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6A7280"/>
                </a:solidFill>
                <a:latin typeface="Roboto"/>
                <a:cs typeface="Roboto"/>
              </a:rPr>
              <a:t>of</a:t>
            </a:r>
            <a:r>
              <a:rPr dirty="0" sz="1150" spc="-5">
                <a:solidFill>
                  <a:srgbClr val="6A7280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6A7280"/>
                </a:solidFill>
                <a:latin typeface="Roboto"/>
                <a:cs typeface="Roboto"/>
              </a:rPr>
              <a:t>Proposed</a:t>
            </a:r>
            <a:r>
              <a:rPr dirty="0" sz="1150">
                <a:solidFill>
                  <a:srgbClr val="6A7280"/>
                </a:solidFill>
                <a:latin typeface="Roboto"/>
                <a:cs typeface="Roboto"/>
              </a:rPr>
              <a:t> </a:t>
            </a:r>
            <a:r>
              <a:rPr dirty="0" sz="1150" spc="-80">
                <a:solidFill>
                  <a:srgbClr val="6A7280"/>
                </a:solidFill>
                <a:latin typeface="Roboto"/>
                <a:cs typeface="Roboto"/>
              </a:rPr>
              <a:t>RMOMPC</a:t>
            </a:r>
            <a:r>
              <a:rPr dirty="0" sz="1150" spc="-5">
                <a:solidFill>
                  <a:srgbClr val="6A728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6A7280"/>
                </a:solidFill>
                <a:latin typeface="Roboto"/>
                <a:cs typeface="Roboto"/>
              </a:rPr>
              <a:t>Framework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0809782" y="500615"/>
            <a:ext cx="1014094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20" b="1">
                <a:solidFill>
                  <a:srgbClr val="6A7280"/>
                </a:solidFill>
                <a:latin typeface="Roboto"/>
                <a:cs typeface="Roboto"/>
              </a:rPr>
              <a:t>IEEE</a:t>
            </a:r>
            <a:r>
              <a:rPr dirty="0" sz="1100" spc="-40" b="1">
                <a:solidFill>
                  <a:srgbClr val="6A7280"/>
                </a:solidFill>
                <a:latin typeface="Roboto"/>
                <a:cs typeface="Roboto"/>
              </a:rPr>
              <a:t> </a:t>
            </a:r>
            <a:r>
              <a:rPr dirty="0" sz="1100" spc="-35" b="1">
                <a:solidFill>
                  <a:srgbClr val="6A7280"/>
                </a:solidFill>
                <a:latin typeface="Roboto"/>
                <a:cs typeface="Roboto"/>
              </a:rPr>
              <a:t>Conference</a:t>
            </a:r>
            <a:endParaRPr sz="1100">
              <a:latin typeface="Roboto"/>
              <a:cs typeface="Roboto"/>
            </a:endParaRPr>
          </a:p>
        </p:txBody>
      </p:sp>
      <p:pic>
        <p:nvPicPr>
          <p:cNvPr id="25" name="object 25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38873" y="1352549"/>
            <a:ext cx="5343524" cy="4571999"/>
          </a:xfrm>
          <a:prstGeom prst="rect">
            <a:avLst/>
          </a:prstGeom>
        </p:spPr>
      </p:pic>
      <p:sp>
        <p:nvSpPr>
          <p:cNvPr id="26" name="object 26" descr=""/>
          <p:cNvSpPr txBox="1"/>
          <p:nvPr/>
        </p:nvSpPr>
        <p:spPr>
          <a:xfrm>
            <a:off x="6967785" y="1855478"/>
            <a:ext cx="1267460" cy="783590"/>
          </a:xfrm>
          <a:prstGeom prst="rect">
            <a:avLst/>
          </a:prstGeom>
        </p:spPr>
        <p:txBody>
          <a:bodyPr wrap="square" lIns="0" tIns="654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1150" spc="-60" b="0">
                <a:solidFill>
                  <a:srgbClr val="002854"/>
                </a:solidFill>
                <a:latin typeface="Roboto Medium"/>
                <a:cs typeface="Roboto Medium"/>
              </a:rPr>
              <a:t>Forecasting</a:t>
            </a:r>
            <a:r>
              <a:rPr dirty="0" sz="1150" spc="30" b="0">
                <a:solidFill>
                  <a:srgbClr val="002854"/>
                </a:solidFill>
                <a:latin typeface="Roboto Medium"/>
                <a:cs typeface="Roboto Medium"/>
              </a:rPr>
              <a:t> </a:t>
            </a:r>
            <a:r>
              <a:rPr dirty="0" sz="1150" spc="-10" b="0">
                <a:solidFill>
                  <a:srgbClr val="002854"/>
                </a:solidFill>
                <a:latin typeface="Roboto Medium"/>
                <a:cs typeface="Roboto Medium"/>
              </a:rPr>
              <a:t>Module</a:t>
            </a:r>
            <a:endParaRPr sz="1150">
              <a:latin typeface="Roboto Medium"/>
              <a:cs typeface="Roboto Medium"/>
            </a:endParaRPr>
          </a:p>
          <a:p>
            <a:pPr marL="50165">
              <a:lnSpc>
                <a:spcPct val="100000"/>
              </a:lnSpc>
              <a:spcBef>
                <a:spcPts val="345"/>
              </a:spcBef>
            </a:pPr>
            <a:r>
              <a:rPr dirty="0" sz="1000" spc="-55" b="0">
                <a:solidFill>
                  <a:srgbClr val="002854"/>
                </a:solidFill>
                <a:latin typeface="Roboto Medium"/>
                <a:cs typeface="Roboto Medium"/>
              </a:rPr>
              <a:t>Hybrid</a:t>
            </a:r>
            <a:r>
              <a:rPr dirty="0" sz="1000" spc="40" b="0">
                <a:solidFill>
                  <a:srgbClr val="002854"/>
                </a:solidFill>
                <a:latin typeface="Roboto Medium"/>
                <a:cs typeface="Roboto Medium"/>
              </a:rPr>
              <a:t> </a:t>
            </a:r>
            <a:r>
              <a:rPr dirty="0" sz="1000" spc="-70" b="0">
                <a:solidFill>
                  <a:srgbClr val="002854"/>
                </a:solidFill>
                <a:latin typeface="Roboto Medium"/>
                <a:cs typeface="Roboto Medium"/>
              </a:rPr>
              <a:t>LSTM-</a:t>
            </a:r>
            <a:r>
              <a:rPr dirty="0" sz="1000" spc="-10" b="0">
                <a:solidFill>
                  <a:srgbClr val="002854"/>
                </a:solidFill>
                <a:latin typeface="Roboto Medium"/>
                <a:cs typeface="Roboto Medium"/>
              </a:rPr>
              <a:t>Wavelet</a:t>
            </a:r>
            <a:endParaRPr sz="1000">
              <a:latin typeface="Roboto Medium"/>
              <a:cs typeface="Roboto Medium"/>
            </a:endParaRPr>
          </a:p>
          <a:p>
            <a:pPr marL="699770">
              <a:lnSpc>
                <a:spcPct val="100000"/>
              </a:lnSpc>
              <a:spcBef>
                <a:spcPts val="75"/>
              </a:spcBef>
            </a:pPr>
            <a:r>
              <a:rPr dirty="0" sz="1000" spc="-10">
                <a:solidFill>
                  <a:srgbClr val="545454"/>
                </a:solidFill>
                <a:latin typeface="Roboto"/>
                <a:cs typeface="Roboto"/>
              </a:rPr>
              <a:t>Predicted</a:t>
            </a:r>
            <a:endParaRPr sz="1000">
              <a:latin typeface="Roboto"/>
              <a:cs typeface="Roboto"/>
            </a:endParaRPr>
          </a:p>
          <a:p>
            <a:pPr marL="699770">
              <a:lnSpc>
                <a:spcPct val="100000"/>
              </a:lnSpc>
              <a:spcBef>
                <a:spcPts val="150"/>
              </a:spcBef>
            </a:pPr>
            <a:r>
              <a:rPr dirty="0" sz="1000" spc="-50">
                <a:solidFill>
                  <a:srgbClr val="545454"/>
                </a:solidFill>
                <a:latin typeface="Roboto"/>
                <a:cs typeface="Roboto"/>
              </a:rPr>
              <a:t>Generation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6837709" y="2903228"/>
            <a:ext cx="1469390" cy="450215"/>
          </a:xfrm>
          <a:prstGeom prst="rect">
            <a:avLst/>
          </a:prstGeom>
        </p:spPr>
        <p:txBody>
          <a:bodyPr wrap="square" lIns="0" tIns="65404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15"/>
              </a:spcBef>
            </a:pPr>
            <a:r>
              <a:rPr dirty="0" sz="1150" spc="-80" b="0">
                <a:solidFill>
                  <a:srgbClr val="002854"/>
                </a:solidFill>
                <a:latin typeface="Roboto Medium"/>
                <a:cs typeface="Roboto Medium"/>
              </a:rPr>
              <a:t>RMOMPC</a:t>
            </a:r>
            <a:r>
              <a:rPr dirty="0" sz="1150" spc="-25" b="0">
                <a:solidFill>
                  <a:srgbClr val="002854"/>
                </a:solidFill>
                <a:latin typeface="Roboto Medium"/>
                <a:cs typeface="Roboto Medium"/>
              </a:rPr>
              <a:t> </a:t>
            </a:r>
            <a:r>
              <a:rPr dirty="0" sz="1150" spc="-20" b="0">
                <a:solidFill>
                  <a:srgbClr val="002854"/>
                </a:solidFill>
                <a:latin typeface="Roboto Medium"/>
                <a:cs typeface="Roboto Medium"/>
              </a:rPr>
              <a:t>Core</a:t>
            </a:r>
            <a:endParaRPr sz="1150">
              <a:latin typeface="Roboto Medium"/>
              <a:cs typeface="Roboto Medium"/>
            </a:endParaRPr>
          </a:p>
          <a:p>
            <a:pPr algn="ctr">
              <a:lnSpc>
                <a:spcPct val="100000"/>
              </a:lnSpc>
              <a:spcBef>
                <a:spcPts val="345"/>
              </a:spcBef>
            </a:pPr>
            <a:r>
              <a:rPr dirty="0" sz="1000" spc="-50" b="0">
                <a:solidFill>
                  <a:srgbClr val="002854"/>
                </a:solidFill>
                <a:latin typeface="Roboto Medium"/>
                <a:cs typeface="Roboto Medium"/>
              </a:rPr>
              <a:t>Multi-</a:t>
            </a:r>
            <a:r>
              <a:rPr dirty="0" sz="1000" spc="-55" b="0">
                <a:solidFill>
                  <a:srgbClr val="002854"/>
                </a:solidFill>
                <a:latin typeface="Roboto Medium"/>
                <a:cs typeface="Roboto Medium"/>
              </a:rPr>
              <a:t>objective</a:t>
            </a:r>
            <a:r>
              <a:rPr dirty="0" sz="1000" spc="35" b="0">
                <a:solidFill>
                  <a:srgbClr val="002854"/>
                </a:solidFill>
                <a:latin typeface="Roboto Medium"/>
                <a:cs typeface="Roboto Medium"/>
              </a:rPr>
              <a:t> </a:t>
            </a:r>
            <a:r>
              <a:rPr dirty="0" sz="1000" spc="-35" b="0">
                <a:solidFill>
                  <a:srgbClr val="002854"/>
                </a:solidFill>
                <a:latin typeface="Roboto Medium"/>
                <a:cs typeface="Roboto Medium"/>
              </a:rPr>
              <a:t>Optimization</a:t>
            </a:r>
            <a:endParaRPr sz="1000">
              <a:latin typeface="Roboto Medium"/>
              <a:cs typeface="Roboto Medium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9419282" y="2477373"/>
            <a:ext cx="878205" cy="2038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50" spc="-60" b="0">
                <a:solidFill>
                  <a:srgbClr val="002854"/>
                </a:solidFill>
                <a:latin typeface="Roboto Medium"/>
                <a:cs typeface="Roboto Medium"/>
              </a:rPr>
              <a:t>System</a:t>
            </a:r>
            <a:r>
              <a:rPr dirty="0" sz="1150" spc="-20" b="0">
                <a:solidFill>
                  <a:srgbClr val="002854"/>
                </a:solidFill>
                <a:latin typeface="Roboto Medium"/>
                <a:cs typeface="Roboto Medium"/>
              </a:rPr>
              <a:t> </a:t>
            </a:r>
            <a:r>
              <a:rPr dirty="0" sz="1150" spc="-50" b="0">
                <a:solidFill>
                  <a:srgbClr val="002854"/>
                </a:solidFill>
                <a:latin typeface="Roboto Medium"/>
                <a:cs typeface="Roboto Medium"/>
              </a:rPr>
              <a:t>Model</a:t>
            </a:r>
            <a:endParaRPr sz="1150">
              <a:latin typeface="Roboto Medium"/>
              <a:cs typeface="Roboto Medium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8607425" y="2746406"/>
            <a:ext cx="619760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100"/>
              </a:spcBef>
            </a:pPr>
            <a:r>
              <a:rPr dirty="0" sz="1000" spc="-10">
                <a:solidFill>
                  <a:srgbClr val="545454"/>
                </a:solidFill>
                <a:latin typeface="Roboto"/>
                <a:cs typeface="Roboto"/>
              </a:rPr>
              <a:t>State </a:t>
            </a:r>
            <a:r>
              <a:rPr dirty="0" sz="1000" spc="-60">
                <a:solidFill>
                  <a:srgbClr val="545454"/>
                </a:solidFill>
                <a:latin typeface="Roboto"/>
                <a:cs typeface="Roboto"/>
              </a:rPr>
              <a:t>Information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6959600" y="4001372"/>
            <a:ext cx="1225550" cy="2038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50" spc="-60" b="0">
                <a:solidFill>
                  <a:srgbClr val="002854"/>
                </a:solidFill>
                <a:latin typeface="Roboto Medium"/>
                <a:cs typeface="Roboto Medium"/>
              </a:rPr>
              <a:t>Coordinated</a:t>
            </a:r>
            <a:r>
              <a:rPr dirty="0" sz="1150" spc="35" b="0">
                <a:solidFill>
                  <a:srgbClr val="002854"/>
                </a:solidFill>
                <a:latin typeface="Roboto Medium"/>
                <a:cs typeface="Roboto Medium"/>
              </a:rPr>
              <a:t> </a:t>
            </a:r>
            <a:r>
              <a:rPr dirty="0" sz="1150" spc="-40" b="0">
                <a:solidFill>
                  <a:srgbClr val="002854"/>
                </a:solidFill>
                <a:latin typeface="Roboto Medium"/>
                <a:cs typeface="Roboto Medium"/>
              </a:rPr>
              <a:t>Control</a:t>
            </a:r>
            <a:endParaRPr sz="1150">
              <a:latin typeface="Roboto Medium"/>
              <a:cs typeface="Roboto Medium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0133210" y="2883995"/>
            <a:ext cx="612775" cy="6172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4604">
              <a:lnSpc>
                <a:spcPct val="114100"/>
              </a:lnSpc>
              <a:spcBef>
                <a:spcPts val="95"/>
              </a:spcBef>
            </a:pPr>
            <a:r>
              <a:rPr dirty="0" sz="1150" spc="-45" b="0">
                <a:solidFill>
                  <a:srgbClr val="333333"/>
                </a:solidFill>
                <a:latin typeface="Roboto Medium"/>
                <a:cs typeface="Roboto Medium"/>
              </a:rPr>
              <a:t>Objective </a:t>
            </a:r>
            <a:r>
              <a:rPr dirty="0" sz="1150" spc="-60" b="0">
                <a:solidFill>
                  <a:srgbClr val="333333"/>
                </a:solidFill>
                <a:latin typeface="Roboto Medium"/>
                <a:cs typeface="Roboto Medium"/>
              </a:rPr>
              <a:t>Functions</a:t>
            </a:r>
            <a:endParaRPr sz="1150">
              <a:latin typeface="Roboto Medium"/>
              <a:cs typeface="Roboto Medium"/>
            </a:endParaRPr>
          </a:p>
          <a:p>
            <a:pPr marL="24130">
              <a:lnSpc>
                <a:spcPct val="100000"/>
              </a:lnSpc>
              <a:spcBef>
                <a:spcPts val="545"/>
              </a:spcBef>
            </a:pPr>
            <a:r>
              <a:rPr dirty="0" sz="800" spc="-40" b="0">
                <a:solidFill>
                  <a:srgbClr val="545454"/>
                </a:solidFill>
                <a:latin typeface="Roboto Medium"/>
                <a:cs typeface="Roboto Medium"/>
              </a:rPr>
              <a:t>Power</a:t>
            </a:r>
            <a:r>
              <a:rPr dirty="0" sz="800" spc="25" b="0">
                <a:solidFill>
                  <a:srgbClr val="545454"/>
                </a:solidFill>
                <a:latin typeface="Roboto Medium"/>
                <a:cs typeface="Roboto Medium"/>
              </a:rPr>
              <a:t> </a:t>
            </a:r>
            <a:r>
              <a:rPr dirty="0" sz="800" spc="-10" b="0">
                <a:solidFill>
                  <a:srgbClr val="545454"/>
                </a:solidFill>
                <a:latin typeface="Roboto Medium"/>
                <a:cs typeface="Roboto Medium"/>
              </a:rPr>
              <a:t>Factor</a:t>
            </a:r>
            <a:endParaRPr sz="800">
              <a:latin typeface="Roboto Medium"/>
              <a:cs typeface="Roboto Medium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10023672" y="3548459"/>
            <a:ext cx="831850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-30" b="0">
                <a:solidFill>
                  <a:srgbClr val="545454"/>
                </a:solidFill>
                <a:latin typeface="Roboto Medium"/>
                <a:cs typeface="Roboto Medium"/>
              </a:rPr>
              <a:t>Voltage</a:t>
            </a:r>
            <a:r>
              <a:rPr dirty="0" sz="800" spc="-5" b="0">
                <a:solidFill>
                  <a:srgbClr val="545454"/>
                </a:solidFill>
                <a:latin typeface="Roboto Medium"/>
                <a:cs typeface="Roboto Medium"/>
              </a:rPr>
              <a:t> </a:t>
            </a:r>
            <a:r>
              <a:rPr dirty="0" sz="800" spc="-20" b="0">
                <a:solidFill>
                  <a:srgbClr val="545454"/>
                </a:solidFill>
                <a:latin typeface="Roboto Medium"/>
                <a:cs typeface="Roboto Medium"/>
              </a:rPr>
              <a:t>Regulation</a:t>
            </a:r>
            <a:endParaRPr sz="800">
              <a:latin typeface="Roboto Medium"/>
              <a:cs typeface="Roboto Medium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0105677" y="3748484"/>
            <a:ext cx="667385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-40" b="0">
                <a:solidFill>
                  <a:srgbClr val="545454"/>
                </a:solidFill>
                <a:latin typeface="Roboto Medium"/>
                <a:cs typeface="Roboto Medium"/>
              </a:rPr>
              <a:t>THD</a:t>
            </a:r>
            <a:r>
              <a:rPr dirty="0" sz="800" b="0">
                <a:solidFill>
                  <a:srgbClr val="545454"/>
                </a:solidFill>
                <a:latin typeface="Roboto Medium"/>
                <a:cs typeface="Roboto Medium"/>
              </a:rPr>
              <a:t> </a:t>
            </a:r>
            <a:r>
              <a:rPr dirty="0" sz="800" spc="-25" b="0">
                <a:solidFill>
                  <a:srgbClr val="545454"/>
                </a:solidFill>
                <a:latin typeface="Roboto Medium"/>
                <a:cs typeface="Roboto Medium"/>
              </a:rPr>
              <a:t>Reduction</a:t>
            </a:r>
            <a:endParaRPr sz="800">
              <a:latin typeface="Roboto Medium"/>
              <a:cs typeface="Roboto Medium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6620569" y="4715747"/>
            <a:ext cx="760730" cy="2038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50" spc="-80" b="0">
                <a:solidFill>
                  <a:srgbClr val="333333"/>
                </a:solidFill>
                <a:latin typeface="Roboto Medium"/>
                <a:cs typeface="Roboto Medium"/>
              </a:rPr>
              <a:t>PV</a:t>
            </a:r>
            <a:r>
              <a:rPr dirty="0" sz="1150" spc="-15" b="0">
                <a:solidFill>
                  <a:srgbClr val="333333"/>
                </a:solidFill>
                <a:latin typeface="Roboto Medium"/>
                <a:cs typeface="Roboto Medium"/>
              </a:rPr>
              <a:t> </a:t>
            </a:r>
            <a:r>
              <a:rPr dirty="0" sz="1150" spc="-40" b="0">
                <a:solidFill>
                  <a:srgbClr val="333333"/>
                </a:solidFill>
                <a:latin typeface="Roboto Medium"/>
                <a:cs typeface="Roboto Medium"/>
              </a:rPr>
              <a:t>Inverters</a:t>
            </a:r>
            <a:endParaRPr sz="1150">
              <a:latin typeface="Roboto Medium"/>
              <a:cs typeface="Roboto Medium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7920732" y="4715747"/>
            <a:ext cx="636905" cy="2038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50" spc="-90" b="0">
                <a:solidFill>
                  <a:srgbClr val="333333"/>
                </a:solidFill>
                <a:latin typeface="Roboto Medium"/>
                <a:cs typeface="Roboto Medium"/>
              </a:rPr>
              <a:t>STATCOM</a:t>
            </a:r>
            <a:endParaRPr sz="1150">
              <a:latin typeface="Roboto Medium"/>
              <a:cs typeface="Roboto Medium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7655371" y="5160470"/>
            <a:ext cx="1167765" cy="4254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22885" marR="5080" indent="-210820">
              <a:lnSpc>
                <a:spcPct val="114100"/>
              </a:lnSpc>
              <a:spcBef>
                <a:spcPts val="95"/>
              </a:spcBef>
            </a:pPr>
            <a:r>
              <a:rPr dirty="0" sz="1150" spc="-65" b="0">
                <a:solidFill>
                  <a:srgbClr val="002854"/>
                </a:solidFill>
                <a:latin typeface="Roboto Medium"/>
                <a:cs typeface="Roboto Medium"/>
              </a:rPr>
              <a:t>Power</a:t>
            </a:r>
            <a:r>
              <a:rPr dirty="0" sz="1150" spc="-25" b="0">
                <a:solidFill>
                  <a:srgbClr val="002854"/>
                </a:solidFill>
                <a:latin typeface="Roboto Medium"/>
                <a:cs typeface="Roboto Medium"/>
              </a:rPr>
              <a:t> </a:t>
            </a:r>
            <a:r>
              <a:rPr dirty="0" sz="1150" spc="-60" b="0">
                <a:solidFill>
                  <a:srgbClr val="002854"/>
                </a:solidFill>
                <a:latin typeface="Roboto Medium"/>
                <a:cs typeface="Roboto Medium"/>
              </a:rPr>
              <a:t>System</a:t>
            </a:r>
            <a:r>
              <a:rPr dirty="0" sz="1150" spc="-20" b="0">
                <a:solidFill>
                  <a:srgbClr val="002854"/>
                </a:solidFill>
                <a:latin typeface="Roboto Medium"/>
                <a:cs typeface="Roboto Medium"/>
              </a:rPr>
              <a:t> </a:t>
            </a:r>
            <a:r>
              <a:rPr dirty="0" sz="1150" spc="-45" b="0">
                <a:solidFill>
                  <a:srgbClr val="002854"/>
                </a:solidFill>
                <a:latin typeface="Roboto Medium"/>
                <a:cs typeface="Roboto Medium"/>
              </a:rPr>
              <a:t>with </a:t>
            </a:r>
            <a:r>
              <a:rPr dirty="0" sz="1150" spc="-10" b="0">
                <a:solidFill>
                  <a:srgbClr val="002854"/>
                </a:solidFill>
                <a:latin typeface="Roboto Medium"/>
                <a:cs typeface="Roboto Medium"/>
              </a:rPr>
              <a:t>Renewables</a:t>
            </a:r>
            <a:endParaRPr sz="1150">
              <a:latin typeface="Roboto Medium"/>
              <a:cs typeface="Roboto Medium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9298136" y="4403756"/>
            <a:ext cx="868680" cy="515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2075" marR="5080" indent="135255">
              <a:lnSpc>
                <a:spcPct val="112500"/>
              </a:lnSpc>
              <a:spcBef>
                <a:spcPts val="100"/>
              </a:spcBef>
            </a:pPr>
            <a:r>
              <a:rPr dirty="0" sz="1000" spc="-10">
                <a:solidFill>
                  <a:srgbClr val="545454"/>
                </a:solidFill>
                <a:latin typeface="Roboto"/>
                <a:cs typeface="Roboto"/>
              </a:rPr>
              <a:t>Feedback </a:t>
            </a:r>
            <a:r>
              <a:rPr dirty="0" sz="1000" spc="-65">
                <a:solidFill>
                  <a:srgbClr val="545454"/>
                </a:solidFill>
                <a:latin typeface="Roboto"/>
                <a:cs typeface="Roboto"/>
              </a:rPr>
              <a:t>Measurements</a:t>
            </a:r>
            <a:endParaRPr sz="1000">
              <a:latin typeface="Roboto"/>
              <a:cs typeface="Roboto"/>
            </a:endParaRPr>
          </a:p>
          <a:p>
            <a:pPr marL="12700">
              <a:lnSpc>
                <a:spcPts val="1155"/>
              </a:lnSpc>
            </a:pPr>
            <a:r>
              <a:rPr dirty="0" sz="1150" spc="-20" b="0">
                <a:solidFill>
                  <a:srgbClr val="333333"/>
                </a:solidFill>
                <a:latin typeface="Roboto Medium"/>
                <a:cs typeface="Roboto Medium"/>
              </a:rPr>
              <a:t>UPFC</a:t>
            </a:r>
            <a:endParaRPr sz="1150">
              <a:latin typeface="Roboto Medium"/>
              <a:cs typeface="Roboto Medium"/>
            </a:endParaRPr>
          </a:p>
        </p:txBody>
      </p:sp>
      <p:pic>
        <p:nvPicPr>
          <p:cNvPr id="38" name="object 3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6724649"/>
            <a:ext cx="12191999" cy="133349"/>
          </a:xfrm>
          <a:prstGeom prst="rect">
            <a:avLst/>
          </a:prstGeom>
        </p:spPr>
      </p:pic>
      <p:grpSp>
        <p:nvGrpSpPr>
          <p:cNvPr id="39" name="object 39" descr=""/>
          <p:cNvGrpSpPr/>
          <p:nvPr/>
        </p:nvGrpSpPr>
        <p:grpSpPr>
          <a:xfrm>
            <a:off x="10544174" y="6343649"/>
            <a:ext cx="1457325" cy="323850"/>
            <a:chOff x="10544174" y="6343649"/>
            <a:chExt cx="1457325" cy="323850"/>
          </a:xfrm>
        </p:grpSpPr>
        <p:sp>
          <p:nvSpPr>
            <p:cNvPr id="40" name="object 40" descr=""/>
            <p:cNvSpPr/>
            <p:nvPr/>
          </p:nvSpPr>
          <p:spPr>
            <a:xfrm>
              <a:off x="10544174" y="63436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6584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42" name="object 4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94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155"/>
              <a:t>Gens</a:t>
            </a:r>
            <a:fld id="{81D60167-4931-47E6-BA6A-407CBD079E47}" type="slidenum">
              <a:rPr dirty="0" baseline="-12626" sz="1650" spc="-232">
                <a:solidFill>
                  <a:srgbClr val="545454"/>
                </a:solidFill>
                <a:latin typeface="Eras Medium ITC"/>
                <a:cs typeface="Eras Medium ITC"/>
              </a:rPr>
              <a:t>2</a:t>
            </a:fld>
            <a:r>
              <a:rPr dirty="0" sz="1000" spc="-155"/>
              <a:t>pa</a:t>
            </a:r>
            <a:r>
              <a:rPr dirty="0" baseline="-12626" sz="1650" spc="-232">
                <a:solidFill>
                  <a:srgbClr val="545454"/>
                </a:solidFill>
                <a:latin typeface="Eras Medium ITC"/>
                <a:cs typeface="Eras Medium ITC"/>
              </a:rPr>
              <a:t>/</a:t>
            </a:r>
            <a:r>
              <a:rPr dirty="0" sz="1000" spc="-155"/>
              <a:t>rk</a:t>
            </a:r>
            <a:r>
              <a:rPr dirty="0" baseline="-12626" sz="1650" spc="-232">
                <a:solidFill>
                  <a:srgbClr val="545454"/>
                </a:solidFill>
                <a:latin typeface="Eras Medium ITC"/>
                <a:cs typeface="Eras Medium ITC"/>
              </a:rPr>
              <a:t>10</a:t>
            </a:r>
            <a:endParaRPr baseline="-12626" sz="1650">
              <a:latin typeface="Eras Medium ITC"/>
              <a:cs typeface="Eras Medium IT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0010" rIns="0" bIns="0" rtlCol="0" vert="horz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dirty="0" sz="2500" spc="-160"/>
              <a:t>Key</a:t>
            </a:r>
            <a:r>
              <a:rPr dirty="0" sz="2500" spc="-45"/>
              <a:t> </a:t>
            </a:r>
            <a:r>
              <a:rPr dirty="0" sz="2500" spc="-135"/>
              <a:t>Results</a:t>
            </a:r>
            <a:r>
              <a:rPr dirty="0" sz="2500" spc="-40"/>
              <a:t> </a:t>
            </a:r>
            <a:r>
              <a:rPr dirty="0" sz="2500" spc="-170"/>
              <a:t>&amp;</a:t>
            </a:r>
            <a:r>
              <a:rPr dirty="0" sz="2500" spc="-45"/>
              <a:t> </a:t>
            </a:r>
            <a:r>
              <a:rPr dirty="0" sz="2500" spc="-114"/>
              <a:t>Findings</a:t>
            </a:r>
            <a:endParaRPr sz="2500"/>
          </a:p>
        </p:txBody>
      </p:sp>
      <p:grpSp>
        <p:nvGrpSpPr>
          <p:cNvPr id="3" name="object 3" descr=""/>
          <p:cNvGrpSpPr/>
          <p:nvPr/>
        </p:nvGrpSpPr>
        <p:grpSpPr>
          <a:xfrm>
            <a:off x="609599" y="4314824"/>
            <a:ext cx="5343525" cy="847725"/>
            <a:chOff x="609599" y="4314824"/>
            <a:chExt cx="5343525" cy="847725"/>
          </a:xfrm>
        </p:grpSpPr>
        <p:sp>
          <p:nvSpPr>
            <p:cNvPr id="4" name="object 4" descr=""/>
            <p:cNvSpPr/>
            <p:nvPr/>
          </p:nvSpPr>
          <p:spPr>
            <a:xfrm>
              <a:off x="628649" y="4314824"/>
              <a:ext cx="5324475" cy="847725"/>
            </a:xfrm>
            <a:custGeom>
              <a:avLst/>
              <a:gdLst/>
              <a:ahLst/>
              <a:cxnLst/>
              <a:rect l="l" t="t" r="r" b="b"/>
              <a:pathLst>
                <a:path w="5324475" h="847725">
                  <a:moveTo>
                    <a:pt x="5291427" y="847724"/>
                  </a:moveTo>
                  <a:lnTo>
                    <a:pt x="0" y="847724"/>
                  </a:lnTo>
                  <a:lnTo>
                    <a:pt x="0" y="0"/>
                  </a:lnTo>
                  <a:lnTo>
                    <a:pt x="5291427" y="0"/>
                  </a:lnTo>
                  <a:lnTo>
                    <a:pt x="5296286" y="966"/>
                  </a:lnTo>
                  <a:lnTo>
                    <a:pt x="5323507" y="28186"/>
                  </a:lnTo>
                  <a:lnTo>
                    <a:pt x="5324474" y="33047"/>
                  </a:lnTo>
                  <a:lnTo>
                    <a:pt x="5324474" y="814676"/>
                  </a:lnTo>
                  <a:lnTo>
                    <a:pt x="5296286" y="846757"/>
                  </a:lnTo>
                  <a:lnTo>
                    <a:pt x="5291427" y="847724"/>
                  </a:lnTo>
                  <a:close/>
                </a:path>
              </a:pathLst>
            </a:custGeom>
            <a:solidFill>
              <a:srgbClr val="0057A8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09599" y="4314824"/>
              <a:ext cx="38100" cy="847725"/>
            </a:xfrm>
            <a:custGeom>
              <a:avLst/>
              <a:gdLst/>
              <a:ahLst/>
              <a:cxnLst/>
              <a:rect l="l" t="t" r="r" b="b"/>
              <a:pathLst>
                <a:path w="38100" h="847725">
                  <a:moveTo>
                    <a:pt x="38099" y="847724"/>
                  </a:moveTo>
                  <a:lnTo>
                    <a:pt x="0" y="847724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847724"/>
                  </a:lnTo>
                  <a:close/>
                </a:path>
              </a:pathLst>
            </a:custGeom>
            <a:solidFill>
              <a:srgbClr val="0057A8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1421606"/>
            <a:ext cx="190499" cy="166687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1238249" y="17906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57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238249" y="21050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57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238249" y="24193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57A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599" y="2895599"/>
            <a:ext cx="190499" cy="190499"/>
          </a:xfrm>
          <a:prstGeom prst="rect">
            <a:avLst/>
          </a:prstGeom>
        </p:spPr>
      </p:pic>
      <p:sp>
        <p:nvSpPr>
          <p:cNvPr id="11" name="object 11" descr=""/>
          <p:cNvSpPr/>
          <p:nvPr/>
        </p:nvSpPr>
        <p:spPr>
          <a:xfrm>
            <a:off x="1238249" y="32670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57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1238249" y="35813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57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1238249" y="39052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57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777874" y="1227137"/>
            <a:ext cx="4815205" cy="3835400"/>
          </a:xfrm>
          <a:prstGeom prst="rect">
            <a:avLst/>
          </a:prstGeom>
        </p:spPr>
        <p:txBody>
          <a:bodyPr wrap="square" lIns="0" tIns="115570" rIns="0" bIns="0" rtlCol="0" vert="horz">
            <a:spAutoFit/>
          </a:bodyPr>
          <a:lstStyle/>
          <a:p>
            <a:pPr marL="173990">
              <a:lnSpc>
                <a:spcPct val="100000"/>
              </a:lnSpc>
              <a:spcBef>
                <a:spcPts val="910"/>
              </a:spcBef>
            </a:pPr>
            <a:r>
              <a:rPr dirty="0" sz="1650" spc="-125">
                <a:solidFill>
                  <a:srgbClr val="333333"/>
                </a:solidFill>
                <a:latin typeface="Roboto"/>
                <a:cs typeface="Roboto"/>
              </a:rPr>
              <a:t>RMOMPC</a:t>
            </a:r>
            <a:r>
              <a:rPr dirty="0" sz="165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80">
                <a:solidFill>
                  <a:srgbClr val="333333"/>
                </a:solidFill>
                <a:latin typeface="Roboto"/>
                <a:cs typeface="Roboto"/>
              </a:rPr>
              <a:t>outperforms</a:t>
            </a:r>
            <a:r>
              <a:rPr dirty="0" sz="165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75">
                <a:solidFill>
                  <a:srgbClr val="333333"/>
                </a:solidFill>
                <a:latin typeface="Roboto"/>
                <a:cs typeface="Roboto"/>
              </a:rPr>
              <a:t>conventional</a:t>
            </a:r>
            <a:r>
              <a:rPr dirty="0" sz="165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10">
                <a:solidFill>
                  <a:srgbClr val="333333"/>
                </a:solidFill>
                <a:latin typeface="Roboto"/>
                <a:cs typeface="Roboto"/>
              </a:rPr>
              <a:t>controllers:</a:t>
            </a:r>
            <a:endParaRPr sz="1650">
              <a:latin typeface="Roboto"/>
              <a:cs typeface="Roboto"/>
            </a:endParaRPr>
          </a:p>
          <a:p>
            <a:pPr marL="631190" marR="1609090">
              <a:lnSpc>
                <a:spcPct val="137500"/>
              </a:lnSpc>
              <a:spcBef>
                <a:spcPts val="45"/>
              </a:spcBef>
            </a:pPr>
            <a:r>
              <a:rPr dirty="0" sz="1500" spc="-110">
                <a:solidFill>
                  <a:srgbClr val="444444"/>
                </a:solidFill>
                <a:latin typeface="Roboto"/>
                <a:cs typeface="Roboto"/>
              </a:rPr>
              <a:t>THD</a:t>
            </a:r>
            <a:r>
              <a:rPr dirty="0" sz="1500" spc="1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500" spc="-95">
                <a:solidFill>
                  <a:srgbClr val="444444"/>
                </a:solidFill>
                <a:latin typeface="Roboto"/>
                <a:cs typeface="Roboto"/>
              </a:rPr>
              <a:t>reduced</a:t>
            </a:r>
            <a:r>
              <a:rPr dirty="0" sz="1500" spc="1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500" spc="-95">
                <a:solidFill>
                  <a:srgbClr val="444444"/>
                </a:solidFill>
                <a:latin typeface="Roboto"/>
                <a:cs typeface="Roboto"/>
              </a:rPr>
              <a:t>by</a:t>
            </a:r>
            <a:r>
              <a:rPr dirty="0" sz="1500" spc="1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500" spc="-80">
                <a:solidFill>
                  <a:srgbClr val="444444"/>
                </a:solidFill>
                <a:latin typeface="Roboto"/>
                <a:cs typeface="Roboto"/>
              </a:rPr>
              <a:t>17.8-</a:t>
            </a:r>
            <a:r>
              <a:rPr dirty="0" sz="1500" spc="-10">
                <a:solidFill>
                  <a:srgbClr val="444444"/>
                </a:solidFill>
                <a:latin typeface="Roboto"/>
                <a:cs typeface="Roboto"/>
              </a:rPr>
              <a:t>27.1% </a:t>
            </a:r>
            <a:r>
              <a:rPr dirty="0" sz="1500" spc="-95">
                <a:solidFill>
                  <a:srgbClr val="444444"/>
                </a:solidFill>
                <a:latin typeface="Roboto"/>
                <a:cs typeface="Roboto"/>
              </a:rPr>
              <a:t>Power</a:t>
            </a:r>
            <a:r>
              <a:rPr dirty="0" sz="1500" spc="-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500" spc="-80">
                <a:solidFill>
                  <a:srgbClr val="444444"/>
                </a:solidFill>
                <a:latin typeface="Roboto"/>
                <a:cs typeface="Roboto"/>
              </a:rPr>
              <a:t>factor</a:t>
            </a:r>
            <a:r>
              <a:rPr dirty="0" sz="150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500" spc="-75">
                <a:solidFill>
                  <a:srgbClr val="444444"/>
                </a:solidFill>
                <a:latin typeface="Roboto"/>
                <a:cs typeface="Roboto"/>
              </a:rPr>
              <a:t>consistently</a:t>
            </a:r>
            <a:r>
              <a:rPr dirty="0" sz="150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500" spc="-20">
                <a:solidFill>
                  <a:srgbClr val="444444"/>
                </a:solidFill>
                <a:latin typeface="Roboto"/>
                <a:cs typeface="Roboto"/>
              </a:rPr>
              <a:t>&gt;0.95 </a:t>
            </a:r>
            <a:r>
              <a:rPr dirty="0" sz="1500" spc="-85">
                <a:solidFill>
                  <a:srgbClr val="444444"/>
                </a:solidFill>
                <a:latin typeface="Roboto"/>
                <a:cs typeface="Roboto"/>
              </a:rPr>
              <a:t>Voltage</a:t>
            </a:r>
            <a:r>
              <a:rPr dirty="0" sz="1500" spc="-3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500" spc="-75">
                <a:solidFill>
                  <a:srgbClr val="444444"/>
                </a:solidFill>
                <a:latin typeface="Roboto"/>
                <a:cs typeface="Roboto"/>
              </a:rPr>
              <a:t>deviation</a:t>
            </a:r>
            <a:r>
              <a:rPr dirty="0" sz="1500" spc="-2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500" spc="-80">
                <a:solidFill>
                  <a:srgbClr val="444444"/>
                </a:solidFill>
                <a:latin typeface="Roboto"/>
                <a:cs typeface="Roboto"/>
              </a:rPr>
              <a:t>maintained</a:t>
            </a:r>
            <a:r>
              <a:rPr dirty="0" sz="1500" spc="-2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500" spc="-50">
                <a:solidFill>
                  <a:srgbClr val="444444"/>
                </a:solidFill>
                <a:latin typeface="Roboto"/>
                <a:cs typeface="Roboto"/>
              </a:rPr>
              <a:t>&lt;3%</a:t>
            </a:r>
            <a:endParaRPr sz="15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350">
              <a:latin typeface="Roboto"/>
              <a:cs typeface="Roboto"/>
            </a:endParaRPr>
          </a:p>
          <a:p>
            <a:pPr marL="173990">
              <a:lnSpc>
                <a:spcPct val="100000"/>
              </a:lnSpc>
            </a:pPr>
            <a:r>
              <a:rPr dirty="0" sz="1650" spc="-80">
                <a:solidFill>
                  <a:srgbClr val="333333"/>
                </a:solidFill>
                <a:latin typeface="Roboto"/>
                <a:cs typeface="Roboto"/>
              </a:rPr>
              <a:t>Forecasting</a:t>
            </a:r>
            <a:r>
              <a:rPr dirty="0" sz="16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95">
                <a:solidFill>
                  <a:srgbClr val="333333"/>
                </a:solidFill>
                <a:latin typeface="Roboto"/>
                <a:cs typeface="Roboto"/>
              </a:rPr>
              <a:t>module</a:t>
            </a:r>
            <a:r>
              <a:rPr dirty="0" sz="165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10">
                <a:solidFill>
                  <a:srgbClr val="333333"/>
                </a:solidFill>
                <a:latin typeface="Roboto"/>
                <a:cs typeface="Roboto"/>
              </a:rPr>
              <a:t>performance:</a:t>
            </a:r>
            <a:endParaRPr sz="1650">
              <a:latin typeface="Roboto"/>
              <a:cs typeface="Roboto"/>
            </a:endParaRPr>
          </a:p>
          <a:p>
            <a:pPr marL="631190">
              <a:lnSpc>
                <a:spcPct val="100000"/>
              </a:lnSpc>
              <a:spcBef>
                <a:spcPts val="720"/>
              </a:spcBef>
            </a:pPr>
            <a:r>
              <a:rPr dirty="0" sz="1500" spc="-90">
                <a:solidFill>
                  <a:srgbClr val="444444"/>
                </a:solidFill>
                <a:latin typeface="Roboto"/>
                <a:cs typeface="Roboto"/>
              </a:rPr>
              <a:t>Wavelet-</a:t>
            </a:r>
            <a:r>
              <a:rPr dirty="0" sz="1500" spc="-95">
                <a:solidFill>
                  <a:srgbClr val="444444"/>
                </a:solidFill>
                <a:latin typeface="Roboto"/>
                <a:cs typeface="Roboto"/>
              </a:rPr>
              <a:t>LSTM:</a:t>
            </a:r>
            <a:r>
              <a:rPr dirty="0" sz="1500" spc="4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500" spc="-110">
                <a:solidFill>
                  <a:srgbClr val="444444"/>
                </a:solidFill>
                <a:latin typeface="Roboto"/>
                <a:cs typeface="Roboto"/>
              </a:rPr>
              <a:t>NRMSE</a:t>
            </a:r>
            <a:r>
              <a:rPr dirty="0" sz="1500" spc="4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500" spc="-20">
                <a:solidFill>
                  <a:srgbClr val="444444"/>
                </a:solidFill>
                <a:latin typeface="Roboto"/>
                <a:cs typeface="Roboto"/>
              </a:rPr>
              <a:t>4.1%</a:t>
            </a:r>
            <a:endParaRPr sz="1500">
              <a:latin typeface="Roboto"/>
              <a:cs typeface="Roboto"/>
            </a:endParaRPr>
          </a:p>
          <a:p>
            <a:pPr marL="631190" marR="1285875">
              <a:lnSpc>
                <a:spcPct val="137500"/>
              </a:lnSpc>
            </a:pPr>
            <a:r>
              <a:rPr dirty="0" sz="1500" spc="-80">
                <a:solidFill>
                  <a:srgbClr val="444444"/>
                </a:solidFill>
                <a:latin typeface="Roboto"/>
                <a:cs typeface="Roboto"/>
              </a:rPr>
              <a:t>Coefficient</a:t>
            </a:r>
            <a:r>
              <a:rPr dirty="0" sz="1500" spc="-2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500" spc="-80">
                <a:solidFill>
                  <a:srgbClr val="444444"/>
                </a:solidFill>
                <a:latin typeface="Roboto"/>
                <a:cs typeface="Roboto"/>
              </a:rPr>
              <a:t>of</a:t>
            </a:r>
            <a:r>
              <a:rPr dirty="0" sz="1500" spc="-2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500" spc="-80">
                <a:solidFill>
                  <a:srgbClr val="444444"/>
                </a:solidFill>
                <a:latin typeface="Roboto"/>
                <a:cs typeface="Roboto"/>
              </a:rPr>
              <a:t>Determination</a:t>
            </a:r>
            <a:r>
              <a:rPr dirty="0" sz="1500" spc="-1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500" spc="-65">
                <a:solidFill>
                  <a:srgbClr val="444444"/>
                </a:solidFill>
                <a:latin typeface="Roboto"/>
                <a:cs typeface="Roboto"/>
              </a:rPr>
              <a:t>(R²):</a:t>
            </a:r>
            <a:r>
              <a:rPr dirty="0" sz="1500" spc="-2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500" spc="-55">
                <a:solidFill>
                  <a:srgbClr val="444444"/>
                </a:solidFill>
                <a:latin typeface="Roboto"/>
                <a:cs typeface="Roboto"/>
              </a:rPr>
              <a:t>0.94 </a:t>
            </a:r>
            <a:r>
              <a:rPr dirty="0" sz="1500" spc="-105">
                <a:solidFill>
                  <a:srgbClr val="444444"/>
                </a:solidFill>
                <a:latin typeface="Roboto"/>
                <a:cs typeface="Roboto"/>
              </a:rPr>
              <a:t>48%</a:t>
            </a:r>
            <a:r>
              <a:rPr dirty="0" sz="1500" spc="-2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500" spc="-105">
                <a:solidFill>
                  <a:srgbClr val="444444"/>
                </a:solidFill>
                <a:latin typeface="Roboto"/>
                <a:cs typeface="Roboto"/>
              </a:rPr>
              <a:t>RMSE</a:t>
            </a:r>
            <a:r>
              <a:rPr dirty="0" sz="1500" spc="-2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500" spc="-80">
                <a:solidFill>
                  <a:srgbClr val="444444"/>
                </a:solidFill>
                <a:latin typeface="Roboto"/>
                <a:cs typeface="Roboto"/>
              </a:rPr>
              <a:t>reduction</a:t>
            </a:r>
            <a:r>
              <a:rPr dirty="0" sz="1500" spc="-2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500" spc="-85">
                <a:solidFill>
                  <a:srgbClr val="444444"/>
                </a:solidFill>
                <a:latin typeface="Roboto"/>
                <a:cs typeface="Roboto"/>
              </a:rPr>
              <a:t>vs</a:t>
            </a:r>
            <a:r>
              <a:rPr dirty="0" sz="1500" spc="-20">
                <a:solidFill>
                  <a:srgbClr val="444444"/>
                </a:solidFill>
                <a:latin typeface="Roboto"/>
                <a:cs typeface="Roboto"/>
              </a:rPr>
              <a:t> ARIMA</a:t>
            </a:r>
            <a:endParaRPr sz="15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355"/>
              </a:spcBef>
            </a:pPr>
            <a:endParaRPr sz="13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1300" spc="-80" b="0">
                <a:solidFill>
                  <a:srgbClr val="002854"/>
                </a:solidFill>
                <a:latin typeface="Roboto Medium"/>
                <a:cs typeface="Roboto Medium"/>
              </a:rPr>
              <a:t>Key</a:t>
            </a:r>
            <a:r>
              <a:rPr dirty="0" sz="1300" spc="-10" b="0">
                <a:solidFill>
                  <a:srgbClr val="002854"/>
                </a:solidFill>
                <a:latin typeface="Roboto Medium"/>
                <a:cs typeface="Roboto Medium"/>
              </a:rPr>
              <a:t> Achievement:</a:t>
            </a:r>
            <a:endParaRPr sz="1300">
              <a:latin typeface="Roboto Medium"/>
              <a:cs typeface="Roboto Medium"/>
            </a:endParaRPr>
          </a:p>
          <a:p>
            <a:pPr marL="12700" marR="5080">
              <a:lnSpc>
                <a:spcPct val="108700"/>
              </a:lnSpc>
              <a:spcBef>
                <a:spcPts val="495"/>
              </a:spcBef>
            </a:pP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Simultaneous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optimization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of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multiple</a:t>
            </a:r>
            <a:r>
              <a:rPr dirty="0" sz="115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65">
                <a:solidFill>
                  <a:srgbClr val="374050"/>
                </a:solidFill>
                <a:latin typeface="Roboto"/>
                <a:cs typeface="Roboto"/>
              </a:rPr>
              <a:t>power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374050"/>
                </a:solidFill>
                <a:latin typeface="Roboto"/>
                <a:cs typeface="Roboto"/>
              </a:rPr>
              <a:t>quality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objectives</a:t>
            </a:r>
            <a:r>
              <a:rPr dirty="0" sz="115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while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maintaining robust</a:t>
            </a:r>
            <a:r>
              <a:rPr dirty="0" sz="115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374050"/>
                </a:solidFill>
                <a:latin typeface="Roboto"/>
                <a:cs typeface="Roboto"/>
              </a:rPr>
              <a:t>performance</a:t>
            </a:r>
            <a:r>
              <a:rPr dirty="0" sz="115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374050"/>
                </a:solidFill>
                <a:latin typeface="Roboto"/>
                <a:cs typeface="Roboto"/>
              </a:rPr>
              <a:t>under</a:t>
            </a:r>
            <a:r>
              <a:rPr dirty="0" sz="115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74050"/>
                </a:solidFill>
                <a:latin typeface="Roboto"/>
                <a:cs typeface="Roboto"/>
              </a:rPr>
              <a:t>uncertainty</a:t>
            </a:r>
            <a:endParaRPr sz="1150">
              <a:latin typeface="Roboto"/>
              <a:cs typeface="Roboto"/>
            </a:endParaRPr>
          </a:p>
        </p:txBody>
      </p:sp>
      <p:graphicFrame>
        <p:nvGraphicFramePr>
          <p:cNvPr id="15" name="object 15" descr=""/>
          <p:cNvGraphicFramePr>
            <a:graphicFrameLocks noGrp="1"/>
          </p:cNvGraphicFramePr>
          <p:nvPr/>
        </p:nvGraphicFramePr>
        <p:xfrm>
          <a:off x="6238874" y="1538287"/>
          <a:ext cx="5419725" cy="1725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2025"/>
                <a:gridCol w="1152525"/>
                <a:gridCol w="1495425"/>
                <a:gridCol w="1724025"/>
              </a:tblGrid>
              <a:tr h="375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1250" spc="-10" b="0">
                          <a:solidFill>
                            <a:srgbClr val="FFFFFF"/>
                          </a:solidFill>
                          <a:latin typeface="Roboto Medium"/>
                          <a:cs typeface="Roboto Medium"/>
                        </a:rPr>
                        <a:t>Controller</a:t>
                      </a:r>
                      <a:endParaRPr sz="1250">
                        <a:latin typeface="Roboto Medium"/>
                        <a:cs typeface="Roboto Medium"/>
                      </a:endParaRPr>
                    </a:p>
                  </a:txBody>
                  <a:tcPr marL="0" marR="0" marB="0" marT="69850"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0057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1250" spc="-90" b="0">
                          <a:solidFill>
                            <a:srgbClr val="FFFFFF"/>
                          </a:solidFill>
                          <a:latin typeface="Roboto Medium"/>
                          <a:cs typeface="Roboto Medium"/>
                        </a:rPr>
                        <a:t>Max</a:t>
                      </a:r>
                      <a:r>
                        <a:rPr dirty="0" sz="1250" spc="-50" b="0">
                          <a:solidFill>
                            <a:srgbClr val="FFFFFF"/>
                          </a:solidFill>
                          <a:latin typeface="Roboto Medium"/>
                          <a:cs typeface="Roboto Medium"/>
                        </a:rPr>
                        <a:t> </a:t>
                      </a:r>
                      <a:r>
                        <a:rPr dirty="0" sz="1250" spc="-90" b="0">
                          <a:solidFill>
                            <a:srgbClr val="FFFFFF"/>
                          </a:solidFill>
                          <a:latin typeface="Roboto Medium"/>
                          <a:cs typeface="Roboto Medium"/>
                        </a:rPr>
                        <a:t>THD</a:t>
                      </a:r>
                      <a:r>
                        <a:rPr dirty="0" sz="1250" spc="-20" b="0">
                          <a:solidFill>
                            <a:srgbClr val="FFFFFF"/>
                          </a:solidFill>
                          <a:latin typeface="Roboto Medium"/>
                          <a:cs typeface="Roboto Medium"/>
                        </a:rPr>
                        <a:t> </a:t>
                      </a:r>
                      <a:r>
                        <a:rPr dirty="0" sz="1250" spc="-25" b="0">
                          <a:solidFill>
                            <a:srgbClr val="FFFFFF"/>
                          </a:solidFill>
                          <a:latin typeface="Roboto Medium"/>
                          <a:cs typeface="Roboto Medium"/>
                        </a:rPr>
                        <a:t>(%)</a:t>
                      </a:r>
                      <a:endParaRPr sz="1250">
                        <a:latin typeface="Roboto Medium"/>
                        <a:cs typeface="Roboto Medium"/>
                      </a:endParaRPr>
                    </a:p>
                  </a:txBody>
                  <a:tcPr marL="0" marR="0" marB="0" marT="69850"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0057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1250" spc="-100" b="0">
                          <a:solidFill>
                            <a:srgbClr val="FFFFFF"/>
                          </a:solidFill>
                          <a:latin typeface="Roboto Medium"/>
                          <a:cs typeface="Roboto Medium"/>
                        </a:rPr>
                        <a:t>Avg</a:t>
                      </a:r>
                      <a:r>
                        <a:rPr dirty="0" sz="1250" spc="-25" b="0">
                          <a:solidFill>
                            <a:srgbClr val="FFFFFF"/>
                          </a:solidFill>
                          <a:latin typeface="Roboto Medium"/>
                          <a:cs typeface="Roboto Medium"/>
                        </a:rPr>
                        <a:t> </a:t>
                      </a:r>
                      <a:r>
                        <a:rPr dirty="0" sz="1250" spc="-75" b="0">
                          <a:solidFill>
                            <a:srgbClr val="FFFFFF"/>
                          </a:solidFill>
                          <a:latin typeface="Roboto Medium"/>
                          <a:cs typeface="Roboto Medium"/>
                        </a:rPr>
                        <a:t>Power</a:t>
                      </a:r>
                      <a:r>
                        <a:rPr dirty="0" sz="1250" spc="-20" b="0">
                          <a:solidFill>
                            <a:srgbClr val="FFFFFF"/>
                          </a:solidFill>
                          <a:latin typeface="Roboto Medium"/>
                          <a:cs typeface="Roboto Medium"/>
                        </a:rPr>
                        <a:t> </a:t>
                      </a:r>
                      <a:r>
                        <a:rPr dirty="0" sz="1250" spc="-10" b="0">
                          <a:solidFill>
                            <a:srgbClr val="FFFFFF"/>
                          </a:solidFill>
                          <a:latin typeface="Roboto Medium"/>
                          <a:cs typeface="Roboto Medium"/>
                        </a:rPr>
                        <a:t>Factor</a:t>
                      </a:r>
                      <a:endParaRPr sz="1250">
                        <a:latin typeface="Roboto Medium"/>
                        <a:cs typeface="Roboto Medium"/>
                      </a:endParaRPr>
                    </a:p>
                  </a:txBody>
                  <a:tcPr marL="0" marR="0" marB="0" marT="69850"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0057A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1250" spc="-95" b="0">
                          <a:solidFill>
                            <a:srgbClr val="FFFFFF"/>
                          </a:solidFill>
                          <a:latin typeface="Roboto Medium"/>
                          <a:cs typeface="Roboto Medium"/>
                        </a:rPr>
                        <a:t>Max</a:t>
                      </a:r>
                      <a:r>
                        <a:rPr dirty="0" sz="1250" b="0">
                          <a:solidFill>
                            <a:srgbClr val="FFFFFF"/>
                          </a:solidFill>
                          <a:latin typeface="Roboto Medium"/>
                          <a:cs typeface="Roboto Medium"/>
                        </a:rPr>
                        <a:t> </a:t>
                      </a:r>
                      <a:r>
                        <a:rPr dirty="0" sz="1250" spc="-80" b="0">
                          <a:solidFill>
                            <a:srgbClr val="FFFFFF"/>
                          </a:solidFill>
                          <a:latin typeface="Roboto Medium"/>
                          <a:cs typeface="Roboto Medium"/>
                        </a:rPr>
                        <a:t>Voltage</a:t>
                      </a:r>
                      <a:r>
                        <a:rPr dirty="0" sz="1250" spc="5" b="0">
                          <a:solidFill>
                            <a:srgbClr val="FFFFFF"/>
                          </a:solidFill>
                          <a:latin typeface="Roboto Medium"/>
                          <a:cs typeface="Roboto Medium"/>
                        </a:rPr>
                        <a:t> </a:t>
                      </a:r>
                      <a:r>
                        <a:rPr dirty="0" sz="1250" spc="-85" b="0">
                          <a:solidFill>
                            <a:srgbClr val="FFFFFF"/>
                          </a:solidFill>
                          <a:latin typeface="Roboto Medium"/>
                          <a:cs typeface="Roboto Medium"/>
                        </a:rPr>
                        <a:t>Dev</a:t>
                      </a:r>
                      <a:r>
                        <a:rPr dirty="0" sz="1250" b="0">
                          <a:solidFill>
                            <a:srgbClr val="FFFFFF"/>
                          </a:solidFill>
                          <a:latin typeface="Roboto Medium"/>
                          <a:cs typeface="Roboto Medium"/>
                        </a:rPr>
                        <a:t> </a:t>
                      </a:r>
                      <a:r>
                        <a:rPr dirty="0" sz="1250" spc="-25" b="0">
                          <a:solidFill>
                            <a:srgbClr val="FFFFFF"/>
                          </a:solidFill>
                          <a:latin typeface="Roboto Medium"/>
                          <a:cs typeface="Roboto Medium"/>
                        </a:rPr>
                        <a:t>(%)</a:t>
                      </a:r>
                      <a:endParaRPr sz="1250">
                        <a:latin typeface="Roboto Medium"/>
                        <a:cs typeface="Roboto Medium"/>
                      </a:endParaRPr>
                    </a:p>
                  </a:txBody>
                  <a:tcPr marL="0" marR="0" marB="0" marT="69850"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0057A8"/>
                    </a:solidFill>
                  </a:tcPr>
                </a:tc>
              </a:tr>
              <a:tr h="3327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200" spc="-25">
                          <a:latin typeface="Roboto"/>
                          <a:cs typeface="Roboto"/>
                        </a:rPr>
                        <a:t>PI</a:t>
                      </a:r>
                      <a:endParaRPr sz="1200">
                        <a:latin typeface="Roboto"/>
                        <a:cs typeface="Roboto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200" spc="-20">
                          <a:latin typeface="Roboto"/>
                          <a:cs typeface="Roboto"/>
                        </a:rPr>
                        <a:t>5.00</a:t>
                      </a:r>
                      <a:endParaRPr sz="1200">
                        <a:latin typeface="Roboto"/>
                        <a:cs typeface="Roboto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200" spc="-20">
                          <a:latin typeface="Roboto"/>
                          <a:cs typeface="Roboto"/>
                        </a:rPr>
                        <a:t>0.990</a:t>
                      </a:r>
                      <a:endParaRPr sz="1200">
                        <a:latin typeface="Roboto"/>
                        <a:cs typeface="Roboto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200" spc="-25">
                          <a:latin typeface="Roboto"/>
                          <a:cs typeface="Roboto"/>
                        </a:rPr>
                        <a:t>6.2</a:t>
                      </a:r>
                      <a:endParaRPr sz="1200">
                        <a:latin typeface="Roboto"/>
                        <a:cs typeface="Roboto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422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200" spc="-25">
                          <a:latin typeface="Roboto"/>
                          <a:cs typeface="Roboto"/>
                        </a:rPr>
                        <a:t>LQR</a:t>
                      </a:r>
                      <a:endParaRPr sz="1200">
                        <a:latin typeface="Roboto"/>
                        <a:cs typeface="Roboto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200" spc="-20">
                          <a:latin typeface="Roboto"/>
                          <a:cs typeface="Roboto"/>
                        </a:rPr>
                        <a:t>4.81</a:t>
                      </a:r>
                      <a:endParaRPr sz="1200">
                        <a:latin typeface="Roboto"/>
                        <a:cs typeface="Roboto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200" spc="-20">
                          <a:latin typeface="Roboto"/>
                          <a:cs typeface="Roboto"/>
                        </a:rPr>
                        <a:t>0.954</a:t>
                      </a:r>
                      <a:endParaRPr sz="1200">
                        <a:latin typeface="Roboto"/>
                        <a:cs typeface="Roboto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200" spc="-20">
                          <a:latin typeface="Roboto"/>
                          <a:cs typeface="Roboto"/>
                        </a:rPr>
                        <a:t>10.7</a:t>
                      </a:r>
                      <a:endParaRPr sz="1200">
                        <a:latin typeface="Roboto"/>
                        <a:cs typeface="Roboto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327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200" spc="-10">
                          <a:latin typeface="Roboto"/>
                          <a:cs typeface="Roboto"/>
                        </a:rPr>
                        <a:t>Fuzzy</a:t>
                      </a:r>
                      <a:endParaRPr sz="1200">
                        <a:latin typeface="Roboto"/>
                        <a:cs typeface="Roboto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200" spc="-20">
                          <a:latin typeface="Roboto"/>
                          <a:cs typeface="Roboto"/>
                        </a:rPr>
                        <a:t>5.00</a:t>
                      </a:r>
                      <a:endParaRPr sz="1200">
                        <a:latin typeface="Roboto"/>
                        <a:cs typeface="Roboto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200" spc="-20">
                          <a:latin typeface="Roboto"/>
                          <a:cs typeface="Roboto"/>
                        </a:rPr>
                        <a:t>0.978</a:t>
                      </a:r>
                      <a:endParaRPr sz="1200">
                        <a:latin typeface="Roboto"/>
                        <a:cs typeface="Roboto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200" spc="-25">
                          <a:latin typeface="Roboto"/>
                          <a:cs typeface="Roboto"/>
                        </a:rPr>
                        <a:t>7.5</a:t>
                      </a:r>
                      <a:endParaRPr sz="1200">
                        <a:latin typeface="Roboto"/>
                        <a:cs typeface="Roboto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  <a:tr h="3422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200" spc="-10">
                          <a:latin typeface="Roboto"/>
                          <a:cs typeface="Roboto"/>
                        </a:rPr>
                        <a:t>RMOMPC</a:t>
                      </a:r>
                      <a:endParaRPr sz="1200">
                        <a:latin typeface="Roboto"/>
                        <a:cs typeface="Roboto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200" spc="-20" b="1">
                          <a:solidFill>
                            <a:srgbClr val="0057A8"/>
                          </a:solidFill>
                          <a:latin typeface="Arial Nova"/>
                          <a:cs typeface="Arial Nova"/>
                        </a:rPr>
                        <a:t>3.71</a:t>
                      </a:r>
                      <a:endParaRPr sz="1200">
                        <a:latin typeface="Arial Nova"/>
                        <a:cs typeface="Arial Nova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200" spc="-20" b="1">
                          <a:solidFill>
                            <a:srgbClr val="0057A8"/>
                          </a:solidFill>
                          <a:latin typeface="Arial Nova"/>
                          <a:cs typeface="Arial Nova"/>
                        </a:rPr>
                        <a:t>0.958</a:t>
                      </a:r>
                      <a:endParaRPr sz="1200">
                        <a:latin typeface="Arial Nova"/>
                        <a:cs typeface="Arial Nova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200" spc="-25" b="1">
                          <a:solidFill>
                            <a:srgbClr val="0057A8"/>
                          </a:solidFill>
                          <a:latin typeface="Arial Nova"/>
                          <a:cs typeface="Arial Nova"/>
                        </a:rPr>
                        <a:t>2.9</a:t>
                      </a:r>
                      <a:endParaRPr sz="1200">
                        <a:latin typeface="Arial Nova"/>
                        <a:cs typeface="Arial Nova"/>
                      </a:endParaRPr>
                    </a:p>
                  </a:txBody>
                  <a:tcPr marL="0" marR="0" marB="0" marT="61594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6" name="object 1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34150" y="3371850"/>
            <a:ext cx="4762499" cy="2190749"/>
          </a:xfrm>
          <a:prstGeom prst="rect">
            <a:avLst/>
          </a:prstGeom>
        </p:spPr>
      </p:pic>
      <p:sp>
        <p:nvSpPr>
          <p:cNvPr id="17" name="object 17" descr=""/>
          <p:cNvSpPr txBox="1"/>
          <p:nvPr/>
        </p:nvSpPr>
        <p:spPr>
          <a:xfrm>
            <a:off x="10809782" y="500615"/>
            <a:ext cx="1014094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20" b="1">
                <a:solidFill>
                  <a:srgbClr val="6A7280"/>
                </a:solidFill>
                <a:latin typeface="Roboto"/>
                <a:cs typeface="Roboto"/>
              </a:rPr>
              <a:t>IEEE</a:t>
            </a:r>
            <a:r>
              <a:rPr dirty="0" sz="1100" spc="-40" b="1">
                <a:solidFill>
                  <a:srgbClr val="6A7280"/>
                </a:solidFill>
                <a:latin typeface="Roboto"/>
                <a:cs typeface="Roboto"/>
              </a:rPr>
              <a:t> </a:t>
            </a:r>
            <a:r>
              <a:rPr dirty="0" sz="1100" spc="-35" b="1">
                <a:solidFill>
                  <a:srgbClr val="6A7280"/>
                </a:solidFill>
                <a:latin typeface="Roboto"/>
                <a:cs typeface="Roboto"/>
              </a:rPr>
              <a:t>Conference</a:t>
            </a:r>
            <a:endParaRPr sz="1100">
              <a:latin typeface="Roboto"/>
              <a:cs typeface="Roboto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6724649"/>
            <a:ext cx="12191999" cy="133349"/>
          </a:xfrm>
          <a:prstGeom prst="rect">
            <a:avLst/>
          </a:prstGeom>
        </p:spPr>
      </p:pic>
      <p:grpSp>
        <p:nvGrpSpPr>
          <p:cNvPr id="19" name="object 19" descr=""/>
          <p:cNvGrpSpPr/>
          <p:nvPr/>
        </p:nvGrpSpPr>
        <p:grpSpPr>
          <a:xfrm>
            <a:off x="10544174" y="6343649"/>
            <a:ext cx="1457325" cy="323850"/>
            <a:chOff x="10544174" y="6343649"/>
            <a:chExt cx="1457325" cy="323850"/>
          </a:xfrm>
        </p:grpSpPr>
        <p:sp>
          <p:nvSpPr>
            <p:cNvPr id="20" name="object 20" descr=""/>
            <p:cNvSpPr/>
            <p:nvPr/>
          </p:nvSpPr>
          <p:spPr>
            <a:xfrm>
              <a:off x="10544174" y="63436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6584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22" name="object 2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94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155"/>
              <a:t>Gens</a:t>
            </a:r>
            <a:fld id="{81D60167-4931-47E6-BA6A-407CBD079E47}" type="slidenum">
              <a:rPr dirty="0" baseline="-12626" sz="1650" spc="-232">
                <a:solidFill>
                  <a:srgbClr val="545454"/>
                </a:solidFill>
                <a:latin typeface="Eras Medium ITC"/>
                <a:cs typeface="Eras Medium ITC"/>
              </a:rPr>
              <a:t>2</a:t>
            </a:fld>
            <a:r>
              <a:rPr dirty="0" sz="1000" spc="-155"/>
              <a:t>pa</a:t>
            </a:r>
            <a:r>
              <a:rPr dirty="0" baseline="-12626" sz="1650" spc="-232">
                <a:solidFill>
                  <a:srgbClr val="545454"/>
                </a:solidFill>
                <a:latin typeface="Eras Medium ITC"/>
                <a:cs typeface="Eras Medium ITC"/>
              </a:rPr>
              <a:t>/</a:t>
            </a:r>
            <a:r>
              <a:rPr dirty="0" sz="1000" spc="-155"/>
              <a:t>rk</a:t>
            </a:r>
            <a:r>
              <a:rPr dirty="0" baseline="-12626" sz="1650" spc="-232">
                <a:solidFill>
                  <a:srgbClr val="545454"/>
                </a:solidFill>
                <a:latin typeface="Eras Medium ITC"/>
                <a:cs typeface="Eras Medium ITC"/>
              </a:rPr>
              <a:t>10</a:t>
            </a:r>
            <a:endParaRPr baseline="-12626" sz="1650">
              <a:latin typeface="Eras Medium ITC"/>
              <a:cs typeface="Eras Medium IT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0010" rIns="0" bIns="0" rtlCol="0" vert="horz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dirty="0" sz="2500" spc="-145"/>
              <a:t>Discussion</a:t>
            </a:r>
            <a:r>
              <a:rPr dirty="0" sz="2500" spc="-15"/>
              <a:t> </a:t>
            </a:r>
            <a:r>
              <a:rPr dirty="0" sz="2500" spc="-170"/>
              <a:t>&amp;</a:t>
            </a:r>
            <a:r>
              <a:rPr dirty="0" sz="2500" spc="-15"/>
              <a:t> </a:t>
            </a:r>
            <a:r>
              <a:rPr dirty="0" sz="2500" spc="-110"/>
              <a:t>Implications</a:t>
            </a:r>
            <a:endParaRPr sz="25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5553" y="1421592"/>
            <a:ext cx="178593" cy="16671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939800" y="1300749"/>
            <a:ext cx="5624195" cy="6159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7600"/>
              </a:lnSpc>
              <a:spcBef>
                <a:spcPts val="90"/>
              </a:spcBef>
            </a:pPr>
            <a:r>
              <a:rPr dirty="0" sz="1800" spc="-75">
                <a:solidFill>
                  <a:srgbClr val="333333"/>
                </a:solidFill>
                <a:latin typeface="Roboto"/>
                <a:cs typeface="Roboto"/>
              </a:rPr>
              <a:t>Coordinated,</a:t>
            </a:r>
            <a:r>
              <a:rPr dirty="0" sz="18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5">
                <a:solidFill>
                  <a:srgbClr val="333333"/>
                </a:solidFill>
                <a:latin typeface="Roboto"/>
                <a:cs typeface="Roboto"/>
              </a:rPr>
              <a:t>proactive</a:t>
            </a:r>
            <a:r>
              <a:rPr dirty="0" sz="18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125">
                <a:solidFill>
                  <a:srgbClr val="333333"/>
                </a:solidFill>
                <a:latin typeface="Roboto"/>
                <a:cs typeface="Roboto"/>
              </a:rPr>
              <a:t>RMOMPC</a:t>
            </a:r>
            <a:r>
              <a:rPr dirty="0" sz="18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95">
                <a:solidFill>
                  <a:srgbClr val="333333"/>
                </a:solidFill>
                <a:latin typeface="Roboto"/>
                <a:cs typeface="Roboto"/>
              </a:rPr>
              <a:t>enhances</a:t>
            </a:r>
            <a:r>
              <a:rPr dirty="0" sz="18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65">
                <a:solidFill>
                  <a:srgbClr val="333333"/>
                </a:solidFill>
                <a:latin typeface="Roboto"/>
                <a:cs typeface="Roboto"/>
              </a:rPr>
              <a:t>grid</a:t>
            </a:r>
            <a:r>
              <a:rPr dirty="0" sz="18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60">
                <a:solidFill>
                  <a:srgbClr val="333333"/>
                </a:solidFill>
                <a:latin typeface="Roboto"/>
                <a:cs typeface="Roboto"/>
              </a:rPr>
              <a:t>stability</a:t>
            </a:r>
            <a:r>
              <a:rPr dirty="0" sz="18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25">
                <a:solidFill>
                  <a:srgbClr val="333333"/>
                </a:solidFill>
                <a:latin typeface="Roboto"/>
                <a:cs typeface="Roboto"/>
              </a:rPr>
              <a:t>and </a:t>
            </a:r>
            <a:r>
              <a:rPr dirty="0" sz="1800" spc="-95">
                <a:solidFill>
                  <a:srgbClr val="333333"/>
                </a:solidFill>
                <a:latin typeface="Roboto"/>
                <a:cs typeface="Roboto"/>
              </a:rPr>
              <a:t>power</a:t>
            </a:r>
            <a:r>
              <a:rPr dirty="0" sz="18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75">
                <a:solidFill>
                  <a:srgbClr val="333333"/>
                </a:solidFill>
                <a:latin typeface="Roboto"/>
                <a:cs typeface="Roboto"/>
              </a:rPr>
              <a:t>quality</a:t>
            </a:r>
            <a:r>
              <a:rPr dirty="0" sz="18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90">
                <a:solidFill>
                  <a:srgbClr val="333333"/>
                </a:solidFill>
                <a:latin typeface="Roboto"/>
                <a:cs typeface="Roboto"/>
              </a:rPr>
              <a:t>across</a:t>
            </a:r>
            <a:r>
              <a:rPr dirty="0" sz="18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75">
                <a:solidFill>
                  <a:srgbClr val="333333"/>
                </a:solidFill>
                <a:latin typeface="Roboto"/>
                <a:cs typeface="Roboto"/>
              </a:rPr>
              <a:t>fluctuating</a:t>
            </a:r>
            <a:r>
              <a:rPr dirty="0" sz="18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5">
                <a:solidFill>
                  <a:srgbClr val="333333"/>
                </a:solidFill>
                <a:latin typeface="Roboto"/>
                <a:cs typeface="Roboto"/>
              </a:rPr>
              <a:t>renewable</a:t>
            </a:r>
            <a:r>
              <a:rPr dirty="0" sz="18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333333"/>
                </a:solidFill>
                <a:latin typeface="Roboto"/>
                <a:cs typeface="Roboto"/>
              </a:rPr>
              <a:t>conditions</a:t>
            </a:r>
            <a:endParaRPr sz="1800">
              <a:latin typeface="Roboto"/>
              <a:cs typeface="Roboto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599" y="2202656"/>
            <a:ext cx="214312" cy="166687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963612" y="2097325"/>
            <a:ext cx="2433955" cy="3054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800" spc="-85">
                <a:solidFill>
                  <a:srgbClr val="333333"/>
                </a:solidFill>
                <a:latin typeface="Roboto"/>
                <a:cs typeface="Roboto"/>
              </a:rPr>
              <a:t>Unified</a:t>
            </a:r>
            <a:r>
              <a:rPr dirty="0" sz="1800" spc="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95">
                <a:solidFill>
                  <a:srgbClr val="333333"/>
                </a:solidFill>
                <a:latin typeface="Roboto"/>
                <a:cs typeface="Roboto"/>
              </a:rPr>
              <a:t>approach</a:t>
            </a:r>
            <a:r>
              <a:rPr dirty="0" sz="1800" spc="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55">
                <a:solidFill>
                  <a:srgbClr val="333333"/>
                </a:solidFill>
                <a:latin typeface="Roboto"/>
                <a:cs typeface="Roboto"/>
              </a:rPr>
              <a:t>enables:</a:t>
            </a:r>
            <a:endParaRPr sz="1800">
              <a:latin typeface="Roboto"/>
              <a:cs typeface="Roboto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9975" y="2713935"/>
            <a:ext cx="99349" cy="132006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1170781" y="2575718"/>
            <a:ext cx="5541645" cy="111823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 marR="506095">
              <a:lnSpc>
                <a:spcPts val="1950"/>
              </a:lnSpc>
              <a:spcBef>
                <a:spcPts val="204"/>
              </a:spcBef>
            </a:pPr>
            <a:r>
              <a:rPr dirty="0" sz="1650" spc="-70">
                <a:solidFill>
                  <a:srgbClr val="444444"/>
                </a:solidFill>
                <a:latin typeface="Roboto"/>
                <a:cs typeface="Roboto"/>
              </a:rPr>
              <a:t>Predictive,</a:t>
            </a:r>
            <a:r>
              <a:rPr dirty="0" sz="1650" spc="-1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70">
                <a:solidFill>
                  <a:srgbClr val="444444"/>
                </a:solidFill>
                <a:latin typeface="Roboto"/>
                <a:cs typeface="Roboto"/>
              </a:rPr>
              <a:t>fast</a:t>
            </a:r>
            <a:r>
              <a:rPr dirty="0" sz="1650" spc="-1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85">
                <a:solidFill>
                  <a:srgbClr val="444444"/>
                </a:solidFill>
                <a:latin typeface="Roboto"/>
                <a:cs typeface="Roboto"/>
              </a:rPr>
              <a:t>response</a:t>
            </a:r>
            <a:r>
              <a:rPr dirty="0" sz="1650" spc="-1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80">
                <a:solidFill>
                  <a:srgbClr val="444444"/>
                </a:solidFill>
                <a:latin typeface="Roboto"/>
                <a:cs typeface="Roboto"/>
              </a:rPr>
              <a:t>to</a:t>
            </a:r>
            <a:r>
              <a:rPr dirty="0" sz="1650" spc="-1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80">
                <a:solidFill>
                  <a:srgbClr val="444444"/>
                </a:solidFill>
                <a:latin typeface="Roboto"/>
                <a:cs typeface="Roboto"/>
              </a:rPr>
              <a:t>disturbances</a:t>
            </a:r>
            <a:r>
              <a:rPr dirty="0" sz="1650" spc="-1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85">
                <a:solidFill>
                  <a:srgbClr val="444444"/>
                </a:solidFill>
                <a:latin typeface="Roboto"/>
                <a:cs typeface="Roboto"/>
              </a:rPr>
              <a:t>through</a:t>
            </a:r>
            <a:r>
              <a:rPr dirty="0" sz="1650" spc="-1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75">
                <a:solidFill>
                  <a:srgbClr val="444444"/>
                </a:solidFill>
                <a:latin typeface="Roboto"/>
                <a:cs typeface="Roboto"/>
              </a:rPr>
              <a:t>advanced </a:t>
            </a:r>
            <a:r>
              <a:rPr dirty="0" sz="1650" spc="-10">
                <a:solidFill>
                  <a:srgbClr val="444444"/>
                </a:solidFill>
                <a:latin typeface="Roboto"/>
                <a:cs typeface="Roboto"/>
              </a:rPr>
              <a:t>forecasting</a:t>
            </a:r>
            <a:endParaRPr sz="1650">
              <a:latin typeface="Roboto"/>
              <a:cs typeface="Roboto"/>
            </a:endParaRPr>
          </a:p>
          <a:p>
            <a:pPr marL="62230" marR="5080">
              <a:lnSpc>
                <a:spcPts val="1950"/>
              </a:lnSpc>
              <a:spcBef>
                <a:spcPts val="750"/>
              </a:spcBef>
            </a:pPr>
            <a:r>
              <a:rPr dirty="0" sz="1650" spc="-95">
                <a:solidFill>
                  <a:srgbClr val="444444"/>
                </a:solidFill>
                <a:latin typeface="Roboto"/>
                <a:cs typeface="Roboto"/>
              </a:rPr>
              <a:t>Dynamic</a:t>
            </a:r>
            <a:r>
              <a:rPr dirty="0" sz="1650" spc="-1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75">
                <a:solidFill>
                  <a:srgbClr val="444444"/>
                </a:solidFill>
                <a:latin typeface="Roboto"/>
                <a:cs typeface="Roboto"/>
              </a:rPr>
              <a:t>balancing</a:t>
            </a:r>
            <a:r>
              <a:rPr dirty="0" sz="1650" spc="-1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75">
                <a:solidFill>
                  <a:srgbClr val="444444"/>
                </a:solidFill>
                <a:latin typeface="Roboto"/>
                <a:cs typeface="Roboto"/>
              </a:rPr>
              <a:t>of</a:t>
            </a:r>
            <a:r>
              <a:rPr dirty="0" sz="1650" spc="-1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70">
                <a:solidFill>
                  <a:srgbClr val="444444"/>
                </a:solidFill>
                <a:latin typeface="Roboto"/>
                <a:cs typeface="Roboto"/>
              </a:rPr>
              <a:t>conflicting</a:t>
            </a:r>
            <a:r>
              <a:rPr dirty="0" sz="1650" spc="-1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75">
                <a:solidFill>
                  <a:srgbClr val="444444"/>
                </a:solidFill>
                <a:latin typeface="Roboto"/>
                <a:cs typeface="Roboto"/>
              </a:rPr>
              <a:t>objectives</a:t>
            </a:r>
            <a:r>
              <a:rPr dirty="0" sz="1650" spc="-1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105">
                <a:solidFill>
                  <a:srgbClr val="444444"/>
                </a:solidFill>
                <a:latin typeface="Roboto"/>
                <a:cs typeface="Roboto"/>
              </a:rPr>
              <a:t>(THD,</a:t>
            </a:r>
            <a:r>
              <a:rPr dirty="0" sz="1650" spc="-1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70">
                <a:solidFill>
                  <a:srgbClr val="444444"/>
                </a:solidFill>
                <a:latin typeface="Roboto"/>
                <a:cs typeface="Roboto"/>
              </a:rPr>
              <a:t>voltage,</a:t>
            </a:r>
            <a:r>
              <a:rPr dirty="0" sz="1650" spc="-1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70">
                <a:solidFill>
                  <a:srgbClr val="444444"/>
                </a:solidFill>
                <a:latin typeface="Roboto"/>
                <a:cs typeface="Roboto"/>
              </a:rPr>
              <a:t>power </a:t>
            </a:r>
            <a:r>
              <a:rPr dirty="0" sz="1650" spc="-10">
                <a:solidFill>
                  <a:srgbClr val="444444"/>
                </a:solidFill>
                <a:latin typeface="Roboto"/>
                <a:cs typeface="Roboto"/>
              </a:rPr>
              <a:t>factor)</a:t>
            </a:r>
            <a:endParaRPr sz="1650">
              <a:latin typeface="Roboto"/>
              <a:cs typeface="Roboto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2057" y="3305174"/>
            <a:ext cx="167286" cy="13335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9599" y="3848099"/>
            <a:ext cx="238124" cy="190499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987425" y="3739149"/>
            <a:ext cx="5575300" cy="6159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7600"/>
              </a:lnSpc>
              <a:spcBef>
                <a:spcPts val="90"/>
              </a:spcBef>
            </a:pPr>
            <a:r>
              <a:rPr dirty="0" sz="1800" spc="-80">
                <a:solidFill>
                  <a:srgbClr val="333333"/>
                </a:solidFill>
                <a:latin typeface="Roboto"/>
                <a:cs typeface="Roboto"/>
              </a:rPr>
              <a:t>Supports</a:t>
            </a:r>
            <a:r>
              <a:rPr dirty="0" sz="18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0">
                <a:solidFill>
                  <a:srgbClr val="333333"/>
                </a:solidFill>
                <a:latin typeface="Roboto"/>
                <a:cs typeface="Roboto"/>
              </a:rPr>
              <a:t>future</a:t>
            </a:r>
            <a:r>
              <a:rPr dirty="0" sz="18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65">
                <a:solidFill>
                  <a:srgbClr val="333333"/>
                </a:solidFill>
                <a:latin typeface="Roboto"/>
                <a:cs typeface="Roboto"/>
              </a:rPr>
              <a:t>grid</a:t>
            </a:r>
            <a:r>
              <a:rPr dirty="0" sz="18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90">
                <a:solidFill>
                  <a:srgbClr val="333333"/>
                </a:solidFill>
                <a:latin typeface="Roboto"/>
                <a:cs typeface="Roboto"/>
              </a:rPr>
              <a:t>paradigms</a:t>
            </a:r>
            <a:r>
              <a:rPr dirty="0" sz="18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5">
                <a:solidFill>
                  <a:srgbClr val="333333"/>
                </a:solidFill>
                <a:latin typeface="Roboto"/>
                <a:cs typeface="Roboto"/>
              </a:rPr>
              <a:t>through</a:t>
            </a:r>
            <a:r>
              <a:rPr dirty="0" sz="18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5">
                <a:solidFill>
                  <a:srgbClr val="333333"/>
                </a:solidFill>
                <a:latin typeface="Roboto"/>
                <a:cs typeface="Roboto"/>
              </a:rPr>
              <a:t>coordinated</a:t>
            </a:r>
            <a:r>
              <a:rPr dirty="0" sz="18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50">
                <a:solidFill>
                  <a:srgbClr val="333333"/>
                </a:solidFill>
                <a:latin typeface="Roboto"/>
                <a:cs typeface="Roboto"/>
              </a:rPr>
              <a:t>control </a:t>
            </a:r>
            <a:r>
              <a:rPr dirty="0" sz="1800" spc="-10">
                <a:solidFill>
                  <a:srgbClr val="333333"/>
                </a:solidFill>
                <a:latin typeface="Roboto"/>
                <a:cs typeface="Roboto"/>
              </a:rPr>
              <a:t>architecture</a:t>
            </a:r>
            <a:endParaRPr sz="1800">
              <a:latin typeface="Roboto"/>
              <a:cs typeface="Roboto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52500" y="4676774"/>
            <a:ext cx="133350" cy="133350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1187449" y="4537868"/>
            <a:ext cx="3729990" cy="2800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50" spc="-75">
                <a:solidFill>
                  <a:srgbClr val="444444"/>
                </a:solidFill>
                <a:latin typeface="Roboto"/>
                <a:cs typeface="Roboto"/>
              </a:rPr>
              <a:t>Smart,</a:t>
            </a:r>
            <a:r>
              <a:rPr dirty="0" sz="1650" spc="-2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75">
                <a:solidFill>
                  <a:srgbClr val="444444"/>
                </a:solidFill>
                <a:latin typeface="Roboto"/>
                <a:cs typeface="Roboto"/>
              </a:rPr>
              <a:t>decentralized,</a:t>
            </a:r>
            <a:r>
              <a:rPr dirty="0" sz="1650" spc="-1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90">
                <a:solidFill>
                  <a:srgbClr val="444444"/>
                </a:solidFill>
                <a:latin typeface="Roboto"/>
                <a:cs typeface="Roboto"/>
              </a:rPr>
              <a:t>and</a:t>
            </a:r>
            <a:r>
              <a:rPr dirty="0" sz="1650" spc="-1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65">
                <a:solidFill>
                  <a:srgbClr val="444444"/>
                </a:solidFill>
                <a:latin typeface="Roboto"/>
                <a:cs typeface="Roboto"/>
              </a:rPr>
              <a:t>resilient</a:t>
            </a:r>
            <a:r>
              <a:rPr dirty="0" sz="1650" spc="-1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650" spc="-60">
                <a:solidFill>
                  <a:srgbClr val="444444"/>
                </a:solidFill>
                <a:latin typeface="Roboto"/>
                <a:cs typeface="Roboto"/>
              </a:rPr>
              <a:t>operation</a:t>
            </a:r>
            <a:endParaRPr sz="1650">
              <a:latin typeface="Roboto"/>
              <a:cs typeface="Roboto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7343774" y="5162549"/>
            <a:ext cx="4238625" cy="1266825"/>
            <a:chOff x="7343774" y="5162549"/>
            <a:chExt cx="4238625" cy="1266825"/>
          </a:xfrm>
        </p:grpSpPr>
        <p:sp>
          <p:nvSpPr>
            <p:cNvPr id="15" name="object 15" descr=""/>
            <p:cNvSpPr/>
            <p:nvPr/>
          </p:nvSpPr>
          <p:spPr>
            <a:xfrm>
              <a:off x="7343774" y="5162549"/>
              <a:ext cx="4238625" cy="1266825"/>
            </a:xfrm>
            <a:custGeom>
              <a:avLst/>
              <a:gdLst/>
              <a:ahLst/>
              <a:cxnLst/>
              <a:rect l="l" t="t" r="r" b="b"/>
              <a:pathLst>
                <a:path w="4238625" h="1266825">
                  <a:moveTo>
                    <a:pt x="4189052" y="1266824"/>
                  </a:moveTo>
                  <a:lnTo>
                    <a:pt x="49570" y="1266824"/>
                  </a:lnTo>
                  <a:lnTo>
                    <a:pt x="42280" y="1265373"/>
                  </a:lnTo>
                  <a:lnTo>
                    <a:pt x="7249" y="1238546"/>
                  </a:lnTo>
                  <a:lnTo>
                    <a:pt x="0" y="1217253"/>
                  </a:lnTo>
                  <a:lnTo>
                    <a:pt x="0" y="49570"/>
                  </a:lnTo>
                  <a:lnTo>
                    <a:pt x="22097" y="11379"/>
                  </a:lnTo>
                  <a:lnTo>
                    <a:pt x="49570" y="0"/>
                  </a:lnTo>
                  <a:lnTo>
                    <a:pt x="4189052" y="0"/>
                  </a:lnTo>
                  <a:lnTo>
                    <a:pt x="4227243" y="22097"/>
                  </a:lnTo>
                  <a:lnTo>
                    <a:pt x="4238624" y="49570"/>
                  </a:lnTo>
                  <a:lnTo>
                    <a:pt x="4238624" y="1217253"/>
                  </a:lnTo>
                  <a:lnTo>
                    <a:pt x="4216525" y="1255443"/>
                  </a:lnTo>
                  <a:lnTo>
                    <a:pt x="4189052" y="1266824"/>
                  </a:lnTo>
                  <a:close/>
                </a:path>
              </a:pathLst>
            </a:custGeom>
            <a:solidFill>
              <a:srgbClr val="0057A8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343774" y="5162549"/>
              <a:ext cx="4238625" cy="1266825"/>
            </a:xfrm>
            <a:custGeom>
              <a:avLst/>
              <a:gdLst/>
              <a:ahLst/>
              <a:cxnLst/>
              <a:rect l="l" t="t" r="r" b="b"/>
              <a:pathLst>
                <a:path w="4238625" h="1266825">
                  <a:moveTo>
                    <a:pt x="4189052" y="1266824"/>
                  </a:moveTo>
                  <a:lnTo>
                    <a:pt x="49570" y="1266824"/>
                  </a:lnTo>
                  <a:lnTo>
                    <a:pt x="42280" y="1265373"/>
                  </a:lnTo>
                  <a:lnTo>
                    <a:pt x="7249" y="1238546"/>
                  </a:lnTo>
                  <a:lnTo>
                    <a:pt x="0" y="1217253"/>
                  </a:lnTo>
                  <a:lnTo>
                    <a:pt x="0" y="49570"/>
                  </a:lnTo>
                  <a:lnTo>
                    <a:pt x="22097" y="11379"/>
                  </a:lnTo>
                  <a:lnTo>
                    <a:pt x="49570" y="0"/>
                  </a:lnTo>
                  <a:lnTo>
                    <a:pt x="4189052" y="0"/>
                  </a:lnTo>
                  <a:lnTo>
                    <a:pt x="4196342" y="1449"/>
                  </a:lnTo>
                  <a:lnTo>
                    <a:pt x="4210345" y="7250"/>
                  </a:lnTo>
                  <a:lnTo>
                    <a:pt x="4213749" y="9524"/>
                  </a:lnTo>
                  <a:lnTo>
                    <a:pt x="50833" y="9524"/>
                  </a:lnTo>
                  <a:lnTo>
                    <a:pt x="44757" y="10732"/>
                  </a:lnTo>
                  <a:lnTo>
                    <a:pt x="10732" y="44758"/>
                  </a:lnTo>
                  <a:lnTo>
                    <a:pt x="9524" y="50833"/>
                  </a:lnTo>
                  <a:lnTo>
                    <a:pt x="9524" y="1215989"/>
                  </a:lnTo>
                  <a:lnTo>
                    <a:pt x="33088" y="1251256"/>
                  </a:lnTo>
                  <a:lnTo>
                    <a:pt x="50833" y="1257299"/>
                  </a:lnTo>
                  <a:lnTo>
                    <a:pt x="4213749" y="1257299"/>
                  </a:lnTo>
                  <a:lnTo>
                    <a:pt x="4210345" y="1259574"/>
                  </a:lnTo>
                  <a:lnTo>
                    <a:pt x="4196342" y="1265373"/>
                  </a:lnTo>
                  <a:lnTo>
                    <a:pt x="4189052" y="1266824"/>
                  </a:lnTo>
                  <a:close/>
                </a:path>
                <a:path w="4238625" h="1266825">
                  <a:moveTo>
                    <a:pt x="4213749" y="1257299"/>
                  </a:moveTo>
                  <a:lnTo>
                    <a:pt x="4187788" y="1257299"/>
                  </a:lnTo>
                  <a:lnTo>
                    <a:pt x="4193862" y="1256090"/>
                  </a:lnTo>
                  <a:lnTo>
                    <a:pt x="4205533" y="1251256"/>
                  </a:lnTo>
                  <a:lnTo>
                    <a:pt x="4229098" y="1215989"/>
                  </a:lnTo>
                  <a:lnTo>
                    <a:pt x="4229098" y="50833"/>
                  </a:lnTo>
                  <a:lnTo>
                    <a:pt x="4205533" y="15566"/>
                  </a:lnTo>
                  <a:lnTo>
                    <a:pt x="4187788" y="9524"/>
                  </a:lnTo>
                  <a:lnTo>
                    <a:pt x="4213749" y="9524"/>
                  </a:lnTo>
                  <a:lnTo>
                    <a:pt x="4237173" y="42280"/>
                  </a:lnTo>
                  <a:lnTo>
                    <a:pt x="4238624" y="49570"/>
                  </a:lnTo>
                  <a:lnTo>
                    <a:pt x="4238624" y="1217253"/>
                  </a:lnTo>
                  <a:lnTo>
                    <a:pt x="4237173" y="1224542"/>
                  </a:lnTo>
                  <a:lnTo>
                    <a:pt x="4231373" y="1238546"/>
                  </a:lnTo>
                  <a:lnTo>
                    <a:pt x="4227243" y="1244726"/>
                  </a:lnTo>
                  <a:lnTo>
                    <a:pt x="4216525" y="1255444"/>
                  </a:lnTo>
                  <a:lnTo>
                    <a:pt x="4213749" y="1257299"/>
                  </a:lnTo>
                  <a:close/>
                </a:path>
              </a:pathLst>
            </a:custGeom>
            <a:solidFill>
              <a:srgbClr val="0057A8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7485409" y="5221858"/>
            <a:ext cx="3935095" cy="1035050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300" spc="-50" b="1">
                <a:solidFill>
                  <a:srgbClr val="0057A8"/>
                </a:solidFill>
                <a:latin typeface="Roboto"/>
                <a:cs typeface="Roboto"/>
              </a:rPr>
              <a:t>Practical</a:t>
            </a:r>
            <a:r>
              <a:rPr dirty="0" sz="1300" spc="-5" b="1">
                <a:solidFill>
                  <a:srgbClr val="0057A8"/>
                </a:solidFill>
                <a:latin typeface="Roboto"/>
                <a:cs typeface="Roboto"/>
              </a:rPr>
              <a:t> </a:t>
            </a:r>
            <a:r>
              <a:rPr dirty="0" sz="1300" spc="-10" b="1">
                <a:solidFill>
                  <a:srgbClr val="0057A8"/>
                </a:solidFill>
                <a:latin typeface="Roboto"/>
                <a:cs typeface="Roboto"/>
              </a:rPr>
              <a:t>Impact:</a:t>
            </a:r>
            <a:endParaRPr sz="1300">
              <a:latin typeface="Roboto"/>
              <a:cs typeface="Roboto"/>
            </a:endParaRPr>
          </a:p>
          <a:p>
            <a:pPr marL="12700" marR="5080">
              <a:lnSpc>
                <a:spcPct val="115399"/>
              </a:lnSpc>
              <a:spcBef>
                <a:spcPts val="375"/>
              </a:spcBef>
            </a:pPr>
            <a:r>
              <a:rPr dirty="0" sz="1300" spc="-85">
                <a:solidFill>
                  <a:srgbClr val="444444"/>
                </a:solidFill>
                <a:latin typeface="Roboto"/>
                <a:cs typeface="Roboto"/>
              </a:rPr>
              <a:t>RMOMPC</a:t>
            </a:r>
            <a:r>
              <a:rPr dirty="0" sz="1300" spc="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444444"/>
                </a:solidFill>
                <a:latin typeface="Roboto"/>
                <a:cs typeface="Roboto"/>
              </a:rPr>
              <a:t>reduces</a:t>
            </a:r>
            <a:r>
              <a:rPr dirty="0" sz="1300" spc="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444444"/>
                </a:solidFill>
                <a:latin typeface="Roboto"/>
                <a:cs typeface="Roboto"/>
              </a:rPr>
              <a:t>operational</a:t>
            </a:r>
            <a:r>
              <a:rPr dirty="0" sz="1300" spc="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444444"/>
                </a:solidFill>
                <a:latin typeface="Roboto"/>
                <a:cs typeface="Roboto"/>
              </a:rPr>
              <a:t>costs</a:t>
            </a:r>
            <a:r>
              <a:rPr dirty="0" sz="1300" spc="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444444"/>
                </a:solidFill>
                <a:latin typeface="Roboto"/>
                <a:cs typeface="Roboto"/>
              </a:rPr>
              <a:t>while</a:t>
            </a:r>
            <a:r>
              <a:rPr dirty="0" sz="1300" spc="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444444"/>
                </a:solidFill>
                <a:latin typeface="Roboto"/>
                <a:cs typeface="Roboto"/>
              </a:rPr>
              <a:t>extending </a:t>
            </a:r>
            <a:r>
              <a:rPr dirty="0" sz="1300" spc="-55">
                <a:solidFill>
                  <a:srgbClr val="444444"/>
                </a:solidFill>
                <a:latin typeface="Roboto"/>
                <a:cs typeface="Roboto"/>
              </a:rPr>
              <a:t>equipment</a:t>
            </a:r>
            <a:r>
              <a:rPr dirty="0" sz="1300" spc="-1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444444"/>
                </a:solidFill>
                <a:latin typeface="Roboto"/>
                <a:cs typeface="Roboto"/>
              </a:rPr>
              <a:t>lifespan</a:t>
            </a:r>
            <a:r>
              <a:rPr dirty="0" sz="1300" spc="-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444444"/>
                </a:solidFill>
                <a:latin typeface="Roboto"/>
                <a:cs typeface="Roboto"/>
              </a:rPr>
              <a:t>through</a:t>
            </a:r>
            <a:r>
              <a:rPr dirty="0" sz="1300" spc="-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444444"/>
                </a:solidFill>
                <a:latin typeface="Roboto"/>
                <a:cs typeface="Roboto"/>
              </a:rPr>
              <a:t>optimized</a:t>
            </a:r>
            <a:r>
              <a:rPr dirty="0" sz="1300" spc="-1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444444"/>
                </a:solidFill>
                <a:latin typeface="Roboto"/>
                <a:cs typeface="Roboto"/>
              </a:rPr>
              <a:t>control</a:t>
            </a:r>
            <a:r>
              <a:rPr dirty="0" sz="1300" spc="-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444444"/>
                </a:solidFill>
                <a:latin typeface="Roboto"/>
                <a:cs typeface="Roboto"/>
              </a:rPr>
              <a:t>actions</a:t>
            </a:r>
            <a:r>
              <a:rPr dirty="0" sz="1300" spc="-5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300" spc="-25">
                <a:solidFill>
                  <a:srgbClr val="444444"/>
                </a:solidFill>
                <a:latin typeface="Roboto"/>
                <a:cs typeface="Roboto"/>
              </a:rPr>
              <a:t>and </a:t>
            </a:r>
            <a:r>
              <a:rPr dirty="0" sz="1300" spc="-55">
                <a:solidFill>
                  <a:srgbClr val="444444"/>
                </a:solidFill>
                <a:latin typeface="Roboto"/>
                <a:cs typeface="Roboto"/>
              </a:rPr>
              <a:t>reduced</a:t>
            </a:r>
            <a:r>
              <a:rPr dirty="0" sz="130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444444"/>
                </a:solidFill>
                <a:latin typeface="Roboto"/>
                <a:cs typeface="Roboto"/>
              </a:rPr>
              <a:t>stress</a:t>
            </a:r>
            <a:r>
              <a:rPr dirty="0" sz="130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444444"/>
                </a:solidFill>
                <a:latin typeface="Roboto"/>
                <a:cs typeface="Roboto"/>
              </a:rPr>
              <a:t>on</a:t>
            </a:r>
            <a:r>
              <a:rPr dirty="0" sz="130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444444"/>
                </a:solidFill>
                <a:latin typeface="Roboto"/>
                <a:cs typeface="Roboto"/>
              </a:rPr>
              <a:t>system</a:t>
            </a:r>
            <a:r>
              <a:rPr dirty="0" sz="1300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444444"/>
                </a:solidFill>
                <a:latin typeface="Roboto"/>
                <a:cs typeface="Roboto"/>
              </a:rPr>
              <a:t>components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0809782" y="500615"/>
            <a:ext cx="1014094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20" b="1">
                <a:solidFill>
                  <a:srgbClr val="6A7280"/>
                </a:solidFill>
                <a:latin typeface="Roboto"/>
                <a:cs typeface="Roboto"/>
              </a:rPr>
              <a:t>IEEE</a:t>
            </a:r>
            <a:r>
              <a:rPr dirty="0" sz="1100" spc="-40" b="1">
                <a:solidFill>
                  <a:srgbClr val="6A7280"/>
                </a:solidFill>
                <a:latin typeface="Roboto"/>
                <a:cs typeface="Roboto"/>
              </a:rPr>
              <a:t> </a:t>
            </a:r>
            <a:r>
              <a:rPr dirty="0" sz="1100" spc="-35" b="1">
                <a:solidFill>
                  <a:srgbClr val="6A7280"/>
                </a:solidFill>
                <a:latin typeface="Roboto"/>
                <a:cs typeface="Roboto"/>
              </a:rPr>
              <a:t>Conference</a:t>
            </a:r>
            <a:endParaRPr sz="1100">
              <a:latin typeface="Roboto"/>
              <a:cs typeface="Roboto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343774" y="1352549"/>
            <a:ext cx="4238624" cy="3619499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10187533" y="1953498"/>
            <a:ext cx="789305" cy="2038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50" spc="-55" b="0">
                <a:solidFill>
                  <a:srgbClr val="FFFFFF"/>
                </a:solidFill>
                <a:latin typeface="Roboto Medium"/>
                <a:cs typeface="Roboto Medium"/>
              </a:rPr>
              <a:t>Grid</a:t>
            </a:r>
            <a:r>
              <a:rPr dirty="0" sz="1150" b="0">
                <a:solidFill>
                  <a:srgbClr val="FFFFFF"/>
                </a:solidFill>
                <a:latin typeface="Roboto Medium"/>
                <a:cs typeface="Roboto Medium"/>
              </a:rPr>
              <a:t> </a:t>
            </a:r>
            <a:r>
              <a:rPr dirty="0" sz="1150" spc="-40" b="0">
                <a:solidFill>
                  <a:srgbClr val="FFFFFF"/>
                </a:solidFill>
                <a:latin typeface="Roboto Medium"/>
                <a:cs typeface="Roboto Medium"/>
              </a:rPr>
              <a:t>Stability</a:t>
            </a:r>
            <a:endParaRPr sz="1150">
              <a:latin typeface="Roboto Medium"/>
              <a:cs typeface="Roboto Medium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9965927" y="4048997"/>
            <a:ext cx="852169" cy="2038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50" spc="-65" b="0">
                <a:solidFill>
                  <a:srgbClr val="FFFFFF"/>
                </a:solidFill>
                <a:latin typeface="Roboto Medium"/>
                <a:cs typeface="Roboto Medium"/>
              </a:rPr>
              <a:t>Power</a:t>
            </a:r>
            <a:r>
              <a:rPr dirty="0" sz="1150" spc="-30" b="0">
                <a:solidFill>
                  <a:srgbClr val="FFFFFF"/>
                </a:solidFill>
                <a:latin typeface="Roboto Medium"/>
                <a:cs typeface="Roboto Medium"/>
              </a:rPr>
              <a:t> </a:t>
            </a:r>
            <a:r>
              <a:rPr dirty="0" sz="1150" spc="-40" b="0">
                <a:solidFill>
                  <a:srgbClr val="FFFFFF"/>
                </a:solidFill>
                <a:latin typeface="Roboto Medium"/>
                <a:cs typeface="Roboto Medium"/>
              </a:rPr>
              <a:t>Quality</a:t>
            </a:r>
            <a:endParaRPr sz="1150">
              <a:latin typeface="Roboto Medium"/>
              <a:cs typeface="Roboto Medium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8197403" y="3922220"/>
            <a:ext cx="678180" cy="4254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4604" marR="5080" indent="-2540">
              <a:lnSpc>
                <a:spcPct val="114100"/>
              </a:lnSpc>
              <a:spcBef>
                <a:spcPts val="95"/>
              </a:spcBef>
            </a:pPr>
            <a:r>
              <a:rPr dirty="0" sz="1150" spc="-65" b="0">
                <a:solidFill>
                  <a:srgbClr val="FFFFFF"/>
                </a:solidFill>
                <a:latin typeface="Roboto Medium"/>
                <a:cs typeface="Roboto Medium"/>
              </a:rPr>
              <a:t>Renewable </a:t>
            </a:r>
            <a:r>
              <a:rPr dirty="0" sz="1150" spc="-55" b="0">
                <a:solidFill>
                  <a:srgbClr val="FFFFFF"/>
                </a:solidFill>
                <a:latin typeface="Roboto Medium"/>
                <a:cs typeface="Roboto Medium"/>
              </a:rPr>
              <a:t>Integration</a:t>
            </a:r>
            <a:endParaRPr sz="1150">
              <a:latin typeface="Roboto Medium"/>
              <a:cs typeface="Roboto Medium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8026697" y="1953498"/>
            <a:ext cx="638175" cy="2038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50" spc="-45" b="0">
                <a:solidFill>
                  <a:srgbClr val="FFFFFF"/>
                </a:solidFill>
                <a:latin typeface="Roboto Medium"/>
                <a:cs typeface="Roboto Medium"/>
              </a:rPr>
              <a:t>Resilience</a:t>
            </a:r>
            <a:endParaRPr sz="1150">
              <a:latin typeface="Roboto Medium"/>
              <a:cs typeface="Roboto Medium"/>
            </a:endParaRPr>
          </a:p>
        </p:txBody>
      </p:sp>
      <p:pic>
        <p:nvPicPr>
          <p:cNvPr id="24" name="object 24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6753224"/>
            <a:ext cx="12191999" cy="133349"/>
          </a:xfrm>
          <a:prstGeom prst="rect">
            <a:avLst/>
          </a:prstGeom>
        </p:spPr>
      </p:pic>
      <p:grpSp>
        <p:nvGrpSpPr>
          <p:cNvPr id="25" name="object 25" descr=""/>
          <p:cNvGrpSpPr/>
          <p:nvPr/>
        </p:nvGrpSpPr>
        <p:grpSpPr>
          <a:xfrm>
            <a:off x="7343775" y="1352549"/>
            <a:ext cx="2695575" cy="2959735"/>
            <a:chOff x="7343775" y="1352549"/>
            <a:chExt cx="2695575" cy="2959735"/>
          </a:xfrm>
        </p:grpSpPr>
        <p:sp>
          <p:nvSpPr>
            <p:cNvPr id="26" name="object 26" descr=""/>
            <p:cNvSpPr/>
            <p:nvPr/>
          </p:nvSpPr>
          <p:spPr>
            <a:xfrm>
              <a:off x="7343775" y="1352549"/>
              <a:ext cx="1521460" cy="2959735"/>
            </a:xfrm>
            <a:custGeom>
              <a:avLst/>
              <a:gdLst/>
              <a:ahLst/>
              <a:cxnLst/>
              <a:rect l="l" t="t" r="r" b="b"/>
              <a:pathLst>
                <a:path w="1521459" h="2959735">
                  <a:moveTo>
                    <a:pt x="1451737" y="0"/>
                  </a:moveTo>
                  <a:lnTo>
                    <a:pt x="1424800" y="0"/>
                  </a:lnTo>
                  <a:lnTo>
                    <a:pt x="571487" y="853313"/>
                  </a:lnTo>
                  <a:lnTo>
                    <a:pt x="0" y="281813"/>
                  </a:lnTo>
                  <a:lnTo>
                    <a:pt x="0" y="308749"/>
                  </a:lnTo>
                  <a:lnTo>
                    <a:pt x="564756" y="873518"/>
                  </a:lnTo>
                  <a:lnTo>
                    <a:pt x="571487" y="866787"/>
                  </a:lnTo>
                  <a:lnTo>
                    <a:pt x="578231" y="873518"/>
                  </a:lnTo>
                  <a:lnTo>
                    <a:pt x="1451737" y="0"/>
                  </a:lnTo>
                  <a:close/>
                </a:path>
                <a:path w="1521459" h="2959735">
                  <a:moveTo>
                    <a:pt x="1521155" y="2945968"/>
                  </a:moveTo>
                  <a:lnTo>
                    <a:pt x="578231" y="2003044"/>
                  </a:lnTo>
                  <a:lnTo>
                    <a:pt x="571487" y="2009787"/>
                  </a:lnTo>
                  <a:lnTo>
                    <a:pt x="564756" y="2003044"/>
                  </a:lnTo>
                  <a:lnTo>
                    <a:pt x="0" y="2567813"/>
                  </a:lnTo>
                  <a:lnTo>
                    <a:pt x="0" y="2594749"/>
                  </a:lnTo>
                  <a:lnTo>
                    <a:pt x="571487" y="2023262"/>
                  </a:lnTo>
                  <a:lnTo>
                    <a:pt x="1507680" y="2959443"/>
                  </a:lnTo>
                  <a:lnTo>
                    <a:pt x="1521155" y="2945968"/>
                  </a:lnTo>
                  <a:close/>
                </a:path>
              </a:pathLst>
            </a:custGeom>
            <a:solidFill>
              <a:srgbClr val="0057A8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8896348" y="2590799"/>
              <a:ext cx="1143000" cy="1143000"/>
            </a:xfrm>
            <a:custGeom>
              <a:avLst/>
              <a:gdLst/>
              <a:ahLst/>
              <a:cxnLst/>
              <a:rect l="l" t="t" r="r" b="b"/>
              <a:pathLst>
                <a:path w="1143000" h="1143000">
                  <a:moveTo>
                    <a:pt x="571499" y="1142999"/>
                  </a:moveTo>
                  <a:lnTo>
                    <a:pt x="529461" y="1141451"/>
                  </a:lnTo>
                  <a:lnTo>
                    <a:pt x="487642" y="1136814"/>
                  </a:lnTo>
                  <a:lnTo>
                    <a:pt x="446278" y="1129112"/>
                  </a:lnTo>
                  <a:lnTo>
                    <a:pt x="405601" y="1118390"/>
                  </a:lnTo>
                  <a:lnTo>
                    <a:pt x="365823" y="1104706"/>
                  </a:lnTo>
                  <a:lnTo>
                    <a:pt x="327151" y="1088130"/>
                  </a:lnTo>
                  <a:lnTo>
                    <a:pt x="289804" y="1068752"/>
                  </a:lnTo>
                  <a:lnTo>
                    <a:pt x="253990" y="1046684"/>
                  </a:lnTo>
                  <a:lnTo>
                    <a:pt x="219897" y="1022042"/>
                  </a:lnTo>
                  <a:lnTo>
                    <a:pt x="187703" y="994953"/>
                  </a:lnTo>
                  <a:lnTo>
                    <a:pt x="157589" y="965569"/>
                  </a:lnTo>
                  <a:lnTo>
                    <a:pt x="129724" y="934055"/>
                  </a:lnTo>
                  <a:lnTo>
                    <a:pt x="104251" y="900577"/>
                  </a:lnTo>
                  <a:lnTo>
                    <a:pt x="81306" y="865309"/>
                  </a:lnTo>
                  <a:lnTo>
                    <a:pt x="61019" y="828448"/>
                  </a:lnTo>
                  <a:lnTo>
                    <a:pt x="43501" y="790203"/>
                  </a:lnTo>
                  <a:lnTo>
                    <a:pt x="28844" y="750772"/>
                  </a:lnTo>
                  <a:lnTo>
                    <a:pt x="17125" y="710362"/>
                  </a:lnTo>
                  <a:lnTo>
                    <a:pt x="8412" y="669200"/>
                  </a:lnTo>
                  <a:lnTo>
                    <a:pt x="2752" y="627516"/>
                  </a:lnTo>
                  <a:lnTo>
                    <a:pt x="172" y="585529"/>
                  </a:lnTo>
                  <a:lnTo>
                    <a:pt x="0" y="571499"/>
                  </a:lnTo>
                  <a:lnTo>
                    <a:pt x="172" y="557470"/>
                  </a:lnTo>
                  <a:lnTo>
                    <a:pt x="2752" y="515483"/>
                  </a:lnTo>
                  <a:lnTo>
                    <a:pt x="8412" y="473798"/>
                  </a:lnTo>
                  <a:lnTo>
                    <a:pt x="17125" y="432636"/>
                  </a:lnTo>
                  <a:lnTo>
                    <a:pt x="28844" y="392226"/>
                  </a:lnTo>
                  <a:lnTo>
                    <a:pt x="43501" y="352795"/>
                  </a:lnTo>
                  <a:lnTo>
                    <a:pt x="61019" y="314550"/>
                  </a:lnTo>
                  <a:lnTo>
                    <a:pt x="81306" y="277689"/>
                  </a:lnTo>
                  <a:lnTo>
                    <a:pt x="104251" y="242421"/>
                  </a:lnTo>
                  <a:lnTo>
                    <a:pt x="129724" y="208944"/>
                  </a:lnTo>
                  <a:lnTo>
                    <a:pt x="157589" y="177430"/>
                  </a:lnTo>
                  <a:lnTo>
                    <a:pt x="187703" y="148046"/>
                  </a:lnTo>
                  <a:lnTo>
                    <a:pt x="219897" y="120957"/>
                  </a:lnTo>
                  <a:lnTo>
                    <a:pt x="253990" y="96314"/>
                  </a:lnTo>
                  <a:lnTo>
                    <a:pt x="289803" y="74246"/>
                  </a:lnTo>
                  <a:lnTo>
                    <a:pt x="327151" y="54869"/>
                  </a:lnTo>
                  <a:lnTo>
                    <a:pt x="365823" y="38292"/>
                  </a:lnTo>
                  <a:lnTo>
                    <a:pt x="405601" y="24608"/>
                  </a:lnTo>
                  <a:lnTo>
                    <a:pt x="446279" y="13886"/>
                  </a:lnTo>
                  <a:lnTo>
                    <a:pt x="487643" y="6185"/>
                  </a:lnTo>
                  <a:lnTo>
                    <a:pt x="529461" y="1547"/>
                  </a:lnTo>
                  <a:lnTo>
                    <a:pt x="571499" y="0"/>
                  </a:lnTo>
                  <a:lnTo>
                    <a:pt x="585529" y="172"/>
                  </a:lnTo>
                  <a:lnTo>
                    <a:pt x="627516" y="2751"/>
                  </a:lnTo>
                  <a:lnTo>
                    <a:pt x="669199" y="8412"/>
                  </a:lnTo>
                  <a:lnTo>
                    <a:pt x="710361" y="17126"/>
                  </a:lnTo>
                  <a:lnTo>
                    <a:pt x="750771" y="28845"/>
                  </a:lnTo>
                  <a:lnTo>
                    <a:pt x="790201" y="43502"/>
                  </a:lnTo>
                  <a:lnTo>
                    <a:pt x="828448" y="61020"/>
                  </a:lnTo>
                  <a:lnTo>
                    <a:pt x="865309" y="81307"/>
                  </a:lnTo>
                  <a:lnTo>
                    <a:pt x="900577" y="104252"/>
                  </a:lnTo>
                  <a:lnTo>
                    <a:pt x="934054" y="129724"/>
                  </a:lnTo>
                  <a:lnTo>
                    <a:pt x="965569" y="157589"/>
                  </a:lnTo>
                  <a:lnTo>
                    <a:pt x="994953" y="187703"/>
                  </a:lnTo>
                  <a:lnTo>
                    <a:pt x="1022040" y="219898"/>
                  </a:lnTo>
                  <a:lnTo>
                    <a:pt x="1046682" y="253991"/>
                  </a:lnTo>
                  <a:lnTo>
                    <a:pt x="1068751" y="289804"/>
                  </a:lnTo>
                  <a:lnTo>
                    <a:pt x="1088129" y="327151"/>
                  </a:lnTo>
                  <a:lnTo>
                    <a:pt x="1104705" y="365823"/>
                  </a:lnTo>
                  <a:lnTo>
                    <a:pt x="1118390" y="405601"/>
                  </a:lnTo>
                  <a:lnTo>
                    <a:pt x="1129112" y="446278"/>
                  </a:lnTo>
                  <a:lnTo>
                    <a:pt x="1136814" y="487643"/>
                  </a:lnTo>
                  <a:lnTo>
                    <a:pt x="1141451" y="529461"/>
                  </a:lnTo>
                  <a:lnTo>
                    <a:pt x="1142999" y="571499"/>
                  </a:lnTo>
                  <a:lnTo>
                    <a:pt x="1142827" y="585529"/>
                  </a:lnTo>
                  <a:lnTo>
                    <a:pt x="1140247" y="627516"/>
                  </a:lnTo>
                  <a:lnTo>
                    <a:pt x="1134586" y="669200"/>
                  </a:lnTo>
                  <a:lnTo>
                    <a:pt x="1125872" y="710362"/>
                  </a:lnTo>
                  <a:lnTo>
                    <a:pt x="1114153" y="750772"/>
                  </a:lnTo>
                  <a:lnTo>
                    <a:pt x="1099495" y="790203"/>
                  </a:lnTo>
                  <a:lnTo>
                    <a:pt x="1081978" y="828448"/>
                  </a:lnTo>
                  <a:lnTo>
                    <a:pt x="1061690" y="865309"/>
                  </a:lnTo>
                  <a:lnTo>
                    <a:pt x="1038745" y="900577"/>
                  </a:lnTo>
                  <a:lnTo>
                    <a:pt x="1013274" y="934055"/>
                  </a:lnTo>
                  <a:lnTo>
                    <a:pt x="985409" y="965569"/>
                  </a:lnTo>
                  <a:lnTo>
                    <a:pt x="955295" y="994953"/>
                  </a:lnTo>
                  <a:lnTo>
                    <a:pt x="923101" y="1022042"/>
                  </a:lnTo>
                  <a:lnTo>
                    <a:pt x="889008" y="1046684"/>
                  </a:lnTo>
                  <a:lnTo>
                    <a:pt x="853195" y="1068752"/>
                  </a:lnTo>
                  <a:lnTo>
                    <a:pt x="815847" y="1088130"/>
                  </a:lnTo>
                  <a:lnTo>
                    <a:pt x="777174" y="1104706"/>
                  </a:lnTo>
                  <a:lnTo>
                    <a:pt x="737396" y="1118391"/>
                  </a:lnTo>
                  <a:lnTo>
                    <a:pt x="696719" y="1129112"/>
                  </a:lnTo>
                  <a:lnTo>
                    <a:pt x="655355" y="1136814"/>
                  </a:lnTo>
                  <a:lnTo>
                    <a:pt x="613537" y="1141451"/>
                  </a:lnTo>
                  <a:lnTo>
                    <a:pt x="571499" y="1142999"/>
                  </a:lnTo>
                  <a:close/>
                </a:path>
              </a:pathLst>
            </a:custGeom>
            <a:solidFill>
              <a:srgbClr val="0057A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9117458" y="2913322"/>
            <a:ext cx="69342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70" b="1">
                <a:solidFill>
                  <a:srgbClr val="FFFFFF"/>
                </a:solidFill>
                <a:latin typeface="Roboto"/>
                <a:cs typeface="Roboto"/>
              </a:rPr>
              <a:t>RMOMPC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9068196" y="3141922"/>
            <a:ext cx="79184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60" b="1">
                <a:solidFill>
                  <a:srgbClr val="FFFFFF"/>
                </a:solidFill>
                <a:latin typeface="Roboto"/>
                <a:cs typeface="Roboto"/>
              </a:rPr>
              <a:t>Framework</a:t>
            </a:r>
            <a:endParaRPr sz="1300">
              <a:latin typeface="Roboto"/>
              <a:cs typeface="Roboto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10544174" y="6381749"/>
            <a:ext cx="1457325" cy="323850"/>
            <a:chOff x="10544174" y="6381749"/>
            <a:chExt cx="1457325" cy="323850"/>
          </a:xfrm>
        </p:grpSpPr>
        <p:sp>
          <p:nvSpPr>
            <p:cNvPr id="31" name="object 31" descr=""/>
            <p:cNvSpPr/>
            <p:nvPr/>
          </p:nvSpPr>
          <p:spPr>
            <a:xfrm>
              <a:off x="10544174" y="63817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658474" y="6476999"/>
              <a:ext cx="133349" cy="133349"/>
            </a:xfrm>
            <a:prstGeom prst="rect">
              <a:avLst/>
            </a:prstGeom>
          </p:spPr>
        </p:pic>
      </p:grpSp>
      <p:sp>
        <p:nvSpPr>
          <p:cNvPr id="33" name="object 3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19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165"/>
              <a:t>Gens</a:t>
            </a:r>
            <a:fld id="{81D60167-4931-47E6-BA6A-407CBD079E47}" type="slidenum">
              <a:rPr dirty="0" baseline="-7246" sz="1725" spc="-247">
                <a:solidFill>
                  <a:srgbClr val="545454"/>
                </a:solidFill>
              </a:rPr>
              <a:t>7</a:t>
            </a:fld>
            <a:r>
              <a:rPr dirty="0" sz="1000" spc="-165"/>
              <a:t>pa</a:t>
            </a:r>
            <a:r>
              <a:rPr dirty="0" baseline="-7246" sz="1725" spc="-247">
                <a:solidFill>
                  <a:srgbClr val="545454"/>
                </a:solidFill>
              </a:rPr>
              <a:t>/</a:t>
            </a:r>
            <a:r>
              <a:rPr dirty="0" sz="1000" spc="-165"/>
              <a:t>rk</a:t>
            </a:r>
            <a:r>
              <a:rPr dirty="0" baseline="-7246" sz="1725" spc="-247">
                <a:solidFill>
                  <a:srgbClr val="545454"/>
                </a:solidFill>
              </a:rPr>
              <a:t>10</a:t>
            </a:r>
            <a:endParaRPr baseline="-7246" sz="1725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899" y="526545"/>
            <a:ext cx="3347720" cy="40703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135"/>
              <a:t>Challenges</a:t>
            </a:r>
            <a:r>
              <a:rPr dirty="0" sz="2500" spc="-55"/>
              <a:t> </a:t>
            </a:r>
            <a:r>
              <a:rPr dirty="0" sz="2500" spc="-170"/>
              <a:t>&amp;</a:t>
            </a:r>
            <a:r>
              <a:rPr dirty="0" sz="2500" spc="-50"/>
              <a:t> </a:t>
            </a:r>
            <a:r>
              <a:rPr dirty="0" sz="2500" spc="-145"/>
              <a:t>Future</a:t>
            </a:r>
            <a:r>
              <a:rPr dirty="0" sz="2500" spc="-55"/>
              <a:t> </a:t>
            </a:r>
            <a:r>
              <a:rPr dirty="0" sz="2500" spc="-110"/>
              <a:t>Work</a:t>
            </a:r>
            <a:endParaRPr sz="25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1409699"/>
            <a:ext cx="190499" cy="19049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939800" y="1300749"/>
            <a:ext cx="6019165" cy="6159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7600"/>
              </a:lnSpc>
              <a:spcBef>
                <a:spcPts val="90"/>
              </a:spcBef>
            </a:pPr>
            <a:r>
              <a:rPr dirty="0" sz="1800" spc="-80">
                <a:solidFill>
                  <a:srgbClr val="333333"/>
                </a:solidFill>
                <a:latin typeface="Roboto"/>
                <a:cs typeface="Roboto"/>
              </a:rPr>
              <a:t>Computational</a:t>
            </a:r>
            <a:r>
              <a:rPr dirty="0" sz="18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75">
                <a:solidFill>
                  <a:srgbClr val="333333"/>
                </a:solidFill>
                <a:latin typeface="Roboto"/>
                <a:cs typeface="Roboto"/>
              </a:rPr>
              <a:t>complexity</a:t>
            </a:r>
            <a:r>
              <a:rPr dirty="0" sz="18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90">
                <a:solidFill>
                  <a:srgbClr val="333333"/>
                </a:solidFill>
                <a:latin typeface="Roboto"/>
                <a:cs typeface="Roboto"/>
              </a:rPr>
              <a:t>and</a:t>
            </a:r>
            <a:r>
              <a:rPr dirty="0" sz="18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75">
                <a:solidFill>
                  <a:srgbClr val="333333"/>
                </a:solidFill>
                <a:latin typeface="Roboto"/>
                <a:cs typeface="Roboto"/>
              </a:rPr>
              <a:t>real-</a:t>
            </a:r>
            <a:r>
              <a:rPr dirty="0" sz="1800" spc="-85">
                <a:solidFill>
                  <a:srgbClr val="333333"/>
                </a:solidFill>
                <a:latin typeface="Roboto"/>
                <a:cs typeface="Roboto"/>
              </a:rPr>
              <a:t>time</a:t>
            </a:r>
            <a:r>
              <a:rPr dirty="0" sz="18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75">
                <a:solidFill>
                  <a:srgbClr val="333333"/>
                </a:solidFill>
                <a:latin typeface="Roboto"/>
                <a:cs typeface="Roboto"/>
              </a:rPr>
              <a:t>optimization</a:t>
            </a:r>
            <a:r>
              <a:rPr dirty="0" sz="1800" spc="-10">
                <a:solidFill>
                  <a:srgbClr val="333333"/>
                </a:solidFill>
                <a:latin typeface="Roboto"/>
                <a:cs typeface="Roboto"/>
              </a:rPr>
              <a:t> speed </a:t>
            </a:r>
            <a:r>
              <a:rPr dirty="0" sz="1800" spc="-75">
                <a:solidFill>
                  <a:srgbClr val="333333"/>
                </a:solidFill>
                <a:latin typeface="Roboto"/>
                <a:cs typeface="Roboto"/>
              </a:rPr>
              <a:t>(hybrid</a:t>
            </a:r>
            <a:r>
              <a:rPr dirty="0" sz="18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95">
                <a:solidFill>
                  <a:srgbClr val="333333"/>
                </a:solidFill>
                <a:latin typeface="Roboto"/>
                <a:cs typeface="Roboto"/>
              </a:rPr>
              <a:t>GA-</a:t>
            </a:r>
            <a:r>
              <a:rPr dirty="0" sz="1800" spc="-105">
                <a:solidFill>
                  <a:srgbClr val="333333"/>
                </a:solidFill>
                <a:latin typeface="Roboto"/>
                <a:cs typeface="Roboto"/>
              </a:rPr>
              <a:t>PSO</a:t>
            </a:r>
            <a:r>
              <a:rPr dirty="0" sz="1800" spc="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5">
                <a:solidFill>
                  <a:srgbClr val="333333"/>
                </a:solidFill>
                <a:latin typeface="Roboto"/>
                <a:cs typeface="Roboto"/>
              </a:rPr>
              <a:t>takes</a:t>
            </a:r>
            <a:r>
              <a:rPr dirty="0" sz="1800" spc="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95">
                <a:solidFill>
                  <a:srgbClr val="333333"/>
                </a:solidFill>
                <a:latin typeface="Roboto"/>
                <a:cs typeface="Roboto"/>
              </a:rPr>
              <a:t>~12.5ms,</a:t>
            </a:r>
            <a:r>
              <a:rPr dirty="0" sz="1800" spc="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90">
                <a:solidFill>
                  <a:srgbClr val="333333"/>
                </a:solidFill>
                <a:latin typeface="Roboto"/>
                <a:cs typeface="Roboto"/>
              </a:rPr>
              <a:t>complete</a:t>
            </a:r>
            <a:r>
              <a:rPr dirty="0" sz="1800" spc="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0">
                <a:solidFill>
                  <a:srgbClr val="333333"/>
                </a:solidFill>
                <a:latin typeface="Roboto"/>
                <a:cs typeface="Roboto"/>
              </a:rPr>
              <a:t>control</a:t>
            </a:r>
            <a:r>
              <a:rPr dirty="0" sz="1800" spc="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5">
                <a:solidFill>
                  <a:srgbClr val="333333"/>
                </a:solidFill>
                <a:latin typeface="Roboto"/>
                <a:cs typeface="Roboto"/>
              </a:rPr>
              <a:t>path</a:t>
            </a:r>
            <a:r>
              <a:rPr dirty="0" sz="18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65">
                <a:solidFill>
                  <a:srgbClr val="333333"/>
                </a:solidFill>
                <a:latin typeface="Roboto"/>
                <a:cs typeface="Roboto"/>
              </a:rPr>
              <a:t>~26.5ms)</a:t>
            </a:r>
            <a:endParaRPr sz="1800">
              <a:latin typeface="Roboto"/>
              <a:cs typeface="Roboto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599" y="2190750"/>
            <a:ext cx="238124" cy="19049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987425" y="2097325"/>
            <a:ext cx="5977255" cy="591185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45"/>
              </a:spcBef>
            </a:pPr>
            <a:r>
              <a:rPr dirty="0" sz="1800" spc="-90">
                <a:solidFill>
                  <a:srgbClr val="333333"/>
                </a:solidFill>
                <a:latin typeface="Roboto"/>
                <a:cs typeface="Roboto"/>
              </a:rPr>
              <a:t>Communication</a:t>
            </a:r>
            <a:r>
              <a:rPr dirty="0" sz="18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90">
                <a:solidFill>
                  <a:srgbClr val="333333"/>
                </a:solidFill>
                <a:latin typeface="Roboto"/>
                <a:cs typeface="Roboto"/>
              </a:rPr>
              <a:t>and</a:t>
            </a:r>
            <a:r>
              <a:rPr dirty="0" sz="18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75">
                <a:solidFill>
                  <a:srgbClr val="333333"/>
                </a:solidFill>
                <a:latin typeface="Roboto"/>
                <a:cs typeface="Roboto"/>
              </a:rPr>
              <a:t>synchronization</a:t>
            </a:r>
            <a:r>
              <a:rPr dirty="0" sz="18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60">
                <a:solidFill>
                  <a:srgbClr val="333333"/>
                </a:solidFill>
                <a:latin typeface="Roboto"/>
                <a:cs typeface="Roboto"/>
              </a:rPr>
              <a:t>in</a:t>
            </a:r>
            <a:r>
              <a:rPr dirty="0" sz="18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75">
                <a:solidFill>
                  <a:srgbClr val="333333"/>
                </a:solidFill>
                <a:latin typeface="Roboto"/>
                <a:cs typeface="Roboto"/>
              </a:rPr>
              <a:t>large-</a:t>
            </a:r>
            <a:r>
              <a:rPr dirty="0" sz="1800" spc="-80">
                <a:solidFill>
                  <a:srgbClr val="333333"/>
                </a:solidFill>
                <a:latin typeface="Roboto"/>
                <a:cs typeface="Roboto"/>
              </a:rPr>
              <a:t>scale</a:t>
            </a:r>
            <a:r>
              <a:rPr dirty="0" sz="18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60">
                <a:solidFill>
                  <a:srgbClr val="333333"/>
                </a:solidFill>
                <a:latin typeface="Roboto"/>
                <a:cs typeface="Roboto"/>
              </a:rPr>
              <a:t>deployments </a:t>
            </a:r>
            <a:r>
              <a:rPr dirty="0" sz="1800" spc="-85">
                <a:solidFill>
                  <a:srgbClr val="333333"/>
                </a:solidFill>
                <a:latin typeface="Roboto"/>
                <a:cs typeface="Roboto"/>
              </a:rPr>
              <a:t>(216</a:t>
            </a:r>
            <a:r>
              <a:rPr dirty="0" sz="18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95">
                <a:solidFill>
                  <a:srgbClr val="333333"/>
                </a:solidFill>
                <a:latin typeface="Roboto"/>
                <a:cs typeface="Roboto"/>
              </a:rPr>
              <a:t>kbps</a:t>
            </a:r>
            <a:r>
              <a:rPr dirty="0" sz="18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5">
                <a:solidFill>
                  <a:srgbClr val="333333"/>
                </a:solidFill>
                <a:latin typeface="Roboto"/>
                <a:cs typeface="Roboto"/>
              </a:rPr>
              <a:t>bandwidth,</a:t>
            </a:r>
            <a:r>
              <a:rPr dirty="0" sz="18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110">
                <a:solidFill>
                  <a:srgbClr val="333333"/>
                </a:solidFill>
                <a:latin typeface="Roboto"/>
                <a:cs typeface="Roboto"/>
              </a:rPr>
              <a:t>50ms</a:t>
            </a:r>
            <a:r>
              <a:rPr dirty="0" sz="18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110">
                <a:solidFill>
                  <a:srgbClr val="333333"/>
                </a:solidFill>
                <a:latin typeface="Roboto"/>
                <a:cs typeface="Roboto"/>
              </a:rPr>
              <a:t>max</a:t>
            </a:r>
            <a:r>
              <a:rPr dirty="0" sz="18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75">
                <a:solidFill>
                  <a:srgbClr val="333333"/>
                </a:solidFill>
                <a:latin typeface="Roboto"/>
                <a:cs typeface="Roboto"/>
              </a:rPr>
              <a:t>tolerable</a:t>
            </a:r>
            <a:r>
              <a:rPr dirty="0" sz="18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333333"/>
                </a:solidFill>
                <a:latin typeface="Roboto"/>
                <a:cs typeface="Roboto"/>
              </a:rPr>
              <a:t>delay)</a:t>
            </a:r>
            <a:endParaRPr sz="1800">
              <a:latin typeface="Roboto"/>
              <a:cs typeface="Roboto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599" y="2974181"/>
            <a:ext cx="190499" cy="166687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939800" y="2853324"/>
            <a:ext cx="5443855" cy="6159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7600"/>
              </a:lnSpc>
              <a:spcBef>
                <a:spcPts val="90"/>
              </a:spcBef>
            </a:pPr>
            <a:r>
              <a:rPr dirty="0" sz="1800" spc="-95">
                <a:solidFill>
                  <a:srgbClr val="333333"/>
                </a:solidFill>
                <a:latin typeface="Roboto"/>
                <a:cs typeface="Roboto"/>
              </a:rPr>
              <a:t>Hardware-</a:t>
            </a:r>
            <a:r>
              <a:rPr dirty="0" sz="1800" spc="-65">
                <a:solidFill>
                  <a:srgbClr val="333333"/>
                </a:solidFill>
                <a:latin typeface="Roboto"/>
                <a:cs typeface="Roboto"/>
              </a:rPr>
              <a:t>in-</a:t>
            </a:r>
            <a:r>
              <a:rPr dirty="0" sz="1800" spc="-75">
                <a:solidFill>
                  <a:srgbClr val="333333"/>
                </a:solidFill>
                <a:latin typeface="Roboto"/>
                <a:cs typeface="Roboto"/>
              </a:rPr>
              <a:t>the-loop</a:t>
            </a:r>
            <a:r>
              <a:rPr dirty="0" sz="1800" spc="7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65">
                <a:solidFill>
                  <a:srgbClr val="333333"/>
                </a:solidFill>
                <a:latin typeface="Roboto"/>
                <a:cs typeface="Roboto"/>
              </a:rPr>
              <a:t>validation,</a:t>
            </a:r>
            <a:r>
              <a:rPr dirty="0" sz="1800" spc="7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5">
                <a:solidFill>
                  <a:srgbClr val="333333"/>
                </a:solidFill>
                <a:latin typeface="Roboto"/>
                <a:cs typeface="Roboto"/>
              </a:rPr>
              <a:t>decentralized</a:t>
            </a:r>
            <a:r>
              <a:rPr dirty="0" sz="1800" spc="7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0">
                <a:solidFill>
                  <a:srgbClr val="333333"/>
                </a:solidFill>
                <a:latin typeface="Roboto"/>
                <a:cs typeface="Roboto"/>
              </a:rPr>
              <a:t>peer-</a:t>
            </a:r>
            <a:r>
              <a:rPr dirty="0" sz="1800" spc="-70">
                <a:solidFill>
                  <a:srgbClr val="333333"/>
                </a:solidFill>
                <a:latin typeface="Roboto"/>
                <a:cs typeface="Roboto"/>
              </a:rPr>
              <a:t>to-</a:t>
            </a:r>
            <a:r>
              <a:rPr dirty="0" sz="1800" spc="-30">
                <a:solidFill>
                  <a:srgbClr val="333333"/>
                </a:solidFill>
                <a:latin typeface="Roboto"/>
                <a:cs typeface="Roboto"/>
              </a:rPr>
              <a:t>peer </a:t>
            </a:r>
            <a:r>
              <a:rPr dirty="0" sz="1800" spc="-80">
                <a:solidFill>
                  <a:srgbClr val="333333"/>
                </a:solidFill>
                <a:latin typeface="Roboto"/>
                <a:cs typeface="Roboto"/>
              </a:rPr>
              <a:t>control</a:t>
            </a:r>
            <a:r>
              <a:rPr dirty="0" sz="18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75">
                <a:solidFill>
                  <a:srgbClr val="333333"/>
                </a:solidFill>
                <a:latin typeface="Roboto"/>
                <a:cs typeface="Roboto"/>
              </a:rPr>
              <a:t>architecture</a:t>
            </a:r>
            <a:r>
              <a:rPr dirty="0" sz="18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333333"/>
                </a:solidFill>
                <a:latin typeface="Roboto"/>
                <a:cs typeface="Roboto"/>
              </a:rPr>
              <a:t>implementation</a:t>
            </a:r>
            <a:endParaRPr sz="1800">
              <a:latin typeface="Roboto"/>
              <a:cs typeface="Roboto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5553" y="3743325"/>
            <a:ext cx="178593" cy="190202"/>
          </a:xfrm>
          <a:prstGeom prst="rect">
            <a:avLst/>
          </a:prstGeom>
        </p:spPr>
      </p:pic>
      <p:grpSp>
        <p:nvGrpSpPr>
          <p:cNvPr id="10" name="object 10" descr=""/>
          <p:cNvGrpSpPr/>
          <p:nvPr/>
        </p:nvGrpSpPr>
        <p:grpSpPr>
          <a:xfrm>
            <a:off x="7458074" y="4591049"/>
            <a:ext cx="4019550" cy="1190625"/>
            <a:chOff x="7458074" y="4591049"/>
            <a:chExt cx="4019550" cy="1190625"/>
          </a:xfrm>
        </p:grpSpPr>
        <p:sp>
          <p:nvSpPr>
            <p:cNvPr id="11" name="object 11" descr=""/>
            <p:cNvSpPr/>
            <p:nvPr/>
          </p:nvSpPr>
          <p:spPr>
            <a:xfrm>
              <a:off x="7477124" y="4591049"/>
              <a:ext cx="4000500" cy="1190625"/>
            </a:xfrm>
            <a:custGeom>
              <a:avLst/>
              <a:gdLst/>
              <a:ahLst/>
              <a:cxnLst/>
              <a:rect l="l" t="t" r="r" b="b"/>
              <a:pathLst>
                <a:path w="4000500" h="1190625">
                  <a:moveTo>
                    <a:pt x="3967451" y="1190624"/>
                  </a:moveTo>
                  <a:lnTo>
                    <a:pt x="0" y="1190624"/>
                  </a:lnTo>
                  <a:lnTo>
                    <a:pt x="0" y="0"/>
                  </a:lnTo>
                  <a:lnTo>
                    <a:pt x="3967451" y="0"/>
                  </a:lnTo>
                  <a:lnTo>
                    <a:pt x="3972311" y="966"/>
                  </a:lnTo>
                  <a:lnTo>
                    <a:pt x="3999531" y="28187"/>
                  </a:lnTo>
                  <a:lnTo>
                    <a:pt x="4000498" y="33047"/>
                  </a:lnTo>
                  <a:lnTo>
                    <a:pt x="4000498" y="1157576"/>
                  </a:lnTo>
                  <a:lnTo>
                    <a:pt x="3972311" y="1189658"/>
                  </a:lnTo>
                  <a:lnTo>
                    <a:pt x="3967451" y="1190624"/>
                  </a:lnTo>
                  <a:close/>
                </a:path>
              </a:pathLst>
            </a:custGeom>
            <a:solidFill>
              <a:srgbClr val="0057A8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458074" y="4591049"/>
              <a:ext cx="38100" cy="1190625"/>
            </a:xfrm>
            <a:custGeom>
              <a:avLst/>
              <a:gdLst/>
              <a:ahLst/>
              <a:cxnLst/>
              <a:rect l="l" t="t" r="r" b="b"/>
              <a:pathLst>
                <a:path w="38100" h="1190625">
                  <a:moveTo>
                    <a:pt x="38099" y="1190624"/>
                  </a:moveTo>
                  <a:lnTo>
                    <a:pt x="0" y="1190624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190624"/>
                  </a:lnTo>
                  <a:close/>
                </a:path>
              </a:pathLst>
            </a:custGeom>
            <a:solidFill>
              <a:srgbClr val="0057A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939800" y="3634374"/>
            <a:ext cx="8465185" cy="134112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2574290">
              <a:lnSpc>
                <a:spcPct val="107600"/>
              </a:lnSpc>
              <a:spcBef>
                <a:spcPts val="90"/>
              </a:spcBef>
            </a:pPr>
            <a:r>
              <a:rPr dirty="0" sz="1800" spc="-85">
                <a:solidFill>
                  <a:srgbClr val="333333"/>
                </a:solidFill>
                <a:latin typeface="Roboto"/>
                <a:cs typeface="Roboto"/>
              </a:rPr>
              <a:t>Enhancing</a:t>
            </a:r>
            <a:r>
              <a:rPr dirty="0" sz="18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0">
                <a:solidFill>
                  <a:srgbClr val="333333"/>
                </a:solidFill>
                <a:latin typeface="Roboto"/>
                <a:cs typeface="Roboto"/>
              </a:rPr>
              <a:t>resilience</a:t>
            </a:r>
            <a:r>
              <a:rPr dirty="0" sz="18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75">
                <a:solidFill>
                  <a:srgbClr val="333333"/>
                </a:solidFill>
                <a:latin typeface="Roboto"/>
                <a:cs typeface="Roboto"/>
              </a:rPr>
              <a:t>to</a:t>
            </a:r>
            <a:r>
              <a:rPr dirty="0" sz="18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80">
                <a:solidFill>
                  <a:srgbClr val="333333"/>
                </a:solidFill>
                <a:latin typeface="Roboto"/>
                <a:cs typeface="Roboto"/>
              </a:rPr>
              <a:t>cyberattacks</a:t>
            </a:r>
            <a:r>
              <a:rPr dirty="0" sz="18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90">
                <a:solidFill>
                  <a:srgbClr val="333333"/>
                </a:solidFill>
                <a:latin typeface="Roboto"/>
                <a:cs typeface="Roboto"/>
              </a:rPr>
              <a:t>and</a:t>
            </a:r>
            <a:r>
              <a:rPr dirty="0" sz="18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90">
                <a:solidFill>
                  <a:srgbClr val="333333"/>
                </a:solidFill>
                <a:latin typeface="Roboto"/>
                <a:cs typeface="Roboto"/>
              </a:rPr>
              <a:t>extreme</a:t>
            </a:r>
            <a:r>
              <a:rPr dirty="0" sz="18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55">
                <a:solidFill>
                  <a:srgbClr val="333333"/>
                </a:solidFill>
                <a:latin typeface="Roboto"/>
                <a:cs typeface="Roboto"/>
              </a:rPr>
              <a:t>disturbances </a:t>
            </a:r>
            <a:r>
              <a:rPr dirty="0" sz="1800" spc="-75">
                <a:solidFill>
                  <a:srgbClr val="333333"/>
                </a:solidFill>
                <a:latin typeface="Roboto"/>
                <a:cs typeface="Roboto"/>
              </a:rPr>
              <a:t>with</a:t>
            </a:r>
            <a:r>
              <a:rPr dirty="0" sz="18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60">
                <a:solidFill>
                  <a:srgbClr val="333333"/>
                </a:solidFill>
                <a:latin typeface="Roboto"/>
                <a:cs typeface="Roboto"/>
              </a:rPr>
              <a:t>fail-</a:t>
            </a:r>
            <a:r>
              <a:rPr dirty="0" sz="1800" spc="-90">
                <a:solidFill>
                  <a:srgbClr val="333333"/>
                </a:solidFill>
                <a:latin typeface="Roboto"/>
                <a:cs typeface="Roboto"/>
              </a:rPr>
              <a:t>safe</a:t>
            </a:r>
            <a:r>
              <a:rPr dirty="0" sz="18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333333"/>
                </a:solidFill>
                <a:latin typeface="Roboto"/>
                <a:cs typeface="Roboto"/>
              </a:rPr>
              <a:t>mechanisms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935"/>
              </a:spcBef>
            </a:pPr>
            <a:endParaRPr sz="1650">
              <a:latin typeface="Roboto"/>
              <a:cs typeface="Roboto"/>
            </a:endParaRPr>
          </a:p>
          <a:p>
            <a:pPr algn="r" marR="5080">
              <a:lnSpc>
                <a:spcPct val="100000"/>
              </a:lnSpc>
            </a:pPr>
            <a:r>
              <a:rPr dirty="0" sz="1500" spc="-95" b="0">
                <a:solidFill>
                  <a:srgbClr val="002854"/>
                </a:solidFill>
                <a:latin typeface="Roboto Medium"/>
                <a:cs typeface="Roboto Medium"/>
              </a:rPr>
              <a:t>Development</a:t>
            </a:r>
            <a:r>
              <a:rPr dirty="0" sz="1500" spc="15" b="0">
                <a:solidFill>
                  <a:srgbClr val="002854"/>
                </a:solidFill>
                <a:latin typeface="Roboto Medium"/>
                <a:cs typeface="Roboto Medium"/>
              </a:rPr>
              <a:t> </a:t>
            </a:r>
            <a:r>
              <a:rPr dirty="0" sz="1500" spc="-10" b="0">
                <a:solidFill>
                  <a:srgbClr val="002854"/>
                </a:solidFill>
                <a:latin typeface="Roboto Medium"/>
                <a:cs typeface="Roboto Medium"/>
              </a:rPr>
              <a:t>Timeline:</a:t>
            </a:r>
            <a:endParaRPr sz="1500">
              <a:latin typeface="Roboto Medium"/>
              <a:cs typeface="Roboto Medium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7621587" y="5036645"/>
            <a:ext cx="3723004" cy="596900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91440" indent="-78740">
              <a:lnSpc>
                <a:spcPct val="100000"/>
              </a:lnSpc>
              <a:spcBef>
                <a:spcPts val="215"/>
              </a:spcBef>
              <a:buChar char="•"/>
              <a:tabLst>
                <a:tab pos="91440" algn="l"/>
              </a:tabLst>
            </a:pPr>
            <a:r>
              <a:rPr dirty="0" sz="1150" spc="-65">
                <a:solidFill>
                  <a:srgbClr val="374050"/>
                </a:solidFill>
                <a:latin typeface="Roboto"/>
                <a:cs typeface="Roboto"/>
              </a:rPr>
              <a:t>Phase</a:t>
            </a:r>
            <a:r>
              <a:rPr dirty="0" sz="11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35">
                <a:solidFill>
                  <a:srgbClr val="374050"/>
                </a:solidFill>
                <a:latin typeface="Roboto"/>
                <a:cs typeface="Roboto"/>
              </a:rPr>
              <a:t>1:</a:t>
            </a:r>
            <a:r>
              <a:rPr dirty="0" sz="11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65">
                <a:solidFill>
                  <a:srgbClr val="374050"/>
                </a:solidFill>
                <a:latin typeface="Roboto"/>
                <a:cs typeface="Roboto"/>
              </a:rPr>
              <a:t>FPGA-based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374050"/>
                </a:solidFill>
                <a:latin typeface="Roboto"/>
                <a:cs typeface="Roboto"/>
              </a:rPr>
              <a:t>controller</a:t>
            </a:r>
            <a:r>
              <a:rPr dirty="0" sz="11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prototype</a:t>
            </a:r>
            <a:r>
              <a:rPr dirty="0" sz="11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(6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74050"/>
                </a:solidFill>
                <a:latin typeface="Roboto"/>
                <a:cs typeface="Roboto"/>
              </a:rPr>
              <a:t>months)</a:t>
            </a:r>
            <a:endParaRPr sz="1150">
              <a:latin typeface="Roboto"/>
              <a:cs typeface="Roboto"/>
            </a:endParaRPr>
          </a:p>
          <a:p>
            <a:pPr marL="91440" indent="-78740">
              <a:lnSpc>
                <a:spcPct val="100000"/>
              </a:lnSpc>
              <a:spcBef>
                <a:spcPts val="120"/>
              </a:spcBef>
              <a:buChar char="•"/>
              <a:tabLst>
                <a:tab pos="91440" algn="l"/>
              </a:tabLst>
            </a:pPr>
            <a:r>
              <a:rPr dirty="0" sz="1150" spc="-65">
                <a:solidFill>
                  <a:srgbClr val="374050"/>
                </a:solidFill>
                <a:latin typeface="Roboto"/>
                <a:cs typeface="Roboto"/>
              </a:rPr>
              <a:t>Phase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35">
                <a:solidFill>
                  <a:srgbClr val="374050"/>
                </a:solidFill>
                <a:latin typeface="Roboto"/>
                <a:cs typeface="Roboto"/>
              </a:rPr>
              <a:t>2: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374050"/>
                </a:solidFill>
                <a:latin typeface="Roboto"/>
                <a:cs typeface="Roboto"/>
              </a:rPr>
              <a:t>Distributed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multi-</a:t>
            </a:r>
            <a:r>
              <a:rPr dirty="0" sz="1150" spc="-60">
                <a:solidFill>
                  <a:srgbClr val="374050"/>
                </a:solidFill>
                <a:latin typeface="Roboto"/>
                <a:cs typeface="Roboto"/>
              </a:rPr>
              <a:t>agent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implementation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(12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374050"/>
                </a:solidFill>
                <a:latin typeface="Roboto"/>
                <a:cs typeface="Roboto"/>
              </a:rPr>
              <a:t>months)</a:t>
            </a:r>
            <a:endParaRPr sz="1150">
              <a:latin typeface="Roboto"/>
              <a:cs typeface="Roboto"/>
            </a:endParaRPr>
          </a:p>
          <a:p>
            <a:pPr marL="91440" indent="-78740">
              <a:lnSpc>
                <a:spcPct val="100000"/>
              </a:lnSpc>
              <a:spcBef>
                <a:spcPts val="120"/>
              </a:spcBef>
              <a:buChar char="•"/>
              <a:tabLst>
                <a:tab pos="91440" algn="l"/>
              </a:tabLst>
            </a:pPr>
            <a:r>
              <a:rPr dirty="0" sz="1150" spc="-65">
                <a:solidFill>
                  <a:srgbClr val="374050"/>
                </a:solidFill>
                <a:latin typeface="Roboto"/>
                <a:cs typeface="Roboto"/>
              </a:rPr>
              <a:t>Phase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35">
                <a:solidFill>
                  <a:srgbClr val="374050"/>
                </a:solidFill>
                <a:latin typeface="Roboto"/>
                <a:cs typeface="Roboto"/>
              </a:rPr>
              <a:t>3: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374050"/>
                </a:solidFill>
                <a:latin typeface="Roboto"/>
                <a:cs typeface="Roboto"/>
              </a:rPr>
              <a:t>Resilient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control</a:t>
            </a:r>
            <a:r>
              <a:rPr dirty="0" sz="11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with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374050"/>
                </a:solidFill>
                <a:latin typeface="Roboto"/>
                <a:cs typeface="Roboto"/>
              </a:rPr>
              <a:t>security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features</a:t>
            </a:r>
            <a:r>
              <a:rPr dirty="0" sz="11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(18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74050"/>
                </a:solidFill>
                <a:latin typeface="Roboto"/>
                <a:cs typeface="Roboto"/>
              </a:rPr>
              <a:t>months)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0809782" y="500615"/>
            <a:ext cx="1014094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20" b="1">
                <a:solidFill>
                  <a:srgbClr val="6A7280"/>
                </a:solidFill>
                <a:latin typeface="Roboto"/>
                <a:cs typeface="Roboto"/>
              </a:rPr>
              <a:t>IEEE</a:t>
            </a:r>
            <a:r>
              <a:rPr dirty="0" sz="1100" spc="-40" b="1">
                <a:solidFill>
                  <a:srgbClr val="6A7280"/>
                </a:solidFill>
                <a:latin typeface="Roboto"/>
                <a:cs typeface="Roboto"/>
              </a:rPr>
              <a:t> </a:t>
            </a:r>
            <a:r>
              <a:rPr dirty="0" sz="1100" spc="-35" b="1">
                <a:solidFill>
                  <a:srgbClr val="6A7280"/>
                </a:solidFill>
                <a:latin typeface="Roboto"/>
                <a:cs typeface="Roboto"/>
              </a:rPr>
              <a:t>Conference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7343774" y="1352549"/>
            <a:ext cx="4238625" cy="3048000"/>
          </a:xfrm>
          <a:custGeom>
            <a:avLst/>
            <a:gdLst/>
            <a:ahLst/>
            <a:cxnLst/>
            <a:rect l="l" t="t" r="r" b="b"/>
            <a:pathLst>
              <a:path w="4238625" h="3048000">
                <a:moveTo>
                  <a:pt x="4167428" y="3047999"/>
                </a:moveTo>
                <a:lnTo>
                  <a:pt x="71196" y="3047999"/>
                </a:lnTo>
                <a:lnTo>
                  <a:pt x="66241" y="3047511"/>
                </a:lnTo>
                <a:lnTo>
                  <a:pt x="29705" y="3032377"/>
                </a:lnTo>
                <a:lnTo>
                  <a:pt x="3885" y="2996337"/>
                </a:lnTo>
                <a:lnTo>
                  <a:pt x="0" y="2976802"/>
                </a:lnTo>
                <a:lnTo>
                  <a:pt x="0" y="29717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4167428" y="0"/>
                </a:lnTo>
                <a:lnTo>
                  <a:pt x="4208917" y="15621"/>
                </a:lnTo>
                <a:lnTo>
                  <a:pt x="4234737" y="51661"/>
                </a:lnTo>
                <a:lnTo>
                  <a:pt x="4238624" y="71196"/>
                </a:lnTo>
                <a:lnTo>
                  <a:pt x="4238624" y="2976802"/>
                </a:lnTo>
                <a:lnTo>
                  <a:pt x="4223001" y="3018294"/>
                </a:lnTo>
                <a:lnTo>
                  <a:pt x="4186962" y="3044113"/>
                </a:lnTo>
                <a:lnTo>
                  <a:pt x="4172382" y="3047511"/>
                </a:lnTo>
                <a:lnTo>
                  <a:pt x="4167428" y="3047999"/>
                </a:lnTo>
                <a:close/>
              </a:path>
            </a:pathLst>
          </a:custGeom>
          <a:solidFill>
            <a:srgbClr val="0057A8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7238652" y="3310501"/>
            <a:ext cx="1485900" cy="3873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99390" marR="5080" indent="-187325">
              <a:lnSpc>
                <a:spcPct val="113100"/>
              </a:lnSpc>
              <a:spcBef>
                <a:spcPts val="90"/>
              </a:spcBef>
            </a:pPr>
            <a:r>
              <a:rPr dirty="0" sz="1050" spc="-50">
                <a:solidFill>
                  <a:srgbClr val="545454"/>
                </a:solidFill>
                <a:latin typeface="Roboto"/>
                <a:cs typeface="Roboto"/>
              </a:rPr>
              <a:t>Deep</a:t>
            </a:r>
            <a:r>
              <a:rPr dirty="0" sz="1050" spc="-1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050" spc="-35">
                <a:solidFill>
                  <a:srgbClr val="545454"/>
                </a:solidFill>
                <a:latin typeface="Roboto"/>
                <a:cs typeface="Roboto"/>
              </a:rPr>
              <a:t>learning</a:t>
            </a:r>
            <a:r>
              <a:rPr dirty="0" sz="1050" spc="-1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050" spc="-45">
                <a:solidFill>
                  <a:srgbClr val="545454"/>
                </a:solidFill>
                <a:latin typeface="Roboto"/>
                <a:cs typeface="Roboto"/>
              </a:rPr>
              <a:t>acceleration </a:t>
            </a:r>
            <a:r>
              <a:rPr dirty="0" sz="1050" spc="-25">
                <a:solidFill>
                  <a:srgbClr val="545454"/>
                </a:solidFill>
                <a:latin typeface="Roboto"/>
                <a:cs typeface="Roboto"/>
              </a:rPr>
              <a:t>for</a:t>
            </a:r>
            <a:r>
              <a:rPr dirty="0" sz="1050" spc="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050" spc="-40">
                <a:solidFill>
                  <a:srgbClr val="545454"/>
                </a:solidFill>
                <a:latin typeface="Roboto"/>
                <a:cs typeface="Roboto"/>
              </a:rPr>
              <a:t>real-</a:t>
            </a:r>
            <a:r>
              <a:rPr dirty="0" sz="1050" spc="-45">
                <a:solidFill>
                  <a:srgbClr val="545454"/>
                </a:solidFill>
                <a:latin typeface="Roboto"/>
                <a:cs typeface="Roboto"/>
              </a:rPr>
              <a:t>time</a:t>
            </a:r>
            <a:r>
              <a:rPr dirty="0" sz="1050" spc="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050" spc="-10">
                <a:solidFill>
                  <a:srgbClr val="545454"/>
                </a:solidFill>
                <a:latin typeface="Roboto"/>
                <a:cs typeface="Roboto"/>
              </a:rPr>
              <a:t>control</a:t>
            </a:r>
            <a:endParaRPr sz="1050">
              <a:latin typeface="Roboto"/>
              <a:cs typeface="Roboto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8495059" y="2238176"/>
            <a:ext cx="921385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80" b="0">
                <a:solidFill>
                  <a:srgbClr val="002854"/>
                </a:solidFill>
                <a:latin typeface="Roboto Medium"/>
                <a:cs typeface="Roboto Medium"/>
              </a:rPr>
              <a:t>HIL</a:t>
            </a:r>
            <a:r>
              <a:rPr dirty="0" sz="1250" spc="-10" b="0">
                <a:solidFill>
                  <a:srgbClr val="002854"/>
                </a:solidFill>
                <a:latin typeface="Roboto Medium"/>
                <a:cs typeface="Roboto Medium"/>
              </a:rPr>
              <a:t> </a:t>
            </a:r>
            <a:r>
              <a:rPr dirty="0" sz="1250" spc="-60" b="0">
                <a:solidFill>
                  <a:srgbClr val="002854"/>
                </a:solidFill>
                <a:latin typeface="Roboto Medium"/>
                <a:cs typeface="Roboto Medium"/>
              </a:rPr>
              <a:t>Validation</a:t>
            </a:r>
            <a:endParaRPr sz="1250">
              <a:latin typeface="Roboto Medium"/>
              <a:cs typeface="Roboto Medium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8267650" y="2500876"/>
            <a:ext cx="1376045" cy="3873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58445" marR="5080" indent="-246379">
              <a:lnSpc>
                <a:spcPct val="113100"/>
              </a:lnSpc>
              <a:spcBef>
                <a:spcPts val="90"/>
              </a:spcBef>
            </a:pPr>
            <a:r>
              <a:rPr dirty="0" sz="1050" spc="-50">
                <a:solidFill>
                  <a:srgbClr val="545454"/>
                </a:solidFill>
                <a:latin typeface="Roboto"/>
                <a:cs typeface="Roboto"/>
              </a:rPr>
              <a:t>Hardware-</a:t>
            </a:r>
            <a:r>
              <a:rPr dirty="0" sz="1050" spc="-35">
                <a:solidFill>
                  <a:srgbClr val="545454"/>
                </a:solidFill>
                <a:latin typeface="Roboto"/>
                <a:cs typeface="Roboto"/>
              </a:rPr>
              <a:t>in-</a:t>
            </a:r>
            <a:r>
              <a:rPr dirty="0" sz="1050" spc="-40">
                <a:solidFill>
                  <a:srgbClr val="545454"/>
                </a:solidFill>
                <a:latin typeface="Roboto"/>
                <a:cs typeface="Roboto"/>
              </a:rPr>
              <a:t>loop</a:t>
            </a:r>
            <a:r>
              <a:rPr dirty="0" sz="1050" spc="8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050" spc="-35">
                <a:solidFill>
                  <a:srgbClr val="545454"/>
                </a:solidFill>
                <a:latin typeface="Roboto"/>
                <a:cs typeface="Roboto"/>
              </a:rPr>
              <a:t>testing </a:t>
            </a:r>
            <a:r>
              <a:rPr dirty="0" sz="1050" spc="-40">
                <a:solidFill>
                  <a:srgbClr val="545454"/>
                </a:solidFill>
                <a:latin typeface="Roboto"/>
                <a:cs typeface="Roboto"/>
              </a:rPr>
              <a:t>with</a:t>
            </a:r>
            <a:r>
              <a:rPr dirty="0" sz="1050" spc="-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050" spc="-10">
                <a:solidFill>
                  <a:srgbClr val="545454"/>
                </a:solidFill>
                <a:latin typeface="Roboto"/>
                <a:cs typeface="Roboto"/>
              </a:rPr>
              <a:t>DSP/FPGA</a:t>
            </a:r>
            <a:endParaRPr sz="1050">
              <a:latin typeface="Roboto"/>
              <a:cs typeface="Roboto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7342088" y="3047801"/>
            <a:ext cx="3331845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41195" algn="l"/>
              </a:tabLst>
            </a:pPr>
            <a:r>
              <a:rPr dirty="0" sz="1250" spc="-65" b="0">
                <a:solidFill>
                  <a:srgbClr val="002854"/>
                </a:solidFill>
                <a:latin typeface="Roboto Medium"/>
                <a:cs typeface="Roboto Medium"/>
              </a:rPr>
              <a:t>Optimization</a:t>
            </a:r>
            <a:r>
              <a:rPr dirty="0" sz="1250" spc="-20" b="0">
                <a:solidFill>
                  <a:srgbClr val="002854"/>
                </a:solidFill>
                <a:latin typeface="Roboto Medium"/>
                <a:cs typeface="Roboto Medium"/>
              </a:rPr>
              <a:t> Speed</a:t>
            </a:r>
            <a:r>
              <a:rPr dirty="0" sz="1250" b="0">
                <a:solidFill>
                  <a:srgbClr val="002854"/>
                </a:solidFill>
                <a:latin typeface="Roboto Medium"/>
                <a:cs typeface="Roboto Medium"/>
              </a:rPr>
              <a:t>	</a:t>
            </a:r>
            <a:r>
              <a:rPr dirty="0" sz="1250" spc="-70" b="0">
                <a:solidFill>
                  <a:srgbClr val="002854"/>
                </a:solidFill>
                <a:latin typeface="Roboto Medium"/>
                <a:cs typeface="Roboto Medium"/>
              </a:rPr>
              <a:t>Decentralized</a:t>
            </a:r>
            <a:r>
              <a:rPr dirty="0" sz="1250" spc="45" b="0">
                <a:solidFill>
                  <a:srgbClr val="002854"/>
                </a:solidFill>
                <a:latin typeface="Roboto Medium"/>
                <a:cs typeface="Roboto Medium"/>
              </a:rPr>
              <a:t> </a:t>
            </a:r>
            <a:r>
              <a:rPr dirty="0" sz="1250" spc="-60" b="0">
                <a:solidFill>
                  <a:srgbClr val="002854"/>
                </a:solidFill>
                <a:latin typeface="Roboto Medium"/>
                <a:cs typeface="Roboto Medium"/>
              </a:rPr>
              <a:t>Control</a:t>
            </a:r>
            <a:endParaRPr sz="1250">
              <a:latin typeface="Roboto Medium"/>
              <a:cs typeface="Roboto Medium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9424044" y="3310501"/>
            <a:ext cx="1096645" cy="3873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82880" marR="5080" indent="-170815">
              <a:lnSpc>
                <a:spcPct val="113100"/>
              </a:lnSpc>
              <a:spcBef>
                <a:spcPts val="90"/>
              </a:spcBef>
            </a:pPr>
            <a:r>
              <a:rPr dirty="0" sz="1050" spc="-45">
                <a:solidFill>
                  <a:srgbClr val="545454"/>
                </a:solidFill>
                <a:latin typeface="Roboto"/>
                <a:cs typeface="Roboto"/>
              </a:rPr>
              <a:t>Peer-</a:t>
            </a:r>
            <a:r>
              <a:rPr dirty="0" sz="1050" spc="-40">
                <a:solidFill>
                  <a:srgbClr val="545454"/>
                </a:solidFill>
                <a:latin typeface="Roboto"/>
                <a:cs typeface="Roboto"/>
              </a:rPr>
              <a:t>to-</a:t>
            </a:r>
            <a:r>
              <a:rPr dirty="0" sz="1050" spc="-45">
                <a:solidFill>
                  <a:srgbClr val="545454"/>
                </a:solidFill>
                <a:latin typeface="Roboto"/>
                <a:cs typeface="Roboto"/>
              </a:rPr>
              <a:t>peer</a:t>
            </a:r>
            <a:r>
              <a:rPr dirty="0" sz="1050" spc="4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050" spc="-45">
                <a:solidFill>
                  <a:srgbClr val="545454"/>
                </a:solidFill>
                <a:latin typeface="Roboto"/>
                <a:cs typeface="Roboto"/>
              </a:rPr>
              <a:t>energy </a:t>
            </a:r>
            <a:r>
              <a:rPr dirty="0" sz="1050" spc="-10">
                <a:solidFill>
                  <a:srgbClr val="545454"/>
                </a:solidFill>
                <a:latin typeface="Roboto"/>
                <a:cs typeface="Roboto"/>
              </a:rPr>
              <a:t>management</a:t>
            </a:r>
            <a:endParaRPr sz="1050">
              <a:latin typeface="Roboto"/>
              <a:cs typeface="Roboto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0455720" y="2238176"/>
            <a:ext cx="982344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70" b="0">
                <a:solidFill>
                  <a:srgbClr val="002854"/>
                </a:solidFill>
                <a:latin typeface="Roboto Medium"/>
                <a:cs typeface="Roboto Medium"/>
              </a:rPr>
              <a:t>Grid</a:t>
            </a:r>
            <a:r>
              <a:rPr dirty="0" sz="1250" b="0">
                <a:solidFill>
                  <a:srgbClr val="002854"/>
                </a:solidFill>
                <a:latin typeface="Roboto Medium"/>
                <a:cs typeface="Roboto Medium"/>
              </a:rPr>
              <a:t> </a:t>
            </a:r>
            <a:r>
              <a:rPr dirty="0" sz="1250" spc="-60" b="0">
                <a:solidFill>
                  <a:srgbClr val="002854"/>
                </a:solidFill>
                <a:latin typeface="Roboto Medium"/>
                <a:cs typeface="Roboto Medium"/>
              </a:rPr>
              <a:t>Resilience</a:t>
            </a:r>
            <a:endParaRPr sz="1250">
              <a:latin typeface="Roboto Medium"/>
              <a:cs typeface="Roboto Medium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0312101" y="2500876"/>
            <a:ext cx="1269365" cy="3873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60680" marR="5080" indent="-348615">
              <a:lnSpc>
                <a:spcPct val="113100"/>
              </a:lnSpc>
              <a:spcBef>
                <a:spcPts val="90"/>
              </a:spcBef>
            </a:pPr>
            <a:r>
              <a:rPr dirty="0" sz="1050" spc="-45">
                <a:solidFill>
                  <a:srgbClr val="545454"/>
                </a:solidFill>
                <a:latin typeface="Roboto"/>
                <a:cs typeface="Roboto"/>
              </a:rPr>
              <a:t>Cyberattack</a:t>
            </a:r>
            <a:r>
              <a:rPr dirty="0" sz="1050" spc="2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050" spc="-40">
                <a:solidFill>
                  <a:srgbClr val="545454"/>
                </a:solidFill>
                <a:latin typeface="Roboto"/>
                <a:cs typeface="Roboto"/>
              </a:rPr>
              <a:t>mitigation </a:t>
            </a:r>
            <a:r>
              <a:rPr dirty="0" sz="1050" spc="-10">
                <a:solidFill>
                  <a:srgbClr val="545454"/>
                </a:solidFill>
                <a:latin typeface="Roboto"/>
                <a:cs typeface="Roboto"/>
              </a:rPr>
              <a:t>strategies</a:t>
            </a:r>
            <a:endParaRPr sz="1050">
              <a:latin typeface="Roboto"/>
              <a:cs typeface="Roboto"/>
            </a:endParaRPr>
          </a:p>
        </p:txBody>
      </p:sp>
      <p:pic>
        <p:nvPicPr>
          <p:cNvPr id="24" name="object 24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6724649"/>
            <a:ext cx="12191999" cy="133349"/>
          </a:xfrm>
          <a:prstGeom prst="rect">
            <a:avLst/>
          </a:prstGeom>
        </p:spPr>
      </p:pic>
      <p:grpSp>
        <p:nvGrpSpPr>
          <p:cNvPr id="25" name="object 25" descr=""/>
          <p:cNvGrpSpPr/>
          <p:nvPr/>
        </p:nvGrpSpPr>
        <p:grpSpPr>
          <a:xfrm>
            <a:off x="7343774" y="2762249"/>
            <a:ext cx="4238625" cy="228600"/>
            <a:chOff x="7343774" y="2762249"/>
            <a:chExt cx="4238625" cy="228600"/>
          </a:xfrm>
        </p:grpSpPr>
        <p:sp>
          <p:nvSpPr>
            <p:cNvPr id="26" name="object 26" descr=""/>
            <p:cNvSpPr/>
            <p:nvPr/>
          </p:nvSpPr>
          <p:spPr>
            <a:xfrm>
              <a:off x="7343774" y="2876549"/>
              <a:ext cx="4238625" cy="38100"/>
            </a:xfrm>
            <a:custGeom>
              <a:avLst/>
              <a:gdLst/>
              <a:ahLst/>
              <a:cxnLst/>
              <a:rect l="l" t="t" r="r" b="b"/>
              <a:pathLst>
                <a:path w="4238625" h="38100">
                  <a:moveTo>
                    <a:pt x="4238624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4238624" y="0"/>
                  </a:lnTo>
                  <a:lnTo>
                    <a:pt x="4238624" y="38099"/>
                  </a:lnTo>
                  <a:close/>
                </a:path>
              </a:pathLst>
            </a:custGeom>
            <a:solidFill>
              <a:srgbClr val="0057A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81949" y="2762249"/>
              <a:ext cx="228599" cy="228599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953498" y="2762249"/>
              <a:ext cx="228600" cy="228599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972674" y="2762249"/>
              <a:ext cx="228599" cy="228599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944223" y="2762249"/>
              <a:ext cx="228599" cy="228599"/>
            </a:xfrm>
            <a:prstGeom prst="rect">
              <a:avLst/>
            </a:prstGeom>
          </p:spPr>
        </p:pic>
      </p:grpSp>
      <p:grpSp>
        <p:nvGrpSpPr>
          <p:cNvPr id="31" name="object 31" descr=""/>
          <p:cNvGrpSpPr/>
          <p:nvPr/>
        </p:nvGrpSpPr>
        <p:grpSpPr>
          <a:xfrm>
            <a:off x="10544174" y="6343649"/>
            <a:ext cx="1457325" cy="323850"/>
            <a:chOff x="10544174" y="6343649"/>
            <a:chExt cx="1457325" cy="323850"/>
          </a:xfrm>
        </p:grpSpPr>
        <p:sp>
          <p:nvSpPr>
            <p:cNvPr id="32" name="object 32" descr=""/>
            <p:cNvSpPr/>
            <p:nvPr/>
          </p:nvSpPr>
          <p:spPr>
            <a:xfrm>
              <a:off x="10544174" y="63436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6584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34" name="object 3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05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165"/>
              <a:t>Gens</a:t>
            </a:r>
            <a:fld id="{81D60167-4931-47E6-BA6A-407CBD079E47}" type="slidenum">
              <a:rPr dirty="0" baseline="-12077" sz="1725" spc="-247">
                <a:solidFill>
                  <a:srgbClr val="545454"/>
                </a:solidFill>
              </a:rPr>
              <a:t>8</a:t>
            </a:fld>
            <a:r>
              <a:rPr dirty="0" sz="1000" spc="-165"/>
              <a:t>pa</a:t>
            </a:r>
            <a:r>
              <a:rPr dirty="0" baseline="-12077" sz="1725" spc="-247">
                <a:solidFill>
                  <a:srgbClr val="545454"/>
                </a:solidFill>
              </a:rPr>
              <a:t>/</a:t>
            </a:r>
            <a:r>
              <a:rPr dirty="0" sz="1000" spc="-165"/>
              <a:t>rk</a:t>
            </a:r>
            <a:r>
              <a:rPr dirty="0" baseline="-12077" sz="1725" spc="-247">
                <a:solidFill>
                  <a:srgbClr val="545454"/>
                </a:solidFill>
              </a:rPr>
              <a:t>10</a:t>
            </a:r>
            <a:endParaRPr baseline="-12077" sz="1725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898689" cy="11920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5"/>
              <a:t>Conclusion</a:t>
            </a:r>
            <a:r>
              <a:rPr dirty="0" spc="-20"/>
              <a:t> </a:t>
            </a:r>
            <a:r>
              <a:rPr dirty="0" spc="-140"/>
              <a:t>&amp;</a:t>
            </a:r>
            <a:r>
              <a:rPr dirty="0" spc="-15"/>
              <a:t> </a:t>
            </a:r>
            <a:r>
              <a:rPr dirty="0" spc="-130"/>
              <a:t>Key</a:t>
            </a:r>
            <a:r>
              <a:rPr dirty="0" spc="-75"/>
              <a:t> </a:t>
            </a:r>
            <a:r>
              <a:rPr dirty="0" spc="-120"/>
              <a:t>Takeaways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4934" y="1260160"/>
            <a:ext cx="170292" cy="170292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8760" y="1080806"/>
            <a:ext cx="5296535" cy="1078230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dirty="0" sz="1650" spc="-140">
                <a:solidFill>
                  <a:srgbClr val="333333"/>
                </a:solidFill>
                <a:latin typeface="Roboto"/>
                <a:cs typeface="Roboto"/>
              </a:rPr>
              <a:t>RMOMPC</a:t>
            </a:r>
            <a:r>
              <a:rPr dirty="0" sz="1650" spc="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85">
                <a:solidFill>
                  <a:srgbClr val="333333"/>
                </a:solidFill>
                <a:latin typeface="Roboto"/>
                <a:cs typeface="Roboto"/>
              </a:rPr>
              <a:t>delivers</a:t>
            </a:r>
            <a:r>
              <a:rPr dirty="0" sz="1650" spc="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100">
                <a:solidFill>
                  <a:srgbClr val="333333"/>
                </a:solidFill>
                <a:latin typeface="Roboto"/>
                <a:cs typeface="Roboto"/>
              </a:rPr>
              <a:t>comprehensive</a:t>
            </a:r>
            <a:r>
              <a:rPr dirty="0" sz="1650" spc="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105">
                <a:solidFill>
                  <a:srgbClr val="333333"/>
                </a:solidFill>
                <a:latin typeface="Roboto"/>
                <a:cs typeface="Roboto"/>
              </a:rPr>
              <a:t>power</a:t>
            </a:r>
            <a:r>
              <a:rPr dirty="0" sz="1650" spc="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85">
                <a:solidFill>
                  <a:srgbClr val="333333"/>
                </a:solidFill>
                <a:latin typeface="Roboto"/>
                <a:cs typeface="Roboto"/>
              </a:rPr>
              <a:t>quality</a:t>
            </a:r>
            <a:r>
              <a:rPr dirty="0" sz="1650" spc="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90">
                <a:solidFill>
                  <a:srgbClr val="333333"/>
                </a:solidFill>
                <a:latin typeface="Roboto"/>
                <a:cs typeface="Roboto"/>
              </a:rPr>
              <a:t>improvements:</a:t>
            </a:r>
            <a:endParaRPr sz="1650">
              <a:latin typeface="Roboto"/>
              <a:cs typeface="Roboto"/>
            </a:endParaRPr>
          </a:p>
          <a:p>
            <a:pPr marL="408305" indent="-89535">
              <a:lnSpc>
                <a:spcPct val="100000"/>
              </a:lnSpc>
              <a:spcBef>
                <a:spcPts val="600"/>
              </a:spcBef>
              <a:buChar char="•"/>
              <a:tabLst>
                <a:tab pos="408305" algn="l"/>
              </a:tabLst>
            </a:pPr>
            <a:r>
              <a:rPr dirty="0" sz="1350" spc="-85">
                <a:solidFill>
                  <a:srgbClr val="545454"/>
                </a:solidFill>
                <a:latin typeface="Roboto"/>
                <a:cs typeface="Roboto"/>
              </a:rPr>
              <a:t>Improved</a:t>
            </a:r>
            <a:r>
              <a:rPr dirty="0" sz="1350" spc="-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350" spc="-90">
                <a:solidFill>
                  <a:srgbClr val="545454"/>
                </a:solidFill>
                <a:latin typeface="Roboto"/>
                <a:cs typeface="Roboto"/>
              </a:rPr>
              <a:t>power</a:t>
            </a:r>
            <a:r>
              <a:rPr dirty="0" sz="1350" spc="-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350" spc="-70">
                <a:solidFill>
                  <a:srgbClr val="545454"/>
                </a:solidFill>
                <a:latin typeface="Roboto"/>
                <a:cs typeface="Roboto"/>
              </a:rPr>
              <a:t>quality</a:t>
            </a:r>
            <a:r>
              <a:rPr dirty="0" sz="135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350" spc="-90">
                <a:solidFill>
                  <a:srgbClr val="545454"/>
                </a:solidFill>
                <a:latin typeface="Roboto"/>
                <a:cs typeface="Roboto"/>
              </a:rPr>
              <a:t>(THD</a:t>
            </a:r>
            <a:r>
              <a:rPr dirty="0" sz="1350" spc="-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350" spc="-80">
                <a:solidFill>
                  <a:srgbClr val="545454"/>
                </a:solidFill>
                <a:latin typeface="Roboto"/>
                <a:cs typeface="Roboto"/>
              </a:rPr>
              <a:t>reduced</a:t>
            </a:r>
            <a:r>
              <a:rPr dirty="0" sz="135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350" spc="-85">
                <a:solidFill>
                  <a:srgbClr val="545454"/>
                </a:solidFill>
                <a:latin typeface="Roboto"/>
                <a:cs typeface="Roboto"/>
              </a:rPr>
              <a:t>by</a:t>
            </a:r>
            <a:r>
              <a:rPr dirty="0" sz="1350" spc="-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350" spc="-70">
                <a:solidFill>
                  <a:srgbClr val="545454"/>
                </a:solidFill>
                <a:latin typeface="Roboto"/>
                <a:cs typeface="Roboto"/>
              </a:rPr>
              <a:t>17.8-</a:t>
            </a:r>
            <a:r>
              <a:rPr dirty="0" sz="1350" spc="-10">
                <a:solidFill>
                  <a:srgbClr val="545454"/>
                </a:solidFill>
                <a:latin typeface="Roboto"/>
                <a:cs typeface="Roboto"/>
              </a:rPr>
              <a:t>27.1%)</a:t>
            </a:r>
            <a:endParaRPr sz="1350">
              <a:latin typeface="Roboto"/>
              <a:cs typeface="Roboto"/>
            </a:endParaRPr>
          </a:p>
          <a:p>
            <a:pPr marL="408305" indent="-89535">
              <a:lnSpc>
                <a:spcPct val="100000"/>
              </a:lnSpc>
              <a:spcBef>
                <a:spcPts val="55"/>
              </a:spcBef>
              <a:buChar char="•"/>
              <a:tabLst>
                <a:tab pos="408305" algn="l"/>
              </a:tabLst>
            </a:pPr>
            <a:r>
              <a:rPr dirty="0" sz="1350" spc="-75">
                <a:solidFill>
                  <a:srgbClr val="545454"/>
                </a:solidFill>
                <a:latin typeface="Roboto"/>
                <a:cs typeface="Roboto"/>
              </a:rPr>
              <a:t>Proactive</a:t>
            </a:r>
            <a:r>
              <a:rPr dirty="0" sz="1350" spc="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350" spc="-75">
                <a:solidFill>
                  <a:srgbClr val="545454"/>
                </a:solidFill>
                <a:latin typeface="Roboto"/>
                <a:cs typeface="Roboto"/>
              </a:rPr>
              <a:t>operation</a:t>
            </a:r>
            <a:r>
              <a:rPr dirty="0" sz="1350" spc="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350" spc="-85">
                <a:solidFill>
                  <a:srgbClr val="545454"/>
                </a:solidFill>
                <a:latin typeface="Roboto"/>
                <a:cs typeface="Roboto"/>
              </a:rPr>
              <a:t>through</a:t>
            </a:r>
            <a:r>
              <a:rPr dirty="0" sz="1350" spc="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350" spc="-75">
                <a:solidFill>
                  <a:srgbClr val="545454"/>
                </a:solidFill>
                <a:latin typeface="Roboto"/>
                <a:cs typeface="Roboto"/>
              </a:rPr>
              <a:t>forecasting</a:t>
            </a:r>
            <a:r>
              <a:rPr dirty="0" sz="1350" spc="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545454"/>
                </a:solidFill>
                <a:latin typeface="Roboto"/>
                <a:cs typeface="Roboto"/>
              </a:rPr>
              <a:t>integration</a:t>
            </a:r>
            <a:endParaRPr sz="1350">
              <a:latin typeface="Roboto"/>
              <a:cs typeface="Roboto"/>
            </a:endParaRPr>
          </a:p>
          <a:p>
            <a:pPr marL="408305" indent="-89535">
              <a:lnSpc>
                <a:spcPct val="100000"/>
              </a:lnSpc>
              <a:spcBef>
                <a:spcPts val="55"/>
              </a:spcBef>
              <a:buChar char="•"/>
              <a:tabLst>
                <a:tab pos="408305" algn="l"/>
              </a:tabLst>
            </a:pPr>
            <a:r>
              <a:rPr dirty="0" sz="1350" spc="-80">
                <a:solidFill>
                  <a:srgbClr val="545454"/>
                </a:solidFill>
                <a:latin typeface="Roboto"/>
                <a:cs typeface="Roboto"/>
              </a:rPr>
              <a:t>Robust</a:t>
            </a:r>
            <a:r>
              <a:rPr dirty="0" sz="1350" spc="-1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350" spc="-80">
                <a:solidFill>
                  <a:srgbClr val="545454"/>
                </a:solidFill>
                <a:latin typeface="Roboto"/>
                <a:cs typeface="Roboto"/>
              </a:rPr>
              <a:t>performance</a:t>
            </a:r>
            <a:r>
              <a:rPr dirty="0" sz="1350" spc="-1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350" spc="-80">
                <a:solidFill>
                  <a:srgbClr val="545454"/>
                </a:solidFill>
                <a:latin typeface="Roboto"/>
                <a:cs typeface="Roboto"/>
              </a:rPr>
              <a:t>under</a:t>
            </a:r>
            <a:r>
              <a:rPr dirty="0" sz="1350" spc="-1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350" spc="-80">
                <a:solidFill>
                  <a:srgbClr val="545454"/>
                </a:solidFill>
                <a:latin typeface="Roboto"/>
                <a:cs typeface="Roboto"/>
              </a:rPr>
              <a:t>renewable</a:t>
            </a:r>
            <a:r>
              <a:rPr dirty="0" sz="1350" spc="-10">
                <a:solidFill>
                  <a:srgbClr val="545454"/>
                </a:solidFill>
                <a:latin typeface="Roboto"/>
                <a:cs typeface="Roboto"/>
              </a:rPr>
              <a:t> uncertainty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4934" y="2418146"/>
            <a:ext cx="170292" cy="170292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838760" y="2238791"/>
            <a:ext cx="4597400" cy="1086485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dirty="0" sz="1650" spc="-85">
                <a:solidFill>
                  <a:srgbClr val="333333"/>
                </a:solidFill>
                <a:latin typeface="Roboto"/>
                <a:cs typeface="Roboto"/>
              </a:rPr>
              <a:t>Real-</a:t>
            </a:r>
            <a:r>
              <a:rPr dirty="0" sz="1650" spc="-95">
                <a:solidFill>
                  <a:srgbClr val="333333"/>
                </a:solidFill>
                <a:latin typeface="Roboto"/>
                <a:cs typeface="Roboto"/>
              </a:rPr>
              <a:t>world</a:t>
            </a:r>
            <a:r>
              <a:rPr dirty="0" sz="165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80">
                <a:solidFill>
                  <a:srgbClr val="333333"/>
                </a:solidFill>
                <a:latin typeface="Roboto"/>
                <a:cs typeface="Roboto"/>
              </a:rPr>
              <a:t>validation</a:t>
            </a:r>
            <a:r>
              <a:rPr dirty="0" sz="16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95">
                <a:solidFill>
                  <a:srgbClr val="333333"/>
                </a:solidFill>
                <a:latin typeface="Roboto"/>
                <a:cs typeface="Roboto"/>
              </a:rPr>
              <a:t>demonstrates</a:t>
            </a:r>
            <a:r>
              <a:rPr dirty="0" sz="16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90">
                <a:solidFill>
                  <a:srgbClr val="333333"/>
                </a:solidFill>
                <a:latin typeface="Roboto"/>
                <a:cs typeface="Roboto"/>
              </a:rPr>
              <a:t>practical</a:t>
            </a:r>
            <a:r>
              <a:rPr dirty="0" sz="16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10">
                <a:solidFill>
                  <a:srgbClr val="333333"/>
                </a:solidFill>
                <a:latin typeface="Roboto"/>
                <a:cs typeface="Roboto"/>
              </a:rPr>
              <a:t>viability:</a:t>
            </a:r>
            <a:endParaRPr sz="1650">
              <a:latin typeface="Roboto"/>
              <a:cs typeface="Roboto"/>
            </a:endParaRPr>
          </a:p>
          <a:p>
            <a:pPr marL="408305" indent="-89535">
              <a:lnSpc>
                <a:spcPct val="100000"/>
              </a:lnSpc>
              <a:spcBef>
                <a:spcPts val="600"/>
              </a:spcBef>
              <a:buChar char="•"/>
              <a:tabLst>
                <a:tab pos="408305" algn="l"/>
              </a:tabLst>
            </a:pPr>
            <a:r>
              <a:rPr dirty="0" sz="1350" spc="-70">
                <a:solidFill>
                  <a:srgbClr val="545454"/>
                </a:solidFill>
                <a:latin typeface="Roboto"/>
                <a:cs typeface="Roboto"/>
              </a:rPr>
              <a:t>Scalable</a:t>
            </a:r>
            <a:r>
              <a:rPr dirty="0" sz="1350" spc="-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350" spc="-70">
                <a:solidFill>
                  <a:srgbClr val="545454"/>
                </a:solidFill>
                <a:latin typeface="Roboto"/>
                <a:cs typeface="Roboto"/>
              </a:rPr>
              <a:t>for</a:t>
            </a:r>
            <a:r>
              <a:rPr dirty="0" sz="135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350" spc="-65">
                <a:solidFill>
                  <a:srgbClr val="545454"/>
                </a:solidFill>
                <a:latin typeface="Roboto"/>
                <a:cs typeface="Roboto"/>
              </a:rPr>
              <a:t>multi-</a:t>
            </a:r>
            <a:r>
              <a:rPr dirty="0" sz="1350" spc="-90">
                <a:solidFill>
                  <a:srgbClr val="545454"/>
                </a:solidFill>
                <a:latin typeface="Roboto"/>
                <a:cs typeface="Roboto"/>
              </a:rPr>
              <a:t>bus</a:t>
            </a:r>
            <a:r>
              <a:rPr dirty="0" sz="1350" spc="-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350" spc="-90">
                <a:solidFill>
                  <a:srgbClr val="545454"/>
                </a:solidFill>
                <a:latin typeface="Roboto"/>
                <a:cs typeface="Roboto"/>
              </a:rPr>
              <a:t>systems</a:t>
            </a:r>
            <a:r>
              <a:rPr dirty="0" sz="135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350" spc="-75">
                <a:solidFill>
                  <a:srgbClr val="545454"/>
                </a:solidFill>
                <a:latin typeface="Roboto"/>
                <a:cs typeface="Roboto"/>
              </a:rPr>
              <a:t>with</a:t>
            </a:r>
            <a:r>
              <a:rPr dirty="0" sz="1350" spc="-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350" spc="-75">
                <a:solidFill>
                  <a:srgbClr val="545454"/>
                </a:solidFill>
                <a:latin typeface="Roboto"/>
                <a:cs typeface="Roboto"/>
              </a:rPr>
              <a:t>high</a:t>
            </a:r>
            <a:r>
              <a:rPr dirty="0" sz="135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545454"/>
                </a:solidFill>
                <a:latin typeface="Roboto"/>
                <a:cs typeface="Roboto"/>
              </a:rPr>
              <a:t>renewables</a:t>
            </a:r>
            <a:endParaRPr sz="1350">
              <a:latin typeface="Roboto"/>
              <a:cs typeface="Roboto"/>
            </a:endParaRPr>
          </a:p>
          <a:p>
            <a:pPr marL="408305" indent="-89535">
              <a:lnSpc>
                <a:spcPct val="100000"/>
              </a:lnSpc>
              <a:spcBef>
                <a:spcPts val="55"/>
              </a:spcBef>
              <a:buChar char="•"/>
              <a:tabLst>
                <a:tab pos="408305" algn="l"/>
              </a:tabLst>
            </a:pPr>
            <a:r>
              <a:rPr dirty="0" sz="1350" spc="-70">
                <a:solidFill>
                  <a:srgbClr val="545454"/>
                </a:solidFill>
                <a:latin typeface="Roboto"/>
                <a:cs typeface="Roboto"/>
              </a:rPr>
              <a:t>Practical</a:t>
            </a:r>
            <a:r>
              <a:rPr dirty="0" sz="1350" spc="-1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350" spc="-80">
                <a:solidFill>
                  <a:srgbClr val="545454"/>
                </a:solidFill>
                <a:latin typeface="Roboto"/>
                <a:cs typeface="Roboto"/>
              </a:rPr>
              <a:t>computation</a:t>
            </a:r>
            <a:r>
              <a:rPr dirty="0" sz="1350" spc="-1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350" spc="-80">
                <a:solidFill>
                  <a:srgbClr val="545454"/>
                </a:solidFill>
                <a:latin typeface="Roboto"/>
                <a:cs typeface="Roboto"/>
              </a:rPr>
              <a:t>time</a:t>
            </a:r>
            <a:r>
              <a:rPr dirty="0" sz="1350" spc="-1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350" spc="-80">
                <a:solidFill>
                  <a:srgbClr val="545454"/>
                </a:solidFill>
                <a:latin typeface="Roboto"/>
                <a:cs typeface="Roboto"/>
              </a:rPr>
              <a:t>(~26.5ms)</a:t>
            </a:r>
            <a:r>
              <a:rPr dirty="0" sz="1350" spc="-1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350" spc="-65">
                <a:solidFill>
                  <a:srgbClr val="545454"/>
                </a:solidFill>
                <a:latin typeface="Roboto"/>
                <a:cs typeface="Roboto"/>
              </a:rPr>
              <a:t>suitable</a:t>
            </a:r>
            <a:r>
              <a:rPr dirty="0" sz="1350" spc="-1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350" spc="-70">
                <a:solidFill>
                  <a:srgbClr val="545454"/>
                </a:solidFill>
                <a:latin typeface="Roboto"/>
                <a:cs typeface="Roboto"/>
              </a:rPr>
              <a:t>for</a:t>
            </a:r>
            <a:r>
              <a:rPr dirty="0" sz="1350" spc="-1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350" spc="-65">
                <a:solidFill>
                  <a:srgbClr val="545454"/>
                </a:solidFill>
                <a:latin typeface="Roboto"/>
                <a:cs typeface="Roboto"/>
              </a:rPr>
              <a:t>controllers</a:t>
            </a:r>
            <a:endParaRPr sz="1350">
              <a:latin typeface="Roboto"/>
              <a:cs typeface="Roboto"/>
            </a:endParaRPr>
          </a:p>
          <a:p>
            <a:pPr marL="408305" indent="-89535">
              <a:lnSpc>
                <a:spcPct val="100000"/>
              </a:lnSpc>
              <a:spcBef>
                <a:spcPts val="120"/>
              </a:spcBef>
              <a:buChar char="•"/>
              <a:tabLst>
                <a:tab pos="408305" algn="l"/>
              </a:tabLst>
            </a:pPr>
            <a:r>
              <a:rPr dirty="0" sz="1350" spc="-70">
                <a:solidFill>
                  <a:srgbClr val="545454"/>
                </a:solidFill>
                <a:latin typeface="Roboto"/>
                <a:cs typeface="Roboto"/>
              </a:rPr>
              <a:t>Hierarchical</a:t>
            </a:r>
            <a:r>
              <a:rPr dirty="0" sz="135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350" spc="-75">
                <a:solidFill>
                  <a:srgbClr val="545454"/>
                </a:solidFill>
                <a:latin typeface="Roboto"/>
                <a:cs typeface="Roboto"/>
              </a:rPr>
              <a:t>implementation</a:t>
            </a:r>
            <a:r>
              <a:rPr dirty="0" sz="135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350" spc="-75">
                <a:solidFill>
                  <a:srgbClr val="545454"/>
                </a:solidFill>
                <a:latin typeface="Roboto"/>
                <a:cs typeface="Roboto"/>
              </a:rPr>
              <a:t>with</a:t>
            </a:r>
            <a:r>
              <a:rPr dirty="0" sz="135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350" spc="-95">
                <a:solidFill>
                  <a:srgbClr val="545454"/>
                </a:solidFill>
                <a:latin typeface="Roboto"/>
                <a:cs typeface="Roboto"/>
              </a:rPr>
              <a:t>50Hz</a:t>
            </a:r>
            <a:r>
              <a:rPr dirty="0" sz="135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350" spc="-114">
                <a:solidFill>
                  <a:srgbClr val="545454"/>
                </a:solidFill>
                <a:latin typeface="Roboto"/>
                <a:cs typeface="Roboto"/>
              </a:rPr>
              <a:t>RMOMPC</a:t>
            </a:r>
            <a:r>
              <a:rPr dirty="0" sz="135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350" spc="-20">
                <a:solidFill>
                  <a:srgbClr val="545454"/>
                </a:solidFill>
                <a:latin typeface="Roboto"/>
                <a:cs typeface="Roboto"/>
              </a:rPr>
              <a:t>loop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4934" y="3584647"/>
            <a:ext cx="170292" cy="170292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838760" y="3405292"/>
            <a:ext cx="4983480" cy="1078230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dirty="0" sz="1650" spc="-110">
                <a:solidFill>
                  <a:srgbClr val="333333"/>
                </a:solidFill>
                <a:latin typeface="Roboto"/>
                <a:cs typeface="Roboto"/>
              </a:rPr>
              <a:t>Advanced</a:t>
            </a:r>
            <a:r>
              <a:rPr dirty="0" sz="165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85">
                <a:solidFill>
                  <a:srgbClr val="333333"/>
                </a:solidFill>
                <a:latin typeface="Roboto"/>
                <a:cs typeface="Roboto"/>
              </a:rPr>
              <a:t>forecasting</a:t>
            </a:r>
            <a:r>
              <a:rPr dirty="0" sz="1650" spc="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85">
                <a:solidFill>
                  <a:srgbClr val="333333"/>
                </a:solidFill>
                <a:latin typeface="Roboto"/>
                <a:cs typeface="Roboto"/>
              </a:rPr>
              <a:t>delivers</a:t>
            </a:r>
            <a:r>
              <a:rPr dirty="0" sz="1650" spc="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105">
                <a:solidFill>
                  <a:srgbClr val="333333"/>
                </a:solidFill>
                <a:latin typeface="Roboto"/>
                <a:cs typeface="Roboto"/>
              </a:rPr>
              <a:t>power</a:t>
            </a:r>
            <a:r>
              <a:rPr dirty="0" sz="165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85">
                <a:solidFill>
                  <a:srgbClr val="333333"/>
                </a:solidFill>
                <a:latin typeface="Roboto"/>
                <a:cs typeface="Roboto"/>
              </a:rPr>
              <a:t>quality</a:t>
            </a:r>
            <a:r>
              <a:rPr dirty="0" sz="1650" spc="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650" spc="-90">
                <a:solidFill>
                  <a:srgbClr val="333333"/>
                </a:solidFill>
                <a:latin typeface="Roboto"/>
                <a:cs typeface="Roboto"/>
              </a:rPr>
              <a:t>improvements:</a:t>
            </a:r>
            <a:endParaRPr sz="1650">
              <a:latin typeface="Roboto"/>
              <a:cs typeface="Roboto"/>
            </a:endParaRPr>
          </a:p>
          <a:p>
            <a:pPr marL="408305" indent="-89535">
              <a:lnSpc>
                <a:spcPct val="100000"/>
              </a:lnSpc>
              <a:spcBef>
                <a:spcPts val="600"/>
              </a:spcBef>
              <a:buChar char="•"/>
              <a:tabLst>
                <a:tab pos="408305" algn="l"/>
              </a:tabLst>
            </a:pPr>
            <a:r>
              <a:rPr dirty="0" sz="1350" spc="-75">
                <a:solidFill>
                  <a:srgbClr val="545454"/>
                </a:solidFill>
                <a:latin typeface="Roboto"/>
                <a:cs typeface="Roboto"/>
              </a:rPr>
              <a:t>Hybrid</a:t>
            </a:r>
            <a:r>
              <a:rPr dirty="0" sz="1350" spc="1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350" spc="-95">
                <a:solidFill>
                  <a:srgbClr val="545454"/>
                </a:solidFill>
                <a:latin typeface="Roboto"/>
                <a:cs typeface="Roboto"/>
              </a:rPr>
              <a:t>LSTM-</a:t>
            </a:r>
            <a:r>
              <a:rPr dirty="0" sz="1350" spc="-90">
                <a:solidFill>
                  <a:srgbClr val="545454"/>
                </a:solidFill>
                <a:latin typeface="Roboto"/>
                <a:cs typeface="Roboto"/>
              </a:rPr>
              <a:t>Wavelet</a:t>
            </a:r>
            <a:r>
              <a:rPr dirty="0" sz="1350" spc="1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350" spc="-85">
                <a:solidFill>
                  <a:srgbClr val="545454"/>
                </a:solidFill>
                <a:latin typeface="Roboto"/>
                <a:cs typeface="Roboto"/>
              </a:rPr>
              <a:t>provides</a:t>
            </a:r>
            <a:r>
              <a:rPr dirty="0" sz="1350" spc="1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350" spc="-100">
                <a:solidFill>
                  <a:srgbClr val="545454"/>
                </a:solidFill>
                <a:latin typeface="Roboto"/>
                <a:cs typeface="Roboto"/>
              </a:rPr>
              <a:t>48%</a:t>
            </a:r>
            <a:r>
              <a:rPr dirty="0" sz="1350" spc="1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350" spc="-80">
                <a:solidFill>
                  <a:srgbClr val="545454"/>
                </a:solidFill>
                <a:latin typeface="Roboto"/>
                <a:cs typeface="Roboto"/>
              </a:rPr>
              <a:t>lower</a:t>
            </a:r>
            <a:r>
              <a:rPr dirty="0" sz="1350" spc="1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350" spc="-105">
                <a:solidFill>
                  <a:srgbClr val="545454"/>
                </a:solidFill>
                <a:latin typeface="Roboto"/>
                <a:cs typeface="Roboto"/>
              </a:rPr>
              <a:t>RMSE</a:t>
            </a:r>
            <a:r>
              <a:rPr dirty="0" sz="1350" spc="1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350" spc="-90">
                <a:solidFill>
                  <a:srgbClr val="545454"/>
                </a:solidFill>
                <a:latin typeface="Roboto"/>
                <a:cs typeface="Roboto"/>
              </a:rPr>
              <a:t>vs</a:t>
            </a:r>
            <a:r>
              <a:rPr dirty="0" sz="1350" spc="1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545454"/>
                </a:solidFill>
                <a:latin typeface="Roboto"/>
                <a:cs typeface="Roboto"/>
              </a:rPr>
              <a:t>ARIMA</a:t>
            </a:r>
            <a:endParaRPr sz="1350">
              <a:latin typeface="Roboto"/>
              <a:cs typeface="Roboto"/>
            </a:endParaRPr>
          </a:p>
          <a:p>
            <a:pPr marL="408305" indent="-89535">
              <a:lnSpc>
                <a:spcPct val="100000"/>
              </a:lnSpc>
              <a:spcBef>
                <a:spcPts val="55"/>
              </a:spcBef>
              <a:buChar char="•"/>
              <a:tabLst>
                <a:tab pos="408305" algn="l"/>
              </a:tabLst>
            </a:pPr>
            <a:r>
              <a:rPr dirty="0" sz="1350" spc="-80">
                <a:solidFill>
                  <a:srgbClr val="545454"/>
                </a:solidFill>
                <a:latin typeface="Roboto"/>
                <a:cs typeface="Roboto"/>
              </a:rPr>
              <a:t>Coordinated</a:t>
            </a:r>
            <a:r>
              <a:rPr dirty="0" sz="1350" spc="-1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350" spc="-70">
                <a:solidFill>
                  <a:srgbClr val="545454"/>
                </a:solidFill>
                <a:latin typeface="Roboto"/>
                <a:cs typeface="Roboto"/>
              </a:rPr>
              <a:t>control</a:t>
            </a:r>
            <a:r>
              <a:rPr dirty="0" sz="1350" spc="-1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350" spc="-70">
                <a:solidFill>
                  <a:srgbClr val="545454"/>
                </a:solidFill>
                <a:latin typeface="Roboto"/>
                <a:cs typeface="Roboto"/>
              </a:rPr>
              <a:t>of</a:t>
            </a:r>
            <a:r>
              <a:rPr dirty="0" sz="1350" spc="-1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350" spc="-65">
                <a:solidFill>
                  <a:srgbClr val="545454"/>
                </a:solidFill>
                <a:latin typeface="Roboto"/>
                <a:cs typeface="Roboto"/>
              </a:rPr>
              <a:t>multiple</a:t>
            </a:r>
            <a:r>
              <a:rPr dirty="0" sz="1350" spc="-1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350" spc="-70">
                <a:solidFill>
                  <a:srgbClr val="545454"/>
                </a:solidFill>
                <a:latin typeface="Roboto"/>
                <a:cs typeface="Roboto"/>
              </a:rPr>
              <a:t>grid</a:t>
            </a:r>
            <a:r>
              <a:rPr dirty="0" sz="1350" spc="-1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545454"/>
                </a:solidFill>
                <a:latin typeface="Roboto"/>
                <a:cs typeface="Roboto"/>
              </a:rPr>
              <a:t>elements</a:t>
            </a:r>
            <a:endParaRPr sz="1350">
              <a:latin typeface="Roboto"/>
              <a:cs typeface="Roboto"/>
            </a:endParaRPr>
          </a:p>
          <a:p>
            <a:pPr marL="408305" indent="-89535">
              <a:lnSpc>
                <a:spcPct val="100000"/>
              </a:lnSpc>
              <a:spcBef>
                <a:spcPts val="55"/>
              </a:spcBef>
              <a:buChar char="•"/>
              <a:tabLst>
                <a:tab pos="408305" algn="l"/>
              </a:tabLst>
            </a:pPr>
            <a:r>
              <a:rPr dirty="0" sz="1350" spc="-60">
                <a:solidFill>
                  <a:srgbClr val="545454"/>
                </a:solidFill>
                <a:latin typeface="Roboto"/>
                <a:cs typeface="Roboto"/>
              </a:rPr>
              <a:t>Explicit</a:t>
            </a:r>
            <a:r>
              <a:rPr dirty="0" sz="1350" spc="-1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350" spc="-65">
                <a:solidFill>
                  <a:srgbClr val="545454"/>
                </a:solidFill>
                <a:latin typeface="Roboto"/>
                <a:cs typeface="Roboto"/>
              </a:rPr>
              <a:t>uncertainty</a:t>
            </a:r>
            <a:r>
              <a:rPr dirty="0" sz="1350" spc="-1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350" spc="-70">
                <a:solidFill>
                  <a:srgbClr val="545454"/>
                </a:solidFill>
                <a:latin typeface="Roboto"/>
                <a:cs typeface="Roboto"/>
              </a:rPr>
              <a:t>handling</a:t>
            </a:r>
            <a:r>
              <a:rPr dirty="0" sz="1350" spc="-1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350" spc="-85">
                <a:solidFill>
                  <a:srgbClr val="545454"/>
                </a:solidFill>
                <a:latin typeface="Roboto"/>
                <a:cs typeface="Roboto"/>
              </a:rPr>
              <a:t>through</a:t>
            </a:r>
            <a:r>
              <a:rPr dirty="0" sz="1350" spc="-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350" spc="-75">
                <a:solidFill>
                  <a:srgbClr val="545454"/>
                </a:solidFill>
                <a:latin typeface="Roboto"/>
                <a:cs typeface="Roboto"/>
              </a:rPr>
              <a:t>stochastic</a:t>
            </a:r>
            <a:r>
              <a:rPr dirty="0" sz="1350" spc="-1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545454"/>
                </a:solidFill>
                <a:latin typeface="Roboto"/>
                <a:cs typeface="Roboto"/>
              </a:rPr>
              <a:t>MPC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7262954" y="1209073"/>
            <a:ext cx="2392680" cy="1754505"/>
            <a:chOff x="7262954" y="1209073"/>
            <a:chExt cx="2392680" cy="1754505"/>
          </a:xfrm>
        </p:grpSpPr>
        <p:sp>
          <p:nvSpPr>
            <p:cNvPr id="11" name="object 11" descr=""/>
            <p:cNvSpPr/>
            <p:nvPr/>
          </p:nvSpPr>
          <p:spPr>
            <a:xfrm>
              <a:off x="7262954" y="1209073"/>
              <a:ext cx="2392680" cy="1754505"/>
            </a:xfrm>
            <a:custGeom>
              <a:avLst/>
              <a:gdLst/>
              <a:ahLst/>
              <a:cxnLst/>
              <a:rect l="l" t="t" r="r" b="b"/>
              <a:pathLst>
                <a:path w="2392679" h="1754505">
                  <a:moveTo>
                    <a:pt x="2328958" y="1754007"/>
                  </a:moveTo>
                  <a:lnTo>
                    <a:pt x="63643" y="1754007"/>
                  </a:lnTo>
                  <a:lnTo>
                    <a:pt x="59214" y="1753571"/>
                  </a:lnTo>
                  <a:lnTo>
                    <a:pt x="23112" y="1737218"/>
                  </a:lnTo>
                  <a:lnTo>
                    <a:pt x="2180" y="1703566"/>
                  </a:lnTo>
                  <a:lnTo>
                    <a:pt x="0" y="1690363"/>
                  </a:lnTo>
                  <a:lnTo>
                    <a:pt x="0" y="1685891"/>
                  </a:lnTo>
                  <a:lnTo>
                    <a:pt x="0" y="63644"/>
                  </a:lnTo>
                  <a:lnTo>
                    <a:pt x="13964" y="26554"/>
                  </a:lnTo>
                  <a:lnTo>
                    <a:pt x="46180" y="3473"/>
                  </a:lnTo>
                  <a:lnTo>
                    <a:pt x="63643" y="0"/>
                  </a:lnTo>
                  <a:lnTo>
                    <a:pt x="2328958" y="0"/>
                  </a:lnTo>
                  <a:lnTo>
                    <a:pt x="2366048" y="13964"/>
                  </a:lnTo>
                  <a:lnTo>
                    <a:pt x="2389129" y="46181"/>
                  </a:lnTo>
                  <a:lnTo>
                    <a:pt x="2392602" y="63644"/>
                  </a:lnTo>
                  <a:lnTo>
                    <a:pt x="2392602" y="1690363"/>
                  </a:lnTo>
                  <a:lnTo>
                    <a:pt x="2378637" y="1727452"/>
                  </a:lnTo>
                  <a:lnTo>
                    <a:pt x="2346421" y="1750533"/>
                  </a:lnTo>
                  <a:lnTo>
                    <a:pt x="2333387" y="1753571"/>
                  </a:lnTo>
                  <a:lnTo>
                    <a:pt x="2328958" y="1754007"/>
                  </a:lnTo>
                  <a:close/>
                </a:path>
              </a:pathLst>
            </a:custGeom>
            <a:solidFill>
              <a:srgbClr val="0057A8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33246" y="1421938"/>
              <a:ext cx="191578" cy="170292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7615717" y="1364536"/>
            <a:ext cx="1442085" cy="2533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500" spc="-110" b="1">
                <a:solidFill>
                  <a:srgbClr val="002854"/>
                </a:solidFill>
                <a:latin typeface="Roboto"/>
                <a:cs typeface="Roboto"/>
              </a:rPr>
              <a:t>Key</a:t>
            </a:r>
            <a:r>
              <a:rPr dirty="0" sz="1500" spc="-25" b="1">
                <a:solidFill>
                  <a:srgbClr val="002854"/>
                </a:solidFill>
                <a:latin typeface="Roboto"/>
                <a:cs typeface="Roboto"/>
              </a:rPr>
              <a:t> </a:t>
            </a:r>
            <a:r>
              <a:rPr dirty="0" sz="1500" spc="-90" b="1">
                <a:solidFill>
                  <a:srgbClr val="002854"/>
                </a:solidFill>
                <a:latin typeface="Roboto"/>
                <a:cs typeface="Roboto"/>
              </a:rPr>
              <a:t>Achievements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7424139" y="1664718"/>
            <a:ext cx="2072005" cy="1081405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138430" indent="-125730">
              <a:lnSpc>
                <a:spcPct val="100000"/>
              </a:lnSpc>
              <a:spcBef>
                <a:spcPts val="560"/>
              </a:spcBef>
              <a:buSzPct val="81481"/>
              <a:buFont typeface="Arial"/>
              <a:buChar char="●"/>
              <a:tabLst>
                <a:tab pos="138430" algn="l"/>
              </a:tabLst>
            </a:pPr>
            <a:r>
              <a:rPr dirty="0" sz="1350" spc="-105" b="0">
                <a:solidFill>
                  <a:srgbClr val="0057A8"/>
                </a:solidFill>
                <a:latin typeface="Roboto Medium"/>
                <a:cs typeface="Roboto Medium"/>
              </a:rPr>
              <a:t>THD</a:t>
            </a:r>
            <a:r>
              <a:rPr dirty="0" sz="1350" spc="-5" b="0">
                <a:solidFill>
                  <a:srgbClr val="0057A8"/>
                </a:solidFill>
                <a:latin typeface="Roboto Medium"/>
                <a:cs typeface="Roboto Medium"/>
              </a:rPr>
              <a:t> </a:t>
            </a:r>
            <a:r>
              <a:rPr dirty="0" sz="1350" spc="-70" b="0">
                <a:solidFill>
                  <a:srgbClr val="0057A8"/>
                </a:solidFill>
                <a:latin typeface="Roboto Medium"/>
                <a:cs typeface="Roboto Medium"/>
              </a:rPr>
              <a:t>reduction:</a:t>
            </a:r>
            <a:r>
              <a:rPr dirty="0" sz="1350" spc="-5" b="0">
                <a:solidFill>
                  <a:srgbClr val="0057A8"/>
                </a:solidFill>
                <a:latin typeface="Roboto Medium"/>
                <a:cs typeface="Roboto Medium"/>
              </a:rPr>
              <a:t> </a:t>
            </a:r>
            <a:r>
              <a:rPr dirty="0" sz="1350" spc="-80" b="0">
                <a:solidFill>
                  <a:srgbClr val="0057A8"/>
                </a:solidFill>
                <a:latin typeface="Roboto Medium"/>
                <a:cs typeface="Roboto Medium"/>
              </a:rPr>
              <a:t>17.8-</a:t>
            </a:r>
            <a:r>
              <a:rPr dirty="0" sz="1350" spc="-10" b="0">
                <a:solidFill>
                  <a:srgbClr val="0057A8"/>
                </a:solidFill>
                <a:latin typeface="Roboto Medium"/>
                <a:cs typeface="Roboto Medium"/>
              </a:rPr>
              <a:t>27.1%</a:t>
            </a:r>
            <a:endParaRPr sz="1350">
              <a:latin typeface="Roboto Medium"/>
              <a:cs typeface="Roboto Medium"/>
            </a:endParaRPr>
          </a:p>
          <a:p>
            <a:pPr marL="141605" indent="-128905">
              <a:lnSpc>
                <a:spcPct val="100000"/>
              </a:lnSpc>
              <a:spcBef>
                <a:spcPts val="455"/>
              </a:spcBef>
              <a:buSzPct val="81481"/>
              <a:buFont typeface="Arial"/>
              <a:buChar char="●"/>
              <a:tabLst>
                <a:tab pos="141605" algn="l"/>
              </a:tabLst>
            </a:pPr>
            <a:r>
              <a:rPr dirty="0" sz="1350" spc="-90" b="0">
                <a:solidFill>
                  <a:srgbClr val="0057A8"/>
                </a:solidFill>
                <a:latin typeface="Roboto Medium"/>
                <a:cs typeface="Roboto Medium"/>
              </a:rPr>
              <a:t>Power</a:t>
            </a:r>
            <a:r>
              <a:rPr dirty="0" sz="1350" spc="-10" b="0">
                <a:solidFill>
                  <a:srgbClr val="0057A8"/>
                </a:solidFill>
                <a:latin typeface="Roboto Medium"/>
                <a:cs typeface="Roboto Medium"/>
              </a:rPr>
              <a:t> </a:t>
            </a:r>
            <a:r>
              <a:rPr dirty="0" sz="1350" spc="-75" b="0">
                <a:solidFill>
                  <a:srgbClr val="0057A8"/>
                </a:solidFill>
                <a:latin typeface="Roboto Medium"/>
                <a:cs typeface="Roboto Medium"/>
              </a:rPr>
              <a:t>factor:</a:t>
            </a:r>
            <a:r>
              <a:rPr dirty="0" sz="1350" spc="-5" b="0">
                <a:solidFill>
                  <a:srgbClr val="0057A8"/>
                </a:solidFill>
                <a:latin typeface="Roboto Medium"/>
                <a:cs typeface="Roboto Medium"/>
              </a:rPr>
              <a:t> </a:t>
            </a:r>
            <a:r>
              <a:rPr dirty="0" sz="1350" spc="-20" b="0">
                <a:solidFill>
                  <a:srgbClr val="0057A8"/>
                </a:solidFill>
                <a:latin typeface="Roboto Medium"/>
                <a:cs typeface="Roboto Medium"/>
              </a:rPr>
              <a:t>&gt;0.95</a:t>
            </a:r>
            <a:endParaRPr sz="1350">
              <a:latin typeface="Roboto Medium"/>
              <a:cs typeface="Roboto Medium"/>
            </a:endParaRPr>
          </a:p>
          <a:p>
            <a:pPr marL="141605" indent="-128905">
              <a:lnSpc>
                <a:spcPct val="100000"/>
              </a:lnSpc>
              <a:spcBef>
                <a:spcPts val="459"/>
              </a:spcBef>
              <a:buSzPct val="81481"/>
              <a:buFont typeface="Arial"/>
              <a:buChar char="●"/>
              <a:tabLst>
                <a:tab pos="141605" algn="l"/>
              </a:tabLst>
            </a:pPr>
            <a:r>
              <a:rPr dirty="0" sz="1350" spc="-90" b="0">
                <a:solidFill>
                  <a:srgbClr val="0057A8"/>
                </a:solidFill>
                <a:latin typeface="Roboto Medium"/>
                <a:cs typeface="Roboto Medium"/>
              </a:rPr>
              <a:t>Voltage</a:t>
            </a:r>
            <a:r>
              <a:rPr dirty="0" sz="1350" b="0">
                <a:solidFill>
                  <a:srgbClr val="0057A8"/>
                </a:solidFill>
                <a:latin typeface="Roboto Medium"/>
                <a:cs typeface="Roboto Medium"/>
              </a:rPr>
              <a:t> </a:t>
            </a:r>
            <a:r>
              <a:rPr dirty="0" sz="1350" spc="-70" b="0">
                <a:solidFill>
                  <a:srgbClr val="0057A8"/>
                </a:solidFill>
                <a:latin typeface="Roboto Medium"/>
                <a:cs typeface="Roboto Medium"/>
              </a:rPr>
              <a:t>deviation:</a:t>
            </a:r>
            <a:r>
              <a:rPr dirty="0" sz="1350" spc="5" b="0">
                <a:solidFill>
                  <a:srgbClr val="0057A8"/>
                </a:solidFill>
                <a:latin typeface="Roboto Medium"/>
                <a:cs typeface="Roboto Medium"/>
              </a:rPr>
              <a:t> </a:t>
            </a:r>
            <a:r>
              <a:rPr dirty="0" sz="1350" spc="-25" b="0">
                <a:solidFill>
                  <a:srgbClr val="0057A8"/>
                </a:solidFill>
                <a:latin typeface="Roboto Medium"/>
                <a:cs typeface="Roboto Medium"/>
              </a:rPr>
              <a:t>&lt;3%</a:t>
            </a:r>
            <a:endParaRPr sz="1350">
              <a:latin typeface="Roboto Medium"/>
              <a:cs typeface="Roboto Medium"/>
            </a:endParaRPr>
          </a:p>
          <a:p>
            <a:pPr marL="141605" indent="-128905">
              <a:lnSpc>
                <a:spcPct val="100000"/>
              </a:lnSpc>
              <a:spcBef>
                <a:spcPts val="459"/>
              </a:spcBef>
              <a:buSzPct val="81481"/>
              <a:buFont typeface="Arial"/>
              <a:buChar char="●"/>
              <a:tabLst>
                <a:tab pos="141605" algn="l"/>
              </a:tabLst>
            </a:pPr>
            <a:r>
              <a:rPr dirty="0" sz="1350" spc="-90" b="0">
                <a:solidFill>
                  <a:srgbClr val="0057A8"/>
                </a:solidFill>
                <a:latin typeface="Roboto Medium"/>
                <a:cs typeface="Roboto Medium"/>
              </a:rPr>
              <a:t>Forecast</a:t>
            </a:r>
            <a:r>
              <a:rPr dirty="0" sz="1350" spc="-5" b="0">
                <a:solidFill>
                  <a:srgbClr val="0057A8"/>
                </a:solidFill>
                <a:latin typeface="Roboto Medium"/>
                <a:cs typeface="Roboto Medium"/>
              </a:rPr>
              <a:t> </a:t>
            </a:r>
            <a:r>
              <a:rPr dirty="0" sz="1350" spc="-75" b="0">
                <a:solidFill>
                  <a:srgbClr val="0057A8"/>
                </a:solidFill>
                <a:latin typeface="Roboto Medium"/>
                <a:cs typeface="Roboto Medium"/>
              </a:rPr>
              <a:t>accuracy:</a:t>
            </a:r>
            <a:r>
              <a:rPr dirty="0" sz="1350" spc="-5" b="0">
                <a:solidFill>
                  <a:srgbClr val="0057A8"/>
                </a:solidFill>
                <a:latin typeface="Roboto Medium"/>
                <a:cs typeface="Roboto Medium"/>
              </a:rPr>
              <a:t> </a:t>
            </a:r>
            <a:r>
              <a:rPr dirty="0" sz="1350" spc="-110" b="0">
                <a:solidFill>
                  <a:srgbClr val="0057A8"/>
                </a:solidFill>
                <a:latin typeface="Roboto Medium"/>
                <a:cs typeface="Roboto Medium"/>
              </a:rPr>
              <a:t>94%</a:t>
            </a:r>
            <a:r>
              <a:rPr dirty="0" sz="1350" b="0">
                <a:solidFill>
                  <a:srgbClr val="0057A8"/>
                </a:solidFill>
                <a:latin typeface="Roboto Medium"/>
                <a:cs typeface="Roboto Medium"/>
              </a:rPr>
              <a:t> </a:t>
            </a:r>
            <a:r>
              <a:rPr dirty="0" sz="1350" spc="-20" b="0">
                <a:solidFill>
                  <a:srgbClr val="0057A8"/>
                </a:solidFill>
                <a:latin typeface="Roboto Medium"/>
                <a:cs typeface="Roboto Medium"/>
              </a:rPr>
              <a:t>(R²)</a:t>
            </a:r>
            <a:endParaRPr sz="1350">
              <a:latin typeface="Roboto Medium"/>
              <a:cs typeface="Roboto Medium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7101177" y="5176877"/>
            <a:ext cx="3627754" cy="1507490"/>
            <a:chOff x="7101177" y="5176877"/>
            <a:chExt cx="3627754" cy="1507490"/>
          </a:xfrm>
        </p:grpSpPr>
        <p:sp>
          <p:nvSpPr>
            <p:cNvPr id="16" name="object 16" descr=""/>
            <p:cNvSpPr/>
            <p:nvPr/>
          </p:nvSpPr>
          <p:spPr>
            <a:xfrm>
              <a:off x="7118206" y="5176877"/>
              <a:ext cx="2699385" cy="1268730"/>
            </a:xfrm>
            <a:custGeom>
              <a:avLst/>
              <a:gdLst/>
              <a:ahLst/>
              <a:cxnLst/>
              <a:rect l="l" t="t" r="r" b="b"/>
              <a:pathLst>
                <a:path w="2699384" h="1268729">
                  <a:moveTo>
                    <a:pt x="2669586" y="1268675"/>
                  </a:moveTo>
                  <a:lnTo>
                    <a:pt x="0" y="1268675"/>
                  </a:lnTo>
                  <a:lnTo>
                    <a:pt x="0" y="0"/>
                  </a:lnTo>
                  <a:lnTo>
                    <a:pt x="2669586" y="0"/>
                  </a:lnTo>
                  <a:lnTo>
                    <a:pt x="2673929" y="863"/>
                  </a:lnTo>
                  <a:lnTo>
                    <a:pt x="2699127" y="29541"/>
                  </a:lnTo>
                  <a:lnTo>
                    <a:pt x="2699127" y="1239132"/>
                  </a:lnTo>
                  <a:lnTo>
                    <a:pt x="2673929" y="1267810"/>
                  </a:lnTo>
                  <a:lnTo>
                    <a:pt x="2669586" y="1268675"/>
                  </a:lnTo>
                  <a:close/>
                </a:path>
              </a:pathLst>
            </a:custGeom>
            <a:solidFill>
              <a:srgbClr val="0057A8">
                <a:alpha val="783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101177" y="5176877"/>
              <a:ext cx="34290" cy="1268730"/>
            </a:xfrm>
            <a:custGeom>
              <a:avLst/>
              <a:gdLst/>
              <a:ahLst/>
              <a:cxnLst/>
              <a:rect l="l" t="t" r="r" b="b"/>
              <a:pathLst>
                <a:path w="34290" h="1268729">
                  <a:moveTo>
                    <a:pt x="34058" y="1268675"/>
                  </a:moveTo>
                  <a:lnTo>
                    <a:pt x="0" y="1268675"/>
                  </a:lnTo>
                  <a:lnTo>
                    <a:pt x="0" y="0"/>
                  </a:lnTo>
                  <a:lnTo>
                    <a:pt x="34058" y="0"/>
                  </a:lnTo>
                  <a:lnTo>
                    <a:pt x="34058" y="1268675"/>
                  </a:lnTo>
                  <a:close/>
                </a:path>
              </a:pathLst>
            </a:custGeom>
            <a:solidFill>
              <a:srgbClr val="0057A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71469" y="5347169"/>
              <a:ext cx="153262" cy="153262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9425663" y="6394465"/>
              <a:ext cx="1303020" cy="289560"/>
            </a:xfrm>
            <a:custGeom>
              <a:avLst/>
              <a:gdLst/>
              <a:ahLst/>
              <a:cxnLst/>
              <a:rect l="l" t="t" r="r" b="b"/>
              <a:pathLst>
                <a:path w="1303020" h="289559">
                  <a:moveTo>
                    <a:pt x="1273191" y="289496"/>
                  </a:moveTo>
                  <a:lnTo>
                    <a:pt x="29541" y="289496"/>
                  </a:lnTo>
                  <a:lnTo>
                    <a:pt x="25197" y="288632"/>
                  </a:lnTo>
                  <a:lnTo>
                    <a:pt x="0" y="259954"/>
                  </a:lnTo>
                  <a:lnTo>
                    <a:pt x="0" y="255438"/>
                  </a:lnTo>
                  <a:lnTo>
                    <a:pt x="0" y="29541"/>
                  </a:lnTo>
                  <a:lnTo>
                    <a:pt x="25197" y="864"/>
                  </a:lnTo>
                  <a:lnTo>
                    <a:pt x="29541" y="0"/>
                  </a:lnTo>
                  <a:lnTo>
                    <a:pt x="1273191" y="0"/>
                  </a:lnTo>
                  <a:lnTo>
                    <a:pt x="1301869" y="25197"/>
                  </a:lnTo>
                  <a:lnTo>
                    <a:pt x="1302733" y="29541"/>
                  </a:lnTo>
                  <a:lnTo>
                    <a:pt x="1302733" y="259954"/>
                  </a:lnTo>
                  <a:lnTo>
                    <a:pt x="1277536" y="288632"/>
                  </a:lnTo>
                  <a:lnTo>
                    <a:pt x="1273191" y="289496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527838" y="6479611"/>
              <a:ext cx="119204" cy="119204"/>
            </a:xfrm>
            <a:prstGeom prst="rect">
              <a:avLst/>
            </a:prstGeom>
          </p:spPr>
        </p:pic>
      </p:grpSp>
      <p:sp>
        <p:nvSpPr>
          <p:cNvPr id="21" name="object 21" descr=""/>
          <p:cNvSpPr txBox="1"/>
          <p:nvPr/>
        </p:nvSpPr>
        <p:spPr>
          <a:xfrm>
            <a:off x="7247000" y="5305361"/>
            <a:ext cx="3532504" cy="13074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6379">
              <a:lnSpc>
                <a:spcPct val="100000"/>
              </a:lnSpc>
              <a:spcBef>
                <a:spcPts val="100"/>
              </a:spcBef>
            </a:pPr>
            <a:r>
              <a:rPr dirty="0" sz="1300" spc="-55" b="1">
                <a:solidFill>
                  <a:srgbClr val="002854"/>
                </a:solidFill>
                <a:latin typeface="Roboto"/>
                <a:cs typeface="Roboto"/>
              </a:rPr>
              <a:t>Next</a:t>
            </a:r>
            <a:r>
              <a:rPr dirty="0" sz="1300" spc="-15" b="1">
                <a:solidFill>
                  <a:srgbClr val="002854"/>
                </a:solidFill>
                <a:latin typeface="Roboto"/>
                <a:cs typeface="Roboto"/>
              </a:rPr>
              <a:t> </a:t>
            </a:r>
            <a:r>
              <a:rPr dirty="0" sz="1300" spc="-10" b="1">
                <a:solidFill>
                  <a:srgbClr val="002854"/>
                </a:solidFill>
                <a:latin typeface="Roboto"/>
                <a:cs typeface="Roboto"/>
              </a:rPr>
              <a:t>Steps</a:t>
            </a:r>
            <a:endParaRPr sz="1300">
              <a:latin typeface="Roboto"/>
              <a:cs typeface="Roboto"/>
            </a:endParaRPr>
          </a:p>
          <a:p>
            <a:pPr marL="94615" indent="-69215">
              <a:lnSpc>
                <a:spcPct val="100000"/>
              </a:lnSpc>
              <a:spcBef>
                <a:spcPts val="835"/>
              </a:spcBef>
              <a:buChar char="•"/>
              <a:tabLst>
                <a:tab pos="94615" algn="l"/>
              </a:tabLst>
            </a:pPr>
            <a:r>
              <a:rPr dirty="0" sz="1050" spc="-70">
                <a:solidFill>
                  <a:srgbClr val="374050"/>
                </a:solidFill>
                <a:latin typeface="Roboto"/>
                <a:cs typeface="Roboto"/>
              </a:rPr>
              <a:t>Hardware-</a:t>
            </a:r>
            <a:r>
              <a:rPr dirty="0" sz="1050" spc="-50">
                <a:solidFill>
                  <a:srgbClr val="374050"/>
                </a:solidFill>
                <a:latin typeface="Roboto"/>
                <a:cs typeface="Roboto"/>
              </a:rPr>
              <a:t>in-</a:t>
            </a:r>
            <a:r>
              <a:rPr dirty="0" sz="1050" spc="-60">
                <a:solidFill>
                  <a:srgbClr val="374050"/>
                </a:solidFill>
                <a:latin typeface="Roboto"/>
                <a:cs typeface="Roboto"/>
              </a:rPr>
              <a:t>the-loop</a:t>
            </a:r>
            <a:r>
              <a:rPr dirty="0" sz="1050" spc="14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10">
                <a:solidFill>
                  <a:srgbClr val="374050"/>
                </a:solidFill>
                <a:latin typeface="Roboto"/>
                <a:cs typeface="Roboto"/>
              </a:rPr>
              <a:t>validation</a:t>
            </a:r>
            <a:endParaRPr sz="1050">
              <a:latin typeface="Roboto"/>
              <a:cs typeface="Roboto"/>
            </a:endParaRPr>
          </a:p>
          <a:p>
            <a:pPr marL="94615" indent="-69215">
              <a:lnSpc>
                <a:spcPct val="100000"/>
              </a:lnSpc>
              <a:spcBef>
                <a:spcPts val="80"/>
              </a:spcBef>
              <a:buChar char="•"/>
              <a:tabLst>
                <a:tab pos="94615" algn="l"/>
              </a:tabLst>
            </a:pPr>
            <a:r>
              <a:rPr dirty="0" sz="1050" spc="-60">
                <a:solidFill>
                  <a:srgbClr val="374050"/>
                </a:solidFill>
                <a:latin typeface="Roboto"/>
                <a:cs typeface="Roboto"/>
              </a:rPr>
              <a:t>Smart</a:t>
            </a:r>
            <a:r>
              <a:rPr dirty="0" sz="105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55">
                <a:solidFill>
                  <a:srgbClr val="374050"/>
                </a:solidFill>
                <a:latin typeface="Roboto"/>
                <a:cs typeface="Roboto"/>
              </a:rPr>
              <a:t>grid</a:t>
            </a:r>
            <a:r>
              <a:rPr dirty="0" sz="10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55">
                <a:solidFill>
                  <a:srgbClr val="374050"/>
                </a:solidFill>
                <a:latin typeface="Roboto"/>
                <a:cs typeface="Roboto"/>
              </a:rPr>
              <a:t>integration</a:t>
            </a:r>
            <a:r>
              <a:rPr dirty="0" sz="10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10">
                <a:solidFill>
                  <a:srgbClr val="374050"/>
                </a:solidFill>
                <a:latin typeface="Roboto"/>
                <a:cs typeface="Roboto"/>
              </a:rPr>
              <a:t>testing</a:t>
            </a:r>
            <a:endParaRPr sz="1050">
              <a:latin typeface="Roboto"/>
              <a:cs typeface="Roboto"/>
            </a:endParaRPr>
          </a:p>
          <a:p>
            <a:pPr marL="94615" indent="-69215">
              <a:lnSpc>
                <a:spcPct val="100000"/>
              </a:lnSpc>
              <a:spcBef>
                <a:spcPts val="85"/>
              </a:spcBef>
              <a:buChar char="•"/>
              <a:tabLst>
                <a:tab pos="94615" algn="l"/>
              </a:tabLst>
            </a:pPr>
            <a:r>
              <a:rPr dirty="0" sz="1050" spc="-60">
                <a:solidFill>
                  <a:srgbClr val="374050"/>
                </a:solidFill>
                <a:latin typeface="Roboto"/>
                <a:cs typeface="Roboto"/>
              </a:rPr>
              <a:t>Decentralized</a:t>
            </a:r>
            <a:r>
              <a:rPr dirty="0" sz="105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55">
                <a:solidFill>
                  <a:srgbClr val="374050"/>
                </a:solidFill>
                <a:latin typeface="Roboto"/>
                <a:cs typeface="Roboto"/>
              </a:rPr>
              <a:t>control</a:t>
            </a:r>
            <a:r>
              <a:rPr dirty="0" sz="10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10">
                <a:solidFill>
                  <a:srgbClr val="374050"/>
                </a:solidFill>
                <a:latin typeface="Roboto"/>
                <a:cs typeface="Roboto"/>
              </a:rPr>
              <a:t>implementation</a:t>
            </a:r>
            <a:endParaRPr sz="1050">
              <a:latin typeface="Roboto"/>
              <a:cs typeface="Roboto"/>
            </a:endParaRPr>
          </a:p>
          <a:p>
            <a:pPr marL="94615" indent="-69215">
              <a:lnSpc>
                <a:spcPct val="100000"/>
              </a:lnSpc>
              <a:spcBef>
                <a:spcPts val="80"/>
              </a:spcBef>
              <a:buChar char="•"/>
              <a:tabLst>
                <a:tab pos="94615" algn="l"/>
              </a:tabLst>
            </a:pPr>
            <a:r>
              <a:rPr dirty="0" sz="1050" spc="-55">
                <a:solidFill>
                  <a:srgbClr val="374050"/>
                </a:solidFill>
                <a:latin typeface="Roboto"/>
                <a:cs typeface="Roboto"/>
              </a:rPr>
              <a:t>Resilience</a:t>
            </a:r>
            <a:r>
              <a:rPr dirty="0" sz="105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65">
                <a:solidFill>
                  <a:srgbClr val="374050"/>
                </a:solidFill>
                <a:latin typeface="Roboto"/>
                <a:cs typeface="Roboto"/>
              </a:rPr>
              <a:t>to</a:t>
            </a:r>
            <a:r>
              <a:rPr dirty="0" sz="10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65">
                <a:solidFill>
                  <a:srgbClr val="374050"/>
                </a:solidFill>
                <a:latin typeface="Roboto"/>
                <a:cs typeface="Roboto"/>
              </a:rPr>
              <a:t>extreme</a:t>
            </a:r>
            <a:r>
              <a:rPr dirty="0" sz="10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65">
                <a:solidFill>
                  <a:srgbClr val="374050"/>
                </a:solidFill>
                <a:latin typeface="Roboto"/>
                <a:cs typeface="Roboto"/>
              </a:rPr>
              <a:t>events</a:t>
            </a:r>
            <a:r>
              <a:rPr dirty="0" sz="10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85">
                <a:solidFill>
                  <a:srgbClr val="374050"/>
                </a:solidFill>
                <a:latin typeface="Roboto"/>
                <a:cs typeface="Roboto"/>
              </a:rPr>
              <a:t>&amp;</a:t>
            </a:r>
            <a:r>
              <a:rPr dirty="0" sz="10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65">
                <a:solidFill>
                  <a:srgbClr val="374050"/>
                </a:solidFill>
                <a:latin typeface="Roboto"/>
                <a:cs typeface="Roboto"/>
              </a:rPr>
              <a:t>cyber</a:t>
            </a:r>
            <a:r>
              <a:rPr dirty="0" sz="1050" spc="-10">
                <a:solidFill>
                  <a:srgbClr val="374050"/>
                </a:solidFill>
                <a:latin typeface="Roboto"/>
                <a:cs typeface="Roboto"/>
              </a:rPr>
              <a:t> threats</a:t>
            </a:r>
            <a:endParaRPr sz="10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900">
              <a:latin typeface="Roboto"/>
              <a:cs typeface="Roboto"/>
            </a:endParaRPr>
          </a:p>
          <a:p>
            <a:pPr algn="r" marR="43180">
              <a:lnSpc>
                <a:spcPct val="100000"/>
              </a:lnSpc>
            </a:pPr>
            <a:r>
              <a:rPr dirty="0" sz="900" spc="-65">
                <a:solidFill>
                  <a:srgbClr val="FFFFFF"/>
                </a:solidFill>
                <a:latin typeface="Roboto"/>
                <a:cs typeface="Roboto"/>
              </a:rPr>
              <a:t>Made</a:t>
            </a:r>
            <a:r>
              <a:rPr dirty="0" sz="900" spc="-1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900" spc="-55">
                <a:solidFill>
                  <a:srgbClr val="FFFFFF"/>
                </a:solidFill>
                <a:latin typeface="Roboto"/>
                <a:cs typeface="Roboto"/>
              </a:rPr>
              <a:t>with</a:t>
            </a:r>
            <a:r>
              <a:rPr dirty="0" sz="900" spc="-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900" spc="35">
                <a:solidFill>
                  <a:srgbClr val="FFFFFF"/>
                </a:solidFill>
                <a:latin typeface="Roboto"/>
                <a:cs typeface="Roboto"/>
              </a:rPr>
              <a:t>Gen</a:t>
            </a:r>
            <a:r>
              <a:rPr dirty="0" sz="900" spc="-40">
                <a:solidFill>
                  <a:srgbClr val="FFFFFF"/>
                </a:solidFill>
                <a:latin typeface="Roboto"/>
                <a:cs typeface="Roboto"/>
              </a:rPr>
              <a:t>s</a:t>
            </a:r>
            <a:r>
              <a:rPr dirty="0" baseline="-10582" sz="1575" spc="-735">
                <a:solidFill>
                  <a:srgbClr val="545454"/>
                </a:solidFill>
                <a:latin typeface="Roboto"/>
                <a:cs typeface="Roboto"/>
              </a:rPr>
              <a:t>9</a:t>
            </a:r>
            <a:r>
              <a:rPr dirty="0" sz="900" spc="35">
                <a:solidFill>
                  <a:srgbClr val="FFFFFF"/>
                </a:solidFill>
                <a:latin typeface="Roboto"/>
                <a:cs typeface="Roboto"/>
              </a:rPr>
              <a:t>p</a:t>
            </a:r>
            <a:r>
              <a:rPr dirty="0" sz="900" spc="-185">
                <a:solidFill>
                  <a:srgbClr val="FFFFFF"/>
                </a:solidFill>
                <a:latin typeface="Roboto"/>
                <a:cs typeface="Roboto"/>
              </a:rPr>
              <a:t>a</a:t>
            </a:r>
            <a:r>
              <a:rPr dirty="0" baseline="-10582" sz="1575" spc="-292">
                <a:solidFill>
                  <a:srgbClr val="545454"/>
                </a:solidFill>
                <a:latin typeface="Roboto"/>
                <a:cs typeface="Roboto"/>
              </a:rPr>
              <a:t>/</a:t>
            </a:r>
            <a:r>
              <a:rPr dirty="0" sz="900" spc="35">
                <a:solidFill>
                  <a:srgbClr val="FFFFFF"/>
                </a:solidFill>
                <a:latin typeface="Roboto"/>
                <a:cs typeface="Roboto"/>
              </a:rPr>
              <a:t>r</a:t>
            </a:r>
            <a:r>
              <a:rPr dirty="0" sz="900" spc="-245">
                <a:solidFill>
                  <a:srgbClr val="FFFFFF"/>
                </a:solidFill>
                <a:latin typeface="Roboto"/>
                <a:cs typeface="Roboto"/>
              </a:rPr>
              <a:t>k</a:t>
            </a:r>
            <a:r>
              <a:rPr dirty="0" baseline="-10582" sz="1575" spc="52">
                <a:solidFill>
                  <a:srgbClr val="545454"/>
                </a:solidFill>
                <a:latin typeface="Roboto"/>
                <a:cs typeface="Roboto"/>
              </a:rPr>
              <a:t>10</a:t>
            </a:r>
            <a:endParaRPr baseline="-10582" sz="1575">
              <a:latin typeface="Roboto"/>
              <a:cs typeface="Roboto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9661749" y="446163"/>
            <a:ext cx="909319" cy="1803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00" spc="-45" b="1">
                <a:solidFill>
                  <a:srgbClr val="6A7280"/>
                </a:solidFill>
                <a:latin typeface="Roboto"/>
                <a:cs typeface="Roboto"/>
              </a:rPr>
              <a:t>IEEE</a:t>
            </a:r>
            <a:r>
              <a:rPr dirty="0" sz="1000" spc="5" b="1">
                <a:solidFill>
                  <a:srgbClr val="6A7280"/>
                </a:solidFill>
                <a:latin typeface="Roboto"/>
                <a:cs typeface="Roboto"/>
              </a:rPr>
              <a:t> </a:t>
            </a:r>
            <a:r>
              <a:rPr dirty="0" sz="1000" spc="-30" b="1">
                <a:solidFill>
                  <a:srgbClr val="6A7280"/>
                </a:solidFill>
                <a:latin typeface="Roboto"/>
                <a:cs typeface="Roboto"/>
              </a:rPr>
              <a:t>Conference</a:t>
            </a:r>
            <a:endParaRPr sz="1000">
              <a:latin typeface="Roboto"/>
              <a:cs typeface="Roboto"/>
            </a:endParaRPr>
          </a:p>
        </p:txBody>
      </p:sp>
      <p:pic>
        <p:nvPicPr>
          <p:cNvPr id="23" name="object 23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6735049"/>
            <a:ext cx="10898689" cy="119204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075633" y="3473957"/>
            <a:ext cx="2767245" cy="1362336"/>
          </a:xfrm>
          <a:prstGeom prst="rect">
            <a:avLst/>
          </a:prstGeom>
        </p:spPr>
      </p:pic>
      <p:sp>
        <p:nvSpPr>
          <p:cNvPr id="25" name="object 25" descr=""/>
          <p:cNvSpPr txBox="1"/>
          <p:nvPr/>
        </p:nvSpPr>
        <p:spPr>
          <a:xfrm>
            <a:off x="7363206" y="3993936"/>
            <a:ext cx="450215" cy="434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9050">
              <a:lnSpc>
                <a:spcPct val="111700"/>
              </a:lnSpc>
              <a:spcBef>
                <a:spcPts val="100"/>
              </a:spcBef>
            </a:pPr>
            <a:r>
              <a:rPr dirty="0" sz="1200" spc="-60" b="0">
                <a:solidFill>
                  <a:srgbClr val="FFFFFF"/>
                </a:solidFill>
                <a:latin typeface="Roboto Medium"/>
                <a:cs typeface="Roboto Medium"/>
              </a:rPr>
              <a:t>Power </a:t>
            </a:r>
            <a:r>
              <a:rPr dirty="0" sz="1200" spc="-70" b="0">
                <a:solidFill>
                  <a:srgbClr val="FFFFFF"/>
                </a:solidFill>
                <a:latin typeface="Roboto Medium"/>
                <a:cs typeface="Roboto Medium"/>
              </a:rPr>
              <a:t>Quality</a:t>
            </a:r>
            <a:endParaRPr sz="1200">
              <a:latin typeface="Roboto Medium"/>
              <a:cs typeface="Roboto Medium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9072246" y="3993936"/>
            <a:ext cx="520065" cy="434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20650">
              <a:lnSpc>
                <a:spcPct val="111700"/>
              </a:lnSpc>
              <a:spcBef>
                <a:spcPts val="100"/>
              </a:spcBef>
            </a:pPr>
            <a:r>
              <a:rPr dirty="0" sz="1200" spc="-20" b="0">
                <a:solidFill>
                  <a:srgbClr val="FFFFFF"/>
                </a:solidFill>
                <a:latin typeface="Roboto Medium"/>
                <a:cs typeface="Roboto Medium"/>
              </a:rPr>
              <a:t>Grid </a:t>
            </a:r>
            <a:r>
              <a:rPr dirty="0" sz="1200" spc="-65" b="0">
                <a:solidFill>
                  <a:srgbClr val="FFFFFF"/>
                </a:solidFill>
                <a:latin typeface="Roboto Medium"/>
                <a:cs typeface="Roboto Medium"/>
              </a:rPr>
              <a:t>Stability</a:t>
            </a:r>
            <a:endParaRPr sz="1200">
              <a:latin typeface="Roboto Medium"/>
              <a:cs typeface="Roboto Medium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8106371" y="4045023"/>
            <a:ext cx="707390" cy="43434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56515">
              <a:lnSpc>
                <a:spcPct val="100000"/>
              </a:lnSpc>
              <a:spcBef>
                <a:spcPts val="270"/>
              </a:spcBef>
            </a:pPr>
            <a:r>
              <a:rPr dirty="0" sz="1200" spc="-25" b="0">
                <a:solidFill>
                  <a:srgbClr val="FFFFFF"/>
                </a:solidFill>
                <a:latin typeface="Roboto Medium"/>
                <a:cs typeface="Roboto Medium"/>
              </a:rPr>
              <a:t>RMOMPC</a:t>
            </a:r>
            <a:endParaRPr sz="1200">
              <a:latin typeface="Roboto Medium"/>
              <a:cs typeface="Roboto Medium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200" spc="-80" b="0">
                <a:solidFill>
                  <a:srgbClr val="FFFFFF"/>
                </a:solidFill>
                <a:latin typeface="Roboto Medium"/>
                <a:cs typeface="Roboto Medium"/>
              </a:rPr>
              <a:t>Framework</a:t>
            </a:r>
            <a:endParaRPr sz="1200">
              <a:latin typeface="Roboto Medium"/>
              <a:cs typeface="Roboto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96899" y="526545"/>
            <a:ext cx="2295525" cy="4070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155" b="1">
                <a:solidFill>
                  <a:srgbClr val="002854"/>
                </a:solidFill>
                <a:latin typeface="Roboto"/>
                <a:cs typeface="Roboto"/>
              </a:rPr>
              <a:t>Thank</a:t>
            </a:r>
            <a:r>
              <a:rPr dirty="0" sz="2500" spc="-50" b="1">
                <a:solidFill>
                  <a:srgbClr val="002854"/>
                </a:solidFill>
                <a:latin typeface="Roboto"/>
                <a:cs typeface="Roboto"/>
              </a:rPr>
              <a:t> </a:t>
            </a:r>
            <a:r>
              <a:rPr dirty="0" sz="2500" spc="-185" b="1">
                <a:solidFill>
                  <a:srgbClr val="002854"/>
                </a:solidFill>
                <a:latin typeface="Roboto"/>
                <a:cs typeface="Roboto"/>
              </a:rPr>
              <a:t>You</a:t>
            </a:r>
            <a:r>
              <a:rPr dirty="0" sz="2500" spc="-45" b="1">
                <a:solidFill>
                  <a:srgbClr val="002854"/>
                </a:solidFill>
                <a:latin typeface="Roboto"/>
                <a:cs typeface="Roboto"/>
              </a:rPr>
              <a:t> </a:t>
            </a:r>
            <a:r>
              <a:rPr dirty="0" sz="2500" spc="-170" b="1">
                <a:solidFill>
                  <a:srgbClr val="002854"/>
                </a:solidFill>
                <a:latin typeface="Roboto"/>
                <a:cs typeface="Roboto"/>
              </a:rPr>
              <a:t>&amp;</a:t>
            </a:r>
            <a:r>
              <a:rPr dirty="0" sz="2500" spc="-50" b="1">
                <a:solidFill>
                  <a:srgbClr val="002854"/>
                </a:solidFill>
                <a:latin typeface="Roboto"/>
                <a:cs typeface="Roboto"/>
              </a:rPr>
              <a:t> </a:t>
            </a:r>
            <a:r>
              <a:rPr dirty="0" sz="2500" spc="-135" b="1">
                <a:solidFill>
                  <a:srgbClr val="002854"/>
                </a:solidFill>
                <a:latin typeface="Roboto"/>
                <a:cs typeface="Roboto"/>
              </a:rPr>
              <a:t>Q&amp;A</a:t>
            </a:r>
            <a:endParaRPr sz="2500">
              <a:latin typeface="Roboto"/>
              <a:cs typeface="Robo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37830" y="1288242"/>
            <a:ext cx="611632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-235">
                <a:solidFill>
                  <a:srgbClr val="0057A8"/>
                </a:solidFill>
              </a:rPr>
              <a:t>Thank</a:t>
            </a:r>
            <a:r>
              <a:rPr dirty="0" sz="4000" spc="-90">
                <a:solidFill>
                  <a:srgbClr val="0057A8"/>
                </a:solidFill>
              </a:rPr>
              <a:t> </a:t>
            </a:r>
            <a:r>
              <a:rPr dirty="0" sz="4000" spc="-280">
                <a:solidFill>
                  <a:srgbClr val="0057A8"/>
                </a:solidFill>
              </a:rPr>
              <a:t>You</a:t>
            </a:r>
            <a:r>
              <a:rPr dirty="0" sz="4000" spc="-85">
                <a:solidFill>
                  <a:srgbClr val="0057A8"/>
                </a:solidFill>
              </a:rPr>
              <a:t> </a:t>
            </a:r>
            <a:r>
              <a:rPr dirty="0" sz="4000" spc="-180">
                <a:solidFill>
                  <a:srgbClr val="0057A8"/>
                </a:solidFill>
              </a:rPr>
              <a:t>for</a:t>
            </a:r>
            <a:r>
              <a:rPr dirty="0" sz="4000" spc="-85">
                <a:solidFill>
                  <a:srgbClr val="0057A8"/>
                </a:solidFill>
              </a:rPr>
              <a:t> </a:t>
            </a:r>
            <a:r>
              <a:rPr dirty="0" sz="4000" spc="-254">
                <a:solidFill>
                  <a:srgbClr val="0057A8"/>
                </a:solidFill>
              </a:rPr>
              <a:t>Your</a:t>
            </a:r>
            <a:r>
              <a:rPr dirty="0" sz="4000" spc="-90">
                <a:solidFill>
                  <a:srgbClr val="0057A8"/>
                </a:solidFill>
              </a:rPr>
              <a:t> </a:t>
            </a:r>
            <a:r>
              <a:rPr dirty="0" sz="4000" spc="-175">
                <a:solidFill>
                  <a:srgbClr val="0057A8"/>
                </a:solidFill>
              </a:rPr>
              <a:t>Attention!</a:t>
            </a:r>
            <a:endParaRPr sz="4000"/>
          </a:p>
        </p:txBody>
      </p:sp>
      <p:sp>
        <p:nvSpPr>
          <p:cNvPr id="4" name="object 4" descr=""/>
          <p:cNvSpPr txBox="1"/>
          <p:nvPr/>
        </p:nvSpPr>
        <p:spPr>
          <a:xfrm>
            <a:off x="4261346" y="2363708"/>
            <a:ext cx="3669665" cy="4775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 spc="-140" b="1">
                <a:solidFill>
                  <a:srgbClr val="002854"/>
                </a:solidFill>
                <a:latin typeface="Roboto"/>
                <a:cs typeface="Roboto"/>
              </a:rPr>
              <a:t>Questions</a:t>
            </a:r>
            <a:r>
              <a:rPr dirty="0" sz="2950" spc="-50" b="1">
                <a:solidFill>
                  <a:srgbClr val="002854"/>
                </a:solidFill>
                <a:latin typeface="Roboto"/>
                <a:cs typeface="Roboto"/>
              </a:rPr>
              <a:t> </a:t>
            </a:r>
            <a:r>
              <a:rPr dirty="0" sz="2950" spc="-175" b="1">
                <a:solidFill>
                  <a:srgbClr val="002854"/>
                </a:solidFill>
                <a:latin typeface="Roboto"/>
                <a:cs typeface="Roboto"/>
              </a:rPr>
              <a:t>&amp;</a:t>
            </a:r>
            <a:r>
              <a:rPr dirty="0" sz="2950" spc="-35" b="1">
                <a:solidFill>
                  <a:srgbClr val="002854"/>
                </a:solidFill>
                <a:latin typeface="Roboto"/>
                <a:cs typeface="Roboto"/>
              </a:rPr>
              <a:t> </a:t>
            </a:r>
            <a:r>
              <a:rPr dirty="0" sz="2950" spc="-114" b="1">
                <a:solidFill>
                  <a:srgbClr val="002854"/>
                </a:solidFill>
                <a:latin typeface="Roboto"/>
                <a:cs typeface="Roboto"/>
              </a:rPr>
              <a:t>Discussion</a:t>
            </a:r>
            <a:endParaRPr sz="2950">
              <a:latin typeface="Roboto"/>
              <a:cs typeface="Roboto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4048124" y="3562349"/>
            <a:ext cx="4095750" cy="1695450"/>
            <a:chOff x="4048124" y="3562349"/>
            <a:chExt cx="4095750" cy="1695450"/>
          </a:xfrm>
        </p:grpSpPr>
        <p:sp>
          <p:nvSpPr>
            <p:cNvPr id="6" name="object 6" descr=""/>
            <p:cNvSpPr/>
            <p:nvPr/>
          </p:nvSpPr>
          <p:spPr>
            <a:xfrm>
              <a:off x="4048124" y="3562349"/>
              <a:ext cx="4095750" cy="1695450"/>
            </a:xfrm>
            <a:custGeom>
              <a:avLst/>
              <a:gdLst/>
              <a:ahLst/>
              <a:cxnLst/>
              <a:rect l="l" t="t" r="r" b="b"/>
              <a:pathLst>
                <a:path w="4095750" h="1695450">
                  <a:moveTo>
                    <a:pt x="4024552" y="1695449"/>
                  </a:moveTo>
                  <a:lnTo>
                    <a:pt x="71196" y="1695449"/>
                  </a:lnTo>
                  <a:lnTo>
                    <a:pt x="66241" y="1694960"/>
                  </a:lnTo>
                  <a:lnTo>
                    <a:pt x="29704" y="1679826"/>
                  </a:lnTo>
                  <a:lnTo>
                    <a:pt x="3884" y="1643787"/>
                  </a:lnTo>
                  <a:lnTo>
                    <a:pt x="0" y="1624253"/>
                  </a:lnTo>
                  <a:lnTo>
                    <a:pt x="0" y="161924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4024552" y="0"/>
                  </a:lnTo>
                  <a:lnTo>
                    <a:pt x="4066043" y="15621"/>
                  </a:lnTo>
                  <a:lnTo>
                    <a:pt x="4091862" y="51661"/>
                  </a:lnTo>
                  <a:lnTo>
                    <a:pt x="4095749" y="71196"/>
                  </a:lnTo>
                  <a:lnTo>
                    <a:pt x="4095749" y="1624253"/>
                  </a:lnTo>
                  <a:lnTo>
                    <a:pt x="4080126" y="1665743"/>
                  </a:lnTo>
                  <a:lnTo>
                    <a:pt x="4044086" y="1691563"/>
                  </a:lnTo>
                  <a:lnTo>
                    <a:pt x="4029507" y="1694960"/>
                  </a:lnTo>
                  <a:lnTo>
                    <a:pt x="4024552" y="1695449"/>
                  </a:lnTo>
                  <a:close/>
                </a:path>
              </a:pathLst>
            </a:custGeom>
            <a:solidFill>
              <a:srgbClr val="0057A8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67224" y="3943349"/>
              <a:ext cx="152399" cy="114299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67224" y="4324349"/>
              <a:ext cx="152399" cy="152399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66063" y="4723238"/>
              <a:ext cx="153560" cy="153560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4796233" y="3706336"/>
            <a:ext cx="2980690" cy="12255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59100"/>
              </a:lnSpc>
              <a:spcBef>
                <a:spcPts val="95"/>
              </a:spcBef>
            </a:pPr>
            <a:r>
              <a:rPr dirty="0" sz="1650" spc="-125">
                <a:solidFill>
                  <a:srgbClr val="444444"/>
                </a:solidFill>
                <a:latin typeface="Arial"/>
                <a:cs typeface="Arial"/>
              </a:rPr>
              <a:t>youremail@</a:t>
            </a:r>
            <a:r>
              <a:rPr dirty="0" sz="1650" spc="-22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444444"/>
                </a:solidFill>
                <a:latin typeface="Arial"/>
                <a:cs typeface="Arial"/>
              </a:rPr>
              <a:t>institution.edu </a:t>
            </a:r>
            <a:r>
              <a:rPr dirty="0" sz="1650" spc="-70">
                <a:solidFill>
                  <a:srgbClr val="444444"/>
                </a:solidFill>
                <a:latin typeface="Arial"/>
                <a:cs typeface="Arial"/>
                <a:hlinkClick r:id="rId5"/>
              </a:rPr>
              <a:t>www.researchgroup.institution.edu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dirty="0" sz="1650" spc="-105">
                <a:solidFill>
                  <a:srgbClr val="444444"/>
                </a:solidFill>
                <a:latin typeface="Arial"/>
                <a:cs typeface="Arial"/>
              </a:rPr>
              <a:t>+1</a:t>
            </a:r>
            <a:r>
              <a:rPr dirty="0" sz="1650" spc="-65">
                <a:solidFill>
                  <a:srgbClr val="444444"/>
                </a:solidFill>
                <a:latin typeface="Arial"/>
                <a:cs typeface="Arial"/>
              </a:rPr>
              <a:t> (555)</a:t>
            </a:r>
            <a:r>
              <a:rPr dirty="0" sz="1650" spc="-6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650" spc="-105">
                <a:solidFill>
                  <a:srgbClr val="444444"/>
                </a:solidFill>
                <a:latin typeface="Arial"/>
                <a:cs typeface="Arial"/>
              </a:rPr>
              <a:t>123-</a:t>
            </a:r>
            <a:r>
              <a:rPr dirty="0" sz="1650" spc="-20">
                <a:solidFill>
                  <a:srgbClr val="444444"/>
                </a:solidFill>
                <a:latin typeface="Arial"/>
                <a:cs typeface="Arial"/>
              </a:rPr>
              <a:t>4567</a:t>
            </a:r>
            <a:endParaRPr sz="165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877667" y="5594377"/>
            <a:ext cx="4436745" cy="482600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75"/>
              </a:spcBef>
            </a:pPr>
            <a:r>
              <a:rPr dirty="0" sz="1350" spc="-70" i="1">
                <a:solidFill>
                  <a:srgbClr val="666666"/>
                </a:solidFill>
                <a:latin typeface="Arial"/>
                <a:cs typeface="Arial"/>
              </a:rPr>
              <a:t>This</a:t>
            </a:r>
            <a:r>
              <a:rPr dirty="0" sz="1350" spc="-45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350" spc="-85" i="1">
                <a:solidFill>
                  <a:srgbClr val="666666"/>
                </a:solidFill>
                <a:latin typeface="Arial"/>
                <a:cs typeface="Arial"/>
              </a:rPr>
              <a:t>research</a:t>
            </a:r>
            <a:r>
              <a:rPr dirty="0" sz="1350" spc="-45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350" spc="-80" i="1">
                <a:solidFill>
                  <a:srgbClr val="666666"/>
                </a:solidFill>
                <a:latin typeface="Arial"/>
                <a:cs typeface="Arial"/>
              </a:rPr>
              <a:t>was</a:t>
            </a:r>
            <a:r>
              <a:rPr dirty="0" sz="1350" spc="-4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350" spc="-70" i="1">
                <a:solidFill>
                  <a:srgbClr val="666666"/>
                </a:solidFill>
                <a:latin typeface="Arial"/>
                <a:cs typeface="Arial"/>
              </a:rPr>
              <a:t>supported</a:t>
            </a:r>
            <a:r>
              <a:rPr dirty="0" sz="1350" spc="-45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350" spc="-105" i="1">
                <a:solidFill>
                  <a:srgbClr val="666666"/>
                </a:solidFill>
                <a:latin typeface="Arial"/>
                <a:cs typeface="Arial"/>
              </a:rPr>
              <a:t>by</a:t>
            </a:r>
            <a:r>
              <a:rPr dirty="0" sz="1350" spc="-4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350" spc="-90" i="1">
                <a:solidFill>
                  <a:srgbClr val="666666"/>
                </a:solidFill>
                <a:latin typeface="Arial"/>
                <a:cs typeface="Arial"/>
              </a:rPr>
              <a:t>[Funding</a:t>
            </a:r>
            <a:r>
              <a:rPr dirty="0" sz="1350" spc="-45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350" spc="-85" i="1">
                <a:solidFill>
                  <a:srgbClr val="666666"/>
                </a:solidFill>
                <a:latin typeface="Arial"/>
                <a:cs typeface="Arial"/>
              </a:rPr>
              <a:t>Agency/Grant</a:t>
            </a:r>
            <a:r>
              <a:rPr dirty="0" sz="1350" spc="-4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350" spc="-50" i="1">
                <a:solidFill>
                  <a:srgbClr val="666666"/>
                </a:solidFill>
                <a:latin typeface="Arial"/>
                <a:cs typeface="Arial"/>
              </a:rPr>
              <a:t>Number].</a:t>
            </a:r>
            <a:endParaRPr sz="13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80"/>
              </a:spcBef>
            </a:pPr>
            <a:r>
              <a:rPr dirty="0" sz="1350" spc="-80" i="1">
                <a:solidFill>
                  <a:srgbClr val="666666"/>
                </a:solidFill>
                <a:latin typeface="Arial"/>
                <a:cs typeface="Arial"/>
              </a:rPr>
              <a:t>Special</a:t>
            </a:r>
            <a:r>
              <a:rPr dirty="0" sz="1350" spc="-55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350" spc="-70" i="1">
                <a:solidFill>
                  <a:srgbClr val="666666"/>
                </a:solidFill>
                <a:latin typeface="Arial"/>
                <a:cs typeface="Arial"/>
              </a:rPr>
              <a:t>thanks</a:t>
            </a:r>
            <a:r>
              <a:rPr dirty="0" sz="1350" spc="-5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350" spc="-45" i="1">
                <a:solidFill>
                  <a:srgbClr val="666666"/>
                </a:solidFill>
                <a:latin typeface="Arial"/>
                <a:cs typeface="Arial"/>
              </a:rPr>
              <a:t>to</a:t>
            </a:r>
            <a:r>
              <a:rPr dirty="0" sz="1350" spc="-5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350" spc="-60" i="1">
                <a:solidFill>
                  <a:srgbClr val="666666"/>
                </a:solidFill>
                <a:latin typeface="Arial"/>
                <a:cs typeface="Arial"/>
              </a:rPr>
              <a:t>collaborators</a:t>
            </a:r>
            <a:r>
              <a:rPr dirty="0" sz="1350" spc="-55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350" spc="-45" i="1">
                <a:solidFill>
                  <a:srgbClr val="666666"/>
                </a:solidFill>
                <a:latin typeface="Arial"/>
                <a:cs typeface="Arial"/>
              </a:rPr>
              <a:t>at</a:t>
            </a:r>
            <a:r>
              <a:rPr dirty="0" sz="1350" spc="-5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350" spc="-75" i="1">
                <a:solidFill>
                  <a:srgbClr val="666666"/>
                </a:solidFill>
                <a:latin typeface="Arial"/>
                <a:cs typeface="Arial"/>
              </a:rPr>
              <a:t>[Partner</a:t>
            </a:r>
            <a:r>
              <a:rPr dirty="0" sz="1350" spc="-50" i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350" spc="-10" i="1">
                <a:solidFill>
                  <a:srgbClr val="666666"/>
                </a:solidFill>
                <a:latin typeface="Arial"/>
                <a:cs typeface="Arial"/>
              </a:rPr>
              <a:t>Institution].</a:t>
            </a:r>
            <a:endParaRPr sz="1350">
              <a:latin typeface="Arial"/>
              <a:cs typeface="Arial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1904999" cy="2038349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10809782" y="500615"/>
            <a:ext cx="1014094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20" b="1">
                <a:solidFill>
                  <a:srgbClr val="6A7280"/>
                </a:solidFill>
                <a:latin typeface="Roboto"/>
                <a:cs typeface="Roboto"/>
              </a:rPr>
              <a:t>IEEE</a:t>
            </a:r>
            <a:r>
              <a:rPr dirty="0" sz="1100" spc="-40" b="1">
                <a:solidFill>
                  <a:srgbClr val="6A7280"/>
                </a:solidFill>
                <a:latin typeface="Roboto"/>
                <a:cs typeface="Roboto"/>
              </a:rPr>
              <a:t> </a:t>
            </a:r>
            <a:r>
              <a:rPr dirty="0" sz="1100" spc="-35" b="1">
                <a:solidFill>
                  <a:srgbClr val="6A7280"/>
                </a:solidFill>
                <a:latin typeface="Roboto"/>
                <a:cs typeface="Roboto"/>
              </a:rPr>
              <a:t>Conference</a:t>
            </a:r>
            <a:endParaRPr sz="1100">
              <a:latin typeface="Roboto"/>
              <a:cs typeface="Roboto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0" y="4489449"/>
            <a:ext cx="12192000" cy="2368550"/>
            <a:chOff x="0" y="4489449"/>
            <a:chExt cx="12192000" cy="2368550"/>
          </a:xfrm>
        </p:grpSpPr>
        <p:pic>
          <p:nvPicPr>
            <p:cNvPr id="15" name="object 1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4489449"/>
              <a:ext cx="12191999" cy="2368550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10544174" y="63436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6584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18" name="object 18" descr=""/>
          <p:cNvSpPr txBox="1"/>
          <p:nvPr/>
        </p:nvSpPr>
        <p:spPr>
          <a:xfrm>
            <a:off x="10807600" y="6382622"/>
            <a:ext cx="1232535" cy="2038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000" spc="-75">
                <a:solidFill>
                  <a:srgbClr val="FFFFFF"/>
                </a:solidFill>
                <a:latin typeface="Roboto"/>
                <a:cs typeface="Roboto"/>
              </a:rPr>
              <a:t>Made</a:t>
            </a:r>
            <a:r>
              <a:rPr dirty="0" sz="10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FFFFFF"/>
                </a:solidFill>
                <a:latin typeface="Roboto"/>
                <a:cs typeface="Roboto"/>
              </a:rPr>
              <a:t>with</a:t>
            </a:r>
            <a:r>
              <a:rPr dirty="0" sz="10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15">
                <a:solidFill>
                  <a:srgbClr val="FFFFFF"/>
                </a:solidFill>
                <a:latin typeface="Roboto"/>
                <a:cs typeface="Roboto"/>
              </a:rPr>
              <a:t>Ge</a:t>
            </a:r>
            <a:r>
              <a:rPr dirty="0" sz="1000" spc="-235">
                <a:solidFill>
                  <a:srgbClr val="FFFFFF"/>
                </a:solidFill>
                <a:latin typeface="Roboto"/>
                <a:cs typeface="Roboto"/>
              </a:rPr>
              <a:t>n</a:t>
            </a:r>
            <a:r>
              <a:rPr dirty="0" baseline="-12077" sz="1725" spc="-682">
                <a:solidFill>
                  <a:srgbClr val="545454"/>
                </a:solidFill>
                <a:latin typeface="Arial"/>
                <a:cs typeface="Arial"/>
              </a:rPr>
              <a:t>1</a:t>
            </a:r>
            <a:r>
              <a:rPr dirty="0" sz="1000" spc="-95">
                <a:solidFill>
                  <a:srgbClr val="FFFFFF"/>
                </a:solidFill>
                <a:latin typeface="Roboto"/>
                <a:cs typeface="Roboto"/>
              </a:rPr>
              <a:t>s</a:t>
            </a:r>
            <a:r>
              <a:rPr dirty="0" baseline="-12077" sz="1725" spc="-892">
                <a:solidFill>
                  <a:srgbClr val="545454"/>
                </a:solidFill>
                <a:latin typeface="Arial"/>
                <a:cs typeface="Arial"/>
              </a:rPr>
              <a:t>0</a:t>
            </a:r>
            <a:r>
              <a:rPr dirty="0" sz="1000" spc="-15">
                <a:solidFill>
                  <a:srgbClr val="FFFFFF"/>
                </a:solidFill>
                <a:latin typeface="Roboto"/>
                <a:cs typeface="Roboto"/>
              </a:rPr>
              <a:t>p</a:t>
            </a:r>
            <a:r>
              <a:rPr dirty="0" sz="1000" spc="-254">
                <a:solidFill>
                  <a:srgbClr val="FFFFFF"/>
                </a:solidFill>
                <a:latin typeface="Roboto"/>
                <a:cs typeface="Roboto"/>
              </a:rPr>
              <a:t>a</a:t>
            </a:r>
            <a:r>
              <a:rPr dirty="0" baseline="-12077" sz="1725" spc="-270">
                <a:solidFill>
                  <a:srgbClr val="545454"/>
                </a:solidFill>
                <a:latin typeface="Arial"/>
                <a:cs typeface="Arial"/>
              </a:rPr>
              <a:t>/</a:t>
            </a:r>
            <a:r>
              <a:rPr dirty="0" sz="1000" spc="-15">
                <a:solidFill>
                  <a:srgbClr val="FFFFFF"/>
                </a:solidFill>
                <a:latin typeface="Roboto"/>
                <a:cs typeface="Roboto"/>
              </a:rPr>
              <a:t>r</a:t>
            </a:r>
            <a:r>
              <a:rPr dirty="0" sz="1000" spc="-325">
                <a:solidFill>
                  <a:srgbClr val="FFFFFF"/>
                </a:solidFill>
                <a:latin typeface="Roboto"/>
                <a:cs typeface="Roboto"/>
              </a:rPr>
              <a:t>k</a:t>
            </a:r>
            <a:r>
              <a:rPr dirty="0" baseline="-12077" sz="1725" spc="-22">
                <a:solidFill>
                  <a:srgbClr val="545454"/>
                </a:solidFill>
                <a:latin typeface="Arial"/>
                <a:cs typeface="Arial"/>
              </a:rPr>
              <a:t>10</a:t>
            </a:r>
            <a:endParaRPr baseline="-12077" sz="1725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44444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2025-06-15T17:52:18Z</dcterms:created>
  <dcterms:modified xsi:type="dcterms:W3CDTF">2025-06-15T17:52:18Z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2025-06-15T00:00:00Z</vt:filetime>
  </property>
  <property fmtid="{D5CDD505-2E9C-101B-9397-08002B2CF9AE}" pid="3" name="Producer">
    <vt:lpwstr>pypdf</vt:lpwstr>
  </property>
  <property fmtid="{D5CDD505-2E9C-101B-9397-08002B2CF9AE}" pid="4" name="LastSaved">
    <vt:filetime>2025-06-15T00:00:00Z</vt:filetime>
  </property>
</Properties>
</file>