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80581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708095"/>
                </a:solidFill>
                <a:latin typeface="Arial"/>
                <a:cs typeface="Arial"/>
              </a:defRPr>
            </a:lvl1pPr>
          </a:lstStyle>
          <a:p>
            <a:pPr marL="2511425">
              <a:lnSpc>
                <a:spcPts val="1145"/>
              </a:lnSpc>
            </a:pP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708095"/>
                </a:solidFill>
                <a:latin typeface="Arial"/>
                <a:cs typeface="Arial"/>
              </a:defRPr>
            </a:lvl1pPr>
          </a:lstStyle>
          <a:p>
            <a:pPr marL="2511425">
              <a:lnSpc>
                <a:spcPts val="1145"/>
              </a:lnSpc>
            </a:pP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708095"/>
                </a:solidFill>
                <a:latin typeface="Arial"/>
                <a:cs typeface="Arial"/>
              </a:defRPr>
            </a:lvl1pPr>
          </a:lstStyle>
          <a:p>
            <a:pPr marL="2511425">
              <a:lnSpc>
                <a:spcPts val="1145"/>
              </a:lnSpc>
            </a:pP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708095"/>
                </a:solidFill>
                <a:latin typeface="Arial"/>
                <a:cs typeface="Arial"/>
              </a:defRPr>
            </a:lvl1pPr>
          </a:lstStyle>
          <a:p>
            <a:pPr marL="2511425">
              <a:lnSpc>
                <a:spcPts val="1145"/>
              </a:lnSpc>
            </a:pP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708095"/>
                </a:solidFill>
                <a:latin typeface="Arial"/>
                <a:cs typeface="Arial"/>
              </a:defRPr>
            </a:lvl1pPr>
          </a:lstStyle>
          <a:p>
            <a:pPr marL="2511425">
              <a:lnSpc>
                <a:spcPts val="1145"/>
              </a:lnSpc>
            </a:pP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12191999" y="761999"/>
                </a:moveTo>
                <a:lnTo>
                  <a:pt x="0" y="761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9"/>
                </a:lnTo>
                <a:close/>
              </a:path>
            </a:pathLst>
          </a:custGeom>
          <a:solidFill>
            <a:srgbClr val="0C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550" y="165108"/>
            <a:ext cx="7019925" cy="372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38899" y="1333499"/>
            <a:ext cx="5219700" cy="3082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7380" y="6287194"/>
            <a:ext cx="3286759" cy="544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708095"/>
                </a:solidFill>
                <a:latin typeface="Arial"/>
                <a:cs typeface="Arial"/>
              </a:defRPr>
            </a:lvl1pPr>
          </a:lstStyle>
          <a:p>
            <a:pPr marL="2511425">
              <a:lnSpc>
                <a:spcPts val="1145"/>
              </a:lnSpc>
            </a:pPr>
            <a:fld id="{81D60167-4931-47E6-BA6A-407CBD079E47}" type="slidenum">
              <a:rPr dirty="0"/>
              <a:t>#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114300"/>
            </a:xfrm>
            <a:custGeom>
              <a:avLst/>
              <a:gdLst/>
              <a:ahLst/>
              <a:cxnLst/>
              <a:rect l="l" t="t" r="r" b="b"/>
              <a:pathLst>
                <a:path w="12192000" h="114300">
                  <a:moveTo>
                    <a:pt x="1219199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1429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7799" y="1249695"/>
            <a:ext cx="10617835" cy="1240790"/>
          </a:xfrm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595"/>
              </a:spcBef>
            </a:pPr>
            <a:r>
              <a:rPr dirty="0" sz="4150" spc="-210">
                <a:solidFill>
                  <a:srgbClr val="0C4A86"/>
                </a:solidFill>
              </a:rPr>
              <a:t>Advanced</a:t>
            </a:r>
            <a:r>
              <a:rPr dirty="0" sz="4150" spc="-75">
                <a:solidFill>
                  <a:srgbClr val="0C4A86"/>
                </a:solidFill>
              </a:rPr>
              <a:t> </a:t>
            </a:r>
            <a:r>
              <a:rPr dirty="0" sz="4150" spc="-270">
                <a:solidFill>
                  <a:srgbClr val="0C4A86"/>
                </a:solidFill>
              </a:rPr>
              <a:t>FACTS</a:t>
            </a:r>
            <a:r>
              <a:rPr dirty="0" sz="4150" spc="-80">
                <a:solidFill>
                  <a:srgbClr val="0C4A86"/>
                </a:solidFill>
              </a:rPr>
              <a:t> </a:t>
            </a:r>
            <a:r>
              <a:rPr dirty="0" sz="4150" spc="-170">
                <a:solidFill>
                  <a:srgbClr val="0C4A86"/>
                </a:solidFill>
              </a:rPr>
              <a:t>Control</a:t>
            </a:r>
            <a:r>
              <a:rPr dirty="0" sz="4150" spc="-75">
                <a:solidFill>
                  <a:srgbClr val="0C4A86"/>
                </a:solidFill>
              </a:rPr>
              <a:t> </a:t>
            </a:r>
            <a:r>
              <a:rPr dirty="0" sz="4150" spc="-165">
                <a:solidFill>
                  <a:srgbClr val="0C4A86"/>
                </a:solidFill>
              </a:rPr>
              <a:t>with</a:t>
            </a:r>
            <a:r>
              <a:rPr dirty="0" sz="4150" spc="-80">
                <a:solidFill>
                  <a:srgbClr val="0C4A86"/>
                </a:solidFill>
              </a:rPr>
              <a:t> </a:t>
            </a:r>
            <a:r>
              <a:rPr dirty="0" sz="4150" spc="-155">
                <a:solidFill>
                  <a:srgbClr val="0C4A86"/>
                </a:solidFill>
              </a:rPr>
              <a:t>Reinforcement </a:t>
            </a:r>
            <a:r>
              <a:rPr dirty="0" sz="4150" spc="-55">
                <a:solidFill>
                  <a:srgbClr val="0C4A86"/>
                </a:solidFill>
              </a:rPr>
              <a:t>Learning</a:t>
            </a:r>
            <a:endParaRPr sz="4150"/>
          </a:p>
        </p:txBody>
      </p:sp>
      <p:grpSp>
        <p:nvGrpSpPr>
          <p:cNvPr id="6" name="object 6" descr=""/>
          <p:cNvGrpSpPr/>
          <p:nvPr/>
        </p:nvGrpSpPr>
        <p:grpSpPr>
          <a:xfrm>
            <a:off x="189458" y="2990849"/>
            <a:ext cx="193040" cy="1028700"/>
            <a:chOff x="189458" y="2990849"/>
            <a:chExt cx="193040" cy="10287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499" y="2990849"/>
              <a:ext cx="166687" cy="1904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458" y="3409652"/>
              <a:ext cx="192546" cy="19079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499" y="3829049"/>
              <a:ext cx="166687" cy="19049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77799" y="2601339"/>
            <a:ext cx="9098280" cy="145351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950" spc="-90">
                <a:solidFill>
                  <a:srgbClr val="4A5462"/>
                </a:solidFill>
                <a:latin typeface="Arial"/>
                <a:cs typeface="Arial"/>
              </a:rPr>
              <a:t>Enhancing</a:t>
            </a:r>
            <a:r>
              <a:rPr dirty="0" sz="1950" spc="-2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90">
                <a:solidFill>
                  <a:srgbClr val="4A5462"/>
                </a:solidFill>
                <a:latin typeface="Arial"/>
                <a:cs typeface="Arial"/>
              </a:rPr>
              <a:t>Power</a:t>
            </a:r>
            <a:r>
              <a:rPr dirty="0" sz="1950" spc="-1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90">
                <a:solidFill>
                  <a:srgbClr val="4A5462"/>
                </a:solidFill>
                <a:latin typeface="Arial"/>
                <a:cs typeface="Arial"/>
              </a:rPr>
              <a:t>System</a:t>
            </a:r>
            <a:r>
              <a:rPr dirty="0" sz="1950" spc="-2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60">
                <a:solidFill>
                  <a:srgbClr val="4A5462"/>
                </a:solidFill>
                <a:latin typeface="Arial"/>
                <a:cs typeface="Arial"/>
              </a:rPr>
              <a:t>Stability</a:t>
            </a:r>
            <a:r>
              <a:rPr dirty="0" sz="1950" spc="-1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95">
                <a:solidFill>
                  <a:srgbClr val="4A5462"/>
                </a:solidFill>
                <a:latin typeface="Arial"/>
                <a:cs typeface="Arial"/>
              </a:rPr>
              <a:t>and</a:t>
            </a:r>
            <a:r>
              <a:rPr dirty="0" sz="1950" spc="-1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90">
                <a:solidFill>
                  <a:srgbClr val="4A5462"/>
                </a:solidFill>
                <a:latin typeface="Arial"/>
                <a:cs typeface="Arial"/>
              </a:rPr>
              <a:t>Performance</a:t>
            </a:r>
            <a:r>
              <a:rPr dirty="0" sz="1950" spc="-2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80">
                <a:solidFill>
                  <a:srgbClr val="4A5462"/>
                </a:solidFill>
                <a:latin typeface="Arial"/>
                <a:cs typeface="Arial"/>
              </a:rPr>
              <a:t>through</a:t>
            </a:r>
            <a:r>
              <a:rPr dirty="0" sz="1950" spc="-1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60">
                <a:solidFill>
                  <a:srgbClr val="4A5462"/>
                </a:solidFill>
                <a:latin typeface="Arial"/>
                <a:cs typeface="Arial"/>
              </a:rPr>
              <a:t>Intelligent</a:t>
            </a:r>
            <a:r>
              <a:rPr dirty="0" sz="1950" spc="-2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75">
                <a:solidFill>
                  <a:srgbClr val="4A5462"/>
                </a:solidFill>
                <a:latin typeface="Arial"/>
                <a:cs typeface="Arial"/>
              </a:rPr>
              <a:t>Control</a:t>
            </a:r>
            <a:r>
              <a:rPr dirty="0" sz="1950" spc="-15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dirty="0" sz="1950" spc="-55">
                <a:solidFill>
                  <a:srgbClr val="4A5462"/>
                </a:solidFill>
                <a:latin typeface="Arial"/>
                <a:cs typeface="Arial"/>
              </a:rPr>
              <a:t>Strategies</a:t>
            </a:r>
            <a:endParaRPr sz="1950">
              <a:latin typeface="Arial"/>
              <a:cs typeface="Arial"/>
            </a:endParaRPr>
          </a:p>
          <a:p>
            <a:pPr marL="346075">
              <a:lnSpc>
                <a:spcPct val="100000"/>
              </a:lnSpc>
              <a:spcBef>
                <a:spcPts val="185"/>
              </a:spcBef>
            </a:pPr>
            <a:r>
              <a:rPr dirty="0" sz="1600" spc="-55">
                <a:solidFill>
                  <a:srgbClr val="374050"/>
                </a:solidFill>
                <a:latin typeface="Arial"/>
                <a:cs typeface="Arial"/>
              </a:rPr>
              <a:t>Presented</a:t>
            </a:r>
            <a:r>
              <a:rPr dirty="0" sz="1600" spc="-4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600" spc="-40">
                <a:solidFill>
                  <a:srgbClr val="374050"/>
                </a:solidFill>
                <a:latin typeface="Arial"/>
                <a:cs typeface="Arial"/>
              </a:rPr>
              <a:t>by: </a:t>
            </a:r>
            <a:r>
              <a:rPr dirty="0" sz="1600" spc="-80" b="1">
                <a:solidFill>
                  <a:srgbClr val="374050"/>
                </a:solidFill>
                <a:latin typeface="Arial"/>
                <a:cs typeface="Arial"/>
              </a:rPr>
              <a:t>[Your</a:t>
            </a:r>
            <a:r>
              <a:rPr dirty="0" sz="1600" spc="-3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374050"/>
                </a:solidFill>
                <a:latin typeface="Arial"/>
                <a:cs typeface="Arial"/>
              </a:rPr>
              <a:t>Name/Team]</a:t>
            </a:r>
            <a:endParaRPr sz="1600">
              <a:latin typeface="Arial"/>
              <a:cs typeface="Arial"/>
            </a:endParaRPr>
          </a:p>
          <a:p>
            <a:pPr marL="346075" marR="6334760" indent="12700">
              <a:lnSpc>
                <a:spcPct val="171900"/>
              </a:lnSpc>
            </a:pPr>
            <a:r>
              <a:rPr dirty="0" sz="1600" spc="-45">
                <a:solidFill>
                  <a:srgbClr val="374050"/>
                </a:solidFill>
                <a:latin typeface="Arial"/>
                <a:cs typeface="Arial"/>
              </a:rPr>
              <a:t>Affiliation:</a:t>
            </a:r>
            <a:r>
              <a:rPr dirty="0" sz="1600" spc="-1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600" spc="-80" b="1">
                <a:solidFill>
                  <a:srgbClr val="374050"/>
                </a:solidFill>
                <a:latin typeface="Arial"/>
                <a:cs typeface="Arial"/>
              </a:rPr>
              <a:t>[Your</a:t>
            </a:r>
            <a:r>
              <a:rPr dirty="0" sz="1600" spc="-1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374050"/>
                </a:solidFill>
                <a:latin typeface="Arial"/>
                <a:cs typeface="Arial"/>
              </a:rPr>
              <a:t>Institution] </a:t>
            </a:r>
            <a:r>
              <a:rPr dirty="0" sz="1600" spc="-45">
                <a:solidFill>
                  <a:srgbClr val="374050"/>
                </a:solidFill>
                <a:latin typeface="Arial"/>
                <a:cs typeface="Arial"/>
              </a:rPr>
              <a:t>Date:</a:t>
            </a:r>
            <a:r>
              <a:rPr dirty="0" sz="1600" spc="-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374050"/>
                </a:solidFill>
                <a:latin typeface="Arial"/>
                <a:cs typeface="Arial"/>
              </a:rPr>
              <a:t>[Presentation</a:t>
            </a:r>
            <a:r>
              <a:rPr dirty="0" sz="1600" spc="-3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374050"/>
                </a:solidFill>
                <a:latin typeface="Arial"/>
                <a:cs typeface="Arial"/>
              </a:rPr>
              <a:t>Date]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670559"/>
            <a:ext cx="12192000" cy="6187440"/>
            <a:chOff x="0" y="670559"/>
            <a:chExt cx="12192000" cy="6187440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62059" y="670559"/>
              <a:ext cx="2468879" cy="246887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34499" y="4000499"/>
              <a:ext cx="2857499" cy="285749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0" y="6629399"/>
              <a:ext cx="12192000" cy="228600"/>
            </a:xfrm>
            <a:custGeom>
              <a:avLst/>
              <a:gdLst/>
              <a:ahLst/>
              <a:cxnLst/>
              <a:rect l="l" t="t" r="r" b="b"/>
              <a:pathLst>
                <a:path w="12192000" h="228600">
                  <a:moveTo>
                    <a:pt x="121919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28599"/>
                  </a:lnTo>
                  <a:close/>
                </a:path>
              </a:pathLst>
            </a:custGeom>
            <a:solidFill>
              <a:srgbClr val="1D40A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534649" y="6343649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48949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0826153" y="6407153"/>
            <a:ext cx="107378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4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 with</a:t>
            </a:r>
            <a:r>
              <a:rPr dirty="0" sz="9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Genspark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Advanced</a:t>
            </a:r>
            <a:r>
              <a:rPr dirty="0" spc="-15"/>
              <a:t> </a:t>
            </a:r>
            <a:r>
              <a:rPr dirty="0" spc="-140"/>
              <a:t>FACTS</a:t>
            </a:r>
            <a:r>
              <a:rPr dirty="0" spc="-15"/>
              <a:t> </a:t>
            </a:r>
            <a:r>
              <a:rPr dirty="0" spc="-90"/>
              <a:t>Control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20"/>
              <a:t> </a:t>
            </a:r>
            <a:r>
              <a:rPr dirty="0" spc="-95"/>
              <a:t>Reinforcement</a:t>
            </a:r>
            <a:r>
              <a:rPr dirty="0" spc="-15"/>
              <a:t> </a:t>
            </a:r>
            <a:r>
              <a:rPr dirty="0" spc="-35"/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063636"/>
            <a:ext cx="1283335" cy="4711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00" spc="-125" b="1">
                <a:solidFill>
                  <a:srgbClr val="1D40AF"/>
                </a:solidFill>
                <a:latin typeface="Arial"/>
                <a:cs typeface="Arial"/>
              </a:rPr>
              <a:t>Agenda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71499" y="0"/>
            <a:ext cx="11620500" cy="2857500"/>
            <a:chOff x="571499" y="0"/>
            <a:chExt cx="11620500" cy="28575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499" y="0"/>
              <a:ext cx="2857499" cy="28574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499" y="2105024"/>
              <a:ext cx="76200" cy="761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499" y="2628899"/>
              <a:ext cx="76200" cy="761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8" y="2124074"/>
              <a:ext cx="76200" cy="761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8" y="2647949"/>
              <a:ext cx="76200" cy="7619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01674" y="1970094"/>
            <a:ext cx="4929505" cy="2393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Introduction</a:t>
            </a:r>
            <a:r>
              <a:rPr dirty="0" sz="1750" spc="-8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&amp;</a:t>
            </a:r>
            <a:r>
              <a:rPr dirty="0" sz="1750" spc="-7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Motivation</a:t>
            </a:r>
            <a:endParaRPr sz="1750">
              <a:latin typeface="Arial"/>
              <a:cs typeface="Arial"/>
            </a:endParaRPr>
          </a:p>
          <a:p>
            <a:pPr marL="12700" marR="307975">
              <a:lnSpc>
                <a:spcPct val="196400"/>
              </a:lnSpc>
            </a:pP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Background: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95">
                <a:solidFill>
                  <a:srgbClr val="2D3748"/>
                </a:solidFill>
                <a:latin typeface="Arial"/>
                <a:cs typeface="Arial"/>
              </a:rPr>
              <a:t>FACTS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Modern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Power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Systems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Challenges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in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Conventional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Control</a:t>
            </a: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96400"/>
              </a:lnSpc>
            </a:pP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Proposed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RL-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based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Coordinated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Control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Framework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System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Model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&amp;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Simulation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Setup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9" y="3152774"/>
            <a:ext cx="76200" cy="761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9" y="3676649"/>
            <a:ext cx="76200" cy="761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9" y="4200524"/>
            <a:ext cx="76200" cy="761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607175" y="1989144"/>
            <a:ext cx="3880485" cy="13455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Key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Results: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Performance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&amp;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Optimization</a:t>
            </a:r>
            <a:endParaRPr sz="1750">
              <a:latin typeface="Arial"/>
              <a:cs typeface="Arial"/>
            </a:endParaRPr>
          </a:p>
          <a:p>
            <a:pPr marL="12700" marR="516890">
              <a:lnSpc>
                <a:spcPct val="196400"/>
              </a:lnSpc>
            </a:pP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Discussion:</a:t>
            </a:r>
            <a:r>
              <a:rPr dirty="0" sz="1750" spc="-2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Impact</a:t>
            </a:r>
            <a:r>
              <a:rPr dirty="0" sz="1750" spc="-1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11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Applications Challenges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&amp;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Future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Directions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6998" y="3171824"/>
            <a:ext cx="76200" cy="761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6607175" y="3560769"/>
            <a:ext cx="1167130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Conclusions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6998" y="3695699"/>
            <a:ext cx="76200" cy="7619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6607175" y="4084644"/>
            <a:ext cx="467995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Q&amp;A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6998" y="4219574"/>
            <a:ext cx="76200" cy="76199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21" name="object 21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534649" y="6343649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48949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11425">
              <a:lnSpc>
                <a:spcPts val="1145"/>
              </a:lnSpc>
            </a:pPr>
            <a:fld id="{81D60167-4931-47E6-BA6A-407CBD079E47}" type="slidenum">
              <a:rPr dirty="0"/>
              <a:t>2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  <p:sp>
        <p:nvSpPr>
          <p:cNvPr id="25" name="object 25" descr=""/>
          <p:cNvSpPr txBox="1"/>
          <p:nvPr/>
        </p:nvSpPr>
        <p:spPr>
          <a:xfrm>
            <a:off x="8727380" y="6653423"/>
            <a:ext cx="328676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Advanced</a:t>
            </a:r>
            <a:r>
              <a:rPr dirty="0" spc="-15"/>
              <a:t> </a:t>
            </a:r>
            <a:r>
              <a:rPr dirty="0" spc="-140"/>
              <a:t>FACTS</a:t>
            </a:r>
            <a:r>
              <a:rPr dirty="0" spc="-15"/>
              <a:t> </a:t>
            </a:r>
            <a:r>
              <a:rPr dirty="0" spc="-90"/>
              <a:t>Control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20"/>
              <a:t> </a:t>
            </a:r>
            <a:r>
              <a:rPr dirty="0" spc="-95"/>
              <a:t>Reinforcement</a:t>
            </a:r>
            <a:r>
              <a:rPr dirty="0" spc="-15"/>
              <a:t> </a:t>
            </a:r>
            <a:r>
              <a:rPr dirty="0" spc="-35"/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063636"/>
            <a:ext cx="4178300" cy="4711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00" spc="-95" b="1">
                <a:solidFill>
                  <a:srgbClr val="1D40AF"/>
                </a:solidFill>
                <a:latin typeface="Arial"/>
                <a:cs typeface="Arial"/>
              </a:rPr>
              <a:t>Introduction</a:t>
            </a:r>
            <a:r>
              <a:rPr dirty="0" sz="2900" spc="-10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50" b="1">
                <a:solidFill>
                  <a:srgbClr val="1D40AF"/>
                </a:solidFill>
                <a:latin typeface="Arial"/>
                <a:cs typeface="Arial"/>
              </a:rPr>
              <a:t>&amp;</a:t>
            </a:r>
            <a:r>
              <a:rPr dirty="0" sz="2900" spc="-6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95" b="1">
                <a:solidFill>
                  <a:srgbClr val="1D40AF"/>
                </a:solidFill>
                <a:latin typeface="Arial"/>
                <a:cs typeface="Arial"/>
              </a:rPr>
              <a:t>Motivation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943100"/>
            <a:ext cx="157162" cy="20955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87412" y="1851976"/>
            <a:ext cx="5547360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100" b="1">
                <a:solidFill>
                  <a:srgbClr val="2D3748"/>
                </a:solidFill>
                <a:latin typeface="Arial"/>
                <a:cs typeface="Arial"/>
              </a:rPr>
              <a:t>FACTS</a:t>
            </a:r>
            <a:r>
              <a:rPr dirty="0" sz="1750" spc="-2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devices 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are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essential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2D3748"/>
                </a:solidFill>
                <a:latin typeface="Arial"/>
                <a:cs typeface="Arial"/>
              </a:rPr>
              <a:t>for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modern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power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systems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-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enabling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dynamic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control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of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voltage,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impedance,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phase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angle.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067049"/>
            <a:ext cx="209550" cy="20955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39800" y="2975926"/>
            <a:ext cx="535940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Growing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need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35" b="1">
                <a:solidFill>
                  <a:srgbClr val="2D3748"/>
                </a:solidFill>
                <a:latin typeface="Arial"/>
                <a:cs typeface="Arial"/>
              </a:rPr>
              <a:t>for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70" b="1">
                <a:solidFill>
                  <a:srgbClr val="2D3748"/>
                </a:solidFill>
                <a:latin typeface="Arial"/>
                <a:cs typeface="Arial"/>
              </a:rPr>
              <a:t>smarter,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adaptive,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robust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control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strategies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beyond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conventional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2D3748"/>
                </a:solidFill>
                <a:latin typeface="Arial"/>
                <a:cs typeface="Arial"/>
              </a:rPr>
              <a:t>PI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controllers.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3918346"/>
            <a:ext cx="209550" cy="18335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39800" y="3814126"/>
            <a:ext cx="585025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Increasing</a:t>
            </a:r>
            <a:r>
              <a:rPr dirty="0" sz="1750" spc="-7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complexity</a:t>
            </a:r>
            <a:r>
              <a:rPr dirty="0" sz="1750" spc="-6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due</a:t>
            </a:r>
            <a:r>
              <a:rPr dirty="0" sz="1750" spc="-7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to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high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penetration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of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renewables, dynamic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loads,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system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uncertainties.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171" y="4743449"/>
            <a:ext cx="208207" cy="20828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39800" y="4675194"/>
            <a:ext cx="5068570" cy="5835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85"/>
              </a:spcBef>
            </a:pP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Motivation:</a:t>
            </a:r>
            <a:r>
              <a:rPr dirty="0" sz="1750" spc="-10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Achieve</a:t>
            </a:r>
            <a:r>
              <a:rPr dirty="0" sz="1750" spc="-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multi-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objective</a:t>
            </a:r>
            <a:r>
              <a:rPr dirty="0" sz="1750" spc="-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optimization</a:t>
            </a:r>
            <a:r>
              <a:rPr dirty="0" sz="1750" spc="-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using reinforcement</a:t>
            </a:r>
            <a:r>
              <a:rPr dirty="0" sz="1750" spc="-7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learning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2D3748"/>
                </a:solidFill>
                <a:latin typeface="Arial"/>
                <a:cs typeface="Arial"/>
              </a:rPr>
              <a:t>for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coordinated </a:t>
            </a:r>
            <a:r>
              <a:rPr dirty="0" sz="1750" spc="-95">
                <a:solidFill>
                  <a:srgbClr val="2D3748"/>
                </a:solidFill>
                <a:latin typeface="Arial"/>
                <a:cs typeface="Arial"/>
              </a:rPr>
              <a:t>FACTS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2D3748"/>
                </a:solidFill>
                <a:latin typeface="Arial"/>
                <a:cs typeface="Arial"/>
              </a:rPr>
              <a:t>control.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8231497" y="1811647"/>
            <a:ext cx="2735580" cy="2735580"/>
            <a:chOff x="8231497" y="1811647"/>
            <a:chExt cx="2735580" cy="2735580"/>
          </a:xfrm>
        </p:grpSpPr>
        <p:sp>
          <p:nvSpPr>
            <p:cNvPr id="13" name="object 13" descr=""/>
            <p:cNvSpPr/>
            <p:nvPr/>
          </p:nvSpPr>
          <p:spPr>
            <a:xfrm>
              <a:off x="8236260" y="1816410"/>
              <a:ext cx="2726055" cy="2726055"/>
            </a:xfrm>
            <a:custGeom>
              <a:avLst/>
              <a:gdLst/>
              <a:ahLst/>
              <a:cxnLst/>
              <a:rect l="l" t="t" r="r" b="b"/>
              <a:pathLst>
                <a:path w="2726054" h="2726054">
                  <a:moveTo>
                    <a:pt x="0" y="0"/>
                  </a:moveTo>
                  <a:lnTo>
                    <a:pt x="2726010" y="0"/>
                  </a:lnTo>
                </a:path>
                <a:path w="2726054" h="2726054">
                  <a:moveTo>
                    <a:pt x="0" y="454335"/>
                  </a:moveTo>
                  <a:lnTo>
                    <a:pt x="2726010" y="454335"/>
                  </a:lnTo>
                </a:path>
                <a:path w="2726054" h="2726054">
                  <a:moveTo>
                    <a:pt x="0" y="908670"/>
                  </a:moveTo>
                  <a:lnTo>
                    <a:pt x="2726010" y="908670"/>
                  </a:lnTo>
                </a:path>
                <a:path w="2726054" h="2726054">
                  <a:moveTo>
                    <a:pt x="0" y="1363005"/>
                  </a:moveTo>
                  <a:lnTo>
                    <a:pt x="2726010" y="1363005"/>
                  </a:lnTo>
                </a:path>
                <a:path w="2726054" h="2726054">
                  <a:moveTo>
                    <a:pt x="0" y="1817340"/>
                  </a:moveTo>
                  <a:lnTo>
                    <a:pt x="2726010" y="1817340"/>
                  </a:lnTo>
                </a:path>
                <a:path w="2726054" h="2726054">
                  <a:moveTo>
                    <a:pt x="0" y="2271675"/>
                  </a:moveTo>
                  <a:lnTo>
                    <a:pt x="2726010" y="2271675"/>
                  </a:lnTo>
                </a:path>
                <a:path w="2726054" h="2726054">
                  <a:moveTo>
                    <a:pt x="0" y="2726010"/>
                  </a:moveTo>
                  <a:lnTo>
                    <a:pt x="2726010" y="2726010"/>
                  </a:lnTo>
                </a:path>
                <a:path w="2726054" h="2726054">
                  <a:moveTo>
                    <a:pt x="0" y="0"/>
                  </a:moveTo>
                  <a:lnTo>
                    <a:pt x="0" y="2726010"/>
                  </a:lnTo>
                </a:path>
                <a:path w="2726054" h="2726054">
                  <a:moveTo>
                    <a:pt x="454335" y="0"/>
                  </a:moveTo>
                  <a:lnTo>
                    <a:pt x="454335" y="2726010"/>
                  </a:lnTo>
                </a:path>
                <a:path w="2726054" h="2726054">
                  <a:moveTo>
                    <a:pt x="908670" y="0"/>
                  </a:moveTo>
                  <a:lnTo>
                    <a:pt x="908670" y="2726010"/>
                  </a:lnTo>
                </a:path>
                <a:path w="2726054" h="2726054">
                  <a:moveTo>
                    <a:pt x="1363005" y="0"/>
                  </a:moveTo>
                  <a:lnTo>
                    <a:pt x="1363005" y="2726010"/>
                  </a:lnTo>
                </a:path>
                <a:path w="2726054" h="2726054">
                  <a:moveTo>
                    <a:pt x="1817340" y="0"/>
                  </a:moveTo>
                  <a:lnTo>
                    <a:pt x="1817340" y="2726010"/>
                  </a:lnTo>
                </a:path>
              </a:pathLst>
            </a:custGeom>
            <a:ln w="9086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507935" y="1816410"/>
              <a:ext cx="0" cy="2726055"/>
            </a:xfrm>
            <a:custGeom>
              <a:avLst/>
              <a:gdLst/>
              <a:ahLst/>
              <a:cxnLst/>
              <a:rect l="l" t="t" r="r" b="b"/>
              <a:pathLst>
                <a:path w="0" h="2726054">
                  <a:moveTo>
                    <a:pt x="0" y="363468"/>
                  </a:moveTo>
                  <a:lnTo>
                    <a:pt x="0" y="2726010"/>
                  </a:lnTo>
                </a:path>
                <a:path w="0" h="2726054">
                  <a:moveTo>
                    <a:pt x="0" y="0"/>
                  </a:moveTo>
                  <a:lnTo>
                    <a:pt x="0" y="181734"/>
                  </a:lnTo>
                </a:path>
              </a:pathLst>
            </a:custGeom>
            <a:ln w="9086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962270" y="1816410"/>
              <a:ext cx="0" cy="2726055"/>
            </a:xfrm>
            <a:custGeom>
              <a:avLst/>
              <a:gdLst/>
              <a:ahLst/>
              <a:cxnLst/>
              <a:rect l="l" t="t" r="r" b="b"/>
              <a:pathLst>
                <a:path w="0" h="2726054">
                  <a:moveTo>
                    <a:pt x="0" y="0"/>
                  </a:moveTo>
                  <a:lnTo>
                    <a:pt x="0" y="2726010"/>
                  </a:lnTo>
                </a:path>
              </a:pathLst>
            </a:custGeom>
            <a:ln w="9086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690595" y="2270745"/>
              <a:ext cx="1817370" cy="1817370"/>
            </a:xfrm>
            <a:custGeom>
              <a:avLst/>
              <a:gdLst/>
              <a:ahLst/>
              <a:cxnLst/>
              <a:rect l="l" t="t" r="r" b="b"/>
              <a:pathLst>
                <a:path w="1817370" h="1817370">
                  <a:moveTo>
                    <a:pt x="0" y="0"/>
                  </a:moveTo>
                  <a:lnTo>
                    <a:pt x="1817340" y="0"/>
                  </a:lnTo>
                </a:path>
                <a:path w="1817370" h="1817370">
                  <a:moveTo>
                    <a:pt x="0" y="908670"/>
                  </a:moveTo>
                  <a:lnTo>
                    <a:pt x="1817340" y="908670"/>
                  </a:lnTo>
                </a:path>
                <a:path w="1817370" h="1817370">
                  <a:moveTo>
                    <a:pt x="0" y="1817340"/>
                  </a:moveTo>
                  <a:lnTo>
                    <a:pt x="1817340" y="1817340"/>
                  </a:lnTo>
                </a:path>
                <a:path w="1817370" h="1817370">
                  <a:moveTo>
                    <a:pt x="0" y="0"/>
                  </a:moveTo>
                  <a:lnTo>
                    <a:pt x="0" y="1817340"/>
                  </a:lnTo>
                </a:path>
                <a:path w="1817370" h="1817370">
                  <a:moveTo>
                    <a:pt x="908670" y="0"/>
                  </a:moveTo>
                  <a:lnTo>
                    <a:pt x="908670" y="1817340"/>
                  </a:lnTo>
                </a:path>
                <a:path w="1817370" h="1817370">
                  <a:moveTo>
                    <a:pt x="1817340" y="0"/>
                  </a:moveTo>
                  <a:lnTo>
                    <a:pt x="1817340" y="1817340"/>
                  </a:lnTo>
                </a:path>
              </a:pathLst>
            </a:custGeom>
            <a:ln w="36346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17901" y="2198051"/>
              <a:ext cx="145387" cy="14538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17901" y="3106721"/>
              <a:ext cx="145387" cy="14538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17901" y="4015391"/>
              <a:ext cx="145387" cy="14538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26571" y="2198051"/>
              <a:ext cx="145387" cy="14538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26571" y="3106721"/>
              <a:ext cx="145387" cy="14538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26571" y="4015391"/>
              <a:ext cx="145387" cy="14538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35241" y="2198051"/>
              <a:ext cx="145387" cy="145387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35241" y="3106721"/>
              <a:ext cx="145387" cy="14538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35241" y="4015391"/>
              <a:ext cx="145387" cy="145387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462964" y="304311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233192" y="272600"/>
                  </a:moveTo>
                  <a:lnTo>
                    <a:pt x="39408" y="272600"/>
                  </a:lnTo>
                  <a:lnTo>
                    <a:pt x="33613" y="271448"/>
                  </a:lnTo>
                  <a:lnTo>
                    <a:pt x="1152" y="238987"/>
                  </a:lnTo>
                  <a:lnTo>
                    <a:pt x="0" y="233192"/>
                  </a:lnTo>
                  <a:lnTo>
                    <a:pt x="0" y="39408"/>
                  </a:lnTo>
                  <a:lnTo>
                    <a:pt x="22480" y="5764"/>
                  </a:lnTo>
                  <a:lnTo>
                    <a:pt x="39408" y="0"/>
                  </a:lnTo>
                  <a:lnTo>
                    <a:pt x="45433" y="0"/>
                  </a:lnTo>
                  <a:lnTo>
                    <a:pt x="233192" y="0"/>
                  </a:lnTo>
                  <a:lnTo>
                    <a:pt x="266836" y="22480"/>
                  </a:lnTo>
                  <a:lnTo>
                    <a:pt x="272601" y="39408"/>
                  </a:lnTo>
                  <a:lnTo>
                    <a:pt x="272601" y="233192"/>
                  </a:lnTo>
                  <a:lnTo>
                    <a:pt x="250120" y="266836"/>
                  </a:lnTo>
                  <a:lnTo>
                    <a:pt x="238987" y="271448"/>
                  </a:lnTo>
                  <a:lnTo>
                    <a:pt x="233192" y="272600"/>
                  </a:lnTo>
                  <a:close/>
                </a:path>
              </a:pathLst>
            </a:custGeom>
            <a:solidFill>
              <a:srgbClr val="E4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462964" y="304311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45433" y="0"/>
                  </a:moveTo>
                  <a:lnTo>
                    <a:pt x="227167" y="0"/>
                  </a:lnTo>
                  <a:lnTo>
                    <a:pt x="233192" y="0"/>
                  </a:lnTo>
                  <a:lnTo>
                    <a:pt x="238987" y="1152"/>
                  </a:lnTo>
                  <a:lnTo>
                    <a:pt x="244554" y="3458"/>
                  </a:lnTo>
                  <a:lnTo>
                    <a:pt x="250120" y="5764"/>
                  </a:lnTo>
                  <a:lnTo>
                    <a:pt x="255033" y="9046"/>
                  </a:lnTo>
                  <a:lnTo>
                    <a:pt x="259293" y="13307"/>
                  </a:lnTo>
                  <a:lnTo>
                    <a:pt x="263554" y="17567"/>
                  </a:lnTo>
                  <a:lnTo>
                    <a:pt x="266836" y="22480"/>
                  </a:lnTo>
                  <a:lnTo>
                    <a:pt x="269142" y="28046"/>
                  </a:lnTo>
                  <a:lnTo>
                    <a:pt x="271448" y="33612"/>
                  </a:lnTo>
                  <a:lnTo>
                    <a:pt x="272601" y="39408"/>
                  </a:lnTo>
                  <a:lnTo>
                    <a:pt x="272601" y="45433"/>
                  </a:lnTo>
                  <a:lnTo>
                    <a:pt x="272601" y="227167"/>
                  </a:lnTo>
                  <a:lnTo>
                    <a:pt x="272601" y="233192"/>
                  </a:lnTo>
                  <a:lnTo>
                    <a:pt x="271448" y="238987"/>
                  </a:lnTo>
                  <a:lnTo>
                    <a:pt x="269142" y="244553"/>
                  </a:lnTo>
                  <a:lnTo>
                    <a:pt x="266836" y="250120"/>
                  </a:lnTo>
                  <a:lnTo>
                    <a:pt x="244554" y="269142"/>
                  </a:lnTo>
                  <a:lnTo>
                    <a:pt x="238987" y="271448"/>
                  </a:lnTo>
                  <a:lnTo>
                    <a:pt x="233192" y="272600"/>
                  </a:lnTo>
                  <a:lnTo>
                    <a:pt x="227167" y="272601"/>
                  </a:lnTo>
                  <a:lnTo>
                    <a:pt x="45433" y="272601"/>
                  </a:lnTo>
                  <a:lnTo>
                    <a:pt x="39408" y="272600"/>
                  </a:lnTo>
                  <a:lnTo>
                    <a:pt x="33613" y="271448"/>
                  </a:lnTo>
                  <a:lnTo>
                    <a:pt x="28046" y="269142"/>
                  </a:lnTo>
                  <a:lnTo>
                    <a:pt x="22480" y="266836"/>
                  </a:lnTo>
                  <a:lnTo>
                    <a:pt x="17567" y="263553"/>
                  </a:lnTo>
                  <a:lnTo>
                    <a:pt x="13307" y="259293"/>
                  </a:lnTo>
                  <a:lnTo>
                    <a:pt x="9046" y="255033"/>
                  </a:lnTo>
                  <a:lnTo>
                    <a:pt x="5764" y="250120"/>
                  </a:lnTo>
                  <a:lnTo>
                    <a:pt x="3458" y="244553"/>
                  </a:lnTo>
                  <a:lnTo>
                    <a:pt x="1152" y="238987"/>
                  </a:lnTo>
                  <a:lnTo>
                    <a:pt x="0" y="233192"/>
                  </a:lnTo>
                  <a:lnTo>
                    <a:pt x="0" y="227167"/>
                  </a:lnTo>
                  <a:lnTo>
                    <a:pt x="0" y="45433"/>
                  </a:lnTo>
                  <a:lnTo>
                    <a:pt x="0" y="39408"/>
                  </a:lnTo>
                  <a:lnTo>
                    <a:pt x="1152" y="33612"/>
                  </a:lnTo>
                  <a:lnTo>
                    <a:pt x="3458" y="28046"/>
                  </a:lnTo>
                  <a:lnTo>
                    <a:pt x="5764" y="22480"/>
                  </a:lnTo>
                  <a:lnTo>
                    <a:pt x="9046" y="17567"/>
                  </a:lnTo>
                  <a:lnTo>
                    <a:pt x="13307" y="13307"/>
                  </a:lnTo>
                  <a:lnTo>
                    <a:pt x="17567" y="9046"/>
                  </a:lnTo>
                  <a:lnTo>
                    <a:pt x="22480" y="5764"/>
                  </a:lnTo>
                  <a:lnTo>
                    <a:pt x="28046" y="3458"/>
                  </a:lnTo>
                  <a:lnTo>
                    <a:pt x="33613" y="1152"/>
                  </a:lnTo>
                  <a:lnTo>
                    <a:pt x="39408" y="0"/>
                  </a:lnTo>
                  <a:lnTo>
                    <a:pt x="45433" y="0"/>
                  </a:lnTo>
                  <a:close/>
                </a:path>
              </a:pathLst>
            </a:custGeom>
            <a:ln w="18173">
              <a:solidFill>
                <a:srgbClr val="73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9511853" y="3100300"/>
            <a:ext cx="175260" cy="137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495" b="1">
                <a:solidFill>
                  <a:srgbClr val="732929"/>
                </a:solidFill>
                <a:latin typeface="Arial"/>
                <a:cs typeface="Arial"/>
              </a:rPr>
              <a:t>S</a:t>
            </a:r>
            <a:r>
              <a:rPr dirty="0" sz="600" spc="-35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700" spc="-495" b="1">
                <a:solidFill>
                  <a:srgbClr val="732929"/>
                </a:solidFill>
                <a:latin typeface="Arial"/>
                <a:cs typeface="Arial"/>
              </a:rPr>
              <a:t>V</a:t>
            </a:r>
            <a:r>
              <a:rPr dirty="0" sz="600" spc="-35" b="1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700" spc="-540" b="1">
                <a:solidFill>
                  <a:srgbClr val="732929"/>
                </a:solidFill>
                <a:latin typeface="Arial"/>
                <a:cs typeface="Arial"/>
              </a:rPr>
              <a:t>C</a:t>
            </a:r>
            <a:r>
              <a:rPr dirty="0" sz="600" spc="-25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0362426" y="3942577"/>
            <a:ext cx="291465" cy="291465"/>
            <a:chOff x="10362426" y="3942577"/>
            <a:chExt cx="291465" cy="291465"/>
          </a:xfrm>
        </p:grpSpPr>
        <p:sp>
          <p:nvSpPr>
            <p:cNvPr id="30" name="object 30" descr=""/>
            <p:cNvSpPr/>
            <p:nvPr/>
          </p:nvSpPr>
          <p:spPr>
            <a:xfrm>
              <a:off x="10371633" y="395178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233192" y="272601"/>
                  </a:moveTo>
                  <a:lnTo>
                    <a:pt x="39408" y="272601"/>
                  </a:lnTo>
                  <a:lnTo>
                    <a:pt x="33613" y="271448"/>
                  </a:lnTo>
                  <a:lnTo>
                    <a:pt x="1152" y="238987"/>
                  </a:lnTo>
                  <a:lnTo>
                    <a:pt x="0" y="233191"/>
                  </a:lnTo>
                  <a:lnTo>
                    <a:pt x="0" y="39408"/>
                  </a:lnTo>
                  <a:lnTo>
                    <a:pt x="22480" y="5763"/>
                  </a:lnTo>
                  <a:lnTo>
                    <a:pt x="39408" y="0"/>
                  </a:lnTo>
                  <a:lnTo>
                    <a:pt x="45433" y="0"/>
                  </a:lnTo>
                  <a:lnTo>
                    <a:pt x="233192" y="0"/>
                  </a:lnTo>
                  <a:lnTo>
                    <a:pt x="266836" y="22480"/>
                  </a:lnTo>
                  <a:lnTo>
                    <a:pt x="272601" y="39408"/>
                  </a:lnTo>
                  <a:lnTo>
                    <a:pt x="272601" y="233191"/>
                  </a:lnTo>
                  <a:lnTo>
                    <a:pt x="250120" y="266836"/>
                  </a:lnTo>
                  <a:lnTo>
                    <a:pt x="238987" y="271448"/>
                  </a:lnTo>
                  <a:lnTo>
                    <a:pt x="233192" y="272601"/>
                  </a:lnTo>
                  <a:close/>
                </a:path>
              </a:pathLst>
            </a:custGeom>
            <a:solidFill>
              <a:srgbClr val="E4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371633" y="395178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45433" y="0"/>
                  </a:moveTo>
                  <a:lnTo>
                    <a:pt x="227167" y="0"/>
                  </a:lnTo>
                  <a:lnTo>
                    <a:pt x="233192" y="0"/>
                  </a:lnTo>
                  <a:lnTo>
                    <a:pt x="238987" y="1152"/>
                  </a:lnTo>
                  <a:lnTo>
                    <a:pt x="269142" y="28046"/>
                  </a:lnTo>
                  <a:lnTo>
                    <a:pt x="271448" y="33613"/>
                  </a:lnTo>
                  <a:lnTo>
                    <a:pt x="272601" y="39408"/>
                  </a:lnTo>
                  <a:lnTo>
                    <a:pt x="272601" y="45433"/>
                  </a:lnTo>
                  <a:lnTo>
                    <a:pt x="272601" y="227167"/>
                  </a:lnTo>
                  <a:lnTo>
                    <a:pt x="272601" y="233191"/>
                  </a:lnTo>
                  <a:lnTo>
                    <a:pt x="271448" y="238987"/>
                  </a:lnTo>
                  <a:lnTo>
                    <a:pt x="269142" y="244553"/>
                  </a:lnTo>
                  <a:lnTo>
                    <a:pt x="266836" y="250119"/>
                  </a:lnTo>
                  <a:lnTo>
                    <a:pt x="244554" y="269142"/>
                  </a:lnTo>
                  <a:lnTo>
                    <a:pt x="238987" y="271448"/>
                  </a:lnTo>
                  <a:lnTo>
                    <a:pt x="233192" y="272601"/>
                  </a:lnTo>
                  <a:lnTo>
                    <a:pt x="227167" y="272601"/>
                  </a:lnTo>
                  <a:lnTo>
                    <a:pt x="45433" y="272601"/>
                  </a:lnTo>
                  <a:lnTo>
                    <a:pt x="39408" y="272601"/>
                  </a:lnTo>
                  <a:lnTo>
                    <a:pt x="33613" y="271448"/>
                  </a:lnTo>
                  <a:lnTo>
                    <a:pt x="28047" y="269142"/>
                  </a:lnTo>
                  <a:lnTo>
                    <a:pt x="22480" y="266836"/>
                  </a:lnTo>
                  <a:lnTo>
                    <a:pt x="3458" y="244553"/>
                  </a:lnTo>
                  <a:lnTo>
                    <a:pt x="1152" y="238987"/>
                  </a:lnTo>
                  <a:lnTo>
                    <a:pt x="0" y="233191"/>
                  </a:lnTo>
                  <a:lnTo>
                    <a:pt x="0" y="227167"/>
                  </a:lnTo>
                  <a:lnTo>
                    <a:pt x="0" y="45433"/>
                  </a:lnTo>
                  <a:lnTo>
                    <a:pt x="0" y="39408"/>
                  </a:lnTo>
                  <a:lnTo>
                    <a:pt x="1152" y="33613"/>
                  </a:lnTo>
                  <a:lnTo>
                    <a:pt x="3458" y="28046"/>
                  </a:lnTo>
                  <a:lnTo>
                    <a:pt x="5764" y="22480"/>
                  </a:lnTo>
                  <a:lnTo>
                    <a:pt x="9047" y="17567"/>
                  </a:lnTo>
                  <a:lnTo>
                    <a:pt x="13307" y="13307"/>
                  </a:lnTo>
                  <a:lnTo>
                    <a:pt x="17567" y="9046"/>
                  </a:lnTo>
                  <a:lnTo>
                    <a:pt x="22480" y="5763"/>
                  </a:lnTo>
                  <a:lnTo>
                    <a:pt x="28047" y="3458"/>
                  </a:lnTo>
                  <a:lnTo>
                    <a:pt x="33613" y="1152"/>
                  </a:lnTo>
                  <a:lnTo>
                    <a:pt x="39408" y="0"/>
                  </a:lnTo>
                  <a:lnTo>
                    <a:pt x="45433" y="0"/>
                  </a:lnTo>
                  <a:close/>
                </a:path>
              </a:pathLst>
            </a:custGeom>
            <a:ln w="18173">
              <a:solidFill>
                <a:srgbClr val="73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10405715" y="4023816"/>
            <a:ext cx="20447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35" b="1">
                <a:solidFill>
                  <a:srgbClr val="FFFFFF"/>
                </a:solidFill>
                <a:latin typeface="Arial"/>
                <a:cs typeface="Arial"/>
              </a:rPr>
              <a:t>STAT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405715" y="4008895"/>
            <a:ext cx="204470" cy="137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95" b="1">
                <a:solidFill>
                  <a:srgbClr val="732929"/>
                </a:solidFill>
                <a:latin typeface="Arial"/>
                <a:cs typeface="Arial"/>
              </a:rPr>
              <a:t>STAT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9453756" y="2125236"/>
            <a:ext cx="291465" cy="291465"/>
            <a:chOff x="9453756" y="2125236"/>
            <a:chExt cx="291465" cy="291465"/>
          </a:xfrm>
        </p:grpSpPr>
        <p:sp>
          <p:nvSpPr>
            <p:cNvPr id="35" name="object 35" descr=""/>
            <p:cNvSpPr/>
            <p:nvPr/>
          </p:nvSpPr>
          <p:spPr>
            <a:xfrm>
              <a:off x="9462963" y="213444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233192" y="272600"/>
                  </a:moveTo>
                  <a:lnTo>
                    <a:pt x="39408" y="272600"/>
                  </a:lnTo>
                  <a:lnTo>
                    <a:pt x="33613" y="271448"/>
                  </a:lnTo>
                  <a:lnTo>
                    <a:pt x="1152" y="238987"/>
                  </a:lnTo>
                  <a:lnTo>
                    <a:pt x="0" y="233192"/>
                  </a:lnTo>
                  <a:lnTo>
                    <a:pt x="0" y="39408"/>
                  </a:lnTo>
                  <a:lnTo>
                    <a:pt x="22480" y="5763"/>
                  </a:lnTo>
                  <a:lnTo>
                    <a:pt x="39408" y="0"/>
                  </a:lnTo>
                  <a:lnTo>
                    <a:pt x="45433" y="0"/>
                  </a:lnTo>
                  <a:lnTo>
                    <a:pt x="233192" y="0"/>
                  </a:lnTo>
                  <a:lnTo>
                    <a:pt x="266836" y="22480"/>
                  </a:lnTo>
                  <a:lnTo>
                    <a:pt x="272601" y="39408"/>
                  </a:lnTo>
                  <a:lnTo>
                    <a:pt x="272601" y="233192"/>
                  </a:lnTo>
                  <a:lnTo>
                    <a:pt x="250120" y="266836"/>
                  </a:lnTo>
                  <a:lnTo>
                    <a:pt x="238987" y="271448"/>
                  </a:lnTo>
                  <a:lnTo>
                    <a:pt x="233192" y="272600"/>
                  </a:lnTo>
                  <a:close/>
                </a:path>
              </a:pathLst>
            </a:custGeom>
            <a:solidFill>
              <a:srgbClr val="E4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462963" y="213444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45433" y="0"/>
                  </a:moveTo>
                  <a:lnTo>
                    <a:pt x="227167" y="0"/>
                  </a:lnTo>
                  <a:lnTo>
                    <a:pt x="233192" y="0"/>
                  </a:lnTo>
                  <a:lnTo>
                    <a:pt x="238987" y="1152"/>
                  </a:lnTo>
                  <a:lnTo>
                    <a:pt x="269142" y="28046"/>
                  </a:lnTo>
                  <a:lnTo>
                    <a:pt x="271448" y="33612"/>
                  </a:lnTo>
                  <a:lnTo>
                    <a:pt x="272601" y="39408"/>
                  </a:lnTo>
                  <a:lnTo>
                    <a:pt x="272601" y="45433"/>
                  </a:lnTo>
                  <a:lnTo>
                    <a:pt x="272601" y="227167"/>
                  </a:lnTo>
                  <a:lnTo>
                    <a:pt x="272601" y="233192"/>
                  </a:lnTo>
                  <a:lnTo>
                    <a:pt x="271448" y="238987"/>
                  </a:lnTo>
                  <a:lnTo>
                    <a:pt x="269142" y="244554"/>
                  </a:lnTo>
                  <a:lnTo>
                    <a:pt x="266836" y="250120"/>
                  </a:lnTo>
                  <a:lnTo>
                    <a:pt x="233192" y="272600"/>
                  </a:lnTo>
                  <a:lnTo>
                    <a:pt x="227167" y="272601"/>
                  </a:lnTo>
                  <a:lnTo>
                    <a:pt x="45433" y="272601"/>
                  </a:lnTo>
                  <a:lnTo>
                    <a:pt x="13307" y="259293"/>
                  </a:lnTo>
                  <a:lnTo>
                    <a:pt x="9046" y="255033"/>
                  </a:lnTo>
                  <a:lnTo>
                    <a:pt x="5764" y="250120"/>
                  </a:lnTo>
                  <a:lnTo>
                    <a:pt x="3458" y="244554"/>
                  </a:lnTo>
                  <a:lnTo>
                    <a:pt x="1152" y="238987"/>
                  </a:lnTo>
                  <a:lnTo>
                    <a:pt x="0" y="233192"/>
                  </a:lnTo>
                  <a:lnTo>
                    <a:pt x="0" y="227167"/>
                  </a:lnTo>
                  <a:lnTo>
                    <a:pt x="0" y="45433"/>
                  </a:lnTo>
                  <a:lnTo>
                    <a:pt x="0" y="39408"/>
                  </a:lnTo>
                  <a:lnTo>
                    <a:pt x="1152" y="33612"/>
                  </a:lnTo>
                  <a:lnTo>
                    <a:pt x="3458" y="28046"/>
                  </a:lnTo>
                  <a:lnTo>
                    <a:pt x="5764" y="22480"/>
                  </a:lnTo>
                  <a:lnTo>
                    <a:pt x="9046" y="17567"/>
                  </a:lnTo>
                  <a:lnTo>
                    <a:pt x="13307" y="13307"/>
                  </a:lnTo>
                  <a:lnTo>
                    <a:pt x="17567" y="9046"/>
                  </a:lnTo>
                  <a:lnTo>
                    <a:pt x="22480" y="5763"/>
                  </a:lnTo>
                  <a:lnTo>
                    <a:pt x="28046" y="3458"/>
                  </a:lnTo>
                  <a:lnTo>
                    <a:pt x="33613" y="1152"/>
                  </a:lnTo>
                  <a:lnTo>
                    <a:pt x="39408" y="0"/>
                  </a:lnTo>
                  <a:lnTo>
                    <a:pt x="45433" y="0"/>
                  </a:lnTo>
                  <a:close/>
                </a:path>
              </a:pathLst>
            </a:custGeom>
            <a:ln w="18173">
              <a:solidFill>
                <a:srgbClr val="73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9487593" y="2191555"/>
            <a:ext cx="223520" cy="137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455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700" spc="-60" b="1">
                <a:solidFill>
                  <a:srgbClr val="732929"/>
                </a:solidFill>
                <a:latin typeface="Arial"/>
                <a:cs typeface="Arial"/>
              </a:rPr>
              <a:t>S</a:t>
            </a:r>
            <a:r>
              <a:rPr dirty="0" sz="600" spc="-455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700" spc="-60" b="1">
                <a:solidFill>
                  <a:srgbClr val="732929"/>
                </a:solidFill>
                <a:latin typeface="Arial"/>
                <a:cs typeface="Arial"/>
              </a:rPr>
              <a:t>S</a:t>
            </a:r>
            <a:r>
              <a:rPr dirty="0" sz="600" spc="-455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700" spc="-60" b="1">
                <a:solidFill>
                  <a:srgbClr val="732929"/>
                </a:solidFill>
                <a:latin typeface="Arial"/>
                <a:cs typeface="Arial"/>
              </a:rPr>
              <a:t>S</a:t>
            </a:r>
            <a:r>
              <a:rPr dirty="0" sz="700" spc="-565" b="1">
                <a:solidFill>
                  <a:srgbClr val="732929"/>
                </a:solidFill>
                <a:latin typeface="Arial"/>
                <a:cs typeface="Arial"/>
              </a:rPr>
              <a:t>C</a:t>
            </a:r>
            <a:r>
              <a:rPr dirty="0" sz="600" spc="-5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8545086" y="3033907"/>
            <a:ext cx="291465" cy="291465"/>
            <a:chOff x="8545086" y="3033907"/>
            <a:chExt cx="291465" cy="291465"/>
          </a:xfrm>
        </p:grpSpPr>
        <p:sp>
          <p:nvSpPr>
            <p:cNvPr id="39" name="object 39" descr=""/>
            <p:cNvSpPr/>
            <p:nvPr/>
          </p:nvSpPr>
          <p:spPr>
            <a:xfrm>
              <a:off x="8554294" y="304311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233192" y="272600"/>
                  </a:moveTo>
                  <a:lnTo>
                    <a:pt x="39408" y="272600"/>
                  </a:lnTo>
                  <a:lnTo>
                    <a:pt x="33613" y="271448"/>
                  </a:lnTo>
                  <a:lnTo>
                    <a:pt x="1152" y="238987"/>
                  </a:lnTo>
                  <a:lnTo>
                    <a:pt x="0" y="233192"/>
                  </a:lnTo>
                  <a:lnTo>
                    <a:pt x="0" y="39408"/>
                  </a:lnTo>
                  <a:lnTo>
                    <a:pt x="22480" y="5764"/>
                  </a:lnTo>
                  <a:lnTo>
                    <a:pt x="39408" y="0"/>
                  </a:lnTo>
                  <a:lnTo>
                    <a:pt x="45433" y="0"/>
                  </a:lnTo>
                  <a:lnTo>
                    <a:pt x="233192" y="0"/>
                  </a:lnTo>
                  <a:lnTo>
                    <a:pt x="266836" y="22480"/>
                  </a:lnTo>
                  <a:lnTo>
                    <a:pt x="272601" y="39408"/>
                  </a:lnTo>
                  <a:lnTo>
                    <a:pt x="272601" y="233192"/>
                  </a:lnTo>
                  <a:lnTo>
                    <a:pt x="250120" y="266836"/>
                  </a:lnTo>
                  <a:lnTo>
                    <a:pt x="238987" y="271448"/>
                  </a:lnTo>
                  <a:lnTo>
                    <a:pt x="233192" y="272600"/>
                  </a:lnTo>
                  <a:close/>
                </a:path>
              </a:pathLst>
            </a:custGeom>
            <a:solidFill>
              <a:srgbClr val="E4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554294" y="304311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45433" y="0"/>
                  </a:moveTo>
                  <a:lnTo>
                    <a:pt x="227167" y="0"/>
                  </a:lnTo>
                  <a:lnTo>
                    <a:pt x="233192" y="0"/>
                  </a:lnTo>
                  <a:lnTo>
                    <a:pt x="238987" y="1152"/>
                  </a:lnTo>
                  <a:lnTo>
                    <a:pt x="244554" y="3458"/>
                  </a:lnTo>
                  <a:lnTo>
                    <a:pt x="250120" y="5764"/>
                  </a:lnTo>
                  <a:lnTo>
                    <a:pt x="255033" y="9046"/>
                  </a:lnTo>
                  <a:lnTo>
                    <a:pt x="272601" y="45433"/>
                  </a:lnTo>
                  <a:lnTo>
                    <a:pt x="272601" y="227167"/>
                  </a:lnTo>
                  <a:lnTo>
                    <a:pt x="255033" y="263553"/>
                  </a:lnTo>
                  <a:lnTo>
                    <a:pt x="244554" y="269142"/>
                  </a:lnTo>
                  <a:lnTo>
                    <a:pt x="238987" y="271448"/>
                  </a:lnTo>
                  <a:lnTo>
                    <a:pt x="233192" y="272600"/>
                  </a:lnTo>
                  <a:lnTo>
                    <a:pt x="227167" y="272601"/>
                  </a:lnTo>
                  <a:lnTo>
                    <a:pt x="45433" y="272601"/>
                  </a:lnTo>
                  <a:lnTo>
                    <a:pt x="39408" y="272600"/>
                  </a:lnTo>
                  <a:lnTo>
                    <a:pt x="33613" y="271448"/>
                  </a:lnTo>
                  <a:lnTo>
                    <a:pt x="28046" y="269142"/>
                  </a:lnTo>
                  <a:lnTo>
                    <a:pt x="22480" y="266836"/>
                  </a:lnTo>
                  <a:lnTo>
                    <a:pt x="0" y="233192"/>
                  </a:lnTo>
                  <a:lnTo>
                    <a:pt x="0" y="227167"/>
                  </a:lnTo>
                  <a:lnTo>
                    <a:pt x="0" y="45433"/>
                  </a:lnTo>
                  <a:lnTo>
                    <a:pt x="13307" y="13307"/>
                  </a:lnTo>
                  <a:lnTo>
                    <a:pt x="17567" y="9046"/>
                  </a:lnTo>
                  <a:lnTo>
                    <a:pt x="22480" y="5764"/>
                  </a:lnTo>
                  <a:lnTo>
                    <a:pt x="28046" y="3458"/>
                  </a:lnTo>
                  <a:lnTo>
                    <a:pt x="33613" y="1152"/>
                  </a:lnTo>
                  <a:lnTo>
                    <a:pt x="39408" y="0"/>
                  </a:lnTo>
                  <a:lnTo>
                    <a:pt x="45433" y="0"/>
                  </a:lnTo>
                  <a:close/>
                </a:path>
              </a:pathLst>
            </a:custGeom>
            <a:ln w="18173">
              <a:solidFill>
                <a:srgbClr val="73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8578998" y="3100300"/>
            <a:ext cx="223520" cy="137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540" b="1">
                <a:solidFill>
                  <a:srgbClr val="732929"/>
                </a:solidFill>
                <a:latin typeface="Arial"/>
                <a:cs typeface="Arial"/>
              </a:rPr>
              <a:t>U</a:t>
            </a:r>
            <a:r>
              <a:rPr dirty="0" sz="600" spc="-35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700" spc="-495" b="1">
                <a:solidFill>
                  <a:srgbClr val="732929"/>
                </a:solidFill>
                <a:latin typeface="Arial"/>
                <a:cs typeface="Arial"/>
              </a:rPr>
              <a:t>P</a:t>
            </a:r>
            <a:r>
              <a:rPr dirty="0" sz="600" spc="-3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700" spc="-459" b="1">
                <a:solidFill>
                  <a:srgbClr val="732929"/>
                </a:solidFill>
                <a:latin typeface="Arial"/>
                <a:cs typeface="Arial"/>
              </a:rPr>
              <a:t>F</a:t>
            </a:r>
            <a:r>
              <a:rPr dirty="0" sz="600" spc="-35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700" spc="-540" b="1">
                <a:solidFill>
                  <a:srgbClr val="732929"/>
                </a:solidFill>
                <a:latin typeface="Arial"/>
                <a:cs typeface="Arial"/>
              </a:rPr>
              <a:t>C</a:t>
            </a:r>
            <a:r>
              <a:rPr dirty="0" sz="600" spc="-25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8545086" y="1443857"/>
            <a:ext cx="2104390" cy="836294"/>
            <a:chOff x="8545086" y="1443857"/>
            <a:chExt cx="2104390" cy="836294"/>
          </a:xfrm>
        </p:grpSpPr>
        <p:sp>
          <p:nvSpPr>
            <p:cNvPr id="43" name="object 43" descr=""/>
            <p:cNvSpPr/>
            <p:nvPr/>
          </p:nvSpPr>
          <p:spPr>
            <a:xfrm>
              <a:off x="8554294" y="199814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136300" y="272601"/>
                  </a:moveTo>
                  <a:lnTo>
                    <a:pt x="96734" y="266733"/>
                  </a:lnTo>
                  <a:lnTo>
                    <a:pt x="60575" y="249630"/>
                  </a:lnTo>
                  <a:lnTo>
                    <a:pt x="30937" y="222769"/>
                  </a:lnTo>
                  <a:lnTo>
                    <a:pt x="10375" y="188460"/>
                  </a:lnTo>
                  <a:lnTo>
                    <a:pt x="654" y="149660"/>
                  </a:lnTo>
                  <a:lnTo>
                    <a:pt x="0" y="136300"/>
                  </a:lnTo>
                  <a:lnTo>
                    <a:pt x="163" y="129604"/>
                  </a:lnTo>
                  <a:lnTo>
                    <a:pt x="7963" y="90389"/>
                  </a:lnTo>
                  <a:lnTo>
                    <a:pt x="26827" y="55099"/>
                  </a:lnTo>
                  <a:lnTo>
                    <a:pt x="55099" y="26826"/>
                  </a:lnTo>
                  <a:lnTo>
                    <a:pt x="90389" y="7963"/>
                  </a:lnTo>
                  <a:lnTo>
                    <a:pt x="129604" y="163"/>
                  </a:lnTo>
                  <a:lnTo>
                    <a:pt x="136300" y="0"/>
                  </a:lnTo>
                  <a:lnTo>
                    <a:pt x="142996" y="163"/>
                  </a:lnTo>
                  <a:lnTo>
                    <a:pt x="182211" y="7963"/>
                  </a:lnTo>
                  <a:lnTo>
                    <a:pt x="217501" y="26826"/>
                  </a:lnTo>
                  <a:lnTo>
                    <a:pt x="245773" y="55099"/>
                  </a:lnTo>
                  <a:lnTo>
                    <a:pt x="264636" y="90389"/>
                  </a:lnTo>
                  <a:lnTo>
                    <a:pt x="272437" y="129604"/>
                  </a:lnTo>
                  <a:lnTo>
                    <a:pt x="272601" y="136300"/>
                  </a:lnTo>
                  <a:lnTo>
                    <a:pt x="272437" y="142996"/>
                  </a:lnTo>
                  <a:lnTo>
                    <a:pt x="264636" y="182211"/>
                  </a:lnTo>
                  <a:lnTo>
                    <a:pt x="245773" y="217501"/>
                  </a:lnTo>
                  <a:lnTo>
                    <a:pt x="217501" y="245773"/>
                  </a:lnTo>
                  <a:lnTo>
                    <a:pt x="182211" y="264636"/>
                  </a:lnTo>
                  <a:lnTo>
                    <a:pt x="142996" y="272437"/>
                  </a:lnTo>
                  <a:lnTo>
                    <a:pt x="136300" y="272601"/>
                  </a:lnTo>
                  <a:close/>
                </a:path>
              </a:pathLst>
            </a:custGeom>
            <a:solidFill>
              <a:srgbClr val="A0AE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554294" y="199814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272601" y="136300"/>
                  </a:moveTo>
                  <a:lnTo>
                    <a:pt x="266733" y="175866"/>
                  </a:lnTo>
                  <a:lnTo>
                    <a:pt x="249630" y="212024"/>
                  </a:lnTo>
                  <a:lnTo>
                    <a:pt x="222769" y="241663"/>
                  </a:lnTo>
                  <a:lnTo>
                    <a:pt x="188460" y="262225"/>
                  </a:lnTo>
                  <a:lnTo>
                    <a:pt x="149660" y="271946"/>
                  </a:lnTo>
                  <a:lnTo>
                    <a:pt x="136300" y="272601"/>
                  </a:lnTo>
                  <a:lnTo>
                    <a:pt x="129604" y="272437"/>
                  </a:lnTo>
                  <a:lnTo>
                    <a:pt x="90389" y="264636"/>
                  </a:lnTo>
                  <a:lnTo>
                    <a:pt x="55099" y="245773"/>
                  </a:lnTo>
                  <a:lnTo>
                    <a:pt x="26827" y="217501"/>
                  </a:lnTo>
                  <a:lnTo>
                    <a:pt x="7963" y="182211"/>
                  </a:lnTo>
                  <a:lnTo>
                    <a:pt x="163" y="142996"/>
                  </a:lnTo>
                  <a:lnTo>
                    <a:pt x="0" y="136300"/>
                  </a:lnTo>
                  <a:lnTo>
                    <a:pt x="163" y="129604"/>
                  </a:lnTo>
                  <a:lnTo>
                    <a:pt x="7963" y="90389"/>
                  </a:lnTo>
                  <a:lnTo>
                    <a:pt x="26827" y="55099"/>
                  </a:lnTo>
                  <a:lnTo>
                    <a:pt x="55099" y="26826"/>
                  </a:lnTo>
                  <a:lnTo>
                    <a:pt x="90389" y="7963"/>
                  </a:lnTo>
                  <a:lnTo>
                    <a:pt x="129604" y="163"/>
                  </a:lnTo>
                  <a:lnTo>
                    <a:pt x="136300" y="0"/>
                  </a:lnTo>
                  <a:lnTo>
                    <a:pt x="142996" y="163"/>
                  </a:lnTo>
                  <a:lnTo>
                    <a:pt x="182211" y="7963"/>
                  </a:lnTo>
                  <a:lnTo>
                    <a:pt x="217501" y="26826"/>
                  </a:lnTo>
                  <a:lnTo>
                    <a:pt x="245773" y="55099"/>
                  </a:lnTo>
                  <a:lnTo>
                    <a:pt x="264636" y="90389"/>
                  </a:lnTo>
                  <a:lnTo>
                    <a:pt x="272437" y="129604"/>
                  </a:lnTo>
                  <a:lnTo>
                    <a:pt x="272601" y="136300"/>
                  </a:lnTo>
                  <a:close/>
                </a:path>
              </a:pathLst>
            </a:custGeom>
            <a:ln w="9086">
              <a:solidFill>
                <a:srgbClr val="2D37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554294" y="199814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136300" y="136300"/>
                  </a:moveTo>
                  <a:lnTo>
                    <a:pt x="272601" y="0"/>
                  </a:lnTo>
                </a:path>
                <a:path w="273050" h="273050">
                  <a:moveTo>
                    <a:pt x="136300" y="136300"/>
                  </a:moveTo>
                  <a:lnTo>
                    <a:pt x="0" y="0"/>
                  </a:lnTo>
                </a:path>
                <a:path w="273050" h="273050">
                  <a:moveTo>
                    <a:pt x="136300" y="136300"/>
                  </a:moveTo>
                  <a:lnTo>
                    <a:pt x="272601" y="272601"/>
                  </a:lnTo>
                </a:path>
              </a:pathLst>
            </a:custGeom>
            <a:ln w="18173">
              <a:solidFill>
                <a:srgbClr val="2D37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371634" y="1998144"/>
              <a:ext cx="273050" cy="182245"/>
            </a:xfrm>
            <a:custGeom>
              <a:avLst/>
              <a:gdLst/>
              <a:ahLst/>
              <a:cxnLst/>
              <a:rect l="l" t="t" r="r" b="b"/>
              <a:pathLst>
                <a:path w="273050" h="182244">
                  <a:moveTo>
                    <a:pt x="272601" y="181734"/>
                  </a:moveTo>
                  <a:lnTo>
                    <a:pt x="0" y="181734"/>
                  </a:lnTo>
                  <a:lnTo>
                    <a:pt x="0" y="0"/>
                  </a:lnTo>
                  <a:lnTo>
                    <a:pt x="272601" y="0"/>
                  </a:lnTo>
                  <a:lnTo>
                    <a:pt x="272601" y="181734"/>
                  </a:lnTo>
                  <a:close/>
                </a:path>
              </a:pathLst>
            </a:custGeom>
            <a:solidFill>
              <a:srgbClr val="ECC8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371634" y="1998144"/>
              <a:ext cx="273050" cy="182245"/>
            </a:xfrm>
            <a:custGeom>
              <a:avLst/>
              <a:gdLst/>
              <a:ahLst/>
              <a:cxnLst/>
              <a:rect l="l" t="t" r="r" b="b"/>
              <a:pathLst>
                <a:path w="273050" h="182244">
                  <a:moveTo>
                    <a:pt x="0" y="0"/>
                  </a:moveTo>
                  <a:lnTo>
                    <a:pt x="272601" y="0"/>
                  </a:lnTo>
                  <a:lnTo>
                    <a:pt x="272601" y="181734"/>
                  </a:lnTo>
                  <a:lnTo>
                    <a:pt x="0" y="181734"/>
                  </a:lnTo>
                  <a:lnTo>
                    <a:pt x="0" y="0"/>
                  </a:lnTo>
                  <a:close/>
                </a:path>
                <a:path w="273050" h="182244">
                  <a:moveTo>
                    <a:pt x="0" y="90867"/>
                  </a:moveTo>
                  <a:lnTo>
                    <a:pt x="272601" y="90867"/>
                  </a:lnTo>
                </a:path>
                <a:path w="273050" h="182244">
                  <a:moveTo>
                    <a:pt x="90867" y="0"/>
                  </a:moveTo>
                  <a:lnTo>
                    <a:pt x="90867" y="181734"/>
                  </a:lnTo>
                </a:path>
                <a:path w="273050" h="182244">
                  <a:moveTo>
                    <a:pt x="181734" y="0"/>
                  </a:moveTo>
                  <a:lnTo>
                    <a:pt x="181734" y="181734"/>
                  </a:lnTo>
                </a:path>
              </a:pathLst>
            </a:custGeom>
            <a:ln w="9086">
              <a:solidFill>
                <a:srgbClr val="7341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872328" y="1452941"/>
              <a:ext cx="1454150" cy="545465"/>
            </a:xfrm>
            <a:custGeom>
              <a:avLst/>
              <a:gdLst/>
              <a:ahLst/>
              <a:cxnLst/>
              <a:rect l="l" t="t" r="r" b="b"/>
              <a:pathLst>
                <a:path w="1454150" h="545464">
                  <a:moveTo>
                    <a:pt x="726936" y="545202"/>
                  </a:moveTo>
                  <a:lnTo>
                    <a:pt x="655683" y="543889"/>
                  </a:lnTo>
                  <a:lnTo>
                    <a:pt x="585117" y="539964"/>
                  </a:lnTo>
                  <a:lnTo>
                    <a:pt x="515917" y="533463"/>
                  </a:lnTo>
                  <a:lnTo>
                    <a:pt x="448749" y="524451"/>
                  </a:lnTo>
                  <a:lnTo>
                    <a:pt x="384260" y="513013"/>
                  </a:lnTo>
                  <a:lnTo>
                    <a:pt x="338031" y="502910"/>
                  </a:lnTo>
                  <a:lnTo>
                    <a:pt x="293900" y="491556"/>
                  </a:lnTo>
                  <a:lnTo>
                    <a:pt x="252116" y="479015"/>
                  </a:lnTo>
                  <a:lnTo>
                    <a:pt x="212914" y="465359"/>
                  </a:lnTo>
                  <a:lnTo>
                    <a:pt x="176496" y="450658"/>
                  </a:lnTo>
                  <a:lnTo>
                    <a:pt x="132606" y="429568"/>
                  </a:lnTo>
                  <a:lnTo>
                    <a:pt x="94440" y="406967"/>
                  </a:lnTo>
                  <a:lnTo>
                    <a:pt x="62365" y="383072"/>
                  </a:lnTo>
                  <a:lnTo>
                    <a:pt x="31301" y="351732"/>
                  </a:lnTo>
                  <a:lnTo>
                    <a:pt x="10700" y="319203"/>
                  </a:lnTo>
                  <a:lnTo>
                    <a:pt x="218" y="279293"/>
                  </a:lnTo>
                  <a:lnTo>
                    <a:pt x="0" y="272601"/>
                  </a:lnTo>
                  <a:lnTo>
                    <a:pt x="218" y="265909"/>
                  </a:lnTo>
                  <a:lnTo>
                    <a:pt x="10700" y="225998"/>
                  </a:lnTo>
                  <a:lnTo>
                    <a:pt x="31301" y="193469"/>
                  </a:lnTo>
                  <a:lnTo>
                    <a:pt x="62365" y="162129"/>
                  </a:lnTo>
                  <a:lnTo>
                    <a:pt x="94440" y="138234"/>
                  </a:lnTo>
                  <a:lnTo>
                    <a:pt x="132607" y="115633"/>
                  </a:lnTo>
                  <a:lnTo>
                    <a:pt x="176496" y="94543"/>
                  </a:lnTo>
                  <a:lnTo>
                    <a:pt x="212914" y="79842"/>
                  </a:lnTo>
                  <a:lnTo>
                    <a:pt x="252116" y="66186"/>
                  </a:lnTo>
                  <a:lnTo>
                    <a:pt x="293900" y="53645"/>
                  </a:lnTo>
                  <a:lnTo>
                    <a:pt x="338031" y="42291"/>
                  </a:lnTo>
                  <a:lnTo>
                    <a:pt x="384260" y="32188"/>
                  </a:lnTo>
                  <a:lnTo>
                    <a:pt x="448749" y="20750"/>
                  </a:lnTo>
                  <a:lnTo>
                    <a:pt x="515917" y="11738"/>
                  </a:lnTo>
                  <a:lnTo>
                    <a:pt x="585117" y="5237"/>
                  </a:lnTo>
                  <a:lnTo>
                    <a:pt x="655683" y="1312"/>
                  </a:lnTo>
                  <a:lnTo>
                    <a:pt x="726936" y="0"/>
                  </a:lnTo>
                  <a:lnTo>
                    <a:pt x="762605" y="328"/>
                  </a:lnTo>
                  <a:lnTo>
                    <a:pt x="833599" y="2950"/>
                  </a:lnTo>
                  <a:lnTo>
                    <a:pt x="903567" y="8169"/>
                  </a:lnTo>
                  <a:lnTo>
                    <a:pt x="971833" y="15934"/>
                  </a:lnTo>
                  <a:lnTo>
                    <a:pt x="1037741" y="26172"/>
                  </a:lnTo>
                  <a:lnTo>
                    <a:pt x="1085246" y="35415"/>
                  </a:lnTo>
                  <a:lnTo>
                    <a:pt x="1130799" y="45941"/>
                  </a:lnTo>
                  <a:lnTo>
                    <a:pt x="1174165" y="57695"/>
                  </a:lnTo>
                  <a:lnTo>
                    <a:pt x="1215116" y="70616"/>
                  </a:lnTo>
                  <a:lnTo>
                    <a:pt x="1253421" y="84632"/>
                  </a:lnTo>
                  <a:lnTo>
                    <a:pt x="1288865" y="99664"/>
                  </a:lnTo>
                  <a:lnTo>
                    <a:pt x="1331361" y="121151"/>
                  </a:lnTo>
                  <a:lnTo>
                    <a:pt x="1368036" y="144097"/>
                  </a:lnTo>
                  <a:lnTo>
                    <a:pt x="1398537" y="168281"/>
                  </a:lnTo>
                  <a:lnTo>
                    <a:pt x="1427541" y="199896"/>
                  </a:lnTo>
                  <a:lnTo>
                    <a:pt x="1448404" y="239229"/>
                  </a:lnTo>
                  <a:lnTo>
                    <a:pt x="1453872" y="272601"/>
                  </a:lnTo>
                  <a:lnTo>
                    <a:pt x="1453653" y="279293"/>
                  </a:lnTo>
                  <a:lnTo>
                    <a:pt x="1443171" y="319203"/>
                  </a:lnTo>
                  <a:lnTo>
                    <a:pt x="1422570" y="351732"/>
                  </a:lnTo>
                  <a:lnTo>
                    <a:pt x="1391506" y="383072"/>
                  </a:lnTo>
                  <a:lnTo>
                    <a:pt x="1359431" y="406967"/>
                  </a:lnTo>
                  <a:lnTo>
                    <a:pt x="1321264" y="429568"/>
                  </a:lnTo>
                  <a:lnTo>
                    <a:pt x="1277375" y="450658"/>
                  </a:lnTo>
                  <a:lnTo>
                    <a:pt x="1240957" y="465359"/>
                  </a:lnTo>
                  <a:lnTo>
                    <a:pt x="1201755" y="479015"/>
                  </a:lnTo>
                  <a:lnTo>
                    <a:pt x="1159971" y="491556"/>
                  </a:lnTo>
                  <a:lnTo>
                    <a:pt x="1115840" y="502910"/>
                  </a:lnTo>
                  <a:lnTo>
                    <a:pt x="1069611" y="513013"/>
                  </a:lnTo>
                  <a:lnTo>
                    <a:pt x="1005122" y="524451"/>
                  </a:lnTo>
                  <a:lnTo>
                    <a:pt x="937954" y="533463"/>
                  </a:lnTo>
                  <a:lnTo>
                    <a:pt x="868754" y="539964"/>
                  </a:lnTo>
                  <a:lnTo>
                    <a:pt x="798188" y="543889"/>
                  </a:lnTo>
                  <a:lnTo>
                    <a:pt x="726936" y="545202"/>
                  </a:lnTo>
                  <a:close/>
                </a:path>
              </a:pathLst>
            </a:custGeom>
            <a:solidFill>
              <a:srgbClr val="E6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863363" y="1443857"/>
              <a:ext cx="1471930" cy="563245"/>
            </a:xfrm>
            <a:custGeom>
              <a:avLst/>
              <a:gdLst/>
              <a:ahLst/>
              <a:cxnLst/>
              <a:rect l="l" t="t" r="r" b="b"/>
              <a:pathLst>
                <a:path w="1471929" h="563244">
                  <a:moveTo>
                    <a:pt x="1415962" y="390579"/>
                  </a:moveTo>
                  <a:lnTo>
                    <a:pt x="1403607" y="377251"/>
                  </a:lnTo>
                  <a:lnTo>
                    <a:pt x="1412174" y="368904"/>
                  </a:lnTo>
                  <a:lnTo>
                    <a:pt x="1419954" y="360478"/>
                  </a:lnTo>
                  <a:lnTo>
                    <a:pt x="1426947" y="351972"/>
                  </a:lnTo>
                  <a:lnTo>
                    <a:pt x="1433152" y="343387"/>
                  </a:lnTo>
                  <a:lnTo>
                    <a:pt x="1448224" y="353542"/>
                  </a:lnTo>
                  <a:lnTo>
                    <a:pt x="1441408" y="362980"/>
                  </a:lnTo>
                  <a:lnTo>
                    <a:pt x="1433759" y="372298"/>
                  </a:lnTo>
                  <a:lnTo>
                    <a:pt x="1425277" y="381498"/>
                  </a:lnTo>
                  <a:lnTo>
                    <a:pt x="1415962" y="390579"/>
                  </a:lnTo>
                  <a:close/>
                </a:path>
                <a:path w="1471929" h="563244">
                  <a:moveTo>
                    <a:pt x="1356190" y="434450"/>
                  </a:moveTo>
                  <a:lnTo>
                    <a:pt x="1346872" y="418847"/>
                  </a:lnTo>
                  <a:lnTo>
                    <a:pt x="1357108" y="412543"/>
                  </a:lnTo>
                  <a:lnTo>
                    <a:pt x="1366861" y="406144"/>
                  </a:lnTo>
                  <a:lnTo>
                    <a:pt x="1376131" y="399651"/>
                  </a:lnTo>
                  <a:lnTo>
                    <a:pt x="1384917" y="393064"/>
                  </a:lnTo>
                  <a:lnTo>
                    <a:pt x="1396063" y="407418"/>
                  </a:lnTo>
                  <a:lnTo>
                    <a:pt x="1386833" y="414338"/>
                  </a:lnTo>
                  <a:lnTo>
                    <a:pt x="1377112" y="421151"/>
                  </a:lnTo>
                  <a:lnTo>
                    <a:pt x="1366897" y="427855"/>
                  </a:lnTo>
                  <a:lnTo>
                    <a:pt x="1356190" y="434450"/>
                  </a:lnTo>
                  <a:close/>
                </a:path>
                <a:path w="1471929" h="563244">
                  <a:moveTo>
                    <a:pt x="1291654" y="467338"/>
                  </a:moveTo>
                  <a:lnTo>
                    <a:pt x="1284365" y="450690"/>
                  </a:lnTo>
                  <a:lnTo>
                    <a:pt x="1294730" y="446047"/>
                  </a:lnTo>
                  <a:lnTo>
                    <a:pt x="1304807" y="441321"/>
                  </a:lnTo>
                  <a:lnTo>
                    <a:pt x="1314594" y="436513"/>
                  </a:lnTo>
                  <a:lnTo>
                    <a:pt x="1324091" y="431622"/>
                  </a:lnTo>
                  <a:lnTo>
                    <a:pt x="1332569" y="447697"/>
                  </a:lnTo>
                  <a:lnTo>
                    <a:pt x="1322779" y="452739"/>
                  </a:lnTo>
                  <a:lnTo>
                    <a:pt x="1312696" y="457693"/>
                  </a:lnTo>
                  <a:lnTo>
                    <a:pt x="1302321" y="462559"/>
                  </a:lnTo>
                  <a:lnTo>
                    <a:pt x="1291654" y="467338"/>
                  </a:lnTo>
                  <a:close/>
                </a:path>
                <a:path w="1471929" h="563244">
                  <a:moveTo>
                    <a:pt x="1222234" y="493880"/>
                  </a:moveTo>
                  <a:lnTo>
                    <a:pt x="1216477" y="476642"/>
                  </a:lnTo>
                  <a:lnTo>
                    <a:pt x="1227225" y="472980"/>
                  </a:lnTo>
                  <a:lnTo>
                    <a:pt x="1237767" y="469239"/>
                  </a:lnTo>
                  <a:lnTo>
                    <a:pt x="1248103" y="465419"/>
                  </a:lnTo>
                  <a:lnTo>
                    <a:pt x="1258235" y="461521"/>
                  </a:lnTo>
                  <a:lnTo>
                    <a:pt x="1264877" y="478438"/>
                  </a:lnTo>
                  <a:lnTo>
                    <a:pt x="1254525" y="482420"/>
                  </a:lnTo>
                  <a:lnTo>
                    <a:pt x="1243968" y="486322"/>
                  </a:lnTo>
                  <a:lnTo>
                    <a:pt x="1233204" y="490142"/>
                  </a:lnTo>
                  <a:lnTo>
                    <a:pt x="1222234" y="493880"/>
                  </a:lnTo>
                  <a:close/>
                </a:path>
                <a:path w="1471929" h="563244">
                  <a:moveTo>
                    <a:pt x="1151123" y="514829"/>
                  </a:moveTo>
                  <a:lnTo>
                    <a:pt x="1146569" y="497235"/>
                  </a:lnTo>
                  <a:lnTo>
                    <a:pt x="1157924" y="494235"/>
                  </a:lnTo>
                  <a:lnTo>
                    <a:pt x="1169117" y="491155"/>
                  </a:lnTo>
                  <a:lnTo>
                    <a:pt x="1180149" y="487995"/>
                  </a:lnTo>
                  <a:lnTo>
                    <a:pt x="1191021" y="484755"/>
                  </a:lnTo>
                  <a:lnTo>
                    <a:pt x="1196306" y="502143"/>
                  </a:lnTo>
                  <a:lnTo>
                    <a:pt x="1185254" y="505437"/>
                  </a:lnTo>
                  <a:lnTo>
                    <a:pt x="1174039" y="508649"/>
                  </a:lnTo>
                  <a:lnTo>
                    <a:pt x="1162662" y="511780"/>
                  </a:lnTo>
                  <a:lnTo>
                    <a:pt x="1151123" y="514829"/>
                  </a:lnTo>
                  <a:close/>
                </a:path>
                <a:path w="1471929" h="563244">
                  <a:moveTo>
                    <a:pt x="1079915" y="531097"/>
                  </a:moveTo>
                  <a:lnTo>
                    <a:pt x="1076349" y="513277"/>
                  </a:lnTo>
                  <a:lnTo>
                    <a:pt x="1098351" y="508687"/>
                  </a:lnTo>
                  <a:lnTo>
                    <a:pt x="1119910" y="503814"/>
                  </a:lnTo>
                  <a:lnTo>
                    <a:pt x="1124069" y="521505"/>
                  </a:lnTo>
                  <a:lnTo>
                    <a:pt x="1102214" y="526445"/>
                  </a:lnTo>
                  <a:lnTo>
                    <a:pt x="1079915" y="531097"/>
                  </a:lnTo>
                  <a:close/>
                </a:path>
                <a:path w="1471929" h="563244">
                  <a:moveTo>
                    <a:pt x="1006985" y="543811"/>
                  </a:moveTo>
                  <a:lnTo>
                    <a:pt x="1004292" y="525838"/>
                  </a:lnTo>
                  <a:lnTo>
                    <a:pt x="1027121" y="522246"/>
                  </a:lnTo>
                  <a:lnTo>
                    <a:pt x="1049609" y="518363"/>
                  </a:lnTo>
                  <a:lnTo>
                    <a:pt x="1052838" y="536247"/>
                  </a:lnTo>
                  <a:lnTo>
                    <a:pt x="1030084" y="540177"/>
                  </a:lnTo>
                  <a:lnTo>
                    <a:pt x="1006985" y="543811"/>
                  </a:lnTo>
                  <a:close/>
                </a:path>
                <a:path w="1471929" h="563244">
                  <a:moveTo>
                    <a:pt x="934371" y="553067"/>
                  </a:moveTo>
                  <a:lnTo>
                    <a:pt x="932457" y="534995"/>
                  </a:lnTo>
                  <a:lnTo>
                    <a:pt x="955059" y="532452"/>
                  </a:lnTo>
                  <a:lnTo>
                    <a:pt x="977425" y="529634"/>
                  </a:lnTo>
                  <a:lnTo>
                    <a:pt x="979818" y="547649"/>
                  </a:lnTo>
                  <a:lnTo>
                    <a:pt x="957212" y="550497"/>
                  </a:lnTo>
                  <a:lnTo>
                    <a:pt x="934371" y="553067"/>
                  </a:lnTo>
                  <a:close/>
                </a:path>
                <a:path w="1471929" h="563244">
                  <a:moveTo>
                    <a:pt x="861465" y="559295"/>
                  </a:moveTo>
                  <a:lnTo>
                    <a:pt x="860278" y="541160"/>
                  </a:lnTo>
                  <a:lnTo>
                    <a:pt x="871620" y="540383"/>
                  </a:lnTo>
                  <a:lnTo>
                    <a:pt x="905421" y="537647"/>
                  </a:lnTo>
                  <a:lnTo>
                    <a:pt x="907057" y="555746"/>
                  </a:lnTo>
                  <a:lnTo>
                    <a:pt x="872920" y="558510"/>
                  </a:lnTo>
                  <a:lnTo>
                    <a:pt x="861465" y="559295"/>
                  </a:lnTo>
                  <a:close/>
                </a:path>
                <a:path w="1471929" h="563244">
                  <a:moveTo>
                    <a:pt x="787797" y="562680"/>
                  </a:moveTo>
                  <a:lnTo>
                    <a:pt x="787312" y="544514"/>
                  </a:lnTo>
                  <a:lnTo>
                    <a:pt x="798694" y="544176"/>
                  </a:lnTo>
                  <a:lnTo>
                    <a:pt x="832729" y="542759"/>
                  </a:lnTo>
                  <a:lnTo>
                    <a:pt x="833648" y="560909"/>
                  </a:lnTo>
                  <a:lnTo>
                    <a:pt x="799288" y="562339"/>
                  </a:lnTo>
                  <a:lnTo>
                    <a:pt x="787797" y="562680"/>
                  </a:lnTo>
                  <a:close/>
                </a:path>
                <a:path w="1471929" h="563244">
                  <a:moveTo>
                    <a:pt x="760682" y="563215"/>
                  </a:moveTo>
                  <a:lnTo>
                    <a:pt x="716090" y="563215"/>
                  </a:lnTo>
                  <a:lnTo>
                    <a:pt x="716275" y="545043"/>
                  </a:lnTo>
                  <a:lnTo>
                    <a:pt x="760451" y="545043"/>
                  </a:lnTo>
                  <a:lnTo>
                    <a:pt x="760682" y="563215"/>
                  </a:lnTo>
                  <a:close/>
                </a:path>
                <a:path w="1471929" h="563244">
                  <a:moveTo>
                    <a:pt x="689037" y="562808"/>
                  </a:moveTo>
                  <a:lnTo>
                    <a:pt x="677569" y="562498"/>
                  </a:lnTo>
                  <a:lnTo>
                    <a:pt x="643269" y="561161"/>
                  </a:lnTo>
                  <a:lnTo>
                    <a:pt x="644061" y="544640"/>
                  </a:lnTo>
                  <a:lnTo>
                    <a:pt x="644139" y="543008"/>
                  </a:lnTo>
                  <a:lnTo>
                    <a:pt x="678116" y="544333"/>
                  </a:lnTo>
                  <a:lnTo>
                    <a:pt x="689476" y="544640"/>
                  </a:lnTo>
                  <a:lnTo>
                    <a:pt x="689077" y="561161"/>
                  </a:lnTo>
                  <a:lnTo>
                    <a:pt x="689037" y="562808"/>
                  </a:lnTo>
                  <a:close/>
                </a:path>
                <a:path w="1471929" h="563244">
                  <a:moveTo>
                    <a:pt x="615488" y="559625"/>
                  </a:moveTo>
                  <a:lnTo>
                    <a:pt x="604008" y="558870"/>
                  </a:lnTo>
                  <a:lnTo>
                    <a:pt x="569786" y="556195"/>
                  </a:lnTo>
                  <a:lnTo>
                    <a:pt x="571074" y="541487"/>
                  </a:lnTo>
                  <a:lnTo>
                    <a:pt x="571140" y="540739"/>
                  </a:lnTo>
                  <a:lnTo>
                    <a:pt x="571211" y="539924"/>
                  </a:lnTo>
                  <a:lnTo>
                    <a:pt x="571288" y="539041"/>
                  </a:lnTo>
                  <a:lnTo>
                    <a:pt x="571372" y="538091"/>
                  </a:lnTo>
                  <a:lnTo>
                    <a:pt x="605257" y="540739"/>
                  </a:lnTo>
                  <a:lnTo>
                    <a:pt x="616625" y="541487"/>
                  </a:lnTo>
                  <a:lnTo>
                    <a:pt x="615703" y="556195"/>
                  </a:lnTo>
                  <a:lnTo>
                    <a:pt x="615587" y="558047"/>
                  </a:lnTo>
                  <a:lnTo>
                    <a:pt x="615488" y="559625"/>
                  </a:lnTo>
                  <a:close/>
                </a:path>
                <a:path w="1471929" h="563244">
                  <a:moveTo>
                    <a:pt x="542476" y="553594"/>
                  </a:moveTo>
                  <a:lnTo>
                    <a:pt x="519628" y="551090"/>
                  </a:lnTo>
                  <a:lnTo>
                    <a:pt x="497008" y="548309"/>
                  </a:lnTo>
                  <a:lnTo>
                    <a:pt x="499347" y="530286"/>
                  </a:lnTo>
                  <a:lnTo>
                    <a:pt x="521728" y="533039"/>
                  </a:lnTo>
                  <a:lnTo>
                    <a:pt x="544338" y="535516"/>
                  </a:lnTo>
                  <a:lnTo>
                    <a:pt x="542602" y="552377"/>
                  </a:lnTo>
                  <a:lnTo>
                    <a:pt x="542476" y="553594"/>
                  </a:lnTo>
                  <a:close/>
                </a:path>
                <a:path w="1471929" h="563244">
                  <a:moveTo>
                    <a:pt x="469866" y="544559"/>
                  </a:moveTo>
                  <a:lnTo>
                    <a:pt x="446768" y="541001"/>
                  </a:lnTo>
                  <a:lnTo>
                    <a:pt x="424005" y="537148"/>
                  </a:lnTo>
                  <a:lnTo>
                    <a:pt x="427173" y="519253"/>
                  </a:lnTo>
                  <a:lnTo>
                    <a:pt x="449670" y="523061"/>
                  </a:lnTo>
                  <a:lnTo>
                    <a:pt x="472503" y="526578"/>
                  </a:lnTo>
                  <a:lnTo>
                    <a:pt x="469866" y="544559"/>
                  </a:lnTo>
                  <a:close/>
                </a:path>
                <a:path w="1471929" h="563244">
                  <a:moveTo>
                    <a:pt x="396859" y="532082"/>
                  </a:moveTo>
                  <a:lnTo>
                    <a:pt x="374489" y="527501"/>
                  </a:lnTo>
                  <a:lnTo>
                    <a:pt x="352557" y="522629"/>
                  </a:lnTo>
                  <a:lnTo>
                    <a:pt x="356648" y="504922"/>
                  </a:lnTo>
                  <a:lnTo>
                    <a:pt x="378287" y="509728"/>
                  </a:lnTo>
                  <a:lnTo>
                    <a:pt x="400361" y="514250"/>
                  </a:lnTo>
                  <a:lnTo>
                    <a:pt x="396859" y="532082"/>
                  </a:lnTo>
                  <a:close/>
                </a:path>
                <a:path w="1471929" h="563244">
                  <a:moveTo>
                    <a:pt x="325822" y="516148"/>
                  </a:moveTo>
                  <a:lnTo>
                    <a:pt x="314223" y="513138"/>
                  </a:lnTo>
                  <a:lnTo>
                    <a:pt x="302784" y="510047"/>
                  </a:lnTo>
                  <a:lnTo>
                    <a:pt x="291505" y="506872"/>
                  </a:lnTo>
                  <a:lnTo>
                    <a:pt x="280386" y="503616"/>
                  </a:lnTo>
                  <a:lnTo>
                    <a:pt x="285588" y="486203"/>
                  </a:lnTo>
                  <a:lnTo>
                    <a:pt x="296527" y="489407"/>
                  </a:lnTo>
                  <a:lnTo>
                    <a:pt x="307625" y="492530"/>
                  </a:lnTo>
                  <a:lnTo>
                    <a:pt x="318883" y="495572"/>
                  </a:lnTo>
                  <a:lnTo>
                    <a:pt x="330299" y="498534"/>
                  </a:lnTo>
                  <a:lnTo>
                    <a:pt x="325822" y="516148"/>
                  </a:lnTo>
                  <a:close/>
                </a:path>
                <a:path w="1471929" h="563244">
                  <a:moveTo>
                    <a:pt x="254284" y="495441"/>
                  </a:moveTo>
                  <a:lnTo>
                    <a:pt x="243428" y="491806"/>
                  </a:lnTo>
                  <a:lnTo>
                    <a:pt x="232770" y="488092"/>
                  </a:lnTo>
                  <a:lnTo>
                    <a:pt x="222308" y="484299"/>
                  </a:lnTo>
                  <a:lnTo>
                    <a:pt x="212043" y="480427"/>
                  </a:lnTo>
                  <a:lnTo>
                    <a:pt x="218569" y="463465"/>
                  </a:lnTo>
                  <a:lnTo>
                    <a:pt x="228621" y="467257"/>
                  </a:lnTo>
                  <a:lnTo>
                    <a:pt x="238869" y="470973"/>
                  </a:lnTo>
                  <a:lnTo>
                    <a:pt x="249312" y="474612"/>
                  </a:lnTo>
                  <a:lnTo>
                    <a:pt x="259952" y="478174"/>
                  </a:lnTo>
                  <a:lnTo>
                    <a:pt x="254284" y="495441"/>
                  </a:lnTo>
                  <a:close/>
                </a:path>
                <a:path w="1471929" h="563244">
                  <a:moveTo>
                    <a:pt x="184972" y="469428"/>
                  </a:moveTo>
                  <a:lnTo>
                    <a:pt x="174176" y="464689"/>
                  </a:lnTo>
                  <a:lnTo>
                    <a:pt x="163670" y="459861"/>
                  </a:lnTo>
                  <a:lnTo>
                    <a:pt x="153454" y="454944"/>
                  </a:lnTo>
                  <a:lnTo>
                    <a:pt x="143528" y="449938"/>
                  </a:lnTo>
                  <a:lnTo>
                    <a:pt x="151866" y="433790"/>
                  </a:lnTo>
                  <a:lnTo>
                    <a:pt x="161502" y="438650"/>
                  </a:lnTo>
                  <a:lnTo>
                    <a:pt x="171426" y="443426"/>
                  </a:lnTo>
                  <a:lnTo>
                    <a:pt x="181638" y="448119"/>
                  </a:lnTo>
                  <a:lnTo>
                    <a:pt x="192138" y="452727"/>
                  </a:lnTo>
                  <a:lnTo>
                    <a:pt x="184972" y="469428"/>
                  </a:lnTo>
                  <a:close/>
                </a:path>
                <a:path w="1471929" h="563244">
                  <a:moveTo>
                    <a:pt x="120535" y="437350"/>
                  </a:moveTo>
                  <a:lnTo>
                    <a:pt x="109602" y="430799"/>
                  </a:lnTo>
                  <a:lnTo>
                    <a:pt x="99160" y="424137"/>
                  </a:lnTo>
                  <a:lnTo>
                    <a:pt x="89208" y="417365"/>
                  </a:lnTo>
                  <a:lnTo>
                    <a:pt x="79748" y="410482"/>
                  </a:lnTo>
                  <a:lnTo>
                    <a:pt x="90678" y="395963"/>
                  </a:lnTo>
                  <a:lnTo>
                    <a:pt x="99703" y="402527"/>
                  </a:lnTo>
                  <a:lnTo>
                    <a:pt x="109209" y="408994"/>
                  </a:lnTo>
                  <a:lnTo>
                    <a:pt x="119197" y="415364"/>
                  </a:lnTo>
                  <a:lnTo>
                    <a:pt x="129666" y="421637"/>
                  </a:lnTo>
                  <a:lnTo>
                    <a:pt x="120535" y="437350"/>
                  </a:lnTo>
                  <a:close/>
                </a:path>
                <a:path w="1471929" h="563244">
                  <a:moveTo>
                    <a:pt x="59285" y="393717"/>
                  </a:moveTo>
                  <a:lnTo>
                    <a:pt x="49908" y="384905"/>
                  </a:lnTo>
                  <a:lnTo>
                    <a:pt x="41320" y="375975"/>
                  </a:lnTo>
                  <a:lnTo>
                    <a:pt x="33523" y="366928"/>
                  </a:lnTo>
                  <a:lnTo>
                    <a:pt x="26516" y="357765"/>
                  </a:lnTo>
                  <a:lnTo>
                    <a:pt x="41285" y="347175"/>
                  </a:lnTo>
                  <a:lnTo>
                    <a:pt x="47692" y="355548"/>
                  </a:lnTo>
                  <a:lnTo>
                    <a:pt x="54848" y="363839"/>
                  </a:lnTo>
                  <a:lnTo>
                    <a:pt x="62755" y="372050"/>
                  </a:lnTo>
                  <a:lnTo>
                    <a:pt x="71411" y="380181"/>
                  </a:lnTo>
                  <a:lnTo>
                    <a:pt x="59285" y="393717"/>
                  </a:lnTo>
                  <a:close/>
                </a:path>
                <a:path w="1471929" h="563244">
                  <a:moveTo>
                    <a:pt x="12642" y="334676"/>
                  </a:moveTo>
                  <a:lnTo>
                    <a:pt x="7534" y="322828"/>
                  </a:lnTo>
                  <a:lnTo>
                    <a:pt x="3724" y="310912"/>
                  </a:lnTo>
                  <a:lnTo>
                    <a:pt x="1212" y="298928"/>
                  </a:lnTo>
                  <a:lnTo>
                    <a:pt x="0" y="286876"/>
                  </a:lnTo>
                  <a:lnTo>
                    <a:pt x="18153" y="286029"/>
                  </a:lnTo>
                  <a:lnTo>
                    <a:pt x="19187" y="296233"/>
                  </a:lnTo>
                  <a:lnTo>
                    <a:pt x="21336" y="306415"/>
                  </a:lnTo>
                  <a:lnTo>
                    <a:pt x="24599" y="316575"/>
                  </a:lnTo>
                  <a:lnTo>
                    <a:pt x="28978" y="326714"/>
                  </a:lnTo>
                  <a:lnTo>
                    <a:pt x="12642" y="334676"/>
                  </a:lnTo>
                  <a:close/>
                </a:path>
                <a:path w="1471929" h="563244">
                  <a:moveTo>
                    <a:pt x="20079" y="262261"/>
                  </a:moveTo>
                  <a:lnTo>
                    <a:pt x="2289" y="258547"/>
                  </a:lnTo>
                  <a:lnTo>
                    <a:pt x="5217" y="247290"/>
                  </a:lnTo>
                  <a:lnTo>
                    <a:pt x="9281" y="236124"/>
                  </a:lnTo>
                  <a:lnTo>
                    <a:pt x="14481" y="225047"/>
                  </a:lnTo>
                  <a:lnTo>
                    <a:pt x="20818" y="214061"/>
                  </a:lnTo>
                  <a:lnTo>
                    <a:pt x="36187" y="223759"/>
                  </a:lnTo>
                  <a:lnTo>
                    <a:pt x="30658" y="233332"/>
                  </a:lnTo>
                  <a:lnTo>
                    <a:pt x="26130" y="242940"/>
                  </a:lnTo>
                  <a:lnTo>
                    <a:pt x="22604" y="252583"/>
                  </a:lnTo>
                  <a:lnTo>
                    <a:pt x="20079" y="262261"/>
                  </a:lnTo>
                  <a:close/>
                </a:path>
                <a:path w="1471929" h="563244">
                  <a:moveTo>
                    <a:pt x="51592" y="203189"/>
                  </a:moveTo>
                  <a:lnTo>
                    <a:pt x="37874" y="191269"/>
                  </a:lnTo>
                  <a:lnTo>
                    <a:pt x="45389" y="183048"/>
                  </a:lnTo>
                  <a:lnTo>
                    <a:pt x="53554" y="174935"/>
                  </a:lnTo>
                  <a:lnTo>
                    <a:pt x="62370" y="166929"/>
                  </a:lnTo>
                  <a:lnTo>
                    <a:pt x="71836" y="159031"/>
                  </a:lnTo>
                  <a:lnTo>
                    <a:pt x="83199" y="173214"/>
                  </a:lnTo>
                  <a:lnTo>
                    <a:pt x="74360" y="180586"/>
                  </a:lnTo>
                  <a:lnTo>
                    <a:pt x="66146" y="188039"/>
                  </a:lnTo>
                  <a:lnTo>
                    <a:pt x="58557" y="195574"/>
                  </a:lnTo>
                  <a:lnTo>
                    <a:pt x="51592" y="203189"/>
                  </a:lnTo>
                  <a:close/>
                </a:path>
                <a:path w="1471929" h="563244">
                  <a:moveTo>
                    <a:pt x="104431" y="157574"/>
                  </a:moveTo>
                  <a:lnTo>
                    <a:pt x="94210" y="142546"/>
                  </a:lnTo>
                  <a:lnTo>
                    <a:pt x="103773" y="136238"/>
                  </a:lnTo>
                  <a:lnTo>
                    <a:pt x="113760" y="130032"/>
                  </a:lnTo>
                  <a:lnTo>
                    <a:pt x="124169" y="123929"/>
                  </a:lnTo>
                  <a:lnTo>
                    <a:pt x="135001" y="117929"/>
                  </a:lnTo>
                  <a:lnTo>
                    <a:pt x="143619" y="133929"/>
                  </a:lnTo>
                  <a:lnTo>
                    <a:pt x="133197" y="139701"/>
                  </a:lnTo>
                  <a:lnTo>
                    <a:pt x="123192" y="145566"/>
                  </a:lnTo>
                  <a:lnTo>
                    <a:pt x="113603" y="151524"/>
                  </a:lnTo>
                  <a:lnTo>
                    <a:pt x="104431" y="157574"/>
                  </a:lnTo>
                  <a:close/>
                </a:path>
                <a:path w="1471929" h="563244">
                  <a:moveTo>
                    <a:pt x="166527" y="122274"/>
                  </a:moveTo>
                  <a:lnTo>
                    <a:pt x="190634" y="91540"/>
                  </a:lnTo>
                  <a:lnTo>
                    <a:pt x="201862" y="86940"/>
                  </a:lnTo>
                  <a:lnTo>
                    <a:pt x="208619" y="103811"/>
                  </a:lnTo>
                  <a:lnTo>
                    <a:pt x="197675" y="108295"/>
                  </a:lnTo>
                  <a:lnTo>
                    <a:pt x="187011" y="112867"/>
                  </a:lnTo>
                  <a:lnTo>
                    <a:pt x="176629" y="117526"/>
                  </a:lnTo>
                  <a:lnTo>
                    <a:pt x="166527" y="122274"/>
                  </a:lnTo>
                  <a:close/>
                </a:path>
                <a:path w="1471929" h="563244">
                  <a:moveTo>
                    <a:pt x="234454" y="93980"/>
                  </a:moveTo>
                  <a:lnTo>
                    <a:pt x="270637" y="62717"/>
                  </a:lnTo>
                  <a:lnTo>
                    <a:pt x="276008" y="80079"/>
                  </a:lnTo>
                  <a:lnTo>
                    <a:pt x="265349" y="83442"/>
                  </a:lnTo>
                  <a:lnTo>
                    <a:pt x="254870" y="86880"/>
                  </a:lnTo>
                  <a:lnTo>
                    <a:pt x="244572" y="90392"/>
                  </a:lnTo>
                  <a:lnTo>
                    <a:pt x="234454" y="93980"/>
                  </a:lnTo>
                  <a:close/>
                </a:path>
                <a:path w="1471929" h="563244">
                  <a:moveTo>
                    <a:pt x="302232" y="72343"/>
                  </a:moveTo>
                  <a:lnTo>
                    <a:pt x="331302" y="45843"/>
                  </a:lnTo>
                  <a:lnTo>
                    <a:pt x="342929" y="43004"/>
                  </a:lnTo>
                  <a:lnTo>
                    <a:pt x="347156" y="60679"/>
                  </a:lnTo>
                  <a:lnTo>
                    <a:pt x="335702" y="63476"/>
                  </a:lnTo>
                  <a:lnTo>
                    <a:pt x="324397" y="66352"/>
                  </a:lnTo>
                  <a:lnTo>
                    <a:pt x="313240" y="69307"/>
                  </a:lnTo>
                  <a:lnTo>
                    <a:pt x="302232" y="72343"/>
                  </a:lnTo>
                  <a:close/>
                </a:path>
                <a:path w="1471929" h="563244">
                  <a:moveTo>
                    <a:pt x="373028" y="54775"/>
                  </a:moveTo>
                  <a:lnTo>
                    <a:pt x="369165" y="37017"/>
                  </a:lnTo>
                  <a:lnTo>
                    <a:pt x="391344" y="32382"/>
                  </a:lnTo>
                  <a:lnTo>
                    <a:pt x="413937" y="28039"/>
                  </a:lnTo>
                  <a:lnTo>
                    <a:pt x="417227" y="45912"/>
                  </a:lnTo>
                  <a:lnTo>
                    <a:pt x="394921" y="50200"/>
                  </a:lnTo>
                  <a:lnTo>
                    <a:pt x="373028" y="54775"/>
                  </a:lnTo>
                  <a:close/>
                </a:path>
                <a:path w="1471929" h="563244">
                  <a:moveTo>
                    <a:pt x="444262" y="41193"/>
                  </a:moveTo>
                  <a:lnTo>
                    <a:pt x="441300" y="23263"/>
                  </a:lnTo>
                  <a:lnTo>
                    <a:pt x="463980" y="19685"/>
                  </a:lnTo>
                  <a:lnTo>
                    <a:pt x="486966" y="16395"/>
                  </a:lnTo>
                  <a:lnTo>
                    <a:pt x="489414" y="34403"/>
                  </a:lnTo>
                  <a:lnTo>
                    <a:pt x="466685" y="37656"/>
                  </a:lnTo>
                  <a:lnTo>
                    <a:pt x="444262" y="41193"/>
                  </a:lnTo>
                  <a:close/>
                </a:path>
                <a:path w="1471929" h="563244">
                  <a:moveTo>
                    <a:pt x="516347" y="30966"/>
                  </a:moveTo>
                  <a:lnTo>
                    <a:pt x="514191" y="12920"/>
                  </a:lnTo>
                  <a:lnTo>
                    <a:pt x="525491" y="11608"/>
                  </a:lnTo>
                  <a:lnTo>
                    <a:pt x="559703" y="8087"/>
                  </a:lnTo>
                  <a:lnTo>
                    <a:pt x="561390" y="26182"/>
                  </a:lnTo>
                  <a:lnTo>
                    <a:pt x="527530" y="29667"/>
                  </a:lnTo>
                  <a:lnTo>
                    <a:pt x="516347" y="30966"/>
                  </a:lnTo>
                  <a:close/>
                </a:path>
                <a:path w="1471929" h="563244">
                  <a:moveTo>
                    <a:pt x="588399" y="23869"/>
                  </a:moveTo>
                  <a:lnTo>
                    <a:pt x="586984" y="5751"/>
                  </a:lnTo>
                  <a:lnTo>
                    <a:pt x="598448" y="4891"/>
                  </a:lnTo>
                  <a:lnTo>
                    <a:pt x="633032" y="2728"/>
                  </a:lnTo>
                  <a:lnTo>
                    <a:pt x="634000" y="20875"/>
                  </a:lnTo>
                  <a:lnTo>
                    <a:pt x="599752" y="23018"/>
                  </a:lnTo>
                  <a:lnTo>
                    <a:pt x="588399" y="23869"/>
                  </a:lnTo>
                  <a:close/>
                </a:path>
                <a:path w="1471929" h="563244">
                  <a:moveTo>
                    <a:pt x="661382" y="19614"/>
                  </a:moveTo>
                  <a:lnTo>
                    <a:pt x="660676" y="1454"/>
                  </a:lnTo>
                  <a:lnTo>
                    <a:pt x="672023" y="1047"/>
                  </a:lnTo>
                  <a:lnTo>
                    <a:pt x="706139" y="225"/>
                  </a:lnTo>
                  <a:lnTo>
                    <a:pt x="706417" y="18396"/>
                  </a:lnTo>
                  <a:lnTo>
                    <a:pt x="672621" y="19210"/>
                  </a:lnTo>
                  <a:lnTo>
                    <a:pt x="661382" y="19614"/>
                  </a:lnTo>
                  <a:close/>
                </a:path>
                <a:path w="1471929" h="563244">
                  <a:moveTo>
                    <a:pt x="777353" y="18616"/>
                  </a:moveTo>
                  <a:lnTo>
                    <a:pt x="748514" y="18173"/>
                  </a:lnTo>
                  <a:lnTo>
                    <a:pt x="732986" y="18173"/>
                  </a:lnTo>
                  <a:lnTo>
                    <a:pt x="732972" y="0"/>
                  </a:lnTo>
                  <a:lnTo>
                    <a:pt x="748626" y="0"/>
                  </a:lnTo>
                  <a:lnTo>
                    <a:pt x="777744" y="447"/>
                  </a:lnTo>
                  <a:lnTo>
                    <a:pt x="777363" y="18173"/>
                  </a:lnTo>
                  <a:lnTo>
                    <a:pt x="777353" y="18616"/>
                  </a:lnTo>
                  <a:close/>
                </a:path>
                <a:path w="1471929" h="563244">
                  <a:moveTo>
                    <a:pt x="850083" y="21571"/>
                  </a:moveTo>
                  <a:lnTo>
                    <a:pt x="838700" y="20923"/>
                  </a:lnTo>
                  <a:lnTo>
                    <a:pt x="804412" y="19390"/>
                  </a:lnTo>
                  <a:lnTo>
                    <a:pt x="804982" y="3430"/>
                  </a:lnTo>
                  <a:lnTo>
                    <a:pt x="805060" y="1228"/>
                  </a:lnTo>
                  <a:lnTo>
                    <a:pt x="839678" y="2776"/>
                  </a:lnTo>
                  <a:lnTo>
                    <a:pt x="851171" y="3430"/>
                  </a:lnTo>
                  <a:lnTo>
                    <a:pt x="850214" y="19390"/>
                  </a:lnTo>
                  <a:lnTo>
                    <a:pt x="850122" y="20923"/>
                  </a:lnTo>
                  <a:lnTo>
                    <a:pt x="850083" y="21571"/>
                  </a:lnTo>
                  <a:close/>
                </a:path>
                <a:path w="1471929" h="563244">
                  <a:moveTo>
                    <a:pt x="922472" y="27347"/>
                  </a:moveTo>
                  <a:lnTo>
                    <a:pt x="911280" y="26263"/>
                  </a:lnTo>
                  <a:lnTo>
                    <a:pt x="877454" y="23414"/>
                  </a:lnTo>
                  <a:lnTo>
                    <a:pt x="878512" y="9264"/>
                  </a:lnTo>
                  <a:lnTo>
                    <a:pt x="878594" y="8169"/>
                  </a:lnTo>
                  <a:lnTo>
                    <a:pt x="878671" y="7141"/>
                  </a:lnTo>
                  <a:lnTo>
                    <a:pt x="878743" y="6182"/>
                  </a:lnTo>
                  <a:lnTo>
                    <a:pt x="878810" y="5291"/>
                  </a:lnTo>
                  <a:lnTo>
                    <a:pt x="912977" y="8169"/>
                  </a:lnTo>
                  <a:lnTo>
                    <a:pt x="924282" y="9264"/>
                  </a:lnTo>
                  <a:lnTo>
                    <a:pt x="922866" y="23414"/>
                  </a:lnTo>
                  <a:lnTo>
                    <a:pt x="922777" y="24296"/>
                  </a:lnTo>
                  <a:lnTo>
                    <a:pt x="922682" y="25246"/>
                  </a:lnTo>
                  <a:lnTo>
                    <a:pt x="922580" y="26263"/>
                  </a:lnTo>
                  <a:lnTo>
                    <a:pt x="922472" y="27347"/>
                  </a:lnTo>
                  <a:close/>
                </a:path>
                <a:path w="1471929" h="563244">
                  <a:moveTo>
                    <a:pt x="994356" y="36075"/>
                  </a:moveTo>
                  <a:lnTo>
                    <a:pt x="972055" y="33032"/>
                  </a:lnTo>
                  <a:lnTo>
                    <a:pt x="949499" y="30265"/>
                  </a:lnTo>
                  <a:lnTo>
                    <a:pt x="951591" y="12212"/>
                  </a:lnTo>
                  <a:lnTo>
                    <a:pt x="974392" y="15009"/>
                  </a:lnTo>
                  <a:lnTo>
                    <a:pt x="996936" y="18085"/>
                  </a:lnTo>
                  <a:lnTo>
                    <a:pt x="994356" y="36075"/>
                  </a:lnTo>
                  <a:close/>
                </a:path>
                <a:path w="1471929" h="563244">
                  <a:moveTo>
                    <a:pt x="1066520" y="48163"/>
                  </a:moveTo>
                  <a:lnTo>
                    <a:pt x="1044209" y="44042"/>
                  </a:lnTo>
                  <a:lnTo>
                    <a:pt x="1021533" y="40212"/>
                  </a:lnTo>
                  <a:lnTo>
                    <a:pt x="1024425" y="22271"/>
                  </a:lnTo>
                  <a:lnTo>
                    <a:pt x="1047376" y="26147"/>
                  </a:lnTo>
                  <a:lnTo>
                    <a:pt x="1069960" y="30318"/>
                  </a:lnTo>
                  <a:lnTo>
                    <a:pt x="1066520" y="48163"/>
                  </a:lnTo>
                  <a:close/>
                </a:path>
                <a:path w="1471929" h="563244">
                  <a:moveTo>
                    <a:pt x="1136413" y="63554"/>
                  </a:moveTo>
                  <a:lnTo>
                    <a:pt x="1114941" y="58399"/>
                  </a:lnTo>
                  <a:lnTo>
                    <a:pt x="1092995" y="53531"/>
                  </a:lnTo>
                  <a:lnTo>
                    <a:pt x="1096780" y="35756"/>
                  </a:lnTo>
                  <a:lnTo>
                    <a:pt x="1119035" y="40692"/>
                  </a:lnTo>
                  <a:lnTo>
                    <a:pt x="1140813" y="45921"/>
                  </a:lnTo>
                  <a:lnTo>
                    <a:pt x="1136413" y="63554"/>
                  </a:lnTo>
                  <a:close/>
                </a:path>
                <a:path w="1471929" h="563244">
                  <a:moveTo>
                    <a:pt x="1207190" y="83679"/>
                  </a:moveTo>
                  <a:lnTo>
                    <a:pt x="1196561" y="80317"/>
                  </a:lnTo>
                  <a:lnTo>
                    <a:pt x="1185764" y="77032"/>
                  </a:lnTo>
                  <a:lnTo>
                    <a:pt x="1174800" y="73827"/>
                  </a:lnTo>
                  <a:lnTo>
                    <a:pt x="1163667" y="70700"/>
                  </a:lnTo>
                  <a:lnTo>
                    <a:pt x="1168490" y="53178"/>
                  </a:lnTo>
                  <a:lnTo>
                    <a:pt x="1179813" y="56359"/>
                  </a:lnTo>
                  <a:lnTo>
                    <a:pt x="1190968" y="59620"/>
                  </a:lnTo>
                  <a:lnTo>
                    <a:pt x="1201953" y="62961"/>
                  </a:lnTo>
                  <a:lnTo>
                    <a:pt x="1212770" y="66383"/>
                  </a:lnTo>
                  <a:lnTo>
                    <a:pt x="1207190" y="83679"/>
                  </a:lnTo>
                  <a:close/>
                </a:path>
                <a:path w="1471929" h="563244">
                  <a:moveTo>
                    <a:pt x="1274907" y="108622"/>
                  </a:moveTo>
                  <a:lnTo>
                    <a:pt x="1264542" y="104356"/>
                  </a:lnTo>
                  <a:lnTo>
                    <a:pt x="1253937" y="100176"/>
                  </a:lnTo>
                  <a:lnTo>
                    <a:pt x="1243094" y="96081"/>
                  </a:lnTo>
                  <a:lnTo>
                    <a:pt x="1232013" y="92071"/>
                  </a:lnTo>
                  <a:lnTo>
                    <a:pt x="1238080" y="74940"/>
                  </a:lnTo>
                  <a:lnTo>
                    <a:pt x="1249407" y="79039"/>
                  </a:lnTo>
                  <a:lnTo>
                    <a:pt x="1260495" y="83227"/>
                  </a:lnTo>
                  <a:lnTo>
                    <a:pt x="1271343" y="87503"/>
                  </a:lnTo>
                  <a:lnTo>
                    <a:pt x="1281951" y="91869"/>
                  </a:lnTo>
                  <a:lnTo>
                    <a:pt x="1274907" y="108622"/>
                  </a:lnTo>
                  <a:close/>
                </a:path>
                <a:path w="1471929" h="563244">
                  <a:moveTo>
                    <a:pt x="1337804" y="139246"/>
                  </a:moveTo>
                  <a:lnTo>
                    <a:pt x="1328791" y="134256"/>
                  </a:lnTo>
                  <a:lnTo>
                    <a:pt x="1319482" y="129345"/>
                  </a:lnTo>
                  <a:lnTo>
                    <a:pt x="1309877" y="124512"/>
                  </a:lnTo>
                  <a:lnTo>
                    <a:pt x="1299977" y="119757"/>
                  </a:lnTo>
                  <a:lnTo>
                    <a:pt x="1307699" y="103305"/>
                  </a:lnTo>
                  <a:lnTo>
                    <a:pt x="1317915" y="108212"/>
                  </a:lnTo>
                  <a:lnTo>
                    <a:pt x="1327832" y="113204"/>
                  </a:lnTo>
                  <a:lnTo>
                    <a:pt x="1337450" y="118279"/>
                  </a:lnTo>
                  <a:lnTo>
                    <a:pt x="1346770" y="123438"/>
                  </a:lnTo>
                  <a:lnTo>
                    <a:pt x="1337804" y="139246"/>
                  </a:lnTo>
                  <a:close/>
                </a:path>
                <a:path w="1471929" h="563244">
                  <a:moveTo>
                    <a:pt x="1397069" y="180262"/>
                  </a:moveTo>
                  <a:lnTo>
                    <a:pt x="1389099" y="173611"/>
                  </a:lnTo>
                  <a:lnTo>
                    <a:pt x="1380642" y="167044"/>
                  </a:lnTo>
                  <a:lnTo>
                    <a:pt x="1371700" y="160562"/>
                  </a:lnTo>
                  <a:lnTo>
                    <a:pt x="1362271" y="154164"/>
                  </a:lnTo>
                  <a:lnTo>
                    <a:pt x="1372251" y="138976"/>
                  </a:lnTo>
                  <a:lnTo>
                    <a:pt x="1382178" y="145713"/>
                  </a:lnTo>
                  <a:lnTo>
                    <a:pt x="1391607" y="152551"/>
                  </a:lnTo>
                  <a:lnTo>
                    <a:pt x="1400537" y="159488"/>
                  </a:lnTo>
                  <a:lnTo>
                    <a:pt x="1408968" y="166526"/>
                  </a:lnTo>
                  <a:lnTo>
                    <a:pt x="1397069" y="180262"/>
                  </a:lnTo>
                  <a:close/>
                </a:path>
                <a:path w="1471929" h="563244">
                  <a:moveTo>
                    <a:pt x="1440874" y="232821"/>
                  </a:moveTo>
                  <a:lnTo>
                    <a:pt x="1435958" y="224313"/>
                  </a:lnTo>
                  <a:lnTo>
                    <a:pt x="1430090" y="215598"/>
                  </a:lnTo>
                  <a:lnTo>
                    <a:pt x="1423503" y="207079"/>
                  </a:lnTo>
                  <a:lnTo>
                    <a:pt x="1416119" y="198623"/>
                  </a:lnTo>
                  <a:lnTo>
                    <a:pt x="1429468" y="186292"/>
                  </a:lnTo>
                  <a:lnTo>
                    <a:pt x="1437623" y="195638"/>
                  </a:lnTo>
                  <a:lnTo>
                    <a:pt x="1444919" y="205090"/>
                  </a:lnTo>
                  <a:lnTo>
                    <a:pt x="1451355" y="214649"/>
                  </a:lnTo>
                  <a:lnTo>
                    <a:pt x="1456855" y="224178"/>
                  </a:lnTo>
                  <a:lnTo>
                    <a:pt x="1456933" y="224313"/>
                  </a:lnTo>
                  <a:lnTo>
                    <a:pt x="1440874" y="232821"/>
                  </a:lnTo>
                  <a:close/>
                </a:path>
                <a:path w="1471929" h="563244">
                  <a:moveTo>
                    <a:pt x="1461622" y="329346"/>
                  </a:moveTo>
                  <a:lnTo>
                    <a:pt x="1444966" y="322077"/>
                  </a:lnTo>
                  <a:lnTo>
                    <a:pt x="1448809" y="312004"/>
                  </a:lnTo>
                  <a:lnTo>
                    <a:pt x="1451554" y="301914"/>
                  </a:lnTo>
                  <a:lnTo>
                    <a:pt x="1453202" y="291808"/>
                  </a:lnTo>
                  <a:lnTo>
                    <a:pt x="1453751" y="281685"/>
                  </a:lnTo>
                  <a:lnTo>
                    <a:pt x="1453751" y="273412"/>
                  </a:lnTo>
                  <a:lnTo>
                    <a:pt x="1452650" y="265148"/>
                  </a:lnTo>
                  <a:lnTo>
                    <a:pt x="1450448" y="256894"/>
                  </a:lnTo>
                  <a:lnTo>
                    <a:pt x="1468007" y="252210"/>
                  </a:lnTo>
                  <a:lnTo>
                    <a:pt x="1469721" y="259558"/>
                  </a:lnTo>
                  <a:lnTo>
                    <a:pt x="1470945" y="266920"/>
                  </a:lnTo>
                  <a:lnTo>
                    <a:pt x="1471591" y="273412"/>
                  </a:lnTo>
                  <a:lnTo>
                    <a:pt x="1471679" y="274296"/>
                  </a:lnTo>
                  <a:lnTo>
                    <a:pt x="1466129" y="317515"/>
                  </a:lnTo>
                  <a:lnTo>
                    <a:pt x="1461622" y="329346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9062987" y="1594770"/>
            <a:ext cx="107315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0" b="1">
                <a:solidFill>
                  <a:srgbClr val="0C4A86"/>
                </a:solidFill>
                <a:latin typeface="Arial"/>
                <a:cs typeface="Arial"/>
              </a:rPr>
              <a:t>RL-</a:t>
            </a:r>
            <a:r>
              <a:rPr dirty="0" sz="900" spc="-35" b="1">
                <a:solidFill>
                  <a:srgbClr val="0C4A86"/>
                </a:solidFill>
                <a:latin typeface="Arial"/>
                <a:cs typeface="Arial"/>
              </a:rPr>
              <a:t>based</a:t>
            </a:r>
            <a:r>
              <a:rPr dirty="0" sz="900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C4A86"/>
                </a:solidFill>
                <a:latin typeface="Arial"/>
                <a:cs typeface="Arial"/>
              </a:rPr>
              <a:t>Controller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8686725" y="1859462"/>
            <a:ext cx="1825625" cy="2094230"/>
            <a:chOff x="8686725" y="1859462"/>
            <a:chExt cx="1825625" cy="2094230"/>
          </a:xfrm>
        </p:grpSpPr>
        <p:sp>
          <p:nvSpPr>
            <p:cNvPr id="52" name="object 52" descr=""/>
            <p:cNvSpPr/>
            <p:nvPr/>
          </p:nvSpPr>
          <p:spPr>
            <a:xfrm>
              <a:off x="9599265" y="1861843"/>
              <a:ext cx="0" cy="1181735"/>
            </a:xfrm>
            <a:custGeom>
              <a:avLst/>
              <a:gdLst/>
              <a:ahLst/>
              <a:cxnLst/>
              <a:rect l="l" t="t" r="r" b="b"/>
              <a:pathLst>
                <a:path w="0" h="1181735">
                  <a:moveTo>
                    <a:pt x="0" y="0"/>
                  </a:moveTo>
                  <a:lnTo>
                    <a:pt x="0" y="254427"/>
                  </a:lnTo>
                </a:path>
                <a:path w="0" h="1181735">
                  <a:moveTo>
                    <a:pt x="0" y="0"/>
                  </a:moveTo>
                  <a:lnTo>
                    <a:pt x="0" y="1181271"/>
                  </a:lnTo>
                </a:path>
              </a:pathLst>
            </a:custGeom>
            <a:ln w="9086">
              <a:solidFill>
                <a:srgbClr val="0C4A8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686724" y="1859470"/>
              <a:ext cx="1825625" cy="2094230"/>
            </a:xfrm>
            <a:custGeom>
              <a:avLst/>
              <a:gdLst/>
              <a:ahLst/>
              <a:cxnLst/>
              <a:rect l="l" t="t" r="r" b="b"/>
              <a:pathLst>
                <a:path w="1825625" h="2094229">
                  <a:moveTo>
                    <a:pt x="20320" y="1165580"/>
                  </a:moveTo>
                  <a:lnTo>
                    <a:pt x="12585" y="1160818"/>
                  </a:lnTo>
                  <a:lnTo>
                    <a:pt x="0" y="1181265"/>
                  </a:lnTo>
                  <a:lnTo>
                    <a:pt x="7734" y="1186027"/>
                  </a:lnTo>
                  <a:lnTo>
                    <a:pt x="20320" y="1165580"/>
                  </a:lnTo>
                  <a:close/>
                </a:path>
                <a:path w="1825625" h="2094229">
                  <a:moveTo>
                    <a:pt x="48895" y="1119136"/>
                  </a:moveTo>
                  <a:lnTo>
                    <a:pt x="41160" y="1114374"/>
                  </a:lnTo>
                  <a:lnTo>
                    <a:pt x="22110" y="1145336"/>
                  </a:lnTo>
                  <a:lnTo>
                    <a:pt x="29845" y="1150099"/>
                  </a:lnTo>
                  <a:lnTo>
                    <a:pt x="48895" y="1119136"/>
                  </a:lnTo>
                  <a:close/>
                </a:path>
                <a:path w="1825625" h="2094229">
                  <a:moveTo>
                    <a:pt x="77470" y="1072705"/>
                  </a:moveTo>
                  <a:lnTo>
                    <a:pt x="69735" y="1067943"/>
                  </a:lnTo>
                  <a:lnTo>
                    <a:pt x="50685" y="1098905"/>
                  </a:lnTo>
                  <a:lnTo>
                    <a:pt x="58420" y="1103668"/>
                  </a:lnTo>
                  <a:lnTo>
                    <a:pt x="77470" y="1072705"/>
                  </a:lnTo>
                  <a:close/>
                </a:path>
                <a:path w="1825625" h="2094229">
                  <a:moveTo>
                    <a:pt x="106045" y="1026274"/>
                  </a:moveTo>
                  <a:lnTo>
                    <a:pt x="98310" y="1021511"/>
                  </a:lnTo>
                  <a:lnTo>
                    <a:pt x="79260" y="1052474"/>
                  </a:lnTo>
                  <a:lnTo>
                    <a:pt x="86995" y="1057236"/>
                  </a:lnTo>
                  <a:lnTo>
                    <a:pt x="106045" y="1026274"/>
                  </a:lnTo>
                  <a:close/>
                </a:path>
                <a:path w="1825625" h="2094229">
                  <a:moveTo>
                    <a:pt x="134620" y="979843"/>
                  </a:moveTo>
                  <a:lnTo>
                    <a:pt x="126885" y="975080"/>
                  </a:lnTo>
                  <a:lnTo>
                    <a:pt x="107835" y="1006043"/>
                  </a:lnTo>
                  <a:lnTo>
                    <a:pt x="115570" y="1010805"/>
                  </a:lnTo>
                  <a:lnTo>
                    <a:pt x="134620" y="979843"/>
                  </a:lnTo>
                  <a:close/>
                </a:path>
                <a:path w="1825625" h="2094229">
                  <a:moveTo>
                    <a:pt x="163195" y="933411"/>
                  </a:moveTo>
                  <a:lnTo>
                    <a:pt x="155448" y="928649"/>
                  </a:lnTo>
                  <a:lnTo>
                    <a:pt x="136398" y="959599"/>
                  </a:lnTo>
                  <a:lnTo>
                    <a:pt x="144145" y="964361"/>
                  </a:lnTo>
                  <a:lnTo>
                    <a:pt x="163195" y="933411"/>
                  </a:lnTo>
                  <a:close/>
                </a:path>
                <a:path w="1825625" h="2094229">
                  <a:moveTo>
                    <a:pt x="191770" y="886980"/>
                  </a:moveTo>
                  <a:lnTo>
                    <a:pt x="184023" y="882218"/>
                  </a:lnTo>
                  <a:lnTo>
                    <a:pt x="164973" y="913168"/>
                  </a:lnTo>
                  <a:lnTo>
                    <a:pt x="172720" y="917930"/>
                  </a:lnTo>
                  <a:lnTo>
                    <a:pt x="191770" y="886980"/>
                  </a:lnTo>
                  <a:close/>
                </a:path>
                <a:path w="1825625" h="2094229">
                  <a:moveTo>
                    <a:pt x="220345" y="840549"/>
                  </a:moveTo>
                  <a:lnTo>
                    <a:pt x="212598" y="835787"/>
                  </a:lnTo>
                  <a:lnTo>
                    <a:pt x="193548" y="866736"/>
                  </a:lnTo>
                  <a:lnTo>
                    <a:pt x="201295" y="871499"/>
                  </a:lnTo>
                  <a:lnTo>
                    <a:pt x="220345" y="840549"/>
                  </a:lnTo>
                  <a:close/>
                </a:path>
                <a:path w="1825625" h="2094229">
                  <a:moveTo>
                    <a:pt x="248920" y="794118"/>
                  </a:moveTo>
                  <a:lnTo>
                    <a:pt x="241173" y="789355"/>
                  </a:lnTo>
                  <a:lnTo>
                    <a:pt x="222123" y="820305"/>
                  </a:lnTo>
                  <a:lnTo>
                    <a:pt x="229870" y="825068"/>
                  </a:lnTo>
                  <a:lnTo>
                    <a:pt x="248920" y="794118"/>
                  </a:lnTo>
                  <a:close/>
                </a:path>
                <a:path w="1825625" h="2094229">
                  <a:moveTo>
                    <a:pt x="277482" y="747687"/>
                  </a:moveTo>
                  <a:lnTo>
                    <a:pt x="269748" y="742924"/>
                  </a:lnTo>
                  <a:lnTo>
                    <a:pt x="250698" y="773874"/>
                  </a:lnTo>
                  <a:lnTo>
                    <a:pt x="258432" y="778637"/>
                  </a:lnTo>
                  <a:lnTo>
                    <a:pt x="277482" y="747687"/>
                  </a:lnTo>
                  <a:close/>
                </a:path>
                <a:path w="1825625" h="2094229">
                  <a:moveTo>
                    <a:pt x="306057" y="701243"/>
                  </a:moveTo>
                  <a:lnTo>
                    <a:pt x="298323" y="696480"/>
                  </a:lnTo>
                  <a:lnTo>
                    <a:pt x="279273" y="727443"/>
                  </a:lnTo>
                  <a:lnTo>
                    <a:pt x="287007" y="732205"/>
                  </a:lnTo>
                  <a:lnTo>
                    <a:pt x="306057" y="701243"/>
                  </a:lnTo>
                  <a:close/>
                </a:path>
                <a:path w="1825625" h="2094229">
                  <a:moveTo>
                    <a:pt x="334632" y="654812"/>
                  </a:moveTo>
                  <a:lnTo>
                    <a:pt x="326898" y="650049"/>
                  </a:lnTo>
                  <a:lnTo>
                    <a:pt x="307848" y="681012"/>
                  </a:lnTo>
                  <a:lnTo>
                    <a:pt x="315582" y="685774"/>
                  </a:lnTo>
                  <a:lnTo>
                    <a:pt x="334632" y="654812"/>
                  </a:lnTo>
                  <a:close/>
                </a:path>
                <a:path w="1825625" h="2094229">
                  <a:moveTo>
                    <a:pt x="363207" y="608380"/>
                  </a:moveTo>
                  <a:lnTo>
                    <a:pt x="355473" y="603618"/>
                  </a:lnTo>
                  <a:lnTo>
                    <a:pt x="336423" y="634580"/>
                  </a:lnTo>
                  <a:lnTo>
                    <a:pt x="344157" y="639343"/>
                  </a:lnTo>
                  <a:lnTo>
                    <a:pt x="363207" y="608380"/>
                  </a:lnTo>
                  <a:close/>
                </a:path>
                <a:path w="1825625" h="2094229">
                  <a:moveTo>
                    <a:pt x="391782" y="561949"/>
                  </a:moveTo>
                  <a:lnTo>
                    <a:pt x="384048" y="557187"/>
                  </a:lnTo>
                  <a:lnTo>
                    <a:pt x="364998" y="588149"/>
                  </a:lnTo>
                  <a:lnTo>
                    <a:pt x="372732" y="592912"/>
                  </a:lnTo>
                  <a:lnTo>
                    <a:pt x="391782" y="561949"/>
                  </a:lnTo>
                  <a:close/>
                </a:path>
                <a:path w="1825625" h="2094229">
                  <a:moveTo>
                    <a:pt x="420357" y="515518"/>
                  </a:moveTo>
                  <a:lnTo>
                    <a:pt x="412623" y="510755"/>
                  </a:lnTo>
                  <a:lnTo>
                    <a:pt x="393573" y="541705"/>
                  </a:lnTo>
                  <a:lnTo>
                    <a:pt x="401307" y="546468"/>
                  </a:lnTo>
                  <a:lnTo>
                    <a:pt x="420357" y="515518"/>
                  </a:lnTo>
                  <a:close/>
                </a:path>
                <a:path w="1825625" h="2094229">
                  <a:moveTo>
                    <a:pt x="448932" y="469087"/>
                  </a:moveTo>
                  <a:lnTo>
                    <a:pt x="441198" y="464324"/>
                  </a:lnTo>
                  <a:lnTo>
                    <a:pt x="422148" y="495274"/>
                  </a:lnTo>
                  <a:lnTo>
                    <a:pt x="429882" y="500037"/>
                  </a:lnTo>
                  <a:lnTo>
                    <a:pt x="448932" y="469087"/>
                  </a:lnTo>
                  <a:close/>
                </a:path>
                <a:path w="1825625" h="2094229">
                  <a:moveTo>
                    <a:pt x="477507" y="422656"/>
                  </a:moveTo>
                  <a:lnTo>
                    <a:pt x="469760" y="417893"/>
                  </a:lnTo>
                  <a:lnTo>
                    <a:pt x="450723" y="448843"/>
                  </a:lnTo>
                  <a:lnTo>
                    <a:pt x="458457" y="453605"/>
                  </a:lnTo>
                  <a:lnTo>
                    <a:pt x="477507" y="422656"/>
                  </a:lnTo>
                  <a:close/>
                </a:path>
                <a:path w="1825625" h="2094229">
                  <a:moveTo>
                    <a:pt x="506082" y="376224"/>
                  </a:moveTo>
                  <a:lnTo>
                    <a:pt x="498335" y="371462"/>
                  </a:lnTo>
                  <a:lnTo>
                    <a:pt x="479285" y="402412"/>
                  </a:lnTo>
                  <a:lnTo>
                    <a:pt x="487032" y="407174"/>
                  </a:lnTo>
                  <a:lnTo>
                    <a:pt x="506082" y="376224"/>
                  </a:lnTo>
                  <a:close/>
                </a:path>
                <a:path w="1825625" h="2094229">
                  <a:moveTo>
                    <a:pt x="534657" y="329793"/>
                  </a:moveTo>
                  <a:lnTo>
                    <a:pt x="526910" y="325031"/>
                  </a:lnTo>
                  <a:lnTo>
                    <a:pt x="507860" y="355981"/>
                  </a:lnTo>
                  <a:lnTo>
                    <a:pt x="515607" y="360743"/>
                  </a:lnTo>
                  <a:lnTo>
                    <a:pt x="534657" y="329793"/>
                  </a:lnTo>
                  <a:close/>
                </a:path>
                <a:path w="1825625" h="2094229">
                  <a:moveTo>
                    <a:pt x="563232" y="283349"/>
                  </a:moveTo>
                  <a:lnTo>
                    <a:pt x="555485" y="278599"/>
                  </a:lnTo>
                  <a:lnTo>
                    <a:pt x="536435" y="309549"/>
                  </a:lnTo>
                  <a:lnTo>
                    <a:pt x="544182" y="314312"/>
                  </a:lnTo>
                  <a:lnTo>
                    <a:pt x="563232" y="283349"/>
                  </a:lnTo>
                  <a:close/>
                </a:path>
                <a:path w="1825625" h="2094229">
                  <a:moveTo>
                    <a:pt x="591794" y="236918"/>
                  </a:moveTo>
                  <a:lnTo>
                    <a:pt x="584060" y="232156"/>
                  </a:lnTo>
                  <a:lnTo>
                    <a:pt x="565010" y="263118"/>
                  </a:lnTo>
                  <a:lnTo>
                    <a:pt x="572757" y="267881"/>
                  </a:lnTo>
                  <a:lnTo>
                    <a:pt x="591794" y="236918"/>
                  </a:lnTo>
                  <a:close/>
                </a:path>
                <a:path w="1825625" h="2094229">
                  <a:moveTo>
                    <a:pt x="620369" y="190487"/>
                  </a:moveTo>
                  <a:lnTo>
                    <a:pt x="612635" y="185724"/>
                  </a:lnTo>
                  <a:lnTo>
                    <a:pt x="593585" y="216687"/>
                  </a:lnTo>
                  <a:lnTo>
                    <a:pt x="601319" y="221449"/>
                  </a:lnTo>
                  <a:lnTo>
                    <a:pt x="620369" y="190487"/>
                  </a:lnTo>
                  <a:close/>
                </a:path>
                <a:path w="1825625" h="2094229">
                  <a:moveTo>
                    <a:pt x="648944" y="144056"/>
                  </a:moveTo>
                  <a:lnTo>
                    <a:pt x="641210" y="139293"/>
                  </a:lnTo>
                  <a:lnTo>
                    <a:pt x="622160" y="170256"/>
                  </a:lnTo>
                  <a:lnTo>
                    <a:pt x="629894" y="175018"/>
                  </a:lnTo>
                  <a:lnTo>
                    <a:pt x="648944" y="144056"/>
                  </a:lnTo>
                  <a:close/>
                </a:path>
                <a:path w="1825625" h="2094229">
                  <a:moveTo>
                    <a:pt x="677519" y="97624"/>
                  </a:moveTo>
                  <a:lnTo>
                    <a:pt x="669785" y="92862"/>
                  </a:lnTo>
                  <a:lnTo>
                    <a:pt x="650735" y="123812"/>
                  </a:lnTo>
                  <a:lnTo>
                    <a:pt x="658469" y="128574"/>
                  </a:lnTo>
                  <a:lnTo>
                    <a:pt x="677519" y="97624"/>
                  </a:lnTo>
                  <a:close/>
                </a:path>
                <a:path w="1825625" h="2094229">
                  <a:moveTo>
                    <a:pt x="706094" y="51193"/>
                  </a:moveTo>
                  <a:lnTo>
                    <a:pt x="698360" y="46431"/>
                  </a:lnTo>
                  <a:lnTo>
                    <a:pt x="679310" y="77381"/>
                  </a:lnTo>
                  <a:lnTo>
                    <a:pt x="687044" y="82143"/>
                  </a:lnTo>
                  <a:lnTo>
                    <a:pt x="706094" y="51193"/>
                  </a:lnTo>
                  <a:close/>
                </a:path>
                <a:path w="1825625" h="2094229">
                  <a:moveTo>
                    <a:pt x="734669" y="4762"/>
                  </a:moveTo>
                  <a:lnTo>
                    <a:pt x="726935" y="0"/>
                  </a:lnTo>
                  <a:lnTo>
                    <a:pt x="707885" y="30949"/>
                  </a:lnTo>
                  <a:lnTo>
                    <a:pt x="715619" y="35712"/>
                  </a:lnTo>
                  <a:lnTo>
                    <a:pt x="734669" y="4762"/>
                  </a:lnTo>
                  <a:close/>
                </a:path>
                <a:path w="1825625" h="2094229">
                  <a:moveTo>
                    <a:pt x="1110500" y="35217"/>
                  </a:moveTo>
                  <a:lnTo>
                    <a:pt x="1098562" y="889"/>
                  </a:lnTo>
                  <a:lnTo>
                    <a:pt x="1089977" y="3873"/>
                  </a:lnTo>
                  <a:lnTo>
                    <a:pt x="1101915" y="38201"/>
                  </a:lnTo>
                  <a:lnTo>
                    <a:pt x="1110500" y="35217"/>
                  </a:lnTo>
                  <a:close/>
                </a:path>
                <a:path w="1825625" h="2094229">
                  <a:moveTo>
                    <a:pt x="1128407" y="86715"/>
                  </a:moveTo>
                  <a:lnTo>
                    <a:pt x="1116469" y="52374"/>
                  </a:lnTo>
                  <a:lnTo>
                    <a:pt x="1107884" y="55372"/>
                  </a:lnTo>
                  <a:lnTo>
                    <a:pt x="1119835" y="89700"/>
                  </a:lnTo>
                  <a:lnTo>
                    <a:pt x="1128407" y="86715"/>
                  </a:lnTo>
                  <a:close/>
                </a:path>
                <a:path w="1825625" h="2094229">
                  <a:moveTo>
                    <a:pt x="1146327" y="138201"/>
                  </a:moveTo>
                  <a:lnTo>
                    <a:pt x="1134376" y="103873"/>
                  </a:lnTo>
                  <a:lnTo>
                    <a:pt x="1125804" y="106857"/>
                  </a:lnTo>
                  <a:lnTo>
                    <a:pt x="1137742" y="141185"/>
                  </a:lnTo>
                  <a:lnTo>
                    <a:pt x="1146327" y="138201"/>
                  </a:lnTo>
                  <a:close/>
                </a:path>
                <a:path w="1825625" h="2094229">
                  <a:moveTo>
                    <a:pt x="1164234" y="189699"/>
                  </a:moveTo>
                  <a:lnTo>
                    <a:pt x="1152296" y="155371"/>
                  </a:lnTo>
                  <a:lnTo>
                    <a:pt x="1143711" y="158356"/>
                  </a:lnTo>
                  <a:lnTo>
                    <a:pt x="1155649" y="192684"/>
                  </a:lnTo>
                  <a:lnTo>
                    <a:pt x="1164234" y="189699"/>
                  </a:lnTo>
                  <a:close/>
                </a:path>
                <a:path w="1825625" h="2094229">
                  <a:moveTo>
                    <a:pt x="1182141" y="241198"/>
                  </a:moveTo>
                  <a:lnTo>
                    <a:pt x="1170203" y="206857"/>
                  </a:lnTo>
                  <a:lnTo>
                    <a:pt x="1161618" y="209854"/>
                  </a:lnTo>
                  <a:lnTo>
                    <a:pt x="1173556" y="244182"/>
                  </a:lnTo>
                  <a:lnTo>
                    <a:pt x="1182141" y="241198"/>
                  </a:lnTo>
                  <a:close/>
                </a:path>
                <a:path w="1825625" h="2094229">
                  <a:moveTo>
                    <a:pt x="1200061" y="292684"/>
                  </a:moveTo>
                  <a:lnTo>
                    <a:pt x="1188110" y="258356"/>
                  </a:lnTo>
                  <a:lnTo>
                    <a:pt x="1179537" y="261340"/>
                  </a:lnTo>
                  <a:lnTo>
                    <a:pt x="1191475" y="295668"/>
                  </a:lnTo>
                  <a:lnTo>
                    <a:pt x="1200061" y="292684"/>
                  </a:lnTo>
                  <a:close/>
                </a:path>
                <a:path w="1825625" h="2094229">
                  <a:moveTo>
                    <a:pt x="1217968" y="344182"/>
                  </a:moveTo>
                  <a:lnTo>
                    <a:pt x="1206030" y="309854"/>
                  </a:lnTo>
                  <a:lnTo>
                    <a:pt x="1197444" y="312839"/>
                  </a:lnTo>
                  <a:lnTo>
                    <a:pt x="1209382" y="347167"/>
                  </a:lnTo>
                  <a:lnTo>
                    <a:pt x="1217968" y="344182"/>
                  </a:lnTo>
                  <a:close/>
                </a:path>
                <a:path w="1825625" h="2094229">
                  <a:moveTo>
                    <a:pt x="1235875" y="395681"/>
                  </a:moveTo>
                  <a:lnTo>
                    <a:pt x="1223937" y="361340"/>
                  </a:lnTo>
                  <a:lnTo>
                    <a:pt x="1215351" y="364324"/>
                  </a:lnTo>
                  <a:lnTo>
                    <a:pt x="1227289" y="398665"/>
                  </a:lnTo>
                  <a:lnTo>
                    <a:pt x="1235875" y="395681"/>
                  </a:lnTo>
                  <a:close/>
                </a:path>
                <a:path w="1825625" h="2094229">
                  <a:moveTo>
                    <a:pt x="1253794" y="447167"/>
                  </a:moveTo>
                  <a:lnTo>
                    <a:pt x="1241844" y="412838"/>
                  </a:lnTo>
                  <a:lnTo>
                    <a:pt x="1233271" y="415823"/>
                  </a:lnTo>
                  <a:lnTo>
                    <a:pt x="1245209" y="450151"/>
                  </a:lnTo>
                  <a:lnTo>
                    <a:pt x="1253794" y="447167"/>
                  </a:lnTo>
                  <a:close/>
                </a:path>
                <a:path w="1825625" h="2094229">
                  <a:moveTo>
                    <a:pt x="1271701" y="498665"/>
                  </a:moveTo>
                  <a:lnTo>
                    <a:pt x="1259763" y="464337"/>
                  </a:lnTo>
                  <a:lnTo>
                    <a:pt x="1251178" y="467321"/>
                  </a:lnTo>
                  <a:lnTo>
                    <a:pt x="1263116" y="501650"/>
                  </a:lnTo>
                  <a:lnTo>
                    <a:pt x="1271701" y="498665"/>
                  </a:lnTo>
                  <a:close/>
                </a:path>
                <a:path w="1825625" h="2094229">
                  <a:moveTo>
                    <a:pt x="1289608" y="550164"/>
                  </a:moveTo>
                  <a:lnTo>
                    <a:pt x="1277670" y="515823"/>
                  </a:lnTo>
                  <a:lnTo>
                    <a:pt x="1269085" y="518807"/>
                  </a:lnTo>
                  <a:lnTo>
                    <a:pt x="1281023" y="553148"/>
                  </a:lnTo>
                  <a:lnTo>
                    <a:pt x="1289608" y="550164"/>
                  </a:lnTo>
                  <a:close/>
                </a:path>
                <a:path w="1825625" h="2094229">
                  <a:moveTo>
                    <a:pt x="1307515" y="601649"/>
                  </a:moveTo>
                  <a:lnTo>
                    <a:pt x="1295577" y="567321"/>
                  </a:lnTo>
                  <a:lnTo>
                    <a:pt x="1286992" y="570306"/>
                  </a:lnTo>
                  <a:lnTo>
                    <a:pt x="1298943" y="604634"/>
                  </a:lnTo>
                  <a:lnTo>
                    <a:pt x="1307515" y="601649"/>
                  </a:lnTo>
                  <a:close/>
                </a:path>
                <a:path w="1825625" h="2094229">
                  <a:moveTo>
                    <a:pt x="1325435" y="653148"/>
                  </a:moveTo>
                  <a:lnTo>
                    <a:pt x="1313497" y="618820"/>
                  </a:lnTo>
                  <a:lnTo>
                    <a:pt x="1304912" y="621804"/>
                  </a:lnTo>
                  <a:lnTo>
                    <a:pt x="1316850" y="656132"/>
                  </a:lnTo>
                  <a:lnTo>
                    <a:pt x="1325435" y="653148"/>
                  </a:lnTo>
                  <a:close/>
                </a:path>
                <a:path w="1825625" h="2094229">
                  <a:moveTo>
                    <a:pt x="1343342" y="704634"/>
                  </a:moveTo>
                  <a:lnTo>
                    <a:pt x="1331404" y="670306"/>
                  </a:lnTo>
                  <a:lnTo>
                    <a:pt x="1322819" y="673290"/>
                  </a:lnTo>
                  <a:lnTo>
                    <a:pt x="1334757" y="707631"/>
                  </a:lnTo>
                  <a:lnTo>
                    <a:pt x="1343342" y="704634"/>
                  </a:lnTo>
                  <a:close/>
                </a:path>
                <a:path w="1825625" h="2094229">
                  <a:moveTo>
                    <a:pt x="1361249" y="756132"/>
                  </a:moveTo>
                  <a:lnTo>
                    <a:pt x="1349311" y="721804"/>
                  </a:lnTo>
                  <a:lnTo>
                    <a:pt x="1340726" y="724789"/>
                  </a:lnTo>
                  <a:lnTo>
                    <a:pt x="1352677" y="759117"/>
                  </a:lnTo>
                  <a:lnTo>
                    <a:pt x="1361249" y="756132"/>
                  </a:lnTo>
                  <a:close/>
                </a:path>
                <a:path w="1825625" h="2094229">
                  <a:moveTo>
                    <a:pt x="1379169" y="807631"/>
                  </a:moveTo>
                  <a:lnTo>
                    <a:pt x="1367231" y="773303"/>
                  </a:lnTo>
                  <a:lnTo>
                    <a:pt x="1358646" y="776287"/>
                  </a:lnTo>
                  <a:lnTo>
                    <a:pt x="1370584" y="810615"/>
                  </a:lnTo>
                  <a:lnTo>
                    <a:pt x="1379169" y="807631"/>
                  </a:lnTo>
                  <a:close/>
                </a:path>
                <a:path w="1825625" h="2094229">
                  <a:moveTo>
                    <a:pt x="1397076" y="859116"/>
                  </a:moveTo>
                  <a:lnTo>
                    <a:pt x="1385138" y="824788"/>
                  </a:lnTo>
                  <a:lnTo>
                    <a:pt x="1376553" y="827773"/>
                  </a:lnTo>
                  <a:lnTo>
                    <a:pt x="1388491" y="862114"/>
                  </a:lnTo>
                  <a:lnTo>
                    <a:pt x="1397076" y="859116"/>
                  </a:lnTo>
                  <a:close/>
                </a:path>
                <a:path w="1825625" h="2094229">
                  <a:moveTo>
                    <a:pt x="1414983" y="910615"/>
                  </a:moveTo>
                  <a:lnTo>
                    <a:pt x="1403045" y="876287"/>
                  </a:lnTo>
                  <a:lnTo>
                    <a:pt x="1394460" y="879271"/>
                  </a:lnTo>
                  <a:lnTo>
                    <a:pt x="1406410" y="913599"/>
                  </a:lnTo>
                  <a:lnTo>
                    <a:pt x="1414983" y="910615"/>
                  </a:lnTo>
                  <a:close/>
                </a:path>
                <a:path w="1825625" h="2094229">
                  <a:moveTo>
                    <a:pt x="1432902" y="962113"/>
                  </a:moveTo>
                  <a:lnTo>
                    <a:pt x="1420952" y="927785"/>
                  </a:lnTo>
                  <a:lnTo>
                    <a:pt x="1412379" y="930770"/>
                  </a:lnTo>
                  <a:lnTo>
                    <a:pt x="1424317" y="965098"/>
                  </a:lnTo>
                  <a:lnTo>
                    <a:pt x="1432902" y="962113"/>
                  </a:lnTo>
                  <a:close/>
                </a:path>
                <a:path w="1825625" h="2094229">
                  <a:moveTo>
                    <a:pt x="1450809" y="1013599"/>
                  </a:moveTo>
                  <a:lnTo>
                    <a:pt x="1438871" y="979271"/>
                  </a:lnTo>
                  <a:lnTo>
                    <a:pt x="1430286" y="982256"/>
                  </a:lnTo>
                  <a:lnTo>
                    <a:pt x="1442224" y="1016584"/>
                  </a:lnTo>
                  <a:lnTo>
                    <a:pt x="1450809" y="1013599"/>
                  </a:lnTo>
                  <a:close/>
                </a:path>
                <a:path w="1825625" h="2094229">
                  <a:moveTo>
                    <a:pt x="1468716" y="1065098"/>
                  </a:moveTo>
                  <a:lnTo>
                    <a:pt x="1456778" y="1030770"/>
                  </a:lnTo>
                  <a:lnTo>
                    <a:pt x="1448193" y="1033754"/>
                  </a:lnTo>
                  <a:lnTo>
                    <a:pt x="1460144" y="1068082"/>
                  </a:lnTo>
                  <a:lnTo>
                    <a:pt x="1468716" y="1065098"/>
                  </a:lnTo>
                  <a:close/>
                </a:path>
                <a:path w="1825625" h="2094229">
                  <a:moveTo>
                    <a:pt x="1486636" y="1116596"/>
                  </a:moveTo>
                  <a:lnTo>
                    <a:pt x="1474685" y="1082268"/>
                  </a:lnTo>
                  <a:lnTo>
                    <a:pt x="1466113" y="1085253"/>
                  </a:lnTo>
                  <a:lnTo>
                    <a:pt x="1478051" y="1119581"/>
                  </a:lnTo>
                  <a:lnTo>
                    <a:pt x="1486636" y="1116596"/>
                  </a:lnTo>
                  <a:close/>
                </a:path>
                <a:path w="1825625" h="2094229">
                  <a:moveTo>
                    <a:pt x="1504543" y="1168082"/>
                  </a:moveTo>
                  <a:lnTo>
                    <a:pt x="1492605" y="1133754"/>
                  </a:lnTo>
                  <a:lnTo>
                    <a:pt x="1484020" y="1136738"/>
                  </a:lnTo>
                  <a:lnTo>
                    <a:pt x="1495958" y="1171067"/>
                  </a:lnTo>
                  <a:lnTo>
                    <a:pt x="1504543" y="1168082"/>
                  </a:lnTo>
                  <a:close/>
                </a:path>
                <a:path w="1825625" h="2094229">
                  <a:moveTo>
                    <a:pt x="1522450" y="1219581"/>
                  </a:moveTo>
                  <a:lnTo>
                    <a:pt x="1510512" y="1185252"/>
                  </a:lnTo>
                  <a:lnTo>
                    <a:pt x="1501927" y="1188237"/>
                  </a:lnTo>
                  <a:lnTo>
                    <a:pt x="1513865" y="1222565"/>
                  </a:lnTo>
                  <a:lnTo>
                    <a:pt x="1522450" y="1219581"/>
                  </a:lnTo>
                  <a:close/>
                </a:path>
                <a:path w="1825625" h="2094229">
                  <a:moveTo>
                    <a:pt x="1540370" y="1271079"/>
                  </a:moveTo>
                  <a:lnTo>
                    <a:pt x="1528419" y="1236751"/>
                  </a:lnTo>
                  <a:lnTo>
                    <a:pt x="1519847" y="1239735"/>
                  </a:lnTo>
                  <a:lnTo>
                    <a:pt x="1531785" y="1274064"/>
                  </a:lnTo>
                  <a:lnTo>
                    <a:pt x="1540370" y="1271079"/>
                  </a:lnTo>
                  <a:close/>
                </a:path>
                <a:path w="1825625" h="2094229">
                  <a:moveTo>
                    <a:pt x="1558277" y="1322565"/>
                  </a:moveTo>
                  <a:lnTo>
                    <a:pt x="1546339" y="1288237"/>
                  </a:lnTo>
                  <a:lnTo>
                    <a:pt x="1537754" y="1291221"/>
                  </a:lnTo>
                  <a:lnTo>
                    <a:pt x="1549692" y="1325549"/>
                  </a:lnTo>
                  <a:lnTo>
                    <a:pt x="1558277" y="1322565"/>
                  </a:lnTo>
                  <a:close/>
                </a:path>
                <a:path w="1825625" h="2094229">
                  <a:moveTo>
                    <a:pt x="1576184" y="1374063"/>
                  </a:moveTo>
                  <a:lnTo>
                    <a:pt x="1564246" y="1339735"/>
                  </a:lnTo>
                  <a:lnTo>
                    <a:pt x="1555661" y="1342720"/>
                  </a:lnTo>
                  <a:lnTo>
                    <a:pt x="1567599" y="1377048"/>
                  </a:lnTo>
                  <a:lnTo>
                    <a:pt x="1576184" y="1374063"/>
                  </a:lnTo>
                  <a:close/>
                </a:path>
                <a:path w="1825625" h="2094229">
                  <a:moveTo>
                    <a:pt x="1594104" y="1425562"/>
                  </a:moveTo>
                  <a:lnTo>
                    <a:pt x="1582153" y="1391234"/>
                  </a:lnTo>
                  <a:lnTo>
                    <a:pt x="1573580" y="1394218"/>
                  </a:lnTo>
                  <a:lnTo>
                    <a:pt x="1585518" y="1428546"/>
                  </a:lnTo>
                  <a:lnTo>
                    <a:pt x="1594104" y="1425562"/>
                  </a:lnTo>
                  <a:close/>
                </a:path>
                <a:path w="1825625" h="2094229">
                  <a:moveTo>
                    <a:pt x="1612011" y="1477048"/>
                  </a:moveTo>
                  <a:lnTo>
                    <a:pt x="1600073" y="1442720"/>
                  </a:lnTo>
                  <a:lnTo>
                    <a:pt x="1591487" y="1445704"/>
                  </a:lnTo>
                  <a:lnTo>
                    <a:pt x="1603425" y="1480032"/>
                  </a:lnTo>
                  <a:lnTo>
                    <a:pt x="1612011" y="1477048"/>
                  </a:lnTo>
                  <a:close/>
                </a:path>
                <a:path w="1825625" h="2094229">
                  <a:moveTo>
                    <a:pt x="1629918" y="1528546"/>
                  </a:moveTo>
                  <a:lnTo>
                    <a:pt x="1617980" y="1494218"/>
                  </a:lnTo>
                  <a:lnTo>
                    <a:pt x="1609394" y="1497203"/>
                  </a:lnTo>
                  <a:lnTo>
                    <a:pt x="1621332" y="1531531"/>
                  </a:lnTo>
                  <a:lnTo>
                    <a:pt x="1629918" y="1528546"/>
                  </a:lnTo>
                  <a:close/>
                </a:path>
                <a:path w="1825625" h="2094229">
                  <a:moveTo>
                    <a:pt x="1647825" y="1580045"/>
                  </a:moveTo>
                  <a:lnTo>
                    <a:pt x="1635887" y="1545717"/>
                  </a:lnTo>
                  <a:lnTo>
                    <a:pt x="1627301" y="1548701"/>
                  </a:lnTo>
                  <a:lnTo>
                    <a:pt x="1639252" y="1583029"/>
                  </a:lnTo>
                  <a:lnTo>
                    <a:pt x="1647825" y="1580045"/>
                  </a:lnTo>
                  <a:close/>
                </a:path>
                <a:path w="1825625" h="2094229">
                  <a:moveTo>
                    <a:pt x="1665744" y="1631530"/>
                  </a:moveTo>
                  <a:lnTo>
                    <a:pt x="1653806" y="1597202"/>
                  </a:lnTo>
                  <a:lnTo>
                    <a:pt x="1645221" y="1600187"/>
                  </a:lnTo>
                  <a:lnTo>
                    <a:pt x="1657159" y="1634515"/>
                  </a:lnTo>
                  <a:lnTo>
                    <a:pt x="1665744" y="1631530"/>
                  </a:lnTo>
                  <a:close/>
                </a:path>
                <a:path w="1825625" h="2094229">
                  <a:moveTo>
                    <a:pt x="1683651" y="1683029"/>
                  </a:moveTo>
                  <a:lnTo>
                    <a:pt x="1671713" y="1648701"/>
                  </a:lnTo>
                  <a:lnTo>
                    <a:pt x="1663128" y="1651685"/>
                  </a:lnTo>
                  <a:lnTo>
                    <a:pt x="1675066" y="1686013"/>
                  </a:lnTo>
                  <a:lnTo>
                    <a:pt x="1683651" y="1683029"/>
                  </a:lnTo>
                  <a:close/>
                </a:path>
                <a:path w="1825625" h="2094229">
                  <a:moveTo>
                    <a:pt x="1701558" y="1734527"/>
                  </a:moveTo>
                  <a:lnTo>
                    <a:pt x="1689620" y="1700199"/>
                  </a:lnTo>
                  <a:lnTo>
                    <a:pt x="1681035" y="1703184"/>
                  </a:lnTo>
                  <a:lnTo>
                    <a:pt x="1692986" y="1737512"/>
                  </a:lnTo>
                  <a:lnTo>
                    <a:pt x="1701558" y="1734527"/>
                  </a:lnTo>
                  <a:close/>
                </a:path>
                <a:path w="1825625" h="2094229">
                  <a:moveTo>
                    <a:pt x="1719478" y="1786013"/>
                  </a:moveTo>
                  <a:lnTo>
                    <a:pt x="1707540" y="1751685"/>
                  </a:lnTo>
                  <a:lnTo>
                    <a:pt x="1698955" y="1754670"/>
                  </a:lnTo>
                  <a:lnTo>
                    <a:pt x="1710893" y="1788998"/>
                  </a:lnTo>
                  <a:lnTo>
                    <a:pt x="1719478" y="1786013"/>
                  </a:lnTo>
                  <a:close/>
                </a:path>
                <a:path w="1825625" h="2094229">
                  <a:moveTo>
                    <a:pt x="1737385" y="1837512"/>
                  </a:moveTo>
                  <a:lnTo>
                    <a:pt x="1725447" y="1803184"/>
                  </a:lnTo>
                  <a:lnTo>
                    <a:pt x="1716862" y="1806168"/>
                  </a:lnTo>
                  <a:lnTo>
                    <a:pt x="1728800" y="1840496"/>
                  </a:lnTo>
                  <a:lnTo>
                    <a:pt x="1737385" y="1837512"/>
                  </a:lnTo>
                  <a:close/>
                </a:path>
                <a:path w="1825625" h="2094229">
                  <a:moveTo>
                    <a:pt x="1755292" y="1889010"/>
                  </a:moveTo>
                  <a:lnTo>
                    <a:pt x="1743354" y="1854682"/>
                  </a:lnTo>
                  <a:lnTo>
                    <a:pt x="1734769" y="1857667"/>
                  </a:lnTo>
                  <a:lnTo>
                    <a:pt x="1746719" y="1891995"/>
                  </a:lnTo>
                  <a:lnTo>
                    <a:pt x="1755292" y="1889010"/>
                  </a:lnTo>
                  <a:close/>
                </a:path>
                <a:path w="1825625" h="2094229">
                  <a:moveTo>
                    <a:pt x="1773212" y="1940496"/>
                  </a:moveTo>
                  <a:lnTo>
                    <a:pt x="1761261" y="1906168"/>
                  </a:lnTo>
                  <a:lnTo>
                    <a:pt x="1752688" y="1909152"/>
                  </a:lnTo>
                  <a:lnTo>
                    <a:pt x="1764626" y="1943481"/>
                  </a:lnTo>
                  <a:lnTo>
                    <a:pt x="1773212" y="1940496"/>
                  </a:lnTo>
                  <a:close/>
                </a:path>
                <a:path w="1825625" h="2094229">
                  <a:moveTo>
                    <a:pt x="1791119" y="1991995"/>
                  </a:moveTo>
                  <a:lnTo>
                    <a:pt x="1779181" y="1957666"/>
                  </a:lnTo>
                  <a:lnTo>
                    <a:pt x="1770595" y="1960651"/>
                  </a:lnTo>
                  <a:lnTo>
                    <a:pt x="1782533" y="1994979"/>
                  </a:lnTo>
                  <a:lnTo>
                    <a:pt x="1791119" y="1991995"/>
                  </a:lnTo>
                  <a:close/>
                </a:path>
                <a:path w="1825625" h="2094229">
                  <a:moveTo>
                    <a:pt x="1809026" y="2043493"/>
                  </a:moveTo>
                  <a:lnTo>
                    <a:pt x="1797088" y="2009165"/>
                  </a:lnTo>
                  <a:lnTo>
                    <a:pt x="1788502" y="2012149"/>
                  </a:lnTo>
                  <a:lnTo>
                    <a:pt x="1800453" y="2046478"/>
                  </a:lnTo>
                  <a:lnTo>
                    <a:pt x="1809026" y="2043493"/>
                  </a:lnTo>
                  <a:close/>
                </a:path>
                <a:path w="1825625" h="2094229">
                  <a:moveTo>
                    <a:pt x="1825498" y="2090826"/>
                  </a:moveTo>
                  <a:lnTo>
                    <a:pt x="1814995" y="2060651"/>
                  </a:lnTo>
                  <a:lnTo>
                    <a:pt x="1806422" y="2063635"/>
                  </a:lnTo>
                  <a:lnTo>
                    <a:pt x="1816912" y="2093810"/>
                  </a:lnTo>
                  <a:lnTo>
                    <a:pt x="1825498" y="2090826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55" name="object 55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534649" y="6343649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48949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11425">
              <a:lnSpc>
                <a:spcPts val="1145"/>
              </a:lnSpc>
            </a:pPr>
            <a:fld id="{81D60167-4931-47E6-BA6A-407CBD079E47}" type="slidenum">
              <a:rPr dirty="0"/>
              <a:t>2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  <p:sp>
        <p:nvSpPr>
          <p:cNvPr id="59" name="object 59" descr=""/>
          <p:cNvSpPr txBox="1"/>
          <p:nvPr/>
        </p:nvSpPr>
        <p:spPr>
          <a:xfrm>
            <a:off x="8727380" y="6653423"/>
            <a:ext cx="328676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Advanced</a:t>
            </a:r>
            <a:r>
              <a:rPr dirty="0" spc="-15"/>
              <a:t> </a:t>
            </a:r>
            <a:r>
              <a:rPr dirty="0" spc="-140"/>
              <a:t>FACTS</a:t>
            </a:r>
            <a:r>
              <a:rPr dirty="0" spc="-15"/>
              <a:t> </a:t>
            </a:r>
            <a:r>
              <a:rPr dirty="0" spc="-90"/>
              <a:t>Control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20"/>
              <a:t> </a:t>
            </a:r>
            <a:r>
              <a:rPr dirty="0" spc="-95"/>
              <a:t>Reinforcement</a:t>
            </a:r>
            <a:r>
              <a:rPr dirty="0" spc="-15"/>
              <a:t> </a:t>
            </a:r>
            <a:r>
              <a:rPr dirty="0" spc="-35"/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063636"/>
            <a:ext cx="4998085" cy="852169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625"/>
              </a:spcBef>
            </a:pPr>
            <a:r>
              <a:rPr dirty="0" sz="2900" spc="-120" b="1">
                <a:solidFill>
                  <a:srgbClr val="1D40AF"/>
                </a:solidFill>
                <a:latin typeface="Arial"/>
                <a:cs typeface="Arial"/>
              </a:rPr>
              <a:t>Background:</a:t>
            </a:r>
            <a:r>
              <a:rPr dirty="0" sz="2900" spc="-4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70" b="1">
                <a:solidFill>
                  <a:srgbClr val="1D40AF"/>
                </a:solidFill>
                <a:latin typeface="Arial"/>
                <a:cs typeface="Arial"/>
              </a:rPr>
              <a:t>FACTS</a:t>
            </a:r>
            <a:r>
              <a:rPr dirty="0" sz="2900" spc="-3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14" b="1">
                <a:solidFill>
                  <a:srgbClr val="1D40AF"/>
                </a:solidFill>
                <a:latin typeface="Arial"/>
                <a:cs typeface="Arial"/>
              </a:rPr>
              <a:t>and</a:t>
            </a:r>
            <a:r>
              <a:rPr dirty="0" sz="2900" spc="-3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00" b="1">
                <a:solidFill>
                  <a:srgbClr val="1D40AF"/>
                </a:solidFill>
                <a:latin typeface="Arial"/>
                <a:cs typeface="Arial"/>
              </a:rPr>
              <a:t>Their </a:t>
            </a:r>
            <a:r>
              <a:rPr dirty="0" sz="2900" spc="-10" b="1">
                <a:solidFill>
                  <a:srgbClr val="1D40AF"/>
                </a:solidFill>
                <a:latin typeface="Arial"/>
                <a:cs typeface="Arial"/>
              </a:rPr>
              <a:t>Roles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401" y="2246895"/>
            <a:ext cx="144884" cy="19250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96937" y="2171698"/>
            <a:ext cx="4709160" cy="2540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3815">
              <a:lnSpc>
                <a:spcPct val="109400"/>
              </a:lnSpc>
              <a:spcBef>
                <a:spcPts val="95"/>
              </a:spcBef>
            </a:pPr>
            <a:r>
              <a:rPr dirty="0" sz="1600" spc="-80" b="1">
                <a:solidFill>
                  <a:srgbClr val="2D3748"/>
                </a:solidFill>
                <a:latin typeface="Arial"/>
                <a:cs typeface="Arial"/>
              </a:rPr>
              <a:t>SVC</a:t>
            </a:r>
            <a:r>
              <a:rPr dirty="0" sz="1600" spc="-2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 b="1">
                <a:solidFill>
                  <a:srgbClr val="2D3748"/>
                </a:solidFill>
                <a:latin typeface="Arial"/>
                <a:cs typeface="Arial"/>
              </a:rPr>
              <a:t>(Static</a:t>
            </a:r>
            <a:r>
              <a:rPr dirty="0" sz="1600" spc="-2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25" b="1">
                <a:solidFill>
                  <a:srgbClr val="2D3748"/>
                </a:solidFill>
                <a:latin typeface="Arial"/>
                <a:cs typeface="Arial"/>
              </a:rPr>
              <a:t>VAR</a:t>
            </a:r>
            <a:r>
              <a:rPr dirty="0" sz="1600" spc="-2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2D3748"/>
                </a:solidFill>
                <a:latin typeface="Arial"/>
                <a:cs typeface="Arial"/>
              </a:rPr>
              <a:t>Compensator):</a:t>
            </a:r>
            <a:r>
              <a:rPr dirty="0" sz="1600" spc="-2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Shunt-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connected</a:t>
            </a:r>
            <a:r>
              <a:rPr dirty="0" sz="1600" spc="-2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2D3748"/>
                </a:solidFill>
                <a:latin typeface="Arial"/>
                <a:cs typeface="Arial"/>
              </a:rPr>
              <a:t>for 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voltage</a:t>
            </a:r>
            <a:r>
              <a:rPr dirty="0" sz="160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2D3748"/>
                </a:solidFill>
                <a:latin typeface="Arial"/>
                <a:cs typeface="Arial"/>
              </a:rPr>
              <a:t>regulation</a:t>
            </a:r>
            <a:r>
              <a:rPr dirty="0" sz="160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60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reactive</a:t>
            </a:r>
            <a:r>
              <a:rPr dirty="0" sz="160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power</a:t>
            </a:r>
            <a:r>
              <a:rPr dirty="0" sz="160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D3748"/>
                </a:solidFill>
                <a:latin typeface="Arial"/>
                <a:cs typeface="Arial"/>
              </a:rPr>
              <a:t>compensation.</a:t>
            </a:r>
            <a:endParaRPr sz="1600">
              <a:latin typeface="Arial"/>
              <a:cs typeface="Arial"/>
            </a:endParaRPr>
          </a:p>
          <a:p>
            <a:pPr marL="36195" marR="36830">
              <a:lnSpc>
                <a:spcPct val="109400"/>
              </a:lnSpc>
              <a:spcBef>
                <a:spcPts val="1500"/>
              </a:spcBef>
            </a:pPr>
            <a:r>
              <a:rPr dirty="0" sz="1600" spc="-114" b="1">
                <a:solidFill>
                  <a:srgbClr val="2D3748"/>
                </a:solidFill>
                <a:latin typeface="Arial"/>
                <a:cs typeface="Arial"/>
              </a:rPr>
              <a:t>STATCOM</a:t>
            </a:r>
            <a:r>
              <a:rPr dirty="0" sz="1600" spc="-3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 b="1">
                <a:solidFill>
                  <a:srgbClr val="2D3748"/>
                </a:solidFill>
                <a:latin typeface="Arial"/>
                <a:cs typeface="Arial"/>
              </a:rPr>
              <a:t>(Static</a:t>
            </a:r>
            <a:r>
              <a:rPr dirty="0" sz="1600" spc="-2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2D3748"/>
                </a:solidFill>
                <a:latin typeface="Arial"/>
                <a:cs typeface="Arial"/>
              </a:rPr>
              <a:t>Synchronous</a:t>
            </a:r>
            <a:r>
              <a:rPr dirty="0" sz="1600" spc="-1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D3748"/>
                </a:solidFill>
                <a:latin typeface="Arial"/>
                <a:cs typeface="Arial"/>
              </a:rPr>
              <a:t>Compensator):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Faster 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response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2D3748"/>
                </a:solidFill>
                <a:latin typeface="Arial"/>
                <a:cs typeface="Arial"/>
              </a:rPr>
              <a:t>than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SVC,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voltage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 support,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D3748"/>
                </a:solidFill>
                <a:latin typeface="Arial"/>
                <a:cs typeface="Arial"/>
              </a:rPr>
              <a:t>active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power</a:t>
            </a:r>
            <a:r>
              <a:rPr dirty="0" sz="160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exchange</a:t>
            </a:r>
            <a:r>
              <a:rPr dirty="0" sz="160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D3748"/>
                </a:solidFill>
                <a:latin typeface="Arial"/>
                <a:cs typeface="Arial"/>
              </a:rPr>
              <a:t>capability.</a:t>
            </a:r>
            <a:endParaRPr sz="1600">
              <a:latin typeface="Arial"/>
              <a:cs typeface="Arial"/>
            </a:endParaRPr>
          </a:p>
          <a:p>
            <a:pPr marL="36195" marR="5080">
              <a:lnSpc>
                <a:spcPct val="109400"/>
              </a:lnSpc>
              <a:spcBef>
                <a:spcPts val="1495"/>
              </a:spcBef>
            </a:pPr>
            <a:r>
              <a:rPr dirty="0" sz="1600" spc="-75" b="1">
                <a:solidFill>
                  <a:srgbClr val="2D3748"/>
                </a:solidFill>
                <a:latin typeface="Arial"/>
                <a:cs typeface="Arial"/>
              </a:rPr>
              <a:t>SSSC</a:t>
            </a:r>
            <a:r>
              <a:rPr dirty="0" sz="160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 b="1">
                <a:solidFill>
                  <a:srgbClr val="2D3748"/>
                </a:solidFill>
                <a:latin typeface="Arial"/>
                <a:cs typeface="Arial"/>
              </a:rPr>
              <a:t>(Static</a:t>
            </a:r>
            <a:r>
              <a:rPr dirty="0" sz="160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2D3748"/>
                </a:solidFill>
                <a:latin typeface="Arial"/>
                <a:cs typeface="Arial"/>
              </a:rPr>
              <a:t>Synchronous</a:t>
            </a:r>
            <a:r>
              <a:rPr dirty="0" sz="160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2D3748"/>
                </a:solidFill>
                <a:latin typeface="Arial"/>
                <a:cs typeface="Arial"/>
              </a:rPr>
              <a:t>Series</a:t>
            </a:r>
            <a:r>
              <a:rPr dirty="0" sz="160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D3748"/>
                </a:solidFill>
                <a:latin typeface="Arial"/>
                <a:cs typeface="Arial"/>
              </a:rPr>
              <a:t>Compensator):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Series-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connected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30">
                <a:solidFill>
                  <a:srgbClr val="2D3748"/>
                </a:solidFill>
                <a:latin typeface="Arial"/>
                <a:cs typeface="Arial"/>
              </a:rPr>
              <a:t>for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line</a:t>
            </a:r>
            <a:r>
              <a:rPr dirty="0" sz="160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impedance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control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60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D3748"/>
                </a:solidFill>
                <a:latin typeface="Arial"/>
                <a:cs typeface="Arial"/>
              </a:rPr>
              <a:t>power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flow</a:t>
            </a:r>
            <a:r>
              <a:rPr dirty="0" sz="160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D3748"/>
                </a:solidFill>
                <a:latin typeface="Arial"/>
                <a:cs typeface="Arial"/>
              </a:rPr>
              <a:t>management.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971799"/>
            <a:ext cx="190499" cy="1904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3962399"/>
            <a:ext cx="190537" cy="1904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462" y="4952032"/>
            <a:ext cx="190574" cy="19243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20750" y="4876798"/>
            <a:ext cx="4788535" cy="825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dirty="0" sz="1600" spc="-75" b="1">
                <a:solidFill>
                  <a:srgbClr val="2D3748"/>
                </a:solidFill>
                <a:latin typeface="Arial"/>
                <a:cs typeface="Arial"/>
              </a:rPr>
              <a:t>UPFC</a:t>
            </a:r>
            <a:r>
              <a:rPr dirty="0" sz="1600" spc="-3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 b="1">
                <a:solidFill>
                  <a:srgbClr val="2D3748"/>
                </a:solidFill>
                <a:latin typeface="Arial"/>
                <a:cs typeface="Arial"/>
              </a:rPr>
              <a:t>(Unified</a:t>
            </a:r>
            <a:r>
              <a:rPr dirty="0" sz="1600" spc="-3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5" b="1">
                <a:solidFill>
                  <a:srgbClr val="2D3748"/>
                </a:solidFill>
                <a:latin typeface="Arial"/>
                <a:cs typeface="Arial"/>
              </a:rPr>
              <a:t>Power</a:t>
            </a:r>
            <a:r>
              <a:rPr dirty="0" sz="1600" spc="-3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2D3748"/>
                </a:solidFill>
                <a:latin typeface="Arial"/>
                <a:cs typeface="Arial"/>
              </a:rPr>
              <a:t>Flow</a:t>
            </a:r>
            <a:r>
              <a:rPr dirty="0" sz="1600" spc="-3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2D3748"/>
                </a:solidFill>
                <a:latin typeface="Arial"/>
                <a:cs typeface="Arial"/>
              </a:rPr>
              <a:t>Controller):</a:t>
            </a:r>
            <a:r>
              <a:rPr dirty="0" sz="1600" spc="-3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Most</a:t>
            </a:r>
            <a:r>
              <a:rPr dirty="0" sz="160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versatile,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combines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series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shunt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controllers,</a:t>
            </a:r>
            <a:r>
              <a:rPr dirty="0" sz="160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complete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D3748"/>
                </a:solidFill>
                <a:latin typeface="Arial"/>
                <a:cs typeface="Arial"/>
              </a:rPr>
              <a:t>power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flow</a:t>
            </a:r>
            <a:r>
              <a:rPr dirty="0" sz="160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D3748"/>
                </a:solidFill>
                <a:latin typeface="Arial"/>
                <a:cs typeface="Arial"/>
              </a:rPr>
              <a:t>control.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30" y="5955505"/>
            <a:ext cx="191839" cy="16668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20750" y="5867398"/>
            <a:ext cx="4759325" cy="825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2D3748"/>
                </a:solidFill>
                <a:latin typeface="Arial"/>
                <a:cs typeface="Arial"/>
              </a:rPr>
              <a:t>Limitations</a:t>
            </a:r>
            <a:r>
              <a:rPr dirty="0" sz="1600" spc="-6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2D3748"/>
                </a:solidFill>
                <a:latin typeface="Arial"/>
                <a:cs typeface="Arial"/>
              </a:rPr>
              <a:t>of</a:t>
            </a:r>
            <a:r>
              <a:rPr dirty="0" sz="160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2D3748"/>
                </a:solidFill>
                <a:latin typeface="Arial"/>
                <a:cs typeface="Arial"/>
              </a:rPr>
              <a:t>PI</a:t>
            </a:r>
            <a:r>
              <a:rPr dirty="0" sz="160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 b="1">
                <a:solidFill>
                  <a:srgbClr val="2D3748"/>
                </a:solidFill>
                <a:latin typeface="Arial"/>
                <a:cs typeface="Arial"/>
              </a:rPr>
              <a:t>control:</a:t>
            </a:r>
            <a:r>
              <a:rPr dirty="0" sz="160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5">
                <a:solidFill>
                  <a:srgbClr val="2D3748"/>
                </a:solidFill>
                <a:latin typeface="Arial"/>
                <a:cs typeface="Arial"/>
              </a:rPr>
              <a:t>Model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70">
                <a:solidFill>
                  <a:srgbClr val="2D3748"/>
                </a:solidFill>
                <a:latin typeface="Arial"/>
                <a:cs typeface="Arial"/>
              </a:rPr>
              <a:t>dependency,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2D3748"/>
                </a:solidFill>
                <a:latin typeface="Arial"/>
                <a:cs typeface="Arial"/>
              </a:rPr>
              <a:t>slow 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response </a:t>
            </a:r>
            <a:r>
              <a:rPr dirty="0" sz="1600" spc="-10">
                <a:solidFill>
                  <a:srgbClr val="2D3748"/>
                </a:solidFill>
                <a:latin typeface="Arial"/>
                <a:cs typeface="Arial"/>
              </a:rPr>
              <a:t>to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transients,</a:t>
            </a:r>
            <a:r>
              <a:rPr dirty="0" sz="160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2D3748"/>
                </a:solidFill>
                <a:latin typeface="Arial"/>
                <a:cs typeface="Arial"/>
              </a:rPr>
              <a:t>limited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2D3748"/>
                </a:solidFill>
                <a:latin typeface="Arial"/>
                <a:cs typeface="Arial"/>
              </a:rPr>
              <a:t>coordination </a:t>
            </a:r>
            <a:r>
              <a:rPr dirty="0" sz="1600" spc="-40">
                <a:solidFill>
                  <a:srgbClr val="2D3748"/>
                </a:solidFill>
                <a:latin typeface="Arial"/>
                <a:cs typeface="Arial"/>
              </a:rPr>
              <a:t>abilities,</a:t>
            </a:r>
            <a:r>
              <a:rPr dirty="0" sz="160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2D3748"/>
                </a:solidFill>
                <a:latin typeface="Arial"/>
                <a:cs typeface="Arial"/>
              </a:rPr>
              <a:t>and </a:t>
            </a:r>
            <a:r>
              <a:rPr dirty="0" sz="1600" spc="-50">
                <a:solidFill>
                  <a:srgbClr val="2D3748"/>
                </a:solidFill>
                <a:latin typeface="Arial"/>
                <a:cs typeface="Arial"/>
              </a:rPr>
              <a:t>requires</a:t>
            </a:r>
            <a:r>
              <a:rPr dirty="0" sz="1600" spc="-2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65">
                <a:solidFill>
                  <a:srgbClr val="2D3748"/>
                </a:solidFill>
                <a:latin typeface="Arial"/>
                <a:cs typeface="Arial"/>
              </a:rPr>
              <a:t>manual</a:t>
            </a:r>
            <a:r>
              <a:rPr dirty="0" sz="1600" spc="-2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D3748"/>
                </a:solidFill>
                <a:latin typeface="Arial"/>
                <a:cs typeface="Arial"/>
              </a:rPr>
              <a:t>tuning.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6476999" y="1333499"/>
          <a:ext cx="5219700" cy="3082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925"/>
                <a:gridCol w="2209800"/>
                <a:gridCol w="2000250"/>
              </a:tblGrid>
              <a:tr h="45656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spc="-1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Device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9652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E2E7F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spc="-6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Primary</a:t>
                      </a:r>
                      <a:r>
                        <a:rPr dirty="0" sz="1450" spc="1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50" spc="-1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9652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E2E7F0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450" spc="-45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Industrial</a:t>
                      </a:r>
                      <a:r>
                        <a:rPr dirty="0" sz="1450" spc="-4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50" spc="-1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Examples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9652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E2E7F0"/>
                    </a:solidFill>
                  </a:tcPr>
                </a:tc>
              </a:tr>
              <a:tr h="656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1300" spc="-2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SVC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496570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dirty="0" sz="1300" spc="-7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Voltage</a:t>
                      </a:r>
                      <a:r>
                        <a:rPr dirty="0" sz="1300" spc="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4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regulation,</a:t>
                      </a:r>
                      <a:r>
                        <a:rPr dirty="0" sz="1300" spc="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VAR 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compensation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252095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dirty="0" sz="1300" spc="-5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Allegheny</a:t>
                      </a:r>
                      <a:r>
                        <a:rPr dirty="0" sz="1300" spc="-2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6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Power</a:t>
                      </a:r>
                      <a:r>
                        <a:rPr dirty="0" sz="1300" spc="-1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(USA), </a:t>
                      </a:r>
                      <a:r>
                        <a:rPr dirty="0" sz="1300" spc="-9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NGC</a:t>
                      </a:r>
                      <a:r>
                        <a:rPr dirty="0" sz="1300" spc="-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(UK)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656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STATCOM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146685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dirty="0" sz="1300" spc="-6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Dynamic</a:t>
                      </a:r>
                      <a:r>
                        <a:rPr dirty="0" sz="1300" spc="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5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voltage</a:t>
                      </a:r>
                      <a:r>
                        <a:rPr dirty="0" sz="1300" spc="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5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support,</a:t>
                      </a:r>
                      <a:r>
                        <a:rPr dirty="0" sz="1300" spc="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8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PF 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correction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421640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dirty="0" sz="1300" spc="-4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Inelfe</a:t>
                      </a:r>
                      <a:r>
                        <a:rPr dirty="0" sz="1300" spc="2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(France-</a:t>
                      </a: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Spain), </a:t>
                      </a:r>
                      <a:r>
                        <a:rPr dirty="0" sz="1300" spc="-8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SDG&amp;E</a:t>
                      </a:r>
                      <a:r>
                        <a:rPr dirty="0" sz="1300" spc="-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(USA)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656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1300" spc="-2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SSSC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104139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dirty="0" sz="1300" spc="-6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Power</a:t>
                      </a:r>
                      <a:r>
                        <a:rPr dirty="0" sz="1300" spc="-1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5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flow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4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control,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5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oscillation 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damping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300" spc="-7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AEP</a:t>
                      </a:r>
                      <a:r>
                        <a:rPr dirty="0" sz="1300" spc="-2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(USA),</a:t>
                      </a:r>
                      <a:r>
                        <a:rPr dirty="0" sz="130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KEPCO</a:t>
                      </a:r>
                      <a:endParaRPr sz="1300">
                        <a:latin typeface="Arial"/>
                        <a:cs typeface="Arial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300" spc="-5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(South</a:t>
                      </a:r>
                      <a:r>
                        <a:rPr dirty="0" sz="1300" spc="-4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Korea)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9652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656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1300" spc="-2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UPFC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265430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Comprehensive</a:t>
                      </a:r>
                      <a:r>
                        <a:rPr dirty="0" sz="130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power</a:t>
                      </a:r>
                      <a:r>
                        <a:rPr dirty="0" sz="1300" spc="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flow 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407670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dirty="0" sz="1300" spc="-5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Inez</a:t>
                      </a:r>
                      <a:r>
                        <a:rPr dirty="0" sz="1300" spc="-1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(Kentucky,</a:t>
                      </a:r>
                      <a:r>
                        <a:rPr dirty="0" sz="1300" spc="-1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6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USA), </a:t>
                      </a:r>
                      <a:r>
                        <a:rPr dirty="0" sz="1300" spc="-65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Kanpur</a:t>
                      </a:r>
                      <a:r>
                        <a:rPr dirty="0" sz="1300" spc="2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>
                          <a:solidFill>
                            <a:srgbClr val="2D3748"/>
                          </a:solidFill>
                          <a:latin typeface="Arial"/>
                          <a:cs typeface="Arial"/>
                        </a:rPr>
                        <a:t>(India)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3" name="object 13" descr=""/>
          <p:cNvGrpSpPr/>
          <p:nvPr/>
        </p:nvGrpSpPr>
        <p:grpSpPr>
          <a:xfrm>
            <a:off x="6476998" y="4619624"/>
            <a:ext cx="5143500" cy="2667000"/>
            <a:chOff x="6476998" y="4619624"/>
            <a:chExt cx="5143500" cy="2667000"/>
          </a:xfrm>
        </p:grpSpPr>
        <p:sp>
          <p:nvSpPr>
            <p:cNvPr id="14" name="object 14" descr=""/>
            <p:cNvSpPr/>
            <p:nvPr/>
          </p:nvSpPr>
          <p:spPr>
            <a:xfrm>
              <a:off x="6481761" y="4624387"/>
              <a:ext cx="5133975" cy="2657475"/>
            </a:xfrm>
            <a:custGeom>
              <a:avLst/>
              <a:gdLst/>
              <a:ahLst/>
              <a:cxnLst/>
              <a:rect l="l" t="t" r="r" b="b"/>
              <a:pathLst>
                <a:path w="5133975" h="2657475">
                  <a:moveTo>
                    <a:pt x="5067228" y="2657474"/>
                  </a:moveTo>
                  <a:lnTo>
                    <a:pt x="66747" y="2657474"/>
                  </a:lnTo>
                  <a:lnTo>
                    <a:pt x="62102" y="2657016"/>
                  </a:lnTo>
                  <a:lnTo>
                    <a:pt x="24240" y="2639867"/>
                  </a:lnTo>
                  <a:lnTo>
                    <a:pt x="2287" y="2604573"/>
                  </a:lnTo>
                  <a:lnTo>
                    <a:pt x="0" y="2590727"/>
                  </a:lnTo>
                  <a:lnTo>
                    <a:pt x="0" y="25860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5067228" y="0"/>
                  </a:lnTo>
                  <a:lnTo>
                    <a:pt x="5106125" y="14645"/>
                  </a:lnTo>
                  <a:lnTo>
                    <a:pt x="5130331" y="48432"/>
                  </a:lnTo>
                  <a:lnTo>
                    <a:pt x="5133974" y="66746"/>
                  </a:lnTo>
                  <a:lnTo>
                    <a:pt x="5133974" y="2590727"/>
                  </a:lnTo>
                  <a:lnTo>
                    <a:pt x="5119327" y="2629624"/>
                  </a:lnTo>
                  <a:lnTo>
                    <a:pt x="5085540" y="2653830"/>
                  </a:lnTo>
                  <a:lnTo>
                    <a:pt x="5071873" y="2657016"/>
                  </a:lnTo>
                  <a:lnTo>
                    <a:pt x="5067228" y="26574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81761" y="4624387"/>
              <a:ext cx="5133975" cy="2657475"/>
            </a:xfrm>
            <a:custGeom>
              <a:avLst/>
              <a:gdLst/>
              <a:ahLst/>
              <a:cxnLst/>
              <a:rect l="l" t="t" r="r" b="b"/>
              <a:pathLst>
                <a:path w="5133975" h="2657475">
                  <a:moveTo>
                    <a:pt x="0" y="25860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2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062537" y="0"/>
                  </a:lnTo>
                  <a:lnTo>
                    <a:pt x="5067228" y="0"/>
                  </a:lnTo>
                  <a:lnTo>
                    <a:pt x="5071873" y="457"/>
                  </a:lnTo>
                  <a:lnTo>
                    <a:pt x="5102224" y="12039"/>
                  </a:lnTo>
                  <a:lnTo>
                    <a:pt x="5106125" y="14645"/>
                  </a:lnTo>
                  <a:lnTo>
                    <a:pt x="5121932" y="31748"/>
                  </a:lnTo>
                  <a:lnTo>
                    <a:pt x="5124539" y="35648"/>
                  </a:lnTo>
                  <a:lnTo>
                    <a:pt x="5133975" y="71437"/>
                  </a:lnTo>
                  <a:lnTo>
                    <a:pt x="5133975" y="2586037"/>
                  </a:lnTo>
                  <a:lnTo>
                    <a:pt x="5133974" y="2590727"/>
                  </a:lnTo>
                  <a:lnTo>
                    <a:pt x="5133515" y="2595373"/>
                  </a:lnTo>
                  <a:lnTo>
                    <a:pt x="5132600" y="2599973"/>
                  </a:lnTo>
                  <a:lnTo>
                    <a:pt x="5131685" y="2604573"/>
                  </a:lnTo>
                  <a:lnTo>
                    <a:pt x="5121932" y="2625725"/>
                  </a:lnTo>
                  <a:lnTo>
                    <a:pt x="5119327" y="2629624"/>
                  </a:lnTo>
                  <a:lnTo>
                    <a:pt x="5102224" y="2645434"/>
                  </a:lnTo>
                  <a:lnTo>
                    <a:pt x="5098324" y="2648040"/>
                  </a:lnTo>
                  <a:lnTo>
                    <a:pt x="5062537" y="2657474"/>
                  </a:lnTo>
                  <a:lnTo>
                    <a:pt x="71438" y="2657474"/>
                  </a:lnTo>
                  <a:lnTo>
                    <a:pt x="31748" y="2645434"/>
                  </a:lnTo>
                  <a:lnTo>
                    <a:pt x="27848" y="2642828"/>
                  </a:lnTo>
                  <a:lnTo>
                    <a:pt x="3642" y="2609040"/>
                  </a:lnTo>
                  <a:lnTo>
                    <a:pt x="1372" y="2599973"/>
                  </a:lnTo>
                  <a:lnTo>
                    <a:pt x="457" y="2595373"/>
                  </a:lnTo>
                  <a:lnTo>
                    <a:pt x="0" y="2590727"/>
                  </a:lnTo>
                  <a:lnTo>
                    <a:pt x="0" y="25860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952386" y="5188180"/>
              <a:ext cx="4192904" cy="1490980"/>
            </a:xfrm>
            <a:custGeom>
              <a:avLst/>
              <a:gdLst/>
              <a:ahLst/>
              <a:cxnLst/>
              <a:rect l="l" t="t" r="r" b="b"/>
              <a:pathLst>
                <a:path w="4192904" h="1490979">
                  <a:moveTo>
                    <a:pt x="0" y="745373"/>
                  </a:moveTo>
                  <a:lnTo>
                    <a:pt x="4192727" y="745373"/>
                  </a:lnTo>
                </a:path>
                <a:path w="4192904" h="1490979">
                  <a:moveTo>
                    <a:pt x="1770262" y="0"/>
                  </a:moveTo>
                  <a:lnTo>
                    <a:pt x="1770262" y="1490747"/>
                  </a:lnTo>
                </a:path>
              </a:pathLst>
            </a:custGeom>
            <a:ln w="37268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30050" y="5859016"/>
              <a:ext cx="149074" cy="14907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48111" y="5859016"/>
              <a:ext cx="149074" cy="14907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66172" y="5859016"/>
              <a:ext cx="149075" cy="14907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48111" y="5113642"/>
              <a:ext cx="149074" cy="14907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48111" y="6604390"/>
              <a:ext cx="149074" cy="149074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7278486" y="6026725"/>
              <a:ext cx="652780" cy="559435"/>
            </a:xfrm>
            <a:custGeom>
              <a:avLst/>
              <a:gdLst/>
              <a:ahLst/>
              <a:cxnLst/>
              <a:rect l="l" t="t" r="r" b="b"/>
              <a:pathLst>
                <a:path w="652779" h="559434">
                  <a:moveTo>
                    <a:pt x="611793" y="559030"/>
                  </a:moveTo>
                  <a:lnTo>
                    <a:pt x="40408" y="559030"/>
                  </a:lnTo>
                  <a:lnTo>
                    <a:pt x="34465" y="557848"/>
                  </a:lnTo>
                  <a:lnTo>
                    <a:pt x="1182" y="524564"/>
                  </a:lnTo>
                  <a:lnTo>
                    <a:pt x="0" y="518622"/>
                  </a:lnTo>
                  <a:lnTo>
                    <a:pt x="0" y="40408"/>
                  </a:lnTo>
                  <a:lnTo>
                    <a:pt x="23050" y="5910"/>
                  </a:lnTo>
                  <a:lnTo>
                    <a:pt x="46585" y="0"/>
                  </a:lnTo>
                  <a:lnTo>
                    <a:pt x="611793" y="0"/>
                  </a:lnTo>
                  <a:lnTo>
                    <a:pt x="646291" y="23050"/>
                  </a:lnTo>
                  <a:lnTo>
                    <a:pt x="652201" y="40408"/>
                  </a:lnTo>
                  <a:lnTo>
                    <a:pt x="652201" y="518622"/>
                  </a:lnTo>
                  <a:lnTo>
                    <a:pt x="629151" y="553120"/>
                  </a:lnTo>
                  <a:lnTo>
                    <a:pt x="611793" y="559030"/>
                  </a:lnTo>
                  <a:close/>
                </a:path>
              </a:pathLst>
            </a:custGeom>
            <a:solidFill>
              <a:srgbClr val="F0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78486" y="6026725"/>
              <a:ext cx="652780" cy="559435"/>
            </a:xfrm>
            <a:custGeom>
              <a:avLst/>
              <a:gdLst/>
              <a:ahLst/>
              <a:cxnLst/>
              <a:rect l="l" t="t" r="r" b="b"/>
              <a:pathLst>
                <a:path w="652779" h="559434">
                  <a:moveTo>
                    <a:pt x="46585" y="0"/>
                  </a:moveTo>
                  <a:lnTo>
                    <a:pt x="605616" y="0"/>
                  </a:lnTo>
                  <a:lnTo>
                    <a:pt x="611793" y="0"/>
                  </a:lnTo>
                  <a:lnTo>
                    <a:pt x="646291" y="23050"/>
                  </a:lnTo>
                  <a:lnTo>
                    <a:pt x="648655" y="28758"/>
                  </a:lnTo>
                  <a:lnTo>
                    <a:pt x="651019" y="34465"/>
                  </a:lnTo>
                  <a:lnTo>
                    <a:pt x="652202" y="40408"/>
                  </a:lnTo>
                  <a:lnTo>
                    <a:pt x="652202" y="46585"/>
                  </a:lnTo>
                  <a:lnTo>
                    <a:pt x="652202" y="512444"/>
                  </a:lnTo>
                  <a:lnTo>
                    <a:pt x="652202" y="518622"/>
                  </a:lnTo>
                  <a:lnTo>
                    <a:pt x="651019" y="524564"/>
                  </a:lnTo>
                  <a:lnTo>
                    <a:pt x="648655" y="530272"/>
                  </a:lnTo>
                  <a:lnTo>
                    <a:pt x="646291" y="535979"/>
                  </a:lnTo>
                  <a:lnTo>
                    <a:pt x="611793" y="559030"/>
                  </a:lnTo>
                  <a:lnTo>
                    <a:pt x="605616" y="559030"/>
                  </a:lnTo>
                  <a:lnTo>
                    <a:pt x="46585" y="559030"/>
                  </a:lnTo>
                  <a:lnTo>
                    <a:pt x="9276" y="541017"/>
                  </a:lnTo>
                  <a:lnTo>
                    <a:pt x="3546" y="530272"/>
                  </a:lnTo>
                  <a:lnTo>
                    <a:pt x="1182" y="524564"/>
                  </a:lnTo>
                  <a:lnTo>
                    <a:pt x="0" y="518622"/>
                  </a:lnTo>
                  <a:lnTo>
                    <a:pt x="0" y="512444"/>
                  </a:lnTo>
                  <a:lnTo>
                    <a:pt x="0" y="46585"/>
                  </a:lnTo>
                  <a:lnTo>
                    <a:pt x="0" y="40408"/>
                  </a:lnTo>
                  <a:lnTo>
                    <a:pt x="1182" y="34465"/>
                  </a:lnTo>
                  <a:lnTo>
                    <a:pt x="3546" y="28758"/>
                  </a:lnTo>
                  <a:lnTo>
                    <a:pt x="5910" y="23050"/>
                  </a:lnTo>
                  <a:lnTo>
                    <a:pt x="40408" y="0"/>
                  </a:lnTo>
                  <a:lnTo>
                    <a:pt x="46585" y="0"/>
                  </a:lnTo>
                  <a:close/>
                </a:path>
              </a:pathLst>
            </a:custGeom>
            <a:ln w="1863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438743" y="6171496"/>
            <a:ext cx="33210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45" b="1">
                <a:solidFill>
                  <a:srgbClr val="0C4A86"/>
                </a:solidFill>
                <a:latin typeface="Arial"/>
                <a:cs typeface="Arial"/>
              </a:rPr>
              <a:t>SVC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595062" y="4899139"/>
            <a:ext cx="1556385" cy="1137285"/>
            <a:chOff x="7595062" y="4899139"/>
            <a:chExt cx="1556385" cy="1137285"/>
          </a:xfrm>
        </p:grpSpPr>
        <p:sp>
          <p:nvSpPr>
            <p:cNvPr id="26" name="object 26" descr=""/>
            <p:cNvSpPr/>
            <p:nvPr/>
          </p:nvSpPr>
          <p:spPr>
            <a:xfrm>
              <a:off x="7604587" y="5933553"/>
              <a:ext cx="0" cy="93345"/>
            </a:xfrm>
            <a:custGeom>
              <a:avLst/>
              <a:gdLst/>
              <a:ahLst/>
              <a:cxnLst/>
              <a:rect l="l" t="t" r="r" b="b"/>
              <a:pathLst>
                <a:path w="0" h="93345">
                  <a:moveTo>
                    <a:pt x="0" y="93171"/>
                  </a:moveTo>
                  <a:lnTo>
                    <a:pt x="0" y="0"/>
                  </a:lnTo>
                </a:path>
              </a:pathLst>
            </a:custGeom>
            <a:ln w="1863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595260" y="5588824"/>
              <a:ext cx="19050" cy="344805"/>
            </a:xfrm>
            <a:custGeom>
              <a:avLst/>
              <a:gdLst/>
              <a:ahLst/>
              <a:cxnLst/>
              <a:rect l="l" t="t" r="r" b="b"/>
              <a:pathLst>
                <a:path w="19050" h="344804">
                  <a:moveTo>
                    <a:pt x="18643" y="298145"/>
                  </a:moveTo>
                  <a:lnTo>
                    <a:pt x="0" y="298145"/>
                  </a:lnTo>
                  <a:lnTo>
                    <a:pt x="0" y="344728"/>
                  </a:lnTo>
                  <a:lnTo>
                    <a:pt x="18643" y="344728"/>
                  </a:lnTo>
                  <a:lnTo>
                    <a:pt x="18643" y="298145"/>
                  </a:lnTo>
                  <a:close/>
                </a:path>
                <a:path w="19050" h="344804">
                  <a:moveTo>
                    <a:pt x="18643" y="223608"/>
                  </a:moveTo>
                  <a:lnTo>
                    <a:pt x="0" y="223608"/>
                  </a:lnTo>
                  <a:lnTo>
                    <a:pt x="0" y="270192"/>
                  </a:lnTo>
                  <a:lnTo>
                    <a:pt x="18643" y="270192"/>
                  </a:lnTo>
                  <a:lnTo>
                    <a:pt x="18643" y="223608"/>
                  </a:lnTo>
                  <a:close/>
                </a:path>
                <a:path w="19050" h="344804">
                  <a:moveTo>
                    <a:pt x="18643" y="149072"/>
                  </a:moveTo>
                  <a:lnTo>
                    <a:pt x="0" y="149072"/>
                  </a:lnTo>
                  <a:lnTo>
                    <a:pt x="0" y="195656"/>
                  </a:lnTo>
                  <a:lnTo>
                    <a:pt x="18643" y="195656"/>
                  </a:lnTo>
                  <a:lnTo>
                    <a:pt x="18643" y="149072"/>
                  </a:lnTo>
                  <a:close/>
                </a:path>
                <a:path w="19050" h="344804">
                  <a:moveTo>
                    <a:pt x="18643" y="74536"/>
                  </a:moveTo>
                  <a:lnTo>
                    <a:pt x="0" y="74536"/>
                  </a:lnTo>
                  <a:lnTo>
                    <a:pt x="0" y="121119"/>
                  </a:lnTo>
                  <a:lnTo>
                    <a:pt x="18643" y="121119"/>
                  </a:lnTo>
                  <a:lnTo>
                    <a:pt x="18643" y="74536"/>
                  </a:lnTo>
                  <a:close/>
                </a:path>
                <a:path w="19050" h="344804">
                  <a:moveTo>
                    <a:pt x="18643" y="0"/>
                  </a:moveTo>
                  <a:lnTo>
                    <a:pt x="0" y="0"/>
                  </a:lnTo>
                  <a:lnTo>
                    <a:pt x="0" y="46583"/>
                  </a:lnTo>
                  <a:lnTo>
                    <a:pt x="18643" y="46583"/>
                  </a:lnTo>
                  <a:lnTo>
                    <a:pt x="18643" y="0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303375" y="4908664"/>
              <a:ext cx="838835" cy="559435"/>
            </a:xfrm>
            <a:custGeom>
              <a:avLst/>
              <a:gdLst/>
              <a:ahLst/>
              <a:cxnLst/>
              <a:rect l="l" t="t" r="r" b="b"/>
              <a:pathLst>
                <a:path w="838834" h="559435">
                  <a:moveTo>
                    <a:pt x="798137" y="559030"/>
                  </a:moveTo>
                  <a:lnTo>
                    <a:pt x="40408" y="559030"/>
                  </a:lnTo>
                  <a:lnTo>
                    <a:pt x="34465" y="557848"/>
                  </a:lnTo>
                  <a:lnTo>
                    <a:pt x="1182" y="524564"/>
                  </a:lnTo>
                  <a:lnTo>
                    <a:pt x="0" y="518622"/>
                  </a:lnTo>
                  <a:lnTo>
                    <a:pt x="0" y="40408"/>
                  </a:lnTo>
                  <a:lnTo>
                    <a:pt x="23050" y="5910"/>
                  </a:lnTo>
                  <a:lnTo>
                    <a:pt x="46585" y="0"/>
                  </a:lnTo>
                  <a:lnTo>
                    <a:pt x="798137" y="0"/>
                  </a:lnTo>
                  <a:lnTo>
                    <a:pt x="832635" y="23050"/>
                  </a:lnTo>
                  <a:lnTo>
                    <a:pt x="838545" y="40408"/>
                  </a:lnTo>
                  <a:lnTo>
                    <a:pt x="838545" y="518622"/>
                  </a:lnTo>
                  <a:lnTo>
                    <a:pt x="815494" y="553120"/>
                  </a:lnTo>
                  <a:lnTo>
                    <a:pt x="798137" y="559030"/>
                  </a:lnTo>
                  <a:close/>
                </a:path>
              </a:pathLst>
            </a:custGeom>
            <a:solidFill>
              <a:srgbClr val="F0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303375" y="4908664"/>
              <a:ext cx="838835" cy="559435"/>
            </a:xfrm>
            <a:custGeom>
              <a:avLst/>
              <a:gdLst/>
              <a:ahLst/>
              <a:cxnLst/>
              <a:rect l="l" t="t" r="r" b="b"/>
              <a:pathLst>
                <a:path w="838834" h="559435">
                  <a:moveTo>
                    <a:pt x="46585" y="0"/>
                  </a:moveTo>
                  <a:lnTo>
                    <a:pt x="791959" y="0"/>
                  </a:lnTo>
                  <a:lnTo>
                    <a:pt x="798137" y="0"/>
                  </a:lnTo>
                  <a:lnTo>
                    <a:pt x="832635" y="23050"/>
                  </a:lnTo>
                  <a:lnTo>
                    <a:pt x="834999" y="28758"/>
                  </a:lnTo>
                  <a:lnTo>
                    <a:pt x="837363" y="34465"/>
                  </a:lnTo>
                  <a:lnTo>
                    <a:pt x="838545" y="40408"/>
                  </a:lnTo>
                  <a:lnTo>
                    <a:pt x="838545" y="46585"/>
                  </a:lnTo>
                  <a:lnTo>
                    <a:pt x="838545" y="512444"/>
                  </a:lnTo>
                  <a:lnTo>
                    <a:pt x="838545" y="518622"/>
                  </a:lnTo>
                  <a:lnTo>
                    <a:pt x="837363" y="524564"/>
                  </a:lnTo>
                  <a:lnTo>
                    <a:pt x="834999" y="530272"/>
                  </a:lnTo>
                  <a:lnTo>
                    <a:pt x="832635" y="535979"/>
                  </a:lnTo>
                  <a:lnTo>
                    <a:pt x="798137" y="559030"/>
                  </a:lnTo>
                  <a:lnTo>
                    <a:pt x="791959" y="559030"/>
                  </a:lnTo>
                  <a:lnTo>
                    <a:pt x="46585" y="559030"/>
                  </a:lnTo>
                  <a:lnTo>
                    <a:pt x="9276" y="541017"/>
                  </a:lnTo>
                  <a:lnTo>
                    <a:pt x="3546" y="530272"/>
                  </a:lnTo>
                  <a:lnTo>
                    <a:pt x="1182" y="524564"/>
                  </a:lnTo>
                  <a:lnTo>
                    <a:pt x="0" y="518622"/>
                  </a:lnTo>
                  <a:lnTo>
                    <a:pt x="0" y="512444"/>
                  </a:lnTo>
                  <a:lnTo>
                    <a:pt x="0" y="46585"/>
                  </a:lnTo>
                  <a:lnTo>
                    <a:pt x="0" y="40408"/>
                  </a:lnTo>
                  <a:lnTo>
                    <a:pt x="1182" y="34465"/>
                  </a:lnTo>
                  <a:lnTo>
                    <a:pt x="3546" y="28758"/>
                  </a:lnTo>
                  <a:lnTo>
                    <a:pt x="5910" y="23050"/>
                  </a:lnTo>
                  <a:lnTo>
                    <a:pt x="40408" y="0"/>
                  </a:lnTo>
                  <a:lnTo>
                    <a:pt x="46585" y="0"/>
                  </a:lnTo>
                  <a:close/>
                </a:path>
              </a:pathLst>
            </a:custGeom>
            <a:ln w="1863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8397409" y="5068599"/>
            <a:ext cx="65087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75" b="1">
                <a:solidFill>
                  <a:srgbClr val="0C4A86"/>
                </a:solidFill>
                <a:latin typeface="Arial"/>
                <a:cs typeface="Arial"/>
              </a:rPr>
              <a:t>STATCOM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8992638" y="5644513"/>
            <a:ext cx="578485" cy="578485"/>
            <a:chOff x="8992638" y="5644513"/>
            <a:chExt cx="578485" cy="578485"/>
          </a:xfrm>
        </p:grpSpPr>
        <p:sp>
          <p:nvSpPr>
            <p:cNvPr id="32" name="object 32" descr=""/>
            <p:cNvSpPr/>
            <p:nvPr/>
          </p:nvSpPr>
          <p:spPr>
            <a:xfrm>
              <a:off x="9002163" y="5654038"/>
              <a:ext cx="559435" cy="559435"/>
            </a:xfrm>
            <a:custGeom>
              <a:avLst/>
              <a:gdLst/>
              <a:ahLst/>
              <a:cxnLst/>
              <a:rect l="l" t="t" r="r" b="b"/>
              <a:pathLst>
                <a:path w="559434" h="559435">
                  <a:moveTo>
                    <a:pt x="518622" y="559030"/>
                  </a:moveTo>
                  <a:lnTo>
                    <a:pt x="40408" y="559030"/>
                  </a:lnTo>
                  <a:lnTo>
                    <a:pt x="34465" y="557848"/>
                  </a:lnTo>
                  <a:lnTo>
                    <a:pt x="1182" y="524564"/>
                  </a:lnTo>
                  <a:lnTo>
                    <a:pt x="0" y="518622"/>
                  </a:lnTo>
                  <a:lnTo>
                    <a:pt x="0" y="40408"/>
                  </a:lnTo>
                  <a:lnTo>
                    <a:pt x="23050" y="5910"/>
                  </a:lnTo>
                  <a:lnTo>
                    <a:pt x="46585" y="0"/>
                  </a:lnTo>
                  <a:lnTo>
                    <a:pt x="518622" y="0"/>
                  </a:lnTo>
                  <a:lnTo>
                    <a:pt x="553120" y="23050"/>
                  </a:lnTo>
                  <a:lnTo>
                    <a:pt x="559030" y="40408"/>
                  </a:lnTo>
                  <a:lnTo>
                    <a:pt x="559030" y="518622"/>
                  </a:lnTo>
                  <a:lnTo>
                    <a:pt x="535979" y="553120"/>
                  </a:lnTo>
                  <a:lnTo>
                    <a:pt x="518622" y="559030"/>
                  </a:lnTo>
                  <a:close/>
                </a:path>
              </a:pathLst>
            </a:custGeom>
            <a:solidFill>
              <a:srgbClr val="F0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002163" y="5654038"/>
              <a:ext cx="559435" cy="559435"/>
            </a:xfrm>
            <a:custGeom>
              <a:avLst/>
              <a:gdLst/>
              <a:ahLst/>
              <a:cxnLst/>
              <a:rect l="l" t="t" r="r" b="b"/>
              <a:pathLst>
                <a:path w="559434" h="559435">
                  <a:moveTo>
                    <a:pt x="46585" y="0"/>
                  </a:moveTo>
                  <a:lnTo>
                    <a:pt x="512444" y="0"/>
                  </a:lnTo>
                  <a:lnTo>
                    <a:pt x="518622" y="0"/>
                  </a:lnTo>
                  <a:lnTo>
                    <a:pt x="553120" y="23050"/>
                  </a:lnTo>
                  <a:lnTo>
                    <a:pt x="559030" y="46585"/>
                  </a:lnTo>
                  <a:lnTo>
                    <a:pt x="559030" y="512444"/>
                  </a:lnTo>
                  <a:lnTo>
                    <a:pt x="541017" y="549753"/>
                  </a:lnTo>
                  <a:lnTo>
                    <a:pt x="512444" y="559030"/>
                  </a:lnTo>
                  <a:lnTo>
                    <a:pt x="46585" y="559030"/>
                  </a:lnTo>
                  <a:lnTo>
                    <a:pt x="9276" y="541017"/>
                  </a:lnTo>
                  <a:lnTo>
                    <a:pt x="0" y="512444"/>
                  </a:lnTo>
                  <a:lnTo>
                    <a:pt x="0" y="46585"/>
                  </a:lnTo>
                  <a:lnTo>
                    <a:pt x="18012" y="9276"/>
                  </a:lnTo>
                  <a:lnTo>
                    <a:pt x="46585" y="0"/>
                  </a:lnTo>
                  <a:close/>
                </a:path>
              </a:pathLst>
            </a:custGeom>
            <a:ln w="1863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9066126" y="5798809"/>
            <a:ext cx="43116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50" b="1">
                <a:solidFill>
                  <a:srgbClr val="0C4A86"/>
                </a:solidFill>
                <a:latin typeface="Arial"/>
                <a:cs typeface="Arial"/>
              </a:rPr>
              <a:t>SSSC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0203870" y="5597927"/>
            <a:ext cx="764540" cy="671830"/>
            <a:chOff x="10203870" y="5597927"/>
            <a:chExt cx="764540" cy="671830"/>
          </a:xfrm>
        </p:grpSpPr>
        <p:sp>
          <p:nvSpPr>
            <p:cNvPr id="36" name="object 36" descr=""/>
            <p:cNvSpPr/>
            <p:nvPr/>
          </p:nvSpPr>
          <p:spPr>
            <a:xfrm>
              <a:off x="10213396" y="5607452"/>
              <a:ext cx="745490" cy="652780"/>
            </a:xfrm>
            <a:custGeom>
              <a:avLst/>
              <a:gdLst/>
              <a:ahLst/>
              <a:cxnLst/>
              <a:rect l="l" t="t" r="r" b="b"/>
              <a:pathLst>
                <a:path w="745490" h="652779">
                  <a:moveTo>
                    <a:pt x="704965" y="652202"/>
                  </a:moveTo>
                  <a:lnTo>
                    <a:pt x="40408" y="652202"/>
                  </a:lnTo>
                  <a:lnTo>
                    <a:pt x="34465" y="651019"/>
                  </a:lnTo>
                  <a:lnTo>
                    <a:pt x="1182" y="617736"/>
                  </a:lnTo>
                  <a:lnTo>
                    <a:pt x="0" y="611793"/>
                  </a:lnTo>
                  <a:lnTo>
                    <a:pt x="0" y="40408"/>
                  </a:lnTo>
                  <a:lnTo>
                    <a:pt x="23050" y="5910"/>
                  </a:lnTo>
                  <a:lnTo>
                    <a:pt x="46585" y="0"/>
                  </a:lnTo>
                  <a:lnTo>
                    <a:pt x="704965" y="0"/>
                  </a:lnTo>
                  <a:lnTo>
                    <a:pt x="739463" y="23050"/>
                  </a:lnTo>
                  <a:lnTo>
                    <a:pt x="745373" y="40408"/>
                  </a:lnTo>
                  <a:lnTo>
                    <a:pt x="745373" y="611793"/>
                  </a:lnTo>
                  <a:lnTo>
                    <a:pt x="722322" y="646291"/>
                  </a:lnTo>
                  <a:lnTo>
                    <a:pt x="704965" y="652202"/>
                  </a:lnTo>
                  <a:close/>
                </a:path>
              </a:pathLst>
            </a:custGeom>
            <a:solidFill>
              <a:srgbClr val="F0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213395" y="5607452"/>
              <a:ext cx="745490" cy="652780"/>
            </a:xfrm>
            <a:custGeom>
              <a:avLst/>
              <a:gdLst/>
              <a:ahLst/>
              <a:cxnLst/>
              <a:rect l="l" t="t" r="r" b="b"/>
              <a:pathLst>
                <a:path w="745490" h="652779">
                  <a:moveTo>
                    <a:pt x="46585" y="0"/>
                  </a:moveTo>
                  <a:lnTo>
                    <a:pt x="698787" y="0"/>
                  </a:lnTo>
                  <a:lnTo>
                    <a:pt x="704965" y="0"/>
                  </a:lnTo>
                  <a:lnTo>
                    <a:pt x="739463" y="23050"/>
                  </a:lnTo>
                  <a:lnTo>
                    <a:pt x="745373" y="46585"/>
                  </a:lnTo>
                  <a:lnTo>
                    <a:pt x="745373" y="605616"/>
                  </a:lnTo>
                  <a:lnTo>
                    <a:pt x="727360" y="642925"/>
                  </a:lnTo>
                  <a:lnTo>
                    <a:pt x="698787" y="652202"/>
                  </a:lnTo>
                  <a:lnTo>
                    <a:pt x="46585" y="652202"/>
                  </a:lnTo>
                  <a:lnTo>
                    <a:pt x="9276" y="634189"/>
                  </a:lnTo>
                  <a:lnTo>
                    <a:pt x="0" y="605616"/>
                  </a:lnTo>
                  <a:lnTo>
                    <a:pt x="0" y="46585"/>
                  </a:lnTo>
                  <a:lnTo>
                    <a:pt x="18012" y="9276"/>
                  </a:lnTo>
                  <a:lnTo>
                    <a:pt x="46585" y="0"/>
                  </a:lnTo>
                  <a:close/>
                </a:path>
              </a:pathLst>
            </a:custGeom>
            <a:ln w="1863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0370679" y="5798809"/>
            <a:ext cx="43116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45" b="1">
                <a:solidFill>
                  <a:srgbClr val="0C4A86"/>
                </a:solidFill>
                <a:latin typeface="Arial"/>
                <a:cs typeface="Arial"/>
              </a:rPr>
              <a:t>UPFC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576558" y="5197497"/>
            <a:ext cx="19050" cy="419734"/>
            <a:chOff x="10576558" y="5197497"/>
            <a:chExt cx="19050" cy="419734"/>
          </a:xfrm>
        </p:grpSpPr>
        <p:sp>
          <p:nvSpPr>
            <p:cNvPr id="40" name="object 40" descr=""/>
            <p:cNvSpPr/>
            <p:nvPr/>
          </p:nvSpPr>
          <p:spPr>
            <a:xfrm>
              <a:off x="10586083" y="5467695"/>
              <a:ext cx="0" cy="140335"/>
            </a:xfrm>
            <a:custGeom>
              <a:avLst/>
              <a:gdLst/>
              <a:ahLst/>
              <a:cxnLst/>
              <a:rect l="l" t="t" r="r" b="b"/>
              <a:pathLst>
                <a:path w="0" h="140335">
                  <a:moveTo>
                    <a:pt x="0" y="139757"/>
                  </a:moveTo>
                  <a:lnTo>
                    <a:pt x="0" y="0"/>
                  </a:lnTo>
                </a:path>
              </a:pathLst>
            </a:custGeom>
            <a:ln w="1863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576763" y="5197499"/>
              <a:ext cx="19050" cy="270510"/>
            </a:xfrm>
            <a:custGeom>
              <a:avLst/>
              <a:gdLst/>
              <a:ahLst/>
              <a:cxnLst/>
              <a:rect l="l" t="t" r="r" b="b"/>
              <a:pathLst>
                <a:path w="19050" h="270510">
                  <a:moveTo>
                    <a:pt x="18630" y="223621"/>
                  </a:moveTo>
                  <a:lnTo>
                    <a:pt x="0" y="223621"/>
                  </a:lnTo>
                  <a:lnTo>
                    <a:pt x="0" y="270205"/>
                  </a:lnTo>
                  <a:lnTo>
                    <a:pt x="18630" y="270205"/>
                  </a:lnTo>
                  <a:lnTo>
                    <a:pt x="18630" y="223621"/>
                  </a:lnTo>
                  <a:close/>
                </a:path>
                <a:path w="19050" h="270510">
                  <a:moveTo>
                    <a:pt x="18630" y="149072"/>
                  </a:moveTo>
                  <a:lnTo>
                    <a:pt x="0" y="149072"/>
                  </a:lnTo>
                  <a:lnTo>
                    <a:pt x="0" y="195668"/>
                  </a:lnTo>
                  <a:lnTo>
                    <a:pt x="18630" y="195668"/>
                  </a:lnTo>
                  <a:lnTo>
                    <a:pt x="18630" y="149072"/>
                  </a:lnTo>
                  <a:close/>
                </a:path>
                <a:path w="19050" h="270510">
                  <a:moveTo>
                    <a:pt x="18630" y="74536"/>
                  </a:moveTo>
                  <a:lnTo>
                    <a:pt x="0" y="74536"/>
                  </a:lnTo>
                  <a:lnTo>
                    <a:pt x="0" y="121132"/>
                  </a:lnTo>
                  <a:lnTo>
                    <a:pt x="18630" y="121132"/>
                  </a:lnTo>
                  <a:lnTo>
                    <a:pt x="18630" y="74536"/>
                  </a:lnTo>
                  <a:close/>
                </a:path>
                <a:path w="19050" h="270510">
                  <a:moveTo>
                    <a:pt x="18630" y="0"/>
                  </a:moveTo>
                  <a:lnTo>
                    <a:pt x="0" y="0"/>
                  </a:lnTo>
                  <a:lnTo>
                    <a:pt x="0" y="46583"/>
                  </a:lnTo>
                  <a:lnTo>
                    <a:pt x="18630" y="46583"/>
                  </a:lnTo>
                  <a:lnTo>
                    <a:pt x="18630" y="0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7200853" y="6638242"/>
            <a:ext cx="80772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45">
                <a:solidFill>
                  <a:srgbClr val="666666"/>
                </a:solidFill>
                <a:latin typeface="Arial"/>
                <a:cs typeface="Arial"/>
              </a:rPr>
              <a:t>Reactive</a:t>
            </a:r>
            <a:r>
              <a:rPr dirty="0" sz="950" spc="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Power</a:t>
            </a:r>
            <a:endParaRPr sz="950">
              <a:latin typeface="Arial"/>
              <a:cs typeface="Aria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8312599" y="4681747"/>
            <a:ext cx="820419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666666"/>
                </a:solidFill>
                <a:latin typeface="Arial"/>
                <a:cs typeface="Arial"/>
              </a:rPr>
              <a:t>Voltage</a:t>
            </a:r>
            <a:r>
              <a:rPr dirty="0" sz="95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Support</a:t>
            </a:r>
            <a:endParaRPr sz="95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8915353" y="5427078"/>
            <a:ext cx="73279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40">
                <a:solidFill>
                  <a:srgbClr val="666666"/>
                </a:solidFill>
                <a:latin typeface="Arial"/>
                <a:cs typeface="Arial"/>
              </a:rPr>
              <a:t>Series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66666"/>
                </a:solidFill>
                <a:latin typeface="Arial"/>
                <a:cs typeface="Arial"/>
              </a:rPr>
              <a:t>Control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0123539" y="5333912"/>
            <a:ext cx="925194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666666"/>
                </a:solidFill>
                <a:latin typeface="Arial"/>
                <a:cs typeface="Arial"/>
              </a:rPr>
              <a:t>Combined</a:t>
            </a:r>
            <a:r>
              <a:rPr dirty="0" sz="95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66666"/>
                </a:solidFill>
                <a:latin typeface="Arial"/>
                <a:cs typeface="Arial"/>
              </a:rPr>
              <a:t>Control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6849688" y="5737685"/>
            <a:ext cx="391795" cy="391795"/>
            <a:chOff x="6849688" y="5737685"/>
            <a:chExt cx="391795" cy="391795"/>
          </a:xfrm>
        </p:grpSpPr>
        <p:sp>
          <p:nvSpPr>
            <p:cNvPr id="47" name="object 47" descr=""/>
            <p:cNvSpPr/>
            <p:nvPr/>
          </p:nvSpPr>
          <p:spPr>
            <a:xfrm>
              <a:off x="6859213" y="5747210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186343" y="372686"/>
                  </a:moveTo>
                  <a:lnTo>
                    <a:pt x="141054" y="367100"/>
                  </a:lnTo>
                  <a:lnTo>
                    <a:pt x="98500" y="350685"/>
                  </a:lnTo>
                  <a:lnTo>
                    <a:pt x="61210" y="324423"/>
                  </a:lnTo>
                  <a:lnTo>
                    <a:pt x="31404" y="289870"/>
                  </a:lnTo>
                  <a:lnTo>
                    <a:pt x="10888" y="249110"/>
                  </a:lnTo>
                  <a:lnTo>
                    <a:pt x="895" y="204608"/>
                  </a:lnTo>
                  <a:lnTo>
                    <a:pt x="0" y="186343"/>
                  </a:lnTo>
                  <a:lnTo>
                    <a:pt x="223" y="177188"/>
                  </a:lnTo>
                  <a:lnTo>
                    <a:pt x="8021" y="132250"/>
                  </a:lnTo>
                  <a:lnTo>
                    <a:pt x="26504" y="90552"/>
                  </a:lnTo>
                  <a:lnTo>
                    <a:pt x="54578" y="54578"/>
                  </a:lnTo>
                  <a:lnTo>
                    <a:pt x="90552" y="26504"/>
                  </a:lnTo>
                  <a:lnTo>
                    <a:pt x="132250" y="8021"/>
                  </a:lnTo>
                  <a:lnTo>
                    <a:pt x="177188" y="223"/>
                  </a:lnTo>
                  <a:lnTo>
                    <a:pt x="186343" y="0"/>
                  </a:lnTo>
                  <a:lnTo>
                    <a:pt x="195498" y="223"/>
                  </a:lnTo>
                  <a:lnTo>
                    <a:pt x="240436" y="8021"/>
                  </a:lnTo>
                  <a:lnTo>
                    <a:pt x="282134" y="26504"/>
                  </a:lnTo>
                  <a:lnTo>
                    <a:pt x="318108" y="54578"/>
                  </a:lnTo>
                  <a:lnTo>
                    <a:pt x="346182" y="90552"/>
                  </a:lnTo>
                  <a:lnTo>
                    <a:pt x="364665" y="132250"/>
                  </a:lnTo>
                  <a:lnTo>
                    <a:pt x="372463" y="177188"/>
                  </a:lnTo>
                  <a:lnTo>
                    <a:pt x="372686" y="186343"/>
                  </a:lnTo>
                  <a:lnTo>
                    <a:pt x="372463" y="195498"/>
                  </a:lnTo>
                  <a:lnTo>
                    <a:pt x="364665" y="240436"/>
                  </a:lnTo>
                  <a:lnTo>
                    <a:pt x="346182" y="282134"/>
                  </a:lnTo>
                  <a:lnTo>
                    <a:pt x="318108" y="318108"/>
                  </a:lnTo>
                  <a:lnTo>
                    <a:pt x="282134" y="346182"/>
                  </a:lnTo>
                  <a:lnTo>
                    <a:pt x="240436" y="364665"/>
                  </a:lnTo>
                  <a:lnTo>
                    <a:pt x="195498" y="372463"/>
                  </a:lnTo>
                  <a:lnTo>
                    <a:pt x="186343" y="372686"/>
                  </a:lnTo>
                  <a:close/>
                </a:path>
              </a:pathLst>
            </a:custGeom>
            <a:solidFill>
              <a:srgbClr val="F0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859213" y="5747210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372686" y="186343"/>
                  </a:moveTo>
                  <a:lnTo>
                    <a:pt x="367100" y="231632"/>
                  </a:lnTo>
                  <a:lnTo>
                    <a:pt x="350685" y="274186"/>
                  </a:lnTo>
                  <a:lnTo>
                    <a:pt x="324423" y="311476"/>
                  </a:lnTo>
                  <a:lnTo>
                    <a:pt x="289870" y="341282"/>
                  </a:lnTo>
                  <a:lnTo>
                    <a:pt x="249110" y="361798"/>
                  </a:lnTo>
                  <a:lnTo>
                    <a:pt x="204608" y="371791"/>
                  </a:lnTo>
                  <a:lnTo>
                    <a:pt x="186343" y="372686"/>
                  </a:lnTo>
                  <a:lnTo>
                    <a:pt x="177188" y="372463"/>
                  </a:lnTo>
                  <a:lnTo>
                    <a:pt x="132250" y="364665"/>
                  </a:lnTo>
                  <a:lnTo>
                    <a:pt x="90552" y="346182"/>
                  </a:lnTo>
                  <a:lnTo>
                    <a:pt x="54578" y="318108"/>
                  </a:lnTo>
                  <a:lnTo>
                    <a:pt x="26504" y="282134"/>
                  </a:lnTo>
                  <a:lnTo>
                    <a:pt x="8021" y="240436"/>
                  </a:lnTo>
                  <a:lnTo>
                    <a:pt x="223" y="195498"/>
                  </a:lnTo>
                  <a:lnTo>
                    <a:pt x="0" y="186343"/>
                  </a:lnTo>
                  <a:lnTo>
                    <a:pt x="223" y="177188"/>
                  </a:lnTo>
                  <a:lnTo>
                    <a:pt x="8021" y="132250"/>
                  </a:lnTo>
                  <a:lnTo>
                    <a:pt x="26504" y="90552"/>
                  </a:lnTo>
                  <a:lnTo>
                    <a:pt x="54578" y="54578"/>
                  </a:lnTo>
                  <a:lnTo>
                    <a:pt x="90552" y="26504"/>
                  </a:lnTo>
                  <a:lnTo>
                    <a:pt x="132250" y="8021"/>
                  </a:lnTo>
                  <a:lnTo>
                    <a:pt x="177188" y="223"/>
                  </a:lnTo>
                  <a:lnTo>
                    <a:pt x="186343" y="0"/>
                  </a:lnTo>
                  <a:lnTo>
                    <a:pt x="195498" y="223"/>
                  </a:lnTo>
                  <a:lnTo>
                    <a:pt x="240436" y="8021"/>
                  </a:lnTo>
                  <a:lnTo>
                    <a:pt x="282134" y="26504"/>
                  </a:lnTo>
                  <a:lnTo>
                    <a:pt x="318108" y="54578"/>
                  </a:lnTo>
                  <a:lnTo>
                    <a:pt x="346182" y="90552"/>
                  </a:lnTo>
                  <a:lnTo>
                    <a:pt x="364665" y="132250"/>
                  </a:lnTo>
                  <a:lnTo>
                    <a:pt x="372463" y="177188"/>
                  </a:lnTo>
                  <a:lnTo>
                    <a:pt x="372686" y="186343"/>
                  </a:lnTo>
                  <a:close/>
                </a:path>
              </a:pathLst>
            </a:custGeom>
            <a:ln w="18634">
              <a:solidFill>
                <a:srgbClr val="2D37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6982107" y="5813973"/>
            <a:ext cx="12700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50" b="1">
                <a:solidFill>
                  <a:srgbClr val="2D3748"/>
                </a:solidFill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781635" y="6079317"/>
            <a:ext cx="52832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35">
                <a:solidFill>
                  <a:srgbClr val="666666"/>
                </a:solidFill>
                <a:latin typeface="Arial"/>
                <a:cs typeface="Arial"/>
              </a:rPr>
              <a:t>Generator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10762901" y="6296715"/>
            <a:ext cx="391795" cy="299085"/>
            <a:chOff x="10762901" y="6296715"/>
            <a:chExt cx="391795" cy="299085"/>
          </a:xfrm>
        </p:grpSpPr>
        <p:sp>
          <p:nvSpPr>
            <p:cNvPr id="52" name="object 52" descr=""/>
            <p:cNvSpPr/>
            <p:nvPr/>
          </p:nvSpPr>
          <p:spPr>
            <a:xfrm>
              <a:off x="10772426" y="6306240"/>
              <a:ext cx="372745" cy="280035"/>
            </a:xfrm>
            <a:custGeom>
              <a:avLst/>
              <a:gdLst/>
              <a:ahLst/>
              <a:cxnLst/>
              <a:rect l="l" t="t" r="r" b="b"/>
              <a:pathLst>
                <a:path w="372745" h="280034">
                  <a:moveTo>
                    <a:pt x="372686" y="279515"/>
                  </a:moveTo>
                  <a:lnTo>
                    <a:pt x="0" y="279515"/>
                  </a:lnTo>
                  <a:lnTo>
                    <a:pt x="0" y="0"/>
                  </a:lnTo>
                  <a:lnTo>
                    <a:pt x="372686" y="0"/>
                  </a:lnTo>
                  <a:lnTo>
                    <a:pt x="372686" y="279515"/>
                  </a:lnTo>
                  <a:close/>
                </a:path>
              </a:pathLst>
            </a:custGeom>
            <a:solidFill>
              <a:srgbClr val="F0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772426" y="6306240"/>
              <a:ext cx="372745" cy="280035"/>
            </a:xfrm>
            <a:custGeom>
              <a:avLst/>
              <a:gdLst/>
              <a:ahLst/>
              <a:cxnLst/>
              <a:rect l="l" t="t" r="r" b="b"/>
              <a:pathLst>
                <a:path w="372745" h="280034">
                  <a:moveTo>
                    <a:pt x="0" y="0"/>
                  </a:moveTo>
                  <a:lnTo>
                    <a:pt x="372686" y="0"/>
                  </a:lnTo>
                  <a:lnTo>
                    <a:pt x="372686" y="279515"/>
                  </a:lnTo>
                  <a:lnTo>
                    <a:pt x="0" y="279515"/>
                  </a:lnTo>
                  <a:lnTo>
                    <a:pt x="0" y="0"/>
                  </a:lnTo>
                  <a:close/>
                </a:path>
              </a:pathLst>
            </a:custGeom>
            <a:ln w="18634">
              <a:solidFill>
                <a:srgbClr val="2D37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772419" y="6296926"/>
              <a:ext cx="372745" cy="205104"/>
            </a:xfrm>
            <a:custGeom>
              <a:avLst/>
              <a:gdLst/>
              <a:ahLst/>
              <a:cxnLst/>
              <a:rect l="l" t="t" r="r" b="b"/>
              <a:pathLst>
                <a:path w="372745" h="205104">
                  <a:moveTo>
                    <a:pt x="372681" y="186347"/>
                  </a:moveTo>
                  <a:lnTo>
                    <a:pt x="0" y="186347"/>
                  </a:lnTo>
                  <a:lnTo>
                    <a:pt x="0" y="204978"/>
                  </a:lnTo>
                  <a:lnTo>
                    <a:pt x="372681" y="204978"/>
                  </a:lnTo>
                  <a:lnTo>
                    <a:pt x="372681" y="186347"/>
                  </a:lnTo>
                  <a:close/>
                </a:path>
                <a:path w="372745" h="205104">
                  <a:moveTo>
                    <a:pt x="372681" y="93179"/>
                  </a:moveTo>
                  <a:lnTo>
                    <a:pt x="0" y="93179"/>
                  </a:lnTo>
                  <a:lnTo>
                    <a:pt x="0" y="111810"/>
                  </a:lnTo>
                  <a:lnTo>
                    <a:pt x="372681" y="111810"/>
                  </a:lnTo>
                  <a:lnTo>
                    <a:pt x="372681" y="93179"/>
                  </a:lnTo>
                  <a:close/>
                </a:path>
                <a:path w="372745" h="205104">
                  <a:moveTo>
                    <a:pt x="372681" y="0"/>
                  </a:moveTo>
                  <a:lnTo>
                    <a:pt x="0" y="0"/>
                  </a:lnTo>
                  <a:lnTo>
                    <a:pt x="0" y="18643"/>
                  </a:lnTo>
                  <a:lnTo>
                    <a:pt x="372681" y="18643"/>
                  </a:lnTo>
                  <a:lnTo>
                    <a:pt x="372681" y="0"/>
                  </a:lnTo>
                  <a:close/>
                </a:path>
              </a:pathLst>
            </a:custGeom>
            <a:solidFill>
              <a:srgbClr val="2D37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10821947" y="6591761"/>
            <a:ext cx="27432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30">
                <a:solidFill>
                  <a:srgbClr val="666666"/>
                </a:solidFill>
                <a:latin typeface="Arial"/>
                <a:cs typeface="Arial"/>
              </a:rPr>
              <a:t>Load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0" y="7153275"/>
            <a:ext cx="12192000" cy="514350"/>
            <a:chOff x="0" y="7153275"/>
            <a:chExt cx="12192000" cy="514350"/>
          </a:xfrm>
        </p:grpSpPr>
        <p:sp>
          <p:nvSpPr>
            <p:cNvPr id="57" name="object 57" descr=""/>
            <p:cNvSpPr/>
            <p:nvPr/>
          </p:nvSpPr>
          <p:spPr>
            <a:xfrm>
              <a:off x="0" y="7381874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534649" y="7153275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48949" y="7248524"/>
              <a:ext cx="133349" cy="133349"/>
            </a:xfrm>
            <a:prstGeom prst="rect">
              <a:avLst/>
            </a:prstGeom>
          </p:spPr>
        </p:pic>
      </p:grpSp>
      <p:sp>
        <p:nvSpPr>
          <p:cNvPr id="60" name="object 60" descr=""/>
          <p:cNvSpPr txBox="1"/>
          <p:nvPr/>
        </p:nvSpPr>
        <p:spPr>
          <a:xfrm>
            <a:off x="10826153" y="7096819"/>
            <a:ext cx="1073785" cy="293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12750">
              <a:lnSpc>
                <a:spcPts val="1145"/>
              </a:lnSpc>
            </a:pPr>
            <a:fld id="{81D60167-4931-47E6-BA6A-407CBD079E47}" type="slidenum">
              <a:rPr dirty="0" sz="1250">
                <a:solidFill>
                  <a:srgbClr val="708095"/>
                </a:solidFill>
                <a:latin typeface="Arial"/>
                <a:cs typeface="Arial"/>
              </a:rPr>
              <a:t>4</a:t>
            </a:fld>
            <a:r>
              <a:rPr dirty="0" sz="1250" spc="-4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08095"/>
                </a:solidFill>
                <a:latin typeface="Arial"/>
                <a:cs typeface="Arial"/>
              </a:rPr>
              <a:t>/</a:t>
            </a:r>
            <a:r>
              <a:rPr dirty="0" sz="1250" spc="-4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708095"/>
                </a:solidFill>
                <a:latin typeface="Arial"/>
                <a:cs typeface="Arial"/>
              </a:rPr>
              <a:t>10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 with</a:t>
            </a:r>
            <a:r>
              <a:rPr dirty="0" sz="9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Genspark</a:t>
            </a:r>
            <a:endParaRPr sz="950">
              <a:latin typeface="Arial"/>
              <a:cs typeface="Arial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8727380" y="7463048"/>
            <a:ext cx="328676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Advanced</a:t>
            </a:r>
            <a:r>
              <a:rPr dirty="0" spc="-15"/>
              <a:t> </a:t>
            </a:r>
            <a:r>
              <a:rPr dirty="0" spc="-140"/>
              <a:t>FACTS</a:t>
            </a:r>
            <a:r>
              <a:rPr dirty="0" spc="-15"/>
              <a:t> </a:t>
            </a:r>
            <a:r>
              <a:rPr dirty="0" spc="-90"/>
              <a:t>Control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20"/>
              <a:t> </a:t>
            </a:r>
            <a:r>
              <a:rPr dirty="0" spc="-95"/>
              <a:t>Reinforcement</a:t>
            </a:r>
            <a:r>
              <a:rPr dirty="0" spc="-15"/>
              <a:t> </a:t>
            </a:r>
            <a:r>
              <a:rPr dirty="0" spc="-35"/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063636"/>
            <a:ext cx="5741035" cy="852169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625"/>
              </a:spcBef>
            </a:pPr>
            <a:r>
              <a:rPr dirty="0" sz="2900" spc="-110" b="1">
                <a:solidFill>
                  <a:srgbClr val="1D40AF"/>
                </a:solidFill>
                <a:latin typeface="Arial"/>
                <a:cs typeface="Arial"/>
              </a:rPr>
              <a:t>Challenges</a:t>
            </a:r>
            <a:r>
              <a:rPr dirty="0" sz="2900" spc="-9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50" b="1">
                <a:solidFill>
                  <a:srgbClr val="1D40AF"/>
                </a:solidFill>
                <a:latin typeface="Arial"/>
                <a:cs typeface="Arial"/>
              </a:rPr>
              <a:t>in</a:t>
            </a:r>
            <a:r>
              <a:rPr dirty="0" sz="2900" spc="-9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05" b="1">
                <a:solidFill>
                  <a:srgbClr val="1D40AF"/>
                </a:solidFill>
                <a:latin typeface="Arial"/>
                <a:cs typeface="Arial"/>
              </a:rPr>
              <a:t>Conventional</a:t>
            </a:r>
            <a:r>
              <a:rPr dirty="0" sz="2900" spc="-9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70" b="1">
                <a:solidFill>
                  <a:srgbClr val="1D40AF"/>
                </a:solidFill>
                <a:latin typeface="Arial"/>
                <a:cs typeface="Arial"/>
              </a:rPr>
              <a:t>FACTS </a:t>
            </a:r>
            <a:r>
              <a:rPr dirty="0" sz="2900" spc="-10" b="1">
                <a:solidFill>
                  <a:srgbClr val="1D40AF"/>
                </a:solidFill>
                <a:latin typeface="Arial"/>
                <a:cs typeface="Arial"/>
              </a:rPr>
              <a:t>Control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70804" y="2324100"/>
            <a:ext cx="262890" cy="209550"/>
          </a:xfrm>
          <a:custGeom>
            <a:avLst/>
            <a:gdLst/>
            <a:ahLst/>
            <a:cxnLst/>
            <a:rect l="l" t="t" r="r" b="b"/>
            <a:pathLst>
              <a:path w="262890" h="209550">
                <a:moveTo>
                  <a:pt x="157858" y="13096"/>
                </a:moveTo>
                <a:lnTo>
                  <a:pt x="105470" y="13096"/>
                </a:lnTo>
                <a:lnTo>
                  <a:pt x="110576" y="7700"/>
                </a:lnTo>
                <a:lnTo>
                  <a:pt x="116787" y="3570"/>
                </a:lnTo>
                <a:lnTo>
                  <a:pt x="123888" y="929"/>
                </a:lnTo>
                <a:lnTo>
                  <a:pt x="131664" y="0"/>
                </a:lnTo>
                <a:lnTo>
                  <a:pt x="139440" y="929"/>
                </a:lnTo>
                <a:lnTo>
                  <a:pt x="146541" y="3570"/>
                </a:lnTo>
                <a:lnTo>
                  <a:pt x="152752" y="7700"/>
                </a:lnTo>
                <a:lnTo>
                  <a:pt x="157858" y="13096"/>
                </a:lnTo>
                <a:close/>
              </a:path>
              <a:path w="262890" h="209550">
                <a:moveTo>
                  <a:pt x="217489" y="39290"/>
                </a:moveTo>
                <a:lnTo>
                  <a:pt x="45839" y="39290"/>
                </a:lnTo>
                <a:lnTo>
                  <a:pt x="39986" y="33437"/>
                </a:lnTo>
                <a:lnTo>
                  <a:pt x="39986" y="18949"/>
                </a:lnTo>
                <a:lnTo>
                  <a:pt x="45839" y="13096"/>
                </a:lnTo>
                <a:lnTo>
                  <a:pt x="217489" y="13096"/>
                </a:lnTo>
                <a:lnTo>
                  <a:pt x="223342" y="18949"/>
                </a:lnTo>
                <a:lnTo>
                  <a:pt x="223342" y="33437"/>
                </a:lnTo>
                <a:lnTo>
                  <a:pt x="217489" y="39290"/>
                </a:lnTo>
                <a:close/>
              </a:path>
              <a:path w="262890" h="209550">
                <a:moveTo>
                  <a:pt x="144761" y="183356"/>
                </a:moveTo>
                <a:lnTo>
                  <a:pt x="118567" y="183356"/>
                </a:lnTo>
                <a:lnTo>
                  <a:pt x="118567" y="62742"/>
                </a:lnTo>
                <a:lnTo>
                  <a:pt x="111842" y="58778"/>
                </a:lnTo>
                <a:lnTo>
                  <a:pt x="106263" y="53380"/>
                </a:lnTo>
                <a:lnTo>
                  <a:pt x="102089" y="46799"/>
                </a:lnTo>
                <a:lnTo>
                  <a:pt x="99577" y="39290"/>
                </a:lnTo>
                <a:lnTo>
                  <a:pt x="163751" y="39290"/>
                </a:lnTo>
                <a:lnTo>
                  <a:pt x="161246" y="46799"/>
                </a:lnTo>
                <a:lnTo>
                  <a:pt x="157084" y="53380"/>
                </a:lnTo>
                <a:lnTo>
                  <a:pt x="151510" y="58778"/>
                </a:lnTo>
                <a:lnTo>
                  <a:pt x="144761" y="62742"/>
                </a:lnTo>
                <a:lnTo>
                  <a:pt x="144761" y="183356"/>
                </a:lnTo>
                <a:close/>
              </a:path>
              <a:path w="262890" h="209550">
                <a:moveTo>
                  <a:pt x="52592" y="170259"/>
                </a:moveTo>
                <a:lnTo>
                  <a:pt x="7359" y="150765"/>
                </a:lnTo>
                <a:lnTo>
                  <a:pt x="0" y="133465"/>
                </a:lnTo>
                <a:lnTo>
                  <a:pt x="1473" y="128840"/>
                </a:lnTo>
                <a:lnTo>
                  <a:pt x="44815" y="54515"/>
                </a:lnTo>
                <a:lnTo>
                  <a:pt x="48581" y="52387"/>
                </a:lnTo>
                <a:lnTo>
                  <a:pt x="56684" y="52387"/>
                </a:lnTo>
                <a:lnTo>
                  <a:pt x="60379" y="54515"/>
                </a:lnTo>
                <a:lnTo>
                  <a:pt x="62496" y="58035"/>
                </a:lnTo>
                <a:lnTo>
                  <a:pt x="75386" y="80136"/>
                </a:lnTo>
                <a:lnTo>
                  <a:pt x="52592" y="80136"/>
                </a:lnTo>
                <a:lnTo>
                  <a:pt x="22960" y="130968"/>
                </a:lnTo>
                <a:lnTo>
                  <a:pt x="104470" y="130968"/>
                </a:lnTo>
                <a:lnTo>
                  <a:pt x="105266" y="133465"/>
                </a:lnTo>
                <a:lnTo>
                  <a:pt x="104202" y="137967"/>
                </a:lnTo>
                <a:lnTo>
                  <a:pt x="97876" y="150765"/>
                </a:lnTo>
                <a:lnTo>
                  <a:pt x="86377" y="161004"/>
                </a:lnTo>
                <a:lnTo>
                  <a:pt x="70889" y="167797"/>
                </a:lnTo>
                <a:lnTo>
                  <a:pt x="52592" y="170259"/>
                </a:lnTo>
                <a:close/>
              </a:path>
              <a:path w="262890" h="209550">
                <a:moveTo>
                  <a:pt x="210245" y="170259"/>
                </a:moveTo>
                <a:lnTo>
                  <a:pt x="164979" y="150765"/>
                </a:lnTo>
                <a:lnTo>
                  <a:pt x="157612" y="133465"/>
                </a:lnTo>
                <a:lnTo>
                  <a:pt x="159086" y="128840"/>
                </a:lnTo>
                <a:lnTo>
                  <a:pt x="202428" y="54515"/>
                </a:lnTo>
                <a:lnTo>
                  <a:pt x="206193" y="52387"/>
                </a:lnTo>
                <a:lnTo>
                  <a:pt x="214297" y="52387"/>
                </a:lnTo>
                <a:lnTo>
                  <a:pt x="217991" y="54515"/>
                </a:lnTo>
                <a:lnTo>
                  <a:pt x="220109" y="58035"/>
                </a:lnTo>
                <a:lnTo>
                  <a:pt x="232999" y="80136"/>
                </a:lnTo>
                <a:lnTo>
                  <a:pt x="210245" y="80136"/>
                </a:lnTo>
                <a:lnTo>
                  <a:pt x="180614" y="130968"/>
                </a:lnTo>
                <a:lnTo>
                  <a:pt x="262083" y="130968"/>
                </a:lnTo>
                <a:lnTo>
                  <a:pt x="262878" y="133465"/>
                </a:lnTo>
                <a:lnTo>
                  <a:pt x="261814" y="137967"/>
                </a:lnTo>
                <a:lnTo>
                  <a:pt x="255512" y="150765"/>
                </a:lnTo>
                <a:lnTo>
                  <a:pt x="244026" y="161004"/>
                </a:lnTo>
                <a:lnTo>
                  <a:pt x="228542" y="167797"/>
                </a:lnTo>
                <a:lnTo>
                  <a:pt x="210245" y="170259"/>
                </a:lnTo>
                <a:close/>
              </a:path>
              <a:path w="262890" h="209550">
                <a:moveTo>
                  <a:pt x="104470" y="130968"/>
                </a:moveTo>
                <a:lnTo>
                  <a:pt x="82264" y="130968"/>
                </a:lnTo>
                <a:lnTo>
                  <a:pt x="52592" y="80136"/>
                </a:lnTo>
                <a:lnTo>
                  <a:pt x="75386" y="80136"/>
                </a:lnTo>
                <a:lnTo>
                  <a:pt x="103792" y="128840"/>
                </a:lnTo>
                <a:lnTo>
                  <a:pt x="104470" y="130968"/>
                </a:lnTo>
                <a:close/>
              </a:path>
              <a:path w="262890" h="209550">
                <a:moveTo>
                  <a:pt x="262083" y="130968"/>
                </a:moveTo>
                <a:lnTo>
                  <a:pt x="239877" y="130968"/>
                </a:lnTo>
                <a:lnTo>
                  <a:pt x="210245" y="80136"/>
                </a:lnTo>
                <a:lnTo>
                  <a:pt x="232999" y="80136"/>
                </a:lnTo>
                <a:lnTo>
                  <a:pt x="261405" y="128840"/>
                </a:lnTo>
                <a:lnTo>
                  <a:pt x="262083" y="130968"/>
                </a:lnTo>
                <a:close/>
              </a:path>
              <a:path w="262890" h="209550">
                <a:moveTo>
                  <a:pt x="217489" y="209550"/>
                </a:moveTo>
                <a:lnTo>
                  <a:pt x="45839" y="209550"/>
                </a:lnTo>
                <a:lnTo>
                  <a:pt x="39986" y="203697"/>
                </a:lnTo>
                <a:lnTo>
                  <a:pt x="39986" y="189208"/>
                </a:lnTo>
                <a:lnTo>
                  <a:pt x="45839" y="183356"/>
                </a:lnTo>
                <a:lnTo>
                  <a:pt x="217489" y="183356"/>
                </a:lnTo>
                <a:lnTo>
                  <a:pt x="223342" y="189208"/>
                </a:lnTo>
                <a:lnTo>
                  <a:pt x="223342" y="203697"/>
                </a:lnTo>
                <a:lnTo>
                  <a:pt x="217489" y="209550"/>
                </a:lnTo>
                <a:close/>
              </a:path>
            </a:pathLst>
          </a:custGeom>
          <a:solidFill>
            <a:srgbClr val="0C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92187" y="2232976"/>
            <a:ext cx="5487035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Multi-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objective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conflict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between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power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loss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minimization,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voltage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profile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improvement,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cost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reduction,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stability enhancement.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798" y="3456782"/>
            <a:ext cx="247339" cy="19208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92187" y="3356926"/>
            <a:ext cx="562673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Difficulty</a:t>
            </a:r>
            <a:r>
              <a:rPr dirty="0" sz="1750" spc="-6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0" b="1">
                <a:solidFill>
                  <a:srgbClr val="2D3748"/>
                </a:solidFill>
                <a:latin typeface="Arial"/>
                <a:cs typeface="Arial"/>
              </a:rPr>
              <a:t>in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coordination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between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multiple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95">
                <a:solidFill>
                  <a:srgbClr val="2D3748"/>
                </a:solidFill>
                <a:latin typeface="Arial"/>
                <a:cs typeface="Arial"/>
              </a:rPr>
              <a:t>FACTS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devices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due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to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cross-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coupling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effects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varying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response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times.</a:t>
            </a:r>
            <a:endParaRPr sz="175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71500" y="4299346"/>
            <a:ext cx="262255" cy="183515"/>
          </a:xfrm>
          <a:custGeom>
            <a:avLst/>
            <a:gdLst/>
            <a:ahLst/>
            <a:cxnLst/>
            <a:rect l="l" t="t" r="r" b="b"/>
            <a:pathLst>
              <a:path w="262255" h="183514">
                <a:moveTo>
                  <a:pt x="203697" y="183356"/>
                </a:moveTo>
                <a:lnTo>
                  <a:pt x="123724" y="183356"/>
                </a:lnTo>
                <a:lnTo>
                  <a:pt x="117871" y="177503"/>
                </a:lnTo>
                <a:lnTo>
                  <a:pt x="117871" y="26193"/>
                </a:lnTo>
                <a:lnTo>
                  <a:pt x="78581" y="26193"/>
                </a:lnTo>
                <a:lnTo>
                  <a:pt x="78581" y="98922"/>
                </a:lnTo>
                <a:lnTo>
                  <a:pt x="72728" y="104775"/>
                </a:lnTo>
                <a:lnTo>
                  <a:pt x="5852" y="104775"/>
                </a:lnTo>
                <a:lnTo>
                  <a:pt x="0" y="98922"/>
                </a:lnTo>
                <a:lnTo>
                  <a:pt x="0" y="84433"/>
                </a:lnTo>
                <a:lnTo>
                  <a:pt x="5852" y="78581"/>
                </a:lnTo>
                <a:lnTo>
                  <a:pt x="52387" y="78581"/>
                </a:lnTo>
                <a:lnTo>
                  <a:pt x="52387" y="13096"/>
                </a:lnTo>
                <a:lnTo>
                  <a:pt x="52387" y="5852"/>
                </a:lnTo>
                <a:lnTo>
                  <a:pt x="58240" y="0"/>
                </a:lnTo>
                <a:lnTo>
                  <a:pt x="138212" y="0"/>
                </a:lnTo>
                <a:lnTo>
                  <a:pt x="144065" y="5852"/>
                </a:lnTo>
                <a:lnTo>
                  <a:pt x="144065" y="157162"/>
                </a:lnTo>
                <a:lnTo>
                  <a:pt x="183356" y="157162"/>
                </a:lnTo>
                <a:lnTo>
                  <a:pt x="183356" y="84433"/>
                </a:lnTo>
                <a:lnTo>
                  <a:pt x="189208" y="78581"/>
                </a:lnTo>
                <a:lnTo>
                  <a:pt x="256084" y="78581"/>
                </a:lnTo>
                <a:lnTo>
                  <a:pt x="261937" y="84433"/>
                </a:lnTo>
                <a:lnTo>
                  <a:pt x="261937" y="98922"/>
                </a:lnTo>
                <a:lnTo>
                  <a:pt x="256084" y="104775"/>
                </a:lnTo>
                <a:lnTo>
                  <a:pt x="209550" y="104775"/>
                </a:lnTo>
                <a:lnTo>
                  <a:pt x="209550" y="177503"/>
                </a:lnTo>
                <a:lnTo>
                  <a:pt x="203697" y="183356"/>
                </a:lnTo>
                <a:close/>
              </a:path>
            </a:pathLst>
          </a:custGeom>
          <a:solidFill>
            <a:srgbClr val="0C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92187" y="4195126"/>
            <a:ext cx="583628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Nonlinearity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5" b="1">
                <a:solidFill>
                  <a:srgbClr val="2D3748"/>
                </a:solidFill>
                <a:latin typeface="Arial"/>
                <a:cs typeface="Arial"/>
              </a:rPr>
              <a:t>model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uncertainties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in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large-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scale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systems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make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accurate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modeling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and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control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increasingly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complex.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5124449"/>
            <a:ext cx="180974" cy="2068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13606" y="5056194"/>
            <a:ext cx="5592445" cy="5835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85"/>
              </a:spcBef>
            </a:pP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Need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35" b="1">
                <a:solidFill>
                  <a:srgbClr val="2D3748"/>
                </a:solidFill>
                <a:latin typeface="Arial"/>
                <a:cs typeface="Arial"/>
              </a:rPr>
              <a:t>for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data-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driven, 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adaptive solutions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that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can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operate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effectively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with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partial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or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imperfect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system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knowledge.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8227173" y="1830916"/>
            <a:ext cx="2740025" cy="2740025"/>
            <a:chOff x="8227173" y="1830916"/>
            <a:chExt cx="2740025" cy="2740025"/>
          </a:xfrm>
        </p:grpSpPr>
        <p:sp>
          <p:nvSpPr>
            <p:cNvPr id="13" name="object 13" descr=""/>
            <p:cNvSpPr/>
            <p:nvPr/>
          </p:nvSpPr>
          <p:spPr>
            <a:xfrm>
              <a:off x="8236259" y="1835459"/>
              <a:ext cx="2726055" cy="2726055"/>
            </a:xfrm>
            <a:custGeom>
              <a:avLst/>
              <a:gdLst/>
              <a:ahLst/>
              <a:cxnLst/>
              <a:rect l="l" t="t" r="r" b="b"/>
              <a:pathLst>
                <a:path w="2726054" h="2726054">
                  <a:moveTo>
                    <a:pt x="2726010" y="2726010"/>
                  </a:moveTo>
                  <a:lnTo>
                    <a:pt x="0" y="2726010"/>
                  </a:lnTo>
                  <a:lnTo>
                    <a:pt x="0" y="0"/>
                  </a:lnTo>
                  <a:lnTo>
                    <a:pt x="2726010" y="0"/>
                  </a:lnTo>
                  <a:lnTo>
                    <a:pt x="2726010" y="2726010"/>
                  </a:lnTo>
                  <a:close/>
                </a:path>
              </a:pathLst>
            </a:custGeom>
            <a:solidFill>
              <a:srgbClr val="F6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236259" y="1835459"/>
              <a:ext cx="2726055" cy="2726055"/>
            </a:xfrm>
            <a:custGeom>
              <a:avLst/>
              <a:gdLst/>
              <a:ahLst/>
              <a:cxnLst/>
              <a:rect l="l" t="t" r="r" b="b"/>
              <a:pathLst>
                <a:path w="2726054" h="2726054">
                  <a:moveTo>
                    <a:pt x="0" y="0"/>
                  </a:moveTo>
                  <a:lnTo>
                    <a:pt x="2726010" y="0"/>
                  </a:lnTo>
                  <a:lnTo>
                    <a:pt x="2726010" y="2726010"/>
                  </a:lnTo>
                  <a:lnTo>
                    <a:pt x="0" y="2726010"/>
                  </a:lnTo>
                  <a:lnTo>
                    <a:pt x="0" y="0"/>
                  </a:lnTo>
                  <a:close/>
                </a:path>
              </a:pathLst>
            </a:custGeom>
            <a:ln w="9086">
              <a:solidFill>
                <a:srgbClr val="CBD5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236259" y="4552383"/>
              <a:ext cx="2726055" cy="18415"/>
            </a:xfrm>
            <a:custGeom>
              <a:avLst/>
              <a:gdLst/>
              <a:ahLst/>
              <a:cxnLst/>
              <a:rect l="l" t="t" r="r" b="b"/>
              <a:pathLst>
                <a:path w="2726054" h="18414">
                  <a:moveTo>
                    <a:pt x="0" y="0"/>
                  </a:moveTo>
                  <a:lnTo>
                    <a:pt x="2726010" y="0"/>
                  </a:lnTo>
                  <a:lnTo>
                    <a:pt x="2726010" y="18173"/>
                  </a:lnTo>
                  <a:lnTo>
                    <a:pt x="0" y="181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54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236259" y="1835459"/>
              <a:ext cx="0" cy="2726055"/>
            </a:xfrm>
            <a:custGeom>
              <a:avLst/>
              <a:gdLst/>
              <a:ahLst/>
              <a:cxnLst/>
              <a:rect l="l" t="t" r="r" b="b"/>
              <a:pathLst>
                <a:path w="0" h="2726054">
                  <a:moveTo>
                    <a:pt x="0" y="0"/>
                  </a:moveTo>
                  <a:lnTo>
                    <a:pt x="0" y="2726010"/>
                  </a:lnTo>
                </a:path>
              </a:pathLst>
            </a:custGeom>
            <a:ln w="18173">
              <a:solidFill>
                <a:srgbClr val="4A546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45207" y="2730499"/>
              <a:ext cx="1653779" cy="139026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417993" y="2198927"/>
              <a:ext cx="545465" cy="273050"/>
            </a:xfrm>
            <a:custGeom>
              <a:avLst/>
              <a:gdLst/>
              <a:ahLst/>
              <a:cxnLst/>
              <a:rect l="l" t="t" r="r" b="b"/>
              <a:pathLst>
                <a:path w="545465" h="273050">
                  <a:moveTo>
                    <a:pt x="0" y="272601"/>
                  </a:moveTo>
                  <a:lnTo>
                    <a:pt x="272601" y="272601"/>
                  </a:lnTo>
                  <a:lnTo>
                    <a:pt x="272601" y="0"/>
                  </a:lnTo>
                  <a:lnTo>
                    <a:pt x="545202" y="0"/>
                  </a:lnTo>
                </a:path>
              </a:pathLst>
            </a:custGeom>
            <a:ln w="18173">
              <a:solidFill>
                <a:srgbClr val="7080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507934" y="228979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233192" y="272600"/>
                  </a:moveTo>
                  <a:lnTo>
                    <a:pt x="39408" y="272600"/>
                  </a:lnTo>
                  <a:lnTo>
                    <a:pt x="33613" y="271448"/>
                  </a:lnTo>
                  <a:lnTo>
                    <a:pt x="1152" y="238987"/>
                  </a:lnTo>
                  <a:lnTo>
                    <a:pt x="0" y="233192"/>
                  </a:lnTo>
                  <a:lnTo>
                    <a:pt x="0" y="39408"/>
                  </a:lnTo>
                  <a:lnTo>
                    <a:pt x="22480" y="5763"/>
                  </a:lnTo>
                  <a:lnTo>
                    <a:pt x="39408" y="0"/>
                  </a:lnTo>
                  <a:lnTo>
                    <a:pt x="45433" y="0"/>
                  </a:lnTo>
                  <a:lnTo>
                    <a:pt x="233192" y="0"/>
                  </a:lnTo>
                  <a:lnTo>
                    <a:pt x="266836" y="22480"/>
                  </a:lnTo>
                  <a:lnTo>
                    <a:pt x="272601" y="39408"/>
                  </a:lnTo>
                  <a:lnTo>
                    <a:pt x="272601" y="233192"/>
                  </a:lnTo>
                  <a:lnTo>
                    <a:pt x="250120" y="266836"/>
                  </a:lnTo>
                  <a:lnTo>
                    <a:pt x="238987" y="271448"/>
                  </a:lnTo>
                  <a:lnTo>
                    <a:pt x="233192" y="272600"/>
                  </a:lnTo>
                  <a:close/>
                </a:path>
              </a:pathLst>
            </a:custGeom>
            <a:solidFill>
              <a:srgbClr val="48BA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507934" y="2289794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45433" y="0"/>
                  </a:moveTo>
                  <a:lnTo>
                    <a:pt x="227167" y="0"/>
                  </a:lnTo>
                  <a:lnTo>
                    <a:pt x="233192" y="0"/>
                  </a:lnTo>
                  <a:lnTo>
                    <a:pt x="238987" y="1152"/>
                  </a:lnTo>
                  <a:lnTo>
                    <a:pt x="244554" y="3458"/>
                  </a:lnTo>
                  <a:lnTo>
                    <a:pt x="250120" y="5763"/>
                  </a:lnTo>
                  <a:lnTo>
                    <a:pt x="255033" y="9046"/>
                  </a:lnTo>
                  <a:lnTo>
                    <a:pt x="259293" y="13307"/>
                  </a:lnTo>
                  <a:lnTo>
                    <a:pt x="263553" y="17567"/>
                  </a:lnTo>
                  <a:lnTo>
                    <a:pt x="266836" y="22480"/>
                  </a:lnTo>
                  <a:lnTo>
                    <a:pt x="269142" y="28046"/>
                  </a:lnTo>
                  <a:lnTo>
                    <a:pt x="271448" y="33613"/>
                  </a:lnTo>
                  <a:lnTo>
                    <a:pt x="272601" y="39408"/>
                  </a:lnTo>
                  <a:lnTo>
                    <a:pt x="272601" y="45433"/>
                  </a:lnTo>
                  <a:lnTo>
                    <a:pt x="272601" y="227167"/>
                  </a:lnTo>
                  <a:lnTo>
                    <a:pt x="272601" y="233192"/>
                  </a:lnTo>
                  <a:lnTo>
                    <a:pt x="271448" y="238987"/>
                  </a:lnTo>
                  <a:lnTo>
                    <a:pt x="269142" y="244554"/>
                  </a:lnTo>
                  <a:lnTo>
                    <a:pt x="266836" y="250120"/>
                  </a:lnTo>
                  <a:lnTo>
                    <a:pt x="233192" y="272600"/>
                  </a:lnTo>
                  <a:lnTo>
                    <a:pt x="227167" y="272601"/>
                  </a:lnTo>
                  <a:lnTo>
                    <a:pt x="45433" y="272601"/>
                  </a:lnTo>
                  <a:lnTo>
                    <a:pt x="13307" y="259293"/>
                  </a:lnTo>
                  <a:lnTo>
                    <a:pt x="9047" y="255033"/>
                  </a:lnTo>
                  <a:lnTo>
                    <a:pt x="5764" y="250120"/>
                  </a:lnTo>
                  <a:lnTo>
                    <a:pt x="3458" y="244554"/>
                  </a:lnTo>
                  <a:lnTo>
                    <a:pt x="1152" y="238987"/>
                  </a:lnTo>
                  <a:lnTo>
                    <a:pt x="0" y="233192"/>
                  </a:lnTo>
                  <a:lnTo>
                    <a:pt x="0" y="227167"/>
                  </a:lnTo>
                  <a:lnTo>
                    <a:pt x="0" y="45433"/>
                  </a:lnTo>
                  <a:lnTo>
                    <a:pt x="13307" y="13307"/>
                  </a:lnTo>
                  <a:lnTo>
                    <a:pt x="17567" y="9046"/>
                  </a:lnTo>
                  <a:lnTo>
                    <a:pt x="22480" y="5763"/>
                  </a:lnTo>
                  <a:lnTo>
                    <a:pt x="28046" y="3458"/>
                  </a:lnTo>
                  <a:lnTo>
                    <a:pt x="33613" y="1152"/>
                  </a:lnTo>
                  <a:lnTo>
                    <a:pt x="39408" y="0"/>
                  </a:lnTo>
                  <a:lnTo>
                    <a:pt x="45433" y="0"/>
                  </a:lnTo>
                  <a:close/>
                </a:path>
              </a:pathLst>
            </a:custGeom>
            <a:ln w="9086">
              <a:solidFill>
                <a:srgbClr val="2E85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326192" y="2417012"/>
              <a:ext cx="163830" cy="18415"/>
            </a:xfrm>
            <a:custGeom>
              <a:avLst/>
              <a:gdLst/>
              <a:ahLst/>
              <a:cxnLst/>
              <a:rect l="l" t="t" r="r" b="b"/>
              <a:pathLst>
                <a:path w="163829" h="18414">
                  <a:moveTo>
                    <a:pt x="27266" y="0"/>
                  </a:moveTo>
                  <a:lnTo>
                    <a:pt x="0" y="0"/>
                  </a:lnTo>
                  <a:lnTo>
                    <a:pt x="0" y="18173"/>
                  </a:lnTo>
                  <a:lnTo>
                    <a:pt x="27266" y="18173"/>
                  </a:lnTo>
                  <a:lnTo>
                    <a:pt x="27266" y="0"/>
                  </a:lnTo>
                  <a:close/>
                </a:path>
                <a:path w="163829" h="18414">
                  <a:moveTo>
                    <a:pt x="72694" y="0"/>
                  </a:moveTo>
                  <a:lnTo>
                    <a:pt x="45440" y="0"/>
                  </a:lnTo>
                  <a:lnTo>
                    <a:pt x="45440" y="18173"/>
                  </a:lnTo>
                  <a:lnTo>
                    <a:pt x="72694" y="18173"/>
                  </a:lnTo>
                  <a:lnTo>
                    <a:pt x="72694" y="0"/>
                  </a:lnTo>
                  <a:close/>
                </a:path>
                <a:path w="163829" h="18414">
                  <a:moveTo>
                    <a:pt x="118135" y="0"/>
                  </a:moveTo>
                  <a:lnTo>
                    <a:pt x="90868" y="0"/>
                  </a:lnTo>
                  <a:lnTo>
                    <a:pt x="90868" y="18173"/>
                  </a:lnTo>
                  <a:lnTo>
                    <a:pt x="118135" y="18173"/>
                  </a:lnTo>
                  <a:lnTo>
                    <a:pt x="118135" y="0"/>
                  </a:lnTo>
                  <a:close/>
                </a:path>
                <a:path w="163829" h="18414">
                  <a:moveTo>
                    <a:pt x="163563" y="0"/>
                  </a:moveTo>
                  <a:lnTo>
                    <a:pt x="136309" y="0"/>
                  </a:lnTo>
                  <a:lnTo>
                    <a:pt x="136309" y="18173"/>
                  </a:lnTo>
                  <a:lnTo>
                    <a:pt x="163563" y="18173"/>
                  </a:lnTo>
                  <a:lnTo>
                    <a:pt x="163563" y="0"/>
                  </a:lnTo>
                  <a:close/>
                </a:path>
              </a:pathLst>
            </a:custGeom>
            <a:solidFill>
              <a:srgbClr val="48BA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9049742" y="4683486"/>
            <a:ext cx="109918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25">
                <a:solidFill>
                  <a:srgbClr val="4A5467"/>
                </a:solidFill>
                <a:latin typeface="Arial"/>
                <a:cs typeface="Arial"/>
              </a:rPr>
              <a:t>Control</a:t>
            </a:r>
            <a:r>
              <a:rPr dirty="0" sz="1050" spc="-3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4A5467"/>
                </a:solidFill>
                <a:latin typeface="Arial"/>
                <a:cs typeface="Arial"/>
              </a:rPr>
              <a:t>Complexity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858817" y="2821889"/>
            <a:ext cx="144145" cy="7531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035"/>
              </a:lnSpc>
            </a:pPr>
            <a:r>
              <a:rPr dirty="0" sz="1050" spc="-30">
                <a:solidFill>
                  <a:srgbClr val="4A5467"/>
                </a:solidFill>
                <a:latin typeface="Arial"/>
                <a:cs typeface="Arial"/>
              </a:rPr>
              <a:t>Performance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245346" y="1935230"/>
            <a:ext cx="2712720" cy="202692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262890">
              <a:lnSpc>
                <a:spcPct val="100000"/>
              </a:lnSpc>
              <a:spcBef>
                <a:spcPts val="509"/>
              </a:spcBef>
            </a:pPr>
            <a:r>
              <a:rPr dirty="0" sz="850" spc="-35">
                <a:solidFill>
                  <a:srgbClr val="708095"/>
                </a:solidFill>
                <a:latin typeface="Arial"/>
                <a:cs typeface="Arial"/>
              </a:rPr>
              <a:t>PI</a:t>
            </a:r>
            <a:r>
              <a:rPr dirty="0" sz="850" spc="-15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850" spc="-35">
                <a:solidFill>
                  <a:srgbClr val="708095"/>
                </a:solidFill>
                <a:latin typeface="Arial"/>
                <a:cs typeface="Arial"/>
              </a:rPr>
              <a:t>Control</a:t>
            </a:r>
            <a:r>
              <a:rPr dirty="0" sz="850" spc="-15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708095"/>
                </a:solidFill>
                <a:latin typeface="Arial"/>
                <a:cs typeface="Arial"/>
              </a:rPr>
              <a:t>Limitations</a:t>
            </a:r>
            <a:endParaRPr sz="850">
              <a:latin typeface="Arial"/>
              <a:cs typeface="Arial"/>
            </a:endParaRPr>
          </a:p>
          <a:p>
            <a:pPr marL="1638300">
              <a:lnSpc>
                <a:spcPct val="100000"/>
              </a:lnSpc>
              <a:spcBef>
                <a:spcPts val="409"/>
              </a:spcBef>
            </a:pPr>
            <a:r>
              <a:rPr dirty="0" sz="850" spc="-45">
                <a:solidFill>
                  <a:srgbClr val="48BA78"/>
                </a:solidFill>
                <a:latin typeface="Arial"/>
                <a:cs typeface="Arial"/>
              </a:rPr>
              <a:t>Data-</a:t>
            </a:r>
            <a:r>
              <a:rPr dirty="0" sz="850" spc="-10">
                <a:solidFill>
                  <a:srgbClr val="48BA78"/>
                </a:solidFill>
                <a:latin typeface="Arial"/>
                <a:cs typeface="Arial"/>
              </a:rPr>
              <a:t>Driven</a:t>
            </a:r>
            <a:endParaRPr sz="850">
              <a:latin typeface="Arial"/>
              <a:cs typeface="Arial"/>
            </a:endParaRPr>
          </a:p>
          <a:p>
            <a:pPr algn="r" marR="251460">
              <a:lnSpc>
                <a:spcPct val="100000"/>
              </a:lnSpc>
              <a:spcBef>
                <a:spcPts val="560"/>
              </a:spcBef>
            </a:pPr>
            <a:r>
              <a:rPr dirty="0" sz="700" spc="-25" b="1">
                <a:solidFill>
                  <a:srgbClr val="FFFFFF"/>
                </a:solidFill>
                <a:latin typeface="Arial"/>
                <a:cs typeface="Arial"/>
              </a:rPr>
              <a:t>RL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900" spc="-35" b="1">
                <a:solidFill>
                  <a:srgbClr val="2A6BB0"/>
                </a:solidFill>
                <a:latin typeface="Arial"/>
                <a:cs typeface="Arial"/>
              </a:rPr>
              <a:t>Model</a:t>
            </a:r>
            <a:r>
              <a:rPr dirty="0" sz="900" spc="-20" b="1">
                <a:solidFill>
                  <a:srgbClr val="2A6BB0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A6BB0"/>
                </a:solidFill>
                <a:latin typeface="Arial"/>
                <a:cs typeface="Arial"/>
              </a:rPr>
              <a:t>Uncertainty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850">
              <a:latin typeface="Arial"/>
              <a:cs typeface="Arial"/>
            </a:endParaRPr>
          </a:p>
          <a:p>
            <a:pPr marL="1696720">
              <a:lnSpc>
                <a:spcPts val="660"/>
              </a:lnSpc>
            </a:pPr>
            <a:r>
              <a:rPr dirty="0" sz="650" spc="-20">
                <a:solidFill>
                  <a:srgbClr val="0C4A86"/>
                </a:solidFill>
                <a:latin typeface="Arial"/>
                <a:cs typeface="Arial"/>
              </a:rPr>
              <a:t>UPFC</a:t>
            </a:r>
            <a:endParaRPr sz="650">
              <a:latin typeface="Arial"/>
              <a:cs typeface="Arial"/>
            </a:endParaRPr>
          </a:p>
          <a:p>
            <a:pPr algn="ctr">
              <a:lnSpc>
                <a:spcPts val="960"/>
              </a:lnSpc>
            </a:pPr>
            <a:r>
              <a:rPr dirty="0" sz="900" spc="-35" b="1">
                <a:solidFill>
                  <a:srgbClr val="DD6A20"/>
                </a:solidFill>
                <a:latin typeface="Arial"/>
                <a:cs typeface="Arial"/>
              </a:rPr>
              <a:t>Coordination</a:t>
            </a:r>
            <a:r>
              <a:rPr dirty="0" sz="900" spc="25" b="1">
                <a:solidFill>
                  <a:srgbClr val="DD6A20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DD6A20"/>
                </a:solidFill>
                <a:latin typeface="Arial"/>
                <a:cs typeface="Arial"/>
              </a:rPr>
              <a:t>Issues</a:t>
            </a:r>
            <a:endParaRPr sz="900">
              <a:latin typeface="Arial"/>
              <a:cs typeface="Arial"/>
            </a:endParaRPr>
          </a:p>
          <a:p>
            <a:pPr marL="800735">
              <a:lnSpc>
                <a:spcPct val="100000"/>
              </a:lnSpc>
              <a:spcBef>
                <a:spcPts val="175"/>
              </a:spcBef>
            </a:pPr>
            <a:r>
              <a:rPr dirty="0" sz="650" spc="-20">
                <a:solidFill>
                  <a:srgbClr val="0C4A86"/>
                </a:solidFill>
                <a:latin typeface="Arial"/>
                <a:cs typeface="Arial"/>
              </a:rPr>
              <a:t>STAT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650">
              <a:latin typeface="Arial"/>
              <a:cs typeface="Arial"/>
            </a:endParaRPr>
          </a:p>
          <a:p>
            <a:pPr algn="ctr">
              <a:lnSpc>
                <a:spcPts val="660"/>
              </a:lnSpc>
            </a:pPr>
            <a:r>
              <a:rPr dirty="0" sz="650" spc="-20">
                <a:solidFill>
                  <a:srgbClr val="0C4A86"/>
                </a:solidFill>
                <a:latin typeface="Arial"/>
                <a:cs typeface="Arial"/>
              </a:rPr>
              <a:t>SSSC</a:t>
            </a:r>
            <a:endParaRPr sz="650">
              <a:latin typeface="Arial"/>
              <a:cs typeface="Arial"/>
            </a:endParaRPr>
          </a:p>
          <a:p>
            <a:pPr marL="633095">
              <a:lnSpc>
                <a:spcPts val="960"/>
              </a:lnSpc>
            </a:pPr>
            <a:r>
              <a:rPr dirty="0" sz="900" spc="-35" b="1">
                <a:solidFill>
                  <a:srgbClr val="E43D3D"/>
                </a:solidFill>
                <a:latin typeface="Arial"/>
                <a:cs typeface="Arial"/>
              </a:rPr>
              <a:t>Objective</a:t>
            </a:r>
            <a:r>
              <a:rPr dirty="0" sz="900" spc="20" b="1">
                <a:solidFill>
                  <a:srgbClr val="E43D3D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E43D3D"/>
                </a:solidFill>
                <a:latin typeface="Arial"/>
                <a:cs typeface="Arial"/>
              </a:rPr>
              <a:t>Conflicts</a:t>
            </a:r>
            <a:endParaRPr sz="900">
              <a:latin typeface="Arial"/>
              <a:cs typeface="Arial"/>
            </a:endParaRPr>
          </a:p>
          <a:p>
            <a:pPr marL="342265">
              <a:lnSpc>
                <a:spcPct val="100000"/>
              </a:lnSpc>
              <a:spcBef>
                <a:spcPts val="20"/>
              </a:spcBef>
            </a:pPr>
            <a:r>
              <a:rPr dirty="0" sz="800" spc="-25">
                <a:solidFill>
                  <a:srgbClr val="0C4A86"/>
                </a:solidFill>
                <a:latin typeface="Arial"/>
                <a:cs typeface="Arial"/>
              </a:rPr>
              <a:t>SVC</a:t>
            </a:r>
            <a:endParaRPr sz="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800"/>
              </a:spcBef>
            </a:pPr>
            <a:r>
              <a:rPr dirty="0" sz="900" spc="-10" b="1">
                <a:solidFill>
                  <a:srgbClr val="2A6BB0"/>
                </a:solidFill>
                <a:latin typeface="Arial"/>
                <a:cs typeface="Arial"/>
              </a:rPr>
              <a:t>Nonlinearity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26" name="object 26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534649" y="6343649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48949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11425">
              <a:lnSpc>
                <a:spcPts val="1150"/>
              </a:lnSpc>
            </a:pPr>
            <a:fld id="{81D60167-4931-47E6-BA6A-407CBD079E47}" type="slidenum">
              <a:rPr dirty="0" sz="1300"/>
              <a:t>5</a:t>
            </a:fld>
            <a:r>
              <a:rPr dirty="0" sz="1300" spc="-80"/>
              <a:t> </a:t>
            </a:r>
            <a:r>
              <a:rPr dirty="0" sz="1300"/>
              <a:t>/</a:t>
            </a:r>
            <a:r>
              <a:rPr dirty="0" sz="1300" spc="-75"/>
              <a:t> </a:t>
            </a:r>
            <a:r>
              <a:rPr dirty="0" sz="1300" spc="-35"/>
              <a:t>10</a:t>
            </a:r>
            <a:endParaRPr sz="1300"/>
          </a:p>
          <a:p>
            <a:pPr marL="2111375">
              <a:lnSpc>
                <a:spcPts val="1060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20">
                <a:solidFill>
                  <a:srgbClr val="FFFFFF"/>
                </a:solidFill>
              </a:rPr>
              <a:t>Genspark</a:t>
            </a:r>
            <a:endParaRPr sz="950"/>
          </a:p>
        </p:txBody>
      </p:sp>
      <p:sp>
        <p:nvSpPr>
          <p:cNvPr id="30" name="object 30" descr=""/>
          <p:cNvSpPr txBox="1"/>
          <p:nvPr/>
        </p:nvSpPr>
        <p:spPr>
          <a:xfrm>
            <a:off x="8727380" y="6653423"/>
            <a:ext cx="328676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Advanced</a:t>
            </a:r>
            <a:r>
              <a:rPr dirty="0" spc="-15"/>
              <a:t> </a:t>
            </a:r>
            <a:r>
              <a:rPr dirty="0" spc="-140"/>
              <a:t>FACTS</a:t>
            </a:r>
            <a:r>
              <a:rPr dirty="0" spc="-15"/>
              <a:t> </a:t>
            </a:r>
            <a:r>
              <a:rPr dirty="0" spc="-90"/>
              <a:t>Control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20"/>
              <a:t> </a:t>
            </a:r>
            <a:r>
              <a:rPr dirty="0" spc="-95"/>
              <a:t>Reinforcement</a:t>
            </a:r>
            <a:r>
              <a:rPr dirty="0" spc="-15"/>
              <a:t> </a:t>
            </a:r>
            <a:r>
              <a:rPr dirty="0" spc="-35"/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063636"/>
            <a:ext cx="4578350" cy="852169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625"/>
              </a:spcBef>
            </a:pPr>
            <a:r>
              <a:rPr dirty="0" sz="2900" spc="-120" b="1">
                <a:solidFill>
                  <a:srgbClr val="1D40AF"/>
                </a:solidFill>
                <a:latin typeface="Arial"/>
                <a:cs typeface="Arial"/>
              </a:rPr>
              <a:t>Proposed</a:t>
            </a:r>
            <a:r>
              <a:rPr dirty="0" sz="2900" spc="-2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20" b="1">
                <a:solidFill>
                  <a:srgbClr val="1D40AF"/>
                </a:solidFill>
                <a:latin typeface="Arial"/>
                <a:cs typeface="Arial"/>
              </a:rPr>
              <a:t>RL-</a:t>
            </a:r>
            <a:r>
              <a:rPr dirty="0" sz="2900" spc="-10" b="1">
                <a:solidFill>
                  <a:srgbClr val="1D40AF"/>
                </a:solidFill>
                <a:latin typeface="Arial"/>
                <a:cs typeface="Arial"/>
              </a:rPr>
              <a:t>Based </a:t>
            </a:r>
            <a:r>
              <a:rPr dirty="0" sz="2900" spc="-114" b="1">
                <a:solidFill>
                  <a:srgbClr val="1D40AF"/>
                </a:solidFill>
                <a:latin typeface="Arial"/>
                <a:cs typeface="Arial"/>
              </a:rPr>
              <a:t>Coordinated</a:t>
            </a:r>
            <a:r>
              <a:rPr dirty="0" sz="2900" spc="-1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70" b="1">
                <a:solidFill>
                  <a:srgbClr val="1D40AF"/>
                </a:solidFill>
                <a:latin typeface="Arial"/>
                <a:cs typeface="Arial"/>
              </a:rPr>
              <a:t>FACTS</a:t>
            </a:r>
            <a:r>
              <a:rPr dirty="0" sz="2900" spc="-1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10" b="1">
                <a:solidFill>
                  <a:srgbClr val="1D40AF"/>
                </a:solidFill>
                <a:latin typeface="Arial"/>
                <a:cs typeface="Arial"/>
              </a:rPr>
              <a:t>Control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048" y="2337181"/>
            <a:ext cx="196453" cy="18338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39800" y="2232976"/>
            <a:ext cx="433133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80" b="1">
                <a:solidFill>
                  <a:srgbClr val="2D3748"/>
                </a:solidFill>
                <a:latin typeface="Arial"/>
                <a:cs typeface="Arial"/>
              </a:rPr>
              <a:t>RL</a:t>
            </a:r>
            <a:r>
              <a:rPr dirty="0" sz="1750" spc="-3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5" b="1">
                <a:solidFill>
                  <a:srgbClr val="2D3748"/>
                </a:solidFill>
                <a:latin typeface="Arial"/>
                <a:cs typeface="Arial"/>
              </a:rPr>
              <a:t>framework:</a:t>
            </a:r>
            <a:r>
              <a:rPr dirty="0" sz="1750" spc="-9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Agent-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environment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interaction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paradigm</a:t>
            </a:r>
            <a:r>
              <a:rPr dirty="0" sz="1750" spc="-7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2D3748"/>
                </a:solidFill>
                <a:latin typeface="Arial"/>
                <a:cs typeface="Arial"/>
              </a:rPr>
              <a:t>for</a:t>
            </a:r>
            <a:r>
              <a:rPr dirty="0" sz="1750" spc="-8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adaptive</a:t>
            </a:r>
            <a:r>
              <a:rPr dirty="0" sz="1750" spc="-8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control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71500" y="3143249"/>
            <a:ext cx="262255" cy="209550"/>
          </a:xfrm>
          <a:custGeom>
            <a:avLst/>
            <a:gdLst/>
            <a:ahLst/>
            <a:cxnLst/>
            <a:rect l="l" t="t" r="r" b="b"/>
            <a:pathLst>
              <a:path w="262255" h="209550">
                <a:moveTo>
                  <a:pt x="163710" y="78581"/>
                </a:moveTo>
                <a:lnTo>
                  <a:pt x="98226" y="78581"/>
                </a:lnTo>
                <a:lnTo>
                  <a:pt x="90581" y="77036"/>
                </a:lnTo>
                <a:lnTo>
                  <a:pt x="84336" y="72825"/>
                </a:lnTo>
                <a:lnTo>
                  <a:pt x="80125" y="66581"/>
                </a:lnTo>
                <a:lnTo>
                  <a:pt x="78581" y="58935"/>
                </a:lnTo>
                <a:lnTo>
                  <a:pt x="78581" y="19645"/>
                </a:lnTo>
                <a:lnTo>
                  <a:pt x="80125" y="12000"/>
                </a:lnTo>
                <a:lnTo>
                  <a:pt x="84336" y="5755"/>
                </a:lnTo>
                <a:lnTo>
                  <a:pt x="90581" y="1544"/>
                </a:lnTo>
                <a:lnTo>
                  <a:pt x="98226" y="0"/>
                </a:lnTo>
                <a:lnTo>
                  <a:pt x="163710" y="0"/>
                </a:lnTo>
                <a:lnTo>
                  <a:pt x="171356" y="1544"/>
                </a:lnTo>
                <a:lnTo>
                  <a:pt x="177600" y="5755"/>
                </a:lnTo>
                <a:lnTo>
                  <a:pt x="181811" y="12000"/>
                </a:lnTo>
                <a:lnTo>
                  <a:pt x="183356" y="19645"/>
                </a:lnTo>
                <a:lnTo>
                  <a:pt x="183356" y="26193"/>
                </a:lnTo>
                <a:lnTo>
                  <a:pt x="104775" y="26193"/>
                </a:lnTo>
                <a:lnTo>
                  <a:pt x="104775" y="52387"/>
                </a:lnTo>
                <a:lnTo>
                  <a:pt x="183356" y="52387"/>
                </a:lnTo>
                <a:lnTo>
                  <a:pt x="183356" y="58935"/>
                </a:lnTo>
                <a:lnTo>
                  <a:pt x="181811" y="66581"/>
                </a:lnTo>
                <a:lnTo>
                  <a:pt x="177600" y="72825"/>
                </a:lnTo>
                <a:lnTo>
                  <a:pt x="171356" y="77036"/>
                </a:lnTo>
                <a:lnTo>
                  <a:pt x="163710" y="78581"/>
                </a:lnTo>
                <a:close/>
              </a:path>
              <a:path w="262255" h="209550">
                <a:moveTo>
                  <a:pt x="183356" y="52387"/>
                </a:moveTo>
                <a:lnTo>
                  <a:pt x="157162" y="52387"/>
                </a:lnTo>
                <a:lnTo>
                  <a:pt x="157162" y="26193"/>
                </a:lnTo>
                <a:lnTo>
                  <a:pt x="183356" y="26193"/>
                </a:lnTo>
                <a:lnTo>
                  <a:pt x="183356" y="52387"/>
                </a:lnTo>
                <a:close/>
              </a:path>
              <a:path w="262255" h="209550">
                <a:moveTo>
                  <a:pt x="144065" y="91678"/>
                </a:moveTo>
                <a:lnTo>
                  <a:pt x="117871" y="91678"/>
                </a:lnTo>
                <a:lnTo>
                  <a:pt x="117871" y="78581"/>
                </a:lnTo>
                <a:lnTo>
                  <a:pt x="144065" y="78581"/>
                </a:lnTo>
                <a:lnTo>
                  <a:pt x="144065" y="91678"/>
                </a:lnTo>
                <a:close/>
              </a:path>
              <a:path w="262255" h="209550">
                <a:moveTo>
                  <a:pt x="256084" y="117871"/>
                </a:moveTo>
                <a:lnTo>
                  <a:pt x="5852" y="117871"/>
                </a:lnTo>
                <a:lnTo>
                  <a:pt x="0" y="112019"/>
                </a:lnTo>
                <a:lnTo>
                  <a:pt x="0" y="97530"/>
                </a:lnTo>
                <a:lnTo>
                  <a:pt x="5852" y="91678"/>
                </a:lnTo>
                <a:lnTo>
                  <a:pt x="256084" y="91678"/>
                </a:lnTo>
                <a:lnTo>
                  <a:pt x="261937" y="97530"/>
                </a:lnTo>
                <a:lnTo>
                  <a:pt x="261937" y="112019"/>
                </a:lnTo>
                <a:lnTo>
                  <a:pt x="256084" y="117871"/>
                </a:lnTo>
                <a:close/>
              </a:path>
              <a:path w="262255" h="209550">
                <a:moveTo>
                  <a:pt x="78581" y="130968"/>
                </a:moveTo>
                <a:lnTo>
                  <a:pt x="52387" y="130968"/>
                </a:lnTo>
                <a:lnTo>
                  <a:pt x="52387" y="117871"/>
                </a:lnTo>
                <a:lnTo>
                  <a:pt x="78581" y="117871"/>
                </a:lnTo>
                <a:lnTo>
                  <a:pt x="78581" y="130968"/>
                </a:lnTo>
                <a:close/>
              </a:path>
              <a:path w="262255" h="209550">
                <a:moveTo>
                  <a:pt x="209550" y="130968"/>
                </a:moveTo>
                <a:lnTo>
                  <a:pt x="183356" y="130968"/>
                </a:lnTo>
                <a:lnTo>
                  <a:pt x="183356" y="117871"/>
                </a:lnTo>
                <a:lnTo>
                  <a:pt x="209550" y="117871"/>
                </a:lnTo>
                <a:lnTo>
                  <a:pt x="209550" y="130968"/>
                </a:lnTo>
                <a:close/>
              </a:path>
              <a:path w="262255" h="209550">
                <a:moveTo>
                  <a:pt x="98226" y="209550"/>
                </a:moveTo>
                <a:lnTo>
                  <a:pt x="32742" y="209550"/>
                </a:lnTo>
                <a:lnTo>
                  <a:pt x="25097" y="208005"/>
                </a:lnTo>
                <a:lnTo>
                  <a:pt x="18852" y="203794"/>
                </a:lnTo>
                <a:lnTo>
                  <a:pt x="14641" y="197549"/>
                </a:lnTo>
                <a:lnTo>
                  <a:pt x="13096" y="189904"/>
                </a:lnTo>
                <a:lnTo>
                  <a:pt x="13096" y="150614"/>
                </a:lnTo>
                <a:lnTo>
                  <a:pt x="14641" y="142968"/>
                </a:lnTo>
                <a:lnTo>
                  <a:pt x="18852" y="136724"/>
                </a:lnTo>
                <a:lnTo>
                  <a:pt x="25097" y="132513"/>
                </a:lnTo>
                <a:lnTo>
                  <a:pt x="32742" y="130968"/>
                </a:lnTo>
                <a:lnTo>
                  <a:pt x="98226" y="130968"/>
                </a:lnTo>
                <a:lnTo>
                  <a:pt x="105871" y="132513"/>
                </a:lnTo>
                <a:lnTo>
                  <a:pt x="112116" y="136724"/>
                </a:lnTo>
                <a:lnTo>
                  <a:pt x="116327" y="142968"/>
                </a:lnTo>
                <a:lnTo>
                  <a:pt x="117871" y="150614"/>
                </a:lnTo>
                <a:lnTo>
                  <a:pt x="117871" y="157162"/>
                </a:lnTo>
                <a:lnTo>
                  <a:pt x="39290" y="157162"/>
                </a:lnTo>
                <a:lnTo>
                  <a:pt x="39290" y="183356"/>
                </a:lnTo>
                <a:lnTo>
                  <a:pt x="117871" y="183356"/>
                </a:lnTo>
                <a:lnTo>
                  <a:pt x="117871" y="189904"/>
                </a:lnTo>
                <a:lnTo>
                  <a:pt x="116327" y="197549"/>
                </a:lnTo>
                <a:lnTo>
                  <a:pt x="112116" y="203794"/>
                </a:lnTo>
                <a:lnTo>
                  <a:pt x="105871" y="208005"/>
                </a:lnTo>
                <a:lnTo>
                  <a:pt x="98226" y="209550"/>
                </a:lnTo>
                <a:close/>
              </a:path>
              <a:path w="262255" h="209550">
                <a:moveTo>
                  <a:pt x="229195" y="209550"/>
                </a:moveTo>
                <a:lnTo>
                  <a:pt x="163710" y="209550"/>
                </a:lnTo>
                <a:lnTo>
                  <a:pt x="156065" y="208005"/>
                </a:lnTo>
                <a:lnTo>
                  <a:pt x="149821" y="203794"/>
                </a:lnTo>
                <a:lnTo>
                  <a:pt x="145610" y="197549"/>
                </a:lnTo>
                <a:lnTo>
                  <a:pt x="144065" y="189904"/>
                </a:lnTo>
                <a:lnTo>
                  <a:pt x="144065" y="150614"/>
                </a:lnTo>
                <a:lnTo>
                  <a:pt x="145610" y="142968"/>
                </a:lnTo>
                <a:lnTo>
                  <a:pt x="149821" y="136724"/>
                </a:lnTo>
                <a:lnTo>
                  <a:pt x="156065" y="132513"/>
                </a:lnTo>
                <a:lnTo>
                  <a:pt x="163710" y="130968"/>
                </a:lnTo>
                <a:lnTo>
                  <a:pt x="229195" y="130968"/>
                </a:lnTo>
                <a:lnTo>
                  <a:pt x="236840" y="132513"/>
                </a:lnTo>
                <a:lnTo>
                  <a:pt x="243085" y="136724"/>
                </a:lnTo>
                <a:lnTo>
                  <a:pt x="247296" y="142968"/>
                </a:lnTo>
                <a:lnTo>
                  <a:pt x="248840" y="150614"/>
                </a:lnTo>
                <a:lnTo>
                  <a:pt x="248840" y="157162"/>
                </a:lnTo>
                <a:lnTo>
                  <a:pt x="170259" y="157162"/>
                </a:lnTo>
                <a:lnTo>
                  <a:pt x="170259" y="183356"/>
                </a:lnTo>
                <a:lnTo>
                  <a:pt x="248840" y="183356"/>
                </a:lnTo>
                <a:lnTo>
                  <a:pt x="248840" y="189904"/>
                </a:lnTo>
                <a:lnTo>
                  <a:pt x="247296" y="197549"/>
                </a:lnTo>
                <a:lnTo>
                  <a:pt x="243085" y="203794"/>
                </a:lnTo>
                <a:lnTo>
                  <a:pt x="236840" y="208005"/>
                </a:lnTo>
                <a:lnTo>
                  <a:pt x="229195" y="209550"/>
                </a:lnTo>
                <a:close/>
              </a:path>
              <a:path w="262255" h="209550">
                <a:moveTo>
                  <a:pt x="117871" y="183356"/>
                </a:moveTo>
                <a:lnTo>
                  <a:pt x="91678" y="183356"/>
                </a:lnTo>
                <a:lnTo>
                  <a:pt x="91678" y="157162"/>
                </a:lnTo>
                <a:lnTo>
                  <a:pt x="117871" y="157162"/>
                </a:lnTo>
                <a:lnTo>
                  <a:pt x="117871" y="183356"/>
                </a:lnTo>
                <a:close/>
              </a:path>
              <a:path w="262255" h="209550">
                <a:moveTo>
                  <a:pt x="248840" y="183356"/>
                </a:moveTo>
                <a:lnTo>
                  <a:pt x="222646" y="183356"/>
                </a:lnTo>
                <a:lnTo>
                  <a:pt x="222646" y="157162"/>
                </a:lnTo>
                <a:lnTo>
                  <a:pt x="248840" y="157162"/>
                </a:lnTo>
                <a:lnTo>
                  <a:pt x="248840" y="183356"/>
                </a:lnTo>
                <a:close/>
              </a:path>
            </a:pathLst>
          </a:custGeom>
          <a:solidFill>
            <a:srgbClr val="0C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92187" y="3074993"/>
            <a:ext cx="3670935" cy="5835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85"/>
              </a:spcBef>
            </a:pP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Multi-agent</a:t>
            </a:r>
            <a:r>
              <a:rPr dirty="0" sz="1750" spc="-3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system</a:t>
            </a:r>
            <a:r>
              <a:rPr dirty="0" sz="1750" spc="-3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coordinating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SVC, </a:t>
            </a:r>
            <a:r>
              <a:rPr dirty="0" sz="1750" spc="-110">
                <a:solidFill>
                  <a:srgbClr val="2D3748"/>
                </a:solidFill>
                <a:latin typeface="Arial"/>
                <a:cs typeface="Arial"/>
              </a:rPr>
              <a:t>STATCOM,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SSSC,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UPFC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devices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171" y="3952874"/>
            <a:ext cx="208207" cy="20828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39800" y="3861751"/>
            <a:ext cx="436880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Multi-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objective</a:t>
            </a:r>
            <a:r>
              <a:rPr dirty="0" sz="1750" spc="-2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optimization:</a:t>
            </a:r>
            <a:r>
              <a:rPr dirty="0" sz="1750" spc="-1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Losses,</a:t>
            </a:r>
            <a:r>
              <a:rPr dirty="0" sz="1750" spc="-1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voltage 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profile,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stability,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2D3748"/>
                </a:solidFill>
                <a:latin typeface="Arial"/>
                <a:cs typeface="Arial"/>
              </a:rPr>
              <a:t>cost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4772024"/>
            <a:ext cx="180974" cy="20682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13606" y="4680901"/>
            <a:ext cx="447421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70" b="1">
                <a:solidFill>
                  <a:srgbClr val="2D3748"/>
                </a:solidFill>
                <a:latin typeface="Arial"/>
                <a:cs typeface="Arial"/>
              </a:rPr>
              <a:t>Robust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 adaptation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to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system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disturbances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 operational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changes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324598" y="1142999"/>
            <a:ext cx="5295900" cy="1257300"/>
            <a:chOff x="6324598" y="1142999"/>
            <a:chExt cx="5295900" cy="1257300"/>
          </a:xfrm>
        </p:grpSpPr>
        <p:sp>
          <p:nvSpPr>
            <p:cNvPr id="13" name="object 13" descr=""/>
            <p:cNvSpPr/>
            <p:nvPr/>
          </p:nvSpPr>
          <p:spPr>
            <a:xfrm>
              <a:off x="6334123" y="1152524"/>
              <a:ext cx="5276850" cy="1238250"/>
            </a:xfrm>
            <a:custGeom>
              <a:avLst/>
              <a:gdLst/>
              <a:ahLst/>
              <a:cxnLst/>
              <a:rect l="l" t="t" r="r" b="b"/>
              <a:pathLst>
                <a:path w="5276850" h="1238250">
                  <a:moveTo>
                    <a:pt x="5214552" y="1238249"/>
                  </a:moveTo>
                  <a:lnTo>
                    <a:pt x="62297" y="1238249"/>
                  </a:lnTo>
                  <a:lnTo>
                    <a:pt x="57961" y="1237822"/>
                  </a:lnTo>
                  <a:lnTo>
                    <a:pt x="22624" y="1221816"/>
                  </a:lnTo>
                  <a:lnTo>
                    <a:pt x="2135" y="1188876"/>
                  </a:lnTo>
                  <a:lnTo>
                    <a:pt x="0" y="1175952"/>
                  </a:lnTo>
                  <a:lnTo>
                    <a:pt x="0" y="11715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5214552" y="0"/>
                  </a:lnTo>
                  <a:lnTo>
                    <a:pt x="5250857" y="13668"/>
                  </a:lnTo>
                  <a:lnTo>
                    <a:pt x="5273448" y="45204"/>
                  </a:lnTo>
                  <a:lnTo>
                    <a:pt x="5276849" y="62296"/>
                  </a:lnTo>
                  <a:lnTo>
                    <a:pt x="5276849" y="1175952"/>
                  </a:lnTo>
                  <a:lnTo>
                    <a:pt x="5263178" y="1212257"/>
                  </a:lnTo>
                  <a:lnTo>
                    <a:pt x="5231643" y="1234849"/>
                  </a:lnTo>
                  <a:lnTo>
                    <a:pt x="5218888" y="1237822"/>
                  </a:lnTo>
                  <a:lnTo>
                    <a:pt x="5214552" y="12382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34123" y="1152524"/>
              <a:ext cx="5276850" cy="1238250"/>
            </a:xfrm>
            <a:custGeom>
              <a:avLst/>
              <a:gdLst/>
              <a:ahLst/>
              <a:cxnLst/>
              <a:rect l="l" t="t" r="r" b="b"/>
              <a:pathLst>
                <a:path w="5276850" h="1238250">
                  <a:moveTo>
                    <a:pt x="0" y="11715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1237" y="29632"/>
                  </a:lnTo>
                  <a:lnTo>
                    <a:pt x="13668" y="25992"/>
                  </a:lnTo>
                  <a:lnTo>
                    <a:pt x="16433" y="22624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5210175" y="0"/>
                  </a:lnTo>
                  <a:lnTo>
                    <a:pt x="5214552" y="0"/>
                  </a:lnTo>
                  <a:lnTo>
                    <a:pt x="5218888" y="427"/>
                  </a:lnTo>
                  <a:lnTo>
                    <a:pt x="5254224" y="16432"/>
                  </a:lnTo>
                  <a:lnTo>
                    <a:pt x="5274713" y="49373"/>
                  </a:lnTo>
                  <a:lnTo>
                    <a:pt x="5276850" y="66674"/>
                  </a:lnTo>
                  <a:lnTo>
                    <a:pt x="5276850" y="1171574"/>
                  </a:lnTo>
                  <a:lnTo>
                    <a:pt x="5265612" y="1208617"/>
                  </a:lnTo>
                  <a:lnTo>
                    <a:pt x="5247217" y="1227012"/>
                  </a:lnTo>
                  <a:lnTo>
                    <a:pt x="5243576" y="1229445"/>
                  </a:lnTo>
                  <a:lnTo>
                    <a:pt x="5239733" y="1231498"/>
                  </a:lnTo>
                  <a:lnTo>
                    <a:pt x="5235688" y="1233174"/>
                  </a:lnTo>
                  <a:lnTo>
                    <a:pt x="5231643" y="1234849"/>
                  </a:lnTo>
                  <a:lnTo>
                    <a:pt x="5210175" y="1238249"/>
                  </a:lnTo>
                  <a:lnTo>
                    <a:pt x="66675" y="1238249"/>
                  </a:lnTo>
                  <a:lnTo>
                    <a:pt x="41159" y="1233174"/>
                  </a:lnTo>
                  <a:lnTo>
                    <a:pt x="37114" y="1231498"/>
                  </a:lnTo>
                  <a:lnTo>
                    <a:pt x="33272" y="1229445"/>
                  </a:lnTo>
                  <a:lnTo>
                    <a:pt x="29632" y="1227012"/>
                  </a:lnTo>
                  <a:lnTo>
                    <a:pt x="25992" y="1224580"/>
                  </a:lnTo>
                  <a:lnTo>
                    <a:pt x="3399" y="1193045"/>
                  </a:lnTo>
                  <a:lnTo>
                    <a:pt x="0" y="1175952"/>
                  </a:lnTo>
                  <a:lnTo>
                    <a:pt x="0" y="1171574"/>
                  </a:lnTo>
                  <a:close/>
                </a:path>
              </a:pathLst>
            </a:custGeom>
            <a:ln w="19049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57949" y="1428749"/>
              <a:ext cx="2095500" cy="685800"/>
            </a:xfrm>
            <a:custGeom>
              <a:avLst/>
              <a:gdLst/>
              <a:ahLst/>
              <a:cxnLst/>
              <a:rect l="l" t="t" r="r" b="b"/>
              <a:pathLst>
                <a:path w="2095500" h="685800">
                  <a:moveTo>
                    <a:pt x="2024302" y="685799"/>
                  </a:moveTo>
                  <a:lnTo>
                    <a:pt x="71196" y="685799"/>
                  </a:lnTo>
                  <a:lnTo>
                    <a:pt x="66241" y="685311"/>
                  </a:lnTo>
                  <a:lnTo>
                    <a:pt x="29705" y="670178"/>
                  </a:lnTo>
                  <a:lnTo>
                    <a:pt x="3885" y="634137"/>
                  </a:lnTo>
                  <a:lnTo>
                    <a:pt x="0" y="614603"/>
                  </a:lnTo>
                  <a:lnTo>
                    <a:pt x="0" y="609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024302" y="0"/>
                  </a:lnTo>
                  <a:lnTo>
                    <a:pt x="2065793" y="15621"/>
                  </a:lnTo>
                  <a:lnTo>
                    <a:pt x="2091614" y="51661"/>
                  </a:lnTo>
                  <a:lnTo>
                    <a:pt x="2095499" y="71196"/>
                  </a:lnTo>
                  <a:lnTo>
                    <a:pt x="2095499" y="614603"/>
                  </a:lnTo>
                  <a:lnTo>
                    <a:pt x="2079877" y="656094"/>
                  </a:lnTo>
                  <a:lnTo>
                    <a:pt x="2043836" y="681914"/>
                  </a:lnTo>
                  <a:lnTo>
                    <a:pt x="2029257" y="685311"/>
                  </a:lnTo>
                  <a:lnTo>
                    <a:pt x="2024302" y="685799"/>
                  </a:lnTo>
                  <a:close/>
                </a:path>
              </a:pathLst>
            </a:custGeom>
            <a:solidFill>
              <a:srgbClr val="1C4E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6324598" y="2895599"/>
            <a:ext cx="5295900" cy="733425"/>
            <a:chOff x="6324598" y="2895599"/>
            <a:chExt cx="5295900" cy="733425"/>
          </a:xfrm>
        </p:grpSpPr>
        <p:sp>
          <p:nvSpPr>
            <p:cNvPr id="17" name="object 17" descr=""/>
            <p:cNvSpPr/>
            <p:nvPr/>
          </p:nvSpPr>
          <p:spPr>
            <a:xfrm>
              <a:off x="6334123" y="2905124"/>
              <a:ext cx="5276850" cy="714375"/>
            </a:xfrm>
            <a:custGeom>
              <a:avLst/>
              <a:gdLst/>
              <a:ahLst/>
              <a:cxnLst/>
              <a:rect l="l" t="t" r="r" b="b"/>
              <a:pathLst>
                <a:path w="5276850" h="714375">
                  <a:moveTo>
                    <a:pt x="5214552" y="714374"/>
                  </a:moveTo>
                  <a:lnTo>
                    <a:pt x="62297" y="714374"/>
                  </a:lnTo>
                  <a:lnTo>
                    <a:pt x="57961" y="713947"/>
                  </a:lnTo>
                  <a:lnTo>
                    <a:pt x="22624" y="697941"/>
                  </a:lnTo>
                  <a:lnTo>
                    <a:pt x="2135" y="665001"/>
                  </a:lnTo>
                  <a:lnTo>
                    <a:pt x="0" y="652077"/>
                  </a:lnTo>
                  <a:lnTo>
                    <a:pt x="0" y="647699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4" y="3400"/>
                  </a:lnTo>
                  <a:lnTo>
                    <a:pt x="62297" y="0"/>
                  </a:lnTo>
                  <a:lnTo>
                    <a:pt x="5214552" y="0"/>
                  </a:lnTo>
                  <a:lnTo>
                    <a:pt x="5250857" y="13668"/>
                  </a:lnTo>
                  <a:lnTo>
                    <a:pt x="5273448" y="45203"/>
                  </a:lnTo>
                  <a:lnTo>
                    <a:pt x="5276849" y="62297"/>
                  </a:lnTo>
                  <a:lnTo>
                    <a:pt x="5276849" y="652077"/>
                  </a:lnTo>
                  <a:lnTo>
                    <a:pt x="5263178" y="688382"/>
                  </a:lnTo>
                  <a:lnTo>
                    <a:pt x="5231643" y="710974"/>
                  </a:lnTo>
                  <a:lnTo>
                    <a:pt x="5218888" y="713947"/>
                  </a:lnTo>
                  <a:lnTo>
                    <a:pt x="5214552" y="7143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334123" y="2905124"/>
              <a:ext cx="5276850" cy="714375"/>
            </a:xfrm>
            <a:custGeom>
              <a:avLst/>
              <a:gdLst/>
              <a:ahLst/>
              <a:cxnLst/>
              <a:rect l="l" t="t" r="r" b="b"/>
              <a:pathLst>
                <a:path w="5276850" h="714375">
                  <a:moveTo>
                    <a:pt x="0" y="64769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6433" y="22624"/>
                  </a:lnTo>
                  <a:lnTo>
                    <a:pt x="19529" y="19528"/>
                  </a:lnTo>
                  <a:lnTo>
                    <a:pt x="22624" y="16433"/>
                  </a:lnTo>
                  <a:lnTo>
                    <a:pt x="41159" y="5075"/>
                  </a:lnTo>
                  <a:lnTo>
                    <a:pt x="45204" y="3400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5210175" y="0"/>
                  </a:lnTo>
                  <a:lnTo>
                    <a:pt x="5214552" y="0"/>
                  </a:lnTo>
                  <a:lnTo>
                    <a:pt x="5218888" y="427"/>
                  </a:lnTo>
                  <a:lnTo>
                    <a:pt x="5223182" y="1281"/>
                  </a:lnTo>
                  <a:lnTo>
                    <a:pt x="5227475" y="2135"/>
                  </a:lnTo>
                  <a:lnTo>
                    <a:pt x="5231643" y="3400"/>
                  </a:lnTo>
                  <a:lnTo>
                    <a:pt x="5235688" y="5075"/>
                  </a:lnTo>
                  <a:lnTo>
                    <a:pt x="5239733" y="6750"/>
                  </a:lnTo>
                  <a:lnTo>
                    <a:pt x="5268044" y="33272"/>
                  </a:lnTo>
                  <a:lnTo>
                    <a:pt x="5276850" y="66674"/>
                  </a:lnTo>
                  <a:lnTo>
                    <a:pt x="5276850" y="647699"/>
                  </a:lnTo>
                  <a:lnTo>
                    <a:pt x="5276849" y="652077"/>
                  </a:lnTo>
                  <a:lnTo>
                    <a:pt x="5276422" y="656413"/>
                  </a:lnTo>
                  <a:lnTo>
                    <a:pt x="5275567" y="660707"/>
                  </a:lnTo>
                  <a:lnTo>
                    <a:pt x="5274713" y="665001"/>
                  </a:lnTo>
                  <a:lnTo>
                    <a:pt x="5254224" y="697941"/>
                  </a:lnTo>
                  <a:lnTo>
                    <a:pt x="5235688" y="709299"/>
                  </a:lnTo>
                  <a:lnTo>
                    <a:pt x="5231643" y="710974"/>
                  </a:lnTo>
                  <a:lnTo>
                    <a:pt x="5210175" y="714374"/>
                  </a:lnTo>
                  <a:lnTo>
                    <a:pt x="66675" y="714374"/>
                  </a:lnTo>
                  <a:lnTo>
                    <a:pt x="62297" y="714374"/>
                  </a:lnTo>
                  <a:lnTo>
                    <a:pt x="57961" y="713947"/>
                  </a:lnTo>
                  <a:lnTo>
                    <a:pt x="53667" y="713093"/>
                  </a:lnTo>
                  <a:lnTo>
                    <a:pt x="49373" y="712239"/>
                  </a:lnTo>
                  <a:lnTo>
                    <a:pt x="45204" y="710974"/>
                  </a:lnTo>
                  <a:lnTo>
                    <a:pt x="41159" y="709299"/>
                  </a:lnTo>
                  <a:lnTo>
                    <a:pt x="37114" y="707623"/>
                  </a:lnTo>
                  <a:lnTo>
                    <a:pt x="19529" y="694845"/>
                  </a:lnTo>
                  <a:lnTo>
                    <a:pt x="16433" y="691750"/>
                  </a:lnTo>
                  <a:lnTo>
                    <a:pt x="13668" y="688382"/>
                  </a:lnTo>
                  <a:lnTo>
                    <a:pt x="11237" y="684742"/>
                  </a:lnTo>
                  <a:lnTo>
                    <a:pt x="8805" y="681102"/>
                  </a:lnTo>
                  <a:lnTo>
                    <a:pt x="0" y="652077"/>
                  </a:lnTo>
                  <a:lnTo>
                    <a:pt x="0" y="647699"/>
                  </a:lnTo>
                  <a:close/>
                </a:path>
              </a:pathLst>
            </a:custGeom>
            <a:ln w="19049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6324598" y="3724274"/>
            <a:ext cx="5295900" cy="733425"/>
            <a:chOff x="6324598" y="3724274"/>
            <a:chExt cx="5295900" cy="733425"/>
          </a:xfrm>
        </p:grpSpPr>
        <p:sp>
          <p:nvSpPr>
            <p:cNvPr id="20" name="object 20" descr=""/>
            <p:cNvSpPr/>
            <p:nvPr/>
          </p:nvSpPr>
          <p:spPr>
            <a:xfrm>
              <a:off x="6334123" y="3733799"/>
              <a:ext cx="5276850" cy="714375"/>
            </a:xfrm>
            <a:custGeom>
              <a:avLst/>
              <a:gdLst/>
              <a:ahLst/>
              <a:cxnLst/>
              <a:rect l="l" t="t" r="r" b="b"/>
              <a:pathLst>
                <a:path w="5276850" h="714375">
                  <a:moveTo>
                    <a:pt x="5214552" y="714374"/>
                  </a:moveTo>
                  <a:lnTo>
                    <a:pt x="62297" y="714374"/>
                  </a:lnTo>
                  <a:lnTo>
                    <a:pt x="57961" y="713947"/>
                  </a:lnTo>
                  <a:lnTo>
                    <a:pt x="22624" y="697941"/>
                  </a:lnTo>
                  <a:lnTo>
                    <a:pt x="2135" y="665000"/>
                  </a:lnTo>
                  <a:lnTo>
                    <a:pt x="0" y="652077"/>
                  </a:lnTo>
                  <a:lnTo>
                    <a:pt x="0" y="647699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5214552" y="0"/>
                  </a:lnTo>
                  <a:lnTo>
                    <a:pt x="5250857" y="13668"/>
                  </a:lnTo>
                  <a:lnTo>
                    <a:pt x="5273448" y="45203"/>
                  </a:lnTo>
                  <a:lnTo>
                    <a:pt x="5276849" y="62296"/>
                  </a:lnTo>
                  <a:lnTo>
                    <a:pt x="5276849" y="652077"/>
                  </a:lnTo>
                  <a:lnTo>
                    <a:pt x="5263178" y="688382"/>
                  </a:lnTo>
                  <a:lnTo>
                    <a:pt x="5231643" y="710974"/>
                  </a:lnTo>
                  <a:lnTo>
                    <a:pt x="5218888" y="713947"/>
                  </a:lnTo>
                  <a:lnTo>
                    <a:pt x="5214552" y="7143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334123" y="3733799"/>
              <a:ext cx="5276850" cy="714375"/>
            </a:xfrm>
            <a:custGeom>
              <a:avLst/>
              <a:gdLst/>
              <a:ahLst/>
              <a:cxnLst/>
              <a:rect l="l" t="t" r="r" b="b"/>
              <a:pathLst>
                <a:path w="5276850" h="714375">
                  <a:moveTo>
                    <a:pt x="0" y="64769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1" y="37114"/>
                  </a:lnTo>
                  <a:lnTo>
                    <a:pt x="8805" y="33272"/>
                  </a:lnTo>
                  <a:lnTo>
                    <a:pt x="11237" y="29631"/>
                  </a:lnTo>
                  <a:lnTo>
                    <a:pt x="13668" y="25991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4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5210175" y="0"/>
                  </a:lnTo>
                  <a:lnTo>
                    <a:pt x="5214552" y="0"/>
                  </a:lnTo>
                  <a:lnTo>
                    <a:pt x="5218888" y="427"/>
                  </a:lnTo>
                  <a:lnTo>
                    <a:pt x="5223182" y="1281"/>
                  </a:lnTo>
                  <a:lnTo>
                    <a:pt x="5227475" y="2134"/>
                  </a:lnTo>
                  <a:lnTo>
                    <a:pt x="5231643" y="3399"/>
                  </a:lnTo>
                  <a:lnTo>
                    <a:pt x="5235688" y="5075"/>
                  </a:lnTo>
                  <a:lnTo>
                    <a:pt x="5239733" y="6750"/>
                  </a:lnTo>
                  <a:lnTo>
                    <a:pt x="5268044" y="33272"/>
                  </a:lnTo>
                  <a:lnTo>
                    <a:pt x="5276850" y="66674"/>
                  </a:lnTo>
                  <a:lnTo>
                    <a:pt x="5276850" y="647699"/>
                  </a:lnTo>
                  <a:lnTo>
                    <a:pt x="5265612" y="684741"/>
                  </a:lnTo>
                  <a:lnTo>
                    <a:pt x="5235688" y="709299"/>
                  </a:lnTo>
                  <a:lnTo>
                    <a:pt x="5231643" y="710974"/>
                  </a:lnTo>
                  <a:lnTo>
                    <a:pt x="5210175" y="714374"/>
                  </a:lnTo>
                  <a:lnTo>
                    <a:pt x="66675" y="714374"/>
                  </a:lnTo>
                  <a:lnTo>
                    <a:pt x="41159" y="709299"/>
                  </a:lnTo>
                  <a:lnTo>
                    <a:pt x="37114" y="707623"/>
                  </a:lnTo>
                  <a:lnTo>
                    <a:pt x="33272" y="705569"/>
                  </a:lnTo>
                  <a:lnTo>
                    <a:pt x="29632" y="703137"/>
                  </a:lnTo>
                  <a:lnTo>
                    <a:pt x="25992" y="700705"/>
                  </a:lnTo>
                  <a:lnTo>
                    <a:pt x="3399" y="669170"/>
                  </a:lnTo>
                  <a:lnTo>
                    <a:pt x="1281" y="660707"/>
                  </a:lnTo>
                  <a:lnTo>
                    <a:pt x="427" y="656413"/>
                  </a:lnTo>
                  <a:lnTo>
                    <a:pt x="0" y="652077"/>
                  </a:lnTo>
                  <a:lnTo>
                    <a:pt x="0" y="647699"/>
                  </a:lnTo>
                  <a:close/>
                </a:path>
              </a:pathLst>
            </a:custGeom>
            <a:ln w="19049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6324598" y="4552949"/>
            <a:ext cx="5295900" cy="733425"/>
            <a:chOff x="6324598" y="4552949"/>
            <a:chExt cx="5295900" cy="733425"/>
          </a:xfrm>
        </p:grpSpPr>
        <p:sp>
          <p:nvSpPr>
            <p:cNvPr id="23" name="object 23" descr=""/>
            <p:cNvSpPr/>
            <p:nvPr/>
          </p:nvSpPr>
          <p:spPr>
            <a:xfrm>
              <a:off x="6334123" y="4562474"/>
              <a:ext cx="5276850" cy="714375"/>
            </a:xfrm>
            <a:custGeom>
              <a:avLst/>
              <a:gdLst/>
              <a:ahLst/>
              <a:cxnLst/>
              <a:rect l="l" t="t" r="r" b="b"/>
              <a:pathLst>
                <a:path w="5276850" h="714375">
                  <a:moveTo>
                    <a:pt x="5214552" y="714374"/>
                  </a:moveTo>
                  <a:lnTo>
                    <a:pt x="62297" y="714374"/>
                  </a:lnTo>
                  <a:lnTo>
                    <a:pt x="57961" y="713947"/>
                  </a:lnTo>
                  <a:lnTo>
                    <a:pt x="22624" y="697941"/>
                  </a:lnTo>
                  <a:lnTo>
                    <a:pt x="2135" y="665001"/>
                  </a:lnTo>
                  <a:lnTo>
                    <a:pt x="0" y="652078"/>
                  </a:lnTo>
                  <a:lnTo>
                    <a:pt x="0" y="647699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5214552" y="0"/>
                  </a:lnTo>
                  <a:lnTo>
                    <a:pt x="5250857" y="13668"/>
                  </a:lnTo>
                  <a:lnTo>
                    <a:pt x="5273448" y="45203"/>
                  </a:lnTo>
                  <a:lnTo>
                    <a:pt x="5276849" y="62297"/>
                  </a:lnTo>
                  <a:lnTo>
                    <a:pt x="5276849" y="652078"/>
                  </a:lnTo>
                  <a:lnTo>
                    <a:pt x="5263178" y="688381"/>
                  </a:lnTo>
                  <a:lnTo>
                    <a:pt x="5231643" y="710975"/>
                  </a:lnTo>
                  <a:lnTo>
                    <a:pt x="5218888" y="713947"/>
                  </a:lnTo>
                  <a:lnTo>
                    <a:pt x="5214552" y="7143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334123" y="4562474"/>
              <a:ext cx="5276850" cy="714375"/>
            </a:xfrm>
            <a:custGeom>
              <a:avLst/>
              <a:gdLst/>
              <a:ahLst/>
              <a:cxnLst/>
              <a:rect l="l" t="t" r="r" b="b"/>
              <a:pathLst>
                <a:path w="5276850" h="714375">
                  <a:moveTo>
                    <a:pt x="0" y="64769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1" y="37113"/>
                  </a:lnTo>
                  <a:lnTo>
                    <a:pt x="8805" y="33271"/>
                  </a:lnTo>
                  <a:lnTo>
                    <a:pt x="11237" y="29631"/>
                  </a:lnTo>
                  <a:lnTo>
                    <a:pt x="13668" y="25991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5210175" y="0"/>
                  </a:lnTo>
                  <a:lnTo>
                    <a:pt x="5214552" y="0"/>
                  </a:lnTo>
                  <a:lnTo>
                    <a:pt x="5218888" y="427"/>
                  </a:lnTo>
                  <a:lnTo>
                    <a:pt x="5223182" y="1281"/>
                  </a:lnTo>
                  <a:lnTo>
                    <a:pt x="5227475" y="2135"/>
                  </a:lnTo>
                  <a:lnTo>
                    <a:pt x="5231643" y="3399"/>
                  </a:lnTo>
                  <a:lnTo>
                    <a:pt x="5235688" y="5075"/>
                  </a:lnTo>
                  <a:lnTo>
                    <a:pt x="5239733" y="6750"/>
                  </a:lnTo>
                  <a:lnTo>
                    <a:pt x="5268044" y="33271"/>
                  </a:lnTo>
                  <a:lnTo>
                    <a:pt x="5276850" y="66674"/>
                  </a:lnTo>
                  <a:lnTo>
                    <a:pt x="5276850" y="647699"/>
                  </a:lnTo>
                  <a:lnTo>
                    <a:pt x="5276849" y="652078"/>
                  </a:lnTo>
                  <a:lnTo>
                    <a:pt x="5276422" y="656413"/>
                  </a:lnTo>
                  <a:lnTo>
                    <a:pt x="5275567" y="660707"/>
                  </a:lnTo>
                  <a:lnTo>
                    <a:pt x="5274713" y="665001"/>
                  </a:lnTo>
                  <a:lnTo>
                    <a:pt x="5254224" y="697941"/>
                  </a:lnTo>
                  <a:lnTo>
                    <a:pt x="5235688" y="709299"/>
                  </a:lnTo>
                  <a:lnTo>
                    <a:pt x="5231643" y="710975"/>
                  </a:lnTo>
                  <a:lnTo>
                    <a:pt x="5210175" y="714374"/>
                  </a:lnTo>
                  <a:lnTo>
                    <a:pt x="66675" y="714374"/>
                  </a:lnTo>
                  <a:lnTo>
                    <a:pt x="41159" y="709299"/>
                  </a:lnTo>
                  <a:lnTo>
                    <a:pt x="37114" y="707624"/>
                  </a:lnTo>
                  <a:lnTo>
                    <a:pt x="8805" y="681101"/>
                  </a:lnTo>
                  <a:lnTo>
                    <a:pt x="1281" y="660707"/>
                  </a:lnTo>
                  <a:lnTo>
                    <a:pt x="427" y="656413"/>
                  </a:lnTo>
                  <a:lnTo>
                    <a:pt x="0" y="652078"/>
                  </a:lnTo>
                  <a:lnTo>
                    <a:pt x="0" y="647699"/>
                  </a:lnTo>
                  <a:close/>
                </a:path>
              </a:pathLst>
            </a:custGeom>
            <a:ln w="19049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6324599" y="5438774"/>
            <a:ext cx="5295900" cy="19050"/>
          </a:xfrm>
          <a:custGeom>
            <a:avLst/>
            <a:gdLst/>
            <a:ahLst/>
            <a:cxnLst/>
            <a:rect l="l" t="t" r="r" b="b"/>
            <a:pathLst>
              <a:path w="5295900" h="19050">
                <a:moveTo>
                  <a:pt x="5295899" y="19049"/>
                </a:moveTo>
                <a:lnTo>
                  <a:pt x="0" y="19049"/>
                </a:lnTo>
                <a:lnTo>
                  <a:pt x="0" y="0"/>
                </a:lnTo>
                <a:lnTo>
                  <a:pt x="5295899" y="0"/>
                </a:lnTo>
                <a:lnTo>
                  <a:pt x="5295899" y="19049"/>
                </a:lnTo>
                <a:close/>
              </a:path>
            </a:pathLst>
          </a:custGeom>
          <a:solidFill>
            <a:srgbClr val="D0D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790233" y="1486941"/>
            <a:ext cx="1431290" cy="50736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dirty="0" sz="1450" spc="-75" b="1">
                <a:solidFill>
                  <a:srgbClr val="FFFFFF"/>
                </a:solidFill>
                <a:latin typeface="Arial"/>
                <a:cs typeface="Arial"/>
              </a:rPr>
              <a:t>RL</a:t>
            </a:r>
            <a:r>
              <a:rPr dirty="0" sz="14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Agent(s)</a:t>
            </a:r>
            <a:endParaRPr sz="1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(Policy/Value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Networks)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680350" y="1260479"/>
            <a:ext cx="58483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5" b="1">
                <a:solidFill>
                  <a:srgbClr val="1D40AF"/>
                </a:solidFill>
                <a:latin typeface="Arial"/>
                <a:cs typeface="Arial"/>
              </a:rPr>
              <a:t>Actions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8885671" y="1565671"/>
            <a:ext cx="169545" cy="412115"/>
            <a:chOff x="8885671" y="1565671"/>
            <a:chExt cx="169545" cy="412115"/>
          </a:xfrm>
        </p:grpSpPr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86825" y="1565671"/>
              <a:ext cx="167840" cy="14525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85671" y="1832371"/>
              <a:ext cx="167840" cy="145256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8477051" y="2022480"/>
            <a:ext cx="99123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5" b="1">
                <a:solidFill>
                  <a:srgbClr val="1D40AF"/>
                </a:solidFill>
                <a:latin typeface="Arial"/>
                <a:cs typeface="Arial"/>
              </a:rPr>
              <a:t>State/Reward</a:t>
            </a:r>
            <a:endParaRPr sz="1300">
              <a:latin typeface="Arial"/>
              <a:cs typeface="Arial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9391648" y="1428749"/>
            <a:ext cx="2095500" cy="685800"/>
          </a:xfrm>
          <a:custGeom>
            <a:avLst/>
            <a:gdLst/>
            <a:ahLst/>
            <a:cxnLst/>
            <a:rect l="l" t="t" r="r" b="b"/>
            <a:pathLst>
              <a:path w="2095500" h="685800">
                <a:moveTo>
                  <a:pt x="2024303" y="685799"/>
                </a:moveTo>
                <a:lnTo>
                  <a:pt x="71196" y="685799"/>
                </a:lnTo>
                <a:lnTo>
                  <a:pt x="66241" y="685311"/>
                </a:lnTo>
                <a:lnTo>
                  <a:pt x="29705" y="670178"/>
                </a:lnTo>
                <a:lnTo>
                  <a:pt x="3885" y="634137"/>
                </a:lnTo>
                <a:lnTo>
                  <a:pt x="0" y="614603"/>
                </a:lnTo>
                <a:lnTo>
                  <a:pt x="0" y="6095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2024303" y="0"/>
                </a:lnTo>
                <a:lnTo>
                  <a:pt x="2065794" y="15621"/>
                </a:lnTo>
                <a:lnTo>
                  <a:pt x="2091612" y="51661"/>
                </a:lnTo>
                <a:lnTo>
                  <a:pt x="2095499" y="71196"/>
                </a:lnTo>
                <a:lnTo>
                  <a:pt x="2095499" y="614603"/>
                </a:lnTo>
                <a:lnTo>
                  <a:pt x="2079876" y="656094"/>
                </a:lnTo>
                <a:lnTo>
                  <a:pt x="2043836" y="681914"/>
                </a:lnTo>
                <a:lnTo>
                  <a:pt x="2029259" y="685311"/>
                </a:lnTo>
                <a:lnTo>
                  <a:pt x="2024303" y="6857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9704139" y="1486941"/>
            <a:ext cx="1470660" cy="50736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dirty="0" sz="1450" spc="-65" b="1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dirty="0" sz="1450" spc="-10" b="1">
                <a:solidFill>
                  <a:srgbClr val="FFFFFF"/>
                </a:solidFill>
                <a:latin typeface="Arial"/>
                <a:cs typeface="Arial"/>
              </a:rPr>
              <a:t> System</a:t>
            </a:r>
            <a:endParaRPr sz="1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(FACTS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Grid)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311899" y="2544768"/>
            <a:ext cx="1343660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65" b="1">
                <a:solidFill>
                  <a:srgbClr val="1D40AF"/>
                </a:solidFill>
                <a:latin typeface="Arial"/>
                <a:cs typeface="Arial"/>
              </a:rPr>
              <a:t>Key</a:t>
            </a:r>
            <a:r>
              <a:rPr dirty="0" sz="1450" spc="-7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1450" spc="-55" b="1">
                <a:solidFill>
                  <a:srgbClr val="1D40AF"/>
                </a:solidFill>
                <a:latin typeface="Arial"/>
                <a:cs typeface="Arial"/>
              </a:rPr>
              <a:t>Algorithms:</a:t>
            </a:r>
            <a:endParaRPr sz="145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473824" y="2992442"/>
            <a:ext cx="1866900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0C4A86"/>
                </a:solidFill>
                <a:latin typeface="Arial"/>
                <a:cs typeface="Arial"/>
              </a:rPr>
              <a:t>Soft</a:t>
            </a:r>
            <a:r>
              <a:rPr dirty="0" sz="1450" spc="-65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450" spc="-60" b="1">
                <a:solidFill>
                  <a:srgbClr val="0C4A86"/>
                </a:solidFill>
                <a:latin typeface="Arial"/>
                <a:cs typeface="Arial"/>
              </a:rPr>
              <a:t>Actor-</a:t>
            </a:r>
            <a:r>
              <a:rPr dirty="0" sz="1450" spc="-40" b="1">
                <a:solidFill>
                  <a:srgbClr val="0C4A86"/>
                </a:solidFill>
                <a:latin typeface="Arial"/>
                <a:cs typeface="Arial"/>
              </a:rPr>
              <a:t>Critic</a:t>
            </a:r>
            <a:r>
              <a:rPr dirty="0" sz="1450" spc="-5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450" spc="-55" b="1">
                <a:solidFill>
                  <a:srgbClr val="0C4A86"/>
                </a:solidFill>
                <a:latin typeface="Arial"/>
                <a:cs typeface="Arial"/>
              </a:rPr>
              <a:t>(SAC)</a:t>
            </a:r>
            <a:endParaRPr sz="145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473824" y="3300416"/>
            <a:ext cx="411226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35">
                <a:solidFill>
                  <a:srgbClr val="4A5467"/>
                </a:solidFill>
                <a:latin typeface="Arial"/>
                <a:cs typeface="Arial"/>
              </a:rPr>
              <a:t>Entropy-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regularized</a:t>
            </a:r>
            <a:r>
              <a:rPr dirty="0" sz="1100" spc="-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A5467"/>
                </a:solidFill>
                <a:latin typeface="Arial"/>
                <a:cs typeface="Arial"/>
              </a:rPr>
              <a:t>RL 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algorithm</a:t>
            </a:r>
            <a:r>
              <a:rPr dirty="0" sz="110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balancing</a:t>
            </a:r>
            <a:r>
              <a:rPr dirty="0" sz="1100" spc="-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exploration</a:t>
            </a:r>
            <a:r>
              <a:rPr dirty="0" sz="1100" spc="-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A5467"/>
                </a:solidFill>
                <a:latin typeface="Arial"/>
                <a:cs typeface="Arial"/>
              </a:rPr>
              <a:t>&amp;</a:t>
            </a:r>
            <a:r>
              <a:rPr dirty="0" sz="1100" spc="-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5467"/>
                </a:solidFill>
                <a:latin typeface="Arial"/>
                <a:cs typeface="Arial"/>
              </a:rPr>
              <a:t>exploitation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473824" y="3711709"/>
            <a:ext cx="4037965" cy="61658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50" spc="-10" b="1">
                <a:solidFill>
                  <a:srgbClr val="0C4A86"/>
                </a:solidFill>
                <a:latin typeface="Arial"/>
                <a:cs typeface="Arial"/>
              </a:rPr>
              <a:t>LAMBDA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100" spc="-40">
                <a:solidFill>
                  <a:srgbClr val="4A5467"/>
                </a:solidFill>
                <a:latin typeface="Arial"/>
                <a:cs typeface="Arial"/>
              </a:rPr>
              <a:t>Model-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based</a:t>
            </a:r>
            <a:r>
              <a:rPr dirty="0" sz="1100" spc="-1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A5467"/>
                </a:solidFill>
                <a:latin typeface="Arial"/>
                <a:cs typeface="Arial"/>
              </a:rPr>
              <a:t>RL</a:t>
            </a:r>
            <a:r>
              <a:rPr dirty="0" sz="1100" spc="-5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A5467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4A5467"/>
                </a:solidFill>
                <a:latin typeface="Arial"/>
                <a:cs typeface="Arial"/>
              </a:rPr>
              <a:t>Lagrangian</a:t>
            </a:r>
            <a:r>
              <a:rPr dirty="0" sz="1100" spc="-1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methods</a:t>
            </a:r>
            <a:r>
              <a:rPr dirty="0" sz="1100" spc="-1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5467"/>
                </a:solidFill>
                <a:latin typeface="Arial"/>
                <a:cs typeface="Arial"/>
              </a:rPr>
              <a:t>for</a:t>
            </a:r>
            <a:r>
              <a:rPr dirty="0" sz="1100" spc="-1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constraint</a:t>
            </a:r>
            <a:r>
              <a:rPr dirty="0" sz="1100" spc="-1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5467"/>
                </a:solidFill>
                <a:latin typeface="Arial"/>
                <a:cs typeface="Arial"/>
              </a:rPr>
              <a:t>satisfaction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473824" y="4540384"/>
            <a:ext cx="4236085" cy="61658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50" spc="-55" b="1">
                <a:solidFill>
                  <a:srgbClr val="0C4A86"/>
                </a:solidFill>
                <a:latin typeface="Arial"/>
                <a:cs typeface="Arial"/>
              </a:rPr>
              <a:t>Multi-</a:t>
            </a:r>
            <a:r>
              <a:rPr dirty="0" sz="1450" spc="-50" b="1">
                <a:solidFill>
                  <a:srgbClr val="0C4A86"/>
                </a:solidFill>
                <a:latin typeface="Arial"/>
                <a:cs typeface="Arial"/>
              </a:rPr>
              <a:t>Objective</a:t>
            </a:r>
            <a:r>
              <a:rPr dirty="0" sz="1450" spc="-15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0C4A86"/>
                </a:solidFill>
                <a:latin typeface="Arial"/>
                <a:cs typeface="Arial"/>
              </a:rPr>
              <a:t>Pareto</a:t>
            </a:r>
            <a:r>
              <a:rPr dirty="0" sz="1450" spc="-15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C4A86"/>
                </a:solidFill>
                <a:latin typeface="Arial"/>
                <a:cs typeface="Arial"/>
              </a:rPr>
              <a:t>Optimization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Balancing</a:t>
            </a:r>
            <a:r>
              <a:rPr dirty="0" sz="110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multiple</a:t>
            </a:r>
            <a:r>
              <a:rPr dirty="0" sz="1100" spc="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4A5467"/>
                </a:solidFill>
                <a:latin typeface="Arial"/>
                <a:cs typeface="Arial"/>
              </a:rPr>
              <a:t>competing</a:t>
            </a:r>
            <a:r>
              <a:rPr dirty="0" sz="1100" spc="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objectives</a:t>
            </a:r>
            <a:r>
              <a:rPr dirty="0" sz="1100" spc="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4A5467"/>
                </a:solidFill>
                <a:latin typeface="Arial"/>
                <a:cs typeface="Arial"/>
              </a:rPr>
              <a:t>without</a:t>
            </a:r>
            <a:r>
              <a:rPr dirty="0" sz="1100" spc="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4A5467"/>
                </a:solidFill>
                <a:latin typeface="Arial"/>
                <a:cs typeface="Arial"/>
              </a:rPr>
              <a:t>predetermined</a:t>
            </a:r>
            <a:r>
              <a:rPr dirty="0" sz="1100" spc="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A5467"/>
                </a:solidFill>
                <a:latin typeface="Arial"/>
                <a:cs typeface="Arial"/>
              </a:rPr>
              <a:t>weights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311899" y="5602292"/>
            <a:ext cx="1739900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90" b="1">
                <a:solidFill>
                  <a:srgbClr val="1D40AF"/>
                </a:solidFill>
                <a:latin typeface="Arial"/>
                <a:cs typeface="Arial"/>
              </a:rPr>
              <a:t>FACTS</a:t>
            </a:r>
            <a:r>
              <a:rPr dirty="0" sz="1450" spc="-2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1D40AF"/>
                </a:solidFill>
                <a:latin typeface="Arial"/>
                <a:cs typeface="Arial"/>
              </a:rPr>
              <a:t>Control</a:t>
            </a:r>
            <a:r>
              <a:rPr dirty="0" sz="1450" spc="-1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1D40AF"/>
                </a:solidFill>
                <a:latin typeface="Arial"/>
                <a:cs typeface="Arial"/>
              </a:rPr>
              <a:t>Flow: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324598" y="5953124"/>
            <a:ext cx="1323975" cy="552450"/>
            <a:chOff x="6324598" y="5953124"/>
            <a:chExt cx="1323975" cy="552450"/>
          </a:xfrm>
        </p:grpSpPr>
        <p:sp>
          <p:nvSpPr>
            <p:cNvPr id="41" name="object 41" descr=""/>
            <p:cNvSpPr/>
            <p:nvPr/>
          </p:nvSpPr>
          <p:spPr>
            <a:xfrm>
              <a:off x="6329361" y="5957887"/>
              <a:ext cx="1314450" cy="542925"/>
            </a:xfrm>
            <a:custGeom>
              <a:avLst/>
              <a:gdLst/>
              <a:ahLst/>
              <a:cxnLst/>
              <a:rect l="l" t="t" r="r" b="b"/>
              <a:pathLst>
                <a:path w="1314450" h="542925">
                  <a:moveTo>
                    <a:pt x="1285533" y="542924"/>
                  </a:moveTo>
                  <a:lnTo>
                    <a:pt x="28916" y="542924"/>
                  </a:lnTo>
                  <a:lnTo>
                    <a:pt x="24663" y="542078"/>
                  </a:lnTo>
                  <a:lnTo>
                    <a:pt x="0" y="514007"/>
                  </a:lnTo>
                  <a:lnTo>
                    <a:pt x="0" y="5095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85533" y="0"/>
                  </a:lnTo>
                  <a:lnTo>
                    <a:pt x="1314449" y="28916"/>
                  </a:lnTo>
                  <a:lnTo>
                    <a:pt x="1314449" y="514007"/>
                  </a:lnTo>
                  <a:lnTo>
                    <a:pt x="1289785" y="542078"/>
                  </a:lnTo>
                  <a:lnTo>
                    <a:pt x="1285533" y="542924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329361" y="5957887"/>
              <a:ext cx="1314450" cy="542925"/>
            </a:xfrm>
            <a:custGeom>
              <a:avLst/>
              <a:gdLst/>
              <a:ahLst/>
              <a:cxnLst/>
              <a:rect l="l" t="t" r="r" b="b"/>
              <a:pathLst>
                <a:path w="1314450" h="542925">
                  <a:moveTo>
                    <a:pt x="0" y="5095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8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281112" y="0"/>
                  </a:lnTo>
                  <a:lnTo>
                    <a:pt x="1285533" y="0"/>
                  </a:lnTo>
                  <a:lnTo>
                    <a:pt x="1289785" y="845"/>
                  </a:lnTo>
                  <a:lnTo>
                    <a:pt x="1293869" y="2537"/>
                  </a:lnTo>
                  <a:lnTo>
                    <a:pt x="1297953" y="4228"/>
                  </a:lnTo>
                  <a:lnTo>
                    <a:pt x="1301559" y="6637"/>
                  </a:lnTo>
                  <a:lnTo>
                    <a:pt x="1304685" y="9763"/>
                  </a:lnTo>
                  <a:lnTo>
                    <a:pt x="1307811" y="12889"/>
                  </a:lnTo>
                  <a:lnTo>
                    <a:pt x="1310219" y="16494"/>
                  </a:lnTo>
                  <a:lnTo>
                    <a:pt x="1311911" y="20578"/>
                  </a:lnTo>
                  <a:lnTo>
                    <a:pt x="1313603" y="24662"/>
                  </a:lnTo>
                  <a:lnTo>
                    <a:pt x="1314449" y="28916"/>
                  </a:lnTo>
                  <a:lnTo>
                    <a:pt x="1314450" y="33337"/>
                  </a:lnTo>
                  <a:lnTo>
                    <a:pt x="1314450" y="509587"/>
                  </a:lnTo>
                  <a:lnTo>
                    <a:pt x="1289785" y="542078"/>
                  </a:lnTo>
                  <a:lnTo>
                    <a:pt x="1281112" y="542924"/>
                  </a:lnTo>
                  <a:lnTo>
                    <a:pt x="33338" y="542924"/>
                  </a:lnTo>
                  <a:lnTo>
                    <a:pt x="9764" y="533159"/>
                  </a:lnTo>
                  <a:lnTo>
                    <a:pt x="6637" y="530033"/>
                  </a:lnTo>
                  <a:lnTo>
                    <a:pt x="4228" y="526428"/>
                  </a:lnTo>
                  <a:lnTo>
                    <a:pt x="2537" y="522344"/>
                  </a:lnTo>
                  <a:lnTo>
                    <a:pt x="845" y="518260"/>
                  </a:lnTo>
                  <a:lnTo>
                    <a:pt x="0" y="514007"/>
                  </a:lnTo>
                  <a:lnTo>
                    <a:pt x="0" y="509587"/>
                  </a:lnTo>
                  <a:close/>
                </a:path>
              </a:pathLst>
            </a:custGeom>
            <a:ln w="9524">
              <a:solidFill>
                <a:srgbClr val="F7707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6736655" y="6024566"/>
            <a:ext cx="50038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30" b="1">
                <a:latin typeface="Arial"/>
                <a:cs typeface="Arial"/>
              </a:rPr>
              <a:t>System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4" name="object 4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5750" y="6181188"/>
            <a:ext cx="152399" cy="96321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8315323" y="6048374"/>
            <a:ext cx="1323975" cy="361950"/>
            <a:chOff x="8315323" y="6048374"/>
            <a:chExt cx="1323975" cy="361950"/>
          </a:xfrm>
        </p:grpSpPr>
        <p:sp>
          <p:nvSpPr>
            <p:cNvPr id="46" name="object 46" descr=""/>
            <p:cNvSpPr/>
            <p:nvPr/>
          </p:nvSpPr>
          <p:spPr>
            <a:xfrm>
              <a:off x="8320085" y="6053137"/>
              <a:ext cx="1314450" cy="352425"/>
            </a:xfrm>
            <a:custGeom>
              <a:avLst/>
              <a:gdLst/>
              <a:ahLst/>
              <a:cxnLst/>
              <a:rect l="l" t="t" r="r" b="b"/>
              <a:pathLst>
                <a:path w="1314450" h="352425">
                  <a:moveTo>
                    <a:pt x="1285533" y="352424"/>
                  </a:moveTo>
                  <a:lnTo>
                    <a:pt x="28916" y="352424"/>
                  </a:lnTo>
                  <a:lnTo>
                    <a:pt x="24662" y="351578"/>
                  </a:lnTo>
                  <a:lnTo>
                    <a:pt x="0" y="323507"/>
                  </a:lnTo>
                  <a:lnTo>
                    <a:pt x="0" y="3190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85533" y="0"/>
                  </a:lnTo>
                  <a:lnTo>
                    <a:pt x="1314449" y="28916"/>
                  </a:lnTo>
                  <a:lnTo>
                    <a:pt x="1314449" y="323507"/>
                  </a:lnTo>
                  <a:lnTo>
                    <a:pt x="1289785" y="351578"/>
                  </a:lnTo>
                  <a:lnTo>
                    <a:pt x="1285533" y="352424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320085" y="6053137"/>
              <a:ext cx="1314450" cy="352425"/>
            </a:xfrm>
            <a:custGeom>
              <a:avLst/>
              <a:gdLst/>
              <a:ahLst/>
              <a:cxnLst/>
              <a:rect l="l" t="t" r="r" b="b"/>
              <a:pathLst>
                <a:path w="1314450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3" y="9763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2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281112" y="0"/>
                  </a:lnTo>
                  <a:lnTo>
                    <a:pt x="1285533" y="0"/>
                  </a:lnTo>
                  <a:lnTo>
                    <a:pt x="1289785" y="845"/>
                  </a:lnTo>
                  <a:lnTo>
                    <a:pt x="1293869" y="2537"/>
                  </a:lnTo>
                  <a:lnTo>
                    <a:pt x="1297953" y="4229"/>
                  </a:lnTo>
                  <a:lnTo>
                    <a:pt x="1301558" y="6637"/>
                  </a:lnTo>
                  <a:lnTo>
                    <a:pt x="1304685" y="9763"/>
                  </a:lnTo>
                  <a:lnTo>
                    <a:pt x="1307811" y="12889"/>
                  </a:lnTo>
                  <a:lnTo>
                    <a:pt x="1310219" y="16494"/>
                  </a:lnTo>
                  <a:lnTo>
                    <a:pt x="1311911" y="20578"/>
                  </a:lnTo>
                  <a:lnTo>
                    <a:pt x="1313603" y="24662"/>
                  </a:lnTo>
                  <a:lnTo>
                    <a:pt x="1314449" y="28916"/>
                  </a:lnTo>
                  <a:lnTo>
                    <a:pt x="1314450" y="33337"/>
                  </a:lnTo>
                  <a:lnTo>
                    <a:pt x="1314450" y="319087"/>
                  </a:lnTo>
                  <a:lnTo>
                    <a:pt x="1314449" y="323507"/>
                  </a:lnTo>
                  <a:lnTo>
                    <a:pt x="1313603" y="327760"/>
                  </a:lnTo>
                  <a:lnTo>
                    <a:pt x="1311911" y="331844"/>
                  </a:lnTo>
                  <a:lnTo>
                    <a:pt x="1310219" y="335928"/>
                  </a:lnTo>
                  <a:lnTo>
                    <a:pt x="1293869" y="349886"/>
                  </a:lnTo>
                  <a:lnTo>
                    <a:pt x="1289785" y="351578"/>
                  </a:lnTo>
                  <a:lnTo>
                    <a:pt x="1285533" y="352424"/>
                  </a:lnTo>
                  <a:lnTo>
                    <a:pt x="1281112" y="352424"/>
                  </a:lnTo>
                  <a:lnTo>
                    <a:pt x="33338" y="352424"/>
                  </a:lnTo>
                  <a:lnTo>
                    <a:pt x="9763" y="342660"/>
                  </a:lnTo>
                  <a:lnTo>
                    <a:pt x="6637" y="339534"/>
                  </a:lnTo>
                  <a:lnTo>
                    <a:pt x="4228" y="335928"/>
                  </a:lnTo>
                  <a:lnTo>
                    <a:pt x="2537" y="331844"/>
                  </a:lnTo>
                  <a:lnTo>
                    <a:pt x="845" y="327760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FAB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8474372" y="6119816"/>
            <a:ext cx="99631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25" b="1">
                <a:latin typeface="Arial"/>
                <a:cs typeface="Arial"/>
              </a:rPr>
              <a:t>State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Detection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9" name="object 4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86949" y="6181188"/>
            <a:ext cx="152399" cy="96321"/>
          </a:xfrm>
          <a:prstGeom prst="rect">
            <a:avLst/>
          </a:prstGeom>
        </p:spPr>
      </p:pic>
      <p:grpSp>
        <p:nvGrpSpPr>
          <p:cNvPr id="50" name="object 50" descr=""/>
          <p:cNvGrpSpPr/>
          <p:nvPr/>
        </p:nvGrpSpPr>
        <p:grpSpPr>
          <a:xfrm>
            <a:off x="10296524" y="6048374"/>
            <a:ext cx="1323975" cy="361950"/>
            <a:chOff x="10296524" y="6048374"/>
            <a:chExt cx="1323975" cy="361950"/>
          </a:xfrm>
        </p:grpSpPr>
        <p:sp>
          <p:nvSpPr>
            <p:cNvPr id="51" name="object 51" descr=""/>
            <p:cNvSpPr/>
            <p:nvPr/>
          </p:nvSpPr>
          <p:spPr>
            <a:xfrm>
              <a:off x="10301286" y="6053137"/>
              <a:ext cx="1314450" cy="352425"/>
            </a:xfrm>
            <a:custGeom>
              <a:avLst/>
              <a:gdLst/>
              <a:ahLst/>
              <a:cxnLst/>
              <a:rect l="l" t="t" r="r" b="b"/>
              <a:pathLst>
                <a:path w="1314450" h="352425">
                  <a:moveTo>
                    <a:pt x="1285531" y="352424"/>
                  </a:moveTo>
                  <a:lnTo>
                    <a:pt x="28915" y="352424"/>
                  </a:lnTo>
                  <a:lnTo>
                    <a:pt x="24662" y="351578"/>
                  </a:lnTo>
                  <a:lnTo>
                    <a:pt x="0" y="323507"/>
                  </a:lnTo>
                  <a:lnTo>
                    <a:pt x="0" y="319087"/>
                  </a:lnTo>
                  <a:lnTo>
                    <a:pt x="0" y="28916"/>
                  </a:lnTo>
                  <a:lnTo>
                    <a:pt x="28915" y="0"/>
                  </a:lnTo>
                  <a:lnTo>
                    <a:pt x="1285531" y="0"/>
                  </a:lnTo>
                  <a:lnTo>
                    <a:pt x="1314448" y="28916"/>
                  </a:lnTo>
                  <a:lnTo>
                    <a:pt x="1314448" y="323507"/>
                  </a:lnTo>
                  <a:lnTo>
                    <a:pt x="1289783" y="351578"/>
                  </a:lnTo>
                  <a:lnTo>
                    <a:pt x="1285531" y="352424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301286" y="6053137"/>
              <a:ext cx="1314450" cy="352425"/>
            </a:xfrm>
            <a:custGeom>
              <a:avLst/>
              <a:gdLst/>
              <a:ahLst/>
              <a:cxnLst/>
              <a:rect l="l" t="t" r="r" b="b"/>
              <a:pathLst>
                <a:path w="1314450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6" y="12889"/>
                  </a:lnTo>
                  <a:lnTo>
                    <a:pt x="9763" y="9763"/>
                  </a:lnTo>
                  <a:lnTo>
                    <a:pt x="12889" y="6637"/>
                  </a:lnTo>
                  <a:lnTo>
                    <a:pt x="16494" y="4229"/>
                  </a:lnTo>
                  <a:lnTo>
                    <a:pt x="20578" y="2537"/>
                  </a:lnTo>
                  <a:lnTo>
                    <a:pt x="24663" y="845"/>
                  </a:lnTo>
                  <a:lnTo>
                    <a:pt x="28915" y="0"/>
                  </a:lnTo>
                  <a:lnTo>
                    <a:pt x="33337" y="0"/>
                  </a:lnTo>
                  <a:lnTo>
                    <a:pt x="1281112" y="0"/>
                  </a:lnTo>
                  <a:lnTo>
                    <a:pt x="1285531" y="0"/>
                  </a:lnTo>
                  <a:lnTo>
                    <a:pt x="1289783" y="845"/>
                  </a:lnTo>
                  <a:lnTo>
                    <a:pt x="1314449" y="33337"/>
                  </a:lnTo>
                  <a:lnTo>
                    <a:pt x="1314449" y="319087"/>
                  </a:lnTo>
                  <a:lnTo>
                    <a:pt x="1289783" y="351578"/>
                  </a:lnTo>
                  <a:lnTo>
                    <a:pt x="1281112" y="352424"/>
                  </a:lnTo>
                  <a:lnTo>
                    <a:pt x="33337" y="352424"/>
                  </a:lnTo>
                  <a:lnTo>
                    <a:pt x="9763" y="342660"/>
                  </a:lnTo>
                  <a:lnTo>
                    <a:pt x="6636" y="339534"/>
                  </a:lnTo>
                  <a:lnTo>
                    <a:pt x="4228" y="335928"/>
                  </a:lnTo>
                  <a:lnTo>
                    <a:pt x="2537" y="331844"/>
                  </a:lnTo>
                  <a:lnTo>
                    <a:pt x="845" y="327760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33D3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0379074" y="6119816"/>
            <a:ext cx="115887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35" b="1">
                <a:latin typeface="Arial"/>
                <a:cs typeface="Arial"/>
              </a:rPr>
              <a:t>RL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Control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Action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0" y="6381749"/>
            <a:ext cx="12192000" cy="504825"/>
            <a:chOff x="0" y="6381749"/>
            <a:chExt cx="12192000" cy="504825"/>
          </a:xfrm>
        </p:grpSpPr>
        <p:sp>
          <p:nvSpPr>
            <p:cNvPr id="55" name="object 55" descr=""/>
            <p:cNvSpPr/>
            <p:nvPr/>
          </p:nvSpPr>
          <p:spPr>
            <a:xfrm>
              <a:off x="0" y="6600824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534649" y="6381749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48949" y="6476999"/>
              <a:ext cx="133349" cy="133349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6588422" y="6262897"/>
            <a:ext cx="79629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1100" spc="-30" b="1">
                <a:latin typeface="Arial"/>
                <a:cs typeface="Arial"/>
              </a:rPr>
              <a:t>Disturbance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9" name="object 5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11425">
              <a:lnSpc>
                <a:spcPts val="1180"/>
              </a:lnSpc>
            </a:pPr>
            <a:fld id="{81D60167-4931-47E6-BA6A-407CBD079E47}" type="slidenum">
              <a:rPr dirty="0"/>
              <a:t>6</a:t>
            </a:fld>
            <a:r>
              <a:rPr dirty="0" spc="-40"/>
              <a:t> </a:t>
            </a:r>
            <a:r>
              <a:rPr dirty="0"/>
              <a:t>/</a:t>
            </a:r>
            <a:r>
              <a:rPr dirty="0" spc="-40"/>
              <a:t> </a:t>
            </a:r>
            <a:r>
              <a:rPr dirty="0" spc="-35"/>
              <a:t>10</a:t>
            </a:r>
          </a:p>
          <a:p>
            <a:pPr marL="2111375">
              <a:lnSpc>
                <a:spcPts val="1100"/>
              </a:lnSpc>
            </a:pPr>
            <a:r>
              <a:rPr dirty="0" sz="950" spc="-40">
                <a:solidFill>
                  <a:srgbClr val="FFFFFF"/>
                </a:solidFill>
              </a:rPr>
              <a:t>Made</a:t>
            </a:r>
            <a:r>
              <a:rPr dirty="0" sz="950" spc="-20">
                <a:solidFill>
                  <a:srgbClr val="FFFFFF"/>
                </a:solidFill>
              </a:rPr>
              <a:t> with</a:t>
            </a:r>
            <a:r>
              <a:rPr dirty="0" sz="950" spc="-15">
                <a:solidFill>
                  <a:srgbClr val="FFFFFF"/>
                </a:solidFill>
              </a:rPr>
              <a:t> </a:t>
            </a:r>
            <a:r>
              <a:rPr dirty="0" sz="950" spc="-10">
                <a:solidFill>
                  <a:srgbClr val="FFFFFF"/>
                </a:solidFill>
              </a:rPr>
              <a:t>Genspark</a:t>
            </a:r>
            <a:endParaRPr sz="950"/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00" spc="-35">
                <a:solidFill>
                  <a:srgbClr val="FFFFFF"/>
                </a:solidFill>
              </a:rPr>
              <a:t>Advanced</a:t>
            </a:r>
            <a:r>
              <a:rPr dirty="0" sz="1100" spc="-15">
                <a:solidFill>
                  <a:srgbClr val="FFFFFF"/>
                </a:solidFill>
              </a:rPr>
              <a:t> </a:t>
            </a:r>
            <a:r>
              <a:rPr dirty="0" sz="1100" spc="-45">
                <a:solidFill>
                  <a:srgbClr val="FFFFFF"/>
                </a:solidFill>
              </a:rPr>
              <a:t>FACTS</a:t>
            </a:r>
            <a:r>
              <a:rPr dirty="0" sz="1100" spc="-10">
                <a:solidFill>
                  <a:srgbClr val="FFFFFF"/>
                </a:solidFill>
              </a:rPr>
              <a:t> </a:t>
            </a:r>
            <a:r>
              <a:rPr dirty="0" sz="1100" spc="-30">
                <a:solidFill>
                  <a:srgbClr val="FFFFFF"/>
                </a:solidFill>
              </a:rPr>
              <a:t>Control</a:t>
            </a:r>
            <a:r>
              <a:rPr dirty="0" sz="1100" spc="-10">
                <a:solidFill>
                  <a:srgbClr val="FFFFFF"/>
                </a:solidFill>
              </a:rPr>
              <a:t> </a:t>
            </a:r>
            <a:r>
              <a:rPr dirty="0" sz="1100" spc="-20">
                <a:solidFill>
                  <a:srgbClr val="FFFFFF"/>
                </a:solidFill>
              </a:rPr>
              <a:t>with</a:t>
            </a:r>
            <a:r>
              <a:rPr dirty="0" sz="1100" spc="-15">
                <a:solidFill>
                  <a:srgbClr val="FFFFFF"/>
                </a:solidFill>
              </a:rPr>
              <a:t> </a:t>
            </a:r>
            <a:r>
              <a:rPr dirty="0" sz="1100" spc="-35">
                <a:solidFill>
                  <a:srgbClr val="FFFFFF"/>
                </a:solidFill>
              </a:rPr>
              <a:t>Reinforcement</a:t>
            </a:r>
            <a:r>
              <a:rPr dirty="0" sz="1100" spc="-10">
                <a:solidFill>
                  <a:srgbClr val="FFFFFF"/>
                </a:solidFill>
              </a:rPr>
              <a:t> Learning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Advanced</a:t>
            </a:r>
            <a:r>
              <a:rPr dirty="0" spc="-15"/>
              <a:t> </a:t>
            </a:r>
            <a:r>
              <a:rPr dirty="0" spc="-140"/>
              <a:t>FACTS</a:t>
            </a:r>
            <a:r>
              <a:rPr dirty="0" spc="-15"/>
              <a:t> </a:t>
            </a:r>
            <a:r>
              <a:rPr dirty="0" spc="-90"/>
              <a:t>Control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20"/>
              <a:t> </a:t>
            </a:r>
            <a:r>
              <a:rPr dirty="0" spc="-95"/>
              <a:t>Reinforcement</a:t>
            </a:r>
            <a:r>
              <a:rPr dirty="0" spc="-15"/>
              <a:t> </a:t>
            </a:r>
            <a:r>
              <a:rPr dirty="0" spc="-35"/>
              <a:t>Learning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499" y="4248149"/>
            <a:ext cx="5143500" cy="800100"/>
            <a:chOff x="571499" y="4248149"/>
            <a:chExt cx="5143500" cy="800100"/>
          </a:xfrm>
        </p:grpSpPr>
        <p:sp>
          <p:nvSpPr>
            <p:cNvPr id="4" name="object 4" descr=""/>
            <p:cNvSpPr/>
            <p:nvPr/>
          </p:nvSpPr>
          <p:spPr>
            <a:xfrm>
              <a:off x="590549" y="4248149"/>
              <a:ext cx="5124450" cy="800100"/>
            </a:xfrm>
            <a:custGeom>
              <a:avLst/>
              <a:gdLst/>
              <a:ahLst/>
              <a:cxnLst/>
              <a:rect l="l" t="t" r="r" b="b"/>
              <a:pathLst>
                <a:path w="5124450" h="800100">
                  <a:moveTo>
                    <a:pt x="5091401" y="800099"/>
                  </a:moveTo>
                  <a:lnTo>
                    <a:pt x="16523" y="800099"/>
                  </a:lnTo>
                  <a:lnTo>
                    <a:pt x="14093" y="799132"/>
                  </a:lnTo>
                  <a:lnTo>
                    <a:pt x="0" y="767051"/>
                  </a:lnTo>
                  <a:lnTo>
                    <a:pt x="0" y="7619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5091401" y="0"/>
                  </a:lnTo>
                  <a:lnTo>
                    <a:pt x="5123482" y="28186"/>
                  </a:lnTo>
                  <a:lnTo>
                    <a:pt x="5124449" y="33047"/>
                  </a:lnTo>
                  <a:lnTo>
                    <a:pt x="5124449" y="767051"/>
                  </a:lnTo>
                  <a:lnTo>
                    <a:pt x="5096261" y="799132"/>
                  </a:lnTo>
                  <a:lnTo>
                    <a:pt x="5091401" y="800099"/>
                  </a:lnTo>
                  <a:close/>
                </a:path>
              </a:pathLst>
            </a:custGeom>
            <a:solidFill>
              <a:srgbClr val="EC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1499" y="4248149"/>
              <a:ext cx="38100" cy="800100"/>
            </a:xfrm>
            <a:custGeom>
              <a:avLst/>
              <a:gdLst/>
              <a:ahLst/>
              <a:cxnLst/>
              <a:rect l="l" t="t" r="r" b="b"/>
              <a:pathLst>
                <a:path w="38100" h="800100">
                  <a:moveTo>
                    <a:pt x="38099" y="800099"/>
                  </a:moveTo>
                  <a:lnTo>
                    <a:pt x="2789" y="776625"/>
                  </a:lnTo>
                  <a:lnTo>
                    <a:pt x="0" y="7619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80009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571499" y="5162549"/>
            <a:ext cx="5143500" cy="990600"/>
            <a:chOff x="571499" y="5162549"/>
            <a:chExt cx="5143500" cy="990600"/>
          </a:xfrm>
        </p:grpSpPr>
        <p:sp>
          <p:nvSpPr>
            <p:cNvPr id="7" name="object 7" descr=""/>
            <p:cNvSpPr/>
            <p:nvPr/>
          </p:nvSpPr>
          <p:spPr>
            <a:xfrm>
              <a:off x="590549" y="5162549"/>
              <a:ext cx="5124450" cy="990600"/>
            </a:xfrm>
            <a:custGeom>
              <a:avLst/>
              <a:gdLst/>
              <a:ahLst/>
              <a:cxnLst/>
              <a:rect l="l" t="t" r="r" b="b"/>
              <a:pathLst>
                <a:path w="5124450" h="990600">
                  <a:moveTo>
                    <a:pt x="5091401" y="990599"/>
                  </a:moveTo>
                  <a:lnTo>
                    <a:pt x="16523" y="990599"/>
                  </a:lnTo>
                  <a:lnTo>
                    <a:pt x="14093" y="989632"/>
                  </a:lnTo>
                  <a:lnTo>
                    <a:pt x="0" y="957551"/>
                  </a:lnTo>
                  <a:lnTo>
                    <a:pt x="0" y="9524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5091401" y="0"/>
                  </a:lnTo>
                  <a:lnTo>
                    <a:pt x="5123482" y="28186"/>
                  </a:lnTo>
                  <a:lnTo>
                    <a:pt x="5124449" y="33047"/>
                  </a:lnTo>
                  <a:lnTo>
                    <a:pt x="5124449" y="957551"/>
                  </a:lnTo>
                  <a:lnTo>
                    <a:pt x="5096261" y="989632"/>
                  </a:lnTo>
                  <a:lnTo>
                    <a:pt x="5091401" y="990599"/>
                  </a:lnTo>
                  <a:close/>
                </a:path>
              </a:pathLst>
            </a:custGeom>
            <a:solidFill>
              <a:srgbClr val="EC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1499" y="5162549"/>
              <a:ext cx="38100" cy="990600"/>
            </a:xfrm>
            <a:custGeom>
              <a:avLst/>
              <a:gdLst/>
              <a:ahLst/>
              <a:cxnLst/>
              <a:rect l="l" t="t" r="r" b="b"/>
              <a:pathLst>
                <a:path w="38100" h="990600">
                  <a:moveTo>
                    <a:pt x="38099" y="990599"/>
                  </a:moveTo>
                  <a:lnTo>
                    <a:pt x="2789" y="967125"/>
                  </a:lnTo>
                  <a:lnTo>
                    <a:pt x="0" y="9524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99059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571499" y="6267449"/>
            <a:ext cx="5143500" cy="990600"/>
            <a:chOff x="571499" y="6267449"/>
            <a:chExt cx="5143500" cy="990600"/>
          </a:xfrm>
        </p:grpSpPr>
        <p:sp>
          <p:nvSpPr>
            <p:cNvPr id="10" name="object 10" descr=""/>
            <p:cNvSpPr/>
            <p:nvPr/>
          </p:nvSpPr>
          <p:spPr>
            <a:xfrm>
              <a:off x="590549" y="6267449"/>
              <a:ext cx="5124450" cy="990600"/>
            </a:xfrm>
            <a:custGeom>
              <a:avLst/>
              <a:gdLst/>
              <a:ahLst/>
              <a:cxnLst/>
              <a:rect l="l" t="t" r="r" b="b"/>
              <a:pathLst>
                <a:path w="5124450" h="990600">
                  <a:moveTo>
                    <a:pt x="5091401" y="990599"/>
                  </a:moveTo>
                  <a:lnTo>
                    <a:pt x="16523" y="990599"/>
                  </a:lnTo>
                  <a:lnTo>
                    <a:pt x="14093" y="989632"/>
                  </a:lnTo>
                  <a:lnTo>
                    <a:pt x="0" y="957551"/>
                  </a:lnTo>
                  <a:lnTo>
                    <a:pt x="0" y="952499"/>
                  </a:lnTo>
                  <a:lnTo>
                    <a:pt x="0" y="33046"/>
                  </a:lnTo>
                  <a:lnTo>
                    <a:pt x="16523" y="0"/>
                  </a:lnTo>
                  <a:lnTo>
                    <a:pt x="5091401" y="0"/>
                  </a:lnTo>
                  <a:lnTo>
                    <a:pt x="5123482" y="28186"/>
                  </a:lnTo>
                  <a:lnTo>
                    <a:pt x="5124449" y="33046"/>
                  </a:lnTo>
                  <a:lnTo>
                    <a:pt x="5124449" y="957551"/>
                  </a:lnTo>
                  <a:lnTo>
                    <a:pt x="5096261" y="989632"/>
                  </a:lnTo>
                  <a:lnTo>
                    <a:pt x="5091401" y="990599"/>
                  </a:lnTo>
                  <a:close/>
                </a:path>
              </a:pathLst>
            </a:custGeom>
            <a:solidFill>
              <a:srgbClr val="EC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1499" y="6267449"/>
              <a:ext cx="38100" cy="990600"/>
            </a:xfrm>
            <a:custGeom>
              <a:avLst/>
              <a:gdLst/>
              <a:ahLst/>
              <a:cxnLst/>
              <a:rect l="l" t="t" r="r" b="b"/>
              <a:pathLst>
                <a:path w="38100" h="990600">
                  <a:moveTo>
                    <a:pt x="38099" y="990599"/>
                  </a:moveTo>
                  <a:lnTo>
                    <a:pt x="2789" y="967125"/>
                  </a:lnTo>
                  <a:lnTo>
                    <a:pt x="0" y="9524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99059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58800" y="1063636"/>
            <a:ext cx="4522470" cy="852169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625"/>
              </a:spcBef>
            </a:pPr>
            <a:r>
              <a:rPr dirty="0" sz="2900" spc="-120" b="1">
                <a:solidFill>
                  <a:srgbClr val="1D40AF"/>
                </a:solidFill>
                <a:latin typeface="Arial"/>
                <a:cs typeface="Arial"/>
              </a:rPr>
              <a:t>System</a:t>
            </a:r>
            <a:r>
              <a:rPr dirty="0" sz="2900" spc="-7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14" b="1">
                <a:solidFill>
                  <a:srgbClr val="1D40AF"/>
                </a:solidFill>
                <a:latin typeface="Arial"/>
                <a:cs typeface="Arial"/>
              </a:rPr>
              <a:t>Model</a:t>
            </a:r>
            <a:r>
              <a:rPr dirty="0" sz="2900" spc="-6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50" b="1">
                <a:solidFill>
                  <a:srgbClr val="1D40AF"/>
                </a:solidFill>
                <a:latin typeface="Arial"/>
                <a:cs typeface="Arial"/>
              </a:rPr>
              <a:t>&amp;</a:t>
            </a:r>
            <a:r>
              <a:rPr dirty="0" sz="2900" spc="-6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05" b="1">
                <a:solidFill>
                  <a:srgbClr val="1D40AF"/>
                </a:solidFill>
                <a:latin typeface="Arial"/>
                <a:cs typeface="Arial"/>
              </a:rPr>
              <a:t>Simulation </a:t>
            </a:r>
            <a:r>
              <a:rPr dirty="0" sz="2900" spc="-10" b="1">
                <a:solidFill>
                  <a:srgbClr val="1D40AF"/>
                </a:solidFill>
                <a:latin typeface="Arial"/>
                <a:cs typeface="Arial"/>
              </a:rPr>
              <a:t>Setup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37196"/>
            <a:ext cx="235743" cy="18335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65993" y="2232976"/>
            <a:ext cx="454469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IEEE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14-bus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 b="1">
                <a:solidFill>
                  <a:srgbClr val="2D3748"/>
                </a:solidFill>
                <a:latin typeface="Arial"/>
                <a:cs typeface="Arial"/>
              </a:rPr>
              <a:t>test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 system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-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standard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benchmark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with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generators,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loads,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and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transmission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lines.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162299"/>
            <a:ext cx="157162" cy="210573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887412" y="3094044"/>
            <a:ext cx="4800600" cy="87884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85"/>
              </a:spcBef>
            </a:pP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Strategic</a:t>
            </a:r>
            <a:r>
              <a:rPr dirty="0" sz="1750" spc="-6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placement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0" b="1">
                <a:solidFill>
                  <a:srgbClr val="2D3748"/>
                </a:solidFill>
                <a:latin typeface="Arial"/>
                <a:cs typeface="Arial"/>
              </a:rPr>
              <a:t>of</a:t>
            </a:r>
            <a:r>
              <a:rPr dirty="0" sz="1750" spc="-4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0" b="1">
                <a:solidFill>
                  <a:srgbClr val="2D3748"/>
                </a:solidFill>
                <a:latin typeface="Arial"/>
                <a:cs typeface="Arial"/>
              </a:rPr>
              <a:t>FACTS</a:t>
            </a:r>
            <a:r>
              <a:rPr dirty="0" sz="1750" spc="-3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devices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at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buses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4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(SVC),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7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0">
                <a:solidFill>
                  <a:srgbClr val="2D3748"/>
                </a:solidFill>
                <a:latin typeface="Arial"/>
                <a:cs typeface="Arial"/>
              </a:rPr>
              <a:t>(STATCOM),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D3748"/>
                </a:solidFill>
                <a:latin typeface="Arial"/>
                <a:cs typeface="Arial"/>
              </a:rPr>
              <a:t>9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(UPFC),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2D3748"/>
                </a:solidFill>
                <a:latin typeface="Arial"/>
                <a:cs typeface="Arial"/>
              </a:rPr>
              <a:t>line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6-</a:t>
            </a:r>
            <a:r>
              <a:rPr dirty="0" sz="1750" spc="-25">
                <a:solidFill>
                  <a:srgbClr val="2D3748"/>
                </a:solidFill>
                <a:latin typeface="Arial"/>
                <a:cs typeface="Arial"/>
              </a:rPr>
              <a:t>11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(SSSC).</a:t>
            </a:r>
            <a:endParaRPr sz="17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11199" y="4228282"/>
            <a:ext cx="4708525" cy="73787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300" spc="-70" b="1">
                <a:solidFill>
                  <a:srgbClr val="0C4A86"/>
                </a:solidFill>
                <a:latin typeface="Arial"/>
                <a:cs typeface="Arial"/>
              </a:rPr>
              <a:t>Reward</a:t>
            </a:r>
            <a:r>
              <a:rPr dirty="0" sz="1300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C4A86"/>
                </a:solidFill>
                <a:latin typeface="Arial"/>
                <a:cs typeface="Arial"/>
              </a:rPr>
              <a:t>Structure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13599"/>
              </a:lnSpc>
              <a:spcBef>
                <a:spcPts val="409"/>
              </a:spcBef>
            </a:pPr>
            <a:r>
              <a:rPr dirty="0" sz="1100">
                <a:latin typeface="Arial"/>
                <a:cs typeface="Arial"/>
              </a:rPr>
              <a:t>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=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</a:t>
            </a:r>
            <a:r>
              <a:rPr dirty="0" sz="1000" spc="-10">
                <a:latin typeface="Calibri"/>
                <a:cs typeface="Calibri"/>
              </a:rPr>
              <a:t>₁</a:t>
            </a:r>
            <a:r>
              <a:rPr dirty="0" sz="1100" spc="-10">
                <a:latin typeface="Arial"/>
                <a:cs typeface="Arial"/>
              </a:rPr>
              <a:t>(voltage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deviation)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+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w</a:t>
            </a:r>
            <a:r>
              <a:rPr dirty="0" sz="1000" spc="-20">
                <a:latin typeface="Calibri"/>
                <a:cs typeface="Calibri"/>
              </a:rPr>
              <a:t>₂</a:t>
            </a:r>
            <a:r>
              <a:rPr dirty="0" sz="1100" spc="-20">
                <a:latin typeface="Arial"/>
                <a:cs typeface="Arial"/>
              </a:rPr>
              <a:t>(power</a:t>
            </a:r>
            <a:r>
              <a:rPr dirty="0" sz="1100" spc="-25">
                <a:latin typeface="Arial"/>
                <a:cs typeface="Arial"/>
              </a:rPr>
              <a:t> losses) </a:t>
            </a:r>
            <a:r>
              <a:rPr dirty="0" sz="1100">
                <a:latin typeface="Arial"/>
                <a:cs typeface="Arial"/>
              </a:rPr>
              <a:t>+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w</a:t>
            </a:r>
            <a:r>
              <a:rPr dirty="0" sz="1000" spc="-20">
                <a:latin typeface="Calibri"/>
                <a:cs typeface="Calibri"/>
              </a:rPr>
              <a:t>₃</a:t>
            </a:r>
            <a:r>
              <a:rPr dirty="0" sz="1100" spc="-20">
                <a:latin typeface="Arial"/>
                <a:cs typeface="Arial"/>
              </a:rPr>
              <a:t>(stability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margin)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+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</a:t>
            </a:r>
            <a:r>
              <a:rPr dirty="0" sz="1000" spc="-10">
                <a:latin typeface="Calibri"/>
                <a:cs typeface="Calibri"/>
              </a:rPr>
              <a:t>₄</a:t>
            </a:r>
            <a:r>
              <a:rPr dirty="0" sz="1100" spc="-10">
                <a:latin typeface="Arial"/>
                <a:cs typeface="Arial"/>
              </a:rPr>
              <a:t>(control effort)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11199" y="5142682"/>
            <a:ext cx="2303780" cy="928369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300" spc="-60" b="1">
                <a:solidFill>
                  <a:srgbClr val="0C4A86"/>
                </a:solidFill>
                <a:latin typeface="Arial"/>
                <a:cs typeface="Arial"/>
              </a:rPr>
              <a:t>Disturbance</a:t>
            </a:r>
            <a:r>
              <a:rPr dirty="0" sz="1300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C4A86"/>
                </a:solidFill>
                <a:latin typeface="Arial"/>
                <a:cs typeface="Arial"/>
              </a:rPr>
              <a:t>Scenarios</a:t>
            </a:r>
            <a:endParaRPr sz="1300">
              <a:latin typeface="Arial"/>
              <a:cs typeface="Arial"/>
            </a:endParaRPr>
          </a:p>
          <a:p>
            <a:pPr marL="97155" indent="-84455">
              <a:lnSpc>
                <a:spcPct val="100000"/>
              </a:lnSpc>
              <a:spcBef>
                <a:spcPts val="590"/>
              </a:spcBef>
              <a:buSzPct val="86363"/>
              <a:buChar char="•"/>
              <a:tabLst>
                <a:tab pos="97155" algn="l"/>
              </a:tabLst>
            </a:pPr>
            <a:r>
              <a:rPr dirty="0" sz="1100" spc="-40">
                <a:latin typeface="Arial"/>
                <a:cs typeface="Arial"/>
              </a:rPr>
              <a:t>20%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load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increase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buses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9,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10,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14</a:t>
            </a:r>
            <a:endParaRPr sz="1100">
              <a:latin typeface="Arial"/>
              <a:cs typeface="Arial"/>
            </a:endParaRPr>
          </a:p>
          <a:p>
            <a:pPr marL="97155" indent="-84455">
              <a:lnSpc>
                <a:spcPct val="100000"/>
              </a:lnSpc>
              <a:spcBef>
                <a:spcPts val="180"/>
              </a:spcBef>
              <a:buSzPct val="86363"/>
              <a:buChar char="•"/>
              <a:tabLst>
                <a:tab pos="97155" algn="l"/>
              </a:tabLst>
            </a:pPr>
            <a:r>
              <a:rPr dirty="0" sz="1100" spc="-25">
                <a:latin typeface="Arial"/>
                <a:cs typeface="Arial"/>
              </a:rPr>
              <a:t>Line</a:t>
            </a:r>
            <a:r>
              <a:rPr dirty="0" sz="1100" spc="-30">
                <a:latin typeface="Arial"/>
                <a:cs typeface="Arial"/>
              </a:rPr>
              <a:t> outage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between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buses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2-</a:t>
            </a:r>
            <a:r>
              <a:rPr dirty="0" sz="1100" spc="-50"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  <a:p>
            <a:pPr marL="97155" indent="-84455">
              <a:lnSpc>
                <a:spcPct val="100000"/>
              </a:lnSpc>
              <a:spcBef>
                <a:spcPts val="180"/>
              </a:spcBef>
              <a:buSzPct val="86363"/>
              <a:buChar char="•"/>
              <a:tabLst>
                <a:tab pos="97155" algn="l"/>
              </a:tabLst>
            </a:pPr>
            <a:r>
              <a:rPr dirty="0" sz="1100" spc="-30">
                <a:latin typeface="Arial"/>
                <a:cs typeface="Arial"/>
              </a:rPr>
              <a:t>Generator</a:t>
            </a:r>
            <a:r>
              <a:rPr dirty="0" sz="1100" spc="-25">
                <a:latin typeface="Arial"/>
                <a:cs typeface="Arial"/>
              </a:rPr>
              <a:t> output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fluctuation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30">
                <a:latin typeface="Arial"/>
                <a:cs typeface="Arial"/>
              </a:rPr>
              <a:t>bus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5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11199" y="6247582"/>
            <a:ext cx="1695450" cy="928369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300" spc="-65" b="1">
                <a:solidFill>
                  <a:srgbClr val="0C4A86"/>
                </a:solidFill>
                <a:latin typeface="Arial"/>
                <a:cs typeface="Arial"/>
              </a:rPr>
              <a:t>Training</a:t>
            </a:r>
            <a:r>
              <a:rPr dirty="0" sz="1300" spc="-30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C4A86"/>
                </a:solidFill>
                <a:latin typeface="Arial"/>
                <a:cs typeface="Arial"/>
              </a:rPr>
              <a:t>Parameters</a:t>
            </a:r>
            <a:endParaRPr sz="1300">
              <a:latin typeface="Arial"/>
              <a:cs typeface="Arial"/>
            </a:endParaRPr>
          </a:p>
          <a:p>
            <a:pPr marL="97155" indent="-84455">
              <a:lnSpc>
                <a:spcPct val="100000"/>
              </a:lnSpc>
              <a:spcBef>
                <a:spcPts val="590"/>
              </a:spcBef>
              <a:buSzPct val="86363"/>
              <a:buChar char="•"/>
              <a:tabLst>
                <a:tab pos="97155" algn="l"/>
              </a:tabLst>
            </a:pPr>
            <a:r>
              <a:rPr dirty="0" sz="1100" spc="-30">
                <a:latin typeface="Arial"/>
                <a:cs typeface="Arial"/>
              </a:rPr>
              <a:t>Episodes: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200</a:t>
            </a:r>
            <a:endParaRPr sz="1100">
              <a:latin typeface="Arial"/>
              <a:cs typeface="Arial"/>
            </a:endParaRPr>
          </a:p>
          <a:p>
            <a:pPr marL="97155" indent="-84455">
              <a:lnSpc>
                <a:spcPct val="100000"/>
              </a:lnSpc>
              <a:spcBef>
                <a:spcPts val="180"/>
              </a:spcBef>
              <a:buSzPct val="86363"/>
              <a:buChar char="•"/>
              <a:tabLst>
                <a:tab pos="97155" algn="l"/>
              </a:tabLst>
            </a:pPr>
            <a:r>
              <a:rPr dirty="0" sz="1100" spc="-30">
                <a:latin typeface="Arial"/>
                <a:cs typeface="Arial"/>
              </a:rPr>
              <a:t>Exploration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rate: 0.9 </a:t>
            </a:r>
            <a:r>
              <a:rPr dirty="0" sz="950" spc="95">
                <a:latin typeface="Arial"/>
                <a:cs typeface="Arial"/>
              </a:rPr>
              <a:t>→</a:t>
            </a:r>
            <a:r>
              <a:rPr dirty="0" sz="950" spc="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0.1</a:t>
            </a:r>
            <a:endParaRPr sz="1100">
              <a:latin typeface="Arial"/>
              <a:cs typeface="Arial"/>
            </a:endParaRPr>
          </a:p>
          <a:p>
            <a:pPr marL="97155" indent="-84455">
              <a:lnSpc>
                <a:spcPct val="100000"/>
              </a:lnSpc>
              <a:spcBef>
                <a:spcPts val="180"/>
              </a:spcBef>
              <a:buSzPct val="86363"/>
              <a:buChar char="•"/>
              <a:tabLst>
                <a:tab pos="97155" algn="l"/>
              </a:tabLst>
            </a:pPr>
            <a:r>
              <a:rPr dirty="0" sz="1100" spc="-25">
                <a:latin typeface="Arial"/>
                <a:cs typeface="Arial"/>
              </a:rPr>
              <a:t>Batch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size: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64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9900" y="2185913"/>
            <a:ext cx="4157662" cy="3857625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7273776" y="2273231"/>
            <a:ext cx="1212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416776" y="2273231"/>
            <a:ext cx="1212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559776" y="2273231"/>
            <a:ext cx="1212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416776" y="3416231"/>
            <a:ext cx="1212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559776" y="3416231"/>
            <a:ext cx="1212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5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702775" y="3416231"/>
            <a:ext cx="1212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4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702775" y="4559231"/>
            <a:ext cx="1212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45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559776" y="4559231"/>
            <a:ext cx="1212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4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369151" y="4559231"/>
            <a:ext cx="21653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35" b="1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226151" y="4559231"/>
            <a:ext cx="21653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35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4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369151" y="5702231"/>
            <a:ext cx="21653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3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45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512151" y="5702231"/>
            <a:ext cx="21653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35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4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226151" y="5702231"/>
            <a:ext cx="21653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3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45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888906" y="3416231"/>
            <a:ext cx="50609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SVC</a:t>
            </a:r>
            <a:r>
              <a:rPr dirty="0" sz="1200" spc="2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1106149" y="3314625"/>
            <a:ext cx="457200" cy="457200"/>
            <a:chOff x="11106149" y="3314625"/>
            <a:chExt cx="457200" cy="457200"/>
          </a:xfrm>
        </p:grpSpPr>
        <p:sp>
          <p:nvSpPr>
            <p:cNvPr id="36" name="object 36" descr=""/>
            <p:cNvSpPr/>
            <p:nvPr/>
          </p:nvSpPr>
          <p:spPr>
            <a:xfrm>
              <a:off x="11120436" y="3328913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61878" y="428625"/>
                  </a:moveTo>
                  <a:lnTo>
                    <a:pt x="66746" y="428625"/>
                  </a:lnTo>
                  <a:lnTo>
                    <a:pt x="62101" y="428167"/>
                  </a:lnTo>
                  <a:lnTo>
                    <a:pt x="24240" y="411018"/>
                  </a:lnTo>
                  <a:lnTo>
                    <a:pt x="2287" y="375724"/>
                  </a:lnTo>
                  <a:lnTo>
                    <a:pt x="0" y="361878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71437" y="0"/>
                  </a:lnTo>
                  <a:lnTo>
                    <a:pt x="361878" y="0"/>
                  </a:lnTo>
                  <a:lnTo>
                    <a:pt x="400775" y="14645"/>
                  </a:lnTo>
                  <a:lnTo>
                    <a:pt x="424981" y="48432"/>
                  </a:lnTo>
                  <a:lnTo>
                    <a:pt x="428624" y="66746"/>
                  </a:lnTo>
                  <a:lnTo>
                    <a:pt x="428624" y="361878"/>
                  </a:lnTo>
                  <a:lnTo>
                    <a:pt x="413979" y="400775"/>
                  </a:lnTo>
                  <a:lnTo>
                    <a:pt x="380191" y="424982"/>
                  </a:lnTo>
                  <a:lnTo>
                    <a:pt x="361878" y="428625"/>
                  </a:lnTo>
                  <a:close/>
                </a:path>
              </a:pathLst>
            </a:custGeom>
            <a:solidFill>
              <a:srgbClr val="E4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120436" y="3328913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71437" y="0"/>
                  </a:moveTo>
                  <a:lnTo>
                    <a:pt x="357187" y="0"/>
                  </a:lnTo>
                  <a:lnTo>
                    <a:pt x="361878" y="0"/>
                  </a:lnTo>
                  <a:lnTo>
                    <a:pt x="366523" y="457"/>
                  </a:lnTo>
                  <a:lnTo>
                    <a:pt x="371123" y="1372"/>
                  </a:lnTo>
                  <a:lnTo>
                    <a:pt x="375724" y="2287"/>
                  </a:lnTo>
                  <a:lnTo>
                    <a:pt x="380191" y="3642"/>
                  </a:lnTo>
                  <a:lnTo>
                    <a:pt x="384525" y="5437"/>
                  </a:lnTo>
                  <a:lnTo>
                    <a:pt x="388859" y="7232"/>
                  </a:lnTo>
                  <a:lnTo>
                    <a:pt x="392975" y="9433"/>
                  </a:lnTo>
                  <a:lnTo>
                    <a:pt x="396875" y="12039"/>
                  </a:lnTo>
                  <a:lnTo>
                    <a:pt x="400775" y="14645"/>
                  </a:lnTo>
                  <a:lnTo>
                    <a:pt x="404384" y="17606"/>
                  </a:lnTo>
                  <a:lnTo>
                    <a:pt x="407701" y="20923"/>
                  </a:lnTo>
                  <a:lnTo>
                    <a:pt x="411018" y="24240"/>
                  </a:lnTo>
                  <a:lnTo>
                    <a:pt x="413979" y="27848"/>
                  </a:lnTo>
                  <a:lnTo>
                    <a:pt x="416584" y="31748"/>
                  </a:lnTo>
                  <a:lnTo>
                    <a:pt x="419191" y="35648"/>
                  </a:lnTo>
                  <a:lnTo>
                    <a:pt x="421391" y="39765"/>
                  </a:lnTo>
                  <a:lnTo>
                    <a:pt x="423186" y="44099"/>
                  </a:lnTo>
                  <a:lnTo>
                    <a:pt x="424981" y="48432"/>
                  </a:lnTo>
                  <a:lnTo>
                    <a:pt x="426336" y="52899"/>
                  </a:lnTo>
                  <a:lnTo>
                    <a:pt x="427251" y="57500"/>
                  </a:lnTo>
                  <a:lnTo>
                    <a:pt x="428167" y="62101"/>
                  </a:lnTo>
                  <a:lnTo>
                    <a:pt x="428624" y="66746"/>
                  </a:lnTo>
                  <a:lnTo>
                    <a:pt x="428625" y="71437"/>
                  </a:lnTo>
                  <a:lnTo>
                    <a:pt x="428625" y="357187"/>
                  </a:lnTo>
                  <a:lnTo>
                    <a:pt x="428624" y="361878"/>
                  </a:lnTo>
                  <a:lnTo>
                    <a:pt x="428167" y="366523"/>
                  </a:lnTo>
                  <a:lnTo>
                    <a:pt x="427251" y="371124"/>
                  </a:lnTo>
                  <a:lnTo>
                    <a:pt x="426336" y="375724"/>
                  </a:lnTo>
                  <a:lnTo>
                    <a:pt x="424981" y="380191"/>
                  </a:lnTo>
                  <a:lnTo>
                    <a:pt x="423186" y="384525"/>
                  </a:lnTo>
                  <a:lnTo>
                    <a:pt x="421391" y="388858"/>
                  </a:lnTo>
                  <a:lnTo>
                    <a:pt x="392975" y="419191"/>
                  </a:lnTo>
                  <a:lnTo>
                    <a:pt x="361878" y="428625"/>
                  </a:lnTo>
                  <a:lnTo>
                    <a:pt x="357187" y="428625"/>
                  </a:lnTo>
                  <a:lnTo>
                    <a:pt x="71437" y="428625"/>
                  </a:lnTo>
                  <a:lnTo>
                    <a:pt x="66746" y="428625"/>
                  </a:lnTo>
                  <a:lnTo>
                    <a:pt x="62101" y="428167"/>
                  </a:lnTo>
                  <a:lnTo>
                    <a:pt x="24240" y="411018"/>
                  </a:lnTo>
                  <a:lnTo>
                    <a:pt x="12039" y="396875"/>
                  </a:lnTo>
                  <a:lnTo>
                    <a:pt x="9433" y="392975"/>
                  </a:lnTo>
                  <a:lnTo>
                    <a:pt x="1372" y="371124"/>
                  </a:lnTo>
                  <a:lnTo>
                    <a:pt x="457" y="366523"/>
                  </a:lnTo>
                  <a:lnTo>
                    <a:pt x="0" y="361878"/>
                  </a:lnTo>
                  <a:lnTo>
                    <a:pt x="0" y="357187"/>
                  </a:ln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close/>
                </a:path>
              </a:pathLst>
            </a:custGeom>
            <a:ln w="28575">
              <a:solidFill>
                <a:srgbClr val="73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1146134" y="3447186"/>
            <a:ext cx="37782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85" b="1">
                <a:solidFill>
                  <a:srgbClr val="FFFFFF"/>
                </a:solidFill>
                <a:latin typeface="Arial"/>
                <a:cs typeface="Arial"/>
              </a:rPr>
              <a:t>STAT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9984531" y="4590186"/>
            <a:ext cx="41465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UPFC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412757" y="4232998"/>
            <a:ext cx="41465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SSSC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612572" y="6250547"/>
            <a:ext cx="4872355" cy="586105"/>
            <a:chOff x="6612572" y="6250547"/>
            <a:chExt cx="4872355" cy="586105"/>
          </a:xfrm>
        </p:grpSpPr>
        <p:sp>
          <p:nvSpPr>
            <p:cNvPr id="42" name="object 42" descr=""/>
            <p:cNvSpPr/>
            <p:nvPr/>
          </p:nvSpPr>
          <p:spPr>
            <a:xfrm>
              <a:off x="6619874" y="6257850"/>
              <a:ext cx="4857750" cy="571500"/>
            </a:xfrm>
            <a:custGeom>
              <a:avLst/>
              <a:gdLst/>
              <a:ahLst/>
              <a:cxnLst/>
              <a:rect l="l" t="t" r="r" b="b"/>
              <a:pathLst>
                <a:path w="4857750" h="571500">
                  <a:moveTo>
                    <a:pt x="4804351" y="571499"/>
                  </a:moveTo>
                  <a:lnTo>
                    <a:pt x="53397" y="571499"/>
                  </a:lnTo>
                  <a:lnTo>
                    <a:pt x="49681" y="571133"/>
                  </a:lnTo>
                  <a:lnTo>
                    <a:pt x="14085" y="552107"/>
                  </a:lnTo>
                  <a:lnTo>
                    <a:pt x="0" y="518102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57150" y="0"/>
                  </a:lnTo>
                  <a:lnTo>
                    <a:pt x="4804351" y="0"/>
                  </a:lnTo>
                  <a:lnTo>
                    <a:pt x="4843664" y="19392"/>
                  </a:lnTo>
                  <a:lnTo>
                    <a:pt x="4857750" y="53397"/>
                  </a:lnTo>
                  <a:lnTo>
                    <a:pt x="4857750" y="518102"/>
                  </a:lnTo>
                  <a:lnTo>
                    <a:pt x="4838358" y="557414"/>
                  </a:lnTo>
                  <a:lnTo>
                    <a:pt x="4808068" y="571133"/>
                  </a:lnTo>
                  <a:lnTo>
                    <a:pt x="4804351" y="571499"/>
                  </a:lnTo>
                  <a:close/>
                </a:path>
              </a:pathLst>
            </a:custGeom>
            <a:solidFill>
              <a:srgbClr val="F6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619874" y="6257850"/>
              <a:ext cx="4857750" cy="571500"/>
            </a:xfrm>
            <a:custGeom>
              <a:avLst/>
              <a:gdLst/>
              <a:ahLst/>
              <a:cxnLst/>
              <a:rect l="l" t="t" r="r" b="b"/>
              <a:pathLst>
                <a:path w="4857750" h="571500">
                  <a:moveTo>
                    <a:pt x="57150" y="0"/>
                  </a:moveTo>
                  <a:lnTo>
                    <a:pt x="4800600" y="0"/>
                  </a:lnTo>
                  <a:lnTo>
                    <a:pt x="4804351" y="0"/>
                  </a:lnTo>
                  <a:lnTo>
                    <a:pt x="4808068" y="366"/>
                  </a:lnTo>
                  <a:lnTo>
                    <a:pt x="4811748" y="1098"/>
                  </a:lnTo>
                  <a:lnTo>
                    <a:pt x="4815428" y="1830"/>
                  </a:lnTo>
                  <a:lnTo>
                    <a:pt x="4819003" y="2914"/>
                  </a:lnTo>
                  <a:lnTo>
                    <a:pt x="4822469" y="4350"/>
                  </a:lnTo>
                  <a:lnTo>
                    <a:pt x="4825937" y="5786"/>
                  </a:lnTo>
                  <a:lnTo>
                    <a:pt x="4829230" y="7546"/>
                  </a:lnTo>
                  <a:lnTo>
                    <a:pt x="4832350" y="9631"/>
                  </a:lnTo>
                  <a:lnTo>
                    <a:pt x="4835471" y="11716"/>
                  </a:lnTo>
                  <a:lnTo>
                    <a:pt x="4838358" y="14085"/>
                  </a:lnTo>
                  <a:lnTo>
                    <a:pt x="4841011" y="16738"/>
                  </a:lnTo>
                  <a:lnTo>
                    <a:pt x="4843664" y="19392"/>
                  </a:lnTo>
                  <a:lnTo>
                    <a:pt x="4846033" y="22279"/>
                  </a:lnTo>
                  <a:lnTo>
                    <a:pt x="4856651" y="46000"/>
                  </a:lnTo>
                  <a:lnTo>
                    <a:pt x="4857383" y="49681"/>
                  </a:lnTo>
                  <a:lnTo>
                    <a:pt x="4857750" y="53397"/>
                  </a:lnTo>
                  <a:lnTo>
                    <a:pt x="4857750" y="57150"/>
                  </a:lnTo>
                  <a:lnTo>
                    <a:pt x="4857750" y="514350"/>
                  </a:lnTo>
                  <a:lnTo>
                    <a:pt x="4857750" y="518102"/>
                  </a:lnTo>
                  <a:lnTo>
                    <a:pt x="4857383" y="521818"/>
                  </a:lnTo>
                  <a:lnTo>
                    <a:pt x="4856651" y="525499"/>
                  </a:lnTo>
                  <a:lnTo>
                    <a:pt x="4855919" y="529179"/>
                  </a:lnTo>
                  <a:lnTo>
                    <a:pt x="4832350" y="561868"/>
                  </a:lnTo>
                  <a:lnTo>
                    <a:pt x="4829230" y="563953"/>
                  </a:lnTo>
                  <a:lnTo>
                    <a:pt x="4825937" y="565713"/>
                  </a:lnTo>
                  <a:lnTo>
                    <a:pt x="4822469" y="567149"/>
                  </a:lnTo>
                  <a:lnTo>
                    <a:pt x="4819003" y="568585"/>
                  </a:lnTo>
                  <a:lnTo>
                    <a:pt x="4815428" y="569669"/>
                  </a:lnTo>
                  <a:lnTo>
                    <a:pt x="4811748" y="570401"/>
                  </a:lnTo>
                  <a:lnTo>
                    <a:pt x="4808068" y="571133"/>
                  </a:lnTo>
                  <a:lnTo>
                    <a:pt x="4804351" y="571499"/>
                  </a:lnTo>
                  <a:lnTo>
                    <a:pt x="4800600" y="571500"/>
                  </a:lnTo>
                  <a:lnTo>
                    <a:pt x="57150" y="571500"/>
                  </a:lnTo>
                  <a:lnTo>
                    <a:pt x="19392" y="557414"/>
                  </a:lnTo>
                  <a:lnTo>
                    <a:pt x="366" y="521818"/>
                  </a:lnTo>
                  <a:lnTo>
                    <a:pt x="0" y="518102"/>
                  </a:lnTo>
                  <a:lnTo>
                    <a:pt x="0" y="514350"/>
                  </a:lnTo>
                  <a:lnTo>
                    <a:pt x="0" y="57150"/>
                  </a:lnTo>
                  <a:lnTo>
                    <a:pt x="0" y="53397"/>
                  </a:lnTo>
                  <a:lnTo>
                    <a:pt x="366" y="49681"/>
                  </a:lnTo>
                  <a:lnTo>
                    <a:pt x="16738" y="16738"/>
                  </a:lnTo>
                  <a:lnTo>
                    <a:pt x="19392" y="14085"/>
                  </a:lnTo>
                  <a:lnTo>
                    <a:pt x="46000" y="1098"/>
                  </a:lnTo>
                  <a:lnTo>
                    <a:pt x="49681" y="366"/>
                  </a:lnTo>
                  <a:lnTo>
                    <a:pt x="53397" y="0"/>
                  </a:lnTo>
                  <a:lnTo>
                    <a:pt x="57150" y="0"/>
                  </a:lnTo>
                  <a:close/>
                </a:path>
              </a:pathLst>
            </a:custGeom>
            <a:ln w="14287">
              <a:solidFill>
                <a:srgbClr val="CBD5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1324" y="6429300"/>
              <a:ext cx="228600" cy="228599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7107237" y="6416606"/>
            <a:ext cx="321310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40">
                <a:latin typeface="Arial"/>
                <a:cs typeface="Arial"/>
              </a:rPr>
              <a:t>Bus</a:t>
            </a:r>
            <a:endParaRPr sz="1450">
              <a:latin typeface="Arial"/>
              <a:cs typeface="Arial"/>
            </a:endParaRPr>
          </a:p>
        </p:txBody>
      </p:sp>
      <p:pic>
        <p:nvPicPr>
          <p:cNvPr id="46" name="object 4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41417" y="6422156"/>
            <a:ext cx="242887" cy="242887"/>
          </a:xfrm>
          <a:prstGeom prst="rect">
            <a:avLst/>
          </a:prstGeom>
        </p:spPr>
      </p:pic>
      <p:sp>
        <p:nvSpPr>
          <p:cNvPr id="47" name="object 47" descr=""/>
          <p:cNvSpPr txBox="1"/>
          <p:nvPr/>
        </p:nvSpPr>
        <p:spPr>
          <a:xfrm>
            <a:off x="7893050" y="6416606"/>
            <a:ext cx="114998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90">
                <a:latin typeface="Arial"/>
                <a:cs typeface="Arial"/>
              </a:rPr>
              <a:t>FACTS</a:t>
            </a:r>
            <a:r>
              <a:rPr dirty="0" sz="1450" spc="10">
                <a:latin typeface="Arial"/>
                <a:cs typeface="Arial"/>
              </a:rPr>
              <a:t> </a:t>
            </a:r>
            <a:r>
              <a:rPr dirty="0" sz="1450" spc="-50">
                <a:latin typeface="Arial"/>
                <a:cs typeface="Arial"/>
              </a:rPr>
              <a:t>Device</a:t>
            </a:r>
            <a:endParaRPr sz="1450">
              <a:latin typeface="Arial"/>
              <a:cs typeface="Arial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8477250" y="6543600"/>
            <a:ext cx="571500" cy="0"/>
          </a:xfrm>
          <a:custGeom>
            <a:avLst/>
            <a:gdLst/>
            <a:ahLst/>
            <a:cxnLst/>
            <a:rect l="l" t="t" r="r" b="b"/>
            <a:pathLst>
              <a:path w="571500" h="0">
                <a:moveTo>
                  <a:pt x="0" y="0"/>
                </a:moveTo>
                <a:lnTo>
                  <a:pt x="571500" y="0"/>
                </a:lnTo>
              </a:path>
            </a:pathLst>
          </a:custGeom>
          <a:ln w="28575">
            <a:solidFill>
              <a:srgbClr val="0C4A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9321799" y="6416606"/>
            <a:ext cx="72453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60">
                <a:latin typeface="Arial"/>
                <a:cs typeface="Arial"/>
              </a:rPr>
              <a:t>Transmis</a:t>
            </a:r>
            <a:endParaRPr sz="145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0033024" y="6490803"/>
            <a:ext cx="219710" cy="160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60"/>
              </a:lnSpc>
            </a:pPr>
            <a:r>
              <a:rPr dirty="0" sz="1450" spc="-70">
                <a:latin typeface="Arial"/>
                <a:cs typeface="Arial"/>
              </a:rPr>
              <a:t>sio</a:t>
            </a:r>
            <a:endParaRPr sz="145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0239492" y="6416606"/>
            <a:ext cx="492759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>
                <a:latin typeface="Arial"/>
                <a:cs typeface="Arial"/>
              </a:rPr>
              <a:t>n</a:t>
            </a:r>
            <a:r>
              <a:rPr dirty="0" sz="1450" spc="-90">
                <a:latin typeface="Arial"/>
                <a:cs typeface="Arial"/>
              </a:rPr>
              <a:t> </a:t>
            </a:r>
            <a:r>
              <a:rPr dirty="0" sz="1450" spc="-45">
                <a:latin typeface="Arial"/>
                <a:cs typeface="Arial"/>
              </a:rPr>
              <a:t>Line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0041731" y="6422156"/>
            <a:ext cx="243204" cy="243204"/>
            <a:chOff x="10041731" y="6422156"/>
            <a:chExt cx="243204" cy="243204"/>
          </a:xfrm>
        </p:grpSpPr>
        <p:sp>
          <p:nvSpPr>
            <p:cNvPr id="53" name="object 53" descr=""/>
            <p:cNvSpPr/>
            <p:nvPr/>
          </p:nvSpPr>
          <p:spPr>
            <a:xfrm>
              <a:off x="10048875" y="64293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228600" y="0"/>
                  </a:lnTo>
                  <a:lnTo>
                    <a:pt x="228600" y="228600"/>
                  </a:lnTo>
                  <a:close/>
                </a:path>
              </a:pathLst>
            </a:custGeom>
            <a:solidFill>
              <a:srgbClr val="EC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048875" y="64293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11036299" y="6416606"/>
            <a:ext cx="597535" cy="248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latin typeface="Arial"/>
                <a:cs typeface="Arial"/>
              </a:rPr>
              <a:t>Simulat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0" y="7258050"/>
            <a:ext cx="12192000" cy="495300"/>
            <a:chOff x="0" y="7258050"/>
            <a:chExt cx="12192000" cy="495300"/>
          </a:xfrm>
        </p:grpSpPr>
        <p:sp>
          <p:nvSpPr>
            <p:cNvPr id="57" name="object 57" descr=""/>
            <p:cNvSpPr/>
            <p:nvPr/>
          </p:nvSpPr>
          <p:spPr>
            <a:xfrm>
              <a:off x="0" y="746759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534649" y="7258050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48949" y="7353299"/>
              <a:ext cx="133349" cy="133349"/>
            </a:xfrm>
            <a:prstGeom prst="rect">
              <a:avLst/>
            </a:prstGeom>
          </p:spPr>
        </p:pic>
      </p:grpSp>
      <p:sp>
        <p:nvSpPr>
          <p:cNvPr id="60" name="object 60" descr=""/>
          <p:cNvSpPr txBox="1"/>
          <p:nvPr/>
        </p:nvSpPr>
        <p:spPr>
          <a:xfrm>
            <a:off x="8727380" y="7182544"/>
            <a:ext cx="3286760" cy="506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11425">
              <a:lnSpc>
                <a:spcPts val="1220"/>
              </a:lnSpc>
            </a:pPr>
            <a:fld id="{81D60167-4931-47E6-BA6A-407CBD079E47}" type="slidenum">
              <a:rPr dirty="0" sz="1250">
                <a:solidFill>
                  <a:srgbClr val="708095"/>
                </a:solidFill>
                <a:latin typeface="Arial"/>
                <a:cs typeface="Arial"/>
              </a:rPr>
              <a:t>7</a:t>
            </a:fld>
            <a:r>
              <a:rPr dirty="0" sz="1250" spc="-4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08095"/>
                </a:solidFill>
                <a:latin typeface="Arial"/>
                <a:cs typeface="Arial"/>
              </a:rPr>
              <a:t>/</a:t>
            </a:r>
            <a:r>
              <a:rPr dirty="0" sz="1250" spc="-4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708095"/>
                </a:solidFill>
                <a:latin typeface="Arial"/>
                <a:cs typeface="Arial"/>
              </a:rPr>
              <a:t>10</a:t>
            </a:r>
            <a:endParaRPr sz="1250">
              <a:latin typeface="Arial"/>
              <a:cs typeface="Arial"/>
            </a:endParaRPr>
          </a:p>
          <a:p>
            <a:pPr marL="2111375">
              <a:lnSpc>
                <a:spcPct val="100000"/>
              </a:lnSpc>
            </a:pPr>
            <a:r>
              <a:rPr dirty="0" sz="950" spc="-4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 with</a:t>
            </a:r>
            <a:r>
              <a:rPr dirty="0" sz="9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"/>
                <a:cs typeface="Arial"/>
              </a:rPr>
              <a:t>Genspark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Advanced</a:t>
            </a:r>
            <a:r>
              <a:rPr dirty="0" spc="-15"/>
              <a:t> </a:t>
            </a:r>
            <a:r>
              <a:rPr dirty="0" spc="-140"/>
              <a:t>FACTS</a:t>
            </a:r>
            <a:r>
              <a:rPr dirty="0" spc="-15"/>
              <a:t> </a:t>
            </a:r>
            <a:r>
              <a:rPr dirty="0" spc="-90"/>
              <a:t>Control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20"/>
              <a:t> </a:t>
            </a:r>
            <a:r>
              <a:rPr dirty="0" spc="-95"/>
              <a:t>Reinforcement</a:t>
            </a:r>
            <a:r>
              <a:rPr dirty="0" spc="-15"/>
              <a:t> </a:t>
            </a:r>
            <a:r>
              <a:rPr dirty="0" spc="-35"/>
              <a:t>Learning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71499" y="5734049"/>
          <a:ext cx="4191000" cy="1616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4425"/>
                <a:gridCol w="895350"/>
                <a:gridCol w="1047750"/>
                <a:gridCol w="1047750"/>
              </a:tblGrid>
              <a:tr h="3232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1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Metric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0C4A86"/>
                      </a:solidFill>
                      <a:prstDash val="solid"/>
                    </a:lnL>
                    <a:lnR w="9525">
                      <a:solidFill>
                        <a:srgbClr val="0C4A86"/>
                      </a:solidFill>
                      <a:prstDash val="solid"/>
                    </a:lnR>
                    <a:lnT w="9525">
                      <a:solidFill>
                        <a:srgbClr val="0C4A86"/>
                      </a:solidFill>
                      <a:prstDash val="solid"/>
                    </a:lnT>
                    <a:lnB w="9525">
                      <a:solidFill>
                        <a:srgbClr val="0C4A86"/>
                      </a:solidFill>
                      <a:prstDash val="solid"/>
                    </a:lnB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35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RL</a:t>
                      </a:r>
                      <a:r>
                        <a:rPr dirty="0" sz="1100" spc="-4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0C4A86"/>
                      </a:solidFill>
                      <a:prstDash val="solid"/>
                    </a:lnL>
                    <a:lnR w="9525">
                      <a:solidFill>
                        <a:srgbClr val="0C4A86"/>
                      </a:solidFill>
                      <a:prstDash val="solid"/>
                    </a:lnR>
                    <a:lnT w="9525">
                      <a:solidFill>
                        <a:srgbClr val="0C4A86"/>
                      </a:solidFill>
                      <a:prstDash val="solid"/>
                    </a:lnT>
                    <a:lnB w="9525">
                      <a:solidFill>
                        <a:srgbClr val="0C4A86"/>
                      </a:solidFill>
                      <a:prstDash val="solid"/>
                    </a:lnB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1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Conventional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0C4A86"/>
                      </a:solidFill>
                      <a:prstDash val="solid"/>
                    </a:lnL>
                    <a:lnR w="9525">
                      <a:solidFill>
                        <a:srgbClr val="0C4A86"/>
                      </a:solidFill>
                      <a:prstDash val="solid"/>
                    </a:lnR>
                    <a:lnT w="9525">
                      <a:solidFill>
                        <a:srgbClr val="0C4A86"/>
                      </a:solidFill>
                      <a:prstDash val="solid"/>
                    </a:lnT>
                    <a:lnB w="9525">
                      <a:solidFill>
                        <a:srgbClr val="0C4A86"/>
                      </a:solidFill>
                      <a:prstDash val="solid"/>
                    </a:lnB>
                    <a:solidFill>
                      <a:srgbClr val="E6F6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spc="-10" b="1">
                          <a:solidFill>
                            <a:srgbClr val="0C4A86"/>
                          </a:solidFill>
                          <a:latin typeface="Arial"/>
                          <a:cs typeface="Arial"/>
                        </a:rPr>
                        <a:t>Improvement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0C4A86"/>
                      </a:solidFill>
                      <a:prstDash val="solid"/>
                    </a:lnL>
                    <a:lnR w="9525">
                      <a:solidFill>
                        <a:srgbClr val="0C4A86"/>
                      </a:solidFill>
                      <a:prstDash val="solid"/>
                    </a:lnR>
                    <a:lnT w="9525">
                      <a:solidFill>
                        <a:srgbClr val="0C4A86"/>
                      </a:solidFill>
                      <a:prstDash val="solid"/>
                    </a:lnT>
                    <a:lnB w="9525">
                      <a:solidFill>
                        <a:srgbClr val="0C4A86"/>
                      </a:solidFill>
                      <a:prstDash val="solid"/>
                    </a:lnB>
                    <a:solidFill>
                      <a:srgbClr val="E6F6FF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1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latin typeface="Arial"/>
                          <a:cs typeface="Arial"/>
                        </a:rPr>
                        <a:t>Losses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0C4A86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0.0455</a:t>
                      </a:r>
                      <a:r>
                        <a:rPr dirty="0" sz="11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latin typeface="Arial"/>
                          <a:cs typeface="Arial"/>
                        </a:rPr>
                        <a:t>p.u.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0C4A86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0.0512</a:t>
                      </a:r>
                      <a:r>
                        <a:rPr dirty="0" sz="11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latin typeface="Arial"/>
                          <a:cs typeface="Arial"/>
                        </a:rPr>
                        <a:t>p.u.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0C4A86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>
                          <a:latin typeface="Arial"/>
                          <a:cs typeface="Arial"/>
                        </a:rPr>
                        <a:t>11.1%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0C4A86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Voltage</a:t>
                      </a:r>
                      <a:r>
                        <a:rPr dirty="0" sz="115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latin typeface="Arial"/>
                          <a:cs typeface="Arial"/>
                        </a:rPr>
                        <a:t>Dev.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0.0308</a:t>
                      </a:r>
                      <a:r>
                        <a:rPr dirty="0" sz="11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latin typeface="Arial"/>
                          <a:cs typeface="Arial"/>
                        </a:rPr>
                        <a:t>p.u.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0.0352</a:t>
                      </a:r>
                      <a:r>
                        <a:rPr dirty="0" sz="115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latin typeface="Arial"/>
                          <a:cs typeface="Arial"/>
                        </a:rPr>
                        <a:t>p.u.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>
                          <a:latin typeface="Arial"/>
                          <a:cs typeface="Arial"/>
                        </a:rPr>
                        <a:t>12.5%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45">
                          <a:latin typeface="Arial"/>
                          <a:cs typeface="Arial"/>
                        </a:rPr>
                        <a:t>Stability</a:t>
                      </a:r>
                      <a:r>
                        <a:rPr dirty="0" sz="1150" spc="-10">
                          <a:latin typeface="Arial"/>
                          <a:cs typeface="Arial"/>
                        </a:rPr>
                        <a:t> Margin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0">
                          <a:latin typeface="Arial"/>
                          <a:cs typeface="Arial"/>
                        </a:rPr>
                        <a:t>0.84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0">
                          <a:latin typeface="Arial"/>
                          <a:cs typeface="Arial"/>
                        </a:rPr>
                        <a:t>0.73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>
                          <a:latin typeface="Arial"/>
                          <a:cs typeface="Arial"/>
                        </a:rPr>
                        <a:t>15.3%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60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15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5">
                          <a:latin typeface="Arial"/>
                          <a:cs typeface="Arial"/>
                        </a:rPr>
                        <a:t>($)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>
                          <a:latin typeface="Arial"/>
                          <a:cs typeface="Arial"/>
                        </a:rPr>
                        <a:t>37.28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>
                          <a:latin typeface="Arial"/>
                          <a:cs typeface="Arial"/>
                        </a:rPr>
                        <a:t>40.15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0">
                          <a:latin typeface="Arial"/>
                          <a:cs typeface="Arial"/>
                        </a:rPr>
                        <a:t>7.2%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558800" y="992196"/>
            <a:ext cx="3869054" cy="7397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375"/>
              </a:spcBef>
            </a:pPr>
            <a:r>
              <a:rPr dirty="0" sz="2400" spc="-100" b="1">
                <a:solidFill>
                  <a:srgbClr val="1D40AF"/>
                </a:solidFill>
                <a:latin typeface="Arial"/>
                <a:cs typeface="Arial"/>
              </a:rPr>
              <a:t>Key</a:t>
            </a:r>
            <a:r>
              <a:rPr dirty="0" sz="2400" spc="-2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400" spc="-85" b="1">
                <a:solidFill>
                  <a:srgbClr val="1D40AF"/>
                </a:solidFill>
                <a:latin typeface="Arial"/>
                <a:cs typeface="Arial"/>
              </a:rPr>
              <a:t>Results:</a:t>
            </a:r>
            <a:r>
              <a:rPr dirty="0" sz="2400" spc="-2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400" spc="-100" b="1">
                <a:solidFill>
                  <a:srgbClr val="1D40AF"/>
                </a:solidFill>
                <a:latin typeface="Arial"/>
                <a:cs typeface="Arial"/>
              </a:rPr>
              <a:t>Performance</a:t>
            </a:r>
            <a:r>
              <a:rPr dirty="0" sz="2400" spc="-2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400" spc="-50" b="1">
                <a:solidFill>
                  <a:srgbClr val="1D40AF"/>
                </a:solidFill>
                <a:latin typeface="Arial"/>
                <a:cs typeface="Arial"/>
              </a:rPr>
              <a:t>&amp; </a:t>
            </a:r>
            <a:r>
              <a:rPr dirty="0" sz="2400" spc="-10" b="1">
                <a:solidFill>
                  <a:srgbClr val="1D40AF"/>
                </a:solidFill>
                <a:latin typeface="Arial"/>
                <a:cs typeface="Arial"/>
              </a:rPr>
              <a:t>Optimization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013346"/>
            <a:ext cx="209550" cy="1833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265" y="2761059"/>
            <a:ext cx="166921" cy="11686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975" y="3123510"/>
            <a:ext cx="99349" cy="13200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500" y="3495674"/>
            <a:ext cx="133350" cy="1333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6641" y="3990974"/>
            <a:ext cx="125067" cy="13314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5521" y="4495799"/>
            <a:ext cx="76650" cy="133350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571499" y="4914899"/>
            <a:ext cx="2667000" cy="590550"/>
            <a:chOff x="571499" y="4914899"/>
            <a:chExt cx="2667000" cy="590550"/>
          </a:xfrm>
        </p:grpSpPr>
        <p:sp>
          <p:nvSpPr>
            <p:cNvPr id="12" name="object 12" descr=""/>
            <p:cNvSpPr/>
            <p:nvPr/>
          </p:nvSpPr>
          <p:spPr>
            <a:xfrm>
              <a:off x="576262" y="4919662"/>
              <a:ext cx="1276350" cy="285750"/>
            </a:xfrm>
            <a:custGeom>
              <a:avLst/>
              <a:gdLst/>
              <a:ahLst/>
              <a:cxnLst/>
              <a:rect l="l" t="t" r="r" b="b"/>
              <a:pathLst>
                <a:path w="1276350" h="285750">
                  <a:moveTo>
                    <a:pt x="1247433" y="285749"/>
                  </a:moveTo>
                  <a:lnTo>
                    <a:pt x="28916" y="285749"/>
                  </a:lnTo>
                  <a:lnTo>
                    <a:pt x="24664" y="284903"/>
                  </a:lnTo>
                  <a:lnTo>
                    <a:pt x="0" y="256833"/>
                  </a:lnTo>
                  <a:lnTo>
                    <a:pt x="0" y="2524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47433" y="0"/>
                  </a:lnTo>
                  <a:lnTo>
                    <a:pt x="1276349" y="28916"/>
                  </a:lnTo>
                  <a:lnTo>
                    <a:pt x="1276349" y="256833"/>
                  </a:lnTo>
                  <a:lnTo>
                    <a:pt x="1251685" y="284903"/>
                  </a:lnTo>
                  <a:lnTo>
                    <a:pt x="1247433" y="285749"/>
                  </a:lnTo>
                  <a:close/>
                </a:path>
              </a:pathLst>
            </a:custGeom>
            <a:solidFill>
              <a:srgbClr val="EB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76262" y="4919662"/>
              <a:ext cx="1276350" cy="285750"/>
            </a:xfrm>
            <a:custGeom>
              <a:avLst/>
              <a:gdLst/>
              <a:ahLst/>
              <a:cxnLst/>
              <a:rect l="l" t="t" r="r" b="b"/>
              <a:pathLst>
                <a:path w="1276350" h="285750">
                  <a:moveTo>
                    <a:pt x="0" y="2524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243012" y="0"/>
                  </a:lnTo>
                  <a:lnTo>
                    <a:pt x="1247433" y="0"/>
                  </a:lnTo>
                  <a:lnTo>
                    <a:pt x="1251685" y="845"/>
                  </a:lnTo>
                  <a:lnTo>
                    <a:pt x="1255770" y="2537"/>
                  </a:lnTo>
                  <a:lnTo>
                    <a:pt x="1259854" y="4228"/>
                  </a:lnTo>
                  <a:lnTo>
                    <a:pt x="1273812" y="20579"/>
                  </a:lnTo>
                  <a:lnTo>
                    <a:pt x="1275503" y="24663"/>
                  </a:lnTo>
                  <a:lnTo>
                    <a:pt x="1276349" y="28916"/>
                  </a:lnTo>
                  <a:lnTo>
                    <a:pt x="1276349" y="33337"/>
                  </a:lnTo>
                  <a:lnTo>
                    <a:pt x="1276349" y="252412"/>
                  </a:lnTo>
                  <a:lnTo>
                    <a:pt x="1251685" y="284903"/>
                  </a:lnTo>
                  <a:lnTo>
                    <a:pt x="1243012" y="285749"/>
                  </a:lnTo>
                  <a:lnTo>
                    <a:pt x="33337" y="285749"/>
                  </a:lnTo>
                  <a:lnTo>
                    <a:pt x="28916" y="285749"/>
                  </a:lnTo>
                  <a:lnTo>
                    <a:pt x="24664" y="284903"/>
                  </a:lnTo>
                  <a:lnTo>
                    <a:pt x="20579" y="283211"/>
                  </a:lnTo>
                  <a:lnTo>
                    <a:pt x="16495" y="281520"/>
                  </a:lnTo>
                  <a:lnTo>
                    <a:pt x="12890" y="279111"/>
                  </a:lnTo>
                  <a:lnTo>
                    <a:pt x="9764" y="275985"/>
                  </a:lnTo>
                  <a:lnTo>
                    <a:pt x="6638" y="272859"/>
                  </a:lnTo>
                  <a:lnTo>
                    <a:pt x="4229" y="269253"/>
                  </a:lnTo>
                  <a:lnTo>
                    <a:pt x="2537" y="265169"/>
                  </a:lnTo>
                  <a:lnTo>
                    <a:pt x="845" y="261085"/>
                  </a:lnTo>
                  <a:lnTo>
                    <a:pt x="0" y="256833"/>
                  </a:lnTo>
                  <a:lnTo>
                    <a:pt x="0" y="252412"/>
                  </a:lnTo>
                  <a:close/>
                </a:path>
              </a:pathLst>
            </a:custGeom>
            <a:ln w="952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95487" y="4919662"/>
              <a:ext cx="1238250" cy="285750"/>
            </a:xfrm>
            <a:custGeom>
              <a:avLst/>
              <a:gdLst/>
              <a:ahLst/>
              <a:cxnLst/>
              <a:rect l="l" t="t" r="r" b="b"/>
              <a:pathLst>
                <a:path w="1238250" h="285750">
                  <a:moveTo>
                    <a:pt x="1209333" y="285749"/>
                  </a:moveTo>
                  <a:lnTo>
                    <a:pt x="28916" y="285749"/>
                  </a:lnTo>
                  <a:lnTo>
                    <a:pt x="24663" y="284903"/>
                  </a:lnTo>
                  <a:lnTo>
                    <a:pt x="0" y="256833"/>
                  </a:lnTo>
                  <a:lnTo>
                    <a:pt x="0" y="2524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09333" y="0"/>
                  </a:lnTo>
                  <a:lnTo>
                    <a:pt x="1238249" y="28916"/>
                  </a:lnTo>
                  <a:lnTo>
                    <a:pt x="1238249" y="256833"/>
                  </a:lnTo>
                  <a:lnTo>
                    <a:pt x="1213585" y="284903"/>
                  </a:lnTo>
                  <a:lnTo>
                    <a:pt x="1209333" y="285749"/>
                  </a:lnTo>
                  <a:close/>
                </a:path>
              </a:pathLst>
            </a:custGeom>
            <a:solidFill>
              <a:srgbClr val="EB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95487" y="4919662"/>
              <a:ext cx="1238250" cy="285750"/>
            </a:xfrm>
            <a:custGeom>
              <a:avLst/>
              <a:gdLst/>
              <a:ahLst/>
              <a:cxnLst/>
              <a:rect l="l" t="t" r="r" b="b"/>
              <a:pathLst>
                <a:path w="1238250" h="285750">
                  <a:moveTo>
                    <a:pt x="0" y="2524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204912" y="0"/>
                  </a:lnTo>
                  <a:lnTo>
                    <a:pt x="1209333" y="0"/>
                  </a:lnTo>
                  <a:lnTo>
                    <a:pt x="1213585" y="845"/>
                  </a:lnTo>
                  <a:lnTo>
                    <a:pt x="1217669" y="2537"/>
                  </a:lnTo>
                  <a:lnTo>
                    <a:pt x="1221754" y="4228"/>
                  </a:lnTo>
                  <a:lnTo>
                    <a:pt x="1225359" y="6637"/>
                  </a:lnTo>
                  <a:lnTo>
                    <a:pt x="1228485" y="9763"/>
                  </a:lnTo>
                  <a:lnTo>
                    <a:pt x="1231611" y="12889"/>
                  </a:lnTo>
                  <a:lnTo>
                    <a:pt x="1234020" y="16494"/>
                  </a:lnTo>
                  <a:lnTo>
                    <a:pt x="1235712" y="20579"/>
                  </a:lnTo>
                  <a:lnTo>
                    <a:pt x="1237403" y="24663"/>
                  </a:lnTo>
                  <a:lnTo>
                    <a:pt x="1238249" y="28916"/>
                  </a:lnTo>
                  <a:lnTo>
                    <a:pt x="1238250" y="33337"/>
                  </a:lnTo>
                  <a:lnTo>
                    <a:pt x="1238250" y="252412"/>
                  </a:lnTo>
                  <a:lnTo>
                    <a:pt x="1228485" y="275985"/>
                  </a:lnTo>
                  <a:lnTo>
                    <a:pt x="1225359" y="279111"/>
                  </a:lnTo>
                  <a:lnTo>
                    <a:pt x="1204912" y="285749"/>
                  </a:lnTo>
                  <a:lnTo>
                    <a:pt x="33337" y="285749"/>
                  </a:lnTo>
                  <a:lnTo>
                    <a:pt x="9764" y="275985"/>
                  </a:lnTo>
                  <a:lnTo>
                    <a:pt x="6638" y="272859"/>
                  </a:lnTo>
                  <a:lnTo>
                    <a:pt x="4229" y="269253"/>
                  </a:lnTo>
                  <a:lnTo>
                    <a:pt x="2537" y="265169"/>
                  </a:lnTo>
                  <a:lnTo>
                    <a:pt x="845" y="261085"/>
                  </a:lnTo>
                  <a:lnTo>
                    <a:pt x="0" y="256833"/>
                  </a:lnTo>
                  <a:lnTo>
                    <a:pt x="0" y="252412"/>
                  </a:lnTo>
                  <a:close/>
                </a:path>
              </a:pathLst>
            </a:custGeom>
            <a:ln w="952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76262" y="5214937"/>
              <a:ext cx="1657350" cy="285750"/>
            </a:xfrm>
            <a:custGeom>
              <a:avLst/>
              <a:gdLst/>
              <a:ahLst/>
              <a:cxnLst/>
              <a:rect l="l" t="t" r="r" b="b"/>
              <a:pathLst>
                <a:path w="1657350" h="285750">
                  <a:moveTo>
                    <a:pt x="1628433" y="285749"/>
                  </a:moveTo>
                  <a:lnTo>
                    <a:pt x="28916" y="285749"/>
                  </a:lnTo>
                  <a:lnTo>
                    <a:pt x="24664" y="284903"/>
                  </a:lnTo>
                  <a:lnTo>
                    <a:pt x="0" y="256833"/>
                  </a:lnTo>
                  <a:lnTo>
                    <a:pt x="0" y="2524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628433" y="0"/>
                  </a:lnTo>
                  <a:lnTo>
                    <a:pt x="1657349" y="28916"/>
                  </a:lnTo>
                  <a:lnTo>
                    <a:pt x="1657349" y="256833"/>
                  </a:lnTo>
                  <a:lnTo>
                    <a:pt x="1632685" y="284903"/>
                  </a:lnTo>
                  <a:lnTo>
                    <a:pt x="1628433" y="285749"/>
                  </a:lnTo>
                  <a:close/>
                </a:path>
              </a:pathLst>
            </a:custGeom>
            <a:solidFill>
              <a:srgbClr val="EB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76262" y="5214937"/>
              <a:ext cx="1657350" cy="285750"/>
            </a:xfrm>
            <a:custGeom>
              <a:avLst/>
              <a:gdLst/>
              <a:ahLst/>
              <a:cxnLst/>
              <a:rect l="l" t="t" r="r" b="b"/>
              <a:pathLst>
                <a:path w="1657350" h="285750">
                  <a:moveTo>
                    <a:pt x="0" y="2524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624012" y="0"/>
                  </a:lnTo>
                  <a:lnTo>
                    <a:pt x="1628433" y="0"/>
                  </a:lnTo>
                  <a:lnTo>
                    <a:pt x="1632685" y="845"/>
                  </a:lnTo>
                  <a:lnTo>
                    <a:pt x="1636769" y="2537"/>
                  </a:lnTo>
                  <a:lnTo>
                    <a:pt x="1640854" y="4228"/>
                  </a:lnTo>
                  <a:lnTo>
                    <a:pt x="1644459" y="6637"/>
                  </a:lnTo>
                  <a:lnTo>
                    <a:pt x="1647585" y="9763"/>
                  </a:lnTo>
                  <a:lnTo>
                    <a:pt x="1650711" y="12889"/>
                  </a:lnTo>
                  <a:lnTo>
                    <a:pt x="1653120" y="16494"/>
                  </a:lnTo>
                  <a:lnTo>
                    <a:pt x="1654811" y="20578"/>
                  </a:lnTo>
                  <a:lnTo>
                    <a:pt x="1656503" y="24663"/>
                  </a:lnTo>
                  <a:lnTo>
                    <a:pt x="1657349" y="28916"/>
                  </a:lnTo>
                  <a:lnTo>
                    <a:pt x="1657349" y="33337"/>
                  </a:lnTo>
                  <a:lnTo>
                    <a:pt x="1657349" y="252412"/>
                  </a:lnTo>
                  <a:lnTo>
                    <a:pt x="1657349" y="256833"/>
                  </a:lnTo>
                  <a:lnTo>
                    <a:pt x="1656503" y="261085"/>
                  </a:lnTo>
                  <a:lnTo>
                    <a:pt x="1654811" y="265169"/>
                  </a:lnTo>
                  <a:lnTo>
                    <a:pt x="1653120" y="269253"/>
                  </a:lnTo>
                  <a:lnTo>
                    <a:pt x="1650711" y="272858"/>
                  </a:lnTo>
                  <a:lnTo>
                    <a:pt x="1647585" y="275984"/>
                  </a:lnTo>
                  <a:lnTo>
                    <a:pt x="1644459" y="279110"/>
                  </a:lnTo>
                  <a:lnTo>
                    <a:pt x="1624012" y="285749"/>
                  </a:lnTo>
                  <a:lnTo>
                    <a:pt x="33337" y="285749"/>
                  </a:lnTo>
                  <a:lnTo>
                    <a:pt x="9764" y="275984"/>
                  </a:lnTo>
                  <a:lnTo>
                    <a:pt x="6638" y="272858"/>
                  </a:lnTo>
                  <a:lnTo>
                    <a:pt x="4229" y="269253"/>
                  </a:lnTo>
                  <a:lnTo>
                    <a:pt x="2537" y="265169"/>
                  </a:lnTo>
                  <a:lnTo>
                    <a:pt x="845" y="261085"/>
                  </a:lnTo>
                  <a:lnTo>
                    <a:pt x="0" y="256833"/>
                  </a:lnTo>
                  <a:lnTo>
                    <a:pt x="0" y="252412"/>
                  </a:lnTo>
                  <a:close/>
                </a:path>
              </a:pathLst>
            </a:custGeom>
            <a:ln w="9524">
              <a:solidFill>
                <a:srgbClr val="0C4A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44524" y="1924048"/>
            <a:ext cx="3992245" cy="3518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7340" marR="271145">
              <a:lnSpc>
                <a:spcPct val="109400"/>
              </a:lnSpc>
              <a:spcBef>
                <a:spcPts val="95"/>
              </a:spcBef>
            </a:pPr>
            <a:r>
              <a:rPr dirty="0" sz="1600" spc="-70" b="1">
                <a:solidFill>
                  <a:srgbClr val="2D3748"/>
                </a:solidFill>
                <a:latin typeface="Arial"/>
                <a:cs typeface="Arial"/>
              </a:rPr>
              <a:t>RL</a:t>
            </a:r>
            <a:r>
              <a:rPr dirty="0" sz="1600" spc="-5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45" b="1">
                <a:solidFill>
                  <a:srgbClr val="2D3748"/>
                </a:solidFill>
                <a:latin typeface="Arial"/>
                <a:cs typeface="Arial"/>
              </a:rPr>
              <a:t>controller</a:t>
            </a:r>
            <a:r>
              <a:rPr dirty="0" sz="1600" spc="-5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2D3748"/>
                </a:solidFill>
                <a:latin typeface="Arial"/>
                <a:cs typeface="Arial"/>
              </a:rPr>
              <a:t>vs</a:t>
            </a:r>
            <a:r>
              <a:rPr dirty="0" sz="160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2D3748"/>
                </a:solidFill>
                <a:latin typeface="Arial"/>
                <a:cs typeface="Arial"/>
              </a:rPr>
              <a:t>Conventional</a:t>
            </a:r>
            <a:r>
              <a:rPr dirty="0" sz="1600" spc="-4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2D3748"/>
                </a:solidFill>
                <a:latin typeface="Arial"/>
                <a:cs typeface="Arial"/>
              </a:rPr>
              <a:t>control </a:t>
            </a:r>
            <a:r>
              <a:rPr dirty="0" sz="1600" spc="-20" b="1">
                <a:solidFill>
                  <a:srgbClr val="2D3748"/>
                </a:solidFill>
                <a:latin typeface="Arial"/>
                <a:cs typeface="Arial"/>
              </a:rPr>
              <a:t>(PI)</a:t>
            </a:r>
            <a:endParaRPr sz="1600">
              <a:latin typeface="Arial"/>
              <a:cs typeface="Arial"/>
            </a:endParaRPr>
          </a:p>
          <a:p>
            <a:pPr marL="538480" marR="5080" indent="49530">
              <a:lnSpc>
                <a:spcPct val="168100"/>
              </a:lnSpc>
              <a:spcBef>
                <a:spcPts val="495"/>
              </a:spcBef>
            </a:pPr>
            <a:r>
              <a:rPr dirty="0" sz="1450" spc="-60">
                <a:latin typeface="Arial"/>
                <a:cs typeface="Arial"/>
              </a:rPr>
              <a:t>Training</a:t>
            </a:r>
            <a:r>
              <a:rPr dirty="0" sz="1450" spc="-20">
                <a:latin typeface="Arial"/>
                <a:cs typeface="Arial"/>
              </a:rPr>
              <a:t> </a:t>
            </a:r>
            <a:r>
              <a:rPr dirty="0" sz="1450" spc="-55">
                <a:latin typeface="Arial"/>
                <a:cs typeface="Arial"/>
              </a:rPr>
              <a:t>converged</a:t>
            </a:r>
            <a:r>
              <a:rPr dirty="0" sz="1450" spc="-15">
                <a:latin typeface="Arial"/>
                <a:cs typeface="Arial"/>
              </a:rPr>
              <a:t> </a:t>
            </a:r>
            <a:r>
              <a:rPr dirty="0" sz="1450" spc="-35">
                <a:latin typeface="Arial"/>
                <a:cs typeface="Arial"/>
              </a:rPr>
              <a:t>after</a:t>
            </a:r>
            <a:r>
              <a:rPr dirty="0" sz="1450" spc="-15">
                <a:latin typeface="Arial"/>
                <a:cs typeface="Arial"/>
              </a:rPr>
              <a:t> </a:t>
            </a:r>
            <a:r>
              <a:rPr dirty="0" sz="1450" spc="-60">
                <a:latin typeface="Arial"/>
                <a:cs typeface="Arial"/>
              </a:rPr>
              <a:t>~150</a:t>
            </a:r>
            <a:r>
              <a:rPr dirty="0" sz="1450" spc="-20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episodes </a:t>
            </a:r>
            <a:r>
              <a:rPr dirty="0" sz="1450" spc="-60">
                <a:latin typeface="Arial"/>
                <a:cs typeface="Arial"/>
              </a:rPr>
              <a:t>12.5%</a:t>
            </a:r>
            <a:r>
              <a:rPr dirty="0" sz="1450" spc="-40">
                <a:latin typeface="Arial"/>
                <a:cs typeface="Arial"/>
              </a:rPr>
              <a:t> </a:t>
            </a:r>
            <a:r>
              <a:rPr dirty="0" sz="1450" spc="-55">
                <a:latin typeface="Arial"/>
                <a:cs typeface="Arial"/>
              </a:rPr>
              <a:t>improvement</a:t>
            </a:r>
            <a:r>
              <a:rPr dirty="0" sz="1450" spc="-45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in</a:t>
            </a:r>
            <a:r>
              <a:rPr dirty="0" sz="1450" spc="-55">
                <a:latin typeface="Arial"/>
                <a:cs typeface="Arial"/>
              </a:rPr>
              <a:t> </a:t>
            </a:r>
            <a:r>
              <a:rPr dirty="0" sz="1450" spc="-45">
                <a:latin typeface="Arial"/>
                <a:cs typeface="Arial"/>
              </a:rPr>
              <a:t>voltage </a:t>
            </a:r>
            <a:r>
              <a:rPr dirty="0" sz="1450" spc="-35">
                <a:latin typeface="Arial"/>
                <a:cs typeface="Arial"/>
              </a:rPr>
              <a:t>profile</a:t>
            </a:r>
            <a:r>
              <a:rPr dirty="0" sz="1450" spc="-50">
                <a:latin typeface="Arial"/>
                <a:cs typeface="Arial"/>
              </a:rPr>
              <a:t> </a:t>
            </a:r>
            <a:r>
              <a:rPr dirty="0" sz="1450" spc="-55">
                <a:latin typeface="Arial"/>
                <a:cs typeface="Arial"/>
              </a:rPr>
              <a:t>stability </a:t>
            </a:r>
            <a:r>
              <a:rPr dirty="0" sz="1450" spc="-60">
                <a:latin typeface="Arial"/>
                <a:cs typeface="Arial"/>
              </a:rPr>
              <a:t>8.7%</a:t>
            </a:r>
            <a:r>
              <a:rPr dirty="0" sz="1450" spc="-40">
                <a:latin typeface="Arial"/>
                <a:cs typeface="Arial"/>
              </a:rPr>
              <a:t> </a:t>
            </a:r>
            <a:r>
              <a:rPr dirty="0" sz="1450" spc="-45">
                <a:latin typeface="Arial"/>
                <a:cs typeface="Arial"/>
              </a:rPr>
              <a:t>reduction</a:t>
            </a:r>
            <a:r>
              <a:rPr dirty="0" sz="1450" spc="-40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in</a:t>
            </a:r>
            <a:r>
              <a:rPr dirty="0" sz="1450" spc="-40">
                <a:latin typeface="Arial"/>
                <a:cs typeface="Arial"/>
              </a:rPr>
              <a:t> </a:t>
            </a:r>
            <a:r>
              <a:rPr dirty="0" sz="1450" spc="-60">
                <a:latin typeface="Arial"/>
                <a:cs typeface="Arial"/>
              </a:rPr>
              <a:t>power</a:t>
            </a:r>
            <a:r>
              <a:rPr dirty="0" sz="1450" spc="-40">
                <a:latin typeface="Arial"/>
                <a:cs typeface="Arial"/>
              </a:rPr>
              <a:t> </a:t>
            </a:r>
            <a:r>
              <a:rPr dirty="0" sz="1450" spc="-45">
                <a:latin typeface="Arial"/>
                <a:cs typeface="Arial"/>
              </a:rPr>
              <a:t>flow</a:t>
            </a:r>
            <a:r>
              <a:rPr dirty="0" sz="1450" spc="-40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congestion</a:t>
            </a:r>
            <a:endParaRPr sz="1450">
              <a:latin typeface="Arial"/>
              <a:cs typeface="Arial"/>
            </a:endParaRPr>
          </a:p>
          <a:p>
            <a:pPr marL="554990" marR="349885">
              <a:lnSpc>
                <a:spcPct val="116399"/>
              </a:lnSpc>
              <a:spcBef>
                <a:spcPts val="900"/>
              </a:spcBef>
            </a:pPr>
            <a:r>
              <a:rPr dirty="0" sz="1450" spc="-60">
                <a:latin typeface="Arial"/>
                <a:cs typeface="Arial"/>
              </a:rPr>
              <a:t>15.3%</a:t>
            </a:r>
            <a:r>
              <a:rPr dirty="0" sz="1450" spc="-40">
                <a:latin typeface="Arial"/>
                <a:cs typeface="Arial"/>
              </a:rPr>
              <a:t> </a:t>
            </a:r>
            <a:r>
              <a:rPr dirty="0" sz="1450" spc="-55">
                <a:latin typeface="Arial"/>
                <a:cs typeface="Arial"/>
              </a:rPr>
              <a:t>increase</a:t>
            </a:r>
            <a:r>
              <a:rPr dirty="0" sz="1450" spc="-35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in</a:t>
            </a:r>
            <a:r>
              <a:rPr dirty="0" sz="1450" spc="-35">
                <a:latin typeface="Arial"/>
                <a:cs typeface="Arial"/>
              </a:rPr>
              <a:t> stability </a:t>
            </a:r>
            <a:r>
              <a:rPr dirty="0" sz="1450" spc="-50">
                <a:latin typeface="Arial"/>
                <a:cs typeface="Arial"/>
              </a:rPr>
              <a:t>margin</a:t>
            </a:r>
            <a:r>
              <a:rPr dirty="0" sz="1450" spc="-40">
                <a:latin typeface="Arial"/>
                <a:cs typeface="Arial"/>
              </a:rPr>
              <a:t> </a:t>
            </a:r>
            <a:r>
              <a:rPr dirty="0" sz="1450" spc="-70">
                <a:latin typeface="Arial"/>
                <a:cs typeface="Arial"/>
              </a:rPr>
              <a:t>during </a:t>
            </a:r>
            <a:r>
              <a:rPr dirty="0" sz="1450" spc="-10">
                <a:latin typeface="Arial"/>
                <a:cs typeface="Arial"/>
              </a:rPr>
              <a:t>faults</a:t>
            </a:r>
            <a:endParaRPr sz="1450">
              <a:latin typeface="Arial"/>
              <a:cs typeface="Arial"/>
            </a:endParaRPr>
          </a:p>
          <a:p>
            <a:pPr marL="505459">
              <a:lnSpc>
                <a:spcPct val="100000"/>
              </a:lnSpc>
              <a:spcBef>
                <a:spcPts val="1185"/>
              </a:spcBef>
            </a:pPr>
            <a:r>
              <a:rPr dirty="0" sz="1450" spc="-60">
                <a:latin typeface="Arial"/>
                <a:cs typeface="Arial"/>
              </a:rPr>
              <a:t>7.2%</a:t>
            </a:r>
            <a:r>
              <a:rPr dirty="0" sz="1450" spc="-35">
                <a:latin typeface="Arial"/>
                <a:cs typeface="Arial"/>
              </a:rPr>
              <a:t> </a:t>
            </a:r>
            <a:r>
              <a:rPr dirty="0" sz="1450" spc="-45">
                <a:latin typeface="Arial"/>
                <a:cs typeface="Arial"/>
              </a:rPr>
              <a:t>operational</a:t>
            </a:r>
            <a:r>
              <a:rPr dirty="0" sz="1450" spc="-35">
                <a:latin typeface="Arial"/>
                <a:cs typeface="Arial"/>
              </a:rPr>
              <a:t> </a:t>
            </a:r>
            <a:r>
              <a:rPr dirty="0" sz="1450" spc="-45">
                <a:latin typeface="Arial"/>
                <a:cs typeface="Arial"/>
              </a:rPr>
              <a:t>cost</a:t>
            </a:r>
            <a:r>
              <a:rPr dirty="0" sz="1450" spc="-30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savings</a:t>
            </a:r>
            <a:endParaRPr sz="1450">
              <a:latin typeface="Arial"/>
              <a:cs typeface="Arial"/>
            </a:endParaRPr>
          </a:p>
          <a:p>
            <a:pPr marL="12700" marR="1476375">
              <a:lnSpc>
                <a:spcPct val="176100"/>
              </a:lnSpc>
              <a:spcBef>
                <a:spcPts val="1505"/>
              </a:spcBef>
              <a:tabLst>
                <a:tab pos="1432560" algn="l"/>
              </a:tabLst>
            </a:pPr>
            <a:r>
              <a:rPr dirty="0" sz="1100" spc="-55" b="1">
                <a:solidFill>
                  <a:srgbClr val="0C4A86"/>
                </a:solidFill>
                <a:latin typeface="Arial"/>
                <a:cs typeface="Arial"/>
              </a:rPr>
              <a:t>FACTS</a:t>
            </a:r>
            <a:r>
              <a:rPr dirty="0" sz="1100" spc="10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C4A86"/>
                </a:solidFill>
                <a:latin typeface="Arial"/>
                <a:cs typeface="Arial"/>
              </a:rPr>
              <a:t>Utilization</a:t>
            </a:r>
            <a:r>
              <a:rPr dirty="0" sz="1100" b="1">
                <a:solidFill>
                  <a:srgbClr val="0C4A86"/>
                </a:solidFill>
                <a:latin typeface="Arial"/>
                <a:cs typeface="Arial"/>
              </a:rPr>
              <a:t>	</a:t>
            </a:r>
            <a:r>
              <a:rPr dirty="0" sz="1100" spc="-35" b="1">
                <a:solidFill>
                  <a:srgbClr val="0C4A86"/>
                </a:solidFill>
                <a:latin typeface="Arial"/>
                <a:cs typeface="Arial"/>
              </a:rPr>
              <a:t>Response</a:t>
            </a:r>
            <a:r>
              <a:rPr dirty="0" sz="1100" spc="-15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100" spc="-40" b="1">
                <a:solidFill>
                  <a:srgbClr val="0C4A86"/>
                </a:solidFill>
                <a:latin typeface="Arial"/>
                <a:cs typeface="Arial"/>
              </a:rPr>
              <a:t>Speed </a:t>
            </a:r>
            <a:r>
              <a:rPr dirty="0" sz="1100" spc="-30" b="1">
                <a:solidFill>
                  <a:srgbClr val="0C4A86"/>
                </a:solidFill>
                <a:latin typeface="Arial"/>
                <a:cs typeface="Arial"/>
              </a:rPr>
              <a:t>Coordination</a:t>
            </a:r>
            <a:r>
              <a:rPr dirty="0" sz="1100" spc="30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C4A86"/>
                </a:solidFill>
                <a:latin typeface="Arial"/>
                <a:cs typeface="Arial"/>
              </a:rPr>
              <a:t>Efficiency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95900" y="1047749"/>
            <a:ext cx="6324599" cy="209549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95900" y="3286125"/>
            <a:ext cx="6324599" cy="2095499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0" y="5524500"/>
            <a:ext cx="12192000" cy="2524125"/>
            <a:chOff x="0" y="5524500"/>
            <a:chExt cx="12192000" cy="2524125"/>
          </a:xfrm>
        </p:grpSpPr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5900" y="5524500"/>
              <a:ext cx="6324599" cy="209549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0" y="7762874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534649" y="7534274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48949" y="7629524"/>
              <a:ext cx="133349" cy="133349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10826153" y="7477819"/>
            <a:ext cx="1073785" cy="293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12750">
              <a:lnSpc>
                <a:spcPts val="1145"/>
              </a:lnSpc>
            </a:pPr>
            <a:fld id="{81D60167-4931-47E6-BA6A-407CBD079E47}" type="slidenum">
              <a:rPr dirty="0" sz="1250">
                <a:solidFill>
                  <a:srgbClr val="708095"/>
                </a:solidFill>
                <a:latin typeface="Arial"/>
                <a:cs typeface="Arial"/>
              </a:rPr>
              <a:t>8</a:t>
            </a:fld>
            <a:r>
              <a:rPr dirty="0" sz="1250" spc="-4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08095"/>
                </a:solidFill>
                <a:latin typeface="Arial"/>
                <a:cs typeface="Arial"/>
              </a:rPr>
              <a:t>/</a:t>
            </a:r>
            <a:r>
              <a:rPr dirty="0" sz="1250" spc="-4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708095"/>
                </a:solidFill>
                <a:latin typeface="Arial"/>
                <a:cs typeface="Arial"/>
              </a:rPr>
              <a:t>10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 with</a:t>
            </a:r>
            <a:r>
              <a:rPr dirty="0" sz="9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Genspark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727380" y="7844048"/>
            <a:ext cx="328676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Advanced</a:t>
            </a:r>
            <a:r>
              <a:rPr dirty="0" spc="-15"/>
              <a:t> </a:t>
            </a:r>
            <a:r>
              <a:rPr dirty="0" spc="-140"/>
              <a:t>FACTS</a:t>
            </a:r>
            <a:r>
              <a:rPr dirty="0" spc="-15"/>
              <a:t> </a:t>
            </a:r>
            <a:r>
              <a:rPr dirty="0" spc="-90"/>
              <a:t>Control</a:t>
            </a:r>
            <a:r>
              <a:rPr dirty="0" spc="-15"/>
              <a:t> </a:t>
            </a:r>
            <a:r>
              <a:rPr dirty="0" spc="-75"/>
              <a:t>with</a:t>
            </a:r>
            <a:r>
              <a:rPr dirty="0" spc="-20"/>
              <a:t> </a:t>
            </a:r>
            <a:r>
              <a:rPr dirty="0" spc="-95"/>
              <a:t>Reinforcement</a:t>
            </a:r>
            <a:r>
              <a:rPr dirty="0" spc="-15"/>
              <a:t> </a:t>
            </a:r>
            <a:r>
              <a:rPr dirty="0" spc="-35"/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063636"/>
            <a:ext cx="3588385" cy="123317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625"/>
              </a:spcBef>
            </a:pPr>
            <a:r>
              <a:rPr dirty="0" sz="2900" spc="-110" b="1">
                <a:solidFill>
                  <a:srgbClr val="1D40AF"/>
                </a:solidFill>
                <a:latin typeface="Arial"/>
                <a:cs typeface="Arial"/>
              </a:rPr>
              <a:t>Discussion:</a:t>
            </a:r>
            <a:r>
              <a:rPr dirty="0" sz="2900" spc="-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1D40AF"/>
                </a:solidFill>
                <a:latin typeface="Arial"/>
                <a:cs typeface="Arial"/>
              </a:rPr>
              <a:t>Impact, </a:t>
            </a:r>
            <a:r>
              <a:rPr dirty="0" sz="2900" spc="-105" b="1">
                <a:solidFill>
                  <a:srgbClr val="1D40AF"/>
                </a:solidFill>
                <a:latin typeface="Arial"/>
                <a:cs typeface="Arial"/>
              </a:rPr>
              <a:t>Applications</a:t>
            </a:r>
            <a:r>
              <a:rPr dirty="0" sz="2900" spc="-50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50" b="1">
                <a:solidFill>
                  <a:srgbClr val="1D40AF"/>
                </a:solidFill>
                <a:latin typeface="Arial"/>
                <a:cs typeface="Arial"/>
              </a:rPr>
              <a:t>&amp;</a:t>
            </a:r>
            <a:r>
              <a:rPr dirty="0" sz="2900" spc="-35" b="1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dirty="0" sz="2900" spc="-110" b="1">
                <a:solidFill>
                  <a:srgbClr val="1D40AF"/>
                </a:solidFill>
                <a:latin typeface="Arial"/>
                <a:cs typeface="Arial"/>
              </a:rPr>
              <a:t>Future </a:t>
            </a:r>
            <a:r>
              <a:rPr dirty="0" sz="2900" spc="-10" b="1">
                <a:solidFill>
                  <a:srgbClr val="1D40AF"/>
                </a:solidFill>
                <a:latin typeface="Arial"/>
                <a:cs typeface="Arial"/>
              </a:rPr>
              <a:t>Research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641996"/>
            <a:ext cx="209550" cy="18335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39800" y="2560644"/>
            <a:ext cx="770890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Impact: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857" y="3133724"/>
            <a:ext cx="117865" cy="1714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20787" y="3076581"/>
            <a:ext cx="2513965" cy="273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-70">
                <a:solidFill>
                  <a:srgbClr val="4A5467"/>
                </a:solidFill>
                <a:latin typeface="Arial"/>
                <a:cs typeface="Arial"/>
              </a:rPr>
              <a:t>Smarter,</a:t>
            </a:r>
            <a:r>
              <a:rPr dirty="0" sz="1600" spc="-2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4A5467"/>
                </a:solidFill>
                <a:latin typeface="Arial"/>
                <a:cs typeface="Arial"/>
              </a:rPr>
              <a:t>adaptive</a:t>
            </a:r>
            <a:r>
              <a:rPr dirty="0" sz="1600" spc="-2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4A5467"/>
                </a:solidFill>
                <a:latin typeface="Arial"/>
                <a:cs typeface="Arial"/>
              </a:rPr>
              <a:t>grid</a:t>
            </a:r>
            <a:r>
              <a:rPr dirty="0" sz="1600" spc="-2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824" y="3552825"/>
            <a:ext cx="160801" cy="17118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63649" y="3495681"/>
            <a:ext cx="3540760" cy="273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-55">
                <a:solidFill>
                  <a:srgbClr val="4A5467"/>
                </a:solidFill>
                <a:latin typeface="Arial"/>
                <a:cs typeface="Arial"/>
              </a:rPr>
              <a:t>Increased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4A5467"/>
                </a:solidFill>
                <a:latin typeface="Arial"/>
                <a:cs typeface="Arial"/>
              </a:rPr>
              <a:t>system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40">
                <a:solidFill>
                  <a:srgbClr val="4A5467"/>
                </a:solidFill>
                <a:latin typeface="Arial"/>
                <a:cs typeface="Arial"/>
              </a:rPr>
              <a:t>reliability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4A5467"/>
                </a:solidFill>
                <a:latin typeface="Arial"/>
                <a:cs typeface="Arial"/>
              </a:rPr>
              <a:t>and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4A5467"/>
                </a:solidFill>
                <a:latin typeface="Arial"/>
                <a:cs typeface="Arial"/>
              </a:rPr>
              <a:t>resilience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500" y="3982508"/>
            <a:ext cx="190499" cy="14816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85081" y="3914780"/>
            <a:ext cx="4239895" cy="273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-45">
                <a:solidFill>
                  <a:srgbClr val="4A5467"/>
                </a:solidFill>
                <a:latin typeface="Arial"/>
                <a:cs typeface="Arial"/>
              </a:rPr>
              <a:t>Potential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for</a:t>
            </a:r>
            <a:r>
              <a:rPr dirty="0" sz="1600" spc="-2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4A5467"/>
                </a:solidFill>
                <a:latin typeface="Arial"/>
                <a:cs typeface="Arial"/>
              </a:rPr>
              <a:t>large-</a:t>
            </a:r>
            <a:r>
              <a:rPr dirty="0" sz="1600" spc="-50">
                <a:solidFill>
                  <a:srgbClr val="4A5467"/>
                </a:solidFill>
                <a:latin typeface="Arial"/>
                <a:cs typeface="Arial"/>
              </a:rPr>
              <a:t>scale,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55">
                <a:solidFill>
                  <a:srgbClr val="4A5467"/>
                </a:solidFill>
                <a:latin typeface="Arial"/>
                <a:cs typeface="Arial"/>
              </a:rPr>
              <a:t>multi-</a:t>
            </a:r>
            <a:r>
              <a:rPr dirty="0" sz="1600" spc="-50">
                <a:solidFill>
                  <a:srgbClr val="4A5467"/>
                </a:solidFill>
                <a:latin typeface="Arial"/>
                <a:cs typeface="Arial"/>
              </a:rPr>
              <a:t>device</a:t>
            </a:r>
            <a:r>
              <a:rPr dirty="0" sz="1600" spc="-2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coordination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4596" y="4480321"/>
            <a:ext cx="209550" cy="18335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965993" y="4398969"/>
            <a:ext cx="1353185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Applications: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500" y="4972049"/>
            <a:ext cx="214312" cy="17144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306512" y="4914906"/>
            <a:ext cx="2111375" cy="273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-60">
                <a:solidFill>
                  <a:srgbClr val="4A5467"/>
                </a:solidFill>
                <a:latin typeface="Arial"/>
                <a:cs typeface="Arial"/>
              </a:rPr>
              <a:t>Smart</a:t>
            </a:r>
            <a:r>
              <a:rPr dirty="0" sz="1600" spc="-6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4A5467"/>
                </a:solidFill>
                <a:latin typeface="Arial"/>
                <a:cs typeface="Arial"/>
              </a:rPr>
              <a:t>grids </a:t>
            </a:r>
            <a:r>
              <a:rPr dirty="0" sz="1600">
                <a:solidFill>
                  <a:srgbClr val="4A5467"/>
                </a:solidFill>
                <a:latin typeface="Arial"/>
                <a:cs typeface="Arial"/>
              </a:rPr>
              <a:t>&amp;</a:t>
            </a:r>
            <a:r>
              <a:rPr dirty="0" sz="1600" spc="-5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40">
                <a:solidFill>
                  <a:srgbClr val="4A5467"/>
                </a:solidFill>
                <a:latin typeface="Arial"/>
                <a:cs typeface="Arial"/>
              </a:rPr>
              <a:t>microgrids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5279" y="5391149"/>
            <a:ext cx="208787" cy="17144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306512" y="5334006"/>
            <a:ext cx="2556510" cy="273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00" spc="-60">
                <a:solidFill>
                  <a:srgbClr val="4A5467"/>
                </a:solidFill>
                <a:latin typeface="Arial"/>
                <a:cs typeface="Arial"/>
              </a:rPr>
              <a:t>Renewable</a:t>
            </a:r>
            <a:r>
              <a:rPr dirty="0" sz="1600" spc="-3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60">
                <a:solidFill>
                  <a:srgbClr val="4A5467"/>
                </a:solidFill>
                <a:latin typeface="Arial"/>
                <a:cs typeface="Arial"/>
              </a:rPr>
              <a:t>energy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35">
                <a:solidFill>
                  <a:srgbClr val="4A5467"/>
                </a:solidFill>
                <a:latin typeface="Arial"/>
                <a:cs typeface="Arial"/>
              </a:rPr>
              <a:t>integration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500" y="5899546"/>
            <a:ext cx="235743" cy="183356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2500" y="6381749"/>
            <a:ext cx="214312" cy="17144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2500" y="6799811"/>
            <a:ext cx="172521" cy="172488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51930" y="7219950"/>
            <a:ext cx="215082" cy="17144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965993" y="5818194"/>
            <a:ext cx="3920490" cy="16179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Future</a:t>
            </a:r>
            <a:r>
              <a:rPr dirty="0" sz="1750" spc="-3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 b="1">
                <a:solidFill>
                  <a:srgbClr val="2D3748"/>
                </a:solidFill>
                <a:latin typeface="Arial"/>
                <a:cs typeface="Arial"/>
              </a:rPr>
              <a:t>Directions:</a:t>
            </a:r>
            <a:endParaRPr sz="1750">
              <a:latin typeface="Arial"/>
              <a:cs typeface="Arial"/>
            </a:endParaRPr>
          </a:p>
          <a:p>
            <a:pPr marL="309880" marR="537845" indent="42545">
              <a:lnSpc>
                <a:spcPct val="171900"/>
              </a:lnSpc>
              <a:spcBef>
                <a:spcPts val="495"/>
              </a:spcBef>
            </a:pPr>
            <a:r>
              <a:rPr dirty="0" sz="1600" spc="-60">
                <a:solidFill>
                  <a:srgbClr val="4A5467"/>
                </a:solidFill>
                <a:latin typeface="Arial"/>
                <a:cs typeface="Arial"/>
              </a:rPr>
              <a:t>Advanced</a:t>
            </a:r>
            <a:r>
              <a:rPr dirty="0" sz="1600" spc="-3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80">
                <a:solidFill>
                  <a:srgbClr val="4A5467"/>
                </a:solidFill>
                <a:latin typeface="Arial"/>
                <a:cs typeface="Arial"/>
              </a:rPr>
              <a:t>RL</a:t>
            </a:r>
            <a:r>
              <a:rPr dirty="0" sz="1600" spc="-8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4A5467"/>
                </a:solidFill>
                <a:latin typeface="Arial"/>
                <a:cs typeface="Arial"/>
              </a:rPr>
              <a:t>(multi-</a:t>
            </a:r>
            <a:r>
              <a:rPr dirty="0" sz="1600" spc="-45">
                <a:solidFill>
                  <a:srgbClr val="4A5467"/>
                </a:solidFill>
                <a:latin typeface="Arial"/>
                <a:cs typeface="Arial"/>
              </a:rPr>
              <a:t>agent,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4A5467"/>
                </a:solidFill>
                <a:latin typeface="Arial"/>
                <a:cs typeface="Arial"/>
              </a:rPr>
              <a:t>safe</a:t>
            </a:r>
            <a:r>
              <a:rPr dirty="0" sz="1600" spc="-3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4A5467"/>
                </a:solidFill>
                <a:latin typeface="Arial"/>
                <a:cs typeface="Arial"/>
              </a:rPr>
              <a:t>RL) </a:t>
            </a:r>
            <a:r>
              <a:rPr dirty="0" sz="1600" spc="-40">
                <a:solidFill>
                  <a:srgbClr val="4A5467"/>
                </a:solidFill>
                <a:latin typeface="Arial"/>
                <a:cs typeface="Arial"/>
              </a:rPr>
              <a:t>Field</a:t>
            </a:r>
            <a:r>
              <a:rPr dirty="0" sz="1600" spc="-7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35">
                <a:solidFill>
                  <a:srgbClr val="4A5467"/>
                </a:solidFill>
                <a:latin typeface="Arial"/>
                <a:cs typeface="Arial"/>
              </a:rPr>
              <a:t>trials</a:t>
            </a:r>
            <a:r>
              <a:rPr dirty="0" sz="1600" spc="-6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5467"/>
                </a:solidFill>
                <a:latin typeface="Arial"/>
                <a:cs typeface="Arial"/>
              </a:rPr>
              <a:t>&amp;</a:t>
            </a:r>
            <a:r>
              <a:rPr dirty="0" sz="1600" spc="-6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45">
                <a:solidFill>
                  <a:srgbClr val="4A5467"/>
                </a:solidFill>
                <a:latin typeface="Arial"/>
                <a:cs typeface="Arial"/>
              </a:rPr>
              <a:t>industrial</a:t>
            </a:r>
            <a:r>
              <a:rPr dirty="0" sz="1600" spc="-6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A5467"/>
                </a:solidFill>
                <a:latin typeface="Arial"/>
                <a:cs typeface="Arial"/>
              </a:rPr>
              <a:t>validation</a:t>
            </a:r>
            <a:endParaRPr sz="160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1380"/>
              </a:spcBef>
            </a:pPr>
            <a:r>
              <a:rPr dirty="0" sz="1600" spc="-60">
                <a:solidFill>
                  <a:srgbClr val="4A5467"/>
                </a:solidFill>
                <a:latin typeface="Arial"/>
                <a:cs typeface="Arial"/>
              </a:rPr>
              <a:t>Market</a:t>
            </a:r>
            <a:r>
              <a:rPr dirty="0" sz="1600" spc="-2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80">
                <a:solidFill>
                  <a:srgbClr val="4A5467"/>
                </a:solidFill>
                <a:latin typeface="Arial"/>
                <a:cs typeface="Arial"/>
              </a:rPr>
              <a:t>&amp;</a:t>
            </a:r>
            <a:r>
              <a:rPr dirty="0" sz="1600" spc="-4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70">
                <a:solidFill>
                  <a:srgbClr val="4A5467"/>
                </a:solidFill>
                <a:latin typeface="Arial"/>
                <a:cs typeface="Arial"/>
              </a:rPr>
              <a:t>TSO/DSO</a:t>
            </a:r>
            <a:r>
              <a:rPr dirty="0" sz="1600" spc="-25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4A5467"/>
                </a:solidFill>
                <a:latin typeface="Arial"/>
                <a:cs typeface="Arial"/>
              </a:rPr>
              <a:t>operations</a:t>
            </a:r>
            <a:r>
              <a:rPr dirty="0" sz="1600" spc="-20">
                <a:solidFill>
                  <a:srgbClr val="4A5467"/>
                </a:solidFill>
                <a:latin typeface="Arial"/>
                <a:cs typeface="Arial"/>
              </a:rPr>
              <a:t> </a:t>
            </a:r>
            <a:r>
              <a:rPr dirty="0" sz="1600" spc="-35">
                <a:solidFill>
                  <a:srgbClr val="4A5467"/>
                </a:solidFill>
                <a:latin typeface="Arial"/>
                <a:cs typeface="Arial"/>
              </a:rPr>
              <a:t>integration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43725" y="2266949"/>
            <a:ext cx="4210049" cy="4210049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8609955" y="2833691"/>
            <a:ext cx="877569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35" b="1">
                <a:solidFill>
                  <a:srgbClr val="0C4A86"/>
                </a:solidFill>
                <a:latin typeface="Arial"/>
                <a:cs typeface="Arial"/>
              </a:rPr>
              <a:t>Advanced</a:t>
            </a:r>
            <a:r>
              <a:rPr dirty="0" sz="1100" spc="-15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0C4A86"/>
                </a:solidFill>
                <a:latin typeface="Arial"/>
                <a:cs typeface="Arial"/>
              </a:rPr>
              <a:t>RL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717408" y="3024191"/>
            <a:ext cx="66294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25" b="1">
                <a:solidFill>
                  <a:srgbClr val="0C4A86"/>
                </a:solidFill>
                <a:latin typeface="Arial"/>
                <a:cs typeface="Arial"/>
              </a:rPr>
              <a:t>Controller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755830" y="3694985"/>
            <a:ext cx="29972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30" b="1">
                <a:solidFill>
                  <a:srgbClr val="3181CD"/>
                </a:solidFill>
                <a:latin typeface="Arial"/>
                <a:cs typeface="Arial"/>
              </a:rPr>
              <a:t>SVC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859218" y="3694985"/>
            <a:ext cx="66548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60" b="1">
                <a:solidFill>
                  <a:srgbClr val="3181CD"/>
                </a:solidFill>
                <a:latin typeface="Arial"/>
                <a:cs typeface="Arial"/>
              </a:rPr>
              <a:t>STATCOM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711479" y="4837985"/>
            <a:ext cx="38862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35" b="1">
                <a:solidFill>
                  <a:srgbClr val="3181CD"/>
                </a:solidFill>
                <a:latin typeface="Arial"/>
                <a:cs typeface="Arial"/>
              </a:rPr>
              <a:t>SSSC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997478" y="4837985"/>
            <a:ext cx="38862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35" b="1">
                <a:solidFill>
                  <a:srgbClr val="3181CD"/>
                </a:solidFill>
                <a:latin typeface="Arial"/>
                <a:cs typeface="Arial"/>
              </a:rPr>
              <a:t>UPFC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635851" y="5483541"/>
            <a:ext cx="826135" cy="406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5244">
              <a:lnSpc>
                <a:spcPct val="113599"/>
              </a:lnSpc>
              <a:spcBef>
                <a:spcPts val="90"/>
              </a:spcBef>
            </a:pPr>
            <a:r>
              <a:rPr dirty="0" sz="1100" spc="-30" b="1">
                <a:solidFill>
                  <a:srgbClr val="37A169"/>
                </a:solidFill>
                <a:latin typeface="Arial"/>
                <a:cs typeface="Arial"/>
              </a:rPr>
              <a:t>Smart</a:t>
            </a:r>
            <a:r>
              <a:rPr dirty="0" sz="1100" spc="-35" b="1">
                <a:solidFill>
                  <a:srgbClr val="37A169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37A169"/>
                </a:solidFill>
                <a:latin typeface="Arial"/>
                <a:cs typeface="Arial"/>
              </a:rPr>
              <a:t>Grid </a:t>
            </a:r>
            <a:r>
              <a:rPr dirty="0" sz="1100" spc="-35" b="1">
                <a:solidFill>
                  <a:srgbClr val="37A169"/>
                </a:solidFill>
                <a:latin typeface="Arial"/>
                <a:cs typeface="Arial"/>
              </a:rPr>
              <a:t>Applications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515002" y="4098929"/>
            <a:ext cx="1067435" cy="60452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 marL="12065" marR="5080">
              <a:lnSpc>
                <a:spcPts val="1500"/>
              </a:lnSpc>
              <a:spcBef>
                <a:spcPts val="200"/>
              </a:spcBef>
            </a:pPr>
            <a:r>
              <a:rPr dirty="0" sz="1300" spc="-10" b="1">
                <a:solidFill>
                  <a:srgbClr val="E43D3D"/>
                </a:solidFill>
                <a:latin typeface="Arial"/>
                <a:cs typeface="Arial"/>
              </a:rPr>
              <a:t>Enhanced </a:t>
            </a:r>
            <a:r>
              <a:rPr dirty="0" sz="1300" spc="-70" b="1">
                <a:solidFill>
                  <a:srgbClr val="E43D3D"/>
                </a:solidFill>
                <a:latin typeface="Arial"/>
                <a:cs typeface="Arial"/>
              </a:rPr>
              <a:t>Power</a:t>
            </a:r>
            <a:r>
              <a:rPr dirty="0" sz="1300" spc="-10" b="1">
                <a:solidFill>
                  <a:srgbClr val="E43D3D"/>
                </a:solidFill>
                <a:latin typeface="Arial"/>
                <a:cs typeface="Arial"/>
              </a:rPr>
              <a:t> </a:t>
            </a:r>
            <a:r>
              <a:rPr dirty="0" sz="1300" spc="-70" b="1">
                <a:solidFill>
                  <a:srgbClr val="E43D3D"/>
                </a:solidFill>
                <a:latin typeface="Arial"/>
                <a:cs typeface="Arial"/>
              </a:rPr>
              <a:t>System </a:t>
            </a:r>
            <a:r>
              <a:rPr dirty="0" sz="1300" spc="-10" b="1">
                <a:solidFill>
                  <a:srgbClr val="E43D3D"/>
                </a:solidFill>
                <a:latin typeface="Arial"/>
                <a:cs typeface="Arial"/>
              </a:rPr>
              <a:t>Stability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0" y="7467600"/>
            <a:ext cx="12192000" cy="514350"/>
            <a:chOff x="0" y="7467600"/>
            <a:chExt cx="12192000" cy="514350"/>
          </a:xfrm>
        </p:grpSpPr>
        <p:sp>
          <p:nvSpPr>
            <p:cNvPr id="33" name="object 33" descr=""/>
            <p:cNvSpPr/>
            <p:nvPr/>
          </p:nvSpPr>
          <p:spPr>
            <a:xfrm>
              <a:off x="0" y="769619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534649" y="7467600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48949" y="7562849"/>
              <a:ext cx="133349" cy="133349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10826153" y="7411144"/>
            <a:ext cx="1073785" cy="293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12750">
              <a:lnSpc>
                <a:spcPts val="1145"/>
              </a:lnSpc>
            </a:pPr>
            <a:fld id="{81D60167-4931-47E6-BA6A-407CBD079E47}" type="slidenum">
              <a:rPr dirty="0" sz="1250">
                <a:solidFill>
                  <a:srgbClr val="708095"/>
                </a:solidFill>
                <a:latin typeface="Arial"/>
                <a:cs typeface="Arial"/>
              </a:rPr>
              <a:t>9</a:t>
            </a:fld>
            <a:r>
              <a:rPr dirty="0" sz="1250" spc="-4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08095"/>
                </a:solidFill>
                <a:latin typeface="Arial"/>
                <a:cs typeface="Arial"/>
              </a:rPr>
              <a:t>/</a:t>
            </a:r>
            <a:r>
              <a:rPr dirty="0" sz="1250" spc="-4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708095"/>
                </a:solidFill>
                <a:latin typeface="Arial"/>
                <a:cs typeface="Arial"/>
              </a:rPr>
              <a:t>10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50" spc="-4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 with</a:t>
            </a:r>
            <a:r>
              <a:rPr dirty="0" sz="9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Genspark</a:t>
            </a:r>
            <a:endParaRPr sz="95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727380" y="7777373"/>
            <a:ext cx="328676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80"/>
              </a:lnSpc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3550" y="165108"/>
            <a:ext cx="7019925" cy="372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50" spc="-105" b="1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40" b="1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90" b="1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75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225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95" b="1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35" b="1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22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1063636"/>
            <a:ext cx="4102735" cy="4711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00" spc="-114">
                <a:solidFill>
                  <a:srgbClr val="1D40AF"/>
                </a:solidFill>
              </a:rPr>
              <a:t>Conclusion</a:t>
            </a:r>
            <a:r>
              <a:rPr dirty="0" sz="2900" spc="-45">
                <a:solidFill>
                  <a:srgbClr val="1D40AF"/>
                </a:solidFill>
              </a:rPr>
              <a:t> </a:t>
            </a:r>
            <a:r>
              <a:rPr dirty="0" sz="2900" spc="-150">
                <a:solidFill>
                  <a:srgbClr val="1D40AF"/>
                </a:solidFill>
              </a:rPr>
              <a:t>&amp;</a:t>
            </a:r>
            <a:r>
              <a:rPr dirty="0" sz="2900" spc="-45">
                <a:solidFill>
                  <a:srgbClr val="1D40AF"/>
                </a:solidFill>
              </a:rPr>
              <a:t> </a:t>
            </a:r>
            <a:r>
              <a:rPr dirty="0" sz="2900" spc="-110">
                <a:solidFill>
                  <a:srgbClr val="1D40AF"/>
                </a:solidFill>
              </a:rPr>
              <a:t>Next</a:t>
            </a:r>
            <a:r>
              <a:rPr dirty="0" sz="2900" spc="-45">
                <a:solidFill>
                  <a:srgbClr val="1D40AF"/>
                </a:solidFill>
              </a:rPr>
              <a:t> </a:t>
            </a:r>
            <a:r>
              <a:rPr dirty="0" sz="2900" spc="-100">
                <a:solidFill>
                  <a:srgbClr val="1D40AF"/>
                </a:solidFill>
              </a:rPr>
              <a:t>Steps</a:t>
            </a:r>
            <a:endParaRPr sz="2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943099"/>
            <a:ext cx="209549" cy="20954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39800" y="1851976"/>
            <a:ext cx="5847715" cy="911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70" b="1">
                <a:solidFill>
                  <a:srgbClr val="2D3748"/>
                </a:solidFill>
                <a:latin typeface="Arial"/>
                <a:cs typeface="Arial"/>
              </a:rPr>
              <a:t>RL-</a:t>
            </a:r>
            <a:r>
              <a:rPr dirty="0" sz="1750" spc="-65" b="1">
                <a:solidFill>
                  <a:srgbClr val="2D3748"/>
                </a:solidFill>
                <a:latin typeface="Arial"/>
                <a:cs typeface="Arial"/>
              </a:rPr>
              <a:t>based</a:t>
            </a:r>
            <a:r>
              <a:rPr dirty="0" sz="1750" spc="-1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coordinated</a:t>
            </a:r>
            <a:r>
              <a:rPr dirty="0" sz="1750" spc="-1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0" b="1">
                <a:solidFill>
                  <a:srgbClr val="2D3748"/>
                </a:solidFill>
                <a:latin typeface="Arial"/>
                <a:cs typeface="Arial"/>
              </a:rPr>
              <a:t>FACTS</a:t>
            </a:r>
            <a:r>
              <a:rPr dirty="0" sz="1750" spc="-1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control</a:t>
            </a:r>
            <a:r>
              <a:rPr dirty="0" sz="1750" spc="-15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achieves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strong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2D3748"/>
                </a:solidFill>
                <a:latin typeface="Arial"/>
                <a:cs typeface="Arial"/>
              </a:rPr>
              <a:t>multi-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objective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performance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across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power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loss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reduction,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voltage 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profile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improvement,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cost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optimization.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048" y="3067049"/>
            <a:ext cx="196453" cy="20922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39800" y="2998794"/>
            <a:ext cx="5429250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Our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approach 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enables </a:t>
            </a:r>
            <a:r>
              <a:rPr dirty="0" sz="1750" spc="-60" b="1">
                <a:solidFill>
                  <a:srgbClr val="2D3748"/>
                </a:solidFill>
                <a:latin typeface="Arial"/>
                <a:cs typeface="Arial"/>
              </a:rPr>
              <a:t>robust,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adaptive operation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2D3748"/>
                </a:solidFill>
                <a:latin typeface="Arial"/>
                <a:cs typeface="Arial"/>
              </a:rPr>
              <a:t>under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9800" y="3271201"/>
            <a:ext cx="587248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system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uncertainties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model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errors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without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requiring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perfect system</a:t>
            </a:r>
            <a:r>
              <a:rPr dirty="0" sz="1750" spc="-7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models.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4213621"/>
            <a:ext cx="235743" cy="18335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65993" y="4132269"/>
            <a:ext cx="4707255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Next </a:t>
            </a:r>
            <a:r>
              <a:rPr dirty="0" sz="1750" spc="-55" b="1">
                <a:solidFill>
                  <a:srgbClr val="2D3748"/>
                </a:solidFill>
                <a:latin typeface="Arial"/>
                <a:cs typeface="Arial"/>
              </a:rPr>
              <a:t>steps:</a:t>
            </a:r>
            <a:r>
              <a:rPr dirty="0" sz="1750" spc="-50" b="1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Scaling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to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larger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systems, multi-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agent</a:t>
            </a:r>
            <a:endParaRPr sz="17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65993" y="4427544"/>
            <a:ext cx="5639435" cy="5835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85"/>
              </a:spcBef>
            </a:pP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coordination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2D3748"/>
                </a:solidFill>
                <a:latin typeface="Arial"/>
                <a:cs typeface="Arial"/>
              </a:rPr>
              <a:t>frameworks,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industrial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validation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40">
                <a:solidFill>
                  <a:srgbClr val="2D3748"/>
                </a:solidFill>
                <a:latin typeface="Arial"/>
                <a:cs typeface="Arial"/>
              </a:rPr>
              <a:t>with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60">
                <a:solidFill>
                  <a:srgbClr val="2D3748"/>
                </a:solidFill>
                <a:latin typeface="Arial"/>
                <a:cs typeface="Arial"/>
              </a:rPr>
              <a:t>hardware- </a:t>
            </a:r>
            <a:r>
              <a:rPr dirty="0" sz="1750" spc="-45">
                <a:solidFill>
                  <a:srgbClr val="2D3748"/>
                </a:solidFill>
                <a:latin typeface="Arial"/>
                <a:cs typeface="Arial"/>
              </a:rPr>
              <a:t>in-</a:t>
            </a:r>
            <a:r>
              <a:rPr dirty="0" sz="1750" spc="-55">
                <a:solidFill>
                  <a:srgbClr val="2D3748"/>
                </a:solidFill>
                <a:latin typeface="Arial"/>
                <a:cs typeface="Arial"/>
              </a:rPr>
              <a:t>the-</a:t>
            </a:r>
            <a:r>
              <a:rPr dirty="0" sz="1750" spc="-35">
                <a:solidFill>
                  <a:srgbClr val="2D3748"/>
                </a:solidFill>
                <a:latin typeface="Arial"/>
                <a:cs typeface="Arial"/>
              </a:rPr>
              <a:t>loop</a:t>
            </a:r>
            <a:r>
              <a:rPr dirty="0" sz="1750" spc="-30">
                <a:solidFill>
                  <a:srgbClr val="2D3748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D3748"/>
                </a:solidFill>
                <a:latin typeface="Arial"/>
                <a:cs typeface="Arial"/>
              </a:rPr>
              <a:t>testing.</a:t>
            </a:r>
            <a:endParaRPr sz="17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66950" y="5413387"/>
            <a:ext cx="205803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50" spc="-155" b="1">
                <a:solidFill>
                  <a:srgbClr val="0C4A86"/>
                </a:solidFill>
                <a:latin typeface="Arial"/>
                <a:cs typeface="Arial"/>
              </a:rPr>
              <a:t>Thank</a:t>
            </a:r>
            <a:r>
              <a:rPr dirty="0" sz="3250" spc="-70" b="1">
                <a:solidFill>
                  <a:srgbClr val="0C4A86"/>
                </a:solidFill>
                <a:latin typeface="Arial"/>
                <a:cs typeface="Arial"/>
              </a:rPr>
              <a:t> </a:t>
            </a:r>
            <a:r>
              <a:rPr dirty="0" sz="3250" spc="-125" b="1">
                <a:solidFill>
                  <a:srgbClr val="0C4A86"/>
                </a:solidFill>
                <a:latin typeface="Arial"/>
                <a:cs typeface="Arial"/>
              </a:rPr>
              <a:t>you!</a:t>
            </a:r>
            <a:endParaRPr sz="32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912070" y="6124584"/>
            <a:ext cx="15678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5">
                <a:solidFill>
                  <a:srgbClr val="4A5467"/>
                </a:solidFill>
                <a:latin typeface="Arial"/>
                <a:cs typeface="Arial"/>
              </a:rPr>
              <a:t>Questions?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35411" y="2403965"/>
            <a:ext cx="2923838" cy="2923838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959998" y="3102034"/>
            <a:ext cx="22479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SVC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010278" y="3119576"/>
            <a:ext cx="224154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STAT</a:t>
            </a:r>
            <a:endParaRPr sz="6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927703" y="4555936"/>
            <a:ext cx="28892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SSSC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977833" y="4555936"/>
            <a:ext cx="28892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solidFill>
                  <a:srgbClr val="FFFFFF"/>
                </a:solidFill>
                <a:latin typeface="Arial"/>
                <a:cs typeface="Arial"/>
              </a:rPr>
              <a:t>UPFC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534499" y="3359097"/>
            <a:ext cx="213360" cy="424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00" spc="-65" b="1">
                <a:solidFill>
                  <a:srgbClr val="0C4A86"/>
                </a:solidFill>
                <a:latin typeface="Arial"/>
                <a:cs typeface="Arial"/>
              </a:rPr>
              <a:t>?</a:t>
            </a:r>
            <a:endParaRPr sz="26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634612" y="3359097"/>
            <a:ext cx="213360" cy="424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00" spc="-65" b="1">
                <a:solidFill>
                  <a:srgbClr val="0C4A86"/>
                </a:solidFill>
                <a:latin typeface="Arial"/>
                <a:cs typeface="Arial"/>
              </a:rPr>
              <a:t>?</a:t>
            </a:r>
            <a:endParaRPr sz="26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584629" y="2430261"/>
            <a:ext cx="213360" cy="424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00" spc="-65" b="1">
                <a:solidFill>
                  <a:srgbClr val="0C4A86"/>
                </a:solidFill>
                <a:latin typeface="Arial"/>
                <a:cs typeface="Arial"/>
              </a:rPr>
              <a:t>?</a:t>
            </a:r>
            <a:endParaRPr sz="26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584629" y="4732185"/>
            <a:ext cx="213360" cy="424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00" spc="-65" b="1">
                <a:solidFill>
                  <a:srgbClr val="0C4A86"/>
                </a:solidFill>
                <a:latin typeface="Arial"/>
                <a:cs typeface="Arial"/>
              </a:rPr>
              <a:t>?</a:t>
            </a:r>
            <a:endParaRPr sz="26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141669" y="6351450"/>
            <a:ext cx="491490" cy="218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708095"/>
                </a:solidFill>
                <a:latin typeface="Arial"/>
                <a:cs typeface="Arial"/>
              </a:rPr>
              <a:t>10</a:t>
            </a:r>
            <a:r>
              <a:rPr dirty="0" sz="1250" spc="-55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08095"/>
                </a:solidFill>
                <a:latin typeface="Arial"/>
                <a:cs typeface="Arial"/>
              </a:rPr>
              <a:t>/</a:t>
            </a:r>
            <a:r>
              <a:rPr dirty="0" sz="1250" spc="-55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708095"/>
                </a:solidFill>
                <a:latin typeface="Arial"/>
                <a:cs typeface="Arial"/>
              </a:rPr>
              <a:t>10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0" y="6467474"/>
            <a:ext cx="12192000" cy="504825"/>
            <a:chOff x="0" y="6467474"/>
            <a:chExt cx="12192000" cy="504825"/>
          </a:xfrm>
        </p:grpSpPr>
        <p:sp>
          <p:nvSpPr>
            <p:cNvPr id="25" name="object 25" descr=""/>
            <p:cNvSpPr/>
            <p:nvPr/>
          </p:nvSpPr>
          <p:spPr>
            <a:xfrm>
              <a:off x="0" y="66865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C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534649" y="6467474"/>
              <a:ext cx="1466850" cy="323850"/>
            </a:xfrm>
            <a:custGeom>
              <a:avLst/>
              <a:gdLst/>
              <a:ahLst/>
              <a:cxnLst/>
              <a:rect l="l" t="t" r="r" b="b"/>
              <a:pathLst>
                <a:path w="1466850" h="323850">
                  <a:moveTo>
                    <a:pt x="143380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33802" y="0"/>
                  </a:lnTo>
                  <a:lnTo>
                    <a:pt x="1465882" y="28187"/>
                  </a:lnTo>
                  <a:lnTo>
                    <a:pt x="1466849" y="33047"/>
                  </a:lnTo>
                  <a:lnTo>
                    <a:pt x="1466849" y="290802"/>
                  </a:lnTo>
                  <a:lnTo>
                    <a:pt x="1438662" y="322883"/>
                  </a:lnTo>
                  <a:lnTo>
                    <a:pt x="143380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48949" y="6562724"/>
              <a:ext cx="133349" cy="133349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8727380" y="6571977"/>
            <a:ext cx="3286760" cy="345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111375">
              <a:lnSpc>
                <a:spcPts val="940"/>
              </a:lnSpc>
            </a:pPr>
            <a:r>
              <a:rPr dirty="0" sz="950" spc="-4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dirty="0" sz="950" spc="-20">
                <a:solidFill>
                  <a:srgbClr val="FFFFFF"/>
                </a:solidFill>
                <a:latin typeface="Arial"/>
                <a:cs typeface="Arial"/>
              </a:rPr>
              <a:t> with</a:t>
            </a:r>
            <a:r>
              <a:rPr dirty="0" sz="9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"/>
                <a:cs typeface="Arial"/>
              </a:rPr>
              <a:t>Genspark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2025-06-17T10:30:25Z</dcterms:created>
  <dcterms:modified xsi:type="dcterms:W3CDTF">2025-06-17T10:30:25Z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2025-06-17T00:00:00Z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2025-06-17T00:00:00Z</vt:filetime>
  </property>
</Properties>
</file>