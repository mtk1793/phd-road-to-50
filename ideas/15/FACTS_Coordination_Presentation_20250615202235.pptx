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7142"/>
  <p:notesSz cx="12192000" cy="69024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1D3A8A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D3A8A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D3A8A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50" b="1" i="0">
                <a:solidFill>
                  <a:srgbClr val="1D3A8A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8800" y="478790"/>
            <a:ext cx="11074400" cy="6362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50" b="1" i="0">
                <a:solidFill>
                  <a:srgbClr val="1D3A8A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0299" y="1200149"/>
            <a:ext cx="5448300" cy="2339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png"/><Relationship Id="rId11" Type="http://schemas.openxmlformats.org/officeDocument/2006/relationships/image" Target="../media/image22.png"/><Relationship Id="rId12" Type="http://schemas.openxmlformats.org/officeDocument/2006/relationships/image" Target="../media/image23.png"/><Relationship Id="rId13" Type="http://schemas.openxmlformats.org/officeDocument/2006/relationships/image" Target="../media/image24.pn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35.png"/><Relationship Id="rId11" Type="http://schemas.openxmlformats.org/officeDocument/2006/relationships/image" Target="../media/image36.png"/><Relationship Id="rId12" Type="http://schemas.openxmlformats.org/officeDocument/2006/relationships/image" Target="../media/image37.png"/><Relationship Id="rId13" Type="http://schemas.openxmlformats.org/officeDocument/2006/relationships/image" Target="../media/image38.png"/><Relationship Id="rId14" Type="http://schemas.openxmlformats.org/officeDocument/2006/relationships/image" Target="../media/image1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Relationship Id="rId7" Type="http://schemas.openxmlformats.org/officeDocument/2006/relationships/image" Target="../media/image51.png"/><Relationship Id="rId8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4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4.png"/><Relationship Id="rId7" Type="http://schemas.openxmlformats.org/officeDocument/2006/relationships/image" Target="../media/image65.png"/><Relationship Id="rId8" Type="http://schemas.openxmlformats.org/officeDocument/2006/relationships/image" Target="../media/image66.png"/><Relationship Id="rId9" Type="http://schemas.openxmlformats.org/officeDocument/2006/relationships/image" Target="../media/image67.png"/><Relationship Id="rId10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png"/><Relationship Id="rId3" Type="http://schemas.openxmlformats.org/officeDocument/2006/relationships/image" Target="../media/image4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75.png"/><Relationship Id="rId7" Type="http://schemas.openxmlformats.org/officeDocument/2006/relationships/image" Target="../media/image61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9763125" y="4572000"/>
              <a:ext cx="1428750" cy="1143000"/>
            </a:xfrm>
            <a:custGeom>
              <a:avLst/>
              <a:gdLst/>
              <a:ahLst/>
              <a:cxnLst/>
              <a:rect l="l" t="t" r="r" b="b"/>
              <a:pathLst>
                <a:path w="1428750" h="1143000">
                  <a:moveTo>
                    <a:pt x="714375" y="1143000"/>
                  </a:moveTo>
                  <a:lnTo>
                    <a:pt x="669169" y="1135727"/>
                  </a:lnTo>
                  <a:lnTo>
                    <a:pt x="629943" y="1115468"/>
                  </a:lnTo>
                  <a:lnTo>
                    <a:pt x="599032" y="1084557"/>
                  </a:lnTo>
                  <a:lnTo>
                    <a:pt x="578772" y="1045330"/>
                  </a:lnTo>
                  <a:lnTo>
                    <a:pt x="571500" y="1000125"/>
                  </a:lnTo>
                  <a:lnTo>
                    <a:pt x="571500" y="142875"/>
                  </a:lnTo>
                  <a:lnTo>
                    <a:pt x="578772" y="97669"/>
                  </a:lnTo>
                  <a:lnTo>
                    <a:pt x="599032" y="58443"/>
                  </a:lnTo>
                  <a:lnTo>
                    <a:pt x="629943" y="27532"/>
                  </a:lnTo>
                  <a:lnTo>
                    <a:pt x="669169" y="7272"/>
                  </a:lnTo>
                  <a:lnTo>
                    <a:pt x="714375" y="0"/>
                  </a:lnTo>
                  <a:lnTo>
                    <a:pt x="759580" y="7272"/>
                  </a:lnTo>
                  <a:lnTo>
                    <a:pt x="798807" y="27532"/>
                  </a:lnTo>
                  <a:lnTo>
                    <a:pt x="829718" y="58443"/>
                  </a:lnTo>
                  <a:lnTo>
                    <a:pt x="849977" y="97669"/>
                  </a:lnTo>
                  <a:lnTo>
                    <a:pt x="857250" y="142875"/>
                  </a:lnTo>
                  <a:lnTo>
                    <a:pt x="857250" y="1000125"/>
                  </a:lnTo>
                  <a:lnTo>
                    <a:pt x="849977" y="1045330"/>
                  </a:lnTo>
                  <a:lnTo>
                    <a:pt x="829718" y="1084557"/>
                  </a:lnTo>
                  <a:lnTo>
                    <a:pt x="798807" y="1115468"/>
                  </a:lnTo>
                  <a:lnTo>
                    <a:pt x="759580" y="1135727"/>
                  </a:lnTo>
                  <a:lnTo>
                    <a:pt x="714375" y="1143000"/>
                  </a:lnTo>
                  <a:close/>
                </a:path>
                <a:path w="1428750" h="1143000">
                  <a:moveTo>
                    <a:pt x="142875" y="1000125"/>
                  </a:moveTo>
                  <a:lnTo>
                    <a:pt x="97669" y="992852"/>
                  </a:lnTo>
                  <a:lnTo>
                    <a:pt x="58443" y="972593"/>
                  </a:lnTo>
                  <a:lnTo>
                    <a:pt x="27532" y="941682"/>
                  </a:lnTo>
                  <a:lnTo>
                    <a:pt x="7272" y="902455"/>
                  </a:lnTo>
                  <a:lnTo>
                    <a:pt x="0" y="857250"/>
                  </a:lnTo>
                  <a:lnTo>
                    <a:pt x="0" y="285750"/>
                  </a:lnTo>
                  <a:lnTo>
                    <a:pt x="7272" y="240544"/>
                  </a:lnTo>
                  <a:lnTo>
                    <a:pt x="27532" y="201318"/>
                  </a:lnTo>
                  <a:lnTo>
                    <a:pt x="58443" y="170407"/>
                  </a:lnTo>
                  <a:lnTo>
                    <a:pt x="97669" y="150147"/>
                  </a:lnTo>
                  <a:lnTo>
                    <a:pt x="142875" y="142875"/>
                  </a:lnTo>
                  <a:lnTo>
                    <a:pt x="188080" y="150147"/>
                  </a:lnTo>
                  <a:lnTo>
                    <a:pt x="227306" y="170407"/>
                  </a:lnTo>
                  <a:lnTo>
                    <a:pt x="258217" y="201318"/>
                  </a:lnTo>
                  <a:lnTo>
                    <a:pt x="278477" y="240544"/>
                  </a:lnTo>
                  <a:lnTo>
                    <a:pt x="285750" y="285750"/>
                  </a:lnTo>
                  <a:lnTo>
                    <a:pt x="285750" y="857250"/>
                  </a:lnTo>
                  <a:lnTo>
                    <a:pt x="278477" y="902455"/>
                  </a:lnTo>
                  <a:lnTo>
                    <a:pt x="258217" y="941682"/>
                  </a:lnTo>
                  <a:lnTo>
                    <a:pt x="227306" y="972593"/>
                  </a:lnTo>
                  <a:lnTo>
                    <a:pt x="188080" y="992852"/>
                  </a:lnTo>
                  <a:lnTo>
                    <a:pt x="142875" y="1000125"/>
                  </a:lnTo>
                  <a:close/>
                </a:path>
                <a:path w="1428750" h="1143000">
                  <a:moveTo>
                    <a:pt x="1285875" y="857250"/>
                  </a:moveTo>
                  <a:lnTo>
                    <a:pt x="1240669" y="849977"/>
                  </a:lnTo>
                  <a:lnTo>
                    <a:pt x="1201443" y="829718"/>
                  </a:lnTo>
                  <a:lnTo>
                    <a:pt x="1170532" y="798807"/>
                  </a:lnTo>
                  <a:lnTo>
                    <a:pt x="1150272" y="759580"/>
                  </a:lnTo>
                  <a:lnTo>
                    <a:pt x="1143000" y="714375"/>
                  </a:lnTo>
                  <a:lnTo>
                    <a:pt x="1143000" y="428625"/>
                  </a:lnTo>
                  <a:lnTo>
                    <a:pt x="1150272" y="383419"/>
                  </a:lnTo>
                  <a:lnTo>
                    <a:pt x="1170532" y="344193"/>
                  </a:lnTo>
                  <a:lnTo>
                    <a:pt x="1201443" y="313282"/>
                  </a:lnTo>
                  <a:lnTo>
                    <a:pt x="1240669" y="293022"/>
                  </a:lnTo>
                  <a:lnTo>
                    <a:pt x="1285875" y="285750"/>
                  </a:lnTo>
                  <a:lnTo>
                    <a:pt x="1331080" y="293022"/>
                  </a:lnTo>
                  <a:lnTo>
                    <a:pt x="1370307" y="313282"/>
                  </a:lnTo>
                  <a:lnTo>
                    <a:pt x="1401218" y="344193"/>
                  </a:lnTo>
                  <a:lnTo>
                    <a:pt x="1421477" y="383419"/>
                  </a:lnTo>
                  <a:lnTo>
                    <a:pt x="1428750" y="428625"/>
                  </a:lnTo>
                  <a:lnTo>
                    <a:pt x="1428750" y="714375"/>
                  </a:lnTo>
                  <a:lnTo>
                    <a:pt x="1421477" y="759580"/>
                  </a:lnTo>
                  <a:lnTo>
                    <a:pt x="1401218" y="798807"/>
                  </a:lnTo>
                  <a:lnTo>
                    <a:pt x="1370307" y="829718"/>
                  </a:lnTo>
                  <a:lnTo>
                    <a:pt x="1331080" y="849977"/>
                  </a:lnTo>
                  <a:lnTo>
                    <a:pt x="1285875" y="857250"/>
                  </a:lnTo>
                  <a:close/>
                </a:path>
              </a:pathLst>
            </a:custGeom>
            <a:solidFill>
              <a:srgbClr val="1D3A8A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6061" y="4500562"/>
              <a:ext cx="142875" cy="1428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6061" y="5643562"/>
              <a:ext cx="142875" cy="14287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34561" y="4643437"/>
              <a:ext cx="142875" cy="14287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7561" y="4786312"/>
              <a:ext cx="142875" cy="14287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34561" y="5500687"/>
              <a:ext cx="142875" cy="14287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77561" y="5357812"/>
              <a:ext cx="142875" cy="14287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0" y="1333499"/>
              <a:ext cx="4791075" cy="3362325"/>
            </a:xfrm>
            <a:custGeom>
              <a:avLst/>
              <a:gdLst/>
              <a:ahLst/>
              <a:cxnLst/>
              <a:rect l="l" t="t" r="r" b="b"/>
              <a:pathLst>
                <a:path w="4791075" h="3362325">
                  <a:moveTo>
                    <a:pt x="4762487" y="3333750"/>
                  </a:moveTo>
                  <a:lnTo>
                    <a:pt x="3809987" y="3333750"/>
                  </a:lnTo>
                  <a:lnTo>
                    <a:pt x="3809987" y="3362325"/>
                  </a:lnTo>
                  <a:lnTo>
                    <a:pt x="4762487" y="3362325"/>
                  </a:lnTo>
                  <a:lnTo>
                    <a:pt x="4762487" y="3333750"/>
                  </a:lnTo>
                  <a:close/>
                </a:path>
                <a:path w="4791075" h="3362325">
                  <a:moveTo>
                    <a:pt x="4791062" y="1905000"/>
                  </a:moveTo>
                  <a:lnTo>
                    <a:pt x="4762487" y="1905000"/>
                  </a:lnTo>
                  <a:lnTo>
                    <a:pt x="2886062" y="1905000"/>
                  </a:lnTo>
                  <a:lnTo>
                    <a:pt x="2886062" y="0"/>
                  </a:lnTo>
                  <a:lnTo>
                    <a:pt x="2857487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2857487" y="28575"/>
                  </a:lnTo>
                  <a:lnTo>
                    <a:pt x="2857487" y="1905000"/>
                  </a:lnTo>
                  <a:lnTo>
                    <a:pt x="2857487" y="1933575"/>
                  </a:lnTo>
                  <a:lnTo>
                    <a:pt x="4762487" y="1933575"/>
                  </a:lnTo>
                  <a:lnTo>
                    <a:pt x="4762487" y="3333750"/>
                  </a:lnTo>
                  <a:lnTo>
                    <a:pt x="4791062" y="3333750"/>
                  </a:lnTo>
                  <a:lnTo>
                    <a:pt x="4791062" y="190500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0349" y="1276349"/>
              <a:ext cx="114299" cy="11429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00349" y="3181349"/>
              <a:ext cx="114299" cy="114299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5349" y="3181349"/>
              <a:ext cx="114299" cy="114299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5349" y="4610099"/>
              <a:ext cx="114299" cy="11429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52849" y="4610099"/>
              <a:ext cx="114300" cy="11429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571499" y="2381249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1104899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11048999" y="0"/>
                  </a:lnTo>
                  <a:lnTo>
                    <a:pt x="11048999" y="9524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000" spc="-175"/>
              <a:t>Intelligent</a:t>
            </a:r>
            <a:r>
              <a:rPr dirty="0" sz="4000" spc="-55"/>
              <a:t> </a:t>
            </a:r>
            <a:r>
              <a:rPr dirty="0" sz="4000" spc="-210"/>
              <a:t>Coordination</a:t>
            </a:r>
            <a:r>
              <a:rPr dirty="0" sz="4000" spc="-50"/>
              <a:t> </a:t>
            </a:r>
            <a:r>
              <a:rPr dirty="0" sz="4000" spc="-204"/>
              <a:t>of</a:t>
            </a:r>
            <a:r>
              <a:rPr dirty="0" sz="4000" spc="-50"/>
              <a:t> </a:t>
            </a:r>
            <a:r>
              <a:rPr dirty="0" sz="4000" spc="-245"/>
              <a:t>Advanced</a:t>
            </a:r>
            <a:r>
              <a:rPr dirty="0" sz="4000" spc="-55"/>
              <a:t> </a:t>
            </a:r>
            <a:r>
              <a:rPr dirty="0" sz="4000" spc="-345"/>
              <a:t>FACTS</a:t>
            </a:r>
            <a:r>
              <a:rPr dirty="0" sz="4000" spc="-50"/>
              <a:t> </a:t>
            </a:r>
            <a:r>
              <a:rPr dirty="0" sz="4000" spc="-175"/>
              <a:t>Devices</a:t>
            </a:r>
            <a:endParaRPr sz="4000"/>
          </a:p>
        </p:txBody>
      </p:sp>
      <p:sp>
        <p:nvSpPr>
          <p:cNvPr id="19" name="object 19" descr=""/>
          <p:cNvSpPr txBox="1"/>
          <p:nvPr/>
        </p:nvSpPr>
        <p:spPr>
          <a:xfrm>
            <a:off x="558800" y="1250492"/>
            <a:ext cx="10753725" cy="74993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 marR="5080">
              <a:lnSpc>
                <a:spcPts val="2700"/>
              </a:lnSpc>
              <a:spcBef>
                <a:spcPts val="440"/>
              </a:spcBef>
            </a:pPr>
            <a:r>
              <a:rPr dirty="0" sz="2500" spc="-190" b="0">
                <a:solidFill>
                  <a:srgbClr val="1D40AF"/>
                </a:solidFill>
                <a:latin typeface="Roboto Medium"/>
                <a:cs typeface="Roboto Medium"/>
              </a:rPr>
              <a:t>A</a:t>
            </a:r>
            <a:r>
              <a:rPr dirty="0" sz="2500" spc="-15" b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dirty="0" sz="2500" spc="-120" b="0">
                <a:solidFill>
                  <a:srgbClr val="1D40AF"/>
                </a:solidFill>
                <a:latin typeface="Roboto Medium"/>
                <a:cs typeface="Roboto Medium"/>
              </a:rPr>
              <a:t>Multi-</a:t>
            </a:r>
            <a:r>
              <a:rPr dirty="0" sz="2500" spc="-130" b="0">
                <a:solidFill>
                  <a:srgbClr val="1D40AF"/>
                </a:solidFill>
                <a:latin typeface="Roboto Medium"/>
                <a:cs typeface="Roboto Medium"/>
              </a:rPr>
              <a:t>Objective</a:t>
            </a:r>
            <a:r>
              <a:rPr dirty="0" sz="2500" spc="-10" b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dirty="0" sz="2500" spc="-135" b="0">
                <a:solidFill>
                  <a:srgbClr val="1D40AF"/>
                </a:solidFill>
                <a:latin typeface="Roboto Medium"/>
                <a:cs typeface="Roboto Medium"/>
              </a:rPr>
              <a:t>Optimization</a:t>
            </a:r>
            <a:r>
              <a:rPr dirty="0" sz="2500" spc="-15" b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dirty="0" sz="2500" spc="-160" b="0">
                <a:solidFill>
                  <a:srgbClr val="1D40AF"/>
                </a:solidFill>
                <a:latin typeface="Roboto Medium"/>
                <a:cs typeface="Roboto Medium"/>
              </a:rPr>
              <a:t>Framework</a:t>
            </a:r>
            <a:r>
              <a:rPr dirty="0" sz="2500" spc="-10" b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dirty="0" sz="2500" spc="-110" b="0">
                <a:solidFill>
                  <a:srgbClr val="1D40AF"/>
                </a:solidFill>
                <a:latin typeface="Roboto Medium"/>
                <a:cs typeface="Roboto Medium"/>
              </a:rPr>
              <a:t>for</a:t>
            </a:r>
            <a:r>
              <a:rPr dirty="0" sz="2500" spc="-10" b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dirty="0" sz="2500" spc="-150" b="0">
                <a:solidFill>
                  <a:srgbClr val="1D40AF"/>
                </a:solidFill>
                <a:latin typeface="Roboto Medium"/>
                <a:cs typeface="Roboto Medium"/>
              </a:rPr>
              <a:t>Enhanced</a:t>
            </a:r>
            <a:r>
              <a:rPr dirty="0" sz="2500" spc="-15" b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dirty="0" sz="2500" spc="-160" b="0">
                <a:solidFill>
                  <a:srgbClr val="1D40AF"/>
                </a:solidFill>
                <a:latin typeface="Roboto Medium"/>
                <a:cs typeface="Roboto Medium"/>
              </a:rPr>
              <a:t>Power</a:t>
            </a:r>
            <a:r>
              <a:rPr dirty="0" sz="2500" spc="-10" b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dirty="0" sz="2500" spc="-160" b="0">
                <a:solidFill>
                  <a:srgbClr val="1D40AF"/>
                </a:solidFill>
                <a:latin typeface="Roboto Medium"/>
                <a:cs typeface="Roboto Medium"/>
              </a:rPr>
              <a:t>System</a:t>
            </a:r>
            <a:r>
              <a:rPr dirty="0" sz="2500" spc="-10" b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dirty="0" sz="2500" spc="-114" b="0">
                <a:solidFill>
                  <a:srgbClr val="1D40AF"/>
                </a:solidFill>
                <a:latin typeface="Roboto Medium"/>
                <a:cs typeface="Roboto Medium"/>
              </a:rPr>
              <a:t>Stability</a:t>
            </a:r>
            <a:r>
              <a:rPr dirty="0" sz="2500" spc="-15" b="0">
                <a:solidFill>
                  <a:srgbClr val="1D40AF"/>
                </a:solidFill>
                <a:latin typeface="Roboto Medium"/>
                <a:cs typeface="Roboto Medium"/>
              </a:rPr>
              <a:t> </a:t>
            </a:r>
            <a:r>
              <a:rPr dirty="0" sz="2500" spc="-25" b="0">
                <a:solidFill>
                  <a:srgbClr val="1D40AF"/>
                </a:solidFill>
                <a:latin typeface="Roboto Medium"/>
                <a:cs typeface="Roboto Medium"/>
              </a:rPr>
              <a:t>and </a:t>
            </a:r>
            <a:r>
              <a:rPr dirty="0" sz="2500" spc="-10" b="0">
                <a:solidFill>
                  <a:srgbClr val="1D40AF"/>
                </a:solidFill>
                <a:latin typeface="Roboto Medium"/>
                <a:cs typeface="Roboto Medium"/>
              </a:rPr>
              <a:t>Control</a:t>
            </a:r>
            <a:endParaRPr sz="2500">
              <a:latin typeface="Roboto Medium"/>
              <a:cs typeface="Roboto Medium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570562" y="2619374"/>
            <a:ext cx="11431270" cy="4048125"/>
            <a:chOff x="570562" y="2619374"/>
            <a:chExt cx="11431270" cy="4048125"/>
          </a:xfrm>
        </p:grpSpPr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499" y="2619374"/>
              <a:ext cx="150018" cy="171449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0562" y="2923906"/>
              <a:ext cx="173291" cy="17171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1499" y="3228974"/>
              <a:ext cx="150018" cy="171449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896599" y="2943224"/>
              <a:ext cx="152399" cy="152399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87098" y="2943224"/>
              <a:ext cx="152399" cy="152399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277597" y="2943224"/>
              <a:ext cx="152401" cy="15239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468097" y="2943224"/>
              <a:ext cx="152401" cy="152399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827583" y="2492826"/>
            <a:ext cx="2341880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3300"/>
              </a:lnSpc>
              <a:spcBef>
                <a:spcPts val="95"/>
              </a:spcBef>
            </a:pPr>
            <a:r>
              <a:rPr dirty="0" sz="1500" spc="-75" b="1">
                <a:latin typeface="Roboto"/>
                <a:cs typeface="Roboto"/>
              </a:rPr>
              <a:t>Presenter:</a:t>
            </a:r>
            <a:r>
              <a:rPr dirty="0" sz="1500" spc="-10" b="1">
                <a:latin typeface="Roboto"/>
                <a:cs typeface="Roboto"/>
              </a:rPr>
              <a:t> </a:t>
            </a:r>
            <a:r>
              <a:rPr dirty="0" sz="1450" spc="-70">
                <a:latin typeface="Roboto"/>
                <a:cs typeface="Roboto"/>
              </a:rPr>
              <a:t>[Your</a:t>
            </a:r>
            <a:r>
              <a:rPr dirty="0" sz="1450" spc="5">
                <a:latin typeface="Roboto"/>
                <a:cs typeface="Roboto"/>
              </a:rPr>
              <a:t> </a:t>
            </a:r>
            <a:r>
              <a:rPr dirty="0" sz="1450" spc="-20">
                <a:latin typeface="Roboto"/>
                <a:cs typeface="Roboto"/>
              </a:rPr>
              <a:t>Name] </a:t>
            </a:r>
            <a:r>
              <a:rPr dirty="0" sz="1500" spc="-75" b="1">
                <a:latin typeface="Roboto"/>
                <a:cs typeface="Roboto"/>
              </a:rPr>
              <a:t>Affiliation:</a:t>
            </a:r>
            <a:r>
              <a:rPr dirty="0" sz="1500" b="1">
                <a:latin typeface="Roboto"/>
                <a:cs typeface="Roboto"/>
              </a:rPr>
              <a:t> </a:t>
            </a:r>
            <a:r>
              <a:rPr dirty="0" sz="1450" spc="-70">
                <a:latin typeface="Roboto"/>
                <a:cs typeface="Roboto"/>
              </a:rPr>
              <a:t>[Your</a:t>
            </a:r>
            <a:r>
              <a:rPr dirty="0" sz="1450" spc="25">
                <a:latin typeface="Roboto"/>
                <a:cs typeface="Roboto"/>
              </a:rPr>
              <a:t> </a:t>
            </a:r>
            <a:r>
              <a:rPr dirty="0" sz="1450" spc="-35">
                <a:latin typeface="Roboto"/>
                <a:cs typeface="Roboto"/>
              </a:rPr>
              <a:t>Organization] </a:t>
            </a:r>
            <a:r>
              <a:rPr dirty="0" sz="1500" spc="-80" b="1">
                <a:latin typeface="Roboto"/>
                <a:cs typeface="Roboto"/>
              </a:rPr>
              <a:t>Date:</a:t>
            </a:r>
            <a:r>
              <a:rPr dirty="0" sz="1500" spc="5" b="1">
                <a:latin typeface="Roboto"/>
                <a:cs typeface="Roboto"/>
              </a:rPr>
              <a:t> </a:t>
            </a:r>
            <a:r>
              <a:rPr dirty="0" sz="1450" spc="-55">
                <a:latin typeface="Roboto"/>
                <a:cs typeface="Roboto"/>
              </a:rPr>
              <a:t>[Presentation</a:t>
            </a:r>
            <a:r>
              <a:rPr dirty="0" sz="1450" spc="25">
                <a:latin typeface="Roboto"/>
                <a:cs typeface="Roboto"/>
              </a:rPr>
              <a:t> </a:t>
            </a:r>
            <a:r>
              <a:rPr dirty="0" sz="1450" spc="-10">
                <a:latin typeface="Roboto"/>
                <a:cs typeface="Roboto"/>
              </a:rPr>
              <a:t>Date]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10833000" y="6403816"/>
            <a:ext cx="10668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0791825" cy="6854825"/>
            <a:chOff x="0" y="0"/>
            <a:chExt cx="10791825" cy="68548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0791503" cy="6854290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0" y="1686178"/>
              <a:ext cx="10791825" cy="3397885"/>
            </a:xfrm>
            <a:custGeom>
              <a:avLst/>
              <a:gdLst/>
              <a:ahLst/>
              <a:cxnLst/>
              <a:rect l="l" t="t" r="r" b="b"/>
              <a:pathLst>
                <a:path w="10791825" h="3397885">
                  <a:moveTo>
                    <a:pt x="2697873" y="3372345"/>
                  </a:moveTo>
                  <a:lnTo>
                    <a:pt x="1036993" y="3372345"/>
                  </a:lnTo>
                  <a:lnTo>
                    <a:pt x="1036993" y="0"/>
                  </a:lnTo>
                  <a:lnTo>
                    <a:pt x="1011694" y="0"/>
                  </a:lnTo>
                  <a:lnTo>
                    <a:pt x="0" y="0"/>
                  </a:lnTo>
                  <a:lnTo>
                    <a:pt x="0" y="25298"/>
                  </a:lnTo>
                  <a:lnTo>
                    <a:pt x="1011694" y="25298"/>
                  </a:lnTo>
                  <a:lnTo>
                    <a:pt x="1011694" y="3372345"/>
                  </a:lnTo>
                  <a:lnTo>
                    <a:pt x="1011694" y="3397631"/>
                  </a:lnTo>
                  <a:lnTo>
                    <a:pt x="2697873" y="3397631"/>
                  </a:lnTo>
                  <a:lnTo>
                    <a:pt x="2697873" y="3372345"/>
                  </a:lnTo>
                  <a:close/>
                </a:path>
                <a:path w="10791825" h="3397885">
                  <a:moveTo>
                    <a:pt x="10791495" y="843089"/>
                  </a:moveTo>
                  <a:lnTo>
                    <a:pt x="9948405" y="843089"/>
                  </a:lnTo>
                  <a:lnTo>
                    <a:pt x="9923120" y="843089"/>
                  </a:lnTo>
                  <a:lnTo>
                    <a:pt x="9923120" y="2950807"/>
                  </a:lnTo>
                  <a:lnTo>
                    <a:pt x="9273946" y="2950807"/>
                  </a:lnTo>
                  <a:lnTo>
                    <a:pt x="9273946" y="2976092"/>
                  </a:lnTo>
                  <a:lnTo>
                    <a:pt x="9948405" y="2976092"/>
                  </a:lnTo>
                  <a:lnTo>
                    <a:pt x="9948405" y="2950807"/>
                  </a:lnTo>
                  <a:lnTo>
                    <a:pt x="9948405" y="868375"/>
                  </a:lnTo>
                  <a:lnTo>
                    <a:pt x="10791495" y="868375"/>
                  </a:lnTo>
                  <a:lnTo>
                    <a:pt x="10791495" y="843089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6410" y="1660879"/>
              <a:ext cx="101170" cy="10117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6410" y="5033224"/>
              <a:ext cx="101170" cy="101170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72582" y="5033224"/>
              <a:ext cx="101170" cy="101170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72539" y="2503965"/>
              <a:ext cx="101170" cy="101170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872539" y="4611681"/>
              <a:ext cx="101170" cy="101170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98069" y="4611681"/>
              <a:ext cx="101171" cy="101170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522713" y="1121304"/>
              <a:ext cx="6458585" cy="438784"/>
            </a:xfrm>
            <a:custGeom>
              <a:avLst/>
              <a:gdLst/>
              <a:ahLst/>
              <a:cxnLst/>
              <a:rect l="l" t="t" r="r" b="b"/>
              <a:pathLst>
                <a:path w="6458584" h="438784">
                  <a:moveTo>
                    <a:pt x="6395021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6395021" y="0"/>
                  </a:lnTo>
                  <a:lnTo>
                    <a:pt x="6399406" y="431"/>
                  </a:lnTo>
                  <a:lnTo>
                    <a:pt x="6435153" y="16623"/>
                  </a:lnTo>
                  <a:lnTo>
                    <a:pt x="6455878" y="49944"/>
                  </a:lnTo>
                  <a:lnTo>
                    <a:pt x="6458039" y="63018"/>
                  </a:lnTo>
                  <a:lnTo>
                    <a:pt x="6458039" y="375386"/>
                  </a:lnTo>
                  <a:lnTo>
                    <a:pt x="6444212" y="412111"/>
                  </a:lnTo>
                  <a:lnTo>
                    <a:pt x="6412312" y="434965"/>
                  </a:lnTo>
                  <a:lnTo>
                    <a:pt x="6395021" y="43840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05851" y="1121304"/>
              <a:ext cx="34290" cy="438784"/>
            </a:xfrm>
            <a:custGeom>
              <a:avLst/>
              <a:gdLst/>
              <a:ahLst/>
              <a:cxnLst/>
              <a:rect l="l" t="t" r="r" b="b"/>
              <a:pathLst>
                <a:path w="34290" h="438784">
                  <a:moveTo>
                    <a:pt x="33723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33723" y="0"/>
                  </a:lnTo>
                  <a:lnTo>
                    <a:pt x="33723" y="43840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522713" y="1644018"/>
              <a:ext cx="6458585" cy="438784"/>
            </a:xfrm>
            <a:custGeom>
              <a:avLst/>
              <a:gdLst/>
              <a:ahLst/>
              <a:cxnLst/>
              <a:rect l="l" t="t" r="r" b="b"/>
              <a:pathLst>
                <a:path w="6458584" h="438785">
                  <a:moveTo>
                    <a:pt x="6395021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6395021" y="0"/>
                  </a:lnTo>
                  <a:lnTo>
                    <a:pt x="6399406" y="431"/>
                  </a:lnTo>
                  <a:lnTo>
                    <a:pt x="6435153" y="16623"/>
                  </a:lnTo>
                  <a:lnTo>
                    <a:pt x="6455878" y="49944"/>
                  </a:lnTo>
                  <a:lnTo>
                    <a:pt x="6458039" y="63018"/>
                  </a:lnTo>
                  <a:lnTo>
                    <a:pt x="6458039" y="375386"/>
                  </a:lnTo>
                  <a:lnTo>
                    <a:pt x="6444212" y="412111"/>
                  </a:lnTo>
                  <a:lnTo>
                    <a:pt x="6412312" y="434965"/>
                  </a:lnTo>
                  <a:lnTo>
                    <a:pt x="6395021" y="43840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505851" y="1644018"/>
              <a:ext cx="34290" cy="438784"/>
            </a:xfrm>
            <a:custGeom>
              <a:avLst/>
              <a:gdLst/>
              <a:ahLst/>
              <a:cxnLst/>
              <a:rect l="l" t="t" r="r" b="b"/>
              <a:pathLst>
                <a:path w="34290" h="438785">
                  <a:moveTo>
                    <a:pt x="33723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33723" y="0"/>
                  </a:lnTo>
                  <a:lnTo>
                    <a:pt x="33723" y="43840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22713" y="2166731"/>
              <a:ext cx="6458585" cy="438784"/>
            </a:xfrm>
            <a:custGeom>
              <a:avLst/>
              <a:gdLst/>
              <a:ahLst/>
              <a:cxnLst/>
              <a:rect l="l" t="t" r="r" b="b"/>
              <a:pathLst>
                <a:path w="6458584" h="438785">
                  <a:moveTo>
                    <a:pt x="6395021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6395021" y="0"/>
                  </a:lnTo>
                  <a:lnTo>
                    <a:pt x="6399406" y="431"/>
                  </a:lnTo>
                  <a:lnTo>
                    <a:pt x="6435153" y="16623"/>
                  </a:lnTo>
                  <a:lnTo>
                    <a:pt x="6455878" y="49945"/>
                  </a:lnTo>
                  <a:lnTo>
                    <a:pt x="6458039" y="63018"/>
                  </a:lnTo>
                  <a:lnTo>
                    <a:pt x="6458039" y="375386"/>
                  </a:lnTo>
                  <a:lnTo>
                    <a:pt x="6444212" y="412111"/>
                  </a:lnTo>
                  <a:lnTo>
                    <a:pt x="6412312" y="434965"/>
                  </a:lnTo>
                  <a:lnTo>
                    <a:pt x="6395021" y="43840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505851" y="2166731"/>
              <a:ext cx="34290" cy="438784"/>
            </a:xfrm>
            <a:custGeom>
              <a:avLst/>
              <a:gdLst/>
              <a:ahLst/>
              <a:cxnLst/>
              <a:rect l="l" t="t" r="r" b="b"/>
              <a:pathLst>
                <a:path w="34290" h="438785">
                  <a:moveTo>
                    <a:pt x="33723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33723" y="0"/>
                  </a:lnTo>
                  <a:lnTo>
                    <a:pt x="33723" y="43840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522713" y="2689444"/>
              <a:ext cx="6458585" cy="438784"/>
            </a:xfrm>
            <a:custGeom>
              <a:avLst/>
              <a:gdLst/>
              <a:ahLst/>
              <a:cxnLst/>
              <a:rect l="l" t="t" r="r" b="b"/>
              <a:pathLst>
                <a:path w="6458584" h="438785">
                  <a:moveTo>
                    <a:pt x="6395021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6395021" y="0"/>
                  </a:lnTo>
                  <a:lnTo>
                    <a:pt x="6399406" y="431"/>
                  </a:lnTo>
                  <a:lnTo>
                    <a:pt x="6435153" y="16623"/>
                  </a:lnTo>
                  <a:lnTo>
                    <a:pt x="6455878" y="49945"/>
                  </a:lnTo>
                  <a:lnTo>
                    <a:pt x="6458039" y="63018"/>
                  </a:lnTo>
                  <a:lnTo>
                    <a:pt x="6458039" y="375386"/>
                  </a:lnTo>
                  <a:lnTo>
                    <a:pt x="6444212" y="412111"/>
                  </a:lnTo>
                  <a:lnTo>
                    <a:pt x="6412312" y="434965"/>
                  </a:lnTo>
                  <a:lnTo>
                    <a:pt x="6395021" y="43840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505851" y="2689444"/>
              <a:ext cx="34290" cy="438784"/>
            </a:xfrm>
            <a:custGeom>
              <a:avLst/>
              <a:gdLst/>
              <a:ahLst/>
              <a:cxnLst/>
              <a:rect l="l" t="t" r="r" b="b"/>
              <a:pathLst>
                <a:path w="34290" h="438785">
                  <a:moveTo>
                    <a:pt x="33723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33723" y="0"/>
                  </a:lnTo>
                  <a:lnTo>
                    <a:pt x="33723" y="43840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22713" y="3212158"/>
              <a:ext cx="6458585" cy="438784"/>
            </a:xfrm>
            <a:custGeom>
              <a:avLst/>
              <a:gdLst/>
              <a:ahLst/>
              <a:cxnLst/>
              <a:rect l="l" t="t" r="r" b="b"/>
              <a:pathLst>
                <a:path w="6458584" h="438785">
                  <a:moveTo>
                    <a:pt x="6395021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6395021" y="0"/>
                  </a:lnTo>
                  <a:lnTo>
                    <a:pt x="6399406" y="431"/>
                  </a:lnTo>
                  <a:lnTo>
                    <a:pt x="6435153" y="16622"/>
                  </a:lnTo>
                  <a:lnTo>
                    <a:pt x="6455878" y="49944"/>
                  </a:lnTo>
                  <a:lnTo>
                    <a:pt x="6458039" y="63018"/>
                  </a:lnTo>
                  <a:lnTo>
                    <a:pt x="6458039" y="375386"/>
                  </a:lnTo>
                  <a:lnTo>
                    <a:pt x="6444212" y="412111"/>
                  </a:lnTo>
                  <a:lnTo>
                    <a:pt x="6412312" y="434965"/>
                  </a:lnTo>
                  <a:lnTo>
                    <a:pt x="6395021" y="43840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505851" y="3212158"/>
              <a:ext cx="34290" cy="438784"/>
            </a:xfrm>
            <a:custGeom>
              <a:avLst/>
              <a:gdLst/>
              <a:ahLst/>
              <a:cxnLst/>
              <a:rect l="l" t="t" r="r" b="b"/>
              <a:pathLst>
                <a:path w="34290" h="438785">
                  <a:moveTo>
                    <a:pt x="33723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33723" y="0"/>
                  </a:lnTo>
                  <a:lnTo>
                    <a:pt x="33723" y="43840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522713" y="3734871"/>
              <a:ext cx="6458585" cy="438784"/>
            </a:xfrm>
            <a:custGeom>
              <a:avLst/>
              <a:gdLst/>
              <a:ahLst/>
              <a:cxnLst/>
              <a:rect l="l" t="t" r="r" b="b"/>
              <a:pathLst>
                <a:path w="6458584" h="438785">
                  <a:moveTo>
                    <a:pt x="6395021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6395021" y="0"/>
                  </a:lnTo>
                  <a:lnTo>
                    <a:pt x="6399406" y="431"/>
                  </a:lnTo>
                  <a:lnTo>
                    <a:pt x="6435153" y="16622"/>
                  </a:lnTo>
                  <a:lnTo>
                    <a:pt x="6455878" y="49944"/>
                  </a:lnTo>
                  <a:lnTo>
                    <a:pt x="6458039" y="63018"/>
                  </a:lnTo>
                  <a:lnTo>
                    <a:pt x="6458039" y="375386"/>
                  </a:lnTo>
                  <a:lnTo>
                    <a:pt x="6444212" y="412111"/>
                  </a:lnTo>
                  <a:lnTo>
                    <a:pt x="6412312" y="434964"/>
                  </a:lnTo>
                  <a:lnTo>
                    <a:pt x="6395021" y="43840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505851" y="3734871"/>
              <a:ext cx="34290" cy="438784"/>
            </a:xfrm>
            <a:custGeom>
              <a:avLst/>
              <a:gdLst/>
              <a:ahLst/>
              <a:cxnLst/>
              <a:rect l="l" t="t" r="r" b="b"/>
              <a:pathLst>
                <a:path w="34290" h="438785">
                  <a:moveTo>
                    <a:pt x="33723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33723" y="0"/>
                  </a:lnTo>
                  <a:lnTo>
                    <a:pt x="33723" y="43840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522713" y="4257585"/>
              <a:ext cx="6458585" cy="438784"/>
            </a:xfrm>
            <a:custGeom>
              <a:avLst/>
              <a:gdLst/>
              <a:ahLst/>
              <a:cxnLst/>
              <a:rect l="l" t="t" r="r" b="b"/>
              <a:pathLst>
                <a:path w="6458584" h="438785">
                  <a:moveTo>
                    <a:pt x="6395021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6395021" y="0"/>
                  </a:lnTo>
                  <a:lnTo>
                    <a:pt x="6399406" y="431"/>
                  </a:lnTo>
                  <a:lnTo>
                    <a:pt x="6435153" y="16622"/>
                  </a:lnTo>
                  <a:lnTo>
                    <a:pt x="6455878" y="49944"/>
                  </a:lnTo>
                  <a:lnTo>
                    <a:pt x="6458039" y="63017"/>
                  </a:lnTo>
                  <a:lnTo>
                    <a:pt x="6458039" y="375385"/>
                  </a:lnTo>
                  <a:lnTo>
                    <a:pt x="6444212" y="412111"/>
                  </a:lnTo>
                  <a:lnTo>
                    <a:pt x="6412312" y="434964"/>
                  </a:lnTo>
                  <a:lnTo>
                    <a:pt x="6395021" y="43840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505851" y="4257585"/>
              <a:ext cx="34290" cy="438784"/>
            </a:xfrm>
            <a:custGeom>
              <a:avLst/>
              <a:gdLst/>
              <a:ahLst/>
              <a:cxnLst/>
              <a:rect l="l" t="t" r="r" b="b"/>
              <a:pathLst>
                <a:path w="34290" h="438785">
                  <a:moveTo>
                    <a:pt x="33723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33723" y="0"/>
                  </a:lnTo>
                  <a:lnTo>
                    <a:pt x="33723" y="43840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522713" y="4780298"/>
              <a:ext cx="6458585" cy="438784"/>
            </a:xfrm>
            <a:custGeom>
              <a:avLst/>
              <a:gdLst/>
              <a:ahLst/>
              <a:cxnLst/>
              <a:rect l="l" t="t" r="r" b="b"/>
              <a:pathLst>
                <a:path w="6458584" h="438785">
                  <a:moveTo>
                    <a:pt x="6395021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6395021" y="0"/>
                  </a:lnTo>
                  <a:lnTo>
                    <a:pt x="6399406" y="431"/>
                  </a:lnTo>
                  <a:lnTo>
                    <a:pt x="6435153" y="16622"/>
                  </a:lnTo>
                  <a:lnTo>
                    <a:pt x="6455878" y="49944"/>
                  </a:lnTo>
                  <a:lnTo>
                    <a:pt x="6458039" y="63017"/>
                  </a:lnTo>
                  <a:lnTo>
                    <a:pt x="6458039" y="375385"/>
                  </a:lnTo>
                  <a:lnTo>
                    <a:pt x="6444212" y="412110"/>
                  </a:lnTo>
                  <a:lnTo>
                    <a:pt x="6412312" y="434964"/>
                  </a:lnTo>
                  <a:lnTo>
                    <a:pt x="6395021" y="43840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505851" y="4780298"/>
              <a:ext cx="34290" cy="438784"/>
            </a:xfrm>
            <a:custGeom>
              <a:avLst/>
              <a:gdLst/>
              <a:ahLst/>
              <a:cxnLst/>
              <a:rect l="l" t="t" r="r" b="b"/>
              <a:pathLst>
                <a:path w="34290" h="438785">
                  <a:moveTo>
                    <a:pt x="33723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33723" y="0"/>
                  </a:lnTo>
                  <a:lnTo>
                    <a:pt x="33723" y="43840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22713" y="5303011"/>
              <a:ext cx="6458585" cy="438784"/>
            </a:xfrm>
            <a:custGeom>
              <a:avLst/>
              <a:gdLst/>
              <a:ahLst/>
              <a:cxnLst/>
              <a:rect l="l" t="t" r="r" b="b"/>
              <a:pathLst>
                <a:path w="6458584" h="438785">
                  <a:moveTo>
                    <a:pt x="6395021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6395021" y="0"/>
                  </a:lnTo>
                  <a:lnTo>
                    <a:pt x="6399406" y="431"/>
                  </a:lnTo>
                  <a:lnTo>
                    <a:pt x="6435153" y="16622"/>
                  </a:lnTo>
                  <a:lnTo>
                    <a:pt x="6455878" y="49944"/>
                  </a:lnTo>
                  <a:lnTo>
                    <a:pt x="6458039" y="63017"/>
                  </a:lnTo>
                  <a:lnTo>
                    <a:pt x="6458039" y="375386"/>
                  </a:lnTo>
                  <a:lnTo>
                    <a:pt x="6444212" y="412110"/>
                  </a:lnTo>
                  <a:lnTo>
                    <a:pt x="6412312" y="434964"/>
                  </a:lnTo>
                  <a:lnTo>
                    <a:pt x="6395021" y="43840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505851" y="5303011"/>
              <a:ext cx="34290" cy="438784"/>
            </a:xfrm>
            <a:custGeom>
              <a:avLst/>
              <a:gdLst/>
              <a:ahLst/>
              <a:cxnLst/>
              <a:rect l="l" t="t" r="r" b="b"/>
              <a:pathLst>
                <a:path w="34290" h="438785">
                  <a:moveTo>
                    <a:pt x="33723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33723" y="0"/>
                  </a:lnTo>
                  <a:lnTo>
                    <a:pt x="33723" y="43840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522713" y="5825725"/>
              <a:ext cx="6458585" cy="438784"/>
            </a:xfrm>
            <a:custGeom>
              <a:avLst/>
              <a:gdLst/>
              <a:ahLst/>
              <a:cxnLst/>
              <a:rect l="l" t="t" r="r" b="b"/>
              <a:pathLst>
                <a:path w="6458584" h="438785">
                  <a:moveTo>
                    <a:pt x="6395021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6395021" y="0"/>
                  </a:lnTo>
                  <a:lnTo>
                    <a:pt x="6399406" y="431"/>
                  </a:lnTo>
                  <a:lnTo>
                    <a:pt x="6435153" y="16622"/>
                  </a:lnTo>
                  <a:lnTo>
                    <a:pt x="6455878" y="49944"/>
                  </a:lnTo>
                  <a:lnTo>
                    <a:pt x="6458039" y="63017"/>
                  </a:lnTo>
                  <a:lnTo>
                    <a:pt x="6458039" y="375386"/>
                  </a:lnTo>
                  <a:lnTo>
                    <a:pt x="6444212" y="412111"/>
                  </a:lnTo>
                  <a:lnTo>
                    <a:pt x="6412312" y="434964"/>
                  </a:lnTo>
                  <a:lnTo>
                    <a:pt x="6395021" y="43840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505851" y="5825725"/>
              <a:ext cx="34290" cy="438784"/>
            </a:xfrm>
            <a:custGeom>
              <a:avLst/>
              <a:gdLst/>
              <a:ahLst/>
              <a:cxnLst/>
              <a:rect l="l" t="t" r="r" b="b"/>
              <a:pathLst>
                <a:path w="34290" h="438785">
                  <a:moveTo>
                    <a:pt x="33723" y="438404"/>
                  </a:moveTo>
                  <a:lnTo>
                    <a:pt x="0" y="438404"/>
                  </a:lnTo>
                  <a:lnTo>
                    <a:pt x="0" y="0"/>
                  </a:lnTo>
                  <a:lnTo>
                    <a:pt x="33723" y="0"/>
                  </a:lnTo>
                  <a:lnTo>
                    <a:pt x="33723" y="43840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>
            <a:spLocks noGrp="1"/>
          </p:cNvSpPr>
          <p:nvPr>
            <p:ph type="title"/>
          </p:nvPr>
        </p:nvSpPr>
        <p:spPr>
          <a:xfrm>
            <a:off x="493151" y="433713"/>
            <a:ext cx="1070610" cy="43116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650" spc="-150"/>
              <a:t>Agenda</a:t>
            </a:r>
            <a:endParaRPr sz="2650"/>
          </a:p>
        </p:txBody>
      </p:sp>
      <p:sp>
        <p:nvSpPr>
          <p:cNvPr id="32" name="object 32" descr=""/>
          <p:cNvSpPr txBox="1"/>
          <p:nvPr/>
        </p:nvSpPr>
        <p:spPr>
          <a:xfrm>
            <a:off x="772028" y="1224385"/>
            <a:ext cx="14224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25" b="1">
                <a:solidFill>
                  <a:srgbClr val="1D40AF"/>
                </a:solidFill>
                <a:latin typeface="Arial Nova"/>
                <a:cs typeface="Arial Nova"/>
              </a:rPr>
              <a:t>1.</a:t>
            </a:r>
            <a:endParaRPr sz="1150">
              <a:latin typeface="Arial Nova"/>
              <a:cs typeface="Arial Nova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977979" y="1222474"/>
            <a:ext cx="236220" cy="4418330"/>
            <a:chOff x="977979" y="1222474"/>
            <a:chExt cx="236220" cy="4418330"/>
          </a:xfrm>
        </p:grpSpPr>
        <p:pic>
          <p:nvPicPr>
            <p:cNvPr id="34" name="object 3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7979" y="1222474"/>
              <a:ext cx="236064" cy="236063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7979" y="1745188"/>
              <a:ext cx="236064" cy="236063"/>
            </a:xfrm>
            <a:prstGeom prst="rect">
              <a:avLst/>
            </a:prstGeom>
          </p:spPr>
        </p:pic>
        <p:pic>
          <p:nvPicPr>
            <p:cNvPr id="36" name="object 3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7979" y="2267901"/>
              <a:ext cx="236064" cy="236064"/>
            </a:xfrm>
            <a:prstGeom prst="rect">
              <a:avLst/>
            </a:prstGeom>
          </p:spPr>
        </p:pic>
        <p:pic>
          <p:nvPicPr>
            <p:cNvPr id="37" name="object 3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77979" y="2790615"/>
              <a:ext cx="236064" cy="236064"/>
            </a:xfrm>
            <a:prstGeom prst="rect">
              <a:avLst/>
            </a:prstGeom>
          </p:spPr>
        </p:pic>
        <p:pic>
          <p:nvPicPr>
            <p:cNvPr id="38" name="object 3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77979" y="3313328"/>
              <a:ext cx="236064" cy="236063"/>
            </a:xfrm>
            <a:prstGeom prst="rect">
              <a:avLst/>
            </a:prstGeom>
          </p:spPr>
        </p:pic>
        <p:pic>
          <p:nvPicPr>
            <p:cNvPr id="39" name="object 3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77979" y="3836042"/>
              <a:ext cx="236064" cy="236063"/>
            </a:xfrm>
            <a:prstGeom prst="rect">
              <a:avLst/>
            </a:prstGeom>
          </p:spPr>
        </p:pic>
        <p:pic>
          <p:nvPicPr>
            <p:cNvPr id="40" name="object 40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77979" y="4358755"/>
              <a:ext cx="236064" cy="236064"/>
            </a:xfrm>
            <a:prstGeom prst="rect">
              <a:avLst/>
            </a:prstGeom>
          </p:spPr>
        </p:pic>
        <p:pic>
          <p:nvPicPr>
            <p:cNvPr id="41" name="object 41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77979" y="4881468"/>
              <a:ext cx="236064" cy="236064"/>
            </a:xfrm>
            <a:prstGeom prst="rect">
              <a:avLst/>
            </a:prstGeom>
          </p:spPr>
        </p:pic>
        <p:pic>
          <p:nvPicPr>
            <p:cNvPr id="42" name="object 4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7979" y="5404182"/>
              <a:ext cx="236064" cy="236063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1336237" y="1199236"/>
            <a:ext cx="191897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55">
                <a:latin typeface="Roboto"/>
                <a:cs typeface="Roboto"/>
              </a:rPr>
              <a:t>Introduction</a:t>
            </a:r>
            <a:r>
              <a:rPr dirty="0" sz="1450" spc="-25">
                <a:latin typeface="Roboto"/>
                <a:cs typeface="Roboto"/>
              </a:rPr>
              <a:t> </a:t>
            </a:r>
            <a:r>
              <a:rPr dirty="0" sz="1450" spc="-90">
                <a:latin typeface="Roboto"/>
                <a:cs typeface="Roboto"/>
              </a:rPr>
              <a:t>&amp;</a:t>
            </a:r>
            <a:r>
              <a:rPr dirty="0" sz="1450" spc="-25">
                <a:latin typeface="Roboto"/>
                <a:cs typeface="Roboto"/>
              </a:rPr>
              <a:t> </a:t>
            </a:r>
            <a:r>
              <a:rPr dirty="0" sz="1450" spc="-60">
                <a:latin typeface="Roboto"/>
                <a:cs typeface="Roboto"/>
              </a:rPr>
              <a:t>Motivation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772028" y="1747099"/>
            <a:ext cx="14224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25" b="1">
                <a:solidFill>
                  <a:srgbClr val="1D40AF"/>
                </a:solidFill>
                <a:latin typeface="Arial Nova"/>
                <a:cs typeface="Arial Nova"/>
              </a:rPr>
              <a:t>2.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1336237" y="1721949"/>
            <a:ext cx="249428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80">
                <a:latin typeface="Roboto"/>
                <a:cs typeface="Roboto"/>
              </a:rPr>
              <a:t>Modern</a:t>
            </a:r>
            <a:r>
              <a:rPr dirty="0" sz="1450" spc="20">
                <a:latin typeface="Roboto"/>
                <a:cs typeface="Roboto"/>
              </a:rPr>
              <a:t> </a:t>
            </a:r>
            <a:r>
              <a:rPr dirty="0" sz="1450" spc="-120">
                <a:latin typeface="Roboto"/>
                <a:cs typeface="Roboto"/>
              </a:rPr>
              <a:t>FACTS</a:t>
            </a:r>
            <a:r>
              <a:rPr dirty="0" sz="1450" spc="20">
                <a:latin typeface="Roboto"/>
                <a:cs typeface="Roboto"/>
              </a:rPr>
              <a:t> </a:t>
            </a:r>
            <a:r>
              <a:rPr dirty="0" sz="1450" spc="-70">
                <a:latin typeface="Roboto"/>
                <a:cs typeface="Roboto"/>
              </a:rPr>
              <a:t>Devices</a:t>
            </a:r>
            <a:r>
              <a:rPr dirty="0" sz="1450" spc="20">
                <a:latin typeface="Roboto"/>
                <a:cs typeface="Roboto"/>
              </a:rPr>
              <a:t> </a:t>
            </a:r>
            <a:r>
              <a:rPr dirty="0" sz="1450" spc="-50">
                <a:latin typeface="Roboto"/>
                <a:cs typeface="Roboto"/>
              </a:rPr>
              <a:t>Overview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772028" y="2269812"/>
            <a:ext cx="14224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25" b="1">
                <a:solidFill>
                  <a:srgbClr val="1D40AF"/>
                </a:solidFill>
                <a:latin typeface="Arial Nova"/>
                <a:cs typeface="Arial Nova"/>
              </a:rPr>
              <a:t>3.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336237" y="2244663"/>
            <a:ext cx="2883535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75">
                <a:latin typeface="Roboto"/>
                <a:cs typeface="Roboto"/>
              </a:rPr>
              <a:t>Technical</a:t>
            </a:r>
            <a:r>
              <a:rPr dirty="0" sz="1450" spc="10">
                <a:latin typeface="Roboto"/>
                <a:cs typeface="Roboto"/>
              </a:rPr>
              <a:t> </a:t>
            </a:r>
            <a:r>
              <a:rPr dirty="0" sz="1450" spc="-75">
                <a:latin typeface="Roboto"/>
                <a:cs typeface="Roboto"/>
              </a:rPr>
              <a:t>Approach</a:t>
            </a:r>
            <a:r>
              <a:rPr dirty="0" sz="1450" spc="15">
                <a:latin typeface="Roboto"/>
                <a:cs typeface="Roboto"/>
              </a:rPr>
              <a:t> </a:t>
            </a:r>
            <a:r>
              <a:rPr dirty="0" sz="1450" spc="-90">
                <a:latin typeface="Roboto"/>
                <a:cs typeface="Roboto"/>
              </a:rPr>
              <a:t>&amp;</a:t>
            </a:r>
            <a:r>
              <a:rPr dirty="0" sz="1450" spc="15">
                <a:latin typeface="Roboto"/>
                <a:cs typeface="Roboto"/>
              </a:rPr>
              <a:t> </a:t>
            </a:r>
            <a:r>
              <a:rPr dirty="0" sz="1450" spc="-90">
                <a:latin typeface="Roboto"/>
                <a:cs typeface="Roboto"/>
              </a:rPr>
              <a:t>Key</a:t>
            </a:r>
            <a:r>
              <a:rPr dirty="0" sz="1450" spc="15">
                <a:latin typeface="Roboto"/>
                <a:cs typeface="Roboto"/>
              </a:rPr>
              <a:t> </a:t>
            </a:r>
            <a:r>
              <a:rPr dirty="0" sz="1450" spc="-60">
                <a:latin typeface="Roboto"/>
                <a:cs typeface="Roboto"/>
              </a:rPr>
              <a:t>Innovations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772028" y="2792526"/>
            <a:ext cx="14224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25" b="1">
                <a:solidFill>
                  <a:srgbClr val="1D40AF"/>
                </a:solidFill>
                <a:latin typeface="Arial Nova"/>
                <a:cs typeface="Arial Nova"/>
              </a:rPr>
              <a:t>4.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336237" y="2767376"/>
            <a:ext cx="205105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80">
                <a:latin typeface="Roboto"/>
                <a:cs typeface="Roboto"/>
              </a:rPr>
              <a:t>PSO-</a:t>
            </a:r>
            <a:r>
              <a:rPr dirty="0" sz="1450" spc="-70">
                <a:latin typeface="Roboto"/>
                <a:cs typeface="Roboto"/>
              </a:rPr>
              <a:t>Optimized</a:t>
            </a:r>
            <a:r>
              <a:rPr dirty="0" sz="1450" spc="-5">
                <a:latin typeface="Roboto"/>
                <a:cs typeface="Roboto"/>
              </a:rPr>
              <a:t> </a:t>
            </a:r>
            <a:r>
              <a:rPr dirty="0" sz="1450" spc="-70">
                <a:latin typeface="Roboto"/>
                <a:cs typeface="Roboto"/>
              </a:rPr>
              <a:t>PID</a:t>
            </a:r>
            <a:r>
              <a:rPr dirty="0" sz="1450" spc="-5">
                <a:latin typeface="Roboto"/>
                <a:cs typeface="Roboto"/>
              </a:rPr>
              <a:t> </a:t>
            </a:r>
            <a:r>
              <a:rPr dirty="0" sz="1450" spc="-45">
                <a:latin typeface="Roboto"/>
                <a:cs typeface="Roboto"/>
              </a:rPr>
              <a:t>Control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772028" y="3315239"/>
            <a:ext cx="14224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25" b="1">
                <a:solidFill>
                  <a:srgbClr val="1D40AF"/>
                </a:solidFill>
                <a:latin typeface="Arial Nova"/>
                <a:cs typeface="Arial Nova"/>
              </a:rPr>
              <a:t>5.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336237" y="3290090"/>
            <a:ext cx="274066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60">
                <a:latin typeface="Roboto"/>
                <a:cs typeface="Roboto"/>
              </a:rPr>
              <a:t>Nonlinear</a:t>
            </a:r>
            <a:r>
              <a:rPr dirty="0" sz="1450" spc="-10">
                <a:latin typeface="Roboto"/>
                <a:cs typeface="Roboto"/>
              </a:rPr>
              <a:t> </a:t>
            </a:r>
            <a:r>
              <a:rPr dirty="0" sz="1450" spc="-60">
                <a:latin typeface="Roboto"/>
                <a:cs typeface="Roboto"/>
              </a:rPr>
              <a:t>Synergetic</a:t>
            </a:r>
            <a:r>
              <a:rPr dirty="0" sz="1450" spc="-5">
                <a:latin typeface="Roboto"/>
                <a:cs typeface="Roboto"/>
              </a:rPr>
              <a:t> </a:t>
            </a:r>
            <a:r>
              <a:rPr dirty="0" sz="1450" spc="-65">
                <a:latin typeface="Roboto"/>
                <a:cs typeface="Roboto"/>
              </a:rPr>
              <a:t>Control</a:t>
            </a:r>
            <a:r>
              <a:rPr dirty="0" sz="1450" spc="-10">
                <a:latin typeface="Roboto"/>
                <a:cs typeface="Roboto"/>
              </a:rPr>
              <a:t> </a:t>
            </a:r>
            <a:r>
              <a:rPr dirty="0" sz="1450" spc="-60">
                <a:latin typeface="Roboto"/>
                <a:cs typeface="Roboto"/>
              </a:rPr>
              <a:t>(UPFC)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772028" y="3837952"/>
            <a:ext cx="14224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25" b="1">
                <a:solidFill>
                  <a:srgbClr val="1D40AF"/>
                </a:solidFill>
                <a:latin typeface="Arial Nova"/>
                <a:cs typeface="Arial Nova"/>
              </a:rPr>
              <a:t>6.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336237" y="3812803"/>
            <a:ext cx="384937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65">
                <a:latin typeface="Roboto"/>
                <a:cs typeface="Roboto"/>
              </a:rPr>
              <a:t>Reinforcement</a:t>
            </a:r>
            <a:r>
              <a:rPr dirty="0" sz="1450" spc="-15">
                <a:latin typeface="Roboto"/>
                <a:cs typeface="Roboto"/>
              </a:rPr>
              <a:t> </a:t>
            </a:r>
            <a:r>
              <a:rPr dirty="0" sz="1450" spc="-60">
                <a:latin typeface="Roboto"/>
                <a:cs typeface="Roboto"/>
              </a:rPr>
              <a:t>Learning</a:t>
            </a:r>
            <a:r>
              <a:rPr dirty="0" sz="1450" spc="-15">
                <a:latin typeface="Roboto"/>
                <a:cs typeface="Roboto"/>
              </a:rPr>
              <a:t> </a:t>
            </a:r>
            <a:r>
              <a:rPr dirty="0" sz="1450" spc="-90">
                <a:latin typeface="Roboto"/>
                <a:cs typeface="Roboto"/>
              </a:rPr>
              <a:t>&amp;</a:t>
            </a:r>
            <a:r>
              <a:rPr dirty="0" sz="1450" spc="-10">
                <a:latin typeface="Roboto"/>
                <a:cs typeface="Roboto"/>
              </a:rPr>
              <a:t> </a:t>
            </a:r>
            <a:r>
              <a:rPr dirty="0" sz="1450" spc="-75">
                <a:latin typeface="Roboto"/>
                <a:cs typeface="Roboto"/>
              </a:rPr>
              <a:t>Model</a:t>
            </a:r>
            <a:r>
              <a:rPr dirty="0" sz="1450" spc="-15">
                <a:latin typeface="Roboto"/>
                <a:cs typeface="Roboto"/>
              </a:rPr>
              <a:t> </a:t>
            </a:r>
            <a:r>
              <a:rPr dirty="0" sz="1450" spc="-60">
                <a:latin typeface="Roboto"/>
                <a:cs typeface="Roboto"/>
              </a:rPr>
              <a:t>Predictive</a:t>
            </a:r>
            <a:r>
              <a:rPr dirty="0" sz="1450" spc="-10">
                <a:latin typeface="Roboto"/>
                <a:cs typeface="Roboto"/>
              </a:rPr>
              <a:t> </a:t>
            </a:r>
            <a:r>
              <a:rPr dirty="0" sz="1450" spc="-40">
                <a:latin typeface="Roboto"/>
                <a:cs typeface="Roboto"/>
              </a:rPr>
              <a:t>Control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54" name="object 54" descr=""/>
          <p:cNvSpPr txBox="1"/>
          <p:nvPr/>
        </p:nvSpPr>
        <p:spPr>
          <a:xfrm>
            <a:off x="772028" y="4360666"/>
            <a:ext cx="14224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25" b="1">
                <a:solidFill>
                  <a:srgbClr val="1D40AF"/>
                </a:solidFill>
                <a:latin typeface="Arial Nova"/>
                <a:cs typeface="Arial Nova"/>
              </a:rPr>
              <a:t>7.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55" name="object 55" descr=""/>
          <p:cNvSpPr txBox="1"/>
          <p:nvPr/>
        </p:nvSpPr>
        <p:spPr>
          <a:xfrm>
            <a:off x="1336237" y="4335516"/>
            <a:ext cx="233172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65">
                <a:latin typeface="Roboto"/>
                <a:cs typeface="Roboto"/>
              </a:rPr>
              <a:t>Coordinated</a:t>
            </a:r>
            <a:r>
              <a:rPr dirty="0" sz="1450">
                <a:latin typeface="Roboto"/>
                <a:cs typeface="Roboto"/>
              </a:rPr>
              <a:t> </a:t>
            </a:r>
            <a:r>
              <a:rPr dirty="0" sz="1450" spc="-65">
                <a:latin typeface="Roboto"/>
                <a:cs typeface="Roboto"/>
              </a:rPr>
              <a:t>Control</a:t>
            </a:r>
            <a:r>
              <a:rPr dirty="0" sz="1450">
                <a:latin typeface="Roboto"/>
                <a:cs typeface="Roboto"/>
              </a:rPr>
              <a:t> </a:t>
            </a:r>
            <a:r>
              <a:rPr dirty="0" sz="1450" spc="-55">
                <a:latin typeface="Roboto"/>
                <a:cs typeface="Roboto"/>
              </a:rPr>
              <a:t>Strategies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772028" y="4883379"/>
            <a:ext cx="14224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25" b="1">
                <a:solidFill>
                  <a:srgbClr val="1D40AF"/>
                </a:solidFill>
                <a:latin typeface="Arial Nova"/>
                <a:cs typeface="Arial Nova"/>
              </a:rPr>
              <a:t>8.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1336237" y="4858230"/>
            <a:ext cx="258826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60">
                <a:latin typeface="Roboto"/>
                <a:cs typeface="Roboto"/>
              </a:rPr>
              <a:t>Simulation</a:t>
            </a:r>
            <a:r>
              <a:rPr dirty="0" sz="1450" spc="-25">
                <a:latin typeface="Roboto"/>
                <a:cs typeface="Roboto"/>
              </a:rPr>
              <a:t> </a:t>
            </a:r>
            <a:r>
              <a:rPr dirty="0" sz="1450" spc="-60">
                <a:latin typeface="Roboto"/>
                <a:cs typeface="Roboto"/>
              </a:rPr>
              <a:t>Results</a:t>
            </a:r>
            <a:r>
              <a:rPr dirty="0" sz="1450" spc="-25">
                <a:latin typeface="Roboto"/>
                <a:cs typeface="Roboto"/>
              </a:rPr>
              <a:t> </a:t>
            </a:r>
            <a:r>
              <a:rPr dirty="0" sz="1450" spc="-90">
                <a:latin typeface="Roboto"/>
                <a:cs typeface="Roboto"/>
              </a:rPr>
              <a:t>&amp;</a:t>
            </a:r>
            <a:r>
              <a:rPr dirty="0" sz="1450" spc="-25">
                <a:latin typeface="Roboto"/>
                <a:cs typeface="Roboto"/>
              </a:rPr>
              <a:t> </a:t>
            </a:r>
            <a:r>
              <a:rPr dirty="0" sz="1450" spc="-60">
                <a:latin typeface="Roboto"/>
                <a:cs typeface="Roboto"/>
              </a:rPr>
              <a:t>Performance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772028" y="5406093"/>
            <a:ext cx="14224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25" b="1">
                <a:solidFill>
                  <a:srgbClr val="1D40AF"/>
                </a:solidFill>
                <a:latin typeface="Arial Nova"/>
                <a:cs typeface="Arial Nova"/>
              </a:rPr>
              <a:t>9.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336237" y="5380943"/>
            <a:ext cx="1302385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70">
                <a:latin typeface="Roboto"/>
                <a:cs typeface="Roboto"/>
              </a:rPr>
              <a:t>Future</a:t>
            </a:r>
            <a:r>
              <a:rPr dirty="0" sz="1450" spc="15">
                <a:latin typeface="Roboto"/>
                <a:cs typeface="Roboto"/>
              </a:rPr>
              <a:t> </a:t>
            </a:r>
            <a:r>
              <a:rPr dirty="0" sz="1450" spc="-55">
                <a:latin typeface="Roboto"/>
                <a:cs typeface="Roboto"/>
              </a:rPr>
              <a:t>Directions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733431" y="5928806"/>
            <a:ext cx="219710" cy="2006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" spc="-25" b="1">
                <a:solidFill>
                  <a:srgbClr val="1D40AF"/>
                </a:solidFill>
                <a:latin typeface="Arial Nova"/>
                <a:cs typeface="Arial Nova"/>
              </a:rPr>
              <a:t>10.</a:t>
            </a:r>
            <a:endParaRPr sz="1150">
              <a:latin typeface="Arial Nova"/>
              <a:cs typeface="Arial Nova"/>
            </a:endParaRPr>
          </a:p>
        </p:txBody>
      </p:sp>
      <p:grpSp>
        <p:nvGrpSpPr>
          <p:cNvPr id="61" name="object 61" descr=""/>
          <p:cNvGrpSpPr/>
          <p:nvPr/>
        </p:nvGrpSpPr>
        <p:grpSpPr>
          <a:xfrm>
            <a:off x="977979" y="5926895"/>
            <a:ext cx="9645015" cy="758825"/>
            <a:chOff x="977979" y="5926895"/>
            <a:chExt cx="9645015" cy="758825"/>
          </a:xfrm>
        </p:grpSpPr>
        <p:pic>
          <p:nvPicPr>
            <p:cNvPr id="62" name="object 6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77979" y="5926895"/>
              <a:ext cx="236064" cy="236063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9332963" y="6399024"/>
              <a:ext cx="1290320" cy="287020"/>
            </a:xfrm>
            <a:custGeom>
              <a:avLst/>
              <a:gdLst/>
              <a:ahLst/>
              <a:cxnLst/>
              <a:rect l="l" t="t" r="r" b="b"/>
              <a:pathLst>
                <a:path w="1290320" h="287020">
                  <a:moveTo>
                    <a:pt x="1260670" y="286649"/>
                  </a:moveTo>
                  <a:lnTo>
                    <a:pt x="29251" y="286649"/>
                  </a:lnTo>
                  <a:lnTo>
                    <a:pt x="24949" y="285793"/>
                  </a:lnTo>
                  <a:lnTo>
                    <a:pt x="0" y="257397"/>
                  </a:lnTo>
                  <a:lnTo>
                    <a:pt x="0" y="252925"/>
                  </a:lnTo>
                  <a:lnTo>
                    <a:pt x="0" y="29251"/>
                  </a:lnTo>
                  <a:lnTo>
                    <a:pt x="29251" y="0"/>
                  </a:lnTo>
                  <a:lnTo>
                    <a:pt x="1260670" y="0"/>
                  </a:lnTo>
                  <a:lnTo>
                    <a:pt x="1289921" y="29251"/>
                  </a:lnTo>
                  <a:lnTo>
                    <a:pt x="1289921" y="257397"/>
                  </a:lnTo>
                  <a:lnTo>
                    <a:pt x="1264972" y="285793"/>
                  </a:lnTo>
                  <a:lnTo>
                    <a:pt x="1260670" y="2866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434134" y="6483332"/>
              <a:ext cx="118032" cy="118032"/>
            </a:xfrm>
            <a:prstGeom prst="rect">
              <a:avLst/>
            </a:prstGeom>
          </p:spPr>
        </p:pic>
      </p:grpSp>
      <p:sp>
        <p:nvSpPr>
          <p:cNvPr id="65" name="object 65" descr=""/>
          <p:cNvSpPr txBox="1"/>
          <p:nvPr/>
        </p:nvSpPr>
        <p:spPr>
          <a:xfrm>
            <a:off x="1336237" y="5903657"/>
            <a:ext cx="356870" cy="2508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50" spc="-70">
                <a:latin typeface="Roboto"/>
                <a:cs typeface="Roboto"/>
              </a:rPr>
              <a:t>Q&amp;A</a:t>
            </a:r>
            <a:endParaRPr sz="1450">
              <a:latin typeface="Roboto"/>
              <a:cs typeface="Roboto"/>
            </a:endParaRPr>
          </a:p>
        </p:txBody>
      </p:sp>
      <p:sp>
        <p:nvSpPr>
          <p:cNvPr id="66" name="object 66" descr=""/>
          <p:cNvSpPr txBox="1"/>
          <p:nvPr/>
        </p:nvSpPr>
        <p:spPr>
          <a:xfrm>
            <a:off x="9587153" y="6450820"/>
            <a:ext cx="947419" cy="1606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50" spc="-4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85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85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850" spc="-25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85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8762999" y="4190999"/>
              <a:ext cx="3048000" cy="2286000"/>
            </a:xfrm>
            <a:custGeom>
              <a:avLst/>
              <a:gdLst/>
              <a:ahLst/>
              <a:cxnLst/>
              <a:rect l="l" t="t" r="r" b="b"/>
              <a:pathLst>
                <a:path w="3048000" h="2286000">
                  <a:moveTo>
                    <a:pt x="2971799" y="2285999"/>
                  </a:moveTo>
                  <a:lnTo>
                    <a:pt x="76199" y="2285999"/>
                  </a:lnTo>
                  <a:lnTo>
                    <a:pt x="68693" y="2285637"/>
                  </a:lnTo>
                  <a:lnTo>
                    <a:pt x="27882" y="2268732"/>
                  </a:lnTo>
                  <a:lnTo>
                    <a:pt x="3261" y="2231886"/>
                  </a:lnTo>
                  <a:lnTo>
                    <a:pt x="0" y="220979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2971799" y="0"/>
                  </a:lnTo>
                  <a:lnTo>
                    <a:pt x="3014141" y="12829"/>
                  </a:lnTo>
                  <a:lnTo>
                    <a:pt x="3042198" y="47038"/>
                  </a:lnTo>
                  <a:lnTo>
                    <a:pt x="3047999" y="76199"/>
                  </a:lnTo>
                  <a:lnTo>
                    <a:pt x="3047999" y="2209799"/>
                  </a:lnTo>
                  <a:lnTo>
                    <a:pt x="3035168" y="2252141"/>
                  </a:lnTo>
                  <a:lnTo>
                    <a:pt x="3000959" y="2280199"/>
                  </a:lnTo>
                  <a:lnTo>
                    <a:pt x="2971799" y="22859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763000" y="4191000"/>
              <a:ext cx="3048000" cy="2286000"/>
            </a:xfrm>
            <a:custGeom>
              <a:avLst/>
              <a:gdLst/>
              <a:ahLst/>
              <a:cxnLst/>
              <a:rect l="l" t="t" r="r" b="b"/>
              <a:pathLst>
                <a:path w="3048000" h="2286000">
                  <a:moveTo>
                    <a:pt x="2971799" y="2285999"/>
                  </a:moveTo>
                  <a:lnTo>
                    <a:pt x="76199" y="2285999"/>
                  </a:lnTo>
                  <a:lnTo>
                    <a:pt x="68693" y="2285637"/>
                  </a:lnTo>
                  <a:lnTo>
                    <a:pt x="27882" y="2268732"/>
                  </a:lnTo>
                  <a:lnTo>
                    <a:pt x="3261" y="2231886"/>
                  </a:lnTo>
                  <a:lnTo>
                    <a:pt x="0" y="2209799"/>
                  </a:lnTo>
                  <a:lnTo>
                    <a:pt x="0" y="76199"/>
                  </a:lnTo>
                  <a:lnTo>
                    <a:pt x="12829" y="33856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2971799" y="0"/>
                  </a:lnTo>
                  <a:lnTo>
                    <a:pt x="3008620" y="9525"/>
                  </a:lnTo>
                  <a:lnTo>
                    <a:pt x="71821" y="9525"/>
                  </a:lnTo>
                  <a:lnTo>
                    <a:pt x="67484" y="9952"/>
                  </a:lnTo>
                  <a:lnTo>
                    <a:pt x="32148" y="25957"/>
                  </a:lnTo>
                  <a:lnTo>
                    <a:pt x="11659" y="58897"/>
                  </a:lnTo>
                  <a:lnTo>
                    <a:pt x="9524" y="71821"/>
                  </a:lnTo>
                  <a:lnTo>
                    <a:pt x="9524" y="2214177"/>
                  </a:lnTo>
                  <a:lnTo>
                    <a:pt x="23192" y="2250481"/>
                  </a:lnTo>
                  <a:lnTo>
                    <a:pt x="54727" y="2273074"/>
                  </a:lnTo>
                  <a:lnTo>
                    <a:pt x="71821" y="2276473"/>
                  </a:lnTo>
                  <a:lnTo>
                    <a:pt x="3008620" y="2276473"/>
                  </a:lnTo>
                  <a:lnTo>
                    <a:pt x="3007755" y="2276991"/>
                  </a:lnTo>
                  <a:lnTo>
                    <a:pt x="3000959" y="2280199"/>
                  </a:lnTo>
                  <a:lnTo>
                    <a:pt x="2993886" y="2282737"/>
                  </a:lnTo>
                  <a:lnTo>
                    <a:pt x="2986668" y="2284549"/>
                  </a:lnTo>
                  <a:lnTo>
                    <a:pt x="2979306" y="2285637"/>
                  </a:lnTo>
                  <a:lnTo>
                    <a:pt x="2971799" y="2285999"/>
                  </a:lnTo>
                  <a:close/>
                </a:path>
                <a:path w="3048000" h="2286000">
                  <a:moveTo>
                    <a:pt x="3008620" y="2276473"/>
                  </a:moveTo>
                  <a:lnTo>
                    <a:pt x="2976176" y="2276473"/>
                  </a:lnTo>
                  <a:lnTo>
                    <a:pt x="2980512" y="2276047"/>
                  </a:lnTo>
                  <a:lnTo>
                    <a:pt x="2989099" y="2274339"/>
                  </a:lnTo>
                  <a:lnTo>
                    <a:pt x="3022039" y="2253849"/>
                  </a:lnTo>
                  <a:lnTo>
                    <a:pt x="3038046" y="2218513"/>
                  </a:lnTo>
                  <a:lnTo>
                    <a:pt x="3038473" y="2214177"/>
                  </a:lnTo>
                  <a:lnTo>
                    <a:pt x="3038473" y="71821"/>
                  </a:lnTo>
                  <a:lnTo>
                    <a:pt x="3024802" y="35516"/>
                  </a:lnTo>
                  <a:lnTo>
                    <a:pt x="2992954" y="12829"/>
                  </a:lnTo>
                  <a:lnTo>
                    <a:pt x="2976176" y="9525"/>
                  </a:lnTo>
                  <a:lnTo>
                    <a:pt x="3008620" y="9525"/>
                  </a:lnTo>
                  <a:lnTo>
                    <a:pt x="3038990" y="40242"/>
                  </a:lnTo>
                  <a:lnTo>
                    <a:pt x="3047999" y="2209799"/>
                  </a:lnTo>
                  <a:lnTo>
                    <a:pt x="3047637" y="2217306"/>
                  </a:lnTo>
                  <a:lnTo>
                    <a:pt x="3030732" y="2258116"/>
                  </a:lnTo>
                  <a:lnTo>
                    <a:pt x="3014269" y="2273074"/>
                  </a:lnTo>
                  <a:lnTo>
                    <a:pt x="3008620" y="2276473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64612" y="4389437"/>
              <a:ext cx="2644775" cy="1889125"/>
            </a:xfrm>
            <a:custGeom>
              <a:avLst/>
              <a:gdLst/>
              <a:ahLst/>
              <a:cxnLst/>
              <a:rect l="l" t="t" r="r" b="b"/>
              <a:pathLst>
                <a:path w="2644775" h="1889125">
                  <a:moveTo>
                    <a:pt x="0" y="188912"/>
                  </a:moveTo>
                  <a:lnTo>
                    <a:pt x="2644774" y="188912"/>
                  </a:lnTo>
                </a:path>
                <a:path w="2644775" h="1889125">
                  <a:moveTo>
                    <a:pt x="0" y="944562"/>
                  </a:moveTo>
                  <a:lnTo>
                    <a:pt x="2644774" y="944562"/>
                  </a:lnTo>
                </a:path>
                <a:path w="2644775" h="1889125">
                  <a:moveTo>
                    <a:pt x="0" y="1700212"/>
                  </a:moveTo>
                  <a:lnTo>
                    <a:pt x="2644774" y="1700212"/>
                  </a:lnTo>
                </a:path>
                <a:path w="2644775" h="1889125">
                  <a:moveTo>
                    <a:pt x="377824" y="0"/>
                  </a:moveTo>
                  <a:lnTo>
                    <a:pt x="377824" y="1889124"/>
                  </a:lnTo>
                </a:path>
                <a:path w="2644775" h="1889125">
                  <a:moveTo>
                    <a:pt x="1322387" y="0"/>
                  </a:moveTo>
                  <a:lnTo>
                    <a:pt x="1322387" y="1889124"/>
                  </a:lnTo>
                </a:path>
                <a:path w="2644775" h="1889125">
                  <a:moveTo>
                    <a:pt x="2266949" y="0"/>
                  </a:moveTo>
                  <a:lnTo>
                    <a:pt x="2266949" y="1889124"/>
                  </a:lnTo>
                </a:path>
              </a:pathLst>
            </a:custGeom>
            <a:ln w="18891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7980" y="4483893"/>
              <a:ext cx="188912" cy="18891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92542" y="4483893"/>
              <a:ext cx="188912" cy="188912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37105" y="4483893"/>
              <a:ext cx="188912" cy="188912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229089" y="5220652"/>
              <a:ext cx="226695" cy="22669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173651" y="5220652"/>
              <a:ext cx="226695" cy="22669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47980" y="5995193"/>
              <a:ext cx="188912" cy="188912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18214" y="5220652"/>
              <a:ext cx="226695" cy="22669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92542" y="5995193"/>
              <a:ext cx="188912" cy="188912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37105" y="5995193"/>
              <a:ext cx="188912" cy="188912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739152" y="5258434"/>
              <a:ext cx="151129" cy="151129"/>
            </a:xfrm>
            <a:prstGeom prst="rect">
              <a:avLst/>
            </a:prstGeom>
          </p:spPr>
        </p:pic>
      </p:grpSp>
      <p:sp>
        <p:nvSpPr>
          <p:cNvPr id="16" name="object 16" descr=""/>
          <p:cNvSpPr txBox="1"/>
          <p:nvPr/>
        </p:nvSpPr>
        <p:spPr>
          <a:xfrm>
            <a:off x="9785498" y="5257121"/>
            <a:ext cx="7112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50" b="1">
                <a:solidFill>
                  <a:srgbClr val="FFFFFF"/>
                </a:solidFill>
                <a:latin typeface="NYTFranklin Medium"/>
                <a:cs typeface="NYTFranklin Medium"/>
              </a:rPr>
              <a:t>S</a:t>
            </a:r>
            <a:endParaRPr sz="800">
              <a:latin typeface="NYTFranklin Medium"/>
              <a:cs typeface="NYTFranklin Medium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683715" y="5258434"/>
            <a:ext cx="151130" cy="151129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10728175" y="5257121"/>
            <a:ext cx="74930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800" spc="-50" b="1">
                <a:solidFill>
                  <a:srgbClr val="FFFFFF"/>
                </a:solidFill>
                <a:latin typeface="NYTFranklin Medium"/>
                <a:cs typeface="NYTFranklin Medium"/>
              </a:rPr>
              <a:t>U</a:t>
            </a:r>
            <a:endParaRPr sz="800">
              <a:latin typeface="NYTFranklin Medium"/>
              <a:cs typeface="NYTFranklin Medium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8964611" y="4200525"/>
            <a:ext cx="1757045" cy="2172970"/>
            <a:chOff x="8964611" y="4200525"/>
            <a:chExt cx="1757045" cy="2172970"/>
          </a:xfrm>
        </p:grpSpPr>
        <p:sp>
          <p:nvSpPr>
            <p:cNvPr id="20" name="object 20" descr=""/>
            <p:cNvSpPr/>
            <p:nvPr/>
          </p:nvSpPr>
          <p:spPr>
            <a:xfrm>
              <a:off x="9663582" y="4200537"/>
              <a:ext cx="1057910" cy="57150"/>
            </a:xfrm>
            <a:custGeom>
              <a:avLst/>
              <a:gdLst/>
              <a:ahLst/>
              <a:cxnLst/>
              <a:rect l="l" t="t" r="r" b="b"/>
              <a:pathLst>
                <a:path w="1057909" h="57150">
                  <a:moveTo>
                    <a:pt x="113347" y="0"/>
                  </a:moveTo>
                  <a:lnTo>
                    <a:pt x="0" y="0"/>
                  </a:lnTo>
                  <a:lnTo>
                    <a:pt x="0" y="3721"/>
                  </a:lnTo>
                  <a:lnTo>
                    <a:pt x="19227" y="42697"/>
                  </a:lnTo>
                  <a:lnTo>
                    <a:pt x="52946" y="56667"/>
                  </a:lnTo>
                  <a:lnTo>
                    <a:pt x="60388" y="56667"/>
                  </a:lnTo>
                  <a:lnTo>
                    <a:pt x="99377" y="37439"/>
                  </a:lnTo>
                  <a:lnTo>
                    <a:pt x="113347" y="3721"/>
                  </a:lnTo>
                  <a:lnTo>
                    <a:pt x="113347" y="0"/>
                  </a:lnTo>
                  <a:close/>
                </a:path>
                <a:path w="1057909" h="57150">
                  <a:moveTo>
                    <a:pt x="1057910" y="0"/>
                  </a:moveTo>
                  <a:lnTo>
                    <a:pt x="944562" y="0"/>
                  </a:lnTo>
                  <a:lnTo>
                    <a:pt x="944562" y="3721"/>
                  </a:lnTo>
                  <a:lnTo>
                    <a:pt x="963790" y="42697"/>
                  </a:lnTo>
                  <a:lnTo>
                    <a:pt x="997508" y="56667"/>
                  </a:lnTo>
                  <a:lnTo>
                    <a:pt x="1004951" y="56667"/>
                  </a:lnTo>
                  <a:lnTo>
                    <a:pt x="1043940" y="37439"/>
                  </a:lnTo>
                  <a:lnTo>
                    <a:pt x="1057910" y="3721"/>
                  </a:lnTo>
                  <a:lnTo>
                    <a:pt x="1057910" y="0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8964611" y="6184106"/>
              <a:ext cx="1133475" cy="189230"/>
            </a:xfrm>
            <a:custGeom>
              <a:avLst/>
              <a:gdLst/>
              <a:ahLst/>
              <a:cxnLst/>
              <a:rect l="l" t="t" r="r" b="b"/>
              <a:pathLst>
                <a:path w="1133475" h="189229">
                  <a:moveTo>
                    <a:pt x="1100702" y="188912"/>
                  </a:moveTo>
                  <a:lnTo>
                    <a:pt x="32772" y="188912"/>
                  </a:lnTo>
                  <a:lnTo>
                    <a:pt x="27952" y="187953"/>
                  </a:lnTo>
                  <a:lnTo>
                    <a:pt x="958" y="160959"/>
                  </a:lnTo>
                  <a:lnTo>
                    <a:pt x="0" y="156140"/>
                  </a:lnTo>
                  <a:lnTo>
                    <a:pt x="0" y="32772"/>
                  </a:lnTo>
                  <a:lnTo>
                    <a:pt x="27952" y="958"/>
                  </a:lnTo>
                  <a:lnTo>
                    <a:pt x="32772" y="0"/>
                  </a:lnTo>
                  <a:lnTo>
                    <a:pt x="37782" y="0"/>
                  </a:lnTo>
                  <a:lnTo>
                    <a:pt x="1100702" y="0"/>
                  </a:lnTo>
                  <a:lnTo>
                    <a:pt x="1132516" y="27952"/>
                  </a:lnTo>
                  <a:lnTo>
                    <a:pt x="1133474" y="32772"/>
                  </a:lnTo>
                  <a:lnTo>
                    <a:pt x="1133474" y="156140"/>
                  </a:lnTo>
                  <a:lnTo>
                    <a:pt x="1105522" y="187953"/>
                  </a:lnTo>
                  <a:lnTo>
                    <a:pt x="1100702" y="188912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9032676" y="6201697"/>
            <a:ext cx="997585" cy="147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00" spc="-55" b="1">
                <a:solidFill>
                  <a:srgbClr val="1D40AF"/>
                </a:solidFill>
                <a:latin typeface="Roboto"/>
                <a:cs typeface="Roboto"/>
              </a:rPr>
              <a:t>MODERN</a:t>
            </a:r>
            <a:r>
              <a:rPr dirty="0" sz="800" spc="1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800" spc="-45" b="1">
                <a:solidFill>
                  <a:srgbClr val="1D40AF"/>
                </a:solidFill>
                <a:latin typeface="Roboto"/>
                <a:cs typeface="Roboto"/>
              </a:rPr>
              <a:t>POWER</a:t>
            </a:r>
            <a:r>
              <a:rPr dirty="0" sz="800" spc="1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800" spc="-20" b="1">
                <a:solidFill>
                  <a:srgbClr val="1D40AF"/>
                </a:solidFill>
                <a:latin typeface="Roboto"/>
                <a:cs typeface="Roboto"/>
              </a:rPr>
              <a:t>GRID</a:t>
            </a:r>
            <a:endParaRPr sz="800">
              <a:latin typeface="Roboto"/>
              <a:cs typeface="Roboto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285737" y="1714499"/>
              <a:ext cx="1143000" cy="3810000"/>
            </a:xfrm>
            <a:custGeom>
              <a:avLst/>
              <a:gdLst/>
              <a:ahLst/>
              <a:cxnLst/>
              <a:rect l="l" t="t" r="r" b="b"/>
              <a:pathLst>
                <a:path w="1143000" h="3810000">
                  <a:moveTo>
                    <a:pt x="1143000" y="2857500"/>
                  </a:moveTo>
                  <a:lnTo>
                    <a:pt x="28575" y="2857500"/>
                  </a:lnTo>
                  <a:lnTo>
                    <a:pt x="28575" y="1933575"/>
                  </a:lnTo>
                  <a:lnTo>
                    <a:pt x="476250" y="1933575"/>
                  </a:lnTo>
                  <a:lnTo>
                    <a:pt x="476250" y="1905000"/>
                  </a:lnTo>
                  <a:lnTo>
                    <a:pt x="28575" y="1905000"/>
                  </a:lnTo>
                  <a:lnTo>
                    <a:pt x="28575" y="981075"/>
                  </a:lnTo>
                  <a:lnTo>
                    <a:pt x="666750" y="981075"/>
                  </a:lnTo>
                  <a:lnTo>
                    <a:pt x="666750" y="952500"/>
                  </a:lnTo>
                  <a:lnTo>
                    <a:pt x="28575" y="952500"/>
                  </a:lnTo>
                  <a:lnTo>
                    <a:pt x="28575" y="28575"/>
                  </a:lnTo>
                  <a:lnTo>
                    <a:pt x="952500" y="28575"/>
                  </a:lnTo>
                  <a:lnTo>
                    <a:pt x="952500" y="0"/>
                  </a:lnTo>
                  <a:lnTo>
                    <a:pt x="28575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0" y="3810000"/>
                  </a:lnTo>
                  <a:lnTo>
                    <a:pt x="28575" y="3810000"/>
                  </a:lnTo>
                  <a:lnTo>
                    <a:pt x="28575" y="2886075"/>
                  </a:lnTo>
                  <a:lnTo>
                    <a:pt x="1143000" y="2886075"/>
                  </a:lnTo>
                  <a:lnTo>
                    <a:pt x="1143000" y="285750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7174" y="1685924"/>
              <a:ext cx="114300" cy="114299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7174" y="2638424"/>
              <a:ext cx="114300" cy="11429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7174" y="3590925"/>
              <a:ext cx="114300" cy="11429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7174" y="4543424"/>
              <a:ext cx="114300" cy="11429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7174" y="5495924"/>
              <a:ext cx="114300" cy="114299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619124" y="476249"/>
              <a:ext cx="11001375" cy="533400"/>
            </a:xfrm>
            <a:custGeom>
              <a:avLst/>
              <a:gdLst/>
              <a:ahLst/>
              <a:cxnLst/>
              <a:rect l="l" t="t" r="r" b="b"/>
              <a:pathLst>
                <a:path w="11001375" h="533400">
                  <a:moveTo>
                    <a:pt x="0" y="533399"/>
                  </a:moveTo>
                  <a:lnTo>
                    <a:pt x="11001374" y="533399"/>
                  </a:lnTo>
                  <a:lnTo>
                    <a:pt x="11001374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571499" y="476249"/>
              <a:ext cx="47625" cy="533400"/>
            </a:xfrm>
            <a:custGeom>
              <a:avLst/>
              <a:gdLst/>
              <a:ahLst/>
              <a:cxnLst/>
              <a:rect l="l" t="t" r="r" b="b"/>
              <a:pathLst>
                <a:path w="47625" h="533400">
                  <a:moveTo>
                    <a:pt x="4762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5333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2500" spc="-135"/>
              <a:t>Introduction</a:t>
            </a:r>
            <a:r>
              <a:rPr dirty="0" sz="2500" spc="-15"/>
              <a:t> </a:t>
            </a:r>
            <a:r>
              <a:rPr dirty="0" sz="2500" spc="-170"/>
              <a:t>&amp;</a:t>
            </a:r>
            <a:r>
              <a:rPr dirty="0" sz="2500" spc="-10"/>
              <a:t> </a:t>
            </a:r>
            <a:r>
              <a:rPr dirty="0" sz="2500" spc="-30"/>
              <a:t>Motivation</a:t>
            </a:r>
            <a:endParaRPr sz="2500"/>
          </a:p>
        </p:txBody>
      </p:sp>
      <p:grpSp>
        <p:nvGrpSpPr>
          <p:cNvPr id="34" name="object 34" descr=""/>
          <p:cNvGrpSpPr/>
          <p:nvPr/>
        </p:nvGrpSpPr>
        <p:grpSpPr>
          <a:xfrm>
            <a:off x="571499" y="1295399"/>
            <a:ext cx="11430000" cy="5372100"/>
            <a:chOff x="571499" y="1295399"/>
            <a:chExt cx="11430000" cy="5372100"/>
          </a:xfrm>
        </p:grpSpPr>
        <p:sp>
          <p:nvSpPr>
            <p:cNvPr id="35" name="object 35" descr=""/>
            <p:cNvSpPr/>
            <p:nvPr/>
          </p:nvSpPr>
          <p:spPr>
            <a:xfrm>
              <a:off x="571499" y="12953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7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28649" y="1371599"/>
              <a:ext cx="238124" cy="190499"/>
            </a:xfrm>
            <a:prstGeom prst="rect">
              <a:avLst/>
            </a:prstGeom>
          </p:spPr>
        </p:pic>
        <p:sp>
          <p:nvSpPr>
            <p:cNvPr id="37" name="object 37" descr=""/>
            <p:cNvSpPr/>
            <p:nvPr/>
          </p:nvSpPr>
          <p:spPr>
            <a:xfrm>
              <a:off x="571499" y="22478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59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8126" y="2323095"/>
              <a:ext cx="144884" cy="192509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571499" y="32003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2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38174" y="3276599"/>
              <a:ext cx="209549" cy="186266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571499" y="41528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4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6"/>
                  </a:lnTo>
                  <a:lnTo>
                    <a:pt x="171449" y="0"/>
                  </a:lnTo>
                  <a:lnTo>
                    <a:pt x="179872" y="206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47699" y="4229099"/>
              <a:ext cx="190499" cy="190499"/>
            </a:xfrm>
            <a:prstGeom prst="rect">
              <a:avLst/>
            </a:prstGeom>
          </p:spPr>
        </p:pic>
        <p:sp>
          <p:nvSpPr>
            <p:cNvPr id="43" name="object 43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5" name="object 45" descr=""/>
          <p:cNvSpPr txBox="1"/>
          <p:nvPr/>
        </p:nvSpPr>
        <p:spPr>
          <a:xfrm>
            <a:off x="1054100" y="1202332"/>
            <a:ext cx="6294755" cy="369252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650" spc="-95" b="1">
                <a:solidFill>
                  <a:srgbClr val="1D3A8A"/>
                </a:solidFill>
                <a:latin typeface="Roboto"/>
                <a:cs typeface="Roboto"/>
              </a:rPr>
              <a:t>Growing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1D3A8A"/>
                </a:solidFill>
                <a:latin typeface="Roboto"/>
                <a:cs typeface="Roboto"/>
              </a:rPr>
              <a:t>Complexity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of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0" b="1">
                <a:solidFill>
                  <a:srgbClr val="1D3A8A"/>
                </a:solidFill>
                <a:latin typeface="Roboto"/>
                <a:cs typeface="Roboto"/>
              </a:rPr>
              <a:t>Modern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0" b="1">
                <a:solidFill>
                  <a:srgbClr val="1D3A8A"/>
                </a:solidFill>
                <a:latin typeface="Roboto"/>
                <a:cs typeface="Roboto"/>
              </a:rPr>
              <a:t>Power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 Grids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ct val="115399"/>
              </a:lnSpc>
              <a:spcBef>
                <a:spcPts val="229"/>
              </a:spcBef>
            </a:pP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Increasing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integration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renewables,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distributed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generation,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energy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storage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systems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has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created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unprecedented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challenges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grid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operation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stability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management.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50" spc="-105" b="1">
                <a:solidFill>
                  <a:srgbClr val="1D3A8A"/>
                </a:solidFill>
                <a:latin typeface="Roboto"/>
                <a:cs typeface="Roboto"/>
              </a:rPr>
              <a:t>Need</a:t>
            </a:r>
            <a:r>
              <a:rPr dirty="0" sz="1650" spc="-1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for</a:t>
            </a:r>
            <a:r>
              <a:rPr dirty="0" sz="1650" spc="-1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Flexible</a:t>
            </a:r>
            <a:r>
              <a:rPr dirty="0" sz="1650" spc="-1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14" b="1">
                <a:solidFill>
                  <a:srgbClr val="1D3A8A"/>
                </a:solidFill>
                <a:latin typeface="Roboto"/>
                <a:cs typeface="Roboto"/>
              </a:rPr>
              <a:t>&amp;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65" b="1">
                <a:solidFill>
                  <a:srgbClr val="1D3A8A"/>
                </a:solidFill>
                <a:latin typeface="Roboto"/>
                <a:cs typeface="Roboto"/>
              </a:rPr>
              <a:t>Intelligent</a:t>
            </a:r>
            <a:r>
              <a:rPr dirty="0" sz="1650" spc="-1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Control</a:t>
            </a:r>
            <a:endParaRPr sz="1650">
              <a:latin typeface="Roboto"/>
              <a:cs typeface="Roboto"/>
            </a:endParaRPr>
          </a:p>
          <a:p>
            <a:pPr marL="12700" marR="183515">
              <a:lnSpc>
                <a:spcPct val="115399"/>
              </a:lnSpc>
              <a:spcBef>
                <a:spcPts val="229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Rapid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voltage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fluctuations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flow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dynamics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require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advanced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solutions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robust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voltage/power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flow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fast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response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times.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50" spc="-145" b="1">
                <a:solidFill>
                  <a:srgbClr val="1D3A8A"/>
                </a:solidFill>
                <a:latin typeface="Roboto"/>
                <a:cs typeface="Roboto"/>
              </a:rPr>
              <a:t>FACTS</a:t>
            </a:r>
            <a:r>
              <a:rPr dirty="0" sz="1650" spc="-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1D3A8A"/>
                </a:solidFill>
                <a:latin typeface="Roboto"/>
                <a:cs typeface="Roboto"/>
              </a:rPr>
              <a:t>as</a:t>
            </a:r>
            <a:r>
              <a:rPr dirty="0" sz="1650" spc="-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Enablers</a:t>
            </a:r>
            <a:r>
              <a:rPr dirty="0" sz="1650" spc="-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for</a:t>
            </a:r>
            <a:r>
              <a:rPr dirty="0" sz="1650" spc="-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1D3A8A"/>
                </a:solidFill>
                <a:latin typeface="Roboto"/>
                <a:cs typeface="Roboto"/>
              </a:rPr>
              <a:t>Grid</a:t>
            </a:r>
            <a:r>
              <a:rPr dirty="0" sz="1650" spc="-1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Resilience</a:t>
            </a:r>
            <a:endParaRPr sz="1650">
              <a:latin typeface="Roboto"/>
              <a:cs typeface="Roboto"/>
            </a:endParaRPr>
          </a:p>
          <a:p>
            <a:pPr marL="12700" marR="289560">
              <a:lnSpc>
                <a:spcPct val="115399"/>
              </a:lnSpc>
              <a:spcBef>
                <a:spcPts val="229"/>
              </a:spcBef>
            </a:pPr>
            <a:r>
              <a:rPr dirty="0" sz="1300" spc="-100">
                <a:solidFill>
                  <a:srgbClr val="374050"/>
                </a:solidFill>
                <a:latin typeface="Roboto"/>
                <a:cs typeface="Roboto"/>
              </a:rPr>
              <a:t>FACTS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devices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provide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crucial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flexibility,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resilience,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support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integration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through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dynamic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reactive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compensation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flow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control.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50" spc="-85" b="1">
                <a:solidFill>
                  <a:srgbClr val="1D3A8A"/>
                </a:solidFill>
                <a:latin typeface="Roboto"/>
                <a:cs typeface="Roboto"/>
              </a:rPr>
              <a:t>Unified</a:t>
            </a:r>
            <a:r>
              <a:rPr dirty="0" sz="1650" spc="-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14" b="1">
                <a:solidFill>
                  <a:srgbClr val="1D3A8A"/>
                </a:solidFill>
                <a:latin typeface="Roboto"/>
                <a:cs typeface="Roboto"/>
              </a:rPr>
              <a:t>&amp;</a:t>
            </a:r>
            <a:r>
              <a:rPr dirty="0" sz="1650" spc="-1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65" b="1">
                <a:solidFill>
                  <a:srgbClr val="1D3A8A"/>
                </a:solidFill>
                <a:latin typeface="Roboto"/>
                <a:cs typeface="Roboto"/>
              </a:rPr>
              <a:t>Intelligent</a:t>
            </a:r>
            <a:r>
              <a:rPr dirty="0" sz="1650" spc="-1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Coordination</a:t>
            </a:r>
            <a:endParaRPr sz="1650">
              <a:latin typeface="Roboto"/>
              <a:cs typeface="Roboto"/>
            </a:endParaRPr>
          </a:p>
          <a:p>
            <a:pPr marL="12700" marR="248920">
              <a:lnSpc>
                <a:spcPct val="115399"/>
              </a:lnSpc>
              <a:spcBef>
                <a:spcPts val="229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Our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motivation: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Develop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unified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framework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optimal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coordination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advanced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FACTS controllers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using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intelligent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multi-objective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optimization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techniques.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0833000" y="6403816"/>
            <a:ext cx="10668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9825355" cy="6854825"/>
            <a:chOff x="0" y="0"/>
            <a:chExt cx="9825355" cy="685482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825215" cy="685462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5910480" y="3937761"/>
              <a:ext cx="3531235" cy="2533650"/>
            </a:xfrm>
            <a:custGeom>
              <a:avLst/>
              <a:gdLst/>
              <a:ahLst/>
              <a:cxnLst/>
              <a:rect l="l" t="t" r="r" b="b"/>
              <a:pathLst>
                <a:path w="3531234" h="2533650">
                  <a:moveTo>
                    <a:pt x="3477671" y="2533062"/>
                  </a:moveTo>
                  <a:lnTo>
                    <a:pt x="53264" y="2533062"/>
                  </a:lnTo>
                  <a:lnTo>
                    <a:pt x="45431" y="2531503"/>
                  </a:lnTo>
                  <a:lnTo>
                    <a:pt x="12227" y="2509317"/>
                  </a:lnTo>
                  <a:lnTo>
                    <a:pt x="0" y="2479798"/>
                  </a:lnTo>
                  <a:lnTo>
                    <a:pt x="0" y="53264"/>
                  </a:lnTo>
                  <a:lnTo>
                    <a:pt x="23743" y="12227"/>
                  </a:lnTo>
                  <a:lnTo>
                    <a:pt x="53264" y="0"/>
                  </a:lnTo>
                  <a:lnTo>
                    <a:pt x="3477671" y="0"/>
                  </a:lnTo>
                  <a:lnTo>
                    <a:pt x="3518707" y="23743"/>
                  </a:lnTo>
                  <a:lnTo>
                    <a:pt x="3530936" y="53264"/>
                  </a:lnTo>
                  <a:lnTo>
                    <a:pt x="3530936" y="2479798"/>
                  </a:lnTo>
                  <a:lnTo>
                    <a:pt x="3507191" y="2520834"/>
                  </a:lnTo>
                  <a:lnTo>
                    <a:pt x="3477671" y="2533062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5910480" y="3937761"/>
              <a:ext cx="3531235" cy="2533650"/>
            </a:xfrm>
            <a:custGeom>
              <a:avLst/>
              <a:gdLst/>
              <a:ahLst/>
              <a:cxnLst/>
              <a:rect l="l" t="t" r="r" b="b"/>
              <a:pathLst>
                <a:path w="3531234" h="2533650">
                  <a:moveTo>
                    <a:pt x="3477671" y="2533062"/>
                  </a:moveTo>
                  <a:lnTo>
                    <a:pt x="53264" y="2533062"/>
                  </a:lnTo>
                  <a:lnTo>
                    <a:pt x="45431" y="2531503"/>
                  </a:lnTo>
                  <a:lnTo>
                    <a:pt x="12227" y="2509317"/>
                  </a:lnTo>
                  <a:lnTo>
                    <a:pt x="0" y="2479798"/>
                  </a:lnTo>
                  <a:lnTo>
                    <a:pt x="0" y="53264"/>
                  </a:lnTo>
                  <a:lnTo>
                    <a:pt x="23743" y="12227"/>
                  </a:lnTo>
                  <a:lnTo>
                    <a:pt x="53264" y="0"/>
                  </a:lnTo>
                  <a:lnTo>
                    <a:pt x="3477671" y="0"/>
                  </a:lnTo>
                  <a:lnTo>
                    <a:pt x="3485505" y="1557"/>
                  </a:lnTo>
                  <a:lnTo>
                    <a:pt x="3500275" y="7676"/>
                  </a:lnTo>
                  <a:lnTo>
                    <a:pt x="57879" y="7676"/>
                  </a:lnTo>
                  <a:lnTo>
                    <a:pt x="54385" y="8019"/>
                  </a:lnTo>
                  <a:lnTo>
                    <a:pt x="18691" y="28621"/>
                  </a:lnTo>
                  <a:lnTo>
                    <a:pt x="7676" y="57879"/>
                  </a:lnTo>
                  <a:lnTo>
                    <a:pt x="7676" y="2475183"/>
                  </a:lnTo>
                  <a:lnTo>
                    <a:pt x="25908" y="2512143"/>
                  </a:lnTo>
                  <a:lnTo>
                    <a:pt x="56708" y="2525271"/>
                  </a:lnTo>
                  <a:lnTo>
                    <a:pt x="3500551" y="2525271"/>
                  </a:lnTo>
                  <a:lnTo>
                    <a:pt x="3485505" y="2531503"/>
                  </a:lnTo>
                  <a:lnTo>
                    <a:pt x="3477671" y="2533062"/>
                  </a:lnTo>
                  <a:close/>
                </a:path>
                <a:path w="3531234" h="2533650">
                  <a:moveTo>
                    <a:pt x="3500551" y="2525271"/>
                  </a:moveTo>
                  <a:lnTo>
                    <a:pt x="3474227" y="2525271"/>
                  </a:lnTo>
                  <a:lnTo>
                    <a:pt x="3476551" y="2525042"/>
                  </a:lnTo>
                  <a:lnTo>
                    <a:pt x="3483472" y="2523665"/>
                  </a:lnTo>
                  <a:lnTo>
                    <a:pt x="3516164" y="2498573"/>
                  </a:lnTo>
                  <a:lnTo>
                    <a:pt x="3523260" y="2475183"/>
                  </a:lnTo>
                  <a:lnTo>
                    <a:pt x="3523260" y="57879"/>
                  </a:lnTo>
                  <a:lnTo>
                    <a:pt x="3505027" y="20918"/>
                  </a:lnTo>
                  <a:lnTo>
                    <a:pt x="3473057" y="7676"/>
                  </a:lnTo>
                  <a:lnTo>
                    <a:pt x="3500380" y="7676"/>
                  </a:lnTo>
                  <a:lnTo>
                    <a:pt x="3529377" y="45430"/>
                  </a:lnTo>
                  <a:lnTo>
                    <a:pt x="3530936" y="53264"/>
                  </a:lnTo>
                  <a:lnTo>
                    <a:pt x="3530936" y="2479798"/>
                  </a:lnTo>
                  <a:lnTo>
                    <a:pt x="3529377" y="2487630"/>
                  </a:lnTo>
                  <a:lnTo>
                    <a:pt x="3523144" y="2502676"/>
                  </a:lnTo>
                  <a:lnTo>
                    <a:pt x="3518707" y="2509317"/>
                  </a:lnTo>
                  <a:lnTo>
                    <a:pt x="3507191" y="2520834"/>
                  </a:lnTo>
                  <a:lnTo>
                    <a:pt x="3500551" y="2525271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6243105" y="4738619"/>
              <a:ext cx="2865755" cy="931544"/>
            </a:xfrm>
            <a:custGeom>
              <a:avLst/>
              <a:gdLst/>
              <a:ahLst/>
              <a:cxnLst/>
              <a:rect l="l" t="t" r="r" b="b"/>
              <a:pathLst>
                <a:path w="2865754" h="931545">
                  <a:moveTo>
                    <a:pt x="0" y="0"/>
                  </a:moveTo>
                  <a:lnTo>
                    <a:pt x="2865687" y="0"/>
                  </a:lnTo>
                </a:path>
                <a:path w="2865754" h="931545">
                  <a:moveTo>
                    <a:pt x="0" y="931348"/>
                  </a:moveTo>
                  <a:lnTo>
                    <a:pt x="2865687" y="931348"/>
                  </a:lnTo>
                </a:path>
              </a:pathLst>
            </a:custGeom>
            <a:ln w="28656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386390" y="4881903"/>
              <a:ext cx="429895" cy="429895"/>
            </a:xfrm>
            <a:custGeom>
              <a:avLst/>
              <a:gdLst/>
              <a:ahLst/>
              <a:cxnLst/>
              <a:rect l="l" t="t" r="r" b="b"/>
              <a:pathLst>
                <a:path w="429895" h="429895">
                  <a:moveTo>
                    <a:pt x="404996" y="429853"/>
                  </a:moveTo>
                  <a:lnTo>
                    <a:pt x="24856" y="429853"/>
                  </a:lnTo>
                  <a:lnTo>
                    <a:pt x="21201" y="429126"/>
                  </a:lnTo>
                  <a:lnTo>
                    <a:pt x="0" y="404996"/>
                  </a:lnTo>
                  <a:lnTo>
                    <a:pt x="0" y="24856"/>
                  </a:lnTo>
                  <a:lnTo>
                    <a:pt x="28656" y="0"/>
                  </a:lnTo>
                  <a:lnTo>
                    <a:pt x="404996" y="0"/>
                  </a:lnTo>
                  <a:lnTo>
                    <a:pt x="429853" y="24856"/>
                  </a:lnTo>
                  <a:lnTo>
                    <a:pt x="429853" y="404996"/>
                  </a:lnTo>
                  <a:lnTo>
                    <a:pt x="404996" y="429853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86390" y="4738619"/>
              <a:ext cx="429895" cy="573405"/>
            </a:xfrm>
            <a:custGeom>
              <a:avLst/>
              <a:gdLst/>
              <a:ahLst/>
              <a:cxnLst/>
              <a:rect l="l" t="t" r="r" b="b"/>
              <a:pathLst>
                <a:path w="429895" h="573404">
                  <a:moveTo>
                    <a:pt x="28656" y="143284"/>
                  </a:moveTo>
                  <a:lnTo>
                    <a:pt x="401196" y="143284"/>
                  </a:lnTo>
                  <a:lnTo>
                    <a:pt x="404996" y="143284"/>
                  </a:lnTo>
                  <a:lnTo>
                    <a:pt x="429853" y="171941"/>
                  </a:lnTo>
                  <a:lnTo>
                    <a:pt x="429853" y="544480"/>
                  </a:lnTo>
                  <a:lnTo>
                    <a:pt x="401196" y="573137"/>
                  </a:lnTo>
                  <a:lnTo>
                    <a:pt x="28656" y="573137"/>
                  </a:lnTo>
                  <a:lnTo>
                    <a:pt x="0" y="544480"/>
                  </a:lnTo>
                  <a:lnTo>
                    <a:pt x="0" y="171941"/>
                  </a:lnTo>
                  <a:lnTo>
                    <a:pt x="28656" y="143284"/>
                  </a:lnTo>
                  <a:close/>
                </a:path>
                <a:path w="429895" h="573404">
                  <a:moveTo>
                    <a:pt x="214926" y="143284"/>
                  </a:moveTo>
                  <a:lnTo>
                    <a:pt x="214926" y="0"/>
                  </a:lnTo>
                </a:path>
              </a:pathLst>
            </a:custGeom>
            <a:ln w="14328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6572659" y="4709962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32457" y="57313"/>
                  </a:moveTo>
                  <a:lnTo>
                    <a:pt x="24856" y="57313"/>
                  </a:lnTo>
                  <a:lnTo>
                    <a:pt x="21201" y="56586"/>
                  </a:lnTo>
                  <a:lnTo>
                    <a:pt x="0" y="32456"/>
                  </a:lnTo>
                  <a:lnTo>
                    <a:pt x="0" y="24856"/>
                  </a:lnTo>
                  <a:lnTo>
                    <a:pt x="24856" y="0"/>
                  </a:lnTo>
                  <a:lnTo>
                    <a:pt x="32457" y="0"/>
                  </a:lnTo>
                  <a:lnTo>
                    <a:pt x="57313" y="28656"/>
                  </a:lnTo>
                  <a:lnTo>
                    <a:pt x="57313" y="32456"/>
                  </a:lnTo>
                  <a:lnTo>
                    <a:pt x="32457" y="57313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601316" y="5311756"/>
              <a:ext cx="0" cy="143510"/>
            </a:xfrm>
            <a:custGeom>
              <a:avLst/>
              <a:gdLst/>
              <a:ahLst/>
              <a:cxnLst/>
              <a:rect l="l" t="t" r="r" b="b"/>
              <a:pathLst>
                <a:path w="0" h="143510">
                  <a:moveTo>
                    <a:pt x="0" y="0"/>
                  </a:moveTo>
                  <a:lnTo>
                    <a:pt x="0" y="143284"/>
                  </a:lnTo>
                </a:path>
              </a:pathLst>
            </a:custGeom>
            <a:ln w="14328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572659" y="542638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32457" y="57313"/>
                  </a:moveTo>
                  <a:lnTo>
                    <a:pt x="24856" y="57313"/>
                  </a:lnTo>
                  <a:lnTo>
                    <a:pt x="21201" y="56586"/>
                  </a:lnTo>
                  <a:lnTo>
                    <a:pt x="0" y="32456"/>
                  </a:lnTo>
                  <a:lnTo>
                    <a:pt x="0" y="24856"/>
                  </a:lnTo>
                  <a:lnTo>
                    <a:pt x="24856" y="0"/>
                  </a:lnTo>
                  <a:lnTo>
                    <a:pt x="32457" y="0"/>
                  </a:lnTo>
                  <a:lnTo>
                    <a:pt x="57313" y="28656"/>
                  </a:lnTo>
                  <a:lnTo>
                    <a:pt x="57313" y="32456"/>
                  </a:lnTo>
                  <a:lnTo>
                    <a:pt x="32457" y="57313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6492666" y="5011805"/>
            <a:ext cx="217804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0" b="1">
                <a:latin typeface="Roboto"/>
                <a:cs typeface="Roboto"/>
              </a:rPr>
              <a:t>SVC</a:t>
            </a:r>
            <a:endParaRPr sz="850">
              <a:latin typeface="Roboto"/>
              <a:cs typeface="Roboto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7131330" y="4709962"/>
            <a:ext cx="516255" cy="774065"/>
            <a:chOff x="7131330" y="4709962"/>
            <a:chExt cx="516255" cy="774065"/>
          </a:xfrm>
        </p:grpSpPr>
        <p:sp>
          <p:nvSpPr>
            <p:cNvPr id="14" name="object 14" descr=""/>
            <p:cNvSpPr/>
            <p:nvPr/>
          </p:nvSpPr>
          <p:spPr>
            <a:xfrm>
              <a:off x="7138633" y="4881903"/>
              <a:ext cx="501650" cy="429895"/>
            </a:xfrm>
            <a:custGeom>
              <a:avLst/>
              <a:gdLst/>
              <a:ahLst/>
              <a:cxnLst/>
              <a:rect l="l" t="t" r="r" b="b"/>
              <a:pathLst>
                <a:path w="501650" h="429895">
                  <a:moveTo>
                    <a:pt x="476638" y="429853"/>
                  </a:moveTo>
                  <a:lnTo>
                    <a:pt x="24856" y="429853"/>
                  </a:lnTo>
                  <a:lnTo>
                    <a:pt x="21201" y="429126"/>
                  </a:lnTo>
                  <a:lnTo>
                    <a:pt x="0" y="404996"/>
                  </a:lnTo>
                  <a:lnTo>
                    <a:pt x="0" y="24856"/>
                  </a:lnTo>
                  <a:lnTo>
                    <a:pt x="28656" y="0"/>
                  </a:lnTo>
                  <a:lnTo>
                    <a:pt x="476638" y="0"/>
                  </a:lnTo>
                  <a:lnTo>
                    <a:pt x="501495" y="24856"/>
                  </a:lnTo>
                  <a:lnTo>
                    <a:pt x="501495" y="404996"/>
                  </a:lnTo>
                  <a:lnTo>
                    <a:pt x="476638" y="429853"/>
                  </a:lnTo>
                  <a:close/>
                </a:path>
              </a:pathLst>
            </a:custGeom>
            <a:solidFill>
              <a:srgbClr val="DFE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138633" y="4738619"/>
              <a:ext cx="501650" cy="573405"/>
            </a:xfrm>
            <a:custGeom>
              <a:avLst/>
              <a:gdLst/>
              <a:ahLst/>
              <a:cxnLst/>
              <a:rect l="l" t="t" r="r" b="b"/>
              <a:pathLst>
                <a:path w="501650" h="573404">
                  <a:moveTo>
                    <a:pt x="28656" y="143284"/>
                  </a:moveTo>
                  <a:lnTo>
                    <a:pt x="472838" y="143284"/>
                  </a:lnTo>
                  <a:lnTo>
                    <a:pt x="476638" y="143284"/>
                  </a:lnTo>
                  <a:lnTo>
                    <a:pt x="499313" y="160974"/>
                  </a:lnTo>
                  <a:lnTo>
                    <a:pt x="500768" y="164485"/>
                  </a:lnTo>
                  <a:lnTo>
                    <a:pt x="501495" y="168141"/>
                  </a:lnTo>
                  <a:lnTo>
                    <a:pt x="501495" y="171941"/>
                  </a:lnTo>
                  <a:lnTo>
                    <a:pt x="501495" y="544480"/>
                  </a:lnTo>
                  <a:lnTo>
                    <a:pt x="501495" y="548280"/>
                  </a:lnTo>
                  <a:lnTo>
                    <a:pt x="500768" y="551936"/>
                  </a:lnTo>
                  <a:lnTo>
                    <a:pt x="499313" y="555447"/>
                  </a:lnTo>
                  <a:lnTo>
                    <a:pt x="497859" y="558958"/>
                  </a:lnTo>
                  <a:lnTo>
                    <a:pt x="472838" y="573137"/>
                  </a:lnTo>
                  <a:lnTo>
                    <a:pt x="28656" y="573137"/>
                  </a:lnTo>
                  <a:lnTo>
                    <a:pt x="2181" y="555447"/>
                  </a:lnTo>
                  <a:lnTo>
                    <a:pt x="727" y="551936"/>
                  </a:lnTo>
                  <a:lnTo>
                    <a:pt x="0" y="548280"/>
                  </a:lnTo>
                  <a:lnTo>
                    <a:pt x="0" y="544480"/>
                  </a:lnTo>
                  <a:lnTo>
                    <a:pt x="0" y="171941"/>
                  </a:lnTo>
                  <a:lnTo>
                    <a:pt x="0" y="168141"/>
                  </a:lnTo>
                  <a:lnTo>
                    <a:pt x="727" y="164485"/>
                  </a:lnTo>
                  <a:lnTo>
                    <a:pt x="2181" y="160974"/>
                  </a:lnTo>
                  <a:lnTo>
                    <a:pt x="3635" y="157463"/>
                  </a:lnTo>
                  <a:lnTo>
                    <a:pt x="24856" y="143284"/>
                  </a:lnTo>
                  <a:lnTo>
                    <a:pt x="28656" y="143284"/>
                  </a:lnTo>
                  <a:close/>
                </a:path>
                <a:path w="501650" h="573404">
                  <a:moveTo>
                    <a:pt x="250747" y="143284"/>
                  </a:moveTo>
                  <a:lnTo>
                    <a:pt x="250747" y="0"/>
                  </a:lnTo>
                </a:path>
              </a:pathLst>
            </a:custGeom>
            <a:ln w="14328">
              <a:solidFill>
                <a:srgbClr val="6266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7360723" y="4709962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32457" y="57313"/>
                  </a:moveTo>
                  <a:lnTo>
                    <a:pt x="24856" y="57313"/>
                  </a:lnTo>
                  <a:lnTo>
                    <a:pt x="21201" y="56586"/>
                  </a:lnTo>
                  <a:lnTo>
                    <a:pt x="0" y="32456"/>
                  </a:lnTo>
                  <a:lnTo>
                    <a:pt x="0" y="24856"/>
                  </a:lnTo>
                  <a:lnTo>
                    <a:pt x="24856" y="0"/>
                  </a:lnTo>
                  <a:lnTo>
                    <a:pt x="32457" y="0"/>
                  </a:lnTo>
                  <a:lnTo>
                    <a:pt x="57313" y="28656"/>
                  </a:lnTo>
                  <a:lnTo>
                    <a:pt x="57313" y="32456"/>
                  </a:lnTo>
                  <a:lnTo>
                    <a:pt x="32457" y="57313"/>
                  </a:lnTo>
                  <a:close/>
                </a:path>
              </a:pathLst>
            </a:custGeom>
            <a:solidFill>
              <a:srgbClr val="6266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7389380" y="5311756"/>
              <a:ext cx="0" cy="143510"/>
            </a:xfrm>
            <a:custGeom>
              <a:avLst/>
              <a:gdLst/>
              <a:ahLst/>
              <a:cxnLst/>
              <a:rect l="l" t="t" r="r" b="b"/>
              <a:pathLst>
                <a:path w="0" h="143510">
                  <a:moveTo>
                    <a:pt x="0" y="0"/>
                  </a:moveTo>
                  <a:lnTo>
                    <a:pt x="0" y="143284"/>
                  </a:lnTo>
                </a:path>
              </a:pathLst>
            </a:custGeom>
            <a:ln w="14328">
              <a:solidFill>
                <a:srgbClr val="6266F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7360723" y="542638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32457" y="57313"/>
                  </a:moveTo>
                  <a:lnTo>
                    <a:pt x="24856" y="57313"/>
                  </a:lnTo>
                  <a:lnTo>
                    <a:pt x="21201" y="56586"/>
                  </a:lnTo>
                  <a:lnTo>
                    <a:pt x="0" y="32456"/>
                  </a:lnTo>
                  <a:lnTo>
                    <a:pt x="0" y="24856"/>
                  </a:lnTo>
                  <a:lnTo>
                    <a:pt x="24856" y="0"/>
                  </a:lnTo>
                  <a:lnTo>
                    <a:pt x="32457" y="0"/>
                  </a:lnTo>
                  <a:lnTo>
                    <a:pt x="57313" y="28656"/>
                  </a:lnTo>
                  <a:lnTo>
                    <a:pt x="57313" y="32456"/>
                  </a:lnTo>
                  <a:lnTo>
                    <a:pt x="32457" y="57313"/>
                  </a:lnTo>
                  <a:close/>
                </a:path>
              </a:pathLst>
            </a:custGeom>
            <a:solidFill>
              <a:srgbClr val="6266F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7145322" y="5011805"/>
            <a:ext cx="48831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5" b="1">
                <a:latin typeface="Roboto"/>
                <a:cs typeface="Roboto"/>
              </a:rPr>
              <a:t>STATCOM</a:t>
            </a:r>
            <a:endParaRPr sz="850">
              <a:latin typeface="Roboto"/>
              <a:cs typeface="Roboto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7790577" y="5089527"/>
            <a:ext cx="774065" cy="229870"/>
            <a:chOff x="7790577" y="5089527"/>
            <a:chExt cx="774065" cy="229870"/>
          </a:xfrm>
        </p:grpSpPr>
        <p:sp>
          <p:nvSpPr>
            <p:cNvPr id="21" name="object 21" descr=""/>
            <p:cNvSpPr/>
            <p:nvPr/>
          </p:nvSpPr>
          <p:spPr>
            <a:xfrm>
              <a:off x="7962518" y="5096830"/>
              <a:ext cx="429895" cy="215265"/>
            </a:xfrm>
            <a:custGeom>
              <a:avLst/>
              <a:gdLst/>
              <a:ahLst/>
              <a:cxnLst/>
              <a:rect l="l" t="t" r="r" b="b"/>
              <a:pathLst>
                <a:path w="429895" h="215264">
                  <a:moveTo>
                    <a:pt x="404996" y="214926"/>
                  </a:moveTo>
                  <a:lnTo>
                    <a:pt x="24856" y="214926"/>
                  </a:lnTo>
                  <a:lnTo>
                    <a:pt x="21201" y="214199"/>
                  </a:lnTo>
                  <a:lnTo>
                    <a:pt x="0" y="190069"/>
                  </a:lnTo>
                  <a:lnTo>
                    <a:pt x="0" y="24856"/>
                  </a:lnTo>
                  <a:lnTo>
                    <a:pt x="28656" y="0"/>
                  </a:lnTo>
                  <a:lnTo>
                    <a:pt x="404996" y="0"/>
                  </a:lnTo>
                  <a:lnTo>
                    <a:pt x="429853" y="24856"/>
                  </a:lnTo>
                  <a:lnTo>
                    <a:pt x="429853" y="190069"/>
                  </a:lnTo>
                  <a:lnTo>
                    <a:pt x="404996" y="214926"/>
                  </a:lnTo>
                  <a:close/>
                </a:path>
              </a:pathLst>
            </a:custGeom>
            <a:solidFill>
              <a:srgbClr val="FAE7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7819234" y="5096830"/>
              <a:ext cx="573405" cy="215265"/>
            </a:xfrm>
            <a:custGeom>
              <a:avLst/>
              <a:gdLst/>
              <a:ahLst/>
              <a:cxnLst/>
              <a:rect l="l" t="t" r="r" b="b"/>
              <a:pathLst>
                <a:path w="573404" h="215264">
                  <a:moveTo>
                    <a:pt x="171941" y="0"/>
                  </a:moveTo>
                  <a:lnTo>
                    <a:pt x="544480" y="0"/>
                  </a:lnTo>
                  <a:lnTo>
                    <a:pt x="548280" y="0"/>
                  </a:lnTo>
                  <a:lnTo>
                    <a:pt x="573137" y="28656"/>
                  </a:lnTo>
                  <a:lnTo>
                    <a:pt x="573137" y="186269"/>
                  </a:lnTo>
                  <a:lnTo>
                    <a:pt x="544480" y="214926"/>
                  </a:lnTo>
                  <a:lnTo>
                    <a:pt x="171941" y="214926"/>
                  </a:lnTo>
                  <a:lnTo>
                    <a:pt x="143284" y="186269"/>
                  </a:lnTo>
                  <a:lnTo>
                    <a:pt x="143284" y="28656"/>
                  </a:lnTo>
                  <a:lnTo>
                    <a:pt x="171941" y="0"/>
                  </a:lnTo>
                  <a:close/>
                </a:path>
                <a:path w="573404" h="215264">
                  <a:moveTo>
                    <a:pt x="143284" y="107463"/>
                  </a:moveTo>
                  <a:lnTo>
                    <a:pt x="0" y="107463"/>
                  </a:lnTo>
                </a:path>
              </a:pathLst>
            </a:custGeom>
            <a:ln w="14328">
              <a:solidFill>
                <a:srgbClr val="A7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7790577" y="5175636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32456" y="57313"/>
                  </a:moveTo>
                  <a:lnTo>
                    <a:pt x="24856" y="57313"/>
                  </a:lnTo>
                  <a:lnTo>
                    <a:pt x="21201" y="56586"/>
                  </a:lnTo>
                  <a:lnTo>
                    <a:pt x="0" y="32457"/>
                  </a:lnTo>
                  <a:lnTo>
                    <a:pt x="0" y="24856"/>
                  </a:lnTo>
                  <a:lnTo>
                    <a:pt x="24856" y="0"/>
                  </a:lnTo>
                  <a:lnTo>
                    <a:pt x="32456" y="0"/>
                  </a:lnTo>
                  <a:lnTo>
                    <a:pt x="57313" y="24856"/>
                  </a:lnTo>
                  <a:lnTo>
                    <a:pt x="57313" y="28656"/>
                  </a:lnTo>
                  <a:lnTo>
                    <a:pt x="57313" y="32457"/>
                  </a:lnTo>
                  <a:lnTo>
                    <a:pt x="36112" y="56586"/>
                  </a:lnTo>
                  <a:lnTo>
                    <a:pt x="32456" y="57313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392371" y="5204293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 h="0">
                  <a:moveTo>
                    <a:pt x="0" y="0"/>
                  </a:moveTo>
                  <a:lnTo>
                    <a:pt x="143284" y="0"/>
                  </a:lnTo>
                </a:path>
              </a:pathLst>
            </a:custGeom>
            <a:ln w="14328">
              <a:solidFill>
                <a:srgbClr val="A754F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506999" y="5175636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32457" y="57313"/>
                  </a:moveTo>
                  <a:lnTo>
                    <a:pt x="24856" y="57313"/>
                  </a:lnTo>
                  <a:lnTo>
                    <a:pt x="21201" y="56586"/>
                  </a:lnTo>
                  <a:lnTo>
                    <a:pt x="0" y="32457"/>
                  </a:lnTo>
                  <a:lnTo>
                    <a:pt x="0" y="24856"/>
                  </a:lnTo>
                  <a:lnTo>
                    <a:pt x="24856" y="0"/>
                  </a:lnTo>
                  <a:lnTo>
                    <a:pt x="32457" y="0"/>
                  </a:lnTo>
                  <a:lnTo>
                    <a:pt x="57313" y="28656"/>
                  </a:lnTo>
                  <a:lnTo>
                    <a:pt x="57313" y="32457"/>
                  </a:lnTo>
                  <a:lnTo>
                    <a:pt x="32457" y="57313"/>
                  </a:lnTo>
                  <a:close/>
                </a:path>
              </a:pathLst>
            </a:custGeom>
            <a:solidFill>
              <a:srgbClr val="A754F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8039530" y="5119268"/>
            <a:ext cx="27622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25" b="1">
                <a:latin typeface="Roboto"/>
                <a:cs typeface="Roboto"/>
              </a:rPr>
              <a:t>SSSC</a:t>
            </a:r>
            <a:endParaRPr sz="850">
              <a:latin typeface="Roboto"/>
              <a:cs typeface="Roboto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8327893" y="4709962"/>
            <a:ext cx="845819" cy="774065"/>
            <a:chOff x="8327893" y="4709962"/>
            <a:chExt cx="845819" cy="774065"/>
          </a:xfrm>
        </p:grpSpPr>
        <p:sp>
          <p:nvSpPr>
            <p:cNvPr id="28" name="object 28" descr=""/>
            <p:cNvSpPr/>
            <p:nvPr/>
          </p:nvSpPr>
          <p:spPr>
            <a:xfrm>
              <a:off x="8499834" y="4881903"/>
              <a:ext cx="501650" cy="429895"/>
            </a:xfrm>
            <a:custGeom>
              <a:avLst/>
              <a:gdLst/>
              <a:ahLst/>
              <a:cxnLst/>
              <a:rect l="l" t="t" r="r" b="b"/>
              <a:pathLst>
                <a:path w="501650" h="429895">
                  <a:moveTo>
                    <a:pt x="476638" y="429853"/>
                  </a:moveTo>
                  <a:lnTo>
                    <a:pt x="24856" y="429853"/>
                  </a:lnTo>
                  <a:lnTo>
                    <a:pt x="21201" y="429126"/>
                  </a:lnTo>
                  <a:lnTo>
                    <a:pt x="0" y="404996"/>
                  </a:lnTo>
                  <a:lnTo>
                    <a:pt x="0" y="24856"/>
                  </a:lnTo>
                  <a:lnTo>
                    <a:pt x="28656" y="0"/>
                  </a:lnTo>
                  <a:lnTo>
                    <a:pt x="476638" y="0"/>
                  </a:lnTo>
                  <a:lnTo>
                    <a:pt x="501495" y="24856"/>
                  </a:lnTo>
                  <a:lnTo>
                    <a:pt x="501495" y="404996"/>
                  </a:lnTo>
                  <a:lnTo>
                    <a:pt x="476638" y="429853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499834" y="4738619"/>
              <a:ext cx="501650" cy="573405"/>
            </a:xfrm>
            <a:custGeom>
              <a:avLst/>
              <a:gdLst/>
              <a:ahLst/>
              <a:cxnLst/>
              <a:rect l="l" t="t" r="r" b="b"/>
              <a:pathLst>
                <a:path w="501650" h="573404">
                  <a:moveTo>
                    <a:pt x="28656" y="143284"/>
                  </a:moveTo>
                  <a:lnTo>
                    <a:pt x="472838" y="143284"/>
                  </a:lnTo>
                  <a:lnTo>
                    <a:pt x="476638" y="143284"/>
                  </a:lnTo>
                  <a:lnTo>
                    <a:pt x="499313" y="160974"/>
                  </a:lnTo>
                  <a:lnTo>
                    <a:pt x="500768" y="164485"/>
                  </a:lnTo>
                  <a:lnTo>
                    <a:pt x="501495" y="168141"/>
                  </a:lnTo>
                  <a:lnTo>
                    <a:pt x="501495" y="171941"/>
                  </a:lnTo>
                  <a:lnTo>
                    <a:pt x="501495" y="544480"/>
                  </a:lnTo>
                  <a:lnTo>
                    <a:pt x="501495" y="548280"/>
                  </a:lnTo>
                  <a:lnTo>
                    <a:pt x="500768" y="551936"/>
                  </a:lnTo>
                  <a:lnTo>
                    <a:pt x="499313" y="555447"/>
                  </a:lnTo>
                  <a:lnTo>
                    <a:pt x="497859" y="558958"/>
                  </a:lnTo>
                  <a:lnTo>
                    <a:pt x="472838" y="573137"/>
                  </a:lnTo>
                  <a:lnTo>
                    <a:pt x="28656" y="573137"/>
                  </a:lnTo>
                  <a:lnTo>
                    <a:pt x="2181" y="555447"/>
                  </a:lnTo>
                  <a:lnTo>
                    <a:pt x="727" y="551936"/>
                  </a:lnTo>
                  <a:lnTo>
                    <a:pt x="0" y="548280"/>
                  </a:lnTo>
                  <a:lnTo>
                    <a:pt x="0" y="544480"/>
                  </a:lnTo>
                  <a:lnTo>
                    <a:pt x="0" y="171941"/>
                  </a:lnTo>
                  <a:lnTo>
                    <a:pt x="0" y="168141"/>
                  </a:lnTo>
                  <a:lnTo>
                    <a:pt x="727" y="164485"/>
                  </a:lnTo>
                  <a:lnTo>
                    <a:pt x="2181" y="160974"/>
                  </a:lnTo>
                  <a:lnTo>
                    <a:pt x="3635" y="157463"/>
                  </a:lnTo>
                  <a:lnTo>
                    <a:pt x="24856" y="143284"/>
                  </a:lnTo>
                  <a:lnTo>
                    <a:pt x="28656" y="143284"/>
                  </a:lnTo>
                  <a:close/>
                </a:path>
                <a:path w="501650" h="573404">
                  <a:moveTo>
                    <a:pt x="250747" y="143284"/>
                  </a:moveTo>
                  <a:lnTo>
                    <a:pt x="250747" y="0"/>
                  </a:lnTo>
                </a:path>
              </a:pathLst>
            </a:custGeom>
            <a:ln w="14328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721925" y="4709962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32457" y="57313"/>
                  </a:moveTo>
                  <a:lnTo>
                    <a:pt x="24856" y="57313"/>
                  </a:lnTo>
                  <a:lnTo>
                    <a:pt x="21201" y="56586"/>
                  </a:lnTo>
                  <a:lnTo>
                    <a:pt x="0" y="32456"/>
                  </a:lnTo>
                  <a:lnTo>
                    <a:pt x="0" y="24856"/>
                  </a:lnTo>
                  <a:lnTo>
                    <a:pt x="24856" y="0"/>
                  </a:lnTo>
                  <a:lnTo>
                    <a:pt x="32457" y="0"/>
                  </a:lnTo>
                  <a:lnTo>
                    <a:pt x="57313" y="28656"/>
                  </a:lnTo>
                  <a:lnTo>
                    <a:pt x="57313" y="32456"/>
                  </a:lnTo>
                  <a:lnTo>
                    <a:pt x="32457" y="57313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8750582" y="5311756"/>
              <a:ext cx="0" cy="143510"/>
            </a:xfrm>
            <a:custGeom>
              <a:avLst/>
              <a:gdLst/>
              <a:ahLst/>
              <a:cxnLst/>
              <a:rect l="l" t="t" r="r" b="b"/>
              <a:pathLst>
                <a:path w="0" h="143510">
                  <a:moveTo>
                    <a:pt x="0" y="0"/>
                  </a:moveTo>
                  <a:lnTo>
                    <a:pt x="0" y="143284"/>
                  </a:lnTo>
                </a:path>
              </a:pathLst>
            </a:custGeom>
            <a:ln w="14328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8721925" y="5426384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32457" y="57313"/>
                  </a:moveTo>
                  <a:lnTo>
                    <a:pt x="24856" y="57313"/>
                  </a:lnTo>
                  <a:lnTo>
                    <a:pt x="21201" y="56586"/>
                  </a:lnTo>
                  <a:lnTo>
                    <a:pt x="0" y="32456"/>
                  </a:lnTo>
                  <a:lnTo>
                    <a:pt x="0" y="24856"/>
                  </a:lnTo>
                  <a:lnTo>
                    <a:pt x="24856" y="0"/>
                  </a:lnTo>
                  <a:lnTo>
                    <a:pt x="32457" y="0"/>
                  </a:lnTo>
                  <a:lnTo>
                    <a:pt x="57313" y="28656"/>
                  </a:lnTo>
                  <a:lnTo>
                    <a:pt x="57313" y="32456"/>
                  </a:lnTo>
                  <a:lnTo>
                    <a:pt x="32457" y="57313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8356550" y="5096830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 h="0">
                  <a:moveTo>
                    <a:pt x="143284" y="0"/>
                  </a:moveTo>
                  <a:lnTo>
                    <a:pt x="0" y="0"/>
                  </a:lnTo>
                </a:path>
              </a:pathLst>
            </a:custGeom>
            <a:ln w="14328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327893" y="5068173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32457" y="57313"/>
                  </a:moveTo>
                  <a:lnTo>
                    <a:pt x="24856" y="57313"/>
                  </a:lnTo>
                  <a:lnTo>
                    <a:pt x="21201" y="56586"/>
                  </a:lnTo>
                  <a:lnTo>
                    <a:pt x="0" y="32457"/>
                  </a:lnTo>
                  <a:lnTo>
                    <a:pt x="0" y="24856"/>
                  </a:lnTo>
                  <a:lnTo>
                    <a:pt x="24856" y="0"/>
                  </a:lnTo>
                  <a:lnTo>
                    <a:pt x="32457" y="0"/>
                  </a:lnTo>
                  <a:lnTo>
                    <a:pt x="57313" y="24856"/>
                  </a:lnTo>
                  <a:lnTo>
                    <a:pt x="57313" y="28656"/>
                  </a:lnTo>
                  <a:lnTo>
                    <a:pt x="57313" y="32457"/>
                  </a:lnTo>
                  <a:lnTo>
                    <a:pt x="36112" y="56586"/>
                  </a:lnTo>
                  <a:lnTo>
                    <a:pt x="32457" y="57313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001329" y="5096830"/>
              <a:ext cx="143510" cy="0"/>
            </a:xfrm>
            <a:custGeom>
              <a:avLst/>
              <a:gdLst/>
              <a:ahLst/>
              <a:cxnLst/>
              <a:rect l="l" t="t" r="r" b="b"/>
              <a:pathLst>
                <a:path w="143509" h="0">
                  <a:moveTo>
                    <a:pt x="0" y="0"/>
                  </a:moveTo>
                  <a:lnTo>
                    <a:pt x="143284" y="0"/>
                  </a:lnTo>
                </a:path>
              </a:pathLst>
            </a:custGeom>
            <a:ln w="14328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9115957" y="5068173"/>
              <a:ext cx="57785" cy="57785"/>
            </a:xfrm>
            <a:custGeom>
              <a:avLst/>
              <a:gdLst/>
              <a:ahLst/>
              <a:cxnLst/>
              <a:rect l="l" t="t" r="r" b="b"/>
              <a:pathLst>
                <a:path w="57784" h="57785">
                  <a:moveTo>
                    <a:pt x="32457" y="57313"/>
                  </a:moveTo>
                  <a:lnTo>
                    <a:pt x="24856" y="57313"/>
                  </a:lnTo>
                  <a:lnTo>
                    <a:pt x="21201" y="56586"/>
                  </a:lnTo>
                  <a:lnTo>
                    <a:pt x="0" y="32457"/>
                  </a:lnTo>
                  <a:lnTo>
                    <a:pt x="0" y="24856"/>
                  </a:lnTo>
                  <a:lnTo>
                    <a:pt x="24856" y="0"/>
                  </a:lnTo>
                  <a:lnTo>
                    <a:pt x="32457" y="0"/>
                  </a:lnTo>
                  <a:lnTo>
                    <a:pt x="57313" y="28656"/>
                  </a:lnTo>
                  <a:lnTo>
                    <a:pt x="57313" y="32457"/>
                  </a:lnTo>
                  <a:lnTo>
                    <a:pt x="32457" y="57313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8612308" y="5011805"/>
            <a:ext cx="27686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30" b="1">
                <a:latin typeface="Roboto"/>
                <a:cs typeface="Roboto"/>
              </a:rPr>
              <a:t>UPFC</a:t>
            </a:r>
            <a:endParaRPr sz="850">
              <a:latin typeface="Roboto"/>
              <a:cs typeface="Roboto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7273735" y="4486912"/>
            <a:ext cx="80454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5" b="1">
                <a:latin typeface="Roboto"/>
                <a:cs typeface="Roboto"/>
              </a:rPr>
              <a:t>Transmission</a:t>
            </a:r>
            <a:r>
              <a:rPr dirty="0" sz="750" spc="45" b="1">
                <a:latin typeface="Roboto"/>
                <a:cs typeface="Roboto"/>
              </a:rPr>
              <a:t> </a:t>
            </a:r>
            <a:r>
              <a:rPr dirty="0" sz="750" spc="-50" b="1">
                <a:latin typeface="Roboto"/>
                <a:cs typeface="Roboto"/>
              </a:rPr>
              <a:t>Line</a:t>
            </a:r>
            <a:r>
              <a:rPr dirty="0" sz="750" spc="45" b="1">
                <a:latin typeface="Roboto"/>
                <a:cs typeface="Roboto"/>
              </a:rPr>
              <a:t> </a:t>
            </a:r>
            <a:r>
              <a:rPr dirty="0" sz="750" spc="-50" b="1">
                <a:latin typeface="Roboto"/>
                <a:cs typeface="Roboto"/>
              </a:rPr>
              <a:t>1</a:t>
            </a:r>
            <a:endParaRPr sz="750">
              <a:latin typeface="Roboto"/>
              <a:cs typeface="Roboto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7273735" y="5704869"/>
            <a:ext cx="80454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55" b="1">
                <a:latin typeface="Roboto"/>
                <a:cs typeface="Roboto"/>
              </a:rPr>
              <a:t>Transmission</a:t>
            </a:r>
            <a:r>
              <a:rPr dirty="0" sz="750" spc="45" b="1">
                <a:latin typeface="Roboto"/>
                <a:cs typeface="Roboto"/>
              </a:rPr>
              <a:t> </a:t>
            </a:r>
            <a:r>
              <a:rPr dirty="0" sz="750" spc="-50" b="1">
                <a:latin typeface="Roboto"/>
                <a:cs typeface="Roboto"/>
              </a:rPr>
              <a:t>Line</a:t>
            </a:r>
            <a:r>
              <a:rPr dirty="0" sz="750" spc="45" b="1">
                <a:latin typeface="Roboto"/>
                <a:cs typeface="Roboto"/>
              </a:rPr>
              <a:t> </a:t>
            </a:r>
            <a:r>
              <a:rPr dirty="0" sz="750" spc="-50" b="1">
                <a:latin typeface="Roboto"/>
                <a:cs typeface="Roboto"/>
              </a:rPr>
              <a:t>2</a:t>
            </a:r>
            <a:endParaRPr sz="750">
              <a:latin typeface="Roboto"/>
              <a:cs typeface="Roboto"/>
            </a:endParaRPr>
          </a:p>
        </p:txBody>
      </p:sp>
      <p:pic>
        <p:nvPicPr>
          <p:cNvPr id="40" name="object 4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43105" y="6028178"/>
            <a:ext cx="2865687" cy="286568"/>
          </a:xfrm>
          <a:prstGeom prst="rect">
            <a:avLst/>
          </a:prstGeom>
        </p:spPr>
      </p:pic>
      <p:sp>
        <p:nvSpPr>
          <p:cNvPr id="41" name="object 41" descr=""/>
          <p:cNvSpPr txBox="1"/>
          <p:nvPr/>
        </p:nvSpPr>
        <p:spPr>
          <a:xfrm>
            <a:off x="6302007" y="6098861"/>
            <a:ext cx="334645" cy="140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-35" b="1">
                <a:latin typeface="Roboto"/>
                <a:cs typeface="Roboto"/>
              </a:rPr>
              <a:t>Legend:</a:t>
            </a:r>
            <a:endParaRPr sz="750">
              <a:latin typeface="Roboto"/>
              <a:cs typeface="Roboto"/>
            </a:endParaRPr>
          </a:p>
        </p:txBody>
      </p:sp>
      <p:sp>
        <p:nvSpPr>
          <p:cNvPr id="42" name="object 42" descr=""/>
          <p:cNvSpPr txBox="1"/>
          <p:nvPr/>
        </p:nvSpPr>
        <p:spPr>
          <a:xfrm>
            <a:off x="6803463" y="6133781"/>
            <a:ext cx="21018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10">
                <a:latin typeface="Roboto"/>
                <a:cs typeface="Roboto"/>
              </a:rPr>
              <a:t>Shunt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7233316" y="6133781"/>
            <a:ext cx="22288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10">
                <a:latin typeface="Roboto"/>
                <a:cs typeface="Roboto"/>
              </a:rPr>
              <a:t>Series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7734891" y="6133781"/>
            <a:ext cx="35115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20">
                <a:latin typeface="Roboto"/>
                <a:cs typeface="Roboto"/>
              </a:rPr>
              <a:t>Combined</a:t>
            </a:r>
            <a:endParaRPr sz="600">
              <a:latin typeface="Roboto"/>
              <a:cs typeface="Roboto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8307949" y="6133781"/>
            <a:ext cx="379095" cy="1212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00" spc="-30">
                <a:latin typeface="Roboto"/>
                <a:cs typeface="Roboto"/>
              </a:rPr>
              <a:t>VSC-</a:t>
            </a:r>
            <a:r>
              <a:rPr dirty="0" sz="600" spc="-10">
                <a:latin typeface="Roboto"/>
                <a:cs typeface="Roboto"/>
              </a:rPr>
              <a:t>Based</a:t>
            </a:r>
            <a:endParaRPr sz="600">
              <a:latin typeface="Roboto"/>
              <a:cs typeface="Roboto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0" y="0"/>
            <a:ext cx="9825355" cy="6854825"/>
            <a:chOff x="0" y="0"/>
            <a:chExt cx="9825355" cy="6854825"/>
          </a:xfrm>
        </p:grpSpPr>
        <p:pic>
          <p:nvPicPr>
            <p:cNvPr id="47" name="object 4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9825215" cy="6854622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230276" y="1381670"/>
              <a:ext cx="921385" cy="3070860"/>
            </a:xfrm>
            <a:custGeom>
              <a:avLst/>
              <a:gdLst/>
              <a:ahLst/>
              <a:cxnLst/>
              <a:rect l="l" t="t" r="r" b="b"/>
              <a:pathLst>
                <a:path w="921385" h="3070860">
                  <a:moveTo>
                    <a:pt x="921105" y="2302789"/>
                  </a:moveTo>
                  <a:lnTo>
                    <a:pt x="23025" y="2302789"/>
                  </a:lnTo>
                  <a:lnTo>
                    <a:pt x="23025" y="1558226"/>
                  </a:lnTo>
                  <a:lnTo>
                    <a:pt x="383794" y="1558226"/>
                  </a:lnTo>
                  <a:lnTo>
                    <a:pt x="383794" y="1535201"/>
                  </a:lnTo>
                  <a:lnTo>
                    <a:pt x="23025" y="1535201"/>
                  </a:lnTo>
                  <a:lnTo>
                    <a:pt x="23025" y="790625"/>
                  </a:lnTo>
                  <a:lnTo>
                    <a:pt x="537311" y="790625"/>
                  </a:lnTo>
                  <a:lnTo>
                    <a:pt x="537311" y="767600"/>
                  </a:lnTo>
                  <a:lnTo>
                    <a:pt x="23025" y="767600"/>
                  </a:lnTo>
                  <a:lnTo>
                    <a:pt x="23025" y="23037"/>
                  </a:lnTo>
                  <a:lnTo>
                    <a:pt x="767588" y="23037"/>
                  </a:lnTo>
                  <a:lnTo>
                    <a:pt x="767588" y="0"/>
                  </a:lnTo>
                  <a:lnTo>
                    <a:pt x="23025" y="0"/>
                  </a:lnTo>
                  <a:lnTo>
                    <a:pt x="0" y="0"/>
                  </a:lnTo>
                  <a:lnTo>
                    <a:pt x="0" y="23037"/>
                  </a:lnTo>
                  <a:lnTo>
                    <a:pt x="0" y="3070390"/>
                  </a:lnTo>
                  <a:lnTo>
                    <a:pt x="23025" y="3070390"/>
                  </a:lnTo>
                  <a:lnTo>
                    <a:pt x="23025" y="2325814"/>
                  </a:lnTo>
                  <a:lnTo>
                    <a:pt x="921105" y="2325814"/>
                  </a:lnTo>
                  <a:lnTo>
                    <a:pt x="921105" y="2302789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250" y="1358642"/>
              <a:ext cx="92111" cy="92111"/>
            </a:xfrm>
            <a:prstGeom prst="rect">
              <a:avLst/>
            </a:prstGeom>
          </p:spPr>
        </p:pic>
        <p:pic>
          <p:nvPicPr>
            <p:cNvPr id="50" name="object 5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7250" y="2126238"/>
              <a:ext cx="92111" cy="92111"/>
            </a:xfrm>
            <a:prstGeom prst="rect">
              <a:avLst/>
            </a:prstGeom>
          </p:spPr>
        </p:pic>
        <p:pic>
          <p:nvPicPr>
            <p:cNvPr id="51" name="object 5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250" y="2893833"/>
              <a:ext cx="92111" cy="92110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250" y="3661427"/>
              <a:ext cx="92111" cy="92111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07250" y="4429022"/>
              <a:ext cx="92111" cy="92111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498936" y="383797"/>
              <a:ext cx="8865870" cy="429895"/>
            </a:xfrm>
            <a:custGeom>
              <a:avLst/>
              <a:gdLst/>
              <a:ahLst/>
              <a:cxnLst/>
              <a:rect l="l" t="t" r="r" b="b"/>
              <a:pathLst>
                <a:path w="8865870" h="429894">
                  <a:moveTo>
                    <a:pt x="0" y="429853"/>
                  </a:moveTo>
                  <a:lnTo>
                    <a:pt x="8865721" y="429853"/>
                  </a:lnTo>
                  <a:lnTo>
                    <a:pt x="8865721" y="0"/>
                  </a:lnTo>
                  <a:lnTo>
                    <a:pt x="0" y="0"/>
                  </a:lnTo>
                  <a:lnTo>
                    <a:pt x="0" y="429853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460556" y="383797"/>
              <a:ext cx="38735" cy="429895"/>
            </a:xfrm>
            <a:custGeom>
              <a:avLst/>
              <a:gdLst/>
              <a:ahLst/>
              <a:cxnLst/>
              <a:rect l="l" t="t" r="r" b="b"/>
              <a:pathLst>
                <a:path w="38734" h="429894">
                  <a:moveTo>
                    <a:pt x="38379" y="429853"/>
                  </a:moveTo>
                  <a:lnTo>
                    <a:pt x="0" y="429853"/>
                  </a:lnTo>
                  <a:lnTo>
                    <a:pt x="0" y="0"/>
                  </a:lnTo>
                  <a:lnTo>
                    <a:pt x="38379" y="0"/>
                  </a:lnTo>
                  <a:lnTo>
                    <a:pt x="38379" y="429853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>
            <a:spLocks noGrp="1"/>
          </p:cNvSpPr>
          <p:nvPr>
            <p:ph type="title"/>
          </p:nvPr>
        </p:nvSpPr>
        <p:spPr>
          <a:xfrm>
            <a:off x="498936" y="406598"/>
            <a:ext cx="8865870" cy="333375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53035">
              <a:lnSpc>
                <a:spcPct val="100000"/>
              </a:lnSpc>
              <a:spcBef>
                <a:spcPts val="114"/>
              </a:spcBef>
            </a:pPr>
            <a:r>
              <a:rPr dirty="0" sz="2000" spc="-125"/>
              <a:t>Modern</a:t>
            </a:r>
            <a:r>
              <a:rPr dirty="0" sz="2000" spc="-10"/>
              <a:t> </a:t>
            </a:r>
            <a:r>
              <a:rPr dirty="0" sz="2000" spc="-180"/>
              <a:t>FACTS</a:t>
            </a:r>
            <a:r>
              <a:rPr dirty="0" sz="2000" spc="-5"/>
              <a:t> </a:t>
            </a:r>
            <a:r>
              <a:rPr dirty="0" sz="2000" spc="-105"/>
              <a:t>Devices:</a:t>
            </a:r>
            <a:r>
              <a:rPr dirty="0" sz="2000" spc="-5"/>
              <a:t> </a:t>
            </a:r>
            <a:r>
              <a:rPr dirty="0" sz="2000" spc="-145"/>
              <a:t>An</a:t>
            </a:r>
            <a:r>
              <a:rPr dirty="0" sz="2000" spc="-5"/>
              <a:t> </a:t>
            </a:r>
            <a:r>
              <a:rPr dirty="0" sz="2000" spc="-10"/>
              <a:t>Overview</a:t>
            </a:r>
            <a:endParaRPr sz="2000"/>
          </a:p>
        </p:txBody>
      </p:sp>
      <p:grpSp>
        <p:nvGrpSpPr>
          <p:cNvPr id="57" name="object 57" descr=""/>
          <p:cNvGrpSpPr/>
          <p:nvPr/>
        </p:nvGrpSpPr>
        <p:grpSpPr>
          <a:xfrm>
            <a:off x="460556" y="967169"/>
            <a:ext cx="461009" cy="2924810"/>
            <a:chOff x="460556" y="967169"/>
            <a:chExt cx="461009" cy="2924810"/>
          </a:xfrm>
        </p:grpSpPr>
        <p:sp>
          <p:nvSpPr>
            <p:cNvPr id="58" name="object 58" descr=""/>
            <p:cNvSpPr/>
            <p:nvPr/>
          </p:nvSpPr>
          <p:spPr>
            <a:xfrm>
              <a:off x="460556" y="967169"/>
              <a:ext cx="276860" cy="276860"/>
            </a:xfrm>
            <a:custGeom>
              <a:avLst/>
              <a:gdLst/>
              <a:ahLst/>
              <a:cxnLst/>
              <a:rect l="l" t="t" r="r" b="b"/>
              <a:pathLst>
                <a:path w="276859" h="276859">
                  <a:moveTo>
                    <a:pt x="138167" y="276334"/>
                  </a:moveTo>
                  <a:lnTo>
                    <a:pt x="98058" y="270386"/>
                  </a:lnTo>
                  <a:lnTo>
                    <a:pt x="61405" y="253048"/>
                  </a:lnTo>
                  <a:lnTo>
                    <a:pt x="31361" y="225820"/>
                  </a:lnTo>
                  <a:lnTo>
                    <a:pt x="10517" y="191041"/>
                  </a:lnTo>
                  <a:lnTo>
                    <a:pt x="663" y="151709"/>
                  </a:lnTo>
                  <a:lnTo>
                    <a:pt x="0" y="138167"/>
                  </a:lnTo>
                  <a:lnTo>
                    <a:pt x="165" y="131379"/>
                  </a:lnTo>
                  <a:lnTo>
                    <a:pt x="8073" y="91627"/>
                  </a:lnTo>
                  <a:lnTo>
                    <a:pt x="27194" y="55853"/>
                  </a:lnTo>
                  <a:lnTo>
                    <a:pt x="55853" y="27194"/>
                  </a:lnTo>
                  <a:lnTo>
                    <a:pt x="91627" y="8072"/>
                  </a:lnTo>
                  <a:lnTo>
                    <a:pt x="131379" y="165"/>
                  </a:lnTo>
                  <a:lnTo>
                    <a:pt x="138167" y="0"/>
                  </a:lnTo>
                  <a:lnTo>
                    <a:pt x="144954" y="165"/>
                  </a:lnTo>
                  <a:lnTo>
                    <a:pt x="184706" y="8072"/>
                  </a:lnTo>
                  <a:lnTo>
                    <a:pt x="220480" y="27194"/>
                  </a:lnTo>
                  <a:lnTo>
                    <a:pt x="249139" y="55853"/>
                  </a:lnTo>
                  <a:lnTo>
                    <a:pt x="268260" y="91627"/>
                  </a:lnTo>
                  <a:lnTo>
                    <a:pt x="276168" y="131379"/>
                  </a:lnTo>
                  <a:lnTo>
                    <a:pt x="276334" y="138167"/>
                  </a:lnTo>
                  <a:lnTo>
                    <a:pt x="276168" y="144954"/>
                  </a:lnTo>
                  <a:lnTo>
                    <a:pt x="268260" y="184706"/>
                  </a:lnTo>
                  <a:lnTo>
                    <a:pt x="249139" y="220480"/>
                  </a:lnTo>
                  <a:lnTo>
                    <a:pt x="220480" y="249139"/>
                  </a:lnTo>
                  <a:lnTo>
                    <a:pt x="184706" y="268261"/>
                  </a:lnTo>
                  <a:lnTo>
                    <a:pt x="144954" y="276168"/>
                  </a:lnTo>
                  <a:lnTo>
                    <a:pt x="138167" y="27633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4992" y="1028577"/>
              <a:ext cx="115139" cy="153518"/>
            </a:xfrm>
            <a:prstGeom prst="rect">
              <a:avLst/>
            </a:prstGeom>
          </p:spPr>
        </p:pic>
        <p:sp>
          <p:nvSpPr>
            <p:cNvPr id="60" name="object 60" descr=""/>
            <p:cNvSpPr/>
            <p:nvPr/>
          </p:nvSpPr>
          <p:spPr>
            <a:xfrm>
              <a:off x="882726" y="1281886"/>
              <a:ext cx="38735" cy="1144270"/>
            </a:xfrm>
            <a:custGeom>
              <a:avLst/>
              <a:gdLst/>
              <a:ahLst/>
              <a:cxnLst/>
              <a:rect l="l" t="t" r="r" b="b"/>
              <a:pathLst>
                <a:path w="38734" h="1144270">
                  <a:moveTo>
                    <a:pt x="38379" y="1121981"/>
                  </a:moveTo>
                  <a:lnTo>
                    <a:pt x="21742" y="1105344"/>
                  </a:lnTo>
                  <a:lnTo>
                    <a:pt x="16649" y="1105344"/>
                  </a:lnTo>
                  <a:lnTo>
                    <a:pt x="0" y="1121981"/>
                  </a:lnTo>
                  <a:lnTo>
                    <a:pt x="0" y="1127074"/>
                  </a:lnTo>
                  <a:lnTo>
                    <a:pt x="16649" y="1143723"/>
                  </a:lnTo>
                  <a:lnTo>
                    <a:pt x="21742" y="1143723"/>
                  </a:lnTo>
                  <a:lnTo>
                    <a:pt x="38379" y="1127074"/>
                  </a:lnTo>
                  <a:lnTo>
                    <a:pt x="38379" y="1124534"/>
                  </a:lnTo>
                  <a:lnTo>
                    <a:pt x="38379" y="1121981"/>
                  </a:lnTo>
                  <a:close/>
                </a:path>
                <a:path w="38734" h="1144270">
                  <a:moveTo>
                    <a:pt x="38379" y="753541"/>
                  </a:moveTo>
                  <a:lnTo>
                    <a:pt x="21742" y="736892"/>
                  </a:lnTo>
                  <a:lnTo>
                    <a:pt x="16649" y="736892"/>
                  </a:lnTo>
                  <a:lnTo>
                    <a:pt x="0" y="753541"/>
                  </a:lnTo>
                  <a:lnTo>
                    <a:pt x="0" y="758634"/>
                  </a:lnTo>
                  <a:lnTo>
                    <a:pt x="16649" y="775271"/>
                  </a:lnTo>
                  <a:lnTo>
                    <a:pt x="21742" y="775271"/>
                  </a:lnTo>
                  <a:lnTo>
                    <a:pt x="38379" y="758634"/>
                  </a:lnTo>
                  <a:lnTo>
                    <a:pt x="38379" y="756081"/>
                  </a:lnTo>
                  <a:lnTo>
                    <a:pt x="38379" y="753541"/>
                  </a:lnTo>
                  <a:close/>
                </a:path>
                <a:path w="38734" h="1144270">
                  <a:moveTo>
                    <a:pt x="38379" y="385089"/>
                  </a:moveTo>
                  <a:lnTo>
                    <a:pt x="21742" y="368452"/>
                  </a:lnTo>
                  <a:lnTo>
                    <a:pt x="16649" y="368452"/>
                  </a:lnTo>
                  <a:lnTo>
                    <a:pt x="0" y="385089"/>
                  </a:lnTo>
                  <a:lnTo>
                    <a:pt x="0" y="390182"/>
                  </a:lnTo>
                  <a:lnTo>
                    <a:pt x="16649" y="406831"/>
                  </a:lnTo>
                  <a:lnTo>
                    <a:pt x="21742" y="406831"/>
                  </a:lnTo>
                  <a:lnTo>
                    <a:pt x="38379" y="390182"/>
                  </a:lnTo>
                  <a:lnTo>
                    <a:pt x="38379" y="387642"/>
                  </a:lnTo>
                  <a:lnTo>
                    <a:pt x="38379" y="385089"/>
                  </a:lnTo>
                  <a:close/>
                </a:path>
                <a:path w="38734" h="1144270">
                  <a:moveTo>
                    <a:pt x="38379" y="16649"/>
                  </a:moveTo>
                  <a:lnTo>
                    <a:pt x="21742" y="0"/>
                  </a:lnTo>
                  <a:lnTo>
                    <a:pt x="16649" y="0"/>
                  </a:lnTo>
                  <a:lnTo>
                    <a:pt x="0" y="16649"/>
                  </a:lnTo>
                  <a:lnTo>
                    <a:pt x="0" y="21742"/>
                  </a:lnTo>
                  <a:lnTo>
                    <a:pt x="16649" y="38379"/>
                  </a:lnTo>
                  <a:lnTo>
                    <a:pt x="21742" y="38379"/>
                  </a:lnTo>
                  <a:lnTo>
                    <a:pt x="38379" y="21742"/>
                  </a:lnTo>
                  <a:lnTo>
                    <a:pt x="38379" y="19189"/>
                  </a:lnTo>
                  <a:lnTo>
                    <a:pt x="38379" y="1664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460556" y="2801721"/>
              <a:ext cx="276860" cy="276860"/>
            </a:xfrm>
            <a:custGeom>
              <a:avLst/>
              <a:gdLst/>
              <a:ahLst/>
              <a:cxnLst/>
              <a:rect l="l" t="t" r="r" b="b"/>
              <a:pathLst>
                <a:path w="276859" h="276860">
                  <a:moveTo>
                    <a:pt x="138167" y="276334"/>
                  </a:moveTo>
                  <a:lnTo>
                    <a:pt x="98058" y="270386"/>
                  </a:lnTo>
                  <a:lnTo>
                    <a:pt x="61405" y="253048"/>
                  </a:lnTo>
                  <a:lnTo>
                    <a:pt x="31361" y="225820"/>
                  </a:lnTo>
                  <a:lnTo>
                    <a:pt x="10517" y="191040"/>
                  </a:lnTo>
                  <a:lnTo>
                    <a:pt x="663" y="151709"/>
                  </a:lnTo>
                  <a:lnTo>
                    <a:pt x="0" y="138167"/>
                  </a:lnTo>
                  <a:lnTo>
                    <a:pt x="165" y="131379"/>
                  </a:lnTo>
                  <a:lnTo>
                    <a:pt x="8073" y="91627"/>
                  </a:lnTo>
                  <a:lnTo>
                    <a:pt x="27194" y="55853"/>
                  </a:lnTo>
                  <a:lnTo>
                    <a:pt x="55853" y="27194"/>
                  </a:lnTo>
                  <a:lnTo>
                    <a:pt x="91627" y="8072"/>
                  </a:lnTo>
                  <a:lnTo>
                    <a:pt x="131379" y="165"/>
                  </a:lnTo>
                  <a:lnTo>
                    <a:pt x="138167" y="0"/>
                  </a:lnTo>
                  <a:lnTo>
                    <a:pt x="144954" y="165"/>
                  </a:lnTo>
                  <a:lnTo>
                    <a:pt x="184706" y="8073"/>
                  </a:lnTo>
                  <a:lnTo>
                    <a:pt x="220480" y="27194"/>
                  </a:lnTo>
                  <a:lnTo>
                    <a:pt x="249139" y="55853"/>
                  </a:lnTo>
                  <a:lnTo>
                    <a:pt x="268260" y="91627"/>
                  </a:lnTo>
                  <a:lnTo>
                    <a:pt x="276168" y="131379"/>
                  </a:lnTo>
                  <a:lnTo>
                    <a:pt x="276334" y="138167"/>
                  </a:lnTo>
                  <a:lnTo>
                    <a:pt x="276168" y="144954"/>
                  </a:lnTo>
                  <a:lnTo>
                    <a:pt x="268260" y="184706"/>
                  </a:lnTo>
                  <a:lnTo>
                    <a:pt x="249139" y="220479"/>
                  </a:lnTo>
                  <a:lnTo>
                    <a:pt x="220480" y="249139"/>
                  </a:lnTo>
                  <a:lnTo>
                    <a:pt x="184706" y="268260"/>
                  </a:lnTo>
                  <a:lnTo>
                    <a:pt x="144954" y="276168"/>
                  </a:lnTo>
                  <a:lnTo>
                    <a:pt x="138167" y="27633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2" name="object 62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49789" y="2863129"/>
              <a:ext cx="105538" cy="153518"/>
            </a:xfrm>
            <a:prstGeom prst="rect">
              <a:avLst/>
            </a:prstGeom>
          </p:spPr>
        </p:pic>
        <p:sp>
          <p:nvSpPr>
            <p:cNvPr id="63" name="object 63" descr=""/>
            <p:cNvSpPr/>
            <p:nvPr/>
          </p:nvSpPr>
          <p:spPr>
            <a:xfrm>
              <a:off x="882726" y="3116440"/>
              <a:ext cx="38735" cy="775335"/>
            </a:xfrm>
            <a:custGeom>
              <a:avLst/>
              <a:gdLst/>
              <a:ahLst/>
              <a:cxnLst/>
              <a:rect l="l" t="t" r="r" b="b"/>
              <a:pathLst>
                <a:path w="38734" h="775335">
                  <a:moveTo>
                    <a:pt x="38379" y="753541"/>
                  </a:moveTo>
                  <a:lnTo>
                    <a:pt x="21742" y="736892"/>
                  </a:lnTo>
                  <a:lnTo>
                    <a:pt x="16649" y="736892"/>
                  </a:lnTo>
                  <a:lnTo>
                    <a:pt x="0" y="753541"/>
                  </a:lnTo>
                  <a:lnTo>
                    <a:pt x="0" y="758621"/>
                  </a:lnTo>
                  <a:lnTo>
                    <a:pt x="16649" y="775271"/>
                  </a:lnTo>
                  <a:lnTo>
                    <a:pt x="21742" y="775271"/>
                  </a:lnTo>
                  <a:lnTo>
                    <a:pt x="38379" y="758621"/>
                  </a:lnTo>
                  <a:lnTo>
                    <a:pt x="38379" y="756081"/>
                  </a:lnTo>
                  <a:lnTo>
                    <a:pt x="38379" y="753541"/>
                  </a:lnTo>
                  <a:close/>
                </a:path>
                <a:path w="38734" h="775335">
                  <a:moveTo>
                    <a:pt x="38379" y="385089"/>
                  </a:moveTo>
                  <a:lnTo>
                    <a:pt x="21742" y="368452"/>
                  </a:lnTo>
                  <a:lnTo>
                    <a:pt x="16649" y="368452"/>
                  </a:lnTo>
                  <a:lnTo>
                    <a:pt x="0" y="385089"/>
                  </a:lnTo>
                  <a:lnTo>
                    <a:pt x="0" y="390182"/>
                  </a:lnTo>
                  <a:lnTo>
                    <a:pt x="16649" y="406831"/>
                  </a:lnTo>
                  <a:lnTo>
                    <a:pt x="21742" y="406831"/>
                  </a:lnTo>
                  <a:lnTo>
                    <a:pt x="38379" y="390182"/>
                  </a:lnTo>
                  <a:lnTo>
                    <a:pt x="38379" y="387642"/>
                  </a:lnTo>
                  <a:lnTo>
                    <a:pt x="38379" y="385089"/>
                  </a:lnTo>
                  <a:close/>
                </a:path>
                <a:path w="38734" h="775335">
                  <a:moveTo>
                    <a:pt x="38379" y="16649"/>
                  </a:moveTo>
                  <a:lnTo>
                    <a:pt x="21742" y="0"/>
                  </a:lnTo>
                  <a:lnTo>
                    <a:pt x="16649" y="0"/>
                  </a:lnTo>
                  <a:lnTo>
                    <a:pt x="0" y="16649"/>
                  </a:lnTo>
                  <a:lnTo>
                    <a:pt x="0" y="21729"/>
                  </a:lnTo>
                  <a:lnTo>
                    <a:pt x="16649" y="38379"/>
                  </a:lnTo>
                  <a:lnTo>
                    <a:pt x="21742" y="38379"/>
                  </a:lnTo>
                  <a:lnTo>
                    <a:pt x="38379" y="21729"/>
                  </a:lnTo>
                  <a:lnTo>
                    <a:pt x="38379" y="19189"/>
                  </a:lnTo>
                  <a:lnTo>
                    <a:pt x="38379" y="1664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 descr=""/>
          <p:cNvSpPr txBox="1"/>
          <p:nvPr/>
        </p:nvSpPr>
        <p:spPr>
          <a:xfrm>
            <a:off x="847006" y="889703"/>
            <a:ext cx="3750310" cy="324929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350" spc="-100" b="1">
                <a:solidFill>
                  <a:srgbClr val="1D3A8A"/>
                </a:solidFill>
                <a:latin typeface="Roboto"/>
                <a:cs typeface="Roboto"/>
              </a:rPr>
              <a:t>Key</a:t>
            </a:r>
            <a:r>
              <a:rPr dirty="0" sz="1350" spc="-1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350" spc="-130" b="1">
                <a:solidFill>
                  <a:srgbClr val="1D3A8A"/>
                </a:solidFill>
                <a:latin typeface="Roboto"/>
                <a:cs typeface="Roboto"/>
              </a:rPr>
              <a:t>FACTS</a:t>
            </a:r>
            <a:r>
              <a:rPr dirty="0" sz="1350" spc="-4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350" spc="-20" b="1">
                <a:solidFill>
                  <a:srgbClr val="1D3A8A"/>
                </a:solidFill>
                <a:latin typeface="Roboto"/>
                <a:cs typeface="Roboto"/>
              </a:rPr>
              <a:t>Types</a:t>
            </a:r>
            <a:endParaRPr sz="1350">
              <a:latin typeface="Roboto"/>
              <a:cs typeface="Roboto"/>
            </a:endParaRPr>
          </a:p>
          <a:p>
            <a:pPr marL="165735" marR="143510">
              <a:lnSpc>
                <a:spcPct val="115100"/>
              </a:lnSpc>
              <a:spcBef>
                <a:spcPts val="180"/>
              </a:spcBef>
            </a:pPr>
            <a:r>
              <a:rPr dirty="0" sz="1050" spc="-70" b="1">
                <a:solidFill>
                  <a:srgbClr val="374050"/>
                </a:solidFill>
                <a:latin typeface="Roboto"/>
                <a:cs typeface="Roboto"/>
              </a:rPr>
              <a:t>SVC</a:t>
            </a:r>
            <a:r>
              <a:rPr dirty="0" sz="105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 b="1">
                <a:solidFill>
                  <a:srgbClr val="374050"/>
                </a:solidFill>
                <a:latin typeface="Roboto"/>
                <a:cs typeface="Roboto"/>
              </a:rPr>
              <a:t>(Static</a:t>
            </a:r>
            <a:r>
              <a:rPr dirty="0" sz="105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80" b="1">
                <a:solidFill>
                  <a:srgbClr val="374050"/>
                </a:solidFill>
                <a:latin typeface="Roboto"/>
                <a:cs typeface="Roboto"/>
              </a:rPr>
              <a:t>VAR</a:t>
            </a:r>
            <a:r>
              <a:rPr dirty="0" sz="105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 b="1">
                <a:solidFill>
                  <a:srgbClr val="374050"/>
                </a:solidFill>
                <a:latin typeface="Roboto"/>
                <a:cs typeface="Roboto"/>
              </a:rPr>
              <a:t>Compensator):</a:t>
            </a:r>
            <a:r>
              <a:rPr dirty="0" sz="105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Shunt-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connected,</a:t>
            </a:r>
            <a:r>
              <a:rPr dirty="0" sz="10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35">
                <a:solidFill>
                  <a:srgbClr val="374050"/>
                </a:solidFill>
                <a:latin typeface="Roboto"/>
                <a:cs typeface="Roboto"/>
              </a:rPr>
              <a:t>fast</a:t>
            </a:r>
            <a:r>
              <a:rPr dirty="0" sz="10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20">
                <a:solidFill>
                  <a:srgbClr val="374050"/>
                </a:solidFill>
                <a:latin typeface="Roboto"/>
                <a:cs typeface="Roboto"/>
              </a:rPr>
              <a:t>reactive </a:t>
            </a:r>
            <a:r>
              <a:rPr dirty="0" sz="1050" spc="-5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0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compensation</a:t>
            </a:r>
            <a:endParaRPr sz="1050">
              <a:latin typeface="Roboto"/>
              <a:cs typeface="Roboto"/>
            </a:endParaRPr>
          </a:p>
          <a:p>
            <a:pPr marL="165735" marR="30480">
              <a:lnSpc>
                <a:spcPct val="115100"/>
              </a:lnSpc>
            </a:pPr>
            <a:r>
              <a:rPr dirty="0" sz="1050" spc="-65" b="1">
                <a:solidFill>
                  <a:srgbClr val="374050"/>
                </a:solidFill>
                <a:latin typeface="Roboto"/>
                <a:cs typeface="Roboto"/>
              </a:rPr>
              <a:t>SSSC</a:t>
            </a:r>
            <a:r>
              <a:rPr dirty="0" sz="105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 b="1">
                <a:solidFill>
                  <a:srgbClr val="374050"/>
                </a:solidFill>
                <a:latin typeface="Roboto"/>
                <a:cs typeface="Roboto"/>
              </a:rPr>
              <a:t>(Static</a:t>
            </a:r>
            <a:r>
              <a:rPr dirty="0" sz="105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 b="1">
                <a:solidFill>
                  <a:srgbClr val="374050"/>
                </a:solidFill>
                <a:latin typeface="Roboto"/>
                <a:cs typeface="Roboto"/>
              </a:rPr>
              <a:t>Synchronous</a:t>
            </a:r>
            <a:r>
              <a:rPr dirty="0" sz="105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 b="1">
                <a:solidFill>
                  <a:srgbClr val="374050"/>
                </a:solidFill>
                <a:latin typeface="Roboto"/>
                <a:cs typeface="Roboto"/>
              </a:rPr>
              <a:t>Series</a:t>
            </a:r>
            <a:r>
              <a:rPr dirty="0" sz="105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 b="1">
                <a:solidFill>
                  <a:srgbClr val="374050"/>
                </a:solidFill>
                <a:latin typeface="Roboto"/>
                <a:cs typeface="Roboto"/>
              </a:rPr>
              <a:t>Compensator):</a:t>
            </a:r>
            <a:r>
              <a:rPr dirty="0" sz="105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Controls</a:t>
            </a:r>
            <a:r>
              <a:rPr dirty="0" sz="10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power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flow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through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374050"/>
                </a:solidFill>
                <a:latin typeface="Roboto"/>
                <a:cs typeface="Roboto"/>
              </a:rPr>
              <a:t>series</a:t>
            </a:r>
            <a:r>
              <a:rPr dirty="0" sz="10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voltage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injection</a:t>
            </a:r>
            <a:endParaRPr sz="1050">
              <a:latin typeface="Roboto"/>
              <a:cs typeface="Roboto"/>
            </a:endParaRPr>
          </a:p>
          <a:p>
            <a:pPr marL="165735" marR="116839">
              <a:lnSpc>
                <a:spcPct val="115100"/>
              </a:lnSpc>
            </a:pPr>
            <a:r>
              <a:rPr dirty="0" sz="1050" spc="-80" b="1">
                <a:solidFill>
                  <a:srgbClr val="374050"/>
                </a:solidFill>
                <a:latin typeface="Roboto"/>
                <a:cs typeface="Roboto"/>
              </a:rPr>
              <a:t>STATCOM</a:t>
            </a:r>
            <a:r>
              <a:rPr dirty="0" sz="105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 b="1">
                <a:solidFill>
                  <a:srgbClr val="374050"/>
                </a:solidFill>
                <a:latin typeface="Roboto"/>
                <a:cs typeface="Roboto"/>
              </a:rPr>
              <a:t>(Static</a:t>
            </a:r>
            <a:r>
              <a:rPr dirty="0" sz="105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 b="1">
                <a:solidFill>
                  <a:srgbClr val="374050"/>
                </a:solidFill>
                <a:latin typeface="Roboto"/>
                <a:cs typeface="Roboto"/>
              </a:rPr>
              <a:t>Compensator):</a:t>
            </a:r>
            <a:r>
              <a:rPr dirty="0" sz="105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>
                <a:solidFill>
                  <a:srgbClr val="374050"/>
                </a:solidFill>
                <a:latin typeface="Roboto"/>
                <a:cs typeface="Roboto"/>
              </a:rPr>
              <a:t>Fast</a:t>
            </a:r>
            <a:r>
              <a:rPr dirty="0" sz="10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dynamic</a:t>
            </a:r>
            <a:r>
              <a:rPr dirty="0" sz="10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voltage</a:t>
            </a:r>
            <a:r>
              <a:rPr dirty="0" sz="10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support 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60">
                <a:solidFill>
                  <a:srgbClr val="374050"/>
                </a:solidFill>
                <a:latin typeface="Roboto"/>
                <a:cs typeface="Roboto"/>
              </a:rPr>
              <a:t>VSC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technology</a:t>
            </a:r>
            <a:endParaRPr sz="1050">
              <a:latin typeface="Roboto"/>
              <a:cs typeface="Roboto"/>
            </a:endParaRPr>
          </a:p>
          <a:p>
            <a:pPr marL="165735" marR="169545">
              <a:lnSpc>
                <a:spcPct val="115100"/>
              </a:lnSpc>
            </a:pPr>
            <a:r>
              <a:rPr dirty="0" sz="1050" spc="-65" b="1">
                <a:solidFill>
                  <a:srgbClr val="374050"/>
                </a:solidFill>
                <a:latin typeface="Roboto"/>
                <a:cs typeface="Roboto"/>
              </a:rPr>
              <a:t>UPFC</a:t>
            </a:r>
            <a:r>
              <a:rPr dirty="0" sz="105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 b="1">
                <a:solidFill>
                  <a:srgbClr val="374050"/>
                </a:solidFill>
                <a:latin typeface="Roboto"/>
                <a:cs typeface="Roboto"/>
              </a:rPr>
              <a:t>(Unified</a:t>
            </a:r>
            <a:r>
              <a:rPr dirty="0" sz="105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 b="1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05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 b="1">
                <a:solidFill>
                  <a:srgbClr val="374050"/>
                </a:solidFill>
                <a:latin typeface="Roboto"/>
                <a:cs typeface="Roboto"/>
              </a:rPr>
              <a:t>Flow</a:t>
            </a:r>
            <a:r>
              <a:rPr dirty="0" sz="105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 b="1">
                <a:solidFill>
                  <a:srgbClr val="374050"/>
                </a:solidFill>
                <a:latin typeface="Roboto"/>
                <a:cs typeface="Roboto"/>
              </a:rPr>
              <a:t>Controller):</a:t>
            </a:r>
            <a:r>
              <a:rPr dirty="0" sz="105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Combined</a:t>
            </a:r>
            <a:r>
              <a:rPr dirty="0" sz="10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30">
                <a:solidFill>
                  <a:srgbClr val="374050"/>
                </a:solidFill>
                <a:latin typeface="Roboto"/>
                <a:cs typeface="Roboto"/>
              </a:rPr>
              <a:t>series/shunt </a:t>
            </a:r>
            <a:r>
              <a:rPr dirty="0" sz="1050" spc="-4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complete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flow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management</a:t>
            </a:r>
            <a:endParaRPr sz="10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350" spc="-75" b="1">
                <a:solidFill>
                  <a:srgbClr val="1D3A8A"/>
                </a:solidFill>
                <a:latin typeface="Roboto"/>
                <a:cs typeface="Roboto"/>
              </a:rPr>
              <a:t>Latest</a:t>
            </a:r>
            <a:r>
              <a:rPr dirty="0" sz="1350" spc="1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1D3A8A"/>
                </a:solidFill>
                <a:latin typeface="Roboto"/>
                <a:cs typeface="Roboto"/>
              </a:rPr>
              <a:t>Innovations</a:t>
            </a:r>
            <a:endParaRPr sz="1350">
              <a:latin typeface="Roboto"/>
              <a:cs typeface="Roboto"/>
            </a:endParaRPr>
          </a:p>
          <a:p>
            <a:pPr marL="165735" marR="92075">
              <a:lnSpc>
                <a:spcPct val="115100"/>
              </a:lnSpc>
              <a:spcBef>
                <a:spcPts val="180"/>
              </a:spcBef>
            </a:pPr>
            <a:r>
              <a:rPr dirty="0" sz="1050" spc="-45" b="1">
                <a:solidFill>
                  <a:srgbClr val="374050"/>
                </a:solidFill>
                <a:latin typeface="Roboto"/>
                <a:cs typeface="Roboto"/>
              </a:rPr>
              <a:t>Delta-type</a:t>
            </a:r>
            <a:r>
              <a:rPr dirty="0" sz="1050" spc="-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 b="1">
                <a:solidFill>
                  <a:srgbClr val="374050"/>
                </a:solidFill>
                <a:latin typeface="Roboto"/>
                <a:cs typeface="Roboto"/>
              </a:rPr>
              <a:t>Transformer-</a:t>
            </a:r>
            <a:r>
              <a:rPr dirty="0" sz="1050" spc="-45" b="1">
                <a:solidFill>
                  <a:srgbClr val="374050"/>
                </a:solidFill>
                <a:latin typeface="Roboto"/>
                <a:cs typeface="Roboto"/>
              </a:rPr>
              <a:t>less</a:t>
            </a:r>
            <a:r>
              <a:rPr dirty="0" sz="105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 b="1">
                <a:solidFill>
                  <a:srgbClr val="374050"/>
                </a:solidFill>
                <a:latin typeface="Roboto"/>
                <a:cs typeface="Roboto"/>
              </a:rPr>
              <a:t>UPFC:</a:t>
            </a:r>
            <a:r>
              <a:rPr dirty="0" sz="105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>
                <a:solidFill>
                  <a:srgbClr val="374050"/>
                </a:solidFill>
                <a:latin typeface="Roboto"/>
                <a:cs typeface="Roboto"/>
              </a:rPr>
              <a:t>Lower</a:t>
            </a:r>
            <a:r>
              <a:rPr dirty="0" sz="105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cost,</a:t>
            </a:r>
            <a:r>
              <a:rPr dirty="0" sz="10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reduced</a:t>
            </a:r>
            <a:r>
              <a:rPr dirty="0" sz="10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20">
                <a:solidFill>
                  <a:srgbClr val="374050"/>
                </a:solidFill>
                <a:latin typeface="Roboto"/>
                <a:cs typeface="Roboto"/>
              </a:rPr>
              <a:t>weight,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higher</a:t>
            </a:r>
            <a:r>
              <a:rPr dirty="0" sz="105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efficiency</a:t>
            </a:r>
            <a:endParaRPr sz="1050">
              <a:latin typeface="Roboto"/>
              <a:cs typeface="Roboto"/>
            </a:endParaRPr>
          </a:p>
          <a:p>
            <a:pPr marL="165735" marR="5080">
              <a:lnSpc>
                <a:spcPct val="115100"/>
              </a:lnSpc>
            </a:pPr>
            <a:r>
              <a:rPr dirty="0" sz="1050" spc="-55" b="1">
                <a:solidFill>
                  <a:srgbClr val="374050"/>
                </a:solidFill>
                <a:latin typeface="Roboto"/>
                <a:cs typeface="Roboto"/>
              </a:rPr>
              <a:t>Hybrid</a:t>
            </a:r>
            <a:r>
              <a:rPr dirty="0" sz="105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 b="1">
                <a:solidFill>
                  <a:srgbClr val="374050"/>
                </a:solidFill>
                <a:latin typeface="Roboto"/>
                <a:cs typeface="Roboto"/>
              </a:rPr>
              <a:t>SVC/SSSC:</a:t>
            </a:r>
            <a:r>
              <a:rPr dirty="0" sz="105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Coordinated</a:t>
            </a:r>
            <a:r>
              <a:rPr dirty="0" sz="10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0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0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enhanced</a:t>
            </a:r>
            <a:r>
              <a:rPr dirty="0" sz="10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35">
                <a:solidFill>
                  <a:srgbClr val="374050"/>
                </a:solidFill>
                <a:latin typeface="Roboto"/>
                <a:cs typeface="Roboto"/>
              </a:rPr>
              <a:t>stability</a:t>
            </a:r>
            <a:r>
              <a:rPr dirty="0" sz="10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25">
                <a:solidFill>
                  <a:srgbClr val="374050"/>
                </a:solidFill>
                <a:latin typeface="Roboto"/>
                <a:cs typeface="Roboto"/>
              </a:rPr>
              <a:t>and 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disturbance</a:t>
            </a:r>
            <a:r>
              <a:rPr dirty="0" sz="10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rejection</a:t>
            </a:r>
            <a:endParaRPr sz="1050">
              <a:latin typeface="Roboto"/>
              <a:cs typeface="Roboto"/>
            </a:endParaRPr>
          </a:p>
          <a:p>
            <a:pPr marL="165735" marR="95250">
              <a:lnSpc>
                <a:spcPct val="115100"/>
              </a:lnSpc>
            </a:pPr>
            <a:r>
              <a:rPr dirty="0" sz="1050" spc="-50" b="1">
                <a:solidFill>
                  <a:srgbClr val="374050"/>
                </a:solidFill>
                <a:latin typeface="Roboto"/>
                <a:cs typeface="Roboto"/>
              </a:rPr>
              <a:t>Coordinated</a:t>
            </a:r>
            <a:r>
              <a:rPr dirty="0" sz="105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 b="1">
                <a:solidFill>
                  <a:srgbClr val="374050"/>
                </a:solidFill>
                <a:latin typeface="Roboto"/>
                <a:cs typeface="Roboto"/>
              </a:rPr>
              <a:t>D-</a:t>
            </a:r>
            <a:r>
              <a:rPr dirty="0" sz="1050" spc="-70" b="1">
                <a:solidFill>
                  <a:srgbClr val="374050"/>
                </a:solidFill>
                <a:latin typeface="Roboto"/>
                <a:cs typeface="Roboto"/>
              </a:rPr>
              <a:t>STATCOM/SVC:</a:t>
            </a:r>
            <a:r>
              <a:rPr dirty="0" sz="105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Dynamic</a:t>
            </a:r>
            <a:r>
              <a:rPr dirty="0" sz="10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80">
                <a:solidFill>
                  <a:srgbClr val="374050"/>
                </a:solidFill>
                <a:latin typeface="Roboto"/>
                <a:cs typeface="Roboto"/>
              </a:rPr>
              <a:t>VAR</a:t>
            </a:r>
            <a:r>
              <a:rPr dirty="0" sz="10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compensation</a:t>
            </a:r>
            <a:r>
              <a:rPr dirty="0" sz="10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25">
                <a:solidFill>
                  <a:srgbClr val="374050"/>
                </a:solidFill>
                <a:latin typeface="Roboto"/>
                <a:cs typeface="Roboto"/>
              </a:rPr>
              <a:t>for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AC-</a:t>
            </a:r>
            <a:r>
              <a:rPr dirty="0" sz="1050" spc="-65">
                <a:solidFill>
                  <a:srgbClr val="374050"/>
                </a:solidFill>
                <a:latin typeface="Roboto"/>
                <a:cs typeface="Roboto"/>
              </a:rPr>
              <a:t>DC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grid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integration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65" name="object 65" descr=""/>
          <p:cNvGrpSpPr/>
          <p:nvPr/>
        </p:nvGrpSpPr>
        <p:grpSpPr>
          <a:xfrm>
            <a:off x="460556" y="4267827"/>
            <a:ext cx="461009" cy="1826895"/>
            <a:chOff x="460556" y="4267827"/>
            <a:chExt cx="461009" cy="1826895"/>
          </a:xfrm>
        </p:grpSpPr>
        <p:sp>
          <p:nvSpPr>
            <p:cNvPr id="66" name="object 66" descr=""/>
            <p:cNvSpPr/>
            <p:nvPr/>
          </p:nvSpPr>
          <p:spPr>
            <a:xfrm>
              <a:off x="460556" y="4267827"/>
              <a:ext cx="276860" cy="276860"/>
            </a:xfrm>
            <a:custGeom>
              <a:avLst/>
              <a:gdLst/>
              <a:ahLst/>
              <a:cxnLst/>
              <a:rect l="l" t="t" r="r" b="b"/>
              <a:pathLst>
                <a:path w="276859" h="276860">
                  <a:moveTo>
                    <a:pt x="138167" y="276334"/>
                  </a:moveTo>
                  <a:lnTo>
                    <a:pt x="98058" y="270385"/>
                  </a:lnTo>
                  <a:lnTo>
                    <a:pt x="61405" y="253047"/>
                  </a:lnTo>
                  <a:lnTo>
                    <a:pt x="31361" y="225819"/>
                  </a:lnTo>
                  <a:lnTo>
                    <a:pt x="10517" y="191040"/>
                  </a:lnTo>
                  <a:lnTo>
                    <a:pt x="663" y="151709"/>
                  </a:lnTo>
                  <a:lnTo>
                    <a:pt x="0" y="138167"/>
                  </a:lnTo>
                  <a:lnTo>
                    <a:pt x="165" y="131379"/>
                  </a:lnTo>
                  <a:lnTo>
                    <a:pt x="8073" y="91626"/>
                  </a:lnTo>
                  <a:lnTo>
                    <a:pt x="27194" y="55853"/>
                  </a:lnTo>
                  <a:lnTo>
                    <a:pt x="55853" y="27194"/>
                  </a:lnTo>
                  <a:lnTo>
                    <a:pt x="91627" y="8072"/>
                  </a:lnTo>
                  <a:lnTo>
                    <a:pt x="131379" y="165"/>
                  </a:lnTo>
                  <a:lnTo>
                    <a:pt x="138167" y="0"/>
                  </a:lnTo>
                  <a:lnTo>
                    <a:pt x="144954" y="165"/>
                  </a:lnTo>
                  <a:lnTo>
                    <a:pt x="184706" y="8072"/>
                  </a:lnTo>
                  <a:lnTo>
                    <a:pt x="220480" y="27194"/>
                  </a:lnTo>
                  <a:lnTo>
                    <a:pt x="249139" y="55853"/>
                  </a:lnTo>
                  <a:lnTo>
                    <a:pt x="268260" y="91626"/>
                  </a:lnTo>
                  <a:lnTo>
                    <a:pt x="276168" y="131379"/>
                  </a:lnTo>
                  <a:lnTo>
                    <a:pt x="276334" y="138167"/>
                  </a:lnTo>
                  <a:lnTo>
                    <a:pt x="276168" y="144954"/>
                  </a:lnTo>
                  <a:lnTo>
                    <a:pt x="268260" y="184706"/>
                  </a:lnTo>
                  <a:lnTo>
                    <a:pt x="249139" y="220479"/>
                  </a:lnTo>
                  <a:lnTo>
                    <a:pt x="220480" y="249138"/>
                  </a:lnTo>
                  <a:lnTo>
                    <a:pt x="184706" y="268260"/>
                  </a:lnTo>
                  <a:lnTo>
                    <a:pt x="144954" y="276167"/>
                  </a:lnTo>
                  <a:lnTo>
                    <a:pt x="138167" y="27633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21424" y="4338830"/>
              <a:ext cx="154598" cy="134329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882726" y="4582553"/>
              <a:ext cx="38735" cy="1512570"/>
            </a:xfrm>
            <a:custGeom>
              <a:avLst/>
              <a:gdLst/>
              <a:ahLst/>
              <a:cxnLst/>
              <a:rect l="l" t="t" r="r" b="b"/>
              <a:pathLst>
                <a:path w="38734" h="1512570">
                  <a:moveTo>
                    <a:pt x="38379" y="1490421"/>
                  </a:moveTo>
                  <a:lnTo>
                    <a:pt x="21742" y="1473771"/>
                  </a:lnTo>
                  <a:lnTo>
                    <a:pt x="16649" y="1473771"/>
                  </a:lnTo>
                  <a:lnTo>
                    <a:pt x="0" y="1490421"/>
                  </a:lnTo>
                  <a:lnTo>
                    <a:pt x="0" y="1495513"/>
                  </a:lnTo>
                  <a:lnTo>
                    <a:pt x="16649" y="1512150"/>
                  </a:lnTo>
                  <a:lnTo>
                    <a:pt x="21742" y="1512150"/>
                  </a:lnTo>
                  <a:lnTo>
                    <a:pt x="38379" y="1495513"/>
                  </a:lnTo>
                  <a:lnTo>
                    <a:pt x="38379" y="1492961"/>
                  </a:lnTo>
                  <a:lnTo>
                    <a:pt x="38379" y="1490421"/>
                  </a:lnTo>
                  <a:close/>
                </a:path>
                <a:path w="38734" h="1512570">
                  <a:moveTo>
                    <a:pt x="38379" y="1121981"/>
                  </a:moveTo>
                  <a:lnTo>
                    <a:pt x="21742" y="1105331"/>
                  </a:lnTo>
                  <a:lnTo>
                    <a:pt x="16649" y="1105331"/>
                  </a:lnTo>
                  <a:lnTo>
                    <a:pt x="0" y="1121981"/>
                  </a:lnTo>
                  <a:lnTo>
                    <a:pt x="0" y="1127061"/>
                  </a:lnTo>
                  <a:lnTo>
                    <a:pt x="16649" y="1143711"/>
                  </a:lnTo>
                  <a:lnTo>
                    <a:pt x="21742" y="1143711"/>
                  </a:lnTo>
                  <a:lnTo>
                    <a:pt x="38379" y="1127061"/>
                  </a:lnTo>
                  <a:lnTo>
                    <a:pt x="38379" y="1124521"/>
                  </a:lnTo>
                  <a:lnTo>
                    <a:pt x="38379" y="1121981"/>
                  </a:lnTo>
                  <a:close/>
                </a:path>
                <a:path w="38734" h="1512570">
                  <a:moveTo>
                    <a:pt x="38379" y="753529"/>
                  </a:moveTo>
                  <a:lnTo>
                    <a:pt x="21742" y="736879"/>
                  </a:lnTo>
                  <a:lnTo>
                    <a:pt x="16649" y="736879"/>
                  </a:lnTo>
                  <a:lnTo>
                    <a:pt x="0" y="753529"/>
                  </a:lnTo>
                  <a:lnTo>
                    <a:pt x="0" y="758621"/>
                  </a:lnTo>
                  <a:lnTo>
                    <a:pt x="16649" y="775258"/>
                  </a:lnTo>
                  <a:lnTo>
                    <a:pt x="21742" y="775258"/>
                  </a:lnTo>
                  <a:lnTo>
                    <a:pt x="38379" y="758621"/>
                  </a:lnTo>
                  <a:lnTo>
                    <a:pt x="38379" y="756069"/>
                  </a:lnTo>
                  <a:lnTo>
                    <a:pt x="38379" y="753529"/>
                  </a:lnTo>
                  <a:close/>
                </a:path>
                <a:path w="38734" h="1512570">
                  <a:moveTo>
                    <a:pt x="38379" y="385089"/>
                  </a:moveTo>
                  <a:lnTo>
                    <a:pt x="21742" y="368439"/>
                  </a:lnTo>
                  <a:lnTo>
                    <a:pt x="16649" y="368439"/>
                  </a:lnTo>
                  <a:lnTo>
                    <a:pt x="0" y="385089"/>
                  </a:lnTo>
                  <a:lnTo>
                    <a:pt x="0" y="390169"/>
                  </a:lnTo>
                  <a:lnTo>
                    <a:pt x="16649" y="406819"/>
                  </a:lnTo>
                  <a:lnTo>
                    <a:pt x="21742" y="406819"/>
                  </a:lnTo>
                  <a:lnTo>
                    <a:pt x="38379" y="390169"/>
                  </a:lnTo>
                  <a:lnTo>
                    <a:pt x="38379" y="387629"/>
                  </a:lnTo>
                  <a:lnTo>
                    <a:pt x="38379" y="385089"/>
                  </a:lnTo>
                  <a:close/>
                </a:path>
                <a:path w="38734" h="1512570">
                  <a:moveTo>
                    <a:pt x="38379" y="16637"/>
                  </a:moveTo>
                  <a:lnTo>
                    <a:pt x="21742" y="0"/>
                  </a:lnTo>
                  <a:lnTo>
                    <a:pt x="16649" y="0"/>
                  </a:lnTo>
                  <a:lnTo>
                    <a:pt x="0" y="16637"/>
                  </a:lnTo>
                  <a:lnTo>
                    <a:pt x="0" y="21729"/>
                  </a:lnTo>
                  <a:lnTo>
                    <a:pt x="16649" y="38379"/>
                  </a:lnTo>
                  <a:lnTo>
                    <a:pt x="21742" y="38379"/>
                  </a:lnTo>
                  <a:lnTo>
                    <a:pt x="38379" y="21729"/>
                  </a:lnTo>
                  <a:lnTo>
                    <a:pt x="38379" y="19189"/>
                  </a:lnTo>
                  <a:lnTo>
                    <a:pt x="38379" y="16637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 descr=""/>
          <p:cNvSpPr txBox="1"/>
          <p:nvPr/>
        </p:nvSpPr>
        <p:spPr>
          <a:xfrm>
            <a:off x="847006" y="4190362"/>
            <a:ext cx="3689985" cy="2152015"/>
          </a:xfrm>
          <a:prstGeom prst="rect">
            <a:avLst/>
          </a:prstGeom>
        </p:spPr>
        <p:txBody>
          <a:bodyPr wrap="square" lIns="0" tIns="673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350" spc="-80" b="1">
                <a:solidFill>
                  <a:srgbClr val="1D3A8A"/>
                </a:solidFill>
                <a:latin typeface="Roboto"/>
                <a:cs typeface="Roboto"/>
              </a:rPr>
              <a:t>Technical</a:t>
            </a:r>
            <a:r>
              <a:rPr dirty="0" sz="13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350" spc="-10" b="1">
                <a:solidFill>
                  <a:srgbClr val="1D3A8A"/>
                </a:solidFill>
                <a:latin typeface="Roboto"/>
                <a:cs typeface="Roboto"/>
              </a:rPr>
              <a:t>Challenges</a:t>
            </a:r>
            <a:endParaRPr sz="1350">
              <a:latin typeface="Roboto"/>
              <a:cs typeface="Roboto"/>
            </a:endParaRPr>
          </a:p>
          <a:p>
            <a:pPr marL="165735" marR="252095">
              <a:lnSpc>
                <a:spcPct val="115100"/>
              </a:lnSpc>
              <a:spcBef>
                <a:spcPts val="180"/>
              </a:spcBef>
            </a:pPr>
            <a:r>
              <a:rPr dirty="0" sz="1050" spc="-45" b="1">
                <a:solidFill>
                  <a:srgbClr val="374050"/>
                </a:solidFill>
                <a:latin typeface="Roboto"/>
                <a:cs typeface="Roboto"/>
              </a:rPr>
              <a:t>Nonlinearity:</a:t>
            </a:r>
            <a:r>
              <a:rPr dirty="0" sz="105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Inherent</a:t>
            </a:r>
            <a:r>
              <a:rPr dirty="0" sz="10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device</a:t>
            </a:r>
            <a:r>
              <a:rPr dirty="0" sz="10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374050"/>
                </a:solidFill>
                <a:latin typeface="Roboto"/>
                <a:cs typeface="Roboto"/>
              </a:rPr>
              <a:t>nonlinearities</a:t>
            </a:r>
            <a:r>
              <a:rPr dirty="0" sz="10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374050"/>
                </a:solidFill>
                <a:latin typeface="Roboto"/>
                <a:cs typeface="Roboto"/>
              </a:rPr>
              <a:t>affecting</a:t>
            </a:r>
            <a:r>
              <a:rPr dirty="0" sz="10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25">
                <a:solidFill>
                  <a:srgbClr val="374050"/>
                </a:solidFill>
                <a:latin typeface="Roboto"/>
                <a:cs typeface="Roboto"/>
              </a:rPr>
              <a:t>control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response</a:t>
            </a:r>
            <a:endParaRPr sz="1050">
              <a:latin typeface="Roboto"/>
              <a:cs typeface="Roboto"/>
            </a:endParaRPr>
          </a:p>
          <a:p>
            <a:pPr marL="165735" marR="5080">
              <a:lnSpc>
                <a:spcPct val="115100"/>
              </a:lnSpc>
            </a:pPr>
            <a:r>
              <a:rPr dirty="0" sz="1050" spc="-45" b="1">
                <a:solidFill>
                  <a:srgbClr val="374050"/>
                </a:solidFill>
                <a:latin typeface="Roboto"/>
                <a:cs typeface="Roboto"/>
              </a:rPr>
              <a:t>Device</a:t>
            </a:r>
            <a:r>
              <a:rPr dirty="0" sz="105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 b="1">
                <a:solidFill>
                  <a:srgbClr val="374050"/>
                </a:solidFill>
                <a:latin typeface="Roboto"/>
                <a:cs typeface="Roboto"/>
              </a:rPr>
              <a:t>Interaction:</a:t>
            </a:r>
            <a:r>
              <a:rPr dirty="0" sz="105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374050"/>
                </a:solidFill>
                <a:latin typeface="Roboto"/>
                <a:cs typeface="Roboto"/>
              </a:rPr>
              <a:t>Potential</a:t>
            </a:r>
            <a:r>
              <a:rPr dirty="0" sz="10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5">
                <a:solidFill>
                  <a:srgbClr val="374050"/>
                </a:solidFill>
                <a:latin typeface="Roboto"/>
                <a:cs typeface="Roboto"/>
              </a:rPr>
              <a:t>adverse</a:t>
            </a:r>
            <a:r>
              <a:rPr dirty="0" sz="10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0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interactions</a:t>
            </a:r>
            <a:r>
              <a:rPr dirty="0" sz="10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25">
                <a:solidFill>
                  <a:srgbClr val="374050"/>
                </a:solidFill>
                <a:latin typeface="Roboto"/>
                <a:cs typeface="Roboto"/>
              </a:rPr>
              <a:t>among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devices</a:t>
            </a:r>
            <a:endParaRPr sz="1050">
              <a:latin typeface="Roboto"/>
              <a:cs typeface="Roboto"/>
            </a:endParaRPr>
          </a:p>
          <a:p>
            <a:pPr marL="165735" marR="147320">
              <a:lnSpc>
                <a:spcPct val="115100"/>
              </a:lnSpc>
            </a:pPr>
            <a:r>
              <a:rPr dirty="0" sz="1050" spc="-55" b="1">
                <a:solidFill>
                  <a:srgbClr val="374050"/>
                </a:solidFill>
                <a:latin typeface="Roboto"/>
                <a:cs typeface="Roboto"/>
              </a:rPr>
              <a:t>Parameter</a:t>
            </a:r>
            <a:r>
              <a:rPr dirty="0" sz="1050" spc="-3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 b="1">
                <a:solidFill>
                  <a:srgbClr val="374050"/>
                </a:solidFill>
                <a:latin typeface="Roboto"/>
                <a:cs typeface="Roboto"/>
              </a:rPr>
              <a:t>Tuning:</a:t>
            </a:r>
            <a:r>
              <a:rPr dirty="0" sz="105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Complex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trade-</a:t>
            </a:r>
            <a:r>
              <a:rPr dirty="0" sz="1050" spc="-35">
                <a:solidFill>
                  <a:srgbClr val="374050"/>
                </a:solidFill>
                <a:latin typeface="Roboto"/>
                <a:cs typeface="Roboto"/>
              </a:rPr>
              <a:t>offs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0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374050"/>
                </a:solidFill>
                <a:latin typeface="Roboto"/>
                <a:cs typeface="Roboto"/>
              </a:rPr>
              <a:t>controller</a:t>
            </a:r>
            <a:r>
              <a:rPr dirty="0" sz="10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35">
                <a:solidFill>
                  <a:srgbClr val="374050"/>
                </a:solidFill>
                <a:latin typeface="Roboto"/>
                <a:cs typeface="Roboto"/>
              </a:rPr>
              <a:t>parameter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settings</a:t>
            </a:r>
            <a:endParaRPr sz="1050">
              <a:latin typeface="Roboto"/>
              <a:cs typeface="Roboto"/>
            </a:endParaRPr>
          </a:p>
          <a:p>
            <a:pPr marL="165735" marR="262255">
              <a:lnSpc>
                <a:spcPct val="115100"/>
              </a:lnSpc>
            </a:pPr>
            <a:r>
              <a:rPr dirty="0" sz="1050" spc="-45" b="1">
                <a:solidFill>
                  <a:srgbClr val="374050"/>
                </a:solidFill>
                <a:latin typeface="Roboto"/>
                <a:cs typeface="Roboto"/>
              </a:rPr>
              <a:t>Real-</a:t>
            </a:r>
            <a:r>
              <a:rPr dirty="0" sz="1050" spc="-55" b="1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1050" spc="2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 b="1">
                <a:solidFill>
                  <a:srgbClr val="374050"/>
                </a:solidFill>
                <a:latin typeface="Roboto"/>
                <a:cs typeface="Roboto"/>
              </a:rPr>
              <a:t>Operation:</a:t>
            </a:r>
            <a:r>
              <a:rPr dirty="0" sz="1050" spc="2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Computational</a:t>
            </a:r>
            <a:r>
              <a:rPr dirty="0" sz="105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374050"/>
                </a:solidFill>
                <a:latin typeface="Roboto"/>
                <a:cs typeface="Roboto"/>
              </a:rPr>
              <a:t>constraints</a:t>
            </a:r>
            <a:r>
              <a:rPr dirty="0" sz="105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05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25">
                <a:solidFill>
                  <a:srgbClr val="374050"/>
                </a:solidFill>
                <a:latin typeface="Roboto"/>
                <a:cs typeface="Roboto"/>
              </a:rPr>
              <a:t>practical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implementations</a:t>
            </a:r>
            <a:endParaRPr sz="1050">
              <a:latin typeface="Roboto"/>
              <a:cs typeface="Roboto"/>
            </a:endParaRPr>
          </a:p>
          <a:p>
            <a:pPr marL="165735" marR="313055">
              <a:lnSpc>
                <a:spcPct val="115100"/>
              </a:lnSpc>
            </a:pPr>
            <a:r>
              <a:rPr dirty="0" sz="1050" spc="-60" b="1">
                <a:solidFill>
                  <a:srgbClr val="374050"/>
                </a:solidFill>
                <a:latin typeface="Roboto"/>
                <a:cs typeface="Roboto"/>
              </a:rPr>
              <a:t>Model</a:t>
            </a:r>
            <a:r>
              <a:rPr dirty="0" sz="1050" spc="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5" b="1">
                <a:solidFill>
                  <a:srgbClr val="374050"/>
                </a:solidFill>
                <a:latin typeface="Roboto"/>
                <a:cs typeface="Roboto"/>
              </a:rPr>
              <a:t>Uncertainty:</a:t>
            </a:r>
            <a:r>
              <a:rPr dirty="0" sz="105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Grid</a:t>
            </a:r>
            <a:r>
              <a:rPr dirty="0" sz="10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parameter</a:t>
            </a:r>
            <a:r>
              <a:rPr dirty="0" sz="10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40">
                <a:solidFill>
                  <a:srgbClr val="374050"/>
                </a:solidFill>
                <a:latin typeface="Roboto"/>
                <a:cs typeface="Roboto"/>
              </a:rPr>
              <a:t>variations</a:t>
            </a:r>
            <a:r>
              <a:rPr dirty="0" sz="10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0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050" spc="-25">
                <a:solidFill>
                  <a:srgbClr val="374050"/>
                </a:solidFill>
                <a:latin typeface="Roboto"/>
                <a:cs typeface="Roboto"/>
              </a:rPr>
              <a:t>topology </a:t>
            </a:r>
            <a:r>
              <a:rPr dirty="0" sz="1050" spc="-10">
                <a:solidFill>
                  <a:srgbClr val="374050"/>
                </a:solidFill>
                <a:latin typeface="Roboto"/>
                <a:cs typeface="Roboto"/>
              </a:rPr>
              <a:t>changes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70" name="object 70" descr=""/>
          <p:cNvGrpSpPr/>
          <p:nvPr/>
        </p:nvGrpSpPr>
        <p:grpSpPr>
          <a:xfrm>
            <a:off x="8497275" y="6440121"/>
            <a:ext cx="1174750" cy="260985"/>
            <a:chOff x="8497275" y="6440121"/>
            <a:chExt cx="1174750" cy="260985"/>
          </a:xfrm>
        </p:grpSpPr>
        <p:sp>
          <p:nvSpPr>
            <p:cNvPr id="71" name="object 71" descr=""/>
            <p:cNvSpPr/>
            <p:nvPr/>
          </p:nvSpPr>
          <p:spPr>
            <a:xfrm>
              <a:off x="8497275" y="6440121"/>
              <a:ext cx="1174750" cy="260985"/>
            </a:xfrm>
            <a:custGeom>
              <a:avLst/>
              <a:gdLst/>
              <a:ahLst/>
              <a:cxnLst/>
              <a:rect l="l" t="t" r="r" b="b"/>
              <a:pathLst>
                <a:path w="1174750" h="260984">
                  <a:moveTo>
                    <a:pt x="1147787" y="260982"/>
                  </a:moveTo>
                  <a:lnTo>
                    <a:pt x="26632" y="260982"/>
                  </a:lnTo>
                  <a:lnTo>
                    <a:pt x="22715" y="260203"/>
                  </a:lnTo>
                  <a:lnTo>
                    <a:pt x="0" y="234350"/>
                  </a:lnTo>
                  <a:lnTo>
                    <a:pt x="0" y="230278"/>
                  </a:lnTo>
                  <a:lnTo>
                    <a:pt x="0" y="26632"/>
                  </a:lnTo>
                  <a:lnTo>
                    <a:pt x="26632" y="0"/>
                  </a:lnTo>
                  <a:lnTo>
                    <a:pt x="1147787" y="0"/>
                  </a:lnTo>
                  <a:lnTo>
                    <a:pt x="1174420" y="26632"/>
                  </a:lnTo>
                  <a:lnTo>
                    <a:pt x="1174420" y="234350"/>
                  </a:lnTo>
                  <a:lnTo>
                    <a:pt x="1151704" y="260203"/>
                  </a:lnTo>
                  <a:lnTo>
                    <a:pt x="1147787" y="2609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589387" y="6516881"/>
              <a:ext cx="107463" cy="107463"/>
            </a:xfrm>
            <a:prstGeom prst="rect">
              <a:avLst/>
            </a:prstGeom>
          </p:spPr>
        </p:pic>
      </p:grpSp>
      <p:sp>
        <p:nvSpPr>
          <p:cNvPr id="73" name="object 73" descr=""/>
          <p:cNvSpPr txBox="1"/>
          <p:nvPr/>
        </p:nvSpPr>
        <p:spPr>
          <a:xfrm>
            <a:off x="8727568" y="6486142"/>
            <a:ext cx="864869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60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800" spc="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800" spc="-4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800" spc="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800" spc="-4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8572499" y="3905249"/>
              <a:ext cx="3238500" cy="2571750"/>
            </a:xfrm>
            <a:custGeom>
              <a:avLst/>
              <a:gdLst/>
              <a:ahLst/>
              <a:cxnLst/>
              <a:rect l="l" t="t" r="r" b="b"/>
              <a:pathLst>
                <a:path w="3238500" h="2571750">
                  <a:moveTo>
                    <a:pt x="3162299" y="2571749"/>
                  </a:moveTo>
                  <a:lnTo>
                    <a:pt x="76199" y="2571749"/>
                  </a:lnTo>
                  <a:lnTo>
                    <a:pt x="68693" y="2571387"/>
                  </a:lnTo>
                  <a:lnTo>
                    <a:pt x="27881" y="2554482"/>
                  </a:lnTo>
                  <a:lnTo>
                    <a:pt x="3261" y="2517636"/>
                  </a:lnTo>
                  <a:lnTo>
                    <a:pt x="0" y="24955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3162299" y="0"/>
                  </a:lnTo>
                  <a:lnTo>
                    <a:pt x="3204641" y="12829"/>
                  </a:lnTo>
                  <a:lnTo>
                    <a:pt x="3232698" y="47038"/>
                  </a:lnTo>
                  <a:lnTo>
                    <a:pt x="3238499" y="76199"/>
                  </a:lnTo>
                  <a:lnTo>
                    <a:pt x="3238499" y="2495549"/>
                  </a:lnTo>
                  <a:lnTo>
                    <a:pt x="3225668" y="2537891"/>
                  </a:lnTo>
                  <a:lnTo>
                    <a:pt x="3191459" y="2565949"/>
                  </a:lnTo>
                  <a:lnTo>
                    <a:pt x="3162299" y="2571749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8572500" y="3905250"/>
              <a:ext cx="3238500" cy="2571750"/>
            </a:xfrm>
            <a:custGeom>
              <a:avLst/>
              <a:gdLst/>
              <a:ahLst/>
              <a:cxnLst/>
              <a:rect l="l" t="t" r="r" b="b"/>
              <a:pathLst>
                <a:path w="3238500" h="2571750">
                  <a:moveTo>
                    <a:pt x="3162299" y="2571749"/>
                  </a:moveTo>
                  <a:lnTo>
                    <a:pt x="76199" y="2571749"/>
                  </a:lnTo>
                  <a:lnTo>
                    <a:pt x="68693" y="2571387"/>
                  </a:lnTo>
                  <a:lnTo>
                    <a:pt x="27881" y="2554482"/>
                  </a:lnTo>
                  <a:lnTo>
                    <a:pt x="3261" y="2517636"/>
                  </a:lnTo>
                  <a:lnTo>
                    <a:pt x="0" y="24955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3162299" y="0"/>
                  </a:lnTo>
                  <a:lnTo>
                    <a:pt x="3199119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7"/>
                  </a:lnTo>
                  <a:lnTo>
                    <a:pt x="9523" y="71821"/>
                  </a:lnTo>
                  <a:lnTo>
                    <a:pt x="9523" y="2499927"/>
                  </a:lnTo>
                  <a:lnTo>
                    <a:pt x="23192" y="2536231"/>
                  </a:lnTo>
                  <a:lnTo>
                    <a:pt x="54728" y="2558824"/>
                  </a:lnTo>
                  <a:lnTo>
                    <a:pt x="71821" y="2562223"/>
                  </a:lnTo>
                  <a:lnTo>
                    <a:pt x="3199120" y="2562223"/>
                  </a:lnTo>
                  <a:lnTo>
                    <a:pt x="3198255" y="2562741"/>
                  </a:lnTo>
                  <a:lnTo>
                    <a:pt x="3191459" y="2565949"/>
                  </a:lnTo>
                  <a:lnTo>
                    <a:pt x="3184386" y="2568487"/>
                  </a:lnTo>
                  <a:lnTo>
                    <a:pt x="3177168" y="2570299"/>
                  </a:lnTo>
                  <a:lnTo>
                    <a:pt x="3169806" y="2571387"/>
                  </a:lnTo>
                  <a:lnTo>
                    <a:pt x="3162299" y="2571749"/>
                  </a:lnTo>
                  <a:close/>
                </a:path>
                <a:path w="3238500" h="2571750">
                  <a:moveTo>
                    <a:pt x="3199120" y="2562223"/>
                  </a:moveTo>
                  <a:lnTo>
                    <a:pt x="3166676" y="2562223"/>
                  </a:lnTo>
                  <a:lnTo>
                    <a:pt x="3171012" y="2561797"/>
                  </a:lnTo>
                  <a:lnTo>
                    <a:pt x="3179599" y="2560089"/>
                  </a:lnTo>
                  <a:lnTo>
                    <a:pt x="3212539" y="2539599"/>
                  </a:lnTo>
                  <a:lnTo>
                    <a:pt x="3228546" y="2504263"/>
                  </a:lnTo>
                  <a:lnTo>
                    <a:pt x="3228973" y="2499927"/>
                  </a:lnTo>
                  <a:lnTo>
                    <a:pt x="3228973" y="71821"/>
                  </a:lnTo>
                  <a:lnTo>
                    <a:pt x="3215302" y="35516"/>
                  </a:lnTo>
                  <a:lnTo>
                    <a:pt x="3183455" y="12829"/>
                  </a:lnTo>
                  <a:lnTo>
                    <a:pt x="3166676" y="9524"/>
                  </a:lnTo>
                  <a:lnTo>
                    <a:pt x="3199119" y="9524"/>
                  </a:lnTo>
                  <a:lnTo>
                    <a:pt x="3229490" y="40242"/>
                  </a:lnTo>
                  <a:lnTo>
                    <a:pt x="3238499" y="2495549"/>
                  </a:lnTo>
                  <a:lnTo>
                    <a:pt x="3238137" y="2503056"/>
                  </a:lnTo>
                  <a:lnTo>
                    <a:pt x="3221232" y="2543866"/>
                  </a:lnTo>
                  <a:lnTo>
                    <a:pt x="3204769" y="2558824"/>
                  </a:lnTo>
                  <a:lnTo>
                    <a:pt x="3199120" y="2562223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9290039" y="3943850"/>
            <a:ext cx="1803400" cy="2025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150" spc="-60" b="1">
                <a:solidFill>
                  <a:srgbClr val="1D3A8A"/>
                </a:solidFill>
                <a:latin typeface="Roboto"/>
                <a:cs typeface="Roboto"/>
              </a:rPr>
              <a:t>Integrated</a:t>
            </a:r>
            <a:r>
              <a:rPr dirty="0" sz="1150" spc="-1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150" spc="-60" b="1">
                <a:solidFill>
                  <a:srgbClr val="1D3A8A"/>
                </a:solidFill>
                <a:latin typeface="Roboto"/>
                <a:cs typeface="Roboto"/>
              </a:rPr>
              <a:t>Control</a:t>
            </a:r>
            <a:r>
              <a:rPr dirty="0" sz="1150" spc="-1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150" spc="-60" b="1">
                <a:solidFill>
                  <a:srgbClr val="1D3A8A"/>
                </a:solidFill>
                <a:latin typeface="Roboto"/>
                <a:cs typeface="Roboto"/>
              </a:rPr>
              <a:t>Framework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8764128" y="4188953"/>
            <a:ext cx="2855595" cy="2099310"/>
            <a:chOff x="8764128" y="4188953"/>
            <a:chExt cx="2855595" cy="2099310"/>
          </a:xfrm>
        </p:grpSpPr>
        <p:sp>
          <p:nvSpPr>
            <p:cNvPr id="7" name="object 7" descr=""/>
            <p:cNvSpPr/>
            <p:nvPr/>
          </p:nvSpPr>
          <p:spPr>
            <a:xfrm>
              <a:off x="8764128" y="4188953"/>
              <a:ext cx="2855595" cy="2099310"/>
            </a:xfrm>
            <a:custGeom>
              <a:avLst/>
              <a:gdLst/>
              <a:ahLst/>
              <a:cxnLst/>
              <a:rect l="l" t="t" r="r" b="b"/>
              <a:pathLst>
                <a:path w="2855595" h="2099310">
                  <a:moveTo>
                    <a:pt x="179634" y="18908"/>
                  </a:moveTo>
                  <a:lnTo>
                    <a:pt x="132362" y="18908"/>
                  </a:lnTo>
                  <a:lnTo>
                    <a:pt x="132362" y="0"/>
                  </a:lnTo>
                  <a:lnTo>
                    <a:pt x="179634" y="0"/>
                  </a:lnTo>
                  <a:lnTo>
                    <a:pt x="179634" y="18908"/>
                  </a:lnTo>
                  <a:close/>
                </a:path>
                <a:path w="2855595" h="2099310">
                  <a:moveTo>
                    <a:pt x="255269" y="18908"/>
                  </a:moveTo>
                  <a:lnTo>
                    <a:pt x="207997" y="18908"/>
                  </a:lnTo>
                  <a:lnTo>
                    <a:pt x="207997" y="0"/>
                  </a:lnTo>
                  <a:lnTo>
                    <a:pt x="255269" y="0"/>
                  </a:lnTo>
                  <a:lnTo>
                    <a:pt x="255269" y="18908"/>
                  </a:lnTo>
                  <a:close/>
                </a:path>
                <a:path w="2855595" h="2099310">
                  <a:moveTo>
                    <a:pt x="330905" y="18908"/>
                  </a:moveTo>
                  <a:lnTo>
                    <a:pt x="283633" y="18908"/>
                  </a:lnTo>
                  <a:lnTo>
                    <a:pt x="283633" y="0"/>
                  </a:lnTo>
                  <a:lnTo>
                    <a:pt x="330905" y="0"/>
                  </a:lnTo>
                  <a:lnTo>
                    <a:pt x="330905" y="18908"/>
                  </a:lnTo>
                  <a:close/>
                </a:path>
                <a:path w="2855595" h="2099310">
                  <a:moveTo>
                    <a:pt x="406541" y="18908"/>
                  </a:moveTo>
                  <a:lnTo>
                    <a:pt x="359268" y="18908"/>
                  </a:lnTo>
                  <a:lnTo>
                    <a:pt x="359268" y="0"/>
                  </a:lnTo>
                  <a:lnTo>
                    <a:pt x="406541" y="0"/>
                  </a:lnTo>
                  <a:lnTo>
                    <a:pt x="406541" y="18908"/>
                  </a:lnTo>
                  <a:close/>
                </a:path>
                <a:path w="2855595" h="2099310">
                  <a:moveTo>
                    <a:pt x="482176" y="18908"/>
                  </a:moveTo>
                  <a:lnTo>
                    <a:pt x="434904" y="18908"/>
                  </a:lnTo>
                  <a:lnTo>
                    <a:pt x="434904" y="0"/>
                  </a:lnTo>
                  <a:lnTo>
                    <a:pt x="482176" y="0"/>
                  </a:lnTo>
                  <a:lnTo>
                    <a:pt x="482176" y="18908"/>
                  </a:lnTo>
                  <a:close/>
                </a:path>
                <a:path w="2855595" h="2099310">
                  <a:moveTo>
                    <a:pt x="557812" y="18908"/>
                  </a:moveTo>
                  <a:lnTo>
                    <a:pt x="510539" y="18908"/>
                  </a:lnTo>
                  <a:lnTo>
                    <a:pt x="510539" y="0"/>
                  </a:lnTo>
                  <a:lnTo>
                    <a:pt x="557812" y="0"/>
                  </a:lnTo>
                  <a:lnTo>
                    <a:pt x="557812" y="18908"/>
                  </a:lnTo>
                  <a:close/>
                </a:path>
                <a:path w="2855595" h="2099310">
                  <a:moveTo>
                    <a:pt x="633447" y="18908"/>
                  </a:moveTo>
                  <a:lnTo>
                    <a:pt x="586175" y="18908"/>
                  </a:lnTo>
                  <a:lnTo>
                    <a:pt x="586175" y="0"/>
                  </a:lnTo>
                  <a:lnTo>
                    <a:pt x="633447" y="0"/>
                  </a:lnTo>
                  <a:lnTo>
                    <a:pt x="633447" y="18908"/>
                  </a:lnTo>
                  <a:close/>
                </a:path>
                <a:path w="2855595" h="2099310">
                  <a:moveTo>
                    <a:pt x="709083" y="18908"/>
                  </a:moveTo>
                  <a:lnTo>
                    <a:pt x="661811" y="18908"/>
                  </a:lnTo>
                  <a:lnTo>
                    <a:pt x="661811" y="0"/>
                  </a:lnTo>
                  <a:lnTo>
                    <a:pt x="709083" y="0"/>
                  </a:lnTo>
                  <a:lnTo>
                    <a:pt x="709083" y="18908"/>
                  </a:lnTo>
                  <a:close/>
                </a:path>
                <a:path w="2855595" h="2099310">
                  <a:moveTo>
                    <a:pt x="784718" y="18908"/>
                  </a:moveTo>
                  <a:lnTo>
                    <a:pt x="737446" y="18908"/>
                  </a:lnTo>
                  <a:lnTo>
                    <a:pt x="737446" y="0"/>
                  </a:lnTo>
                  <a:lnTo>
                    <a:pt x="784718" y="0"/>
                  </a:lnTo>
                  <a:lnTo>
                    <a:pt x="784718" y="18908"/>
                  </a:lnTo>
                  <a:close/>
                </a:path>
                <a:path w="2855595" h="2099310">
                  <a:moveTo>
                    <a:pt x="860354" y="18908"/>
                  </a:moveTo>
                  <a:lnTo>
                    <a:pt x="813082" y="18908"/>
                  </a:lnTo>
                  <a:lnTo>
                    <a:pt x="813082" y="0"/>
                  </a:lnTo>
                  <a:lnTo>
                    <a:pt x="860354" y="0"/>
                  </a:lnTo>
                  <a:lnTo>
                    <a:pt x="860354" y="18908"/>
                  </a:lnTo>
                  <a:close/>
                </a:path>
                <a:path w="2855595" h="2099310">
                  <a:moveTo>
                    <a:pt x="935989" y="18908"/>
                  </a:moveTo>
                  <a:lnTo>
                    <a:pt x="888717" y="18908"/>
                  </a:lnTo>
                  <a:lnTo>
                    <a:pt x="888717" y="0"/>
                  </a:lnTo>
                  <a:lnTo>
                    <a:pt x="935989" y="0"/>
                  </a:lnTo>
                  <a:lnTo>
                    <a:pt x="935989" y="18908"/>
                  </a:lnTo>
                  <a:close/>
                </a:path>
                <a:path w="2855595" h="2099310">
                  <a:moveTo>
                    <a:pt x="1011625" y="18908"/>
                  </a:moveTo>
                  <a:lnTo>
                    <a:pt x="964353" y="18908"/>
                  </a:lnTo>
                  <a:lnTo>
                    <a:pt x="964353" y="0"/>
                  </a:lnTo>
                  <a:lnTo>
                    <a:pt x="1011625" y="0"/>
                  </a:lnTo>
                  <a:lnTo>
                    <a:pt x="1011625" y="18908"/>
                  </a:lnTo>
                  <a:close/>
                </a:path>
                <a:path w="2855595" h="2099310">
                  <a:moveTo>
                    <a:pt x="1087260" y="18908"/>
                  </a:moveTo>
                  <a:lnTo>
                    <a:pt x="1039988" y="18908"/>
                  </a:lnTo>
                  <a:lnTo>
                    <a:pt x="1039988" y="0"/>
                  </a:lnTo>
                  <a:lnTo>
                    <a:pt x="1087260" y="0"/>
                  </a:lnTo>
                  <a:lnTo>
                    <a:pt x="1087260" y="18908"/>
                  </a:lnTo>
                  <a:close/>
                </a:path>
                <a:path w="2855595" h="2099310">
                  <a:moveTo>
                    <a:pt x="1162896" y="18908"/>
                  </a:moveTo>
                  <a:lnTo>
                    <a:pt x="1115624" y="18908"/>
                  </a:lnTo>
                  <a:lnTo>
                    <a:pt x="1115624" y="0"/>
                  </a:lnTo>
                  <a:lnTo>
                    <a:pt x="1162896" y="0"/>
                  </a:lnTo>
                  <a:lnTo>
                    <a:pt x="1162896" y="18908"/>
                  </a:lnTo>
                  <a:close/>
                </a:path>
                <a:path w="2855595" h="2099310">
                  <a:moveTo>
                    <a:pt x="1238532" y="18908"/>
                  </a:moveTo>
                  <a:lnTo>
                    <a:pt x="1191259" y="18908"/>
                  </a:lnTo>
                  <a:lnTo>
                    <a:pt x="1191259" y="0"/>
                  </a:lnTo>
                  <a:lnTo>
                    <a:pt x="1238532" y="0"/>
                  </a:lnTo>
                  <a:lnTo>
                    <a:pt x="1238532" y="18908"/>
                  </a:lnTo>
                  <a:close/>
                </a:path>
                <a:path w="2855595" h="2099310">
                  <a:moveTo>
                    <a:pt x="1314167" y="18908"/>
                  </a:moveTo>
                  <a:lnTo>
                    <a:pt x="1266895" y="18908"/>
                  </a:lnTo>
                  <a:lnTo>
                    <a:pt x="1266895" y="0"/>
                  </a:lnTo>
                  <a:lnTo>
                    <a:pt x="1314167" y="0"/>
                  </a:lnTo>
                  <a:lnTo>
                    <a:pt x="1314167" y="18908"/>
                  </a:lnTo>
                  <a:close/>
                </a:path>
                <a:path w="2855595" h="2099310">
                  <a:moveTo>
                    <a:pt x="1389803" y="18908"/>
                  </a:moveTo>
                  <a:lnTo>
                    <a:pt x="1342530" y="18908"/>
                  </a:lnTo>
                  <a:lnTo>
                    <a:pt x="1342530" y="0"/>
                  </a:lnTo>
                  <a:lnTo>
                    <a:pt x="1389803" y="0"/>
                  </a:lnTo>
                  <a:lnTo>
                    <a:pt x="1389803" y="18908"/>
                  </a:lnTo>
                  <a:close/>
                </a:path>
                <a:path w="2855595" h="2099310">
                  <a:moveTo>
                    <a:pt x="1465438" y="18908"/>
                  </a:moveTo>
                  <a:lnTo>
                    <a:pt x="1418166" y="18908"/>
                  </a:lnTo>
                  <a:lnTo>
                    <a:pt x="1418166" y="0"/>
                  </a:lnTo>
                  <a:lnTo>
                    <a:pt x="1465438" y="0"/>
                  </a:lnTo>
                  <a:lnTo>
                    <a:pt x="1465438" y="18908"/>
                  </a:lnTo>
                  <a:close/>
                </a:path>
                <a:path w="2855595" h="2099310">
                  <a:moveTo>
                    <a:pt x="1541074" y="18908"/>
                  </a:moveTo>
                  <a:lnTo>
                    <a:pt x="1493802" y="18908"/>
                  </a:lnTo>
                  <a:lnTo>
                    <a:pt x="1493802" y="0"/>
                  </a:lnTo>
                  <a:lnTo>
                    <a:pt x="1541074" y="0"/>
                  </a:lnTo>
                  <a:lnTo>
                    <a:pt x="1541074" y="18908"/>
                  </a:lnTo>
                  <a:close/>
                </a:path>
                <a:path w="2855595" h="2099310">
                  <a:moveTo>
                    <a:pt x="1616709" y="18908"/>
                  </a:moveTo>
                  <a:lnTo>
                    <a:pt x="1569437" y="18908"/>
                  </a:lnTo>
                  <a:lnTo>
                    <a:pt x="1569437" y="0"/>
                  </a:lnTo>
                  <a:lnTo>
                    <a:pt x="1616709" y="0"/>
                  </a:lnTo>
                  <a:lnTo>
                    <a:pt x="1616709" y="18908"/>
                  </a:lnTo>
                  <a:close/>
                </a:path>
                <a:path w="2855595" h="2099310">
                  <a:moveTo>
                    <a:pt x="1692345" y="18908"/>
                  </a:moveTo>
                  <a:lnTo>
                    <a:pt x="1645073" y="18908"/>
                  </a:lnTo>
                  <a:lnTo>
                    <a:pt x="1645073" y="0"/>
                  </a:lnTo>
                  <a:lnTo>
                    <a:pt x="1692345" y="0"/>
                  </a:lnTo>
                  <a:lnTo>
                    <a:pt x="1692345" y="18908"/>
                  </a:lnTo>
                  <a:close/>
                </a:path>
                <a:path w="2855595" h="2099310">
                  <a:moveTo>
                    <a:pt x="1767980" y="18908"/>
                  </a:moveTo>
                  <a:lnTo>
                    <a:pt x="1720708" y="18908"/>
                  </a:lnTo>
                  <a:lnTo>
                    <a:pt x="1720708" y="0"/>
                  </a:lnTo>
                  <a:lnTo>
                    <a:pt x="1767980" y="0"/>
                  </a:lnTo>
                  <a:lnTo>
                    <a:pt x="1767980" y="18908"/>
                  </a:lnTo>
                  <a:close/>
                </a:path>
                <a:path w="2855595" h="2099310">
                  <a:moveTo>
                    <a:pt x="1843616" y="18908"/>
                  </a:moveTo>
                  <a:lnTo>
                    <a:pt x="1796344" y="18908"/>
                  </a:lnTo>
                  <a:lnTo>
                    <a:pt x="1796344" y="0"/>
                  </a:lnTo>
                  <a:lnTo>
                    <a:pt x="1843616" y="0"/>
                  </a:lnTo>
                  <a:lnTo>
                    <a:pt x="1843616" y="18908"/>
                  </a:lnTo>
                  <a:close/>
                </a:path>
                <a:path w="2855595" h="2099310">
                  <a:moveTo>
                    <a:pt x="1919252" y="18908"/>
                  </a:moveTo>
                  <a:lnTo>
                    <a:pt x="1871979" y="18908"/>
                  </a:lnTo>
                  <a:lnTo>
                    <a:pt x="1871979" y="0"/>
                  </a:lnTo>
                  <a:lnTo>
                    <a:pt x="1919252" y="0"/>
                  </a:lnTo>
                  <a:lnTo>
                    <a:pt x="1919252" y="18908"/>
                  </a:lnTo>
                  <a:close/>
                </a:path>
                <a:path w="2855595" h="2099310">
                  <a:moveTo>
                    <a:pt x="1994887" y="18908"/>
                  </a:moveTo>
                  <a:lnTo>
                    <a:pt x="1947615" y="18908"/>
                  </a:lnTo>
                  <a:lnTo>
                    <a:pt x="1947615" y="0"/>
                  </a:lnTo>
                  <a:lnTo>
                    <a:pt x="1994887" y="0"/>
                  </a:lnTo>
                  <a:lnTo>
                    <a:pt x="1994887" y="18908"/>
                  </a:lnTo>
                  <a:close/>
                </a:path>
                <a:path w="2855595" h="2099310">
                  <a:moveTo>
                    <a:pt x="2070523" y="18908"/>
                  </a:moveTo>
                  <a:lnTo>
                    <a:pt x="2023251" y="18908"/>
                  </a:lnTo>
                  <a:lnTo>
                    <a:pt x="2023251" y="0"/>
                  </a:lnTo>
                  <a:lnTo>
                    <a:pt x="2070523" y="0"/>
                  </a:lnTo>
                  <a:lnTo>
                    <a:pt x="2070523" y="18908"/>
                  </a:lnTo>
                  <a:close/>
                </a:path>
                <a:path w="2855595" h="2099310">
                  <a:moveTo>
                    <a:pt x="2146158" y="18908"/>
                  </a:moveTo>
                  <a:lnTo>
                    <a:pt x="2098886" y="18908"/>
                  </a:lnTo>
                  <a:lnTo>
                    <a:pt x="2098886" y="0"/>
                  </a:lnTo>
                  <a:lnTo>
                    <a:pt x="2146158" y="0"/>
                  </a:lnTo>
                  <a:lnTo>
                    <a:pt x="2146158" y="18908"/>
                  </a:lnTo>
                  <a:close/>
                </a:path>
                <a:path w="2855595" h="2099310">
                  <a:moveTo>
                    <a:pt x="2221794" y="18908"/>
                  </a:moveTo>
                  <a:lnTo>
                    <a:pt x="2174521" y="18908"/>
                  </a:lnTo>
                  <a:lnTo>
                    <a:pt x="2174521" y="0"/>
                  </a:lnTo>
                  <a:lnTo>
                    <a:pt x="2221794" y="0"/>
                  </a:lnTo>
                  <a:lnTo>
                    <a:pt x="2221794" y="18908"/>
                  </a:lnTo>
                  <a:close/>
                </a:path>
                <a:path w="2855595" h="2099310">
                  <a:moveTo>
                    <a:pt x="2297429" y="18908"/>
                  </a:moveTo>
                  <a:lnTo>
                    <a:pt x="2250157" y="18908"/>
                  </a:lnTo>
                  <a:lnTo>
                    <a:pt x="2250157" y="0"/>
                  </a:lnTo>
                  <a:lnTo>
                    <a:pt x="2297429" y="0"/>
                  </a:lnTo>
                  <a:lnTo>
                    <a:pt x="2297429" y="18908"/>
                  </a:lnTo>
                  <a:close/>
                </a:path>
                <a:path w="2855595" h="2099310">
                  <a:moveTo>
                    <a:pt x="2373065" y="18908"/>
                  </a:moveTo>
                  <a:lnTo>
                    <a:pt x="2325793" y="18908"/>
                  </a:lnTo>
                  <a:lnTo>
                    <a:pt x="2325793" y="0"/>
                  </a:lnTo>
                  <a:lnTo>
                    <a:pt x="2373065" y="0"/>
                  </a:lnTo>
                  <a:lnTo>
                    <a:pt x="2373065" y="18908"/>
                  </a:lnTo>
                  <a:close/>
                </a:path>
                <a:path w="2855595" h="2099310">
                  <a:moveTo>
                    <a:pt x="2448700" y="18908"/>
                  </a:moveTo>
                  <a:lnTo>
                    <a:pt x="2401428" y="18908"/>
                  </a:lnTo>
                  <a:lnTo>
                    <a:pt x="2401428" y="0"/>
                  </a:lnTo>
                  <a:lnTo>
                    <a:pt x="2448700" y="0"/>
                  </a:lnTo>
                  <a:lnTo>
                    <a:pt x="2448700" y="18908"/>
                  </a:lnTo>
                  <a:close/>
                </a:path>
                <a:path w="2855595" h="2099310">
                  <a:moveTo>
                    <a:pt x="2524336" y="18908"/>
                  </a:moveTo>
                  <a:lnTo>
                    <a:pt x="2477064" y="18908"/>
                  </a:lnTo>
                  <a:lnTo>
                    <a:pt x="2477064" y="0"/>
                  </a:lnTo>
                  <a:lnTo>
                    <a:pt x="2524336" y="0"/>
                  </a:lnTo>
                  <a:lnTo>
                    <a:pt x="2524336" y="18908"/>
                  </a:lnTo>
                  <a:close/>
                </a:path>
                <a:path w="2855595" h="2099310">
                  <a:moveTo>
                    <a:pt x="2599971" y="18908"/>
                  </a:moveTo>
                  <a:lnTo>
                    <a:pt x="2552699" y="18908"/>
                  </a:lnTo>
                  <a:lnTo>
                    <a:pt x="2552699" y="0"/>
                  </a:lnTo>
                  <a:lnTo>
                    <a:pt x="2599971" y="0"/>
                  </a:lnTo>
                  <a:lnTo>
                    <a:pt x="2599971" y="18908"/>
                  </a:lnTo>
                  <a:close/>
                </a:path>
                <a:path w="2855595" h="2099310">
                  <a:moveTo>
                    <a:pt x="2675607" y="18908"/>
                  </a:moveTo>
                  <a:lnTo>
                    <a:pt x="2628335" y="18908"/>
                  </a:lnTo>
                  <a:lnTo>
                    <a:pt x="2628335" y="0"/>
                  </a:lnTo>
                  <a:lnTo>
                    <a:pt x="2675607" y="0"/>
                  </a:lnTo>
                  <a:lnTo>
                    <a:pt x="2675607" y="18908"/>
                  </a:lnTo>
                  <a:close/>
                </a:path>
                <a:path w="2855595" h="2099310">
                  <a:moveTo>
                    <a:pt x="2751243" y="18908"/>
                  </a:moveTo>
                  <a:lnTo>
                    <a:pt x="2703970" y="18908"/>
                  </a:lnTo>
                  <a:lnTo>
                    <a:pt x="2703970" y="0"/>
                  </a:lnTo>
                  <a:lnTo>
                    <a:pt x="2751243" y="0"/>
                  </a:lnTo>
                  <a:lnTo>
                    <a:pt x="2751243" y="18908"/>
                  </a:lnTo>
                  <a:close/>
                </a:path>
                <a:path w="2855595" h="2099310">
                  <a:moveTo>
                    <a:pt x="2820083" y="25662"/>
                  </a:moveTo>
                  <a:lnTo>
                    <a:pt x="2813598" y="21159"/>
                  </a:lnTo>
                  <a:lnTo>
                    <a:pt x="2806409" y="18908"/>
                  </a:lnTo>
                  <a:lnTo>
                    <a:pt x="2779606" y="18908"/>
                  </a:lnTo>
                  <a:lnTo>
                    <a:pt x="2779606" y="0"/>
                  </a:lnTo>
                  <a:lnTo>
                    <a:pt x="2798515" y="0"/>
                  </a:lnTo>
                  <a:lnTo>
                    <a:pt x="2807198" y="633"/>
                  </a:lnTo>
                  <a:lnTo>
                    <a:pt x="2815484" y="2532"/>
                  </a:lnTo>
                  <a:lnTo>
                    <a:pt x="2823374" y="5698"/>
                  </a:lnTo>
                  <a:lnTo>
                    <a:pt x="2830867" y="10129"/>
                  </a:lnTo>
                  <a:lnTo>
                    <a:pt x="2820083" y="25662"/>
                  </a:lnTo>
                  <a:close/>
                </a:path>
                <a:path w="2855595" h="2099310">
                  <a:moveTo>
                    <a:pt x="2855241" y="88364"/>
                  </a:moveTo>
                  <a:lnTo>
                    <a:pt x="2836333" y="88364"/>
                  </a:lnTo>
                  <a:lnTo>
                    <a:pt x="2836333" y="52614"/>
                  </a:lnTo>
                  <a:lnTo>
                    <a:pt x="2835679" y="48609"/>
                  </a:lnTo>
                  <a:lnTo>
                    <a:pt x="2834373" y="44710"/>
                  </a:lnTo>
                  <a:lnTo>
                    <a:pt x="2852302" y="38701"/>
                  </a:lnTo>
                  <a:lnTo>
                    <a:pt x="2854262" y="44550"/>
                  </a:lnTo>
                  <a:lnTo>
                    <a:pt x="2855241" y="50558"/>
                  </a:lnTo>
                  <a:lnTo>
                    <a:pt x="2855241" y="88364"/>
                  </a:lnTo>
                  <a:close/>
                </a:path>
                <a:path w="2855595" h="2099310">
                  <a:moveTo>
                    <a:pt x="2855241" y="164000"/>
                  </a:moveTo>
                  <a:lnTo>
                    <a:pt x="2836333" y="164000"/>
                  </a:lnTo>
                  <a:lnTo>
                    <a:pt x="2836333" y="116727"/>
                  </a:lnTo>
                  <a:lnTo>
                    <a:pt x="2855241" y="116727"/>
                  </a:lnTo>
                  <a:lnTo>
                    <a:pt x="2855241" y="164000"/>
                  </a:lnTo>
                  <a:close/>
                </a:path>
                <a:path w="2855595" h="2099310">
                  <a:moveTo>
                    <a:pt x="2855241" y="239635"/>
                  </a:moveTo>
                  <a:lnTo>
                    <a:pt x="2836333" y="239635"/>
                  </a:lnTo>
                  <a:lnTo>
                    <a:pt x="2836333" y="192363"/>
                  </a:lnTo>
                  <a:lnTo>
                    <a:pt x="2855241" y="192363"/>
                  </a:lnTo>
                  <a:lnTo>
                    <a:pt x="2855241" y="239635"/>
                  </a:lnTo>
                  <a:close/>
                </a:path>
                <a:path w="2855595" h="2099310">
                  <a:moveTo>
                    <a:pt x="2855241" y="315271"/>
                  </a:moveTo>
                  <a:lnTo>
                    <a:pt x="2836333" y="315271"/>
                  </a:lnTo>
                  <a:lnTo>
                    <a:pt x="2836333" y="267998"/>
                  </a:lnTo>
                  <a:lnTo>
                    <a:pt x="2855241" y="267998"/>
                  </a:lnTo>
                  <a:lnTo>
                    <a:pt x="2855241" y="315271"/>
                  </a:lnTo>
                  <a:close/>
                </a:path>
                <a:path w="2855595" h="2099310">
                  <a:moveTo>
                    <a:pt x="2855241" y="390906"/>
                  </a:moveTo>
                  <a:lnTo>
                    <a:pt x="2836333" y="390906"/>
                  </a:lnTo>
                  <a:lnTo>
                    <a:pt x="2836333" y="343634"/>
                  </a:lnTo>
                  <a:lnTo>
                    <a:pt x="2855241" y="343634"/>
                  </a:lnTo>
                  <a:lnTo>
                    <a:pt x="2855241" y="390906"/>
                  </a:lnTo>
                  <a:close/>
                </a:path>
                <a:path w="2855595" h="2099310">
                  <a:moveTo>
                    <a:pt x="2855241" y="466542"/>
                  </a:moveTo>
                  <a:lnTo>
                    <a:pt x="2836333" y="466542"/>
                  </a:lnTo>
                  <a:lnTo>
                    <a:pt x="2836333" y="419270"/>
                  </a:lnTo>
                  <a:lnTo>
                    <a:pt x="2855241" y="419270"/>
                  </a:lnTo>
                  <a:lnTo>
                    <a:pt x="2855241" y="466542"/>
                  </a:lnTo>
                  <a:close/>
                </a:path>
                <a:path w="2855595" h="2099310">
                  <a:moveTo>
                    <a:pt x="2855241" y="542177"/>
                  </a:moveTo>
                  <a:lnTo>
                    <a:pt x="2836333" y="542177"/>
                  </a:lnTo>
                  <a:lnTo>
                    <a:pt x="2836333" y="494905"/>
                  </a:lnTo>
                  <a:lnTo>
                    <a:pt x="2855241" y="494905"/>
                  </a:lnTo>
                  <a:lnTo>
                    <a:pt x="2855241" y="542177"/>
                  </a:lnTo>
                  <a:close/>
                </a:path>
                <a:path w="2855595" h="2099310">
                  <a:moveTo>
                    <a:pt x="2855241" y="617813"/>
                  </a:moveTo>
                  <a:lnTo>
                    <a:pt x="2836333" y="617813"/>
                  </a:lnTo>
                  <a:lnTo>
                    <a:pt x="2836333" y="570541"/>
                  </a:lnTo>
                  <a:lnTo>
                    <a:pt x="2855241" y="570541"/>
                  </a:lnTo>
                  <a:lnTo>
                    <a:pt x="2855241" y="617813"/>
                  </a:lnTo>
                  <a:close/>
                </a:path>
                <a:path w="2855595" h="2099310">
                  <a:moveTo>
                    <a:pt x="2855241" y="693448"/>
                  </a:moveTo>
                  <a:lnTo>
                    <a:pt x="2836333" y="693448"/>
                  </a:lnTo>
                  <a:lnTo>
                    <a:pt x="2836333" y="646176"/>
                  </a:lnTo>
                  <a:lnTo>
                    <a:pt x="2855241" y="646176"/>
                  </a:lnTo>
                  <a:lnTo>
                    <a:pt x="2855241" y="693448"/>
                  </a:lnTo>
                  <a:close/>
                </a:path>
                <a:path w="2855595" h="2099310">
                  <a:moveTo>
                    <a:pt x="2855241" y="769084"/>
                  </a:moveTo>
                  <a:lnTo>
                    <a:pt x="2836333" y="769084"/>
                  </a:lnTo>
                  <a:lnTo>
                    <a:pt x="2836333" y="721812"/>
                  </a:lnTo>
                  <a:lnTo>
                    <a:pt x="2855241" y="721812"/>
                  </a:lnTo>
                  <a:lnTo>
                    <a:pt x="2855241" y="769084"/>
                  </a:lnTo>
                  <a:close/>
                </a:path>
                <a:path w="2855595" h="2099310">
                  <a:moveTo>
                    <a:pt x="2855241" y="844719"/>
                  </a:moveTo>
                  <a:lnTo>
                    <a:pt x="2836333" y="844719"/>
                  </a:lnTo>
                  <a:lnTo>
                    <a:pt x="2836333" y="797447"/>
                  </a:lnTo>
                  <a:lnTo>
                    <a:pt x="2855241" y="797447"/>
                  </a:lnTo>
                  <a:lnTo>
                    <a:pt x="2855241" y="844719"/>
                  </a:lnTo>
                  <a:close/>
                </a:path>
                <a:path w="2855595" h="2099310">
                  <a:moveTo>
                    <a:pt x="2855241" y="920355"/>
                  </a:moveTo>
                  <a:lnTo>
                    <a:pt x="2836333" y="920355"/>
                  </a:lnTo>
                  <a:lnTo>
                    <a:pt x="2836333" y="873083"/>
                  </a:lnTo>
                  <a:lnTo>
                    <a:pt x="2855241" y="873083"/>
                  </a:lnTo>
                  <a:lnTo>
                    <a:pt x="2855241" y="920355"/>
                  </a:lnTo>
                  <a:close/>
                </a:path>
                <a:path w="2855595" h="2099310">
                  <a:moveTo>
                    <a:pt x="2855241" y="995991"/>
                  </a:moveTo>
                  <a:lnTo>
                    <a:pt x="2836333" y="995991"/>
                  </a:lnTo>
                  <a:lnTo>
                    <a:pt x="2836333" y="948718"/>
                  </a:lnTo>
                  <a:lnTo>
                    <a:pt x="2855241" y="948718"/>
                  </a:lnTo>
                  <a:lnTo>
                    <a:pt x="2855241" y="995991"/>
                  </a:lnTo>
                  <a:close/>
                </a:path>
                <a:path w="2855595" h="2099310">
                  <a:moveTo>
                    <a:pt x="2855241" y="1071626"/>
                  </a:moveTo>
                  <a:lnTo>
                    <a:pt x="2836333" y="1071626"/>
                  </a:lnTo>
                  <a:lnTo>
                    <a:pt x="2836333" y="1024354"/>
                  </a:lnTo>
                  <a:lnTo>
                    <a:pt x="2855241" y="1024354"/>
                  </a:lnTo>
                  <a:lnTo>
                    <a:pt x="2855241" y="1071626"/>
                  </a:lnTo>
                  <a:close/>
                </a:path>
                <a:path w="2855595" h="2099310">
                  <a:moveTo>
                    <a:pt x="2855241" y="1147262"/>
                  </a:moveTo>
                  <a:lnTo>
                    <a:pt x="2836333" y="1147262"/>
                  </a:lnTo>
                  <a:lnTo>
                    <a:pt x="2836333" y="1099989"/>
                  </a:lnTo>
                  <a:lnTo>
                    <a:pt x="2855241" y="1099989"/>
                  </a:lnTo>
                  <a:lnTo>
                    <a:pt x="2855241" y="1147262"/>
                  </a:lnTo>
                  <a:close/>
                </a:path>
                <a:path w="2855595" h="2099310">
                  <a:moveTo>
                    <a:pt x="2855241" y="1222897"/>
                  </a:moveTo>
                  <a:lnTo>
                    <a:pt x="2836333" y="1222897"/>
                  </a:lnTo>
                  <a:lnTo>
                    <a:pt x="2836333" y="1175625"/>
                  </a:lnTo>
                  <a:lnTo>
                    <a:pt x="2855241" y="1175625"/>
                  </a:lnTo>
                  <a:lnTo>
                    <a:pt x="2855241" y="1222897"/>
                  </a:lnTo>
                  <a:close/>
                </a:path>
                <a:path w="2855595" h="2099310">
                  <a:moveTo>
                    <a:pt x="2855241" y="1298533"/>
                  </a:moveTo>
                  <a:lnTo>
                    <a:pt x="2836333" y="1298533"/>
                  </a:lnTo>
                  <a:lnTo>
                    <a:pt x="2836333" y="1251261"/>
                  </a:lnTo>
                  <a:lnTo>
                    <a:pt x="2855241" y="1251261"/>
                  </a:lnTo>
                  <a:lnTo>
                    <a:pt x="2855241" y="1298533"/>
                  </a:lnTo>
                  <a:close/>
                </a:path>
                <a:path w="2855595" h="2099310">
                  <a:moveTo>
                    <a:pt x="2855241" y="1374168"/>
                  </a:moveTo>
                  <a:lnTo>
                    <a:pt x="2836333" y="1374168"/>
                  </a:lnTo>
                  <a:lnTo>
                    <a:pt x="2836333" y="1326896"/>
                  </a:lnTo>
                  <a:lnTo>
                    <a:pt x="2855241" y="1326896"/>
                  </a:lnTo>
                  <a:lnTo>
                    <a:pt x="2855241" y="1374168"/>
                  </a:lnTo>
                  <a:close/>
                </a:path>
                <a:path w="2855595" h="2099310">
                  <a:moveTo>
                    <a:pt x="2855241" y="1449804"/>
                  </a:moveTo>
                  <a:lnTo>
                    <a:pt x="2836333" y="1449804"/>
                  </a:lnTo>
                  <a:lnTo>
                    <a:pt x="2836333" y="1402532"/>
                  </a:lnTo>
                  <a:lnTo>
                    <a:pt x="2855241" y="1402532"/>
                  </a:lnTo>
                  <a:lnTo>
                    <a:pt x="2855241" y="1449804"/>
                  </a:lnTo>
                  <a:close/>
                </a:path>
                <a:path w="2855595" h="2099310">
                  <a:moveTo>
                    <a:pt x="2855241" y="1525439"/>
                  </a:moveTo>
                  <a:lnTo>
                    <a:pt x="2836333" y="1525439"/>
                  </a:lnTo>
                  <a:lnTo>
                    <a:pt x="2836333" y="1478167"/>
                  </a:lnTo>
                  <a:lnTo>
                    <a:pt x="2855241" y="1478167"/>
                  </a:lnTo>
                  <a:lnTo>
                    <a:pt x="2855241" y="1525439"/>
                  </a:lnTo>
                  <a:close/>
                </a:path>
                <a:path w="2855595" h="2099310">
                  <a:moveTo>
                    <a:pt x="2855241" y="1601075"/>
                  </a:moveTo>
                  <a:lnTo>
                    <a:pt x="2836333" y="1601075"/>
                  </a:lnTo>
                  <a:lnTo>
                    <a:pt x="2836333" y="1553803"/>
                  </a:lnTo>
                  <a:lnTo>
                    <a:pt x="2855241" y="1553803"/>
                  </a:lnTo>
                  <a:lnTo>
                    <a:pt x="2855241" y="1601075"/>
                  </a:lnTo>
                  <a:close/>
                </a:path>
                <a:path w="2855595" h="2099310">
                  <a:moveTo>
                    <a:pt x="2855241" y="1676710"/>
                  </a:moveTo>
                  <a:lnTo>
                    <a:pt x="2836333" y="1676710"/>
                  </a:lnTo>
                  <a:lnTo>
                    <a:pt x="2836333" y="1629438"/>
                  </a:lnTo>
                  <a:lnTo>
                    <a:pt x="2855241" y="1629438"/>
                  </a:lnTo>
                  <a:lnTo>
                    <a:pt x="2855241" y="1676710"/>
                  </a:lnTo>
                  <a:close/>
                </a:path>
                <a:path w="2855595" h="2099310">
                  <a:moveTo>
                    <a:pt x="2855241" y="1752346"/>
                  </a:moveTo>
                  <a:lnTo>
                    <a:pt x="2836333" y="1752346"/>
                  </a:lnTo>
                  <a:lnTo>
                    <a:pt x="2836333" y="1705074"/>
                  </a:lnTo>
                  <a:lnTo>
                    <a:pt x="2855241" y="1705074"/>
                  </a:lnTo>
                  <a:lnTo>
                    <a:pt x="2855241" y="1752346"/>
                  </a:lnTo>
                  <a:close/>
                </a:path>
                <a:path w="2855595" h="2099310">
                  <a:moveTo>
                    <a:pt x="2855241" y="1827982"/>
                  </a:moveTo>
                  <a:lnTo>
                    <a:pt x="2836333" y="1827982"/>
                  </a:lnTo>
                  <a:lnTo>
                    <a:pt x="2836333" y="1780709"/>
                  </a:lnTo>
                  <a:lnTo>
                    <a:pt x="2855241" y="1780709"/>
                  </a:lnTo>
                  <a:lnTo>
                    <a:pt x="2855241" y="1827982"/>
                  </a:lnTo>
                  <a:close/>
                </a:path>
                <a:path w="2855595" h="2099310">
                  <a:moveTo>
                    <a:pt x="2855241" y="1903617"/>
                  </a:moveTo>
                  <a:lnTo>
                    <a:pt x="2836333" y="1903617"/>
                  </a:lnTo>
                  <a:lnTo>
                    <a:pt x="2836333" y="1856345"/>
                  </a:lnTo>
                  <a:lnTo>
                    <a:pt x="2855241" y="1856345"/>
                  </a:lnTo>
                  <a:lnTo>
                    <a:pt x="2855241" y="1903617"/>
                  </a:lnTo>
                  <a:close/>
                </a:path>
                <a:path w="2855595" h="2099310">
                  <a:moveTo>
                    <a:pt x="2855241" y="1979253"/>
                  </a:moveTo>
                  <a:lnTo>
                    <a:pt x="2836333" y="1979253"/>
                  </a:lnTo>
                  <a:lnTo>
                    <a:pt x="2836333" y="1931980"/>
                  </a:lnTo>
                  <a:lnTo>
                    <a:pt x="2855241" y="1931980"/>
                  </a:lnTo>
                  <a:lnTo>
                    <a:pt x="2855241" y="1979253"/>
                  </a:lnTo>
                  <a:close/>
                </a:path>
                <a:path w="2855595" h="2099310">
                  <a:moveTo>
                    <a:pt x="2853323" y="2056787"/>
                  </a:moveTo>
                  <a:lnTo>
                    <a:pt x="2835054" y="2051911"/>
                  </a:lnTo>
                  <a:lnTo>
                    <a:pt x="2835906" y="2048716"/>
                  </a:lnTo>
                  <a:lnTo>
                    <a:pt x="2836333" y="2045465"/>
                  </a:lnTo>
                  <a:lnTo>
                    <a:pt x="2836333" y="2007616"/>
                  </a:lnTo>
                  <a:lnTo>
                    <a:pt x="2855241" y="2007616"/>
                  </a:lnTo>
                  <a:lnTo>
                    <a:pt x="2855241" y="2047119"/>
                  </a:lnTo>
                  <a:lnTo>
                    <a:pt x="2854613" y="2051911"/>
                  </a:lnTo>
                  <a:lnTo>
                    <a:pt x="2853323" y="2056787"/>
                  </a:lnTo>
                  <a:close/>
                </a:path>
                <a:path w="2855595" h="2099310">
                  <a:moveTo>
                    <a:pt x="2798515" y="2098886"/>
                  </a:moveTo>
                  <a:lnTo>
                    <a:pt x="2782511" y="2098886"/>
                  </a:lnTo>
                  <a:lnTo>
                    <a:pt x="2782511" y="2079977"/>
                  </a:lnTo>
                  <a:lnTo>
                    <a:pt x="2807335" y="2079977"/>
                  </a:lnTo>
                  <a:lnTo>
                    <a:pt x="2815193" y="2077228"/>
                  </a:lnTo>
                  <a:lnTo>
                    <a:pt x="2822089" y="2071730"/>
                  </a:lnTo>
                  <a:lnTo>
                    <a:pt x="2833877" y="2086515"/>
                  </a:lnTo>
                  <a:lnTo>
                    <a:pt x="2825848" y="2091927"/>
                  </a:lnTo>
                  <a:lnTo>
                    <a:pt x="2817278" y="2095793"/>
                  </a:lnTo>
                  <a:lnTo>
                    <a:pt x="2808167" y="2098113"/>
                  </a:lnTo>
                  <a:lnTo>
                    <a:pt x="2798515" y="2098886"/>
                  </a:lnTo>
                  <a:close/>
                </a:path>
                <a:path w="2855595" h="2099310">
                  <a:moveTo>
                    <a:pt x="2754148" y="2098886"/>
                  </a:moveTo>
                  <a:lnTo>
                    <a:pt x="2706876" y="2098886"/>
                  </a:lnTo>
                  <a:lnTo>
                    <a:pt x="2706876" y="2079977"/>
                  </a:lnTo>
                  <a:lnTo>
                    <a:pt x="2754148" y="2079977"/>
                  </a:lnTo>
                  <a:lnTo>
                    <a:pt x="2754148" y="2098886"/>
                  </a:lnTo>
                  <a:close/>
                </a:path>
                <a:path w="2855595" h="2099310">
                  <a:moveTo>
                    <a:pt x="2678512" y="2098886"/>
                  </a:moveTo>
                  <a:lnTo>
                    <a:pt x="2631240" y="2098886"/>
                  </a:lnTo>
                  <a:lnTo>
                    <a:pt x="2631240" y="2079977"/>
                  </a:lnTo>
                  <a:lnTo>
                    <a:pt x="2678512" y="2079977"/>
                  </a:lnTo>
                  <a:lnTo>
                    <a:pt x="2678512" y="2098886"/>
                  </a:lnTo>
                  <a:close/>
                </a:path>
                <a:path w="2855595" h="2099310">
                  <a:moveTo>
                    <a:pt x="2602877" y="2098886"/>
                  </a:moveTo>
                  <a:lnTo>
                    <a:pt x="2555605" y="2098886"/>
                  </a:lnTo>
                  <a:lnTo>
                    <a:pt x="2555605" y="2079977"/>
                  </a:lnTo>
                  <a:lnTo>
                    <a:pt x="2602877" y="2079977"/>
                  </a:lnTo>
                  <a:lnTo>
                    <a:pt x="2602877" y="2098886"/>
                  </a:lnTo>
                  <a:close/>
                </a:path>
                <a:path w="2855595" h="2099310">
                  <a:moveTo>
                    <a:pt x="2527241" y="2098886"/>
                  </a:moveTo>
                  <a:lnTo>
                    <a:pt x="2479969" y="2098886"/>
                  </a:lnTo>
                  <a:lnTo>
                    <a:pt x="2479969" y="2079977"/>
                  </a:lnTo>
                  <a:lnTo>
                    <a:pt x="2527241" y="2079977"/>
                  </a:lnTo>
                  <a:lnTo>
                    <a:pt x="2527241" y="2098886"/>
                  </a:lnTo>
                  <a:close/>
                </a:path>
                <a:path w="2855595" h="2099310">
                  <a:moveTo>
                    <a:pt x="2451606" y="2098886"/>
                  </a:moveTo>
                  <a:lnTo>
                    <a:pt x="2404334" y="2098886"/>
                  </a:lnTo>
                  <a:lnTo>
                    <a:pt x="2404334" y="2079977"/>
                  </a:lnTo>
                  <a:lnTo>
                    <a:pt x="2451606" y="2079977"/>
                  </a:lnTo>
                  <a:lnTo>
                    <a:pt x="2451606" y="2098886"/>
                  </a:lnTo>
                  <a:close/>
                </a:path>
                <a:path w="2855595" h="2099310">
                  <a:moveTo>
                    <a:pt x="2375970" y="2098886"/>
                  </a:moveTo>
                  <a:lnTo>
                    <a:pt x="2328698" y="2098886"/>
                  </a:lnTo>
                  <a:lnTo>
                    <a:pt x="2328698" y="2079977"/>
                  </a:lnTo>
                  <a:lnTo>
                    <a:pt x="2375970" y="2079977"/>
                  </a:lnTo>
                  <a:lnTo>
                    <a:pt x="2375970" y="2098886"/>
                  </a:lnTo>
                  <a:close/>
                </a:path>
                <a:path w="2855595" h="2099310">
                  <a:moveTo>
                    <a:pt x="2300335" y="2098886"/>
                  </a:moveTo>
                  <a:lnTo>
                    <a:pt x="2253062" y="2098886"/>
                  </a:lnTo>
                  <a:lnTo>
                    <a:pt x="2253062" y="2079977"/>
                  </a:lnTo>
                  <a:lnTo>
                    <a:pt x="2300335" y="2079977"/>
                  </a:lnTo>
                  <a:lnTo>
                    <a:pt x="2300335" y="2098886"/>
                  </a:lnTo>
                  <a:close/>
                </a:path>
                <a:path w="2855595" h="2099310">
                  <a:moveTo>
                    <a:pt x="2224699" y="2098886"/>
                  </a:moveTo>
                  <a:lnTo>
                    <a:pt x="2177427" y="2098886"/>
                  </a:lnTo>
                  <a:lnTo>
                    <a:pt x="2177427" y="2079977"/>
                  </a:lnTo>
                  <a:lnTo>
                    <a:pt x="2224699" y="2079977"/>
                  </a:lnTo>
                  <a:lnTo>
                    <a:pt x="2224699" y="2098886"/>
                  </a:lnTo>
                  <a:close/>
                </a:path>
                <a:path w="2855595" h="2099310">
                  <a:moveTo>
                    <a:pt x="2149064" y="2098886"/>
                  </a:moveTo>
                  <a:lnTo>
                    <a:pt x="2101791" y="2098886"/>
                  </a:lnTo>
                  <a:lnTo>
                    <a:pt x="2101791" y="2079977"/>
                  </a:lnTo>
                  <a:lnTo>
                    <a:pt x="2149064" y="2079977"/>
                  </a:lnTo>
                  <a:lnTo>
                    <a:pt x="2149064" y="2098886"/>
                  </a:lnTo>
                  <a:close/>
                </a:path>
                <a:path w="2855595" h="2099310">
                  <a:moveTo>
                    <a:pt x="2073428" y="2098886"/>
                  </a:moveTo>
                  <a:lnTo>
                    <a:pt x="2026156" y="2098886"/>
                  </a:lnTo>
                  <a:lnTo>
                    <a:pt x="2026156" y="2079977"/>
                  </a:lnTo>
                  <a:lnTo>
                    <a:pt x="2073428" y="2079977"/>
                  </a:lnTo>
                  <a:lnTo>
                    <a:pt x="2073428" y="2098886"/>
                  </a:lnTo>
                  <a:close/>
                </a:path>
                <a:path w="2855595" h="2099310">
                  <a:moveTo>
                    <a:pt x="1997793" y="2098886"/>
                  </a:moveTo>
                  <a:lnTo>
                    <a:pt x="1950520" y="2098886"/>
                  </a:lnTo>
                  <a:lnTo>
                    <a:pt x="1950520" y="2079977"/>
                  </a:lnTo>
                  <a:lnTo>
                    <a:pt x="1997793" y="2079977"/>
                  </a:lnTo>
                  <a:lnTo>
                    <a:pt x="1997793" y="2098886"/>
                  </a:lnTo>
                  <a:close/>
                </a:path>
                <a:path w="2855595" h="2099310">
                  <a:moveTo>
                    <a:pt x="1922157" y="2098886"/>
                  </a:moveTo>
                  <a:lnTo>
                    <a:pt x="1874885" y="2098886"/>
                  </a:lnTo>
                  <a:lnTo>
                    <a:pt x="1874885" y="2079977"/>
                  </a:lnTo>
                  <a:lnTo>
                    <a:pt x="1922157" y="2079977"/>
                  </a:lnTo>
                  <a:lnTo>
                    <a:pt x="1922157" y="2098886"/>
                  </a:lnTo>
                  <a:close/>
                </a:path>
                <a:path w="2855595" h="2099310">
                  <a:moveTo>
                    <a:pt x="1846521" y="2098886"/>
                  </a:moveTo>
                  <a:lnTo>
                    <a:pt x="1799249" y="2098886"/>
                  </a:lnTo>
                  <a:lnTo>
                    <a:pt x="1799249" y="2079977"/>
                  </a:lnTo>
                  <a:lnTo>
                    <a:pt x="1846521" y="2079977"/>
                  </a:lnTo>
                  <a:lnTo>
                    <a:pt x="1846521" y="2098886"/>
                  </a:lnTo>
                  <a:close/>
                </a:path>
                <a:path w="2855595" h="2099310">
                  <a:moveTo>
                    <a:pt x="1770886" y="2098886"/>
                  </a:moveTo>
                  <a:lnTo>
                    <a:pt x="1723614" y="2098886"/>
                  </a:lnTo>
                  <a:lnTo>
                    <a:pt x="1723614" y="2079977"/>
                  </a:lnTo>
                  <a:lnTo>
                    <a:pt x="1770886" y="2079977"/>
                  </a:lnTo>
                  <a:lnTo>
                    <a:pt x="1770886" y="2098886"/>
                  </a:lnTo>
                  <a:close/>
                </a:path>
                <a:path w="2855595" h="2099310">
                  <a:moveTo>
                    <a:pt x="1695250" y="2098886"/>
                  </a:moveTo>
                  <a:lnTo>
                    <a:pt x="1647978" y="2098886"/>
                  </a:lnTo>
                  <a:lnTo>
                    <a:pt x="1647978" y="2079977"/>
                  </a:lnTo>
                  <a:lnTo>
                    <a:pt x="1695250" y="2079977"/>
                  </a:lnTo>
                  <a:lnTo>
                    <a:pt x="1695250" y="2098886"/>
                  </a:lnTo>
                  <a:close/>
                </a:path>
                <a:path w="2855595" h="2099310">
                  <a:moveTo>
                    <a:pt x="1619615" y="2098886"/>
                  </a:moveTo>
                  <a:lnTo>
                    <a:pt x="1572343" y="2098886"/>
                  </a:lnTo>
                  <a:lnTo>
                    <a:pt x="1572343" y="2079977"/>
                  </a:lnTo>
                  <a:lnTo>
                    <a:pt x="1619615" y="2079977"/>
                  </a:lnTo>
                  <a:lnTo>
                    <a:pt x="1619615" y="2098886"/>
                  </a:lnTo>
                  <a:close/>
                </a:path>
                <a:path w="2855595" h="2099310">
                  <a:moveTo>
                    <a:pt x="1543979" y="2098886"/>
                  </a:moveTo>
                  <a:lnTo>
                    <a:pt x="1496707" y="2098886"/>
                  </a:lnTo>
                  <a:lnTo>
                    <a:pt x="1496707" y="2079977"/>
                  </a:lnTo>
                  <a:lnTo>
                    <a:pt x="1543979" y="2079977"/>
                  </a:lnTo>
                  <a:lnTo>
                    <a:pt x="1543979" y="2098886"/>
                  </a:lnTo>
                  <a:close/>
                </a:path>
                <a:path w="2855595" h="2099310">
                  <a:moveTo>
                    <a:pt x="1468344" y="2098886"/>
                  </a:moveTo>
                  <a:lnTo>
                    <a:pt x="1421071" y="2098886"/>
                  </a:lnTo>
                  <a:lnTo>
                    <a:pt x="1421071" y="2079977"/>
                  </a:lnTo>
                  <a:lnTo>
                    <a:pt x="1468344" y="2079977"/>
                  </a:lnTo>
                  <a:lnTo>
                    <a:pt x="1468344" y="2098886"/>
                  </a:lnTo>
                  <a:close/>
                </a:path>
                <a:path w="2855595" h="2099310">
                  <a:moveTo>
                    <a:pt x="1392708" y="2098886"/>
                  </a:moveTo>
                  <a:lnTo>
                    <a:pt x="1345436" y="2098886"/>
                  </a:lnTo>
                  <a:lnTo>
                    <a:pt x="1345436" y="2079977"/>
                  </a:lnTo>
                  <a:lnTo>
                    <a:pt x="1392708" y="2079977"/>
                  </a:lnTo>
                  <a:lnTo>
                    <a:pt x="1392708" y="2098886"/>
                  </a:lnTo>
                  <a:close/>
                </a:path>
                <a:path w="2855595" h="2099310">
                  <a:moveTo>
                    <a:pt x="1317073" y="2098886"/>
                  </a:moveTo>
                  <a:lnTo>
                    <a:pt x="1269800" y="2098886"/>
                  </a:lnTo>
                  <a:lnTo>
                    <a:pt x="1269800" y="2079977"/>
                  </a:lnTo>
                  <a:lnTo>
                    <a:pt x="1317073" y="2079977"/>
                  </a:lnTo>
                  <a:lnTo>
                    <a:pt x="1317073" y="2098886"/>
                  </a:lnTo>
                  <a:close/>
                </a:path>
                <a:path w="2855595" h="2099310">
                  <a:moveTo>
                    <a:pt x="1241437" y="2098886"/>
                  </a:moveTo>
                  <a:lnTo>
                    <a:pt x="1194165" y="2098886"/>
                  </a:lnTo>
                  <a:lnTo>
                    <a:pt x="1194165" y="2079977"/>
                  </a:lnTo>
                  <a:lnTo>
                    <a:pt x="1241437" y="2079977"/>
                  </a:lnTo>
                  <a:lnTo>
                    <a:pt x="1241437" y="2098886"/>
                  </a:lnTo>
                  <a:close/>
                </a:path>
                <a:path w="2855595" h="2099310">
                  <a:moveTo>
                    <a:pt x="1165802" y="2098886"/>
                  </a:moveTo>
                  <a:lnTo>
                    <a:pt x="1118529" y="2098886"/>
                  </a:lnTo>
                  <a:lnTo>
                    <a:pt x="1118529" y="2079977"/>
                  </a:lnTo>
                  <a:lnTo>
                    <a:pt x="1165802" y="2079977"/>
                  </a:lnTo>
                  <a:lnTo>
                    <a:pt x="1165802" y="2098886"/>
                  </a:lnTo>
                  <a:close/>
                </a:path>
                <a:path w="2855595" h="2099310">
                  <a:moveTo>
                    <a:pt x="1090166" y="2098886"/>
                  </a:moveTo>
                  <a:lnTo>
                    <a:pt x="1042894" y="2098886"/>
                  </a:lnTo>
                  <a:lnTo>
                    <a:pt x="1042894" y="2079977"/>
                  </a:lnTo>
                  <a:lnTo>
                    <a:pt x="1090166" y="2079977"/>
                  </a:lnTo>
                  <a:lnTo>
                    <a:pt x="1090166" y="2098886"/>
                  </a:lnTo>
                  <a:close/>
                </a:path>
                <a:path w="2855595" h="2099310">
                  <a:moveTo>
                    <a:pt x="1014530" y="2098886"/>
                  </a:moveTo>
                  <a:lnTo>
                    <a:pt x="967258" y="2098886"/>
                  </a:lnTo>
                  <a:lnTo>
                    <a:pt x="967258" y="2079977"/>
                  </a:lnTo>
                  <a:lnTo>
                    <a:pt x="1014530" y="2079977"/>
                  </a:lnTo>
                  <a:lnTo>
                    <a:pt x="1014530" y="2098886"/>
                  </a:lnTo>
                  <a:close/>
                </a:path>
                <a:path w="2855595" h="2099310">
                  <a:moveTo>
                    <a:pt x="938895" y="2098886"/>
                  </a:moveTo>
                  <a:lnTo>
                    <a:pt x="891623" y="2098886"/>
                  </a:lnTo>
                  <a:lnTo>
                    <a:pt x="891623" y="2079977"/>
                  </a:lnTo>
                  <a:lnTo>
                    <a:pt x="938895" y="2079977"/>
                  </a:lnTo>
                  <a:lnTo>
                    <a:pt x="938895" y="2098886"/>
                  </a:lnTo>
                  <a:close/>
                </a:path>
                <a:path w="2855595" h="2099310">
                  <a:moveTo>
                    <a:pt x="863259" y="2098886"/>
                  </a:moveTo>
                  <a:lnTo>
                    <a:pt x="815987" y="2098886"/>
                  </a:lnTo>
                  <a:lnTo>
                    <a:pt x="815987" y="2079977"/>
                  </a:lnTo>
                  <a:lnTo>
                    <a:pt x="863259" y="2079977"/>
                  </a:lnTo>
                  <a:lnTo>
                    <a:pt x="863259" y="2098886"/>
                  </a:lnTo>
                  <a:close/>
                </a:path>
                <a:path w="2855595" h="2099310">
                  <a:moveTo>
                    <a:pt x="787624" y="2098886"/>
                  </a:moveTo>
                  <a:lnTo>
                    <a:pt x="740352" y="2098886"/>
                  </a:lnTo>
                  <a:lnTo>
                    <a:pt x="740352" y="2079977"/>
                  </a:lnTo>
                  <a:lnTo>
                    <a:pt x="787624" y="2079977"/>
                  </a:lnTo>
                  <a:lnTo>
                    <a:pt x="787624" y="2098886"/>
                  </a:lnTo>
                  <a:close/>
                </a:path>
                <a:path w="2855595" h="2099310">
                  <a:moveTo>
                    <a:pt x="711988" y="2098886"/>
                  </a:moveTo>
                  <a:lnTo>
                    <a:pt x="664716" y="2098886"/>
                  </a:lnTo>
                  <a:lnTo>
                    <a:pt x="664716" y="2079977"/>
                  </a:lnTo>
                  <a:lnTo>
                    <a:pt x="711988" y="2079977"/>
                  </a:lnTo>
                  <a:lnTo>
                    <a:pt x="711988" y="2098886"/>
                  </a:lnTo>
                  <a:close/>
                </a:path>
                <a:path w="2855595" h="2099310">
                  <a:moveTo>
                    <a:pt x="636353" y="2098886"/>
                  </a:moveTo>
                  <a:lnTo>
                    <a:pt x="589080" y="2098886"/>
                  </a:lnTo>
                  <a:lnTo>
                    <a:pt x="589080" y="2079977"/>
                  </a:lnTo>
                  <a:lnTo>
                    <a:pt x="636353" y="2079977"/>
                  </a:lnTo>
                  <a:lnTo>
                    <a:pt x="636353" y="2098886"/>
                  </a:lnTo>
                  <a:close/>
                </a:path>
                <a:path w="2855595" h="2099310">
                  <a:moveTo>
                    <a:pt x="560717" y="2098886"/>
                  </a:moveTo>
                  <a:lnTo>
                    <a:pt x="513445" y="2098886"/>
                  </a:lnTo>
                  <a:lnTo>
                    <a:pt x="513445" y="2079977"/>
                  </a:lnTo>
                  <a:lnTo>
                    <a:pt x="560717" y="2079977"/>
                  </a:lnTo>
                  <a:lnTo>
                    <a:pt x="560717" y="2098886"/>
                  </a:lnTo>
                  <a:close/>
                </a:path>
                <a:path w="2855595" h="2099310">
                  <a:moveTo>
                    <a:pt x="485082" y="2098886"/>
                  </a:moveTo>
                  <a:lnTo>
                    <a:pt x="437810" y="2098886"/>
                  </a:lnTo>
                  <a:lnTo>
                    <a:pt x="437810" y="2079977"/>
                  </a:lnTo>
                  <a:lnTo>
                    <a:pt x="485082" y="2079977"/>
                  </a:lnTo>
                  <a:lnTo>
                    <a:pt x="485082" y="2098886"/>
                  </a:lnTo>
                  <a:close/>
                </a:path>
                <a:path w="2855595" h="2099310">
                  <a:moveTo>
                    <a:pt x="409446" y="2098886"/>
                  </a:moveTo>
                  <a:lnTo>
                    <a:pt x="362174" y="2098886"/>
                  </a:lnTo>
                  <a:lnTo>
                    <a:pt x="362174" y="2079977"/>
                  </a:lnTo>
                  <a:lnTo>
                    <a:pt x="409446" y="2079977"/>
                  </a:lnTo>
                  <a:lnTo>
                    <a:pt x="409446" y="2098886"/>
                  </a:lnTo>
                  <a:close/>
                </a:path>
                <a:path w="2855595" h="2099310">
                  <a:moveTo>
                    <a:pt x="333810" y="2098886"/>
                  </a:moveTo>
                  <a:lnTo>
                    <a:pt x="286538" y="2098886"/>
                  </a:lnTo>
                  <a:lnTo>
                    <a:pt x="286538" y="2079977"/>
                  </a:lnTo>
                  <a:lnTo>
                    <a:pt x="333810" y="2079977"/>
                  </a:lnTo>
                  <a:lnTo>
                    <a:pt x="333810" y="2098886"/>
                  </a:lnTo>
                  <a:close/>
                </a:path>
                <a:path w="2855595" h="2099310">
                  <a:moveTo>
                    <a:pt x="258175" y="2098886"/>
                  </a:moveTo>
                  <a:lnTo>
                    <a:pt x="210903" y="2098886"/>
                  </a:lnTo>
                  <a:lnTo>
                    <a:pt x="210903" y="2079977"/>
                  </a:lnTo>
                  <a:lnTo>
                    <a:pt x="258175" y="2079977"/>
                  </a:lnTo>
                  <a:lnTo>
                    <a:pt x="258175" y="2098886"/>
                  </a:lnTo>
                  <a:close/>
                </a:path>
                <a:path w="2855595" h="2099310">
                  <a:moveTo>
                    <a:pt x="182539" y="2098886"/>
                  </a:moveTo>
                  <a:lnTo>
                    <a:pt x="135267" y="2098886"/>
                  </a:lnTo>
                  <a:lnTo>
                    <a:pt x="135267" y="2079977"/>
                  </a:lnTo>
                  <a:lnTo>
                    <a:pt x="182539" y="2079977"/>
                  </a:lnTo>
                  <a:lnTo>
                    <a:pt x="182539" y="2098886"/>
                  </a:lnTo>
                  <a:close/>
                </a:path>
                <a:path w="2855595" h="2099310">
                  <a:moveTo>
                    <a:pt x="106904" y="2098886"/>
                  </a:moveTo>
                  <a:lnTo>
                    <a:pt x="59632" y="2098886"/>
                  </a:lnTo>
                  <a:lnTo>
                    <a:pt x="59632" y="2079977"/>
                  </a:lnTo>
                  <a:lnTo>
                    <a:pt x="106904" y="2079977"/>
                  </a:lnTo>
                  <a:lnTo>
                    <a:pt x="106904" y="2098886"/>
                  </a:lnTo>
                  <a:close/>
                </a:path>
                <a:path w="2855595" h="2099310">
                  <a:moveTo>
                    <a:pt x="27507" y="2090782"/>
                  </a:moveTo>
                  <a:lnTo>
                    <a:pt x="15473" y="2081544"/>
                  </a:lnTo>
                  <a:lnTo>
                    <a:pt x="6876" y="2070361"/>
                  </a:lnTo>
                  <a:lnTo>
                    <a:pt x="1719" y="2057233"/>
                  </a:lnTo>
                  <a:lnTo>
                    <a:pt x="0" y="2042159"/>
                  </a:lnTo>
                  <a:lnTo>
                    <a:pt x="0" y="2041790"/>
                  </a:lnTo>
                  <a:lnTo>
                    <a:pt x="18908" y="2041790"/>
                  </a:lnTo>
                  <a:lnTo>
                    <a:pt x="18908" y="2042159"/>
                  </a:lnTo>
                  <a:lnTo>
                    <a:pt x="20055" y="2052208"/>
                  </a:lnTo>
                  <a:lnTo>
                    <a:pt x="23493" y="2060961"/>
                  </a:lnTo>
                  <a:lnTo>
                    <a:pt x="29224" y="2068416"/>
                  </a:lnTo>
                  <a:lnTo>
                    <a:pt x="37247" y="2074575"/>
                  </a:lnTo>
                  <a:lnTo>
                    <a:pt x="27507" y="2090782"/>
                  </a:lnTo>
                  <a:close/>
                </a:path>
                <a:path w="2855595" h="2099310">
                  <a:moveTo>
                    <a:pt x="18908" y="2013427"/>
                  </a:moveTo>
                  <a:lnTo>
                    <a:pt x="0" y="2013427"/>
                  </a:lnTo>
                  <a:lnTo>
                    <a:pt x="0" y="1966154"/>
                  </a:lnTo>
                  <a:lnTo>
                    <a:pt x="18908" y="1966154"/>
                  </a:lnTo>
                  <a:lnTo>
                    <a:pt x="18908" y="2013427"/>
                  </a:lnTo>
                  <a:close/>
                </a:path>
                <a:path w="2855595" h="2099310">
                  <a:moveTo>
                    <a:pt x="18908" y="1937791"/>
                  </a:moveTo>
                  <a:lnTo>
                    <a:pt x="0" y="1937791"/>
                  </a:lnTo>
                  <a:lnTo>
                    <a:pt x="0" y="1890519"/>
                  </a:lnTo>
                  <a:lnTo>
                    <a:pt x="18908" y="1890519"/>
                  </a:lnTo>
                  <a:lnTo>
                    <a:pt x="18908" y="1937791"/>
                  </a:lnTo>
                  <a:close/>
                </a:path>
                <a:path w="2855595" h="2099310">
                  <a:moveTo>
                    <a:pt x="18908" y="1862156"/>
                  </a:moveTo>
                  <a:lnTo>
                    <a:pt x="0" y="1862156"/>
                  </a:lnTo>
                  <a:lnTo>
                    <a:pt x="0" y="1814883"/>
                  </a:lnTo>
                  <a:lnTo>
                    <a:pt x="18908" y="1814883"/>
                  </a:lnTo>
                  <a:lnTo>
                    <a:pt x="18908" y="1862156"/>
                  </a:lnTo>
                  <a:close/>
                </a:path>
                <a:path w="2855595" h="2099310">
                  <a:moveTo>
                    <a:pt x="18908" y="1786520"/>
                  </a:moveTo>
                  <a:lnTo>
                    <a:pt x="0" y="1786520"/>
                  </a:lnTo>
                  <a:lnTo>
                    <a:pt x="0" y="1739248"/>
                  </a:lnTo>
                  <a:lnTo>
                    <a:pt x="18908" y="1739248"/>
                  </a:lnTo>
                  <a:lnTo>
                    <a:pt x="18908" y="1786520"/>
                  </a:lnTo>
                  <a:close/>
                </a:path>
                <a:path w="2855595" h="2099310">
                  <a:moveTo>
                    <a:pt x="18908" y="1710884"/>
                  </a:moveTo>
                  <a:lnTo>
                    <a:pt x="0" y="1710884"/>
                  </a:lnTo>
                  <a:lnTo>
                    <a:pt x="0" y="1663612"/>
                  </a:lnTo>
                  <a:lnTo>
                    <a:pt x="18908" y="1663612"/>
                  </a:lnTo>
                  <a:lnTo>
                    <a:pt x="18908" y="1710884"/>
                  </a:lnTo>
                  <a:close/>
                </a:path>
                <a:path w="2855595" h="2099310">
                  <a:moveTo>
                    <a:pt x="18908" y="1635249"/>
                  </a:moveTo>
                  <a:lnTo>
                    <a:pt x="0" y="1635249"/>
                  </a:lnTo>
                  <a:lnTo>
                    <a:pt x="0" y="1587977"/>
                  </a:lnTo>
                  <a:lnTo>
                    <a:pt x="18908" y="1587977"/>
                  </a:lnTo>
                  <a:lnTo>
                    <a:pt x="18908" y="1635249"/>
                  </a:lnTo>
                  <a:close/>
                </a:path>
                <a:path w="2855595" h="2099310">
                  <a:moveTo>
                    <a:pt x="18908" y="1559613"/>
                  </a:moveTo>
                  <a:lnTo>
                    <a:pt x="0" y="1559613"/>
                  </a:lnTo>
                  <a:lnTo>
                    <a:pt x="0" y="1512341"/>
                  </a:lnTo>
                  <a:lnTo>
                    <a:pt x="18908" y="1512341"/>
                  </a:lnTo>
                  <a:lnTo>
                    <a:pt x="18908" y="1559613"/>
                  </a:lnTo>
                  <a:close/>
                </a:path>
                <a:path w="2855595" h="2099310">
                  <a:moveTo>
                    <a:pt x="18908" y="1483978"/>
                  </a:moveTo>
                  <a:lnTo>
                    <a:pt x="0" y="1483978"/>
                  </a:lnTo>
                  <a:lnTo>
                    <a:pt x="0" y="1436706"/>
                  </a:lnTo>
                  <a:lnTo>
                    <a:pt x="18908" y="1436706"/>
                  </a:lnTo>
                  <a:lnTo>
                    <a:pt x="18908" y="1483978"/>
                  </a:lnTo>
                  <a:close/>
                </a:path>
                <a:path w="2855595" h="2099310">
                  <a:moveTo>
                    <a:pt x="18908" y="1408342"/>
                  </a:moveTo>
                  <a:lnTo>
                    <a:pt x="0" y="1408342"/>
                  </a:lnTo>
                  <a:lnTo>
                    <a:pt x="0" y="1361070"/>
                  </a:lnTo>
                  <a:lnTo>
                    <a:pt x="18908" y="1361070"/>
                  </a:lnTo>
                  <a:lnTo>
                    <a:pt x="18908" y="1408342"/>
                  </a:lnTo>
                  <a:close/>
                </a:path>
                <a:path w="2855595" h="2099310">
                  <a:moveTo>
                    <a:pt x="18908" y="1332707"/>
                  </a:moveTo>
                  <a:lnTo>
                    <a:pt x="0" y="1332707"/>
                  </a:lnTo>
                  <a:lnTo>
                    <a:pt x="0" y="1285435"/>
                  </a:lnTo>
                  <a:lnTo>
                    <a:pt x="18908" y="1285435"/>
                  </a:lnTo>
                  <a:lnTo>
                    <a:pt x="18908" y="1332707"/>
                  </a:lnTo>
                  <a:close/>
                </a:path>
                <a:path w="2855595" h="2099310">
                  <a:moveTo>
                    <a:pt x="18908" y="1257071"/>
                  </a:moveTo>
                  <a:lnTo>
                    <a:pt x="0" y="1257071"/>
                  </a:lnTo>
                  <a:lnTo>
                    <a:pt x="0" y="1209799"/>
                  </a:lnTo>
                  <a:lnTo>
                    <a:pt x="18908" y="1209799"/>
                  </a:lnTo>
                  <a:lnTo>
                    <a:pt x="18908" y="1257071"/>
                  </a:lnTo>
                  <a:close/>
                </a:path>
                <a:path w="2855595" h="2099310">
                  <a:moveTo>
                    <a:pt x="18908" y="1181436"/>
                  </a:moveTo>
                  <a:lnTo>
                    <a:pt x="0" y="1181436"/>
                  </a:lnTo>
                  <a:lnTo>
                    <a:pt x="0" y="1134163"/>
                  </a:lnTo>
                  <a:lnTo>
                    <a:pt x="18908" y="1134163"/>
                  </a:lnTo>
                  <a:lnTo>
                    <a:pt x="18908" y="1181436"/>
                  </a:lnTo>
                  <a:close/>
                </a:path>
                <a:path w="2855595" h="2099310">
                  <a:moveTo>
                    <a:pt x="18908" y="1105800"/>
                  </a:moveTo>
                  <a:lnTo>
                    <a:pt x="0" y="1105800"/>
                  </a:lnTo>
                  <a:lnTo>
                    <a:pt x="0" y="1058528"/>
                  </a:lnTo>
                  <a:lnTo>
                    <a:pt x="18908" y="1058528"/>
                  </a:lnTo>
                  <a:lnTo>
                    <a:pt x="18908" y="1105800"/>
                  </a:lnTo>
                  <a:close/>
                </a:path>
                <a:path w="2855595" h="2099310">
                  <a:moveTo>
                    <a:pt x="18908" y="1030165"/>
                  </a:moveTo>
                  <a:lnTo>
                    <a:pt x="0" y="1030165"/>
                  </a:lnTo>
                  <a:lnTo>
                    <a:pt x="0" y="982892"/>
                  </a:lnTo>
                  <a:lnTo>
                    <a:pt x="18908" y="982892"/>
                  </a:lnTo>
                  <a:lnTo>
                    <a:pt x="18908" y="1030165"/>
                  </a:lnTo>
                  <a:close/>
                </a:path>
                <a:path w="2855595" h="2099310">
                  <a:moveTo>
                    <a:pt x="18908" y="954529"/>
                  </a:moveTo>
                  <a:lnTo>
                    <a:pt x="0" y="954529"/>
                  </a:lnTo>
                  <a:lnTo>
                    <a:pt x="0" y="907257"/>
                  </a:lnTo>
                  <a:lnTo>
                    <a:pt x="18908" y="907257"/>
                  </a:lnTo>
                  <a:lnTo>
                    <a:pt x="18908" y="954529"/>
                  </a:lnTo>
                  <a:close/>
                </a:path>
                <a:path w="2855595" h="2099310">
                  <a:moveTo>
                    <a:pt x="18908" y="878893"/>
                  </a:moveTo>
                  <a:lnTo>
                    <a:pt x="0" y="878893"/>
                  </a:lnTo>
                  <a:lnTo>
                    <a:pt x="0" y="831621"/>
                  </a:lnTo>
                  <a:lnTo>
                    <a:pt x="18908" y="831621"/>
                  </a:lnTo>
                  <a:lnTo>
                    <a:pt x="18908" y="878893"/>
                  </a:lnTo>
                  <a:close/>
                </a:path>
                <a:path w="2855595" h="2099310">
                  <a:moveTo>
                    <a:pt x="18908" y="803258"/>
                  </a:moveTo>
                  <a:lnTo>
                    <a:pt x="0" y="803258"/>
                  </a:lnTo>
                  <a:lnTo>
                    <a:pt x="0" y="755986"/>
                  </a:lnTo>
                  <a:lnTo>
                    <a:pt x="18908" y="755986"/>
                  </a:lnTo>
                  <a:lnTo>
                    <a:pt x="18908" y="803258"/>
                  </a:lnTo>
                  <a:close/>
                </a:path>
                <a:path w="2855595" h="2099310">
                  <a:moveTo>
                    <a:pt x="18908" y="727622"/>
                  </a:moveTo>
                  <a:lnTo>
                    <a:pt x="0" y="727622"/>
                  </a:lnTo>
                  <a:lnTo>
                    <a:pt x="0" y="680350"/>
                  </a:lnTo>
                  <a:lnTo>
                    <a:pt x="18908" y="680350"/>
                  </a:lnTo>
                  <a:lnTo>
                    <a:pt x="18908" y="727622"/>
                  </a:lnTo>
                  <a:close/>
                </a:path>
                <a:path w="2855595" h="2099310">
                  <a:moveTo>
                    <a:pt x="18908" y="651987"/>
                  </a:moveTo>
                  <a:lnTo>
                    <a:pt x="0" y="651987"/>
                  </a:lnTo>
                  <a:lnTo>
                    <a:pt x="0" y="604715"/>
                  </a:lnTo>
                  <a:lnTo>
                    <a:pt x="18908" y="604715"/>
                  </a:lnTo>
                  <a:lnTo>
                    <a:pt x="18908" y="651987"/>
                  </a:lnTo>
                  <a:close/>
                </a:path>
                <a:path w="2855595" h="2099310">
                  <a:moveTo>
                    <a:pt x="18908" y="576351"/>
                  </a:moveTo>
                  <a:lnTo>
                    <a:pt x="0" y="576351"/>
                  </a:lnTo>
                  <a:lnTo>
                    <a:pt x="0" y="529079"/>
                  </a:lnTo>
                  <a:lnTo>
                    <a:pt x="18908" y="529079"/>
                  </a:lnTo>
                  <a:lnTo>
                    <a:pt x="18908" y="576351"/>
                  </a:lnTo>
                  <a:close/>
                </a:path>
                <a:path w="2855595" h="2099310">
                  <a:moveTo>
                    <a:pt x="18908" y="500716"/>
                  </a:moveTo>
                  <a:lnTo>
                    <a:pt x="0" y="500716"/>
                  </a:lnTo>
                  <a:lnTo>
                    <a:pt x="0" y="453443"/>
                  </a:lnTo>
                  <a:lnTo>
                    <a:pt x="18908" y="453443"/>
                  </a:lnTo>
                  <a:lnTo>
                    <a:pt x="18908" y="500716"/>
                  </a:lnTo>
                  <a:close/>
                </a:path>
                <a:path w="2855595" h="2099310">
                  <a:moveTo>
                    <a:pt x="18908" y="425080"/>
                  </a:moveTo>
                  <a:lnTo>
                    <a:pt x="0" y="425080"/>
                  </a:lnTo>
                  <a:lnTo>
                    <a:pt x="0" y="377808"/>
                  </a:lnTo>
                  <a:lnTo>
                    <a:pt x="18908" y="377808"/>
                  </a:lnTo>
                  <a:lnTo>
                    <a:pt x="18908" y="425080"/>
                  </a:lnTo>
                  <a:close/>
                </a:path>
                <a:path w="2855595" h="2099310">
                  <a:moveTo>
                    <a:pt x="18908" y="349445"/>
                  </a:moveTo>
                  <a:lnTo>
                    <a:pt x="0" y="349445"/>
                  </a:lnTo>
                  <a:lnTo>
                    <a:pt x="0" y="302172"/>
                  </a:lnTo>
                  <a:lnTo>
                    <a:pt x="18908" y="302172"/>
                  </a:lnTo>
                  <a:lnTo>
                    <a:pt x="18908" y="349445"/>
                  </a:lnTo>
                  <a:close/>
                </a:path>
                <a:path w="2855595" h="2099310">
                  <a:moveTo>
                    <a:pt x="18908" y="273809"/>
                  </a:moveTo>
                  <a:lnTo>
                    <a:pt x="0" y="273809"/>
                  </a:lnTo>
                  <a:lnTo>
                    <a:pt x="0" y="226537"/>
                  </a:lnTo>
                  <a:lnTo>
                    <a:pt x="18908" y="226537"/>
                  </a:lnTo>
                  <a:lnTo>
                    <a:pt x="18908" y="273809"/>
                  </a:lnTo>
                  <a:close/>
                </a:path>
                <a:path w="2855595" h="2099310">
                  <a:moveTo>
                    <a:pt x="18908" y="198174"/>
                  </a:moveTo>
                  <a:lnTo>
                    <a:pt x="0" y="198174"/>
                  </a:lnTo>
                  <a:lnTo>
                    <a:pt x="0" y="150901"/>
                  </a:lnTo>
                  <a:lnTo>
                    <a:pt x="18908" y="150901"/>
                  </a:lnTo>
                  <a:lnTo>
                    <a:pt x="18908" y="198174"/>
                  </a:lnTo>
                  <a:close/>
                </a:path>
                <a:path w="2855595" h="2099310">
                  <a:moveTo>
                    <a:pt x="18908" y="122538"/>
                  </a:moveTo>
                  <a:lnTo>
                    <a:pt x="0" y="122538"/>
                  </a:lnTo>
                  <a:lnTo>
                    <a:pt x="0" y="75266"/>
                  </a:lnTo>
                  <a:lnTo>
                    <a:pt x="18908" y="75266"/>
                  </a:lnTo>
                  <a:lnTo>
                    <a:pt x="18908" y="122538"/>
                  </a:lnTo>
                  <a:close/>
                </a:path>
                <a:path w="2855595" h="2099310">
                  <a:moveTo>
                    <a:pt x="19657" y="49239"/>
                  </a:moveTo>
                  <a:lnTo>
                    <a:pt x="1122" y="45496"/>
                  </a:lnTo>
                  <a:lnTo>
                    <a:pt x="5955" y="30664"/>
                  </a:lnTo>
                  <a:lnTo>
                    <a:pt x="13901" y="18603"/>
                  </a:lnTo>
                  <a:lnTo>
                    <a:pt x="24960" y="9314"/>
                  </a:lnTo>
                  <a:lnTo>
                    <a:pt x="39133" y="2796"/>
                  </a:lnTo>
                  <a:lnTo>
                    <a:pt x="44998" y="20773"/>
                  </a:lnTo>
                  <a:lnTo>
                    <a:pt x="35549" y="25118"/>
                  </a:lnTo>
                  <a:lnTo>
                    <a:pt x="28176" y="31311"/>
                  </a:lnTo>
                  <a:lnTo>
                    <a:pt x="22878" y="39351"/>
                  </a:lnTo>
                  <a:lnTo>
                    <a:pt x="19657" y="49239"/>
                  </a:lnTo>
                  <a:close/>
                </a:path>
                <a:path w="2855595" h="2099310">
                  <a:moveTo>
                    <a:pt x="103998" y="18908"/>
                  </a:moveTo>
                  <a:lnTo>
                    <a:pt x="56726" y="18908"/>
                  </a:lnTo>
                  <a:lnTo>
                    <a:pt x="56726" y="0"/>
                  </a:lnTo>
                  <a:lnTo>
                    <a:pt x="103998" y="0"/>
                  </a:lnTo>
                  <a:lnTo>
                    <a:pt x="103998" y="18908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8962671" y="4387496"/>
              <a:ext cx="1134745" cy="567690"/>
            </a:xfrm>
            <a:custGeom>
              <a:avLst/>
              <a:gdLst/>
              <a:ahLst/>
              <a:cxnLst/>
              <a:rect l="l" t="t" r="r" b="b"/>
              <a:pathLst>
                <a:path w="1134745" h="567689">
                  <a:moveTo>
                    <a:pt x="1101730" y="567266"/>
                  </a:moveTo>
                  <a:lnTo>
                    <a:pt x="32802" y="567266"/>
                  </a:lnTo>
                  <a:lnTo>
                    <a:pt x="27978" y="566306"/>
                  </a:lnTo>
                  <a:lnTo>
                    <a:pt x="959" y="539287"/>
                  </a:lnTo>
                  <a:lnTo>
                    <a:pt x="0" y="534463"/>
                  </a:lnTo>
                  <a:lnTo>
                    <a:pt x="0" y="32802"/>
                  </a:lnTo>
                  <a:lnTo>
                    <a:pt x="27978" y="959"/>
                  </a:lnTo>
                  <a:lnTo>
                    <a:pt x="32802" y="0"/>
                  </a:lnTo>
                  <a:lnTo>
                    <a:pt x="37817" y="0"/>
                  </a:lnTo>
                  <a:lnTo>
                    <a:pt x="1101730" y="0"/>
                  </a:lnTo>
                  <a:lnTo>
                    <a:pt x="1133573" y="27978"/>
                  </a:lnTo>
                  <a:lnTo>
                    <a:pt x="1134533" y="32802"/>
                  </a:lnTo>
                  <a:lnTo>
                    <a:pt x="1134533" y="534463"/>
                  </a:lnTo>
                  <a:lnTo>
                    <a:pt x="1106554" y="566306"/>
                  </a:lnTo>
                  <a:lnTo>
                    <a:pt x="1101730" y="567266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8962671" y="4387496"/>
              <a:ext cx="1134745" cy="567690"/>
            </a:xfrm>
            <a:custGeom>
              <a:avLst/>
              <a:gdLst/>
              <a:ahLst/>
              <a:cxnLst/>
              <a:rect l="l" t="t" r="r" b="b"/>
              <a:pathLst>
                <a:path w="1134745" h="567689">
                  <a:moveTo>
                    <a:pt x="37817" y="0"/>
                  </a:moveTo>
                  <a:lnTo>
                    <a:pt x="1096715" y="0"/>
                  </a:lnTo>
                  <a:lnTo>
                    <a:pt x="1101730" y="0"/>
                  </a:lnTo>
                  <a:lnTo>
                    <a:pt x="1106554" y="959"/>
                  </a:lnTo>
                  <a:lnTo>
                    <a:pt x="1111187" y="2878"/>
                  </a:lnTo>
                  <a:lnTo>
                    <a:pt x="1115820" y="4797"/>
                  </a:lnTo>
                  <a:lnTo>
                    <a:pt x="1119910" y="7530"/>
                  </a:lnTo>
                  <a:lnTo>
                    <a:pt x="1134533" y="37817"/>
                  </a:lnTo>
                  <a:lnTo>
                    <a:pt x="1134533" y="529448"/>
                  </a:lnTo>
                  <a:lnTo>
                    <a:pt x="1134533" y="534463"/>
                  </a:lnTo>
                  <a:lnTo>
                    <a:pt x="1133573" y="539287"/>
                  </a:lnTo>
                  <a:lnTo>
                    <a:pt x="1131654" y="543920"/>
                  </a:lnTo>
                  <a:lnTo>
                    <a:pt x="1129735" y="548554"/>
                  </a:lnTo>
                  <a:lnTo>
                    <a:pt x="1111187" y="564387"/>
                  </a:lnTo>
                  <a:lnTo>
                    <a:pt x="1106554" y="566306"/>
                  </a:lnTo>
                  <a:lnTo>
                    <a:pt x="1101730" y="567266"/>
                  </a:lnTo>
                  <a:lnTo>
                    <a:pt x="1096715" y="567266"/>
                  </a:lnTo>
                  <a:lnTo>
                    <a:pt x="37817" y="567266"/>
                  </a:lnTo>
                  <a:lnTo>
                    <a:pt x="32802" y="567266"/>
                  </a:lnTo>
                  <a:lnTo>
                    <a:pt x="27978" y="566306"/>
                  </a:lnTo>
                  <a:lnTo>
                    <a:pt x="23345" y="564387"/>
                  </a:lnTo>
                  <a:lnTo>
                    <a:pt x="18712" y="562468"/>
                  </a:lnTo>
                  <a:lnTo>
                    <a:pt x="0" y="534463"/>
                  </a:lnTo>
                  <a:lnTo>
                    <a:pt x="0" y="529448"/>
                  </a:lnTo>
                  <a:lnTo>
                    <a:pt x="0" y="37817"/>
                  </a:lnTo>
                  <a:lnTo>
                    <a:pt x="11076" y="11076"/>
                  </a:lnTo>
                  <a:lnTo>
                    <a:pt x="14622" y="7530"/>
                  </a:lnTo>
                  <a:lnTo>
                    <a:pt x="18712" y="4797"/>
                  </a:lnTo>
                  <a:lnTo>
                    <a:pt x="23345" y="2878"/>
                  </a:lnTo>
                  <a:lnTo>
                    <a:pt x="27978" y="959"/>
                  </a:lnTo>
                  <a:lnTo>
                    <a:pt x="32802" y="0"/>
                  </a:lnTo>
                  <a:lnTo>
                    <a:pt x="37817" y="0"/>
                  </a:lnTo>
                </a:path>
              </a:pathLst>
            </a:custGeom>
            <a:ln w="9454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123946" y="4447321"/>
            <a:ext cx="812165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300" marR="5080" indent="-102235">
              <a:lnSpc>
                <a:spcPct val="124000"/>
              </a:lnSpc>
              <a:spcBef>
                <a:spcPts val="100"/>
              </a:spcBef>
            </a:pPr>
            <a:r>
              <a:rPr dirty="0" sz="1000" spc="-75" b="1">
                <a:solidFill>
                  <a:srgbClr val="1D40AF"/>
                </a:solidFill>
                <a:latin typeface="Roboto"/>
                <a:cs typeface="Roboto"/>
              </a:rPr>
              <a:t>PSO-</a:t>
            </a:r>
            <a:r>
              <a:rPr dirty="0" sz="1000" spc="-60" b="1">
                <a:solidFill>
                  <a:srgbClr val="1D40AF"/>
                </a:solidFill>
                <a:latin typeface="Roboto"/>
                <a:cs typeface="Roboto"/>
              </a:rPr>
              <a:t>Optimized</a:t>
            </a:r>
            <a:r>
              <a:rPr dirty="0" sz="1000" spc="50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00" spc="-70" b="1">
                <a:solidFill>
                  <a:srgbClr val="1D40AF"/>
                </a:solidFill>
                <a:latin typeface="Roboto"/>
                <a:cs typeface="Roboto"/>
              </a:rPr>
              <a:t>PID</a:t>
            </a:r>
            <a:r>
              <a:rPr dirty="0" sz="1000" spc="-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00" spc="-10" b="1">
                <a:solidFill>
                  <a:srgbClr val="1D40AF"/>
                </a:solidFill>
                <a:latin typeface="Roboto"/>
                <a:cs typeface="Roboto"/>
              </a:rPr>
              <a:t>Control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0281531" y="4382734"/>
            <a:ext cx="1144270" cy="577215"/>
            <a:chOff x="10281531" y="4382734"/>
            <a:chExt cx="1144270" cy="577215"/>
          </a:xfrm>
        </p:grpSpPr>
        <p:sp>
          <p:nvSpPr>
            <p:cNvPr id="12" name="object 12" descr=""/>
            <p:cNvSpPr/>
            <p:nvPr/>
          </p:nvSpPr>
          <p:spPr>
            <a:xfrm>
              <a:off x="10286293" y="4387496"/>
              <a:ext cx="1134745" cy="567690"/>
            </a:xfrm>
            <a:custGeom>
              <a:avLst/>
              <a:gdLst/>
              <a:ahLst/>
              <a:cxnLst/>
              <a:rect l="l" t="t" r="r" b="b"/>
              <a:pathLst>
                <a:path w="1134745" h="567689">
                  <a:moveTo>
                    <a:pt x="1101730" y="567266"/>
                  </a:moveTo>
                  <a:lnTo>
                    <a:pt x="32802" y="567266"/>
                  </a:lnTo>
                  <a:lnTo>
                    <a:pt x="27978" y="566306"/>
                  </a:lnTo>
                  <a:lnTo>
                    <a:pt x="959" y="539287"/>
                  </a:lnTo>
                  <a:lnTo>
                    <a:pt x="0" y="534463"/>
                  </a:lnTo>
                  <a:lnTo>
                    <a:pt x="0" y="32802"/>
                  </a:lnTo>
                  <a:lnTo>
                    <a:pt x="27978" y="959"/>
                  </a:lnTo>
                  <a:lnTo>
                    <a:pt x="32802" y="0"/>
                  </a:lnTo>
                  <a:lnTo>
                    <a:pt x="37817" y="0"/>
                  </a:lnTo>
                  <a:lnTo>
                    <a:pt x="1101730" y="0"/>
                  </a:lnTo>
                  <a:lnTo>
                    <a:pt x="1133573" y="27978"/>
                  </a:lnTo>
                  <a:lnTo>
                    <a:pt x="1134532" y="32802"/>
                  </a:lnTo>
                  <a:lnTo>
                    <a:pt x="1134532" y="534463"/>
                  </a:lnTo>
                  <a:lnTo>
                    <a:pt x="1106553" y="566306"/>
                  </a:lnTo>
                  <a:lnTo>
                    <a:pt x="1101730" y="567266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0286293" y="4387496"/>
              <a:ext cx="1134745" cy="567690"/>
            </a:xfrm>
            <a:custGeom>
              <a:avLst/>
              <a:gdLst/>
              <a:ahLst/>
              <a:cxnLst/>
              <a:rect l="l" t="t" r="r" b="b"/>
              <a:pathLst>
                <a:path w="1134745" h="567689">
                  <a:moveTo>
                    <a:pt x="37817" y="0"/>
                  </a:moveTo>
                  <a:lnTo>
                    <a:pt x="1096715" y="0"/>
                  </a:lnTo>
                  <a:lnTo>
                    <a:pt x="1101730" y="0"/>
                  </a:lnTo>
                  <a:lnTo>
                    <a:pt x="1106553" y="959"/>
                  </a:lnTo>
                  <a:lnTo>
                    <a:pt x="1133573" y="27978"/>
                  </a:lnTo>
                  <a:lnTo>
                    <a:pt x="1134533" y="37817"/>
                  </a:lnTo>
                  <a:lnTo>
                    <a:pt x="1134533" y="529448"/>
                  </a:lnTo>
                  <a:lnTo>
                    <a:pt x="1111187" y="564387"/>
                  </a:lnTo>
                  <a:lnTo>
                    <a:pt x="1096715" y="567266"/>
                  </a:lnTo>
                  <a:lnTo>
                    <a:pt x="37817" y="567266"/>
                  </a:lnTo>
                  <a:lnTo>
                    <a:pt x="32802" y="567266"/>
                  </a:lnTo>
                  <a:lnTo>
                    <a:pt x="27978" y="566306"/>
                  </a:lnTo>
                  <a:lnTo>
                    <a:pt x="23345" y="564387"/>
                  </a:lnTo>
                  <a:lnTo>
                    <a:pt x="18712" y="562468"/>
                  </a:lnTo>
                  <a:lnTo>
                    <a:pt x="14622" y="559735"/>
                  </a:lnTo>
                  <a:lnTo>
                    <a:pt x="11076" y="556189"/>
                  </a:lnTo>
                  <a:lnTo>
                    <a:pt x="7530" y="552643"/>
                  </a:lnTo>
                  <a:lnTo>
                    <a:pt x="4797" y="548554"/>
                  </a:lnTo>
                  <a:lnTo>
                    <a:pt x="2878" y="543920"/>
                  </a:lnTo>
                  <a:lnTo>
                    <a:pt x="959" y="539287"/>
                  </a:lnTo>
                  <a:lnTo>
                    <a:pt x="0" y="534463"/>
                  </a:lnTo>
                  <a:lnTo>
                    <a:pt x="0" y="529448"/>
                  </a:lnTo>
                  <a:lnTo>
                    <a:pt x="0" y="37817"/>
                  </a:lnTo>
                  <a:lnTo>
                    <a:pt x="0" y="32802"/>
                  </a:lnTo>
                  <a:lnTo>
                    <a:pt x="959" y="27978"/>
                  </a:lnTo>
                  <a:lnTo>
                    <a:pt x="2878" y="23345"/>
                  </a:lnTo>
                  <a:lnTo>
                    <a:pt x="4797" y="18712"/>
                  </a:lnTo>
                  <a:lnTo>
                    <a:pt x="7530" y="14622"/>
                  </a:lnTo>
                  <a:lnTo>
                    <a:pt x="11076" y="11076"/>
                  </a:lnTo>
                  <a:lnTo>
                    <a:pt x="14622" y="7530"/>
                  </a:lnTo>
                  <a:lnTo>
                    <a:pt x="18712" y="4797"/>
                  </a:lnTo>
                  <a:lnTo>
                    <a:pt x="23345" y="2878"/>
                  </a:lnTo>
                  <a:lnTo>
                    <a:pt x="27978" y="959"/>
                  </a:lnTo>
                  <a:lnTo>
                    <a:pt x="32802" y="0"/>
                  </a:lnTo>
                  <a:lnTo>
                    <a:pt x="37817" y="0"/>
                  </a:lnTo>
                </a:path>
              </a:pathLst>
            </a:custGeom>
            <a:ln w="9454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10366810" y="4447321"/>
            <a:ext cx="973455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87960">
              <a:lnSpc>
                <a:spcPct val="124000"/>
              </a:lnSpc>
              <a:spcBef>
                <a:spcPts val="100"/>
              </a:spcBef>
            </a:pPr>
            <a:r>
              <a:rPr dirty="0" sz="1000" spc="-75" b="1">
                <a:solidFill>
                  <a:srgbClr val="1D40AF"/>
                </a:solidFill>
                <a:latin typeface="Roboto"/>
                <a:cs typeface="Roboto"/>
              </a:rPr>
              <a:t>Non-</a:t>
            </a:r>
            <a:r>
              <a:rPr dirty="0" sz="1000" spc="-10" b="1">
                <a:solidFill>
                  <a:srgbClr val="1D40AF"/>
                </a:solidFill>
                <a:latin typeface="Roboto"/>
                <a:cs typeface="Roboto"/>
              </a:rPr>
              <a:t>Linear </a:t>
            </a:r>
            <a:r>
              <a:rPr dirty="0" sz="1000" spc="-60" b="1">
                <a:solidFill>
                  <a:srgbClr val="1D40AF"/>
                </a:solidFill>
                <a:latin typeface="Roboto"/>
                <a:cs typeface="Roboto"/>
              </a:rPr>
              <a:t>Synergetic</a:t>
            </a:r>
            <a:r>
              <a:rPr dirty="0" sz="1000" spc="-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00" spc="-55" b="1">
                <a:solidFill>
                  <a:srgbClr val="1D40AF"/>
                </a:solidFill>
                <a:latin typeface="Roboto"/>
                <a:cs typeface="Roboto"/>
              </a:rPr>
              <a:t>Control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957909" y="5139090"/>
            <a:ext cx="1144270" cy="577215"/>
            <a:chOff x="8957909" y="5139090"/>
            <a:chExt cx="1144270" cy="577215"/>
          </a:xfrm>
        </p:grpSpPr>
        <p:sp>
          <p:nvSpPr>
            <p:cNvPr id="16" name="object 16" descr=""/>
            <p:cNvSpPr/>
            <p:nvPr/>
          </p:nvSpPr>
          <p:spPr>
            <a:xfrm>
              <a:off x="8962671" y="5143852"/>
              <a:ext cx="1134745" cy="567690"/>
            </a:xfrm>
            <a:custGeom>
              <a:avLst/>
              <a:gdLst/>
              <a:ahLst/>
              <a:cxnLst/>
              <a:rect l="l" t="t" r="r" b="b"/>
              <a:pathLst>
                <a:path w="1134745" h="567689">
                  <a:moveTo>
                    <a:pt x="1101730" y="567266"/>
                  </a:moveTo>
                  <a:lnTo>
                    <a:pt x="32802" y="567266"/>
                  </a:lnTo>
                  <a:lnTo>
                    <a:pt x="27978" y="566306"/>
                  </a:lnTo>
                  <a:lnTo>
                    <a:pt x="959" y="539287"/>
                  </a:lnTo>
                  <a:lnTo>
                    <a:pt x="0" y="534463"/>
                  </a:lnTo>
                  <a:lnTo>
                    <a:pt x="0" y="32802"/>
                  </a:lnTo>
                  <a:lnTo>
                    <a:pt x="27978" y="959"/>
                  </a:lnTo>
                  <a:lnTo>
                    <a:pt x="32802" y="0"/>
                  </a:lnTo>
                  <a:lnTo>
                    <a:pt x="37817" y="0"/>
                  </a:lnTo>
                  <a:lnTo>
                    <a:pt x="1101730" y="0"/>
                  </a:lnTo>
                  <a:lnTo>
                    <a:pt x="1133573" y="27978"/>
                  </a:lnTo>
                  <a:lnTo>
                    <a:pt x="1134533" y="32802"/>
                  </a:lnTo>
                  <a:lnTo>
                    <a:pt x="1134533" y="534463"/>
                  </a:lnTo>
                  <a:lnTo>
                    <a:pt x="1106554" y="566306"/>
                  </a:lnTo>
                  <a:lnTo>
                    <a:pt x="1101730" y="567266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962671" y="5143852"/>
              <a:ext cx="1134745" cy="567690"/>
            </a:xfrm>
            <a:custGeom>
              <a:avLst/>
              <a:gdLst/>
              <a:ahLst/>
              <a:cxnLst/>
              <a:rect l="l" t="t" r="r" b="b"/>
              <a:pathLst>
                <a:path w="1134745" h="567689">
                  <a:moveTo>
                    <a:pt x="37817" y="0"/>
                  </a:moveTo>
                  <a:lnTo>
                    <a:pt x="1096715" y="0"/>
                  </a:lnTo>
                  <a:lnTo>
                    <a:pt x="1101730" y="0"/>
                  </a:lnTo>
                  <a:lnTo>
                    <a:pt x="1106554" y="959"/>
                  </a:lnTo>
                  <a:lnTo>
                    <a:pt x="1111187" y="2878"/>
                  </a:lnTo>
                  <a:lnTo>
                    <a:pt x="1115820" y="4797"/>
                  </a:lnTo>
                  <a:lnTo>
                    <a:pt x="1119910" y="7530"/>
                  </a:lnTo>
                  <a:lnTo>
                    <a:pt x="1123456" y="11076"/>
                  </a:lnTo>
                  <a:lnTo>
                    <a:pt x="1127002" y="14622"/>
                  </a:lnTo>
                  <a:lnTo>
                    <a:pt x="1129735" y="18712"/>
                  </a:lnTo>
                  <a:lnTo>
                    <a:pt x="1131654" y="23345"/>
                  </a:lnTo>
                  <a:lnTo>
                    <a:pt x="1133573" y="27978"/>
                  </a:lnTo>
                  <a:lnTo>
                    <a:pt x="1134533" y="32802"/>
                  </a:lnTo>
                  <a:lnTo>
                    <a:pt x="1134533" y="37817"/>
                  </a:lnTo>
                  <a:lnTo>
                    <a:pt x="1134533" y="529448"/>
                  </a:lnTo>
                  <a:lnTo>
                    <a:pt x="1111187" y="564387"/>
                  </a:lnTo>
                  <a:lnTo>
                    <a:pt x="1096715" y="567266"/>
                  </a:lnTo>
                  <a:lnTo>
                    <a:pt x="37817" y="567266"/>
                  </a:lnTo>
                  <a:lnTo>
                    <a:pt x="11076" y="556189"/>
                  </a:lnTo>
                  <a:lnTo>
                    <a:pt x="7530" y="552643"/>
                  </a:lnTo>
                  <a:lnTo>
                    <a:pt x="4797" y="548554"/>
                  </a:lnTo>
                  <a:lnTo>
                    <a:pt x="2878" y="543920"/>
                  </a:lnTo>
                  <a:lnTo>
                    <a:pt x="959" y="539287"/>
                  </a:lnTo>
                  <a:lnTo>
                    <a:pt x="0" y="534463"/>
                  </a:lnTo>
                  <a:lnTo>
                    <a:pt x="0" y="529448"/>
                  </a:lnTo>
                  <a:lnTo>
                    <a:pt x="0" y="37817"/>
                  </a:lnTo>
                  <a:lnTo>
                    <a:pt x="0" y="32802"/>
                  </a:lnTo>
                  <a:lnTo>
                    <a:pt x="959" y="27978"/>
                  </a:lnTo>
                  <a:lnTo>
                    <a:pt x="2878" y="23345"/>
                  </a:lnTo>
                  <a:lnTo>
                    <a:pt x="4797" y="18712"/>
                  </a:lnTo>
                  <a:lnTo>
                    <a:pt x="7530" y="14622"/>
                  </a:lnTo>
                  <a:lnTo>
                    <a:pt x="11076" y="11076"/>
                  </a:lnTo>
                  <a:lnTo>
                    <a:pt x="14622" y="7530"/>
                  </a:lnTo>
                  <a:lnTo>
                    <a:pt x="18712" y="4797"/>
                  </a:lnTo>
                  <a:lnTo>
                    <a:pt x="23345" y="2878"/>
                  </a:lnTo>
                  <a:lnTo>
                    <a:pt x="27978" y="959"/>
                  </a:lnTo>
                  <a:lnTo>
                    <a:pt x="32802" y="0"/>
                  </a:lnTo>
                  <a:lnTo>
                    <a:pt x="37817" y="0"/>
                  </a:lnTo>
                </a:path>
              </a:pathLst>
            </a:custGeom>
            <a:ln w="9454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8981667" y="5203516"/>
            <a:ext cx="1096645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7655">
              <a:lnSpc>
                <a:spcPct val="124100"/>
              </a:lnSpc>
              <a:spcBef>
                <a:spcPts val="100"/>
              </a:spcBef>
            </a:pPr>
            <a:r>
              <a:rPr dirty="0" sz="1000" spc="-70" b="1">
                <a:solidFill>
                  <a:srgbClr val="1D40AF"/>
                </a:solidFill>
                <a:latin typeface="Roboto"/>
                <a:cs typeface="Roboto"/>
              </a:rPr>
              <a:t>RL-</a:t>
            </a:r>
            <a:r>
              <a:rPr dirty="0" sz="1000" spc="-10" b="1">
                <a:solidFill>
                  <a:srgbClr val="1D40AF"/>
                </a:solidFill>
                <a:latin typeface="Roboto"/>
                <a:cs typeface="Roboto"/>
              </a:rPr>
              <a:t>Based </a:t>
            </a:r>
            <a:r>
              <a:rPr dirty="0" sz="1000" spc="-55" b="1">
                <a:solidFill>
                  <a:srgbClr val="1D40AF"/>
                </a:solidFill>
                <a:latin typeface="Roboto"/>
                <a:cs typeface="Roboto"/>
              </a:rPr>
              <a:t>Sliding</a:t>
            </a:r>
            <a:r>
              <a:rPr dirty="0" sz="1000" spc="-1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00" spc="-85" b="1">
                <a:solidFill>
                  <a:srgbClr val="1D40AF"/>
                </a:solidFill>
                <a:latin typeface="Roboto"/>
                <a:cs typeface="Roboto"/>
              </a:rPr>
              <a:t>Mode</a:t>
            </a:r>
            <a:r>
              <a:rPr dirty="0" sz="1000" spc="-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00" spc="-50" b="1">
                <a:solidFill>
                  <a:srgbClr val="1D40AF"/>
                </a:solidFill>
                <a:latin typeface="Roboto"/>
                <a:cs typeface="Roboto"/>
              </a:rPr>
              <a:t>Control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0281531" y="5139090"/>
            <a:ext cx="1144270" cy="577215"/>
            <a:chOff x="10281531" y="5139090"/>
            <a:chExt cx="1144270" cy="577215"/>
          </a:xfrm>
        </p:grpSpPr>
        <p:sp>
          <p:nvSpPr>
            <p:cNvPr id="20" name="object 20" descr=""/>
            <p:cNvSpPr/>
            <p:nvPr/>
          </p:nvSpPr>
          <p:spPr>
            <a:xfrm>
              <a:off x="10286293" y="5143852"/>
              <a:ext cx="1134745" cy="567690"/>
            </a:xfrm>
            <a:custGeom>
              <a:avLst/>
              <a:gdLst/>
              <a:ahLst/>
              <a:cxnLst/>
              <a:rect l="l" t="t" r="r" b="b"/>
              <a:pathLst>
                <a:path w="1134745" h="567689">
                  <a:moveTo>
                    <a:pt x="1101730" y="567266"/>
                  </a:moveTo>
                  <a:lnTo>
                    <a:pt x="32802" y="567266"/>
                  </a:lnTo>
                  <a:lnTo>
                    <a:pt x="27978" y="566306"/>
                  </a:lnTo>
                  <a:lnTo>
                    <a:pt x="959" y="539287"/>
                  </a:lnTo>
                  <a:lnTo>
                    <a:pt x="0" y="534463"/>
                  </a:lnTo>
                  <a:lnTo>
                    <a:pt x="0" y="32802"/>
                  </a:lnTo>
                  <a:lnTo>
                    <a:pt x="27978" y="959"/>
                  </a:lnTo>
                  <a:lnTo>
                    <a:pt x="32802" y="0"/>
                  </a:lnTo>
                  <a:lnTo>
                    <a:pt x="37817" y="0"/>
                  </a:lnTo>
                  <a:lnTo>
                    <a:pt x="1101730" y="0"/>
                  </a:lnTo>
                  <a:lnTo>
                    <a:pt x="1133573" y="27978"/>
                  </a:lnTo>
                  <a:lnTo>
                    <a:pt x="1134532" y="32802"/>
                  </a:lnTo>
                  <a:lnTo>
                    <a:pt x="1134532" y="534463"/>
                  </a:lnTo>
                  <a:lnTo>
                    <a:pt x="1106553" y="566306"/>
                  </a:lnTo>
                  <a:lnTo>
                    <a:pt x="1101730" y="567266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0286293" y="5143852"/>
              <a:ext cx="1134745" cy="567690"/>
            </a:xfrm>
            <a:custGeom>
              <a:avLst/>
              <a:gdLst/>
              <a:ahLst/>
              <a:cxnLst/>
              <a:rect l="l" t="t" r="r" b="b"/>
              <a:pathLst>
                <a:path w="1134745" h="567689">
                  <a:moveTo>
                    <a:pt x="37817" y="0"/>
                  </a:moveTo>
                  <a:lnTo>
                    <a:pt x="1096715" y="0"/>
                  </a:lnTo>
                  <a:lnTo>
                    <a:pt x="1101730" y="0"/>
                  </a:lnTo>
                  <a:lnTo>
                    <a:pt x="1106553" y="959"/>
                  </a:lnTo>
                  <a:lnTo>
                    <a:pt x="1133573" y="27978"/>
                  </a:lnTo>
                  <a:lnTo>
                    <a:pt x="1134533" y="37817"/>
                  </a:lnTo>
                  <a:lnTo>
                    <a:pt x="1134533" y="529448"/>
                  </a:lnTo>
                  <a:lnTo>
                    <a:pt x="1111187" y="564387"/>
                  </a:lnTo>
                  <a:lnTo>
                    <a:pt x="1096715" y="567266"/>
                  </a:lnTo>
                  <a:lnTo>
                    <a:pt x="37817" y="567266"/>
                  </a:lnTo>
                  <a:lnTo>
                    <a:pt x="11076" y="556189"/>
                  </a:lnTo>
                  <a:lnTo>
                    <a:pt x="7530" y="552643"/>
                  </a:lnTo>
                  <a:lnTo>
                    <a:pt x="4797" y="548554"/>
                  </a:lnTo>
                  <a:lnTo>
                    <a:pt x="2878" y="543920"/>
                  </a:lnTo>
                  <a:lnTo>
                    <a:pt x="959" y="539287"/>
                  </a:lnTo>
                  <a:lnTo>
                    <a:pt x="0" y="534463"/>
                  </a:lnTo>
                  <a:lnTo>
                    <a:pt x="0" y="529448"/>
                  </a:lnTo>
                  <a:lnTo>
                    <a:pt x="0" y="37817"/>
                  </a:lnTo>
                  <a:lnTo>
                    <a:pt x="0" y="32802"/>
                  </a:lnTo>
                  <a:lnTo>
                    <a:pt x="959" y="27978"/>
                  </a:lnTo>
                  <a:lnTo>
                    <a:pt x="2878" y="23345"/>
                  </a:lnTo>
                  <a:lnTo>
                    <a:pt x="4797" y="18712"/>
                  </a:lnTo>
                  <a:lnTo>
                    <a:pt x="7530" y="14622"/>
                  </a:lnTo>
                  <a:lnTo>
                    <a:pt x="11076" y="11076"/>
                  </a:lnTo>
                  <a:lnTo>
                    <a:pt x="14622" y="7530"/>
                  </a:lnTo>
                  <a:lnTo>
                    <a:pt x="18712" y="4797"/>
                  </a:lnTo>
                  <a:lnTo>
                    <a:pt x="23345" y="2878"/>
                  </a:lnTo>
                  <a:lnTo>
                    <a:pt x="27978" y="959"/>
                  </a:lnTo>
                  <a:lnTo>
                    <a:pt x="32802" y="0"/>
                  </a:lnTo>
                  <a:lnTo>
                    <a:pt x="37817" y="0"/>
                  </a:lnTo>
                </a:path>
              </a:pathLst>
            </a:custGeom>
            <a:ln w="9454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10539302" y="5203516"/>
            <a:ext cx="628650" cy="403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0" marR="5080" indent="-178435">
              <a:lnSpc>
                <a:spcPct val="124100"/>
              </a:lnSpc>
              <a:spcBef>
                <a:spcPts val="100"/>
              </a:spcBef>
            </a:pPr>
            <a:r>
              <a:rPr dirty="0" sz="1000" spc="-65" b="1">
                <a:solidFill>
                  <a:srgbClr val="1D40AF"/>
                </a:solidFill>
                <a:latin typeface="Roboto"/>
                <a:cs typeface="Roboto"/>
              </a:rPr>
              <a:t>Auto-</a:t>
            </a:r>
            <a:r>
              <a:rPr dirty="0" sz="1000" spc="-75" b="1">
                <a:solidFill>
                  <a:srgbClr val="1D40AF"/>
                </a:solidFill>
                <a:latin typeface="Roboto"/>
                <a:cs typeface="Roboto"/>
              </a:rPr>
              <a:t>Tuned</a:t>
            </a:r>
            <a:r>
              <a:rPr dirty="0" sz="1000" spc="-25" b="1">
                <a:solidFill>
                  <a:srgbClr val="1D40AF"/>
                </a:solidFill>
                <a:latin typeface="Roboto"/>
                <a:cs typeface="Roboto"/>
              </a:rPr>
              <a:t> MPC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8957909" y="5895445"/>
            <a:ext cx="2468245" cy="293370"/>
            <a:chOff x="8957909" y="5895445"/>
            <a:chExt cx="2468245" cy="293370"/>
          </a:xfrm>
        </p:grpSpPr>
        <p:sp>
          <p:nvSpPr>
            <p:cNvPr id="24" name="object 24" descr=""/>
            <p:cNvSpPr/>
            <p:nvPr/>
          </p:nvSpPr>
          <p:spPr>
            <a:xfrm>
              <a:off x="8962671" y="5900208"/>
              <a:ext cx="2458720" cy="283845"/>
            </a:xfrm>
            <a:custGeom>
              <a:avLst/>
              <a:gdLst/>
              <a:ahLst/>
              <a:cxnLst/>
              <a:rect l="l" t="t" r="r" b="b"/>
              <a:pathLst>
                <a:path w="2458720" h="283845">
                  <a:moveTo>
                    <a:pt x="2425352" y="283633"/>
                  </a:moveTo>
                  <a:lnTo>
                    <a:pt x="32802" y="283633"/>
                  </a:lnTo>
                  <a:lnTo>
                    <a:pt x="27978" y="282673"/>
                  </a:lnTo>
                  <a:lnTo>
                    <a:pt x="959" y="255654"/>
                  </a:lnTo>
                  <a:lnTo>
                    <a:pt x="0" y="250830"/>
                  </a:lnTo>
                  <a:lnTo>
                    <a:pt x="0" y="32802"/>
                  </a:lnTo>
                  <a:lnTo>
                    <a:pt x="27978" y="959"/>
                  </a:lnTo>
                  <a:lnTo>
                    <a:pt x="32802" y="0"/>
                  </a:lnTo>
                  <a:lnTo>
                    <a:pt x="37817" y="0"/>
                  </a:lnTo>
                  <a:lnTo>
                    <a:pt x="2425352" y="0"/>
                  </a:lnTo>
                  <a:lnTo>
                    <a:pt x="2457195" y="27978"/>
                  </a:lnTo>
                  <a:lnTo>
                    <a:pt x="2458154" y="32802"/>
                  </a:lnTo>
                  <a:lnTo>
                    <a:pt x="2458154" y="250830"/>
                  </a:lnTo>
                  <a:lnTo>
                    <a:pt x="2430175" y="282673"/>
                  </a:lnTo>
                  <a:lnTo>
                    <a:pt x="2425352" y="283633"/>
                  </a:lnTo>
                  <a:close/>
                </a:path>
              </a:pathLst>
            </a:custGeom>
            <a:solidFill>
              <a:srgbClr val="BEDA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962671" y="5900208"/>
              <a:ext cx="2458720" cy="283845"/>
            </a:xfrm>
            <a:custGeom>
              <a:avLst/>
              <a:gdLst/>
              <a:ahLst/>
              <a:cxnLst/>
              <a:rect l="l" t="t" r="r" b="b"/>
              <a:pathLst>
                <a:path w="2458720" h="283845">
                  <a:moveTo>
                    <a:pt x="37817" y="0"/>
                  </a:moveTo>
                  <a:lnTo>
                    <a:pt x="2420337" y="0"/>
                  </a:lnTo>
                  <a:lnTo>
                    <a:pt x="2425352" y="0"/>
                  </a:lnTo>
                  <a:lnTo>
                    <a:pt x="2430175" y="959"/>
                  </a:lnTo>
                  <a:lnTo>
                    <a:pt x="2457195" y="27978"/>
                  </a:lnTo>
                  <a:lnTo>
                    <a:pt x="2458155" y="37817"/>
                  </a:lnTo>
                  <a:lnTo>
                    <a:pt x="2458155" y="245815"/>
                  </a:lnTo>
                  <a:lnTo>
                    <a:pt x="2434809" y="280754"/>
                  </a:lnTo>
                  <a:lnTo>
                    <a:pt x="2420337" y="283633"/>
                  </a:lnTo>
                  <a:lnTo>
                    <a:pt x="37817" y="283633"/>
                  </a:lnTo>
                  <a:lnTo>
                    <a:pt x="11076" y="272556"/>
                  </a:lnTo>
                  <a:lnTo>
                    <a:pt x="7530" y="269010"/>
                  </a:lnTo>
                  <a:lnTo>
                    <a:pt x="4797" y="264920"/>
                  </a:lnTo>
                  <a:lnTo>
                    <a:pt x="2878" y="260287"/>
                  </a:lnTo>
                  <a:lnTo>
                    <a:pt x="959" y="255654"/>
                  </a:lnTo>
                  <a:lnTo>
                    <a:pt x="0" y="250830"/>
                  </a:lnTo>
                  <a:lnTo>
                    <a:pt x="0" y="245815"/>
                  </a:lnTo>
                  <a:lnTo>
                    <a:pt x="0" y="37817"/>
                  </a:lnTo>
                  <a:lnTo>
                    <a:pt x="11076" y="11076"/>
                  </a:lnTo>
                  <a:lnTo>
                    <a:pt x="14622" y="7530"/>
                  </a:lnTo>
                  <a:lnTo>
                    <a:pt x="18712" y="4797"/>
                  </a:lnTo>
                  <a:lnTo>
                    <a:pt x="23345" y="2878"/>
                  </a:lnTo>
                  <a:lnTo>
                    <a:pt x="27978" y="959"/>
                  </a:lnTo>
                  <a:lnTo>
                    <a:pt x="32802" y="0"/>
                  </a:lnTo>
                  <a:lnTo>
                    <a:pt x="37817" y="0"/>
                  </a:lnTo>
                </a:path>
              </a:pathLst>
            </a:custGeom>
            <a:ln w="9454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9425026" y="5950248"/>
            <a:ext cx="1533525" cy="1771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" spc="-55" b="1">
                <a:solidFill>
                  <a:srgbClr val="1D40AF"/>
                </a:solidFill>
                <a:latin typeface="Roboto"/>
                <a:cs typeface="Roboto"/>
              </a:rPr>
              <a:t>Intelligent</a:t>
            </a:r>
            <a:r>
              <a:rPr dirty="0" sz="1000" spc="4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00" spc="-65" b="1">
                <a:solidFill>
                  <a:srgbClr val="1D40AF"/>
                </a:solidFill>
                <a:latin typeface="Roboto"/>
                <a:cs typeface="Roboto"/>
              </a:rPr>
              <a:t>Coordination</a:t>
            </a:r>
            <a:r>
              <a:rPr dirty="0" sz="1000" spc="4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00" spc="-20" b="1">
                <a:solidFill>
                  <a:srgbClr val="1D40AF"/>
                </a:solidFill>
                <a:latin typeface="Roboto"/>
                <a:cs typeface="Roboto"/>
              </a:rPr>
              <a:t>Layer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object 28" descr=""/>
            <p:cNvSpPr/>
            <p:nvPr/>
          </p:nvSpPr>
          <p:spPr>
            <a:xfrm>
              <a:off x="9520479" y="4661687"/>
              <a:ext cx="1343025" cy="1238885"/>
            </a:xfrm>
            <a:custGeom>
              <a:avLst/>
              <a:gdLst/>
              <a:ahLst/>
              <a:cxnLst/>
              <a:rect l="l" t="t" r="r" b="b"/>
              <a:pathLst>
                <a:path w="1343025" h="1238885">
                  <a:moveTo>
                    <a:pt x="18910" y="1049439"/>
                  </a:moveTo>
                  <a:lnTo>
                    <a:pt x="0" y="1049439"/>
                  </a:lnTo>
                  <a:lnTo>
                    <a:pt x="0" y="1238529"/>
                  </a:lnTo>
                  <a:lnTo>
                    <a:pt x="18910" y="1238529"/>
                  </a:lnTo>
                  <a:lnTo>
                    <a:pt x="18910" y="1049439"/>
                  </a:lnTo>
                  <a:close/>
                </a:path>
                <a:path w="1343025" h="1238885">
                  <a:moveTo>
                    <a:pt x="18910" y="293077"/>
                  </a:moveTo>
                  <a:lnTo>
                    <a:pt x="0" y="293077"/>
                  </a:lnTo>
                  <a:lnTo>
                    <a:pt x="0" y="482168"/>
                  </a:lnTo>
                  <a:lnTo>
                    <a:pt x="18910" y="482168"/>
                  </a:lnTo>
                  <a:lnTo>
                    <a:pt x="18910" y="293077"/>
                  </a:lnTo>
                  <a:close/>
                </a:path>
                <a:path w="1343025" h="1238885">
                  <a:moveTo>
                    <a:pt x="765810" y="756348"/>
                  </a:moveTo>
                  <a:lnTo>
                    <a:pt x="576719" y="756348"/>
                  </a:lnTo>
                  <a:lnTo>
                    <a:pt x="576719" y="775258"/>
                  </a:lnTo>
                  <a:lnTo>
                    <a:pt x="765810" y="775258"/>
                  </a:lnTo>
                  <a:lnTo>
                    <a:pt x="765810" y="756348"/>
                  </a:lnTo>
                  <a:close/>
                </a:path>
                <a:path w="1343025" h="1238885">
                  <a:moveTo>
                    <a:pt x="765810" y="0"/>
                  </a:moveTo>
                  <a:lnTo>
                    <a:pt x="576719" y="0"/>
                  </a:lnTo>
                  <a:lnTo>
                    <a:pt x="576719" y="18897"/>
                  </a:lnTo>
                  <a:lnTo>
                    <a:pt x="765810" y="18897"/>
                  </a:lnTo>
                  <a:lnTo>
                    <a:pt x="765810" y="0"/>
                  </a:lnTo>
                  <a:close/>
                </a:path>
                <a:path w="1343025" h="1238885">
                  <a:moveTo>
                    <a:pt x="1342529" y="1049439"/>
                  </a:moveTo>
                  <a:lnTo>
                    <a:pt x="1323619" y="1049439"/>
                  </a:lnTo>
                  <a:lnTo>
                    <a:pt x="1323619" y="1238529"/>
                  </a:lnTo>
                  <a:lnTo>
                    <a:pt x="1342529" y="1238529"/>
                  </a:lnTo>
                  <a:lnTo>
                    <a:pt x="1342529" y="1049439"/>
                  </a:lnTo>
                  <a:close/>
                </a:path>
                <a:path w="1343025" h="1238885">
                  <a:moveTo>
                    <a:pt x="1342529" y="293077"/>
                  </a:moveTo>
                  <a:lnTo>
                    <a:pt x="1323619" y="293077"/>
                  </a:lnTo>
                  <a:lnTo>
                    <a:pt x="1323619" y="482168"/>
                  </a:lnTo>
                  <a:lnTo>
                    <a:pt x="1342529" y="482168"/>
                  </a:lnTo>
                  <a:lnTo>
                    <a:pt x="1342529" y="293077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285737" y="1714499"/>
              <a:ext cx="1143000" cy="3810000"/>
            </a:xfrm>
            <a:custGeom>
              <a:avLst/>
              <a:gdLst/>
              <a:ahLst/>
              <a:cxnLst/>
              <a:rect l="l" t="t" r="r" b="b"/>
              <a:pathLst>
                <a:path w="1143000" h="3810000">
                  <a:moveTo>
                    <a:pt x="1143000" y="2857500"/>
                  </a:moveTo>
                  <a:lnTo>
                    <a:pt x="28575" y="2857500"/>
                  </a:lnTo>
                  <a:lnTo>
                    <a:pt x="28575" y="1933575"/>
                  </a:lnTo>
                  <a:lnTo>
                    <a:pt x="476250" y="1933575"/>
                  </a:lnTo>
                  <a:lnTo>
                    <a:pt x="476250" y="1905000"/>
                  </a:lnTo>
                  <a:lnTo>
                    <a:pt x="28575" y="1905000"/>
                  </a:lnTo>
                  <a:lnTo>
                    <a:pt x="28575" y="981075"/>
                  </a:lnTo>
                  <a:lnTo>
                    <a:pt x="666750" y="981075"/>
                  </a:lnTo>
                  <a:lnTo>
                    <a:pt x="666750" y="952500"/>
                  </a:lnTo>
                  <a:lnTo>
                    <a:pt x="28575" y="952500"/>
                  </a:lnTo>
                  <a:lnTo>
                    <a:pt x="28575" y="28575"/>
                  </a:lnTo>
                  <a:lnTo>
                    <a:pt x="952500" y="28575"/>
                  </a:lnTo>
                  <a:lnTo>
                    <a:pt x="952500" y="0"/>
                  </a:lnTo>
                  <a:lnTo>
                    <a:pt x="28575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0" y="3810000"/>
                  </a:lnTo>
                  <a:lnTo>
                    <a:pt x="28575" y="3810000"/>
                  </a:lnTo>
                  <a:lnTo>
                    <a:pt x="28575" y="2886075"/>
                  </a:lnTo>
                  <a:lnTo>
                    <a:pt x="1143000" y="2886075"/>
                  </a:lnTo>
                  <a:lnTo>
                    <a:pt x="1143000" y="285750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1685924"/>
              <a:ext cx="114300" cy="11429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2638424"/>
              <a:ext cx="114300" cy="114299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3590925"/>
              <a:ext cx="114300" cy="114299"/>
            </a:xfrm>
            <a:prstGeom prst="rect">
              <a:avLst/>
            </a:prstGeom>
          </p:spPr>
        </p:pic>
        <p:pic>
          <p:nvPicPr>
            <p:cNvPr id="34" name="object 3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4543424"/>
              <a:ext cx="114300" cy="114299"/>
            </a:xfrm>
            <a:prstGeom prst="rect">
              <a:avLst/>
            </a:prstGeom>
          </p:spPr>
        </p:pic>
        <p:pic>
          <p:nvPicPr>
            <p:cNvPr id="35" name="object 3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5495924"/>
              <a:ext cx="114300" cy="114299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619124" y="476249"/>
              <a:ext cx="11001375" cy="533400"/>
            </a:xfrm>
            <a:custGeom>
              <a:avLst/>
              <a:gdLst/>
              <a:ahLst/>
              <a:cxnLst/>
              <a:rect l="l" t="t" r="r" b="b"/>
              <a:pathLst>
                <a:path w="11001375" h="533400">
                  <a:moveTo>
                    <a:pt x="0" y="533399"/>
                  </a:moveTo>
                  <a:lnTo>
                    <a:pt x="11001374" y="533399"/>
                  </a:lnTo>
                  <a:lnTo>
                    <a:pt x="11001374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71499" y="476249"/>
              <a:ext cx="47625" cy="533400"/>
            </a:xfrm>
            <a:custGeom>
              <a:avLst/>
              <a:gdLst/>
              <a:ahLst/>
              <a:cxnLst/>
              <a:rect l="l" t="t" r="r" b="b"/>
              <a:pathLst>
                <a:path w="47625" h="533400">
                  <a:moveTo>
                    <a:pt x="4762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5333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2500" spc="-150"/>
              <a:t>Technical</a:t>
            </a:r>
            <a:r>
              <a:rPr dirty="0" sz="2500" spc="-25"/>
              <a:t> </a:t>
            </a:r>
            <a:r>
              <a:rPr dirty="0" sz="2500" spc="-165"/>
              <a:t>Approach</a:t>
            </a:r>
            <a:r>
              <a:rPr dirty="0" sz="2500" spc="-25"/>
              <a:t> </a:t>
            </a:r>
            <a:r>
              <a:rPr dirty="0" sz="2500" spc="-170"/>
              <a:t>&amp;</a:t>
            </a:r>
            <a:r>
              <a:rPr dirty="0" sz="2500" spc="-20"/>
              <a:t> </a:t>
            </a:r>
            <a:r>
              <a:rPr dirty="0" sz="2500" spc="-160"/>
              <a:t>Key</a:t>
            </a:r>
            <a:r>
              <a:rPr dirty="0" sz="2500" spc="-25"/>
              <a:t> </a:t>
            </a:r>
            <a:r>
              <a:rPr dirty="0" sz="2500" spc="-35"/>
              <a:t>Innovations</a:t>
            </a:r>
            <a:endParaRPr sz="2500"/>
          </a:p>
        </p:txBody>
      </p:sp>
      <p:grpSp>
        <p:nvGrpSpPr>
          <p:cNvPr id="39" name="object 39" descr=""/>
          <p:cNvGrpSpPr/>
          <p:nvPr/>
        </p:nvGrpSpPr>
        <p:grpSpPr>
          <a:xfrm>
            <a:off x="571499" y="1295399"/>
            <a:ext cx="11430000" cy="5372100"/>
            <a:chOff x="571499" y="1295399"/>
            <a:chExt cx="11430000" cy="5372100"/>
          </a:xfrm>
        </p:grpSpPr>
        <p:sp>
          <p:nvSpPr>
            <p:cNvPr id="40" name="object 40" descr=""/>
            <p:cNvSpPr/>
            <p:nvPr/>
          </p:nvSpPr>
          <p:spPr>
            <a:xfrm>
              <a:off x="571499" y="12953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7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1371860"/>
              <a:ext cx="190499" cy="189979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571499" y="22478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59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846" y="2324099"/>
              <a:ext cx="190206" cy="190499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571499" y="32003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2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699" y="3276599"/>
              <a:ext cx="190499" cy="19049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571499" y="41528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4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6"/>
                  </a:lnTo>
                  <a:lnTo>
                    <a:pt x="171449" y="0"/>
                  </a:lnTo>
                  <a:lnTo>
                    <a:pt x="179872" y="206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8174" y="4240741"/>
              <a:ext cx="209549" cy="162983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/>
          <p:nvPr/>
        </p:nvSpPr>
        <p:spPr>
          <a:xfrm>
            <a:off x="1054100" y="1202332"/>
            <a:ext cx="6498590" cy="274002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650" spc="-95" b="1">
                <a:solidFill>
                  <a:srgbClr val="1D3A8A"/>
                </a:solidFill>
                <a:latin typeface="Roboto"/>
                <a:cs typeface="Roboto"/>
              </a:rPr>
              <a:t>Modular</a:t>
            </a:r>
            <a:r>
              <a:rPr dirty="0" sz="1650" spc="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Multi-</a:t>
            </a:r>
            <a:r>
              <a:rPr dirty="0" sz="1650" spc="-95" b="1">
                <a:solidFill>
                  <a:srgbClr val="1D3A8A"/>
                </a:solidFill>
                <a:latin typeface="Roboto"/>
                <a:cs typeface="Roboto"/>
              </a:rPr>
              <a:t>Area</a:t>
            </a:r>
            <a:r>
              <a:rPr dirty="0" sz="1650" spc="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0" b="1">
                <a:solidFill>
                  <a:srgbClr val="1D3A8A"/>
                </a:solidFill>
                <a:latin typeface="Roboto"/>
                <a:cs typeface="Roboto"/>
              </a:rPr>
              <a:t>System</a:t>
            </a:r>
            <a:r>
              <a:rPr dirty="0" sz="1650" spc="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Modeling</a:t>
            </a:r>
            <a:endParaRPr sz="1650">
              <a:latin typeface="Roboto"/>
              <a:cs typeface="Roboto"/>
            </a:endParaRPr>
          </a:p>
          <a:p>
            <a:pPr marL="12700" marR="8255">
              <a:lnSpc>
                <a:spcPct val="115399"/>
              </a:lnSpc>
              <a:spcBef>
                <a:spcPts val="229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Comprehensive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modeling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framework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integrating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two-area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dynamics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multiple </a:t>
            </a:r>
            <a:r>
              <a:rPr dirty="0" sz="1300" spc="-100">
                <a:solidFill>
                  <a:srgbClr val="374050"/>
                </a:solidFill>
                <a:latin typeface="Roboto"/>
                <a:cs typeface="Roboto"/>
              </a:rPr>
              <a:t>FACTS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devices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(SVC,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SSSC,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UPFC,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374050"/>
                </a:solidFill>
                <a:latin typeface="Roboto"/>
                <a:cs typeface="Roboto"/>
              </a:rPr>
              <a:t>STATCOM),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allowing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independent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strategy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evaluation.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Multi-Objective</a:t>
            </a:r>
            <a:r>
              <a:rPr dirty="0" sz="1650" spc="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Optimization</a:t>
            </a:r>
            <a:endParaRPr sz="1650">
              <a:latin typeface="Roboto"/>
              <a:cs typeface="Roboto"/>
            </a:endParaRPr>
          </a:p>
          <a:p>
            <a:pPr marL="12700" marR="71120">
              <a:lnSpc>
                <a:spcPct val="115399"/>
              </a:lnSpc>
              <a:spcBef>
                <a:spcPts val="229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Balanced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optimization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competing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objectives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including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frequency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stability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(ISE/ITAE),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voltage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profile,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quality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(THD),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robustness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against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uncertainties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disturbances.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50" spc="-100" b="1">
                <a:solidFill>
                  <a:srgbClr val="1D3A8A"/>
                </a:solidFill>
                <a:latin typeface="Roboto"/>
                <a:cs typeface="Roboto"/>
              </a:rPr>
              <a:t>Advanced</a:t>
            </a:r>
            <a:r>
              <a:rPr dirty="0" sz="1650" spc="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Control</a:t>
            </a:r>
            <a:r>
              <a:rPr dirty="0" sz="1650" spc="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Integration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ct val="115399"/>
              </a:lnSpc>
              <a:spcBef>
                <a:spcPts val="229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Unified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framework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incorporating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PSO-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optimized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PID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controllers,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non-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linear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synergetic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for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UPFC,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reinforcement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learning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sliding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5">
                <a:solidFill>
                  <a:srgbClr val="374050"/>
                </a:solidFill>
                <a:latin typeface="Roboto"/>
                <a:cs typeface="Roboto"/>
              </a:rPr>
              <a:t>mode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control,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auto-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tuned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model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predictive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control.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0833000" y="6445249"/>
            <a:ext cx="106680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054100" y="4059832"/>
            <a:ext cx="5991225" cy="60642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650" spc="-65" b="1">
                <a:solidFill>
                  <a:srgbClr val="1D3A8A"/>
                </a:solidFill>
                <a:latin typeface="Roboto"/>
                <a:cs typeface="Roboto"/>
              </a:rPr>
              <a:t>Intelligent</a:t>
            </a:r>
            <a:r>
              <a:rPr dirty="0" sz="1650" spc="-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Device</a:t>
            </a:r>
            <a:r>
              <a:rPr dirty="0" sz="1650" spc="-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Coordination</a:t>
            </a:r>
            <a:endParaRPr sz="165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Expert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decision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optimal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allocation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tasks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between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devices,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adaptive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1054100" y="4640833"/>
            <a:ext cx="589724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response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changing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grid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conditions,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coordinated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operation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5">
                <a:solidFill>
                  <a:srgbClr val="374050"/>
                </a:solidFill>
                <a:latin typeface="Roboto"/>
                <a:cs typeface="Roboto"/>
              </a:rPr>
              <a:t>maximum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stability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enhancement.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85737" y="1714499"/>
              <a:ext cx="1143000" cy="3810000"/>
            </a:xfrm>
            <a:custGeom>
              <a:avLst/>
              <a:gdLst/>
              <a:ahLst/>
              <a:cxnLst/>
              <a:rect l="l" t="t" r="r" b="b"/>
              <a:pathLst>
                <a:path w="1143000" h="3810000">
                  <a:moveTo>
                    <a:pt x="1143000" y="2857500"/>
                  </a:moveTo>
                  <a:lnTo>
                    <a:pt x="28575" y="2857500"/>
                  </a:lnTo>
                  <a:lnTo>
                    <a:pt x="28575" y="1933575"/>
                  </a:lnTo>
                  <a:lnTo>
                    <a:pt x="476250" y="1933575"/>
                  </a:lnTo>
                  <a:lnTo>
                    <a:pt x="476250" y="1905000"/>
                  </a:lnTo>
                  <a:lnTo>
                    <a:pt x="28575" y="1905000"/>
                  </a:lnTo>
                  <a:lnTo>
                    <a:pt x="28575" y="981075"/>
                  </a:lnTo>
                  <a:lnTo>
                    <a:pt x="666750" y="981075"/>
                  </a:lnTo>
                  <a:lnTo>
                    <a:pt x="666750" y="952500"/>
                  </a:lnTo>
                  <a:lnTo>
                    <a:pt x="28575" y="952500"/>
                  </a:lnTo>
                  <a:lnTo>
                    <a:pt x="28575" y="28575"/>
                  </a:lnTo>
                  <a:lnTo>
                    <a:pt x="952500" y="28575"/>
                  </a:lnTo>
                  <a:lnTo>
                    <a:pt x="952500" y="0"/>
                  </a:lnTo>
                  <a:lnTo>
                    <a:pt x="28575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0" y="3810000"/>
                  </a:lnTo>
                  <a:lnTo>
                    <a:pt x="28575" y="3810000"/>
                  </a:lnTo>
                  <a:lnTo>
                    <a:pt x="28575" y="2886075"/>
                  </a:lnTo>
                  <a:lnTo>
                    <a:pt x="1143000" y="2886075"/>
                  </a:lnTo>
                  <a:lnTo>
                    <a:pt x="1143000" y="285750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1685924"/>
              <a:ext cx="114300" cy="1142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2638424"/>
              <a:ext cx="114300" cy="1142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3590925"/>
              <a:ext cx="114300" cy="1142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4543424"/>
              <a:ext cx="114300" cy="11429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5495924"/>
              <a:ext cx="114300" cy="114299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19124" y="380999"/>
              <a:ext cx="11001375" cy="533400"/>
            </a:xfrm>
            <a:custGeom>
              <a:avLst/>
              <a:gdLst/>
              <a:ahLst/>
              <a:cxnLst/>
              <a:rect l="l" t="t" r="r" b="b"/>
              <a:pathLst>
                <a:path w="11001375" h="533400">
                  <a:moveTo>
                    <a:pt x="0" y="533399"/>
                  </a:moveTo>
                  <a:lnTo>
                    <a:pt x="11001374" y="533399"/>
                  </a:lnTo>
                  <a:lnTo>
                    <a:pt x="11001374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71499" y="380999"/>
              <a:ext cx="47625" cy="533400"/>
            </a:xfrm>
            <a:custGeom>
              <a:avLst/>
              <a:gdLst/>
              <a:ahLst/>
              <a:cxnLst/>
              <a:rect l="l" t="t" r="r" b="b"/>
              <a:pathLst>
                <a:path w="47625" h="533400">
                  <a:moveTo>
                    <a:pt x="4762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5333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9124" y="412353"/>
            <a:ext cx="11001375" cy="40703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90500">
              <a:lnSpc>
                <a:spcPct val="100000"/>
              </a:lnSpc>
              <a:spcBef>
                <a:spcPts val="100"/>
              </a:spcBef>
            </a:pPr>
            <a:r>
              <a:rPr dirty="0" sz="2500" spc="-155"/>
              <a:t>PSO-</a:t>
            </a:r>
            <a:r>
              <a:rPr dirty="0" sz="2500" spc="-145"/>
              <a:t>Optimized</a:t>
            </a:r>
            <a:r>
              <a:rPr dirty="0" sz="2500" spc="-5"/>
              <a:t> </a:t>
            </a:r>
            <a:r>
              <a:rPr dirty="0" sz="2500" spc="-145"/>
              <a:t>PID</a:t>
            </a:r>
            <a:r>
              <a:rPr dirty="0" sz="2500" spc="-5"/>
              <a:t> </a:t>
            </a:r>
            <a:r>
              <a:rPr dirty="0" sz="2500" spc="-135"/>
              <a:t>Controllers</a:t>
            </a:r>
            <a:r>
              <a:rPr dirty="0" sz="2500" spc="-5"/>
              <a:t> </a:t>
            </a:r>
            <a:r>
              <a:rPr dirty="0" sz="2500" spc="-125"/>
              <a:t>for</a:t>
            </a:r>
            <a:r>
              <a:rPr dirty="0" sz="2500"/>
              <a:t> </a:t>
            </a:r>
            <a:r>
              <a:rPr dirty="0" sz="2500" spc="-25"/>
              <a:t>AGC</a:t>
            </a:r>
            <a:endParaRPr sz="2500"/>
          </a:p>
        </p:txBody>
      </p:sp>
      <p:grpSp>
        <p:nvGrpSpPr>
          <p:cNvPr id="13" name="object 13" descr=""/>
          <p:cNvGrpSpPr/>
          <p:nvPr/>
        </p:nvGrpSpPr>
        <p:grpSpPr>
          <a:xfrm>
            <a:off x="571499" y="1104899"/>
            <a:ext cx="5295900" cy="4600575"/>
            <a:chOff x="571499" y="1104899"/>
            <a:chExt cx="5295900" cy="4600575"/>
          </a:xfrm>
        </p:grpSpPr>
        <p:sp>
          <p:nvSpPr>
            <p:cNvPr id="14" name="object 14" descr=""/>
            <p:cNvSpPr/>
            <p:nvPr/>
          </p:nvSpPr>
          <p:spPr>
            <a:xfrm>
              <a:off x="571499" y="3886199"/>
              <a:ext cx="5295900" cy="1819275"/>
            </a:xfrm>
            <a:custGeom>
              <a:avLst/>
              <a:gdLst/>
              <a:ahLst/>
              <a:cxnLst/>
              <a:rect l="l" t="t" r="r" b="b"/>
              <a:pathLst>
                <a:path w="5295900" h="1819275">
                  <a:moveTo>
                    <a:pt x="5224702" y="1819274"/>
                  </a:moveTo>
                  <a:lnTo>
                    <a:pt x="71196" y="1819274"/>
                  </a:lnTo>
                  <a:lnTo>
                    <a:pt x="66241" y="1818786"/>
                  </a:lnTo>
                  <a:lnTo>
                    <a:pt x="29705" y="1803651"/>
                  </a:lnTo>
                  <a:lnTo>
                    <a:pt x="3885" y="1767611"/>
                  </a:lnTo>
                  <a:lnTo>
                    <a:pt x="0" y="1748078"/>
                  </a:lnTo>
                  <a:lnTo>
                    <a:pt x="0" y="174307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224702" y="0"/>
                  </a:lnTo>
                  <a:lnTo>
                    <a:pt x="5266193" y="15621"/>
                  </a:lnTo>
                  <a:lnTo>
                    <a:pt x="5292013" y="51661"/>
                  </a:lnTo>
                  <a:lnTo>
                    <a:pt x="5295899" y="71196"/>
                  </a:lnTo>
                  <a:lnTo>
                    <a:pt x="5295899" y="1748078"/>
                  </a:lnTo>
                  <a:lnTo>
                    <a:pt x="5280276" y="1789568"/>
                  </a:lnTo>
                  <a:lnTo>
                    <a:pt x="5244237" y="1815388"/>
                  </a:lnTo>
                  <a:lnTo>
                    <a:pt x="5229657" y="1818786"/>
                  </a:lnTo>
                  <a:lnTo>
                    <a:pt x="5224702" y="18192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71499" y="11048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6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28649" y="1166812"/>
              <a:ext cx="152399" cy="142874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571499" y="20954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9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5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5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8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649" y="2162174"/>
              <a:ext cx="152399" cy="133349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571499" y="3086099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133349" y="266699"/>
                  </a:moveTo>
                  <a:lnTo>
                    <a:pt x="94640" y="260958"/>
                  </a:lnTo>
                  <a:lnTo>
                    <a:pt x="59264" y="244226"/>
                  </a:lnTo>
                  <a:lnTo>
                    <a:pt x="30267" y="217947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lnTo>
                    <a:pt x="160" y="126798"/>
                  </a:lnTo>
                  <a:lnTo>
                    <a:pt x="7791" y="88432"/>
                  </a:lnTo>
                  <a:lnTo>
                    <a:pt x="26246" y="53906"/>
                  </a:lnTo>
                  <a:lnTo>
                    <a:pt x="53906" y="26246"/>
                  </a:lnTo>
                  <a:lnTo>
                    <a:pt x="88432" y="7791"/>
                  </a:lnTo>
                  <a:lnTo>
                    <a:pt x="126798" y="160"/>
                  </a:lnTo>
                  <a:lnTo>
                    <a:pt x="133349" y="0"/>
                  </a:lnTo>
                  <a:lnTo>
                    <a:pt x="139901" y="160"/>
                  </a:lnTo>
                  <a:lnTo>
                    <a:pt x="178267" y="7791"/>
                  </a:lnTo>
                  <a:lnTo>
                    <a:pt x="212793" y="26245"/>
                  </a:lnTo>
                  <a:lnTo>
                    <a:pt x="240453" y="53906"/>
                  </a:lnTo>
                  <a:lnTo>
                    <a:pt x="258908" y="88432"/>
                  </a:lnTo>
                  <a:lnTo>
                    <a:pt x="266539" y="126798"/>
                  </a:lnTo>
                  <a:lnTo>
                    <a:pt x="266699" y="133349"/>
                  </a:lnTo>
                  <a:lnTo>
                    <a:pt x="266539" y="139901"/>
                  </a:lnTo>
                  <a:lnTo>
                    <a:pt x="258908" y="178266"/>
                  </a:lnTo>
                  <a:lnTo>
                    <a:pt x="240453" y="212793"/>
                  </a:lnTo>
                  <a:lnTo>
                    <a:pt x="212793" y="240453"/>
                  </a:lnTo>
                  <a:lnTo>
                    <a:pt x="178267" y="258907"/>
                  </a:lnTo>
                  <a:lnTo>
                    <a:pt x="139901" y="266539"/>
                  </a:lnTo>
                  <a:lnTo>
                    <a:pt x="133349" y="2666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28649" y="3143249"/>
              <a:ext cx="152399" cy="152399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977900" y="1050079"/>
            <a:ext cx="4860290" cy="69786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500" spc="-75" b="1">
                <a:solidFill>
                  <a:srgbClr val="1D3A8A"/>
                </a:solidFill>
                <a:latin typeface="Roboto"/>
                <a:cs typeface="Roboto"/>
              </a:rPr>
              <a:t>Particle</a:t>
            </a:r>
            <a:r>
              <a:rPr dirty="0" sz="150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500" spc="-100" b="1">
                <a:solidFill>
                  <a:srgbClr val="1D3A8A"/>
                </a:solidFill>
                <a:latin typeface="Roboto"/>
                <a:cs typeface="Roboto"/>
              </a:rPr>
              <a:t>Swarm</a:t>
            </a:r>
            <a:r>
              <a:rPr dirty="0" sz="150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500" spc="-80" b="1">
                <a:solidFill>
                  <a:srgbClr val="1D3A8A"/>
                </a:solidFill>
                <a:latin typeface="Roboto"/>
                <a:cs typeface="Roboto"/>
              </a:rPr>
              <a:t>Optimization</a:t>
            </a:r>
            <a:r>
              <a:rPr dirty="0" sz="150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500" spc="-70" b="1">
                <a:solidFill>
                  <a:srgbClr val="1D3A8A"/>
                </a:solidFill>
                <a:latin typeface="Roboto"/>
                <a:cs typeface="Roboto"/>
              </a:rPr>
              <a:t>for</a:t>
            </a:r>
            <a:r>
              <a:rPr dirty="0" sz="150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500" spc="-90" b="1">
                <a:solidFill>
                  <a:srgbClr val="1D3A8A"/>
                </a:solidFill>
                <a:latin typeface="Roboto"/>
                <a:cs typeface="Roboto"/>
              </a:rPr>
              <a:t>PID</a:t>
            </a:r>
            <a:r>
              <a:rPr dirty="0" sz="1500" spc="-4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1D3A8A"/>
                </a:solidFill>
                <a:latin typeface="Roboto"/>
                <a:cs typeface="Roboto"/>
              </a:rPr>
              <a:t>Tuning</a:t>
            </a:r>
            <a:endParaRPr sz="1500">
              <a:latin typeface="Roboto"/>
              <a:cs typeface="Roboto"/>
            </a:endParaRPr>
          </a:p>
          <a:p>
            <a:pPr marL="12700" marR="5080">
              <a:lnSpc>
                <a:spcPct val="108700"/>
              </a:lnSpc>
              <a:spcBef>
                <a:spcPts val="155"/>
              </a:spcBef>
            </a:pPr>
            <a:r>
              <a:rPr dirty="0" sz="1150" spc="-75">
                <a:solidFill>
                  <a:srgbClr val="374050"/>
                </a:solidFill>
                <a:latin typeface="Roboto"/>
                <a:cs typeface="Roboto"/>
              </a:rPr>
              <a:t>PSO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algorithm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optimizes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PID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controller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gains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(Kp,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5">
                <a:solidFill>
                  <a:srgbClr val="374050"/>
                </a:solidFill>
                <a:latin typeface="Roboto"/>
                <a:cs typeface="Roboto"/>
              </a:rPr>
              <a:t>Ki,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Kd)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by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minimizing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performance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metrics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85">
                <a:solidFill>
                  <a:srgbClr val="374050"/>
                </a:solidFill>
                <a:latin typeface="Roboto"/>
                <a:cs typeface="Roboto"/>
              </a:rPr>
              <a:t>AGC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application,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providing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systematic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tuning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without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374050"/>
                </a:solidFill>
                <a:latin typeface="Roboto"/>
                <a:cs typeface="Roboto"/>
              </a:rPr>
              <a:t>trial-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77900" y="1734423"/>
            <a:ext cx="59182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and-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error.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977900" y="2040679"/>
            <a:ext cx="4490085" cy="69786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500" spc="-75" b="1">
                <a:solidFill>
                  <a:srgbClr val="1D3A8A"/>
                </a:solidFill>
                <a:latin typeface="Roboto"/>
                <a:cs typeface="Roboto"/>
              </a:rPr>
              <a:t>Superior</a:t>
            </a:r>
            <a:r>
              <a:rPr dirty="0" sz="1500" spc="-3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1D3A8A"/>
                </a:solidFill>
                <a:latin typeface="Roboto"/>
                <a:cs typeface="Roboto"/>
              </a:rPr>
              <a:t>Performance</a:t>
            </a:r>
            <a:endParaRPr sz="1500">
              <a:latin typeface="Roboto"/>
              <a:cs typeface="Roboto"/>
            </a:endParaRPr>
          </a:p>
          <a:p>
            <a:pPr marL="12700" marR="5080">
              <a:lnSpc>
                <a:spcPct val="108700"/>
              </a:lnSpc>
              <a:spcBef>
                <a:spcPts val="155"/>
              </a:spcBef>
            </a:pP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Compared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classical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methods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like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Ziegler-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Nichols,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PSO-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optimized</a:t>
            </a:r>
            <a:r>
              <a:rPr dirty="0" sz="115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25">
                <a:solidFill>
                  <a:srgbClr val="374050"/>
                </a:solidFill>
                <a:latin typeface="Roboto"/>
                <a:cs typeface="Roboto"/>
              </a:rPr>
              <a:t>PID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controllers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demonstrate</a:t>
            </a:r>
            <a:r>
              <a:rPr dirty="0" sz="11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significant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improvements</a:t>
            </a:r>
            <a:r>
              <a:rPr dirty="0" sz="11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dynamic</a:t>
            </a:r>
            <a:r>
              <a:rPr dirty="0" sz="115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response</a:t>
            </a:r>
            <a:r>
              <a:rPr dirty="0" sz="115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77900" y="2725023"/>
            <a:ext cx="104076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40">
                <a:solidFill>
                  <a:srgbClr val="374050"/>
                </a:solidFill>
                <a:latin typeface="Roboto"/>
                <a:cs typeface="Roboto"/>
              </a:rPr>
              <a:t>stability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margins.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977900" y="3031279"/>
            <a:ext cx="4657725" cy="697865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1500" spc="-105" b="1">
                <a:solidFill>
                  <a:srgbClr val="1D3A8A"/>
                </a:solidFill>
                <a:latin typeface="Roboto"/>
                <a:cs typeface="Roboto"/>
              </a:rPr>
              <a:t>Key</a:t>
            </a:r>
            <a:r>
              <a:rPr dirty="0" sz="150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1D3A8A"/>
                </a:solidFill>
                <a:latin typeface="Roboto"/>
                <a:cs typeface="Roboto"/>
              </a:rPr>
              <a:t>Metrics</a:t>
            </a:r>
            <a:r>
              <a:rPr dirty="0" sz="1500" spc="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1D3A8A"/>
                </a:solidFill>
                <a:latin typeface="Roboto"/>
                <a:cs typeface="Roboto"/>
              </a:rPr>
              <a:t>Improved</a:t>
            </a:r>
            <a:endParaRPr sz="1500">
              <a:latin typeface="Roboto"/>
              <a:cs typeface="Roboto"/>
            </a:endParaRPr>
          </a:p>
          <a:p>
            <a:pPr marL="12700" marR="5080">
              <a:lnSpc>
                <a:spcPct val="108700"/>
              </a:lnSpc>
              <a:spcBef>
                <a:spcPts val="155"/>
              </a:spcBef>
            </a:pP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Optimized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controllers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achieve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374050"/>
                </a:solidFill>
                <a:latin typeface="Roboto"/>
                <a:cs typeface="Roboto"/>
              </a:rPr>
              <a:t>marked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reductions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0">
                <a:solidFill>
                  <a:srgbClr val="374050"/>
                </a:solidFill>
                <a:latin typeface="Roboto"/>
                <a:cs typeface="Roboto"/>
              </a:rPr>
              <a:t>settling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(38.2%),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peak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overshoot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(42.7%),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integral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374050"/>
                </a:solidFill>
                <a:latin typeface="Roboto"/>
                <a:cs typeface="Roboto"/>
              </a:rPr>
              <a:t>error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45">
                <a:solidFill>
                  <a:srgbClr val="374050"/>
                </a:solidFill>
                <a:latin typeface="Roboto"/>
                <a:cs typeface="Roboto"/>
              </a:rPr>
              <a:t>indices</a:t>
            </a:r>
            <a:r>
              <a:rPr dirty="0" sz="115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374050"/>
                </a:solidFill>
                <a:latin typeface="Roboto"/>
                <a:cs typeface="Roboto"/>
              </a:rPr>
              <a:t>(ISE,</a:t>
            </a:r>
            <a:r>
              <a:rPr dirty="0" sz="115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374050"/>
                </a:solidFill>
                <a:latin typeface="Roboto"/>
                <a:cs typeface="Roboto"/>
              </a:rPr>
              <a:t>ITAE).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2325389" y="3980179"/>
            <a:ext cx="178816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 b="1">
                <a:solidFill>
                  <a:srgbClr val="1D3A8A"/>
                </a:solidFill>
                <a:latin typeface="Roboto"/>
                <a:cs typeface="Roboto"/>
              </a:rPr>
              <a:t>Performance</a:t>
            </a:r>
            <a:r>
              <a:rPr dirty="0" sz="1300" spc="1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300" spc="-55" b="1">
                <a:solidFill>
                  <a:srgbClr val="1D3A8A"/>
                </a:solidFill>
                <a:latin typeface="Roboto"/>
                <a:cs typeface="Roboto"/>
              </a:rPr>
              <a:t>Comparison</a:t>
            </a:r>
            <a:endParaRPr sz="1300">
              <a:latin typeface="Roboto"/>
              <a:cs typeface="Roboto"/>
            </a:endParaRPr>
          </a:p>
        </p:txBody>
      </p:sp>
      <p:graphicFrame>
        <p:nvGraphicFramePr>
          <p:cNvPr id="27" name="object 27" descr=""/>
          <p:cNvGraphicFramePr>
            <a:graphicFrameLocks noGrp="1"/>
          </p:cNvGraphicFramePr>
          <p:nvPr/>
        </p:nvGraphicFramePr>
        <p:xfrm>
          <a:off x="685799" y="4324349"/>
          <a:ext cx="5143500" cy="1254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14450"/>
                <a:gridCol w="762000"/>
                <a:gridCol w="666750"/>
                <a:gridCol w="1047750"/>
                <a:gridCol w="1266825"/>
              </a:tblGrid>
              <a:tr h="31369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10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Method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3B81F5">
                        <a:alpha val="1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5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ISE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3B81F5">
                        <a:alpha val="1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0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ITAE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3B81F5">
                        <a:alpha val="1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45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Settling</a:t>
                      </a:r>
                      <a:r>
                        <a:rPr dirty="0" sz="1150" spc="-20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(s)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3B81F5">
                        <a:alpha val="101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55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Overshoot</a:t>
                      </a:r>
                      <a:r>
                        <a:rPr dirty="0" sz="1150" spc="-5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150" spc="-25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(%)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3B81F5">
                        <a:alpha val="10198"/>
                      </a:srgbClr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50">
                          <a:latin typeface="Roboto"/>
                          <a:cs typeface="Roboto"/>
                        </a:rPr>
                        <a:t>Ziegler-</a:t>
                      </a:r>
                      <a:r>
                        <a:rPr dirty="0" sz="1150" spc="-10">
                          <a:latin typeface="Roboto"/>
                          <a:cs typeface="Roboto"/>
                        </a:rPr>
                        <a:t>Nichols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10">
                          <a:latin typeface="Roboto"/>
                          <a:cs typeface="Roboto"/>
                        </a:rPr>
                        <a:t>0.0152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0.867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12.4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5">
                          <a:latin typeface="Roboto"/>
                          <a:cs typeface="Roboto"/>
                        </a:rPr>
                        <a:t>8.5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5">
                          <a:latin typeface="Roboto"/>
                          <a:cs typeface="Roboto"/>
                        </a:rPr>
                        <a:t>PSO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1F5F9">
                        <a:alpha val="7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10">
                          <a:latin typeface="Roboto"/>
                          <a:cs typeface="Roboto"/>
                        </a:rPr>
                        <a:t>0.0094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1F5F9">
                        <a:alpha val="7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0.497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1F5F9">
                        <a:alpha val="7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5">
                          <a:latin typeface="Roboto"/>
                          <a:cs typeface="Roboto"/>
                        </a:rPr>
                        <a:t>7.6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1F5F9">
                        <a:alpha val="7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5">
                          <a:latin typeface="Roboto"/>
                          <a:cs typeface="Roboto"/>
                        </a:rPr>
                        <a:t>4.8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  <a:solidFill>
                      <a:srgbClr val="F1F5F9">
                        <a:alpha val="70199"/>
                      </a:srgbClr>
                    </a:solidFill>
                  </a:tcPr>
                </a:tc>
              </a:tr>
              <a:tr h="31369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5">
                          <a:latin typeface="Roboto"/>
                          <a:cs typeface="Roboto"/>
                        </a:rPr>
                        <a:t>GA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10">
                          <a:latin typeface="Roboto"/>
                          <a:cs typeface="Roboto"/>
                        </a:rPr>
                        <a:t>0.0102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0">
                          <a:latin typeface="Roboto"/>
                          <a:cs typeface="Roboto"/>
                        </a:rPr>
                        <a:t>0.518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444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5">
                          <a:latin typeface="Roboto"/>
                          <a:cs typeface="Roboto"/>
                        </a:rPr>
                        <a:t>8.2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dirty="0" sz="1150" spc="-25">
                          <a:latin typeface="Roboto"/>
                          <a:cs typeface="Roboto"/>
                        </a:rPr>
                        <a:t>5.3</a:t>
                      </a:r>
                      <a:endParaRPr sz="1150">
                        <a:latin typeface="Roboto"/>
                        <a:cs typeface="Roboto"/>
                      </a:endParaRPr>
                    </a:p>
                  </a:txBody>
                  <a:tcPr marL="0" marR="0" marB="0" marT="58419">
                    <a:lnL w="9525">
                      <a:solidFill>
                        <a:srgbClr val="D0D5DA"/>
                      </a:solidFill>
                      <a:prstDash val="solid"/>
                    </a:lnL>
                    <a:lnR w="9525">
                      <a:solidFill>
                        <a:srgbClr val="D0D5DA"/>
                      </a:solidFill>
                      <a:prstDash val="solid"/>
                    </a:lnR>
                    <a:lnT w="9525">
                      <a:solidFill>
                        <a:srgbClr val="D0D5DA"/>
                      </a:solidFill>
                      <a:prstDash val="solid"/>
                    </a:lnT>
                    <a:lnB w="9525">
                      <a:solidFill>
                        <a:srgbClr val="D0D5D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28" name="object 28" descr=""/>
          <p:cNvGrpSpPr/>
          <p:nvPr/>
        </p:nvGrpSpPr>
        <p:grpSpPr>
          <a:xfrm>
            <a:off x="6248398" y="1104899"/>
            <a:ext cx="5372100" cy="5181600"/>
            <a:chOff x="6248398" y="1104899"/>
            <a:chExt cx="5372100" cy="5181600"/>
          </a:xfrm>
        </p:grpSpPr>
        <p:sp>
          <p:nvSpPr>
            <p:cNvPr id="29" name="object 29" descr=""/>
            <p:cNvSpPr/>
            <p:nvPr/>
          </p:nvSpPr>
          <p:spPr>
            <a:xfrm>
              <a:off x="6248387" y="1104899"/>
              <a:ext cx="5372100" cy="5181600"/>
            </a:xfrm>
            <a:custGeom>
              <a:avLst/>
              <a:gdLst/>
              <a:ahLst/>
              <a:cxnLst/>
              <a:rect l="l" t="t" r="r" b="b"/>
              <a:pathLst>
                <a:path w="5372100" h="5181600">
                  <a:moveTo>
                    <a:pt x="5372100" y="3843096"/>
                  </a:moveTo>
                  <a:lnTo>
                    <a:pt x="5356479" y="3801605"/>
                  </a:lnTo>
                  <a:lnTo>
                    <a:pt x="5320436" y="3775786"/>
                  </a:lnTo>
                  <a:lnTo>
                    <a:pt x="5300904" y="3771900"/>
                  </a:lnTo>
                  <a:lnTo>
                    <a:pt x="71196" y="3771900"/>
                  </a:lnTo>
                  <a:lnTo>
                    <a:pt x="29705" y="3787521"/>
                  </a:lnTo>
                  <a:lnTo>
                    <a:pt x="3886" y="3823563"/>
                  </a:lnTo>
                  <a:lnTo>
                    <a:pt x="0" y="3843096"/>
                  </a:lnTo>
                  <a:lnTo>
                    <a:pt x="0" y="5105400"/>
                  </a:lnTo>
                  <a:lnTo>
                    <a:pt x="0" y="5110404"/>
                  </a:lnTo>
                  <a:lnTo>
                    <a:pt x="15621" y="5151894"/>
                  </a:lnTo>
                  <a:lnTo>
                    <a:pt x="51663" y="5177714"/>
                  </a:lnTo>
                  <a:lnTo>
                    <a:pt x="71196" y="5181600"/>
                  </a:lnTo>
                  <a:lnTo>
                    <a:pt x="5300904" y="5181600"/>
                  </a:lnTo>
                  <a:lnTo>
                    <a:pt x="5342394" y="5165979"/>
                  </a:lnTo>
                  <a:lnTo>
                    <a:pt x="5368214" y="5129949"/>
                  </a:lnTo>
                  <a:lnTo>
                    <a:pt x="5372100" y="5110404"/>
                  </a:lnTo>
                  <a:lnTo>
                    <a:pt x="5372100" y="3843096"/>
                  </a:lnTo>
                  <a:close/>
                </a:path>
                <a:path w="5372100" h="5181600">
                  <a:moveTo>
                    <a:pt x="5372100" y="71208"/>
                  </a:moveTo>
                  <a:lnTo>
                    <a:pt x="5356479" y="29705"/>
                  </a:lnTo>
                  <a:lnTo>
                    <a:pt x="5320436" y="3886"/>
                  </a:lnTo>
                  <a:lnTo>
                    <a:pt x="5300904" y="0"/>
                  </a:lnTo>
                  <a:lnTo>
                    <a:pt x="71196" y="0"/>
                  </a:lnTo>
                  <a:lnTo>
                    <a:pt x="29705" y="15633"/>
                  </a:lnTo>
                  <a:lnTo>
                    <a:pt x="3886" y="51663"/>
                  </a:lnTo>
                  <a:lnTo>
                    <a:pt x="0" y="71208"/>
                  </a:lnTo>
                  <a:lnTo>
                    <a:pt x="0" y="3581400"/>
                  </a:lnTo>
                  <a:lnTo>
                    <a:pt x="0" y="3586403"/>
                  </a:lnTo>
                  <a:lnTo>
                    <a:pt x="15621" y="3627894"/>
                  </a:lnTo>
                  <a:lnTo>
                    <a:pt x="51663" y="3653713"/>
                  </a:lnTo>
                  <a:lnTo>
                    <a:pt x="71196" y="3657600"/>
                  </a:lnTo>
                  <a:lnTo>
                    <a:pt x="5300904" y="3657600"/>
                  </a:lnTo>
                  <a:lnTo>
                    <a:pt x="5342394" y="3641979"/>
                  </a:lnTo>
                  <a:lnTo>
                    <a:pt x="5368214" y="3605949"/>
                  </a:lnTo>
                  <a:lnTo>
                    <a:pt x="5372100" y="3586403"/>
                  </a:lnTo>
                  <a:lnTo>
                    <a:pt x="5372100" y="712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0857" y="1257299"/>
              <a:ext cx="5066770" cy="3648074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6907534" y="1561306"/>
              <a:ext cx="1419225" cy="810895"/>
            </a:xfrm>
            <a:custGeom>
              <a:avLst/>
              <a:gdLst/>
              <a:ahLst/>
              <a:cxnLst/>
              <a:rect l="l" t="t" r="r" b="b"/>
              <a:pathLst>
                <a:path w="1419225" h="810894">
                  <a:moveTo>
                    <a:pt x="1371354" y="810683"/>
                  </a:moveTo>
                  <a:lnTo>
                    <a:pt x="47340" y="810683"/>
                  </a:lnTo>
                  <a:lnTo>
                    <a:pt x="44045" y="810358"/>
                  </a:lnTo>
                  <a:lnTo>
                    <a:pt x="10387" y="790931"/>
                  </a:lnTo>
                  <a:lnTo>
                    <a:pt x="0" y="763342"/>
                  </a:lnTo>
                  <a:lnTo>
                    <a:pt x="0" y="47340"/>
                  </a:lnTo>
                  <a:lnTo>
                    <a:pt x="17192" y="12487"/>
                  </a:lnTo>
                  <a:lnTo>
                    <a:pt x="47340" y="0"/>
                  </a:lnTo>
                  <a:lnTo>
                    <a:pt x="50667" y="0"/>
                  </a:lnTo>
                  <a:lnTo>
                    <a:pt x="1371354" y="0"/>
                  </a:lnTo>
                  <a:lnTo>
                    <a:pt x="1406207" y="17192"/>
                  </a:lnTo>
                  <a:lnTo>
                    <a:pt x="1418695" y="47340"/>
                  </a:lnTo>
                  <a:lnTo>
                    <a:pt x="1418695" y="763342"/>
                  </a:lnTo>
                  <a:lnTo>
                    <a:pt x="1401503" y="798195"/>
                  </a:lnTo>
                  <a:lnTo>
                    <a:pt x="1374649" y="810358"/>
                  </a:lnTo>
                  <a:lnTo>
                    <a:pt x="1371354" y="810683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6907534" y="1561306"/>
              <a:ext cx="1419225" cy="810895"/>
            </a:xfrm>
            <a:custGeom>
              <a:avLst/>
              <a:gdLst/>
              <a:ahLst/>
              <a:cxnLst/>
              <a:rect l="l" t="t" r="r" b="b"/>
              <a:pathLst>
                <a:path w="1419225" h="810894">
                  <a:moveTo>
                    <a:pt x="50667" y="0"/>
                  </a:moveTo>
                  <a:lnTo>
                    <a:pt x="1368028" y="0"/>
                  </a:lnTo>
                  <a:lnTo>
                    <a:pt x="1371354" y="0"/>
                  </a:lnTo>
                  <a:lnTo>
                    <a:pt x="1374649" y="324"/>
                  </a:lnTo>
                  <a:lnTo>
                    <a:pt x="1377912" y="973"/>
                  </a:lnTo>
                  <a:lnTo>
                    <a:pt x="1381175" y="1622"/>
                  </a:lnTo>
                  <a:lnTo>
                    <a:pt x="1384343" y="2583"/>
                  </a:lnTo>
                  <a:lnTo>
                    <a:pt x="1387417" y="3856"/>
                  </a:lnTo>
                  <a:lnTo>
                    <a:pt x="1390491" y="5129"/>
                  </a:lnTo>
                  <a:lnTo>
                    <a:pt x="1393411" y="6690"/>
                  </a:lnTo>
                  <a:lnTo>
                    <a:pt x="1410156" y="22518"/>
                  </a:lnTo>
                  <a:lnTo>
                    <a:pt x="1412004" y="25284"/>
                  </a:lnTo>
                  <a:lnTo>
                    <a:pt x="1418695" y="50667"/>
                  </a:lnTo>
                  <a:lnTo>
                    <a:pt x="1418695" y="760015"/>
                  </a:lnTo>
                  <a:lnTo>
                    <a:pt x="1410156" y="788164"/>
                  </a:lnTo>
                  <a:lnTo>
                    <a:pt x="1408308" y="790931"/>
                  </a:lnTo>
                  <a:lnTo>
                    <a:pt x="1374649" y="810358"/>
                  </a:lnTo>
                  <a:lnTo>
                    <a:pt x="1368028" y="810683"/>
                  </a:lnTo>
                  <a:lnTo>
                    <a:pt x="50667" y="810683"/>
                  </a:lnTo>
                  <a:lnTo>
                    <a:pt x="14840" y="795842"/>
                  </a:lnTo>
                  <a:lnTo>
                    <a:pt x="8539" y="788164"/>
                  </a:lnTo>
                  <a:lnTo>
                    <a:pt x="6690" y="785398"/>
                  </a:lnTo>
                  <a:lnTo>
                    <a:pt x="5129" y="782478"/>
                  </a:lnTo>
                  <a:lnTo>
                    <a:pt x="3856" y="779405"/>
                  </a:lnTo>
                  <a:lnTo>
                    <a:pt x="2583" y="776331"/>
                  </a:lnTo>
                  <a:lnTo>
                    <a:pt x="1622" y="773163"/>
                  </a:lnTo>
                  <a:lnTo>
                    <a:pt x="973" y="769900"/>
                  </a:lnTo>
                  <a:lnTo>
                    <a:pt x="324" y="766637"/>
                  </a:lnTo>
                  <a:lnTo>
                    <a:pt x="0" y="763342"/>
                  </a:lnTo>
                  <a:lnTo>
                    <a:pt x="0" y="760015"/>
                  </a:lnTo>
                  <a:lnTo>
                    <a:pt x="0" y="50667"/>
                  </a:lnTo>
                  <a:lnTo>
                    <a:pt x="0" y="47340"/>
                  </a:lnTo>
                  <a:lnTo>
                    <a:pt x="324" y="44045"/>
                  </a:lnTo>
                  <a:lnTo>
                    <a:pt x="973" y="40782"/>
                  </a:lnTo>
                  <a:lnTo>
                    <a:pt x="1622" y="37519"/>
                  </a:lnTo>
                  <a:lnTo>
                    <a:pt x="8539" y="22518"/>
                  </a:lnTo>
                  <a:lnTo>
                    <a:pt x="10387" y="19751"/>
                  </a:lnTo>
                  <a:lnTo>
                    <a:pt x="12487" y="17192"/>
                  </a:lnTo>
                  <a:lnTo>
                    <a:pt x="14840" y="14840"/>
                  </a:lnTo>
                  <a:lnTo>
                    <a:pt x="17192" y="12487"/>
                  </a:lnTo>
                  <a:lnTo>
                    <a:pt x="19752" y="10387"/>
                  </a:lnTo>
                  <a:lnTo>
                    <a:pt x="22518" y="8539"/>
                  </a:lnTo>
                  <a:lnTo>
                    <a:pt x="25284" y="6690"/>
                  </a:lnTo>
                  <a:lnTo>
                    <a:pt x="47340" y="0"/>
                  </a:lnTo>
                  <a:lnTo>
                    <a:pt x="50667" y="0"/>
                  </a:lnTo>
                  <a:close/>
                </a:path>
              </a:pathLst>
            </a:custGeom>
            <a:ln w="2026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 descr=""/>
          <p:cNvSpPr txBox="1"/>
          <p:nvPr/>
        </p:nvSpPr>
        <p:spPr>
          <a:xfrm>
            <a:off x="7144491" y="1754156"/>
            <a:ext cx="957580" cy="4552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420"/>
              </a:spcBef>
            </a:pPr>
            <a:r>
              <a:rPr dirty="0" sz="1250" spc="-105" b="1">
                <a:solidFill>
                  <a:srgbClr val="1D40AF"/>
                </a:solidFill>
                <a:latin typeface="Roboto"/>
                <a:cs typeface="Roboto"/>
              </a:rPr>
              <a:t>PSO</a:t>
            </a:r>
            <a:r>
              <a:rPr dirty="0" sz="1250" spc="-15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250" spc="-75" b="1">
                <a:solidFill>
                  <a:srgbClr val="1D40AF"/>
                </a:solidFill>
                <a:latin typeface="Roboto"/>
                <a:cs typeface="Roboto"/>
              </a:rPr>
              <a:t>Algorithm</a:t>
            </a:r>
            <a:endParaRPr sz="1250">
              <a:latin typeface="Roboto"/>
              <a:cs typeface="Roboto"/>
            </a:endParaRPr>
          </a:p>
          <a:p>
            <a:pPr algn="ctr" marR="4445">
              <a:lnSpc>
                <a:spcPct val="100000"/>
              </a:lnSpc>
              <a:spcBef>
                <a:spcPts val="295"/>
              </a:spcBef>
            </a:pPr>
            <a:r>
              <a:rPr dirty="0" sz="1050" spc="-10">
                <a:solidFill>
                  <a:srgbClr val="1D40AF"/>
                </a:solidFill>
                <a:latin typeface="Roboto"/>
                <a:cs typeface="Roboto"/>
              </a:rPr>
              <a:t>Optimization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8721411" y="2564500"/>
            <a:ext cx="1033780" cy="628650"/>
            <a:chOff x="8721411" y="2564500"/>
            <a:chExt cx="1033780" cy="628650"/>
          </a:xfrm>
        </p:grpSpPr>
        <p:sp>
          <p:nvSpPr>
            <p:cNvPr id="35" name="object 35" descr=""/>
            <p:cNvSpPr/>
            <p:nvPr/>
          </p:nvSpPr>
          <p:spPr>
            <a:xfrm>
              <a:off x="8731571" y="2574660"/>
              <a:ext cx="1013460" cy="608330"/>
            </a:xfrm>
            <a:custGeom>
              <a:avLst/>
              <a:gdLst/>
              <a:ahLst/>
              <a:cxnLst/>
              <a:rect l="l" t="t" r="r" b="b"/>
              <a:pathLst>
                <a:path w="1013459" h="608330">
                  <a:moveTo>
                    <a:pt x="966013" y="608012"/>
                  </a:moveTo>
                  <a:lnTo>
                    <a:pt x="47340" y="608012"/>
                  </a:lnTo>
                  <a:lnTo>
                    <a:pt x="44045" y="607687"/>
                  </a:lnTo>
                  <a:lnTo>
                    <a:pt x="10387" y="588260"/>
                  </a:lnTo>
                  <a:lnTo>
                    <a:pt x="0" y="560671"/>
                  </a:lnTo>
                  <a:lnTo>
                    <a:pt x="0" y="47340"/>
                  </a:lnTo>
                  <a:lnTo>
                    <a:pt x="17192" y="12487"/>
                  </a:lnTo>
                  <a:lnTo>
                    <a:pt x="47340" y="0"/>
                  </a:lnTo>
                  <a:lnTo>
                    <a:pt x="50667" y="0"/>
                  </a:lnTo>
                  <a:lnTo>
                    <a:pt x="966013" y="0"/>
                  </a:lnTo>
                  <a:lnTo>
                    <a:pt x="1000866" y="17192"/>
                  </a:lnTo>
                  <a:lnTo>
                    <a:pt x="1013354" y="47340"/>
                  </a:lnTo>
                  <a:lnTo>
                    <a:pt x="1013354" y="560671"/>
                  </a:lnTo>
                  <a:lnTo>
                    <a:pt x="996161" y="595524"/>
                  </a:lnTo>
                  <a:lnTo>
                    <a:pt x="969308" y="607687"/>
                  </a:lnTo>
                  <a:lnTo>
                    <a:pt x="966013" y="608012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731571" y="2574660"/>
              <a:ext cx="1013460" cy="608330"/>
            </a:xfrm>
            <a:custGeom>
              <a:avLst/>
              <a:gdLst/>
              <a:ahLst/>
              <a:cxnLst/>
              <a:rect l="l" t="t" r="r" b="b"/>
              <a:pathLst>
                <a:path w="1013459" h="608330">
                  <a:moveTo>
                    <a:pt x="50667" y="0"/>
                  </a:moveTo>
                  <a:lnTo>
                    <a:pt x="962686" y="0"/>
                  </a:lnTo>
                  <a:lnTo>
                    <a:pt x="966013" y="0"/>
                  </a:lnTo>
                  <a:lnTo>
                    <a:pt x="969308" y="324"/>
                  </a:lnTo>
                  <a:lnTo>
                    <a:pt x="972571" y="973"/>
                  </a:lnTo>
                  <a:lnTo>
                    <a:pt x="975834" y="1622"/>
                  </a:lnTo>
                  <a:lnTo>
                    <a:pt x="979002" y="2583"/>
                  </a:lnTo>
                  <a:lnTo>
                    <a:pt x="982076" y="3856"/>
                  </a:lnTo>
                  <a:lnTo>
                    <a:pt x="985149" y="5129"/>
                  </a:lnTo>
                  <a:lnTo>
                    <a:pt x="988069" y="6690"/>
                  </a:lnTo>
                  <a:lnTo>
                    <a:pt x="990835" y="8538"/>
                  </a:lnTo>
                  <a:lnTo>
                    <a:pt x="993601" y="10387"/>
                  </a:lnTo>
                  <a:lnTo>
                    <a:pt x="996161" y="12487"/>
                  </a:lnTo>
                  <a:lnTo>
                    <a:pt x="998513" y="14840"/>
                  </a:lnTo>
                  <a:lnTo>
                    <a:pt x="1000866" y="17192"/>
                  </a:lnTo>
                  <a:lnTo>
                    <a:pt x="1002966" y="19751"/>
                  </a:lnTo>
                  <a:lnTo>
                    <a:pt x="1004814" y="22518"/>
                  </a:lnTo>
                  <a:lnTo>
                    <a:pt x="1006662" y="25284"/>
                  </a:lnTo>
                  <a:lnTo>
                    <a:pt x="1008223" y="28204"/>
                  </a:lnTo>
                  <a:lnTo>
                    <a:pt x="1009496" y="31277"/>
                  </a:lnTo>
                  <a:lnTo>
                    <a:pt x="1010769" y="34351"/>
                  </a:lnTo>
                  <a:lnTo>
                    <a:pt x="1011731" y="37519"/>
                  </a:lnTo>
                  <a:lnTo>
                    <a:pt x="1012380" y="40782"/>
                  </a:lnTo>
                  <a:lnTo>
                    <a:pt x="1013029" y="44045"/>
                  </a:lnTo>
                  <a:lnTo>
                    <a:pt x="1013354" y="47340"/>
                  </a:lnTo>
                  <a:lnTo>
                    <a:pt x="1013354" y="50667"/>
                  </a:lnTo>
                  <a:lnTo>
                    <a:pt x="1013354" y="557344"/>
                  </a:lnTo>
                  <a:lnTo>
                    <a:pt x="1013354" y="560671"/>
                  </a:lnTo>
                  <a:lnTo>
                    <a:pt x="1013029" y="563966"/>
                  </a:lnTo>
                  <a:lnTo>
                    <a:pt x="1012380" y="567229"/>
                  </a:lnTo>
                  <a:lnTo>
                    <a:pt x="1011731" y="570492"/>
                  </a:lnTo>
                  <a:lnTo>
                    <a:pt x="1010769" y="573660"/>
                  </a:lnTo>
                  <a:lnTo>
                    <a:pt x="1009496" y="576734"/>
                  </a:lnTo>
                  <a:lnTo>
                    <a:pt x="1008223" y="579807"/>
                  </a:lnTo>
                  <a:lnTo>
                    <a:pt x="990835" y="599473"/>
                  </a:lnTo>
                  <a:lnTo>
                    <a:pt x="988069" y="601321"/>
                  </a:lnTo>
                  <a:lnTo>
                    <a:pt x="962686" y="608012"/>
                  </a:lnTo>
                  <a:lnTo>
                    <a:pt x="50667" y="608012"/>
                  </a:lnTo>
                  <a:lnTo>
                    <a:pt x="22518" y="599473"/>
                  </a:lnTo>
                  <a:lnTo>
                    <a:pt x="19751" y="597624"/>
                  </a:lnTo>
                  <a:lnTo>
                    <a:pt x="17192" y="595524"/>
                  </a:lnTo>
                  <a:lnTo>
                    <a:pt x="14840" y="593172"/>
                  </a:lnTo>
                  <a:lnTo>
                    <a:pt x="12487" y="590819"/>
                  </a:lnTo>
                  <a:lnTo>
                    <a:pt x="10387" y="588260"/>
                  </a:lnTo>
                  <a:lnTo>
                    <a:pt x="8538" y="585494"/>
                  </a:lnTo>
                  <a:lnTo>
                    <a:pt x="6690" y="582727"/>
                  </a:lnTo>
                  <a:lnTo>
                    <a:pt x="5129" y="579807"/>
                  </a:lnTo>
                  <a:lnTo>
                    <a:pt x="3856" y="576734"/>
                  </a:lnTo>
                  <a:lnTo>
                    <a:pt x="2583" y="573660"/>
                  </a:lnTo>
                  <a:lnTo>
                    <a:pt x="1622" y="570492"/>
                  </a:lnTo>
                  <a:lnTo>
                    <a:pt x="973" y="567229"/>
                  </a:lnTo>
                  <a:lnTo>
                    <a:pt x="324" y="563966"/>
                  </a:lnTo>
                  <a:lnTo>
                    <a:pt x="0" y="560671"/>
                  </a:lnTo>
                  <a:lnTo>
                    <a:pt x="0" y="557344"/>
                  </a:lnTo>
                  <a:lnTo>
                    <a:pt x="0" y="50667"/>
                  </a:lnTo>
                  <a:lnTo>
                    <a:pt x="3856" y="31277"/>
                  </a:lnTo>
                  <a:lnTo>
                    <a:pt x="5129" y="28204"/>
                  </a:lnTo>
                  <a:lnTo>
                    <a:pt x="6690" y="25284"/>
                  </a:lnTo>
                  <a:lnTo>
                    <a:pt x="8539" y="22518"/>
                  </a:lnTo>
                  <a:lnTo>
                    <a:pt x="10387" y="19751"/>
                  </a:lnTo>
                  <a:lnTo>
                    <a:pt x="12487" y="17192"/>
                  </a:lnTo>
                  <a:lnTo>
                    <a:pt x="14840" y="14840"/>
                  </a:lnTo>
                  <a:lnTo>
                    <a:pt x="17192" y="12487"/>
                  </a:lnTo>
                  <a:lnTo>
                    <a:pt x="19751" y="10387"/>
                  </a:lnTo>
                  <a:lnTo>
                    <a:pt x="22518" y="8538"/>
                  </a:lnTo>
                  <a:lnTo>
                    <a:pt x="25284" y="6690"/>
                  </a:lnTo>
                  <a:lnTo>
                    <a:pt x="28204" y="5129"/>
                  </a:lnTo>
                  <a:lnTo>
                    <a:pt x="31277" y="3856"/>
                  </a:lnTo>
                  <a:lnTo>
                    <a:pt x="34351" y="2583"/>
                  </a:lnTo>
                  <a:lnTo>
                    <a:pt x="37519" y="1622"/>
                  </a:lnTo>
                  <a:lnTo>
                    <a:pt x="40782" y="973"/>
                  </a:lnTo>
                  <a:lnTo>
                    <a:pt x="44045" y="324"/>
                  </a:lnTo>
                  <a:lnTo>
                    <a:pt x="47340" y="0"/>
                  </a:lnTo>
                  <a:lnTo>
                    <a:pt x="50667" y="0"/>
                  </a:lnTo>
                  <a:close/>
                </a:path>
              </a:pathLst>
            </a:custGeom>
            <a:ln w="2026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8973587" y="2666250"/>
            <a:ext cx="541655" cy="4552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420"/>
              </a:spcBef>
            </a:pPr>
            <a:r>
              <a:rPr dirty="0" sz="1250" spc="-25" b="1">
                <a:solidFill>
                  <a:srgbClr val="1D40AF"/>
                </a:solidFill>
                <a:latin typeface="Roboto"/>
                <a:cs typeface="Roboto"/>
              </a:rPr>
              <a:t>PID</a:t>
            </a:r>
            <a:endParaRPr sz="1250">
              <a:latin typeface="Roboto"/>
              <a:cs typeface="Roboto"/>
            </a:endParaRPr>
          </a:p>
          <a:p>
            <a:pPr algn="ctr" marR="5080">
              <a:lnSpc>
                <a:spcPct val="100000"/>
              </a:lnSpc>
              <a:spcBef>
                <a:spcPts val="295"/>
              </a:spcBef>
            </a:pPr>
            <a:r>
              <a:rPr dirty="0" sz="1050" spc="-50">
                <a:solidFill>
                  <a:srgbClr val="1D40AF"/>
                </a:solidFill>
                <a:latin typeface="Roboto"/>
                <a:cs typeface="Roboto"/>
              </a:rPr>
              <a:t>Controller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10140107" y="2564500"/>
            <a:ext cx="1033780" cy="628650"/>
            <a:chOff x="10140107" y="2564500"/>
            <a:chExt cx="1033780" cy="628650"/>
          </a:xfrm>
        </p:grpSpPr>
        <p:sp>
          <p:nvSpPr>
            <p:cNvPr id="39" name="object 39" descr=""/>
            <p:cNvSpPr/>
            <p:nvPr/>
          </p:nvSpPr>
          <p:spPr>
            <a:xfrm>
              <a:off x="10150267" y="2574660"/>
              <a:ext cx="1013460" cy="608330"/>
            </a:xfrm>
            <a:custGeom>
              <a:avLst/>
              <a:gdLst/>
              <a:ahLst/>
              <a:cxnLst/>
              <a:rect l="l" t="t" r="r" b="b"/>
              <a:pathLst>
                <a:path w="1013459" h="608330">
                  <a:moveTo>
                    <a:pt x="966013" y="608012"/>
                  </a:moveTo>
                  <a:lnTo>
                    <a:pt x="47340" y="608012"/>
                  </a:lnTo>
                  <a:lnTo>
                    <a:pt x="44045" y="607687"/>
                  </a:lnTo>
                  <a:lnTo>
                    <a:pt x="10387" y="588260"/>
                  </a:lnTo>
                  <a:lnTo>
                    <a:pt x="0" y="560671"/>
                  </a:lnTo>
                  <a:lnTo>
                    <a:pt x="0" y="47340"/>
                  </a:lnTo>
                  <a:lnTo>
                    <a:pt x="17192" y="12487"/>
                  </a:lnTo>
                  <a:lnTo>
                    <a:pt x="47340" y="0"/>
                  </a:lnTo>
                  <a:lnTo>
                    <a:pt x="50668" y="0"/>
                  </a:lnTo>
                  <a:lnTo>
                    <a:pt x="966013" y="0"/>
                  </a:lnTo>
                  <a:lnTo>
                    <a:pt x="1000866" y="17192"/>
                  </a:lnTo>
                  <a:lnTo>
                    <a:pt x="1013354" y="47340"/>
                  </a:lnTo>
                  <a:lnTo>
                    <a:pt x="1013354" y="560671"/>
                  </a:lnTo>
                  <a:lnTo>
                    <a:pt x="996161" y="595524"/>
                  </a:lnTo>
                  <a:lnTo>
                    <a:pt x="969308" y="607687"/>
                  </a:lnTo>
                  <a:lnTo>
                    <a:pt x="966013" y="608012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10150267" y="2574660"/>
              <a:ext cx="1013460" cy="608330"/>
            </a:xfrm>
            <a:custGeom>
              <a:avLst/>
              <a:gdLst/>
              <a:ahLst/>
              <a:cxnLst/>
              <a:rect l="l" t="t" r="r" b="b"/>
              <a:pathLst>
                <a:path w="1013459" h="608330">
                  <a:moveTo>
                    <a:pt x="50668" y="0"/>
                  </a:moveTo>
                  <a:lnTo>
                    <a:pt x="962686" y="0"/>
                  </a:lnTo>
                  <a:lnTo>
                    <a:pt x="966013" y="0"/>
                  </a:lnTo>
                  <a:lnTo>
                    <a:pt x="969307" y="324"/>
                  </a:lnTo>
                  <a:lnTo>
                    <a:pt x="972570" y="973"/>
                  </a:lnTo>
                  <a:lnTo>
                    <a:pt x="975833" y="1622"/>
                  </a:lnTo>
                  <a:lnTo>
                    <a:pt x="979002" y="2583"/>
                  </a:lnTo>
                  <a:lnTo>
                    <a:pt x="982075" y="3856"/>
                  </a:lnTo>
                  <a:lnTo>
                    <a:pt x="985149" y="5129"/>
                  </a:lnTo>
                  <a:lnTo>
                    <a:pt x="988069" y="6690"/>
                  </a:lnTo>
                  <a:lnTo>
                    <a:pt x="990835" y="8538"/>
                  </a:lnTo>
                  <a:lnTo>
                    <a:pt x="993601" y="10387"/>
                  </a:lnTo>
                  <a:lnTo>
                    <a:pt x="996161" y="12487"/>
                  </a:lnTo>
                  <a:lnTo>
                    <a:pt x="998514" y="14840"/>
                  </a:lnTo>
                  <a:lnTo>
                    <a:pt x="1000866" y="17192"/>
                  </a:lnTo>
                  <a:lnTo>
                    <a:pt x="1009497" y="31277"/>
                  </a:lnTo>
                  <a:lnTo>
                    <a:pt x="1010770" y="34351"/>
                  </a:lnTo>
                  <a:lnTo>
                    <a:pt x="1013354" y="50667"/>
                  </a:lnTo>
                  <a:lnTo>
                    <a:pt x="1013354" y="557344"/>
                  </a:lnTo>
                  <a:lnTo>
                    <a:pt x="1009497" y="576734"/>
                  </a:lnTo>
                  <a:lnTo>
                    <a:pt x="1008223" y="579807"/>
                  </a:lnTo>
                  <a:lnTo>
                    <a:pt x="990835" y="599473"/>
                  </a:lnTo>
                  <a:lnTo>
                    <a:pt x="988069" y="601321"/>
                  </a:lnTo>
                  <a:lnTo>
                    <a:pt x="962686" y="608012"/>
                  </a:lnTo>
                  <a:lnTo>
                    <a:pt x="50668" y="608012"/>
                  </a:lnTo>
                  <a:lnTo>
                    <a:pt x="14840" y="593172"/>
                  </a:lnTo>
                  <a:lnTo>
                    <a:pt x="973" y="567229"/>
                  </a:lnTo>
                  <a:lnTo>
                    <a:pt x="324" y="563966"/>
                  </a:lnTo>
                  <a:lnTo>
                    <a:pt x="0" y="560671"/>
                  </a:lnTo>
                  <a:lnTo>
                    <a:pt x="0" y="557344"/>
                  </a:lnTo>
                  <a:lnTo>
                    <a:pt x="0" y="50667"/>
                  </a:lnTo>
                  <a:lnTo>
                    <a:pt x="0" y="47340"/>
                  </a:lnTo>
                  <a:lnTo>
                    <a:pt x="324" y="44045"/>
                  </a:lnTo>
                  <a:lnTo>
                    <a:pt x="973" y="40782"/>
                  </a:lnTo>
                  <a:lnTo>
                    <a:pt x="1622" y="37519"/>
                  </a:lnTo>
                  <a:lnTo>
                    <a:pt x="8539" y="22518"/>
                  </a:lnTo>
                  <a:lnTo>
                    <a:pt x="10387" y="19751"/>
                  </a:lnTo>
                  <a:lnTo>
                    <a:pt x="12487" y="17192"/>
                  </a:lnTo>
                  <a:lnTo>
                    <a:pt x="14840" y="14840"/>
                  </a:lnTo>
                  <a:lnTo>
                    <a:pt x="17192" y="12487"/>
                  </a:lnTo>
                  <a:lnTo>
                    <a:pt x="31277" y="3856"/>
                  </a:lnTo>
                  <a:lnTo>
                    <a:pt x="34351" y="2583"/>
                  </a:lnTo>
                  <a:lnTo>
                    <a:pt x="37519" y="1622"/>
                  </a:lnTo>
                  <a:lnTo>
                    <a:pt x="40783" y="973"/>
                  </a:lnTo>
                  <a:lnTo>
                    <a:pt x="44046" y="324"/>
                  </a:lnTo>
                  <a:lnTo>
                    <a:pt x="47340" y="0"/>
                  </a:lnTo>
                  <a:lnTo>
                    <a:pt x="50668" y="0"/>
                  </a:lnTo>
                  <a:close/>
                </a:path>
              </a:pathLst>
            </a:custGeom>
            <a:ln w="2026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0269477" y="2666250"/>
            <a:ext cx="788035" cy="4552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420"/>
              </a:spcBef>
            </a:pPr>
            <a:r>
              <a:rPr dirty="0" sz="1250" spc="-100" b="1">
                <a:solidFill>
                  <a:srgbClr val="1D40AF"/>
                </a:solidFill>
                <a:latin typeface="Roboto"/>
                <a:cs typeface="Roboto"/>
              </a:rPr>
              <a:t>Two-</a:t>
            </a:r>
            <a:r>
              <a:rPr dirty="0" sz="1250" spc="-20" b="1">
                <a:solidFill>
                  <a:srgbClr val="1D40AF"/>
                </a:solidFill>
                <a:latin typeface="Roboto"/>
                <a:cs typeface="Roboto"/>
              </a:rPr>
              <a:t>Area</a:t>
            </a:r>
            <a:endParaRPr sz="1250">
              <a:latin typeface="Roboto"/>
              <a:cs typeface="Roboto"/>
            </a:endParaRPr>
          </a:p>
          <a:p>
            <a:pPr algn="ctr" marR="5080">
              <a:lnSpc>
                <a:spcPct val="100000"/>
              </a:lnSpc>
              <a:spcBef>
                <a:spcPts val="295"/>
              </a:spcBef>
            </a:pPr>
            <a:r>
              <a:rPr dirty="0" sz="1050" spc="-60">
                <a:solidFill>
                  <a:srgbClr val="1D40AF"/>
                </a:solidFill>
                <a:latin typeface="Roboto"/>
                <a:cs typeface="Roboto"/>
              </a:rPr>
              <a:t>Power</a:t>
            </a:r>
            <a:r>
              <a:rPr dirty="0" sz="1050" spc="-25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50" spc="-60">
                <a:solidFill>
                  <a:srgbClr val="1D40AF"/>
                </a:solidFill>
                <a:latin typeface="Roboto"/>
                <a:cs typeface="Roboto"/>
              </a:rPr>
              <a:t>System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8721411" y="3679189"/>
            <a:ext cx="2452370" cy="628650"/>
            <a:chOff x="8721411" y="3679189"/>
            <a:chExt cx="2452370" cy="628650"/>
          </a:xfrm>
        </p:grpSpPr>
        <p:sp>
          <p:nvSpPr>
            <p:cNvPr id="43" name="object 43" descr=""/>
            <p:cNvSpPr/>
            <p:nvPr/>
          </p:nvSpPr>
          <p:spPr>
            <a:xfrm>
              <a:off x="8731571" y="3689349"/>
              <a:ext cx="2432050" cy="608330"/>
            </a:xfrm>
            <a:custGeom>
              <a:avLst/>
              <a:gdLst/>
              <a:ahLst/>
              <a:cxnLst/>
              <a:rect l="l" t="t" r="r" b="b"/>
              <a:pathLst>
                <a:path w="2432050" h="608329">
                  <a:moveTo>
                    <a:pt x="2384709" y="608012"/>
                  </a:moveTo>
                  <a:lnTo>
                    <a:pt x="47340" y="608012"/>
                  </a:lnTo>
                  <a:lnTo>
                    <a:pt x="44045" y="607687"/>
                  </a:lnTo>
                  <a:lnTo>
                    <a:pt x="10387" y="588259"/>
                  </a:lnTo>
                  <a:lnTo>
                    <a:pt x="0" y="560671"/>
                  </a:lnTo>
                  <a:lnTo>
                    <a:pt x="0" y="47340"/>
                  </a:lnTo>
                  <a:lnTo>
                    <a:pt x="17192" y="12487"/>
                  </a:lnTo>
                  <a:lnTo>
                    <a:pt x="47340" y="0"/>
                  </a:lnTo>
                  <a:lnTo>
                    <a:pt x="50667" y="0"/>
                  </a:lnTo>
                  <a:lnTo>
                    <a:pt x="2384709" y="0"/>
                  </a:lnTo>
                  <a:lnTo>
                    <a:pt x="2419562" y="17192"/>
                  </a:lnTo>
                  <a:lnTo>
                    <a:pt x="2432049" y="47340"/>
                  </a:lnTo>
                  <a:lnTo>
                    <a:pt x="2432049" y="560671"/>
                  </a:lnTo>
                  <a:lnTo>
                    <a:pt x="2414857" y="595524"/>
                  </a:lnTo>
                  <a:lnTo>
                    <a:pt x="2388003" y="607687"/>
                  </a:lnTo>
                  <a:lnTo>
                    <a:pt x="2384709" y="608012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731571" y="3689349"/>
              <a:ext cx="2432050" cy="608330"/>
            </a:xfrm>
            <a:custGeom>
              <a:avLst/>
              <a:gdLst/>
              <a:ahLst/>
              <a:cxnLst/>
              <a:rect l="l" t="t" r="r" b="b"/>
              <a:pathLst>
                <a:path w="2432050" h="608329">
                  <a:moveTo>
                    <a:pt x="50667" y="0"/>
                  </a:moveTo>
                  <a:lnTo>
                    <a:pt x="2381382" y="0"/>
                  </a:lnTo>
                  <a:lnTo>
                    <a:pt x="2384709" y="0"/>
                  </a:lnTo>
                  <a:lnTo>
                    <a:pt x="2388003" y="324"/>
                  </a:lnTo>
                  <a:lnTo>
                    <a:pt x="2391266" y="973"/>
                  </a:lnTo>
                  <a:lnTo>
                    <a:pt x="2394529" y="1622"/>
                  </a:lnTo>
                  <a:lnTo>
                    <a:pt x="2397697" y="2583"/>
                  </a:lnTo>
                  <a:lnTo>
                    <a:pt x="2400771" y="3856"/>
                  </a:lnTo>
                  <a:lnTo>
                    <a:pt x="2403845" y="5129"/>
                  </a:lnTo>
                  <a:lnTo>
                    <a:pt x="2406765" y="6690"/>
                  </a:lnTo>
                  <a:lnTo>
                    <a:pt x="2409531" y="8538"/>
                  </a:lnTo>
                  <a:lnTo>
                    <a:pt x="2412297" y="10387"/>
                  </a:lnTo>
                  <a:lnTo>
                    <a:pt x="2414857" y="12487"/>
                  </a:lnTo>
                  <a:lnTo>
                    <a:pt x="2417209" y="14840"/>
                  </a:lnTo>
                  <a:lnTo>
                    <a:pt x="2419562" y="17192"/>
                  </a:lnTo>
                  <a:lnTo>
                    <a:pt x="2428192" y="31277"/>
                  </a:lnTo>
                  <a:lnTo>
                    <a:pt x="2429466" y="34351"/>
                  </a:lnTo>
                  <a:lnTo>
                    <a:pt x="2432050" y="50667"/>
                  </a:lnTo>
                  <a:lnTo>
                    <a:pt x="2432050" y="557344"/>
                  </a:lnTo>
                  <a:lnTo>
                    <a:pt x="2428192" y="576733"/>
                  </a:lnTo>
                  <a:lnTo>
                    <a:pt x="2426919" y="579807"/>
                  </a:lnTo>
                  <a:lnTo>
                    <a:pt x="2417209" y="593171"/>
                  </a:lnTo>
                  <a:lnTo>
                    <a:pt x="2414857" y="595524"/>
                  </a:lnTo>
                  <a:lnTo>
                    <a:pt x="2381382" y="608012"/>
                  </a:lnTo>
                  <a:lnTo>
                    <a:pt x="50667" y="608012"/>
                  </a:lnTo>
                  <a:lnTo>
                    <a:pt x="14840" y="593171"/>
                  </a:lnTo>
                  <a:lnTo>
                    <a:pt x="12487" y="590819"/>
                  </a:lnTo>
                  <a:lnTo>
                    <a:pt x="10387" y="588259"/>
                  </a:lnTo>
                  <a:lnTo>
                    <a:pt x="8538" y="585493"/>
                  </a:lnTo>
                  <a:lnTo>
                    <a:pt x="6690" y="582727"/>
                  </a:lnTo>
                  <a:lnTo>
                    <a:pt x="0" y="560671"/>
                  </a:lnTo>
                  <a:lnTo>
                    <a:pt x="0" y="557344"/>
                  </a:lnTo>
                  <a:lnTo>
                    <a:pt x="0" y="50667"/>
                  </a:lnTo>
                  <a:lnTo>
                    <a:pt x="3856" y="31277"/>
                  </a:lnTo>
                  <a:lnTo>
                    <a:pt x="5129" y="28203"/>
                  </a:lnTo>
                  <a:lnTo>
                    <a:pt x="6690" y="25284"/>
                  </a:lnTo>
                  <a:lnTo>
                    <a:pt x="8539" y="22518"/>
                  </a:lnTo>
                  <a:lnTo>
                    <a:pt x="10387" y="19751"/>
                  </a:lnTo>
                  <a:lnTo>
                    <a:pt x="12487" y="17192"/>
                  </a:lnTo>
                  <a:lnTo>
                    <a:pt x="14840" y="14840"/>
                  </a:lnTo>
                  <a:lnTo>
                    <a:pt x="17192" y="12487"/>
                  </a:lnTo>
                  <a:lnTo>
                    <a:pt x="19751" y="10387"/>
                  </a:lnTo>
                  <a:lnTo>
                    <a:pt x="22518" y="8538"/>
                  </a:lnTo>
                  <a:lnTo>
                    <a:pt x="25284" y="6690"/>
                  </a:lnTo>
                  <a:lnTo>
                    <a:pt x="47340" y="0"/>
                  </a:lnTo>
                  <a:lnTo>
                    <a:pt x="50667" y="0"/>
                  </a:lnTo>
                  <a:close/>
                </a:path>
              </a:pathLst>
            </a:custGeom>
            <a:ln w="2026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 descr=""/>
          <p:cNvSpPr txBox="1"/>
          <p:nvPr/>
        </p:nvSpPr>
        <p:spPr>
          <a:xfrm>
            <a:off x="9022846" y="3780881"/>
            <a:ext cx="1862455" cy="45529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algn="ctr" marR="5715">
              <a:lnSpc>
                <a:spcPct val="100000"/>
              </a:lnSpc>
              <a:spcBef>
                <a:spcPts val="420"/>
              </a:spcBef>
            </a:pPr>
            <a:r>
              <a:rPr dirty="0" sz="1250" spc="-85" b="1">
                <a:solidFill>
                  <a:srgbClr val="1D40AF"/>
                </a:solidFill>
                <a:latin typeface="Roboto"/>
                <a:cs typeface="Roboto"/>
              </a:rPr>
              <a:t>Performance</a:t>
            </a:r>
            <a:r>
              <a:rPr dirty="0" sz="1250" spc="10" b="1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250" spc="-20" b="1">
                <a:solidFill>
                  <a:srgbClr val="1D40AF"/>
                </a:solidFill>
                <a:latin typeface="Roboto"/>
                <a:cs typeface="Roboto"/>
              </a:rPr>
              <a:t>Index</a:t>
            </a:r>
            <a:endParaRPr sz="1250">
              <a:latin typeface="Roboto"/>
              <a:cs typeface="Roboto"/>
            </a:endParaRPr>
          </a:p>
          <a:p>
            <a:pPr algn="ctr" marR="5080">
              <a:lnSpc>
                <a:spcPct val="100000"/>
              </a:lnSpc>
              <a:spcBef>
                <a:spcPts val="295"/>
              </a:spcBef>
            </a:pPr>
            <a:r>
              <a:rPr dirty="0" sz="1050" spc="-50">
                <a:solidFill>
                  <a:srgbClr val="1D40AF"/>
                </a:solidFill>
                <a:latin typeface="Roboto"/>
                <a:cs typeface="Roboto"/>
              </a:rPr>
              <a:t>ISE,</a:t>
            </a:r>
            <a:r>
              <a:rPr dirty="0" sz="1050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50" spc="-60">
                <a:solidFill>
                  <a:srgbClr val="1D40AF"/>
                </a:solidFill>
                <a:latin typeface="Roboto"/>
                <a:cs typeface="Roboto"/>
              </a:rPr>
              <a:t>ITAE,</a:t>
            </a:r>
            <a:r>
              <a:rPr dirty="0" sz="1050" spc="5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50" spc="-50">
                <a:solidFill>
                  <a:srgbClr val="1D40AF"/>
                </a:solidFill>
                <a:latin typeface="Roboto"/>
                <a:cs typeface="Roboto"/>
              </a:rPr>
              <a:t>Settling</a:t>
            </a:r>
            <a:r>
              <a:rPr dirty="0" sz="1050" spc="-15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50" spc="-60">
                <a:solidFill>
                  <a:srgbClr val="1D40AF"/>
                </a:solidFill>
                <a:latin typeface="Roboto"/>
                <a:cs typeface="Roboto"/>
              </a:rPr>
              <a:t>Time,</a:t>
            </a:r>
            <a:r>
              <a:rPr dirty="0" sz="1050" spc="5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1050" spc="-45">
                <a:solidFill>
                  <a:srgbClr val="1D40AF"/>
                </a:solidFill>
                <a:latin typeface="Roboto"/>
                <a:cs typeface="Roboto"/>
              </a:rPr>
              <a:t>Overshoot</a:t>
            </a:r>
            <a:endParaRPr sz="1050">
              <a:latin typeface="Roboto"/>
              <a:cs typeface="Roboto"/>
            </a:endParaRPr>
          </a:p>
        </p:txBody>
      </p:sp>
      <p:grpSp>
        <p:nvGrpSpPr>
          <p:cNvPr id="46" name="object 46" descr=""/>
          <p:cNvGrpSpPr/>
          <p:nvPr/>
        </p:nvGrpSpPr>
        <p:grpSpPr>
          <a:xfrm>
            <a:off x="7545947" y="2351722"/>
            <a:ext cx="3181985" cy="1652270"/>
            <a:chOff x="7545947" y="2351722"/>
            <a:chExt cx="3181985" cy="1652270"/>
          </a:xfrm>
        </p:grpSpPr>
        <p:sp>
          <p:nvSpPr>
            <p:cNvPr id="47" name="object 47" descr=""/>
            <p:cNvSpPr/>
            <p:nvPr/>
          </p:nvSpPr>
          <p:spPr>
            <a:xfrm>
              <a:off x="7616882" y="2371989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w="0" h="506730">
                  <a:moveTo>
                    <a:pt x="0" y="0"/>
                  </a:moveTo>
                  <a:lnTo>
                    <a:pt x="0" y="506677"/>
                  </a:lnTo>
                </a:path>
              </a:pathLst>
            </a:custGeom>
            <a:ln w="2026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7545948" y="2696262"/>
              <a:ext cx="142240" cy="203200"/>
            </a:xfrm>
            <a:custGeom>
              <a:avLst/>
              <a:gdLst/>
              <a:ahLst/>
              <a:cxnLst/>
              <a:rect l="l" t="t" r="r" b="b"/>
              <a:pathLst>
                <a:path w="142240" h="203200">
                  <a:moveTo>
                    <a:pt x="0" y="0"/>
                  </a:moveTo>
                  <a:lnTo>
                    <a:pt x="141869" y="0"/>
                  </a:lnTo>
                  <a:lnTo>
                    <a:pt x="70934" y="2026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7616882" y="2878666"/>
              <a:ext cx="1115060" cy="0"/>
            </a:xfrm>
            <a:custGeom>
              <a:avLst/>
              <a:gdLst/>
              <a:ahLst/>
              <a:cxnLst/>
              <a:rect l="l" t="t" r="r" b="b"/>
              <a:pathLst>
                <a:path w="1115059" h="0">
                  <a:moveTo>
                    <a:pt x="0" y="0"/>
                  </a:moveTo>
                  <a:lnTo>
                    <a:pt x="1114689" y="0"/>
                  </a:lnTo>
                </a:path>
              </a:pathLst>
            </a:custGeom>
            <a:ln w="2026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8549168" y="2807731"/>
              <a:ext cx="203200" cy="142240"/>
            </a:xfrm>
            <a:custGeom>
              <a:avLst/>
              <a:gdLst/>
              <a:ahLst/>
              <a:cxnLst/>
              <a:rect l="l" t="t" r="r" b="b"/>
              <a:pathLst>
                <a:path w="203200" h="142239">
                  <a:moveTo>
                    <a:pt x="0" y="141869"/>
                  </a:moveTo>
                  <a:lnTo>
                    <a:pt x="0" y="0"/>
                  </a:lnTo>
                  <a:lnTo>
                    <a:pt x="202670" y="70934"/>
                  </a:lnTo>
                  <a:lnTo>
                    <a:pt x="0" y="14186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9744926" y="2878666"/>
              <a:ext cx="405765" cy="0"/>
            </a:xfrm>
            <a:custGeom>
              <a:avLst/>
              <a:gdLst/>
              <a:ahLst/>
              <a:cxnLst/>
              <a:rect l="l" t="t" r="r" b="b"/>
              <a:pathLst>
                <a:path w="405765" h="0">
                  <a:moveTo>
                    <a:pt x="0" y="0"/>
                  </a:moveTo>
                  <a:lnTo>
                    <a:pt x="405341" y="0"/>
                  </a:lnTo>
                </a:path>
              </a:pathLst>
            </a:custGeom>
            <a:ln w="2026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9967864" y="2807731"/>
              <a:ext cx="203200" cy="142240"/>
            </a:xfrm>
            <a:custGeom>
              <a:avLst/>
              <a:gdLst/>
              <a:ahLst/>
              <a:cxnLst/>
              <a:rect l="l" t="t" r="r" b="b"/>
              <a:pathLst>
                <a:path w="203200" h="142239">
                  <a:moveTo>
                    <a:pt x="0" y="141869"/>
                  </a:moveTo>
                  <a:lnTo>
                    <a:pt x="0" y="0"/>
                  </a:lnTo>
                  <a:lnTo>
                    <a:pt x="202670" y="70934"/>
                  </a:lnTo>
                  <a:lnTo>
                    <a:pt x="0" y="14186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10656945" y="3182672"/>
              <a:ext cx="0" cy="506730"/>
            </a:xfrm>
            <a:custGeom>
              <a:avLst/>
              <a:gdLst/>
              <a:ahLst/>
              <a:cxnLst/>
              <a:rect l="l" t="t" r="r" b="b"/>
              <a:pathLst>
                <a:path w="0" h="506729">
                  <a:moveTo>
                    <a:pt x="0" y="0"/>
                  </a:moveTo>
                  <a:lnTo>
                    <a:pt x="0" y="506677"/>
                  </a:lnTo>
                </a:path>
              </a:pathLst>
            </a:custGeom>
            <a:ln w="2026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10586011" y="3506946"/>
              <a:ext cx="142240" cy="203200"/>
            </a:xfrm>
            <a:custGeom>
              <a:avLst/>
              <a:gdLst/>
              <a:ahLst/>
              <a:cxnLst/>
              <a:rect l="l" t="t" r="r" b="b"/>
              <a:pathLst>
                <a:path w="142240" h="203200">
                  <a:moveTo>
                    <a:pt x="0" y="0"/>
                  </a:moveTo>
                  <a:lnTo>
                    <a:pt x="141869" y="0"/>
                  </a:lnTo>
                  <a:lnTo>
                    <a:pt x="70934" y="2026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616882" y="2371989"/>
              <a:ext cx="1115060" cy="1621790"/>
            </a:xfrm>
            <a:custGeom>
              <a:avLst/>
              <a:gdLst/>
              <a:ahLst/>
              <a:cxnLst/>
              <a:rect l="l" t="t" r="r" b="b"/>
              <a:pathLst>
                <a:path w="1115059" h="1621789">
                  <a:moveTo>
                    <a:pt x="1114689" y="1621366"/>
                  </a:moveTo>
                  <a:lnTo>
                    <a:pt x="0" y="1621366"/>
                  </a:lnTo>
                </a:path>
                <a:path w="1115059" h="1621789">
                  <a:moveTo>
                    <a:pt x="0" y="1621366"/>
                  </a:moveTo>
                  <a:lnTo>
                    <a:pt x="0" y="0"/>
                  </a:lnTo>
                </a:path>
              </a:pathLst>
            </a:custGeom>
            <a:ln w="20267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545947" y="2351722"/>
              <a:ext cx="142240" cy="203200"/>
            </a:xfrm>
            <a:custGeom>
              <a:avLst/>
              <a:gdLst/>
              <a:ahLst/>
              <a:cxnLst/>
              <a:rect l="l" t="t" r="r" b="b"/>
              <a:pathLst>
                <a:path w="142240" h="203200">
                  <a:moveTo>
                    <a:pt x="141869" y="202670"/>
                  </a:moveTo>
                  <a:lnTo>
                    <a:pt x="0" y="202670"/>
                  </a:lnTo>
                  <a:lnTo>
                    <a:pt x="70934" y="0"/>
                  </a:lnTo>
                  <a:lnTo>
                    <a:pt x="141869" y="202670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 descr=""/>
          <p:cNvSpPr txBox="1"/>
          <p:nvPr/>
        </p:nvSpPr>
        <p:spPr>
          <a:xfrm>
            <a:off x="7551056" y="2550630"/>
            <a:ext cx="752475" cy="1606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850" spc="-40">
                <a:solidFill>
                  <a:srgbClr val="1D40AF"/>
                </a:solidFill>
                <a:latin typeface="Roboto"/>
                <a:cs typeface="Roboto"/>
              </a:rPr>
              <a:t>Optimized</a:t>
            </a:r>
            <a:r>
              <a:rPr dirty="0" sz="850" spc="25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850" spc="-10">
                <a:solidFill>
                  <a:srgbClr val="1D40AF"/>
                </a:solidFill>
                <a:latin typeface="Roboto"/>
                <a:cs typeface="Roboto"/>
              </a:rPr>
              <a:t>Gains</a:t>
            </a:r>
            <a:endParaRPr sz="850">
              <a:latin typeface="Roboto"/>
              <a:cs typeface="Roboto"/>
            </a:endParaRPr>
          </a:p>
        </p:txBody>
      </p:sp>
      <p:sp>
        <p:nvSpPr>
          <p:cNvPr id="58" name="object 58" descr=""/>
          <p:cNvSpPr txBox="1"/>
          <p:nvPr/>
        </p:nvSpPr>
        <p:spPr>
          <a:xfrm>
            <a:off x="9632396" y="2601227"/>
            <a:ext cx="643255" cy="1606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850" spc="-35">
                <a:solidFill>
                  <a:srgbClr val="1D40AF"/>
                </a:solidFill>
                <a:latin typeface="Roboto"/>
                <a:cs typeface="Roboto"/>
              </a:rPr>
              <a:t>Control</a:t>
            </a:r>
            <a:r>
              <a:rPr dirty="0" sz="850" spc="-15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850" spc="-10">
                <a:solidFill>
                  <a:srgbClr val="1D40AF"/>
                </a:solidFill>
                <a:latin typeface="Roboto"/>
                <a:cs typeface="Roboto"/>
              </a:rPr>
              <a:t>Signal</a:t>
            </a:r>
            <a:endParaRPr sz="850">
              <a:latin typeface="Roboto"/>
              <a:cs typeface="Roboto"/>
            </a:endParaRPr>
          </a:p>
        </p:txBody>
      </p:sp>
      <p:sp>
        <p:nvSpPr>
          <p:cNvPr id="59" name="object 59" descr=""/>
          <p:cNvSpPr txBox="1"/>
          <p:nvPr/>
        </p:nvSpPr>
        <p:spPr>
          <a:xfrm>
            <a:off x="10665179" y="3361230"/>
            <a:ext cx="300355" cy="1606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850" spc="-20">
                <a:solidFill>
                  <a:srgbClr val="1D40AF"/>
                </a:solidFill>
                <a:latin typeface="Roboto"/>
                <a:cs typeface="Roboto"/>
              </a:rPr>
              <a:t>States</a:t>
            </a:r>
            <a:endParaRPr sz="850">
              <a:latin typeface="Roboto"/>
              <a:cs typeface="Roboto"/>
            </a:endParaRPr>
          </a:p>
        </p:txBody>
      </p:sp>
      <p:sp>
        <p:nvSpPr>
          <p:cNvPr id="60" name="object 60" descr=""/>
          <p:cNvSpPr txBox="1"/>
          <p:nvPr/>
        </p:nvSpPr>
        <p:spPr>
          <a:xfrm>
            <a:off x="7686181" y="4019890"/>
            <a:ext cx="989330" cy="1606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850" spc="-40">
                <a:solidFill>
                  <a:srgbClr val="1D40AF"/>
                </a:solidFill>
                <a:latin typeface="Roboto"/>
                <a:cs typeface="Roboto"/>
              </a:rPr>
              <a:t>Feedback</a:t>
            </a:r>
            <a:r>
              <a:rPr dirty="0" sz="850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850" spc="-35">
                <a:solidFill>
                  <a:srgbClr val="1D40AF"/>
                </a:solidFill>
                <a:latin typeface="Roboto"/>
                <a:cs typeface="Roboto"/>
              </a:rPr>
              <a:t>to</a:t>
            </a:r>
            <a:r>
              <a:rPr dirty="0" sz="850" spc="5">
                <a:solidFill>
                  <a:srgbClr val="1D40AF"/>
                </a:solidFill>
                <a:latin typeface="Roboto"/>
                <a:cs typeface="Roboto"/>
              </a:rPr>
              <a:t> </a:t>
            </a:r>
            <a:r>
              <a:rPr dirty="0" sz="850" spc="-20">
                <a:solidFill>
                  <a:srgbClr val="1D40AF"/>
                </a:solidFill>
                <a:latin typeface="Roboto"/>
                <a:cs typeface="Roboto"/>
              </a:rPr>
              <a:t>Optimize</a:t>
            </a:r>
            <a:endParaRPr sz="850">
              <a:latin typeface="Roboto"/>
              <a:cs typeface="Roboto"/>
            </a:endParaRPr>
          </a:p>
        </p:txBody>
      </p:sp>
      <p:sp>
        <p:nvSpPr>
          <p:cNvPr id="61" name="object 61" descr=""/>
          <p:cNvSpPr txBox="1"/>
          <p:nvPr/>
        </p:nvSpPr>
        <p:spPr>
          <a:xfrm>
            <a:off x="9022102" y="2398540"/>
            <a:ext cx="445134" cy="1606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</a:pPr>
            <a:r>
              <a:rPr dirty="0" sz="850" spc="-35" b="1">
                <a:solidFill>
                  <a:srgbClr val="EF4444"/>
                </a:solidFill>
                <a:latin typeface="Roboto"/>
                <a:cs typeface="Roboto"/>
              </a:rPr>
              <a:t>Kp,</a:t>
            </a:r>
            <a:r>
              <a:rPr dirty="0" sz="850" spc="-10" b="1">
                <a:solidFill>
                  <a:srgbClr val="EF4444"/>
                </a:solidFill>
                <a:latin typeface="Roboto"/>
                <a:cs typeface="Roboto"/>
              </a:rPr>
              <a:t> </a:t>
            </a:r>
            <a:r>
              <a:rPr dirty="0" sz="850" spc="-30" b="1">
                <a:solidFill>
                  <a:srgbClr val="EF4444"/>
                </a:solidFill>
                <a:latin typeface="Roboto"/>
                <a:cs typeface="Roboto"/>
              </a:rPr>
              <a:t>Ki,</a:t>
            </a:r>
            <a:r>
              <a:rPr dirty="0" sz="850" spc="-5" b="1">
                <a:solidFill>
                  <a:srgbClr val="EF4444"/>
                </a:solidFill>
                <a:latin typeface="Roboto"/>
                <a:cs typeface="Roboto"/>
              </a:rPr>
              <a:t> </a:t>
            </a:r>
            <a:r>
              <a:rPr dirty="0" sz="850" spc="-25" b="1">
                <a:solidFill>
                  <a:srgbClr val="EF4444"/>
                </a:solidFill>
                <a:latin typeface="Roboto"/>
                <a:cs typeface="Roboto"/>
              </a:rPr>
              <a:t>Kd</a:t>
            </a:r>
            <a:endParaRPr sz="850">
              <a:latin typeface="Roboto"/>
              <a:cs typeface="Roboto"/>
            </a:endParaRPr>
          </a:p>
        </p:txBody>
      </p:sp>
      <p:sp>
        <p:nvSpPr>
          <p:cNvPr id="62" name="object 62" descr=""/>
          <p:cNvSpPr/>
          <p:nvPr/>
        </p:nvSpPr>
        <p:spPr>
          <a:xfrm>
            <a:off x="6410312" y="5381625"/>
            <a:ext cx="38100" cy="723900"/>
          </a:xfrm>
          <a:custGeom>
            <a:avLst/>
            <a:gdLst/>
            <a:ahLst/>
            <a:cxnLst/>
            <a:rect l="l" t="t" r="r" b="b"/>
            <a:pathLst>
              <a:path w="38100" h="723900">
                <a:moveTo>
                  <a:pt x="38100" y="702335"/>
                </a:moveTo>
                <a:lnTo>
                  <a:pt x="21577" y="685800"/>
                </a:lnTo>
                <a:lnTo>
                  <a:pt x="16535" y="685800"/>
                </a:lnTo>
                <a:lnTo>
                  <a:pt x="0" y="702335"/>
                </a:lnTo>
                <a:lnTo>
                  <a:pt x="0" y="707377"/>
                </a:lnTo>
                <a:lnTo>
                  <a:pt x="16535" y="723900"/>
                </a:lnTo>
                <a:lnTo>
                  <a:pt x="21577" y="723900"/>
                </a:lnTo>
                <a:lnTo>
                  <a:pt x="38100" y="707377"/>
                </a:lnTo>
                <a:lnTo>
                  <a:pt x="38100" y="704850"/>
                </a:lnTo>
                <a:lnTo>
                  <a:pt x="38100" y="702335"/>
                </a:lnTo>
                <a:close/>
              </a:path>
              <a:path w="38100" h="723900">
                <a:moveTo>
                  <a:pt x="38100" y="473735"/>
                </a:moveTo>
                <a:lnTo>
                  <a:pt x="21577" y="457200"/>
                </a:lnTo>
                <a:lnTo>
                  <a:pt x="16535" y="457200"/>
                </a:lnTo>
                <a:lnTo>
                  <a:pt x="0" y="473735"/>
                </a:lnTo>
                <a:lnTo>
                  <a:pt x="0" y="478777"/>
                </a:lnTo>
                <a:lnTo>
                  <a:pt x="16535" y="495300"/>
                </a:lnTo>
                <a:lnTo>
                  <a:pt x="21577" y="495300"/>
                </a:lnTo>
                <a:lnTo>
                  <a:pt x="38100" y="478777"/>
                </a:lnTo>
                <a:lnTo>
                  <a:pt x="38100" y="476250"/>
                </a:lnTo>
                <a:lnTo>
                  <a:pt x="38100" y="473735"/>
                </a:lnTo>
                <a:close/>
              </a:path>
              <a:path w="38100" h="723900">
                <a:moveTo>
                  <a:pt x="38100" y="245135"/>
                </a:moveTo>
                <a:lnTo>
                  <a:pt x="21577" y="228600"/>
                </a:lnTo>
                <a:lnTo>
                  <a:pt x="16535" y="228600"/>
                </a:lnTo>
                <a:lnTo>
                  <a:pt x="0" y="245135"/>
                </a:lnTo>
                <a:lnTo>
                  <a:pt x="0" y="250177"/>
                </a:lnTo>
                <a:lnTo>
                  <a:pt x="16535" y="266700"/>
                </a:lnTo>
                <a:lnTo>
                  <a:pt x="21577" y="266700"/>
                </a:lnTo>
                <a:lnTo>
                  <a:pt x="38100" y="250177"/>
                </a:lnTo>
                <a:lnTo>
                  <a:pt x="38100" y="247650"/>
                </a:lnTo>
                <a:lnTo>
                  <a:pt x="38100" y="245135"/>
                </a:lnTo>
                <a:close/>
              </a:path>
              <a:path w="38100" h="723900">
                <a:moveTo>
                  <a:pt x="38100" y="16522"/>
                </a:moveTo>
                <a:lnTo>
                  <a:pt x="21577" y="0"/>
                </a:lnTo>
                <a:lnTo>
                  <a:pt x="16535" y="0"/>
                </a:lnTo>
                <a:lnTo>
                  <a:pt x="0" y="16522"/>
                </a:lnTo>
                <a:lnTo>
                  <a:pt x="0" y="21577"/>
                </a:lnTo>
                <a:lnTo>
                  <a:pt x="16535" y="38100"/>
                </a:lnTo>
                <a:lnTo>
                  <a:pt x="21577" y="38100"/>
                </a:lnTo>
                <a:lnTo>
                  <a:pt x="38100" y="21577"/>
                </a:lnTo>
                <a:lnTo>
                  <a:pt x="38100" y="19050"/>
                </a:lnTo>
                <a:lnTo>
                  <a:pt x="38100" y="1652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 descr=""/>
          <p:cNvSpPr txBox="1"/>
          <p:nvPr/>
        </p:nvSpPr>
        <p:spPr>
          <a:xfrm>
            <a:off x="6349999" y="4852506"/>
            <a:ext cx="3643629" cy="131445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300" spc="-75" b="1">
                <a:solidFill>
                  <a:srgbClr val="1D3A8A"/>
                </a:solidFill>
                <a:latin typeface="Roboto"/>
                <a:cs typeface="Roboto"/>
              </a:rPr>
              <a:t>Key</a:t>
            </a:r>
            <a:r>
              <a:rPr dirty="0" sz="1300" spc="-10" b="1">
                <a:solidFill>
                  <a:srgbClr val="1D3A8A"/>
                </a:solidFill>
                <a:latin typeface="Roboto"/>
                <a:cs typeface="Roboto"/>
              </a:rPr>
              <a:t> Advantages</a:t>
            </a:r>
            <a:endParaRPr sz="1300">
              <a:latin typeface="Roboto"/>
              <a:cs typeface="Roboto"/>
            </a:endParaRPr>
          </a:p>
          <a:p>
            <a:pPr marL="202565" marR="5080">
              <a:lnSpc>
                <a:spcPct val="130400"/>
              </a:lnSpc>
              <a:spcBef>
                <a:spcPts val="420"/>
              </a:spcBef>
            </a:pPr>
            <a:r>
              <a:rPr dirty="0" sz="1150" spc="-55">
                <a:latin typeface="Roboto"/>
                <a:cs typeface="Roboto"/>
              </a:rPr>
              <a:t>Objective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60">
                <a:latin typeface="Roboto"/>
                <a:cs typeface="Roboto"/>
              </a:rPr>
              <a:t>parameter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optimization</a:t>
            </a:r>
            <a:r>
              <a:rPr dirty="0" sz="1150" spc="5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without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empirical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40">
                <a:latin typeface="Roboto"/>
                <a:cs typeface="Roboto"/>
              </a:rPr>
              <a:t>tuning </a:t>
            </a:r>
            <a:r>
              <a:rPr dirty="0" sz="1150" spc="-55">
                <a:latin typeface="Roboto"/>
                <a:cs typeface="Roboto"/>
              </a:rPr>
              <a:t>Handles</a:t>
            </a:r>
            <a:r>
              <a:rPr dirty="0" sz="1150" spc="10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multi-</a:t>
            </a:r>
            <a:r>
              <a:rPr dirty="0" sz="1150" spc="-65">
                <a:latin typeface="Roboto"/>
                <a:cs typeface="Roboto"/>
              </a:rPr>
              <a:t>area</a:t>
            </a:r>
            <a:r>
              <a:rPr dirty="0" sz="1150" spc="15">
                <a:latin typeface="Roboto"/>
                <a:cs typeface="Roboto"/>
              </a:rPr>
              <a:t> </a:t>
            </a:r>
            <a:r>
              <a:rPr dirty="0" sz="1150" spc="-65">
                <a:latin typeface="Roboto"/>
                <a:cs typeface="Roboto"/>
              </a:rPr>
              <a:t>system</a:t>
            </a:r>
            <a:r>
              <a:rPr dirty="0" sz="1150" spc="15">
                <a:latin typeface="Roboto"/>
                <a:cs typeface="Roboto"/>
              </a:rPr>
              <a:t> </a:t>
            </a:r>
            <a:r>
              <a:rPr dirty="0" sz="1150" spc="-55">
                <a:latin typeface="Roboto"/>
                <a:cs typeface="Roboto"/>
              </a:rPr>
              <a:t>complexity</a:t>
            </a:r>
            <a:r>
              <a:rPr dirty="0" sz="1150" spc="15">
                <a:latin typeface="Roboto"/>
                <a:cs typeface="Roboto"/>
              </a:rPr>
              <a:t> </a:t>
            </a:r>
            <a:r>
              <a:rPr dirty="0" sz="1150" spc="-60">
                <a:latin typeface="Roboto"/>
                <a:cs typeface="Roboto"/>
              </a:rPr>
              <a:t>and</a:t>
            </a:r>
            <a:r>
              <a:rPr dirty="0" sz="1150" spc="15">
                <a:latin typeface="Roboto"/>
                <a:cs typeface="Roboto"/>
              </a:rPr>
              <a:t> </a:t>
            </a:r>
            <a:r>
              <a:rPr dirty="0" sz="1150" spc="-10">
                <a:latin typeface="Roboto"/>
                <a:cs typeface="Roboto"/>
              </a:rPr>
              <a:t>nonlinearities </a:t>
            </a:r>
            <a:r>
              <a:rPr dirty="0" sz="1150" spc="-55">
                <a:latin typeface="Roboto"/>
                <a:cs typeface="Roboto"/>
              </a:rPr>
              <a:t>Adapts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60">
                <a:latin typeface="Roboto"/>
                <a:cs typeface="Roboto"/>
              </a:rPr>
              <a:t>to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varying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65">
                <a:latin typeface="Roboto"/>
                <a:cs typeface="Roboto"/>
              </a:rPr>
              <a:t>system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45">
                <a:latin typeface="Roboto"/>
                <a:cs typeface="Roboto"/>
              </a:rPr>
              <a:t>conditions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60">
                <a:latin typeface="Roboto"/>
                <a:cs typeface="Roboto"/>
              </a:rPr>
              <a:t>and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10">
                <a:latin typeface="Roboto"/>
                <a:cs typeface="Roboto"/>
              </a:rPr>
              <a:t>disturbances </a:t>
            </a:r>
            <a:r>
              <a:rPr dirty="0" sz="1150" spc="-55">
                <a:latin typeface="Roboto"/>
                <a:cs typeface="Roboto"/>
              </a:rPr>
              <a:t>Compatible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with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45">
                <a:latin typeface="Roboto"/>
                <a:cs typeface="Roboto"/>
              </a:rPr>
              <a:t>existing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85">
                <a:latin typeface="Roboto"/>
                <a:cs typeface="Roboto"/>
              </a:rPr>
              <a:t>AGC</a:t>
            </a:r>
            <a:r>
              <a:rPr dirty="0" sz="1150" spc="-10">
                <a:latin typeface="Roboto"/>
                <a:cs typeface="Roboto"/>
              </a:rPr>
              <a:t> infrastructure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64" name="object 64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65" name="object 65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6" name="object 6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67" name="object 67" descr=""/>
          <p:cNvSpPr txBox="1"/>
          <p:nvPr/>
        </p:nvSpPr>
        <p:spPr>
          <a:xfrm>
            <a:off x="10833000" y="6445249"/>
            <a:ext cx="106680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05749" y="3714749"/>
            <a:ext cx="3810000" cy="2667000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8613675" y="3801347"/>
            <a:ext cx="241300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0" b="1">
                <a:solidFill>
                  <a:srgbClr val="1D3A8A"/>
                </a:solidFill>
                <a:latin typeface="Roboto"/>
                <a:cs typeface="Roboto"/>
              </a:rPr>
              <a:t>Advanced</a:t>
            </a:r>
            <a:r>
              <a:rPr dirty="0" sz="1150" spc="-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150" spc="-50" b="1">
                <a:solidFill>
                  <a:srgbClr val="1D3A8A"/>
                </a:solidFill>
                <a:latin typeface="Roboto"/>
                <a:cs typeface="Roboto"/>
              </a:rPr>
              <a:t>Control</a:t>
            </a:r>
            <a:r>
              <a:rPr dirty="0" sz="1150" spc="-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150" spc="-60" b="1">
                <a:solidFill>
                  <a:srgbClr val="1D3A8A"/>
                </a:solidFill>
                <a:latin typeface="Roboto"/>
                <a:cs typeface="Roboto"/>
              </a:rPr>
              <a:t>Methods</a:t>
            </a:r>
            <a:r>
              <a:rPr dirty="0" sz="1150" spc="-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150" spc="-55" b="1">
                <a:solidFill>
                  <a:srgbClr val="1D3A8A"/>
                </a:solidFill>
                <a:latin typeface="Roboto"/>
                <a:cs typeface="Roboto"/>
              </a:rPr>
              <a:t>Comparison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8384375" y="4391025"/>
            <a:ext cx="2865120" cy="1531620"/>
          </a:xfrm>
          <a:custGeom>
            <a:avLst/>
            <a:gdLst/>
            <a:ahLst/>
            <a:cxnLst/>
            <a:rect l="l" t="t" r="r" b="b"/>
            <a:pathLst>
              <a:path w="2865120" h="1531620">
                <a:moveTo>
                  <a:pt x="2864637" y="1516862"/>
                </a:moveTo>
                <a:lnTo>
                  <a:pt x="14287" y="1516862"/>
                </a:lnTo>
                <a:lnTo>
                  <a:pt x="14287" y="0"/>
                </a:lnTo>
                <a:lnTo>
                  <a:pt x="0" y="0"/>
                </a:lnTo>
                <a:lnTo>
                  <a:pt x="0" y="1524000"/>
                </a:lnTo>
                <a:lnTo>
                  <a:pt x="7137" y="1524000"/>
                </a:lnTo>
                <a:lnTo>
                  <a:pt x="7137" y="1531150"/>
                </a:lnTo>
                <a:lnTo>
                  <a:pt x="2864637" y="1531150"/>
                </a:lnTo>
                <a:lnTo>
                  <a:pt x="2864637" y="1516862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8096628" y="4889270"/>
            <a:ext cx="143510" cy="527685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019"/>
              </a:lnSpc>
            </a:pPr>
            <a:r>
              <a:rPr dirty="0" sz="1000" spc="-55">
                <a:solidFill>
                  <a:srgbClr val="666666"/>
                </a:solidFill>
                <a:latin typeface="Roboto"/>
                <a:cs typeface="Roboto"/>
              </a:rPr>
              <a:t>Response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8382634" y="5138982"/>
            <a:ext cx="2867660" cy="779780"/>
          </a:xfrm>
          <a:custGeom>
            <a:avLst/>
            <a:gdLst/>
            <a:ahLst/>
            <a:cxnLst/>
            <a:rect l="l" t="t" r="r" b="b"/>
            <a:pathLst>
              <a:path w="2867659" h="779779">
                <a:moveTo>
                  <a:pt x="17780" y="779462"/>
                </a:moveTo>
                <a:lnTo>
                  <a:pt x="0" y="772623"/>
                </a:lnTo>
                <a:lnTo>
                  <a:pt x="4479" y="761022"/>
                </a:lnTo>
                <a:lnTo>
                  <a:pt x="8958" y="749509"/>
                </a:lnTo>
                <a:lnTo>
                  <a:pt x="13437" y="738084"/>
                </a:lnTo>
                <a:lnTo>
                  <a:pt x="17916" y="726747"/>
                </a:lnTo>
                <a:lnTo>
                  <a:pt x="35624" y="733771"/>
                </a:lnTo>
                <a:lnTo>
                  <a:pt x="31163" y="745062"/>
                </a:lnTo>
                <a:lnTo>
                  <a:pt x="26702" y="756441"/>
                </a:lnTo>
                <a:lnTo>
                  <a:pt x="22241" y="767907"/>
                </a:lnTo>
                <a:lnTo>
                  <a:pt x="17780" y="779462"/>
                </a:lnTo>
                <a:close/>
              </a:path>
              <a:path w="2867659" h="779779">
                <a:moveTo>
                  <a:pt x="46328" y="707036"/>
                </a:moveTo>
                <a:lnTo>
                  <a:pt x="28667" y="699896"/>
                </a:lnTo>
                <a:lnTo>
                  <a:pt x="33147" y="688857"/>
                </a:lnTo>
                <a:lnTo>
                  <a:pt x="37627" y="677906"/>
                </a:lnTo>
                <a:lnTo>
                  <a:pt x="42108" y="667043"/>
                </a:lnTo>
                <a:lnTo>
                  <a:pt x="46588" y="656269"/>
                </a:lnTo>
                <a:lnTo>
                  <a:pt x="64167" y="663609"/>
                </a:lnTo>
                <a:lnTo>
                  <a:pt x="59708" y="674333"/>
                </a:lnTo>
                <a:lnTo>
                  <a:pt x="55248" y="685146"/>
                </a:lnTo>
                <a:lnTo>
                  <a:pt x="50788" y="696047"/>
                </a:lnTo>
                <a:lnTo>
                  <a:pt x="46328" y="707036"/>
                </a:lnTo>
                <a:close/>
              </a:path>
              <a:path w="2867659" h="779779">
                <a:moveTo>
                  <a:pt x="74869" y="638231"/>
                </a:moveTo>
                <a:lnTo>
                  <a:pt x="57342" y="630766"/>
                </a:lnTo>
                <a:lnTo>
                  <a:pt x="62213" y="619384"/>
                </a:lnTo>
                <a:lnTo>
                  <a:pt x="67083" y="608107"/>
                </a:lnTo>
                <a:lnTo>
                  <a:pt x="71954" y="596933"/>
                </a:lnTo>
                <a:lnTo>
                  <a:pt x="76824" y="585863"/>
                </a:lnTo>
                <a:lnTo>
                  <a:pt x="94248" y="593565"/>
                </a:lnTo>
                <a:lnTo>
                  <a:pt x="89403" y="604575"/>
                </a:lnTo>
                <a:lnTo>
                  <a:pt x="84559" y="615689"/>
                </a:lnTo>
                <a:lnTo>
                  <a:pt x="79714" y="626908"/>
                </a:lnTo>
                <a:lnTo>
                  <a:pt x="74869" y="638231"/>
                </a:lnTo>
                <a:close/>
              </a:path>
              <a:path w="2867659" h="779779">
                <a:moveTo>
                  <a:pt x="106011" y="567263"/>
                </a:moveTo>
                <a:lnTo>
                  <a:pt x="88655" y="559410"/>
                </a:lnTo>
                <a:lnTo>
                  <a:pt x="93585" y="548567"/>
                </a:lnTo>
                <a:lnTo>
                  <a:pt x="98515" y="537831"/>
                </a:lnTo>
                <a:lnTo>
                  <a:pt x="103446" y="527202"/>
                </a:lnTo>
                <a:lnTo>
                  <a:pt x="108377" y="516679"/>
                </a:lnTo>
                <a:lnTo>
                  <a:pt x="125611" y="524796"/>
                </a:lnTo>
                <a:lnTo>
                  <a:pt x="120711" y="535253"/>
                </a:lnTo>
                <a:lnTo>
                  <a:pt x="115811" y="545816"/>
                </a:lnTo>
                <a:lnTo>
                  <a:pt x="110911" y="556487"/>
                </a:lnTo>
                <a:lnTo>
                  <a:pt x="106011" y="567263"/>
                </a:lnTo>
                <a:close/>
              </a:path>
              <a:path w="2867659" h="779779">
                <a:moveTo>
                  <a:pt x="137458" y="499950"/>
                </a:moveTo>
                <a:lnTo>
                  <a:pt x="120304" y="491667"/>
                </a:lnTo>
                <a:lnTo>
                  <a:pt x="125770" y="480411"/>
                </a:lnTo>
                <a:lnTo>
                  <a:pt x="131237" y="469287"/>
                </a:lnTo>
                <a:lnTo>
                  <a:pt x="136704" y="458294"/>
                </a:lnTo>
                <a:lnTo>
                  <a:pt x="142171" y="447432"/>
                </a:lnTo>
                <a:lnTo>
                  <a:pt x="159166" y="456038"/>
                </a:lnTo>
                <a:lnTo>
                  <a:pt x="153739" y="466821"/>
                </a:lnTo>
                <a:lnTo>
                  <a:pt x="148312" y="477733"/>
                </a:lnTo>
                <a:lnTo>
                  <a:pt x="142885" y="488777"/>
                </a:lnTo>
                <a:lnTo>
                  <a:pt x="137458" y="499950"/>
                </a:lnTo>
                <a:close/>
              </a:path>
              <a:path w="2867659" h="779779">
                <a:moveTo>
                  <a:pt x="172186" y="430701"/>
                </a:moveTo>
                <a:lnTo>
                  <a:pt x="155296" y="421891"/>
                </a:lnTo>
                <a:lnTo>
                  <a:pt x="160767" y="411468"/>
                </a:lnTo>
                <a:lnTo>
                  <a:pt x="166238" y="401176"/>
                </a:lnTo>
                <a:lnTo>
                  <a:pt x="171708" y="391016"/>
                </a:lnTo>
                <a:lnTo>
                  <a:pt x="177179" y="380988"/>
                </a:lnTo>
                <a:lnTo>
                  <a:pt x="193877" y="390157"/>
                </a:lnTo>
                <a:lnTo>
                  <a:pt x="188454" y="400098"/>
                </a:lnTo>
                <a:lnTo>
                  <a:pt x="183031" y="410169"/>
                </a:lnTo>
                <a:lnTo>
                  <a:pt x="177609" y="420370"/>
                </a:lnTo>
                <a:lnTo>
                  <a:pt x="172186" y="430701"/>
                </a:lnTo>
                <a:close/>
              </a:path>
              <a:path w="2867659" h="779779">
                <a:moveTo>
                  <a:pt x="208185" y="364554"/>
                </a:moveTo>
                <a:lnTo>
                  <a:pt x="191627" y="355134"/>
                </a:lnTo>
                <a:lnTo>
                  <a:pt x="197746" y="344460"/>
                </a:lnTo>
                <a:lnTo>
                  <a:pt x="203866" y="333950"/>
                </a:lnTo>
                <a:lnTo>
                  <a:pt x="209986" y="323604"/>
                </a:lnTo>
                <a:lnTo>
                  <a:pt x="216106" y="313421"/>
                </a:lnTo>
                <a:lnTo>
                  <a:pt x="232398" y="323293"/>
                </a:lnTo>
                <a:lnTo>
                  <a:pt x="226345" y="333364"/>
                </a:lnTo>
                <a:lnTo>
                  <a:pt x="220292" y="343598"/>
                </a:lnTo>
                <a:lnTo>
                  <a:pt x="214239" y="353994"/>
                </a:lnTo>
                <a:lnTo>
                  <a:pt x="208185" y="364554"/>
                </a:lnTo>
                <a:close/>
              </a:path>
              <a:path w="2867659" h="779779">
                <a:moveTo>
                  <a:pt x="246917" y="299800"/>
                </a:moveTo>
                <a:lnTo>
                  <a:pt x="230803" y="289640"/>
                </a:lnTo>
                <a:lnTo>
                  <a:pt x="237327" y="279388"/>
                </a:lnTo>
                <a:lnTo>
                  <a:pt x="244093" y="268947"/>
                </a:lnTo>
                <a:lnTo>
                  <a:pt x="250740" y="258890"/>
                </a:lnTo>
                <a:lnTo>
                  <a:pt x="257387" y="249025"/>
                </a:lnTo>
                <a:lnTo>
                  <a:pt x="273136" y="259743"/>
                </a:lnTo>
                <a:lnTo>
                  <a:pt x="266583" y="269469"/>
                </a:lnTo>
                <a:lnTo>
                  <a:pt x="260154" y="279197"/>
                </a:lnTo>
                <a:lnTo>
                  <a:pt x="253473" y="289498"/>
                </a:lnTo>
                <a:lnTo>
                  <a:pt x="246917" y="299800"/>
                </a:lnTo>
                <a:close/>
              </a:path>
              <a:path w="2867659" h="779779">
                <a:moveTo>
                  <a:pt x="289469" y="236333"/>
                </a:moveTo>
                <a:lnTo>
                  <a:pt x="273979" y="225245"/>
                </a:lnTo>
                <a:lnTo>
                  <a:pt x="280989" y="215560"/>
                </a:lnTo>
                <a:lnTo>
                  <a:pt x="287999" y="206089"/>
                </a:lnTo>
                <a:lnTo>
                  <a:pt x="295011" y="196832"/>
                </a:lnTo>
                <a:lnTo>
                  <a:pt x="302023" y="187788"/>
                </a:lnTo>
                <a:lnTo>
                  <a:pt x="317010" y="199548"/>
                </a:lnTo>
                <a:lnTo>
                  <a:pt x="310126" y="208426"/>
                </a:lnTo>
                <a:lnTo>
                  <a:pt x="303241" y="217517"/>
                </a:lnTo>
                <a:lnTo>
                  <a:pt x="296356" y="226819"/>
                </a:lnTo>
                <a:lnTo>
                  <a:pt x="289469" y="236333"/>
                </a:lnTo>
                <a:close/>
              </a:path>
              <a:path w="2867659" h="779779">
                <a:moveTo>
                  <a:pt x="335506" y="176739"/>
                </a:moveTo>
                <a:lnTo>
                  <a:pt x="320912" y="164495"/>
                </a:lnTo>
                <a:lnTo>
                  <a:pt x="328794" y="155235"/>
                </a:lnTo>
                <a:lnTo>
                  <a:pt x="336678" y="146244"/>
                </a:lnTo>
                <a:lnTo>
                  <a:pt x="344564" y="137521"/>
                </a:lnTo>
                <a:lnTo>
                  <a:pt x="352451" y="129068"/>
                </a:lnTo>
                <a:lnTo>
                  <a:pt x="366275" y="142175"/>
                </a:lnTo>
                <a:lnTo>
                  <a:pt x="358585" y="150417"/>
                </a:lnTo>
                <a:lnTo>
                  <a:pt x="350894" y="158925"/>
                </a:lnTo>
                <a:lnTo>
                  <a:pt x="343201" y="167699"/>
                </a:lnTo>
                <a:lnTo>
                  <a:pt x="335506" y="176739"/>
                </a:lnTo>
                <a:close/>
              </a:path>
              <a:path w="2867659" h="779779">
                <a:moveTo>
                  <a:pt x="386343" y="121912"/>
                </a:moveTo>
                <a:lnTo>
                  <a:pt x="373116" y="108202"/>
                </a:lnTo>
                <a:lnTo>
                  <a:pt x="382145" y="99668"/>
                </a:lnTo>
                <a:lnTo>
                  <a:pt x="391178" y="91484"/>
                </a:lnTo>
                <a:lnTo>
                  <a:pt x="400213" y="83651"/>
                </a:lnTo>
                <a:lnTo>
                  <a:pt x="409252" y="76169"/>
                </a:lnTo>
                <a:lnTo>
                  <a:pt x="421226" y="90985"/>
                </a:lnTo>
                <a:lnTo>
                  <a:pt x="412510" y="98201"/>
                </a:lnTo>
                <a:lnTo>
                  <a:pt x="403791" y="105760"/>
                </a:lnTo>
                <a:lnTo>
                  <a:pt x="395069" y="113664"/>
                </a:lnTo>
                <a:lnTo>
                  <a:pt x="386343" y="121912"/>
                </a:lnTo>
                <a:close/>
              </a:path>
              <a:path w="2867659" h="779779">
                <a:moveTo>
                  <a:pt x="443515" y="74090"/>
                </a:moveTo>
                <a:lnTo>
                  <a:pt x="432509" y="58541"/>
                </a:lnTo>
                <a:lnTo>
                  <a:pt x="442829" y="51466"/>
                </a:lnTo>
                <a:lnTo>
                  <a:pt x="453155" y="44845"/>
                </a:lnTo>
                <a:lnTo>
                  <a:pt x="463486" y="38681"/>
                </a:lnTo>
                <a:lnTo>
                  <a:pt x="473822" y="32971"/>
                </a:lnTo>
                <a:lnTo>
                  <a:pt x="482746" y="49801"/>
                </a:lnTo>
                <a:lnTo>
                  <a:pt x="472946" y="55216"/>
                </a:lnTo>
                <a:lnTo>
                  <a:pt x="463141" y="61068"/>
                </a:lnTo>
                <a:lnTo>
                  <a:pt x="453331" y="67360"/>
                </a:lnTo>
                <a:lnTo>
                  <a:pt x="443515" y="74090"/>
                </a:lnTo>
                <a:close/>
              </a:path>
              <a:path w="2867659" h="779779">
                <a:moveTo>
                  <a:pt x="507997" y="37862"/>
                </a:moveTo>
                <a:lnTo>
                  <a:pt x="535614" y="8363"/>
                </a:lnTo>
                <a:lnTo>
                  <a:pt x="547267" y="5545"/>
                </a:lnTo>
                <a:lnTo>
                  <a:pt x="551309" y="24161"/>
                </a:lnTo>
                <a:lnTo>
                  <a:pt x="540490" y="26779"/>
                </a:lnTo>
                <a:lnTo>
                  <a:pt x="529665" y="29935"/>
                </a:lnTo>
                <a:lnTo>
                  <a:pt x="518834" y="33630"/>
                </a:lnTo>
                <a:lnTo>
                  <a:pt x="507997" y="37862"/>
                </a:lnTo>
                <a:close/>
              </a:path>
              <a:path w="2867659" h="779779">
                <a:moveTo>
                  <a:pt x="578575" y="19948"/>
                </a:moveTo>
                <a:lnTo>
                  <a:pt x="576888" y="1582"/>
                </a:lnTo>
                <a:lnTo>
                  <a:pt x="576832" y="978"/>
                </a:lnTo>
                <a:lnTo>
                  <a:pt x="589132" y="169"/>
                </a:lnTo>
                <a:lnTo>
                  <a:pt x="601431" y="0"/>
                </a:lnTo>
                <a:lnTo>
                  <a:pt x="613730" y="470"/>
                </a:lnTo>
                <a:lnTo>
                  <a:pt x="626029" y="1582"/>
                </a:lnTo>
                <a:lnTo>
                  <a:pt x="623996" y="19048"/>
                </a:lnTo>
                <a:lnTo>
                  <a:pt x="601200" y="19048"/>
                </a:lnTo>
                <a:lnTo>
                  <a:pt x="589887" y="19204"/>
                </a:lnTo>
                <a:lnTo>
                  <a:pt x="578575" y="19948"/>
                </a:lnTo>
                <a:close/>
              </a:path>
              <a:path w="2867659" h="779779">
                <a:moveTo>
                  <a:pt x="623827" y="20504"/>
                </a:moveTo>
                <a:lnTo>
                  <a:pt x="612513" y="19482"/>
                </a:lnTo>
                <a:lnTo>
                  <a:pt x="601200" y="19048"/>
                </a:lnTo>
                <a:lnTo>
                  <a:pt x="623996" y="19048"/>
                </a:lnTo>
                <a:lnTo>
                  <a:pt x="623891" y="19948"/>
                </a:lnTo>
                <a:lnTo>
                  <a:pt x="623827" y="20504"/>
                </a:lnTo>
                <a:close/>
              </a:path>
              <a:path w="2867659" h="779779">
                <a:moveTo>
                  <a:pt x="693972" y="39954"/>
                </a:moveTo>
                <a:lnTo>
                  <a:pt x="683203" y="35505"/>
                </a:lnTo>
                <a:lnTo>
                  <a:pt x="672439" y="31588"/>
                </a:lnTo>
                <a:lnTo>
                  <a:pt x="661682" y="28201"/>
                </a:lnTo>
                <a:lnTo>
                  <a:pt x="650930" y="25346"/>
                </a:lnTo>
                <a:lnTo>
                  <a:pt x="655391" y="6826"/>
                </a:lnTo>
                <a:lnTo>
                  <a:pt x="666954" y="9895"/>
                </a:lnTo>
                <a:lnTo>
                  <a:pt x="678512" y="13531"/>
                </a:lnTo>
                <a:lnTo>
                  <a:pt x="690064" y="17734"/>
                </a:lnTo>
                <a:lnTo>
                  <a:pt x="701610" y="22503"/>
                </a:lnTo>
                <a:lnTo>
                  <a:pt x="693972" y="39954"/>
                </a:lnTo>
                <a:close/>
              </a:path>
              <a:path w="2867659" h="779779">
                <a:moveTo>
                  <a:pt x="757815" y="77150"/>
                </a:moveTo>
                <a:lnTo>
                  <a:pt x="748215" y="70378"/>
                </a:lnTo>
                <a:lnTo>
                  <a:pt x="738620" y="64026"/>
                </a:lnTo>
                <a:lnTo>
                  <a:pt x="729029" y="58093"/>
                </a:lnTo>
                <a:lnTo>
                  <a:pt x="719444" y="52579"/>
                </a:lnTo>
                <a:lnTo>
                  <a:pt x="728669" y="35912"/>
                </a:lnTo>
                <a:lnTo>
                  <a:pt x="738764" y="41717"/>
                </a:lnTo>
                <a:lnTo>
                  <a:pt x="748853" y="47958"/>
                </a:lnTo>
                <a:lnTo>
                  <a:pt x="758938" y="54632"/>
                </a:lnTo>
                <a:lnTo>
                  <a:pt x="769017" y="61742"/>
                </a:lnTo>
                <a:lnTo>
                  <a:pt x="757815" y="77150"/>
                </a:lnTo>
                <a:close/>
              </a:path>
              <a:path w="2867659" h="779779">
                <a:moveTo>
                  <a:pt x="814487" y="125576"/>
                </a:moveTo>
                <a:lnTo>
                  <a:pt x="805972" y="117380"/>
                </a:lnTo>
                <a:lnTo>
                  <a:pt x="797460" y="109511"/>
                </a:lnTo>
                <a:lnTo>
                  <a:pt x="788951" y="101970"/>
                </a:lnTo>
                <a:lnTo>
                  <a:pt x="780445" y="94756"/>
                </a:lnTo>
                <a:lnTo>
                  <a:pt x="792602" y="80090"/>
                </a:lnTo>
                <a:lnTo>
                  <a:pt x="801414" y="87562"/>
                </a:lnTo>
                <a:lnTo>
                  <a:pt x="810223" y="95369"/>
                </a:lnTo>
                <a:lnTo>
                  <a:pt x="819029" y="103508"/>
                </a:lnTo>
                <a:lnTo>
                  <a:pt x="827832" y="111982"/>
                </a:lnTo>
                <a:lnTo>
                  <a:pt x="814487" y="125576"/>
                </a:lnTo>
                <a:close/>
              </a:path>
              <a:path w="2867659" h="779779">
                <a:moveTo>
                  <a:pt x="865048" y="180924"/>
                </a:moveTo>
                <a:lnTo>
                  <a:pt x="857526" y="171968"/>
                </a:lnTo>
                <a:lnTo>
                  <a:pt x="850007" y="163266"/>
                </a:lnTo>
                <a:lnTo>
                  <a:pt x="842489" y="154819"/>
                </a:lnTo>
                <a:lnTo>
                  <a:pt x="834972" y="146625"/>
                </a:lnTo>
                <a:lnTo>
                  <a:pt x="848910" y="133639"/>
                </a:lnTo>
                <a:lnTo>
                  <a:pt x="856615" y="142037"/>
                </a:lnTo>
                <a:lnTo>
                  <a:pt x="864318" y="150693"/>
                </a:lnTo>
                <a:lnTo>
                  <a:pt x="872020" y="159605"/>
                </a:lnTo>
                <a:lnTo>
                  <a:pt x="879720" y="168774"/>
                </a:lnTo>
                <a:lnTo>
                  <a:pt x="865048" y="180924"/>
                </a:lnTo>
                <a:close/>
              </a:path>
              <a:path w="2867659" h="779779">
                <a:moveTo>
                  <a:pt x="910979" y="241085"/>
                </a:moveTo>
                <a:lnTo>
                  <a:pt x="904007" y="231349"/>
                </a:lnTo>
                <a:lnTo>
                  <a:pt x="897036" y="221831"/>
                </a:lnTo>
                <a:lnTo>
                  <a:pt x="890066" y="212530"/>
                </a:lnTo>
                <a:lnTo>
                  <a:pt x="883097" y="203446"/>
                </a:lnTo>
                <a:lnTo>
                  <a:pt x="898144" y="191763"/>
                </a:lnTo>
                <a:lnTo>
                  <a:pt x="905241" y="201012"/>
                </a:lnTo>
                <a:lnTo>
                  <a:pt x="912336" y="210481"/>
                </a:lnTo>
                <a:lnTo>
                  <a:pt x="919431" y="220169"/>
                </a:lnTo>
                <a:lnTo>
                  <a:pt x="926525" y="230075"/>
                </a:lnTo>
                <a:lnTo>
                  <a:pt x="910979" y="241085"/>
                </a:lnTo>
                <a:close/>
              </a:path>
              <a:path w="2867659" h="779779">
                <a:moveTo>
                  <a:pt x="958264" y="308801"/>
                </a:moveTo>
                <a:lnTo>
                  <a:pt x="954962" y="307480"/>
                </a:lnTo>
                <a:lnTo>
                  <a:pt x="946718" y="294386"/>
                </a:lnTo>
                <a:lnTo>
                  <a:pt x="940124" y="284125"/>
                </a:lnTo>
                <a:lnTo>
                  <a:pt x="933530" y="274057"/>
                </a:lnTo>
                <a:lnTo>
                  <a:pt x="926936" y="264183"/>
                </a:lnTo>
                <a:lnTo>
                  <a:pt x="942731" y="253532"/>
                </a:lnTo>
                <a:lnTo>
                  <a:pt x="949415" y="263543"/>
                </a:lnTo>
                <a:lnTo>
                  <a:pt x="956099" y="273748"/>
                </a:lnTo>
                <a:lnTo>
                  <a:pt x="962768" y="284125"/>
                </a:lnTo>
                <a:lnTo>
                  <a:pt x="967072" y="290948"/>
                </a:lnTo>
                <a:lnTo>
                  <a:pt x="964927" y="290948"/>
                </a:lnTo>
                <a:lnTo>
                  <a:pt x="961390" y="299792"/>
                </a:lnTo>
                <a:lnTo>
                  <a:pt x="961866" y="299792"/>
                </a:lnTo>
                <a:lnTo>
                  <a:pt x="958264" y="308801"/>
                </a:lnTo>
                <a:close/>
              </a:path>
              <a:path w="2867659" h="779779">
                <a:moveTo>
                  <a:pt x="961390" y="299792"/>
                </a:moveTo>
                <a:lnTo>
                  <a:pt x="964861" y="291113"/>
                </a:lnTo>
                <a:lnTo>
                  <a:pt x="964927" y="290948"/>
                </a:lnTo>
                <a:lnTo>
                  <a:pt x="965338" y="291113"/>
                </a:lnTo>
                <a:lnTo>
                  <a:pt x="962025" y="299395"/>
                </a:lnTo>
                <a:lnTo>
                  <a:pt x="961390" y="299792"/>
                </a:lnTo>
                <a:close/>
              </a:path>
              <a:path w="2867659" h="779779">
                <a:moveTo>
                  <a:pt x="962025" y="299395"/>
                </a:moveTo>
                <a:lnTo>
                  <a:pt x="965338" y="291113"/>
                </a:lnTo>
                <a:lnTo>
                  <a:pt x="964927" y="290948"/>
                </a:lnTo>
                <a:lnTo>
                  <a:pt x="967072" y="290948"/>
                </a:lnTo>
                <a:lnTo>
                  <a:pt x="969467" y="294744"/>
                </a:lnTo>
                <a:lnTo>
                  <a:pt x="962025" y="299395"/>
                </a:lnTo>
                <a:close/>
              </a:path>
              <a:path w="2867659" h="779779">
                <a:moveTo>
                  <a:pt x="961866" y="299792"/>
                </a:moveTo>
                <a:lnTo>
                  <a:pt x="961390" y="299792"/>
                </a:lnTo>
                <a:lnTo>
                  <a:pt x="962025" y="299395"/>
                </a:lnTo>
                <a:lnTo>
                  <a:pt x="961866" y="299792"/>
                </a:lnTo>
                <a:close/>
              </a:path>
              <a:path w="2867659" h="779779">
                <a:moveTo>
                  <a:pt x="1029691" y="336831"/>
                </a:moveTo>
                <a:lnTo>
                  <a:pt x="985098" y="319457"/>
                </a:lnTo>
                <a:lnTo>
                  <a:pt x="992014" y="301706"/>
                </a:lnTo>
                <a:lnTo>
                  <a:pt x="1036607" y="319080"/>
                </a:lnTo>
                <a:lnTo>
                  <a:pt x="1029691" y="336831"/>
                </a:lnTo>
                <a:close/>
              </a:path>
              <a:path w="2867659" h="779779">
                <a:moveTo>
                  <a:pt x="1101155" y="363805"/>
                </a:moveTo>
                <a:lnTo>
                  <a:pt x="1056563" y="347099"/>
                </a:lnTo>
                <a:lnTo>
                  <a:pt x="1063246" y="329260"/>
                </a:lnTo>
                <a:lnTo>
                  <a:pt x="1107839" y="345966"/>
                </a:lnTo>
                <a:lnTo>
                  <a:pt x="1101155" y="363805"/>
                </a:lnTo>
                <a:close/>
              </a:path>
              <a:path w="2867659" h="779779">
                <a:moveTo>
                  <a:pt x="1172622" y="389709"/>
                </a:moveTo>
                <a:lnTo>
                  <a:pt x="1128029" y="373671"/>
                </a:lnTo>
                <a:lnTo>
                  <a:pt x="1134476" y="355745"/>
                </a:lnTo>
                <a:lnTo>
                  <a:pt x="1179069" y="371783"/>
                </a:lnTo>
                <a:lnTo>
                  <a:pt x="1172622" y="389709"/>
                </a:lnTo>
                <a:close/>
              </a:path>
              <a:path w="2867659" h="779779">
                <a:moveTo>
                  <a:pt x="1244878" y="414811"/>
                </a:moveTo>
                <a:lnTo>
                  <a:pt x="1199508" y="399177"/>
                </a:lnTo>
                <a:lnTo>
                  <a:pt x="1205791" y="381193"/>
                </a:lnTo>
                <a:lnTo>
                  <a:pt x="1251007" y="396774"/>
                </a:lnTo>
                <a:lnTo>
                  <a:pt x="1244878" y="414811"/>
                </a:lnTo>
                <a:close/>
              </a:path>
              <a:path w="2867659" h="779779">
                <a:moveTo>
                  <a:pt x="1317470" y="438928"/>
                </a:moveTo>
                <a:lnTo>
                  <a:pt x="1272100" y="423984"/>
                </a:lnTo>
                <a:lnTo>
                  <a:pt x="1278137" y="405916"/>
                </a:lnTo>
                <a:lnTo>
                  <a:pt x="1323352" y="420809"/>
                </a:lnTo>
                <a:lnTo>
                  <a:pt x="1317470" y="438928"/>
                </a:lnTo>
                <a:close/>
              </a:path>
              <a:path w="2867659" h="779779">
                <a:moveTo>
                  <a:pt x="1390065" y="461941"/>
                </a:moveTo>
                <a:lnTo>
                  <a:pt x="1344693" y="447687"/>
                </a:lnTo>
                <a:lnTo>
                  <a:pt x="1350481" y="429538"/>
                </a:lnTo>
                <a:lnTo>
                  <a:pt x="1395695" y="443742"/>
                </a:lnTo>
                <a:lnTo>
                  <a:pt x="1390065" y="461941"/>
                </a:lnTo>
                <a:close/>
              </a:path>
              <a:path w="2867659" h="779779">
                <a:moveTo>
                  <a:pt x="1463045" y="483963"/>
                </a:moveTo>
                <a:lnTo>
                  <a:pt x="1417288" y="470286"/>
                </a:lnTo>
                <a:lnTo>
                  <a:pt x="1422824" y="452058"/>
                </a:lnTo>
                <a:lnTo>
                  <a:pt x="1468420" y="465687"/>
                </a:lnTo>
                <a:lnTo>
                  <a:pt x="1463045" y="483963"/>
                </a:lnTo>
                <a:close/>
              </a:path>
              <a:path w="2867659" h="779779">
                <a:moveTo>
                  <a:pt x="1536648" y="505042"/>
                </a:moveTo>
                <a:lnTo>
                  <a:pt x="1490646" y="492001"/>
                </a:lnTo>
                <a:lnTo>
                  <a:pt x="1495924" y="473696"/>
                </a:lnTo>
                <a:lnTo>
                  <a:pt x="1541762" y="486691"/>
                </a:lnTo>
                <a:lnTo>
                  <a:pt x="1536648" y="505042"/>
                </a:lnTo>
                <a:close/>
              </a:path>
              <a:path w="2867659" h="779779">
                <a:moveTo>
                  <a:pt x="1610252" y="524986"/>
                </a:moveTo>
                <a:lnTo>
                  <a:pt x="1564250" y="512654"/>
                </a:lnTo>
                <a:lnTo>
                  <a:pt x="1569265" y="494276"/>
                </a:lnTo>
                <a:lnTo>
                  <a:pt x="1615102" y="506563"/>
                </a:lnTo>
                <a:lnTo>
                  <a:pt x="1610252" y="524986"/>
                </a:lnTo>
                <a:close/>
              </a:path>
              <a:path w="2867659" h="779779">
                <a:moveTo>
                  <a:pt x="1683982" y="543825"/>
                </a:moveTo>
                <a:lnTo>
                  <a:pt x="1637855" y="532172"/>
                </a:lnTo>
                <a:lnTo>
                  <a:pt x="1642605" y="513724"/>
                </a:lnTo>
                <a:lnTo>
                  <a:pt x="1688564" y="525334"/>
                </a:lnTo>
                <a:lnTo>
                  <a:pt x="1683982" y="543825"/>
                </a:lnTo>
                <a:close/>
              </a:path>
              <a:path w="2867659" h="779779">
                <a:moveTo>
                  <a:pt x="1758460" y="561699"/>
                </a:moveTo>
                <a:lnTo>
                  <a:pt x="1711911" y="550664"/>
                </a:lnTo>
                <a:lnTo>
                  <a:pt x="1716391" y="532148"/>
                </a:lnTo>
                <a:lnTo>
                  <a:pt x="1762768" y="543143"/>
                </a:lnTo>
                <a:lnTo>
                  <a:pt x="1758460" y="561699"/>
                </a:lnTo>
                <a:close/>
              </a:path>
              <a:path w="2867659" h="779779">
                <a:moveTo>
                  <a:pt x="1832939" y="578411"/>
                </a:moveTo>
                <a:lnTo>
                  <a:pt x="1786390" y="568102"/>
                </a:lnTo>
                <a:lnTo>
                  <a:pt x="1790595" y="549522"/>
                </a:lnTo>
                <a:lnTo>
                  <a:pt x="1836972" y="559792"/>
                </a:lnTo>
                <a:lnTo>
                  <a:pt x="1832939" y="578411"/>
                </a:lnTo>
                <a:close/>
              </a:path>
              <a:path w="2867659" h="779779">
                <a:moveTo>
                  <a:pt x="1907420" y="593960"/>
                </a:moveTo>
                <a:lnTo>
                  <a:pt x="1860870" y="584378"/>
                </a:lnTo>
                <a:lnTo>
                  <a:pt x="1864798" y="565737"/>
                </a:lnTo>
                <a:lnTo>
                  <a:pt x="1911174" y="575283"/>
                </a:lnTo>
                <a:lnTo>
                  <a:pt x="1907420" y="593960"/>
                </a:lnTo>
                <a:close/>
              </a:path>
              <a:path w="2867659" h="779779">
                <a:moveTo>
                  <a:pt x="1984079" y="602134"/>
                </a:moveTo>
                <a:lnTo>
                  <a:pt x="1936691" y="597395"/>
                </a:lnTo>
                <a:lnTo>
                  <a:pt x="1938586" y="578440"/>
                </a:lnTo>
                <a:lnTo>
                  <a:pt x="1985975" y="583178"/>
                </a:lnTo>
                <a:lnTo>
                  <a:pt x="1984079" y="602134"/>
                </a:lnTo>
                <a:close/>
              </a:path>
              <a:path w="2867659" h="779779">
                <a:moveTo>
                  <a:pt x="2059901" y="609716"/>
                </a:moveTo>
                <a:lnTo>
                  <a:pt x="2012513" y="604977"/>
                </a:lnTo>
                <a:lnTo>
                  <a:pt x="2014409" y="586022"/>
                </a:lnTo>
                <a:lnTo>
                  <a:pt x="2061797" y="590761"/>
                </a:lnTo>
                <a:lnTo>
                  <a:pt x="2059901" y="609716"/>
                </a:lnTo>
                <a:close/>
              </a:path>
              <a:path w="2867659" h="779779">
                <a:moveTo>
                  <a:pt x="2135723" y="617298"/>
                </a:moveTo>
                <a:lnTo>
                  <a:pt x="2088335" y="612559"/>
                </a:lnTo>
                <a:lnTo>
                  <a:pt x="2090230" y="593604"/>
                </a:lnTo>
                <a:lnTo>
                  <a:pt x="2137619" y="598343"/>
                </a:lnTo>
                <a:lnTo>
                  <a:pt x="2135723" y="617298"/>
                </a:lnTo>
                <a:close/>
              </a:path>
              <a:path w="2867659" h="779779">
                <a:moveTo>
                  <a:pt x="2211545" y="624881"/>
                </a:moveTo>
                <a:lnTo>
                  <a:pt x="2164156" y="620142"/>
                </a:lnTo>
                <a:lnTo>
                  <a:pt x="2166052" y="601186"/>
                </a:lnTo>
                <a:lnTo>
                  <a:pt x="2213441" y="605925"/>
                </a:lnTo>
                <a:lnTo>
                  <a:pt x="2211545" y="624881"/>
                </a:lnTo>
                <a:close/>
              </a:path>
              <a:path w="2867659" h="779779">
                <a:moveTo>
                  <a:pt x="2287366" y="632463"/>
                </a:moveTo>
                <a:lnTo>
                  <a:pt x="2239978" y="627724"/>
                </a:lnTo>
                <a:lnTo>
                  <a:pt x="2241874" y="608768"/>
                </a:lnTo>
                <a:lnTo>
                  <a:pt x="2289262" y="613507"/>
                </a:lnTo>
                <a:lnTo>
                  <a:pt x="2287366" y="632463"/>
                </a:lnTo>
                <a:close/>
              </a:path>
              <a:path w="2867659" h="779779">
                <a:moveTo>
                  <a:pt x="2363188" y="640045"/>
                </a:moveTo>
                <a:lnTo>
                  <a:pt x="2315800" y="635306"/>
                </a:lnTo>
                <a:lnTo>
                  <a:pt x="2317696" y="616351"/>
                </a:lnTo>
                <a:lnTo>
                  <a:pt x="2365084" y="621089"/>
                </a:lnTo>
                <a:lnTo>
                  <a:pt x="2363188" y="640045"/>
                </a:lnTo>
                <a:close/>
              </a:path>
              <a:path w="2867659" h="779779">
                <a:moveTo>
                  <a:pt x="2439011" y="647627"/>
                </a:moveTo>
                <a:lnTo>
                  <a:pt x="2391622" y="642888"/>
                </a:lnTo>
                <a:lnTo>
                  <a:pt x="2393518" y="623933"/>
                </a:lnTo>
                <a:lnTo>
                  <a:pt x="2440906" y="628672"/>
                </a:lnTo>
                <a:lnTo>
                  <a:pt x="2439011" y="647627"/>
                </a:lnTo>
                <a:close/>
              </a:path>
              <a:path w="2867659" h="779779">
                <a:moveTo>
                  <a:pt x="2514832" y="655209"/>
                </a:moveTo>
                <a:lnTo>
                  <a:pt x="2467444" y="650470"/>
                </a:lnTo>
                <a:lnTo>
                  <a:pt x="2469339" y="631515"/>
                </a:lnTo>
                <a:lnTo>
                  <a:pt x="2516728" y="636254"/>
                </a:lnTo>
                <a:lnTo>
                  <a:pt x="2514832" y="655209"/>
                </a:lnTo>
                <a:close/>
              </a:path>
              <a:path w="2867659" h="779779">
                <a:moveTo>
                  <a:pt x="2590654" y="662792"/>
                </a:moveTo>
                <a:lnTo>
                  <a:pt x="2543265" y="658052"/>
                </a:lnTo>
                <a:lnTo>
                  <a:pt x="2545161" y="639097"/>
                </a:lnTo>
                <a:lnTo>
                  <a:pt x="2592550" y="643836"/>
                </a:lnTo>
                <a:lnTo>
                  <a:pt x="2590654" y="662792"/>
                </a:lnTo>
                <a:close/>
              </a:path>
              <a:path w="2867659" h="779779">
                <a:moveTo>
                  <a:pt x="2666476" y="670374"/>
                </a:moveTo>
                <a:lnTo>
                  <a:pt x="2619087" y="665635"/>
                </a:lnTo>
                <a:lnTo>
                  <a:pt x="2620983" y="646679"/>
                </a:lnTo>
                <a:lnTo>
                  <a:pt x="2668371" y="651418"/>
                </a:lnTo>
                <a:lnTo>
                  <a:pt x="2666476" y="670374"/>
                </a:lnTo>
                <a:close/>
              </a:path>
              <a:path w="2867659" h="779779">
                <a:moveTo>
                  <a:pt x="2742298" y="677956"/>
                </a:moveTo>
                <a:lnTo>
                  <a:pt x="2694909" y="673217"/>
                </a:lnTo>
                <a:lnTo>
                  <a:pt x="2696805" y="654261"/>
                </a:lnTo>
                <a:lnTo>
                  <a:pt x="2744193" y="659000"/>
                </a:lnTo>
                <a:lnTo>
                  <a:pt x="2742298" y="677956"/>
                </a:lnTo>
                <a:close/>
              </a:path>
              <a:path w="2867659" h="779779">
                <a:moveTo>
                  <a:pt x="2818119" y="685538"/>
                </a:moveTo>
                <a:lnTo>
                  <a:pt x="2770731" y="680799"/>
                </a:lnTo>
                <a:lnTo>
                  <a:pt x="2772627" y="661844"/>
                </a:lnTo>
                <a:lnTo>
                  <a:pt x="2820015" y="666582"/>
                </a:lnTo>
                <a:lnTo>
                  <a:pt x="2818119" y="685538"/>
                </a:lnTo>
                <a:close/>
              </a:path>
              <a:path w="2867659" h="779779">
                <a:moveTo>
                  <a:pt x="2865442" y="690270"/>
                </a:moveTo>
                <a:lnTo>
                  <a:pt x="2846553" y="688381"/>
                </a:lnTo>
                <a:lnTo>
                  <a:pt x="2848448" y="669426"/>
                </a:lnTo>
                <a:lnTo>
                  <a:pt x="2867337" y="671315"/>
                </a:lnTo>
                <a:lnTo>
                  <a:pt x="2865442" y="690270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8569325" y="4415234"/>
            <a:ext cx="518795" cy="153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800" spc="-30">
                <a:solidFill>
                  <a:srgbClr val="666666"/>
                </a:solidFill>
                <a:latin typeface="Roboto"/>
                <a:cs typeface="Roboto"/>
              </a:rPr>
              <a:t>Classical</a:t>
            </a:r>
            <a:r>
              <a:rPr dirty="0" sz="800" spc="1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800" spc="-25">
                <a:solidFill>
                  <a:srgbClr val="666666"/>
                </a:solidFill>
                <a:latin typeface="Roboto"/>
                <a:cs typeface="Roboto"/>
              </a:rPr>
              <a:t>PI</a:t>
            </a:r>
            <a:endParaRPr sz="800">
              <a:latin typeface="Roboto"/>
              <a:cs typeface="Roboto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8391524" y="5028670"/>
            <a:ext cx="2857500" cy="886460"/>
          </a:xfrm>
          <a:custGeom>
            <a:avLst/>
            <a:gdLst/>
            <a:ahLst/>
            <a:cxnLst/>
            <a:rect l="l" t="t" r="r" b="b"/>
            <a:pathLst>
              <a:path w="2857500" h="886460">
                <a:moveTo>
                  <a:pt x="0" y="886354"/>
                </a:moveTo>
                <a:lnTo>
                  <a:pt x="23647" y="801191"/>
                </a:lnTo>
                <a:lnTo>
                  <a:pt x="46963" y="720328"/>
                </a:lnTo>
                <a:lnTo>
                  <a:pt x="69949" y="643764"/>
                </a:lnTo>
                <a:lnTo>
                  <a:pt x="92604" y="571499"/>
                </a:lnTo>
                <a:lnTo>
                  <a:pt x="114928" y="503535"/>
                </a:lnTo>
                <a:lnTo>
                  <a:pt x="136921" y="439869"/>
                </a:lnTo>
                <a:lnTo>
                  <a:pt x="158584" y="380503"/>
                </a:lnTo>
                <a:lnTo>
                  <a:pt x="179916" y="325437"/>
                </a:lnTo>
                <a:lnTo>
                  <a:pt x="200917" y="274670"/>
                </a:lnTo>
                <a:lnTo>
                  <a:pt x="221588" y="228203"/>
                </a:lnTo>
                <a:lnTo>
                  <a:pt x="241928" y="186035"/>
                </a:lnTo>
                <a:lnTo>
                  <a:pt x="261937" y="148166"/>
                </a:lnTo>
                <a:lnTo>
                  <a:pt x="281615" y="114597"/>
                </a:lnTo>
                <a:lnTo>
                  <a:pt x="319980" y="60358"/>
                </a:lnTo>
                <a:lnTo>
                  <a:pt x="357022" y="23316"/>
                </a:lnTo>
                <a:lnTo>
                  <a:pt x="392740" y="3472"/>
                </a:lnTo>
                <a:lnTo>
                  <a:pt x="410104" y="0"/>
                </a:lnTo>
                <a:lnTo>
                  <a:pt x="427136" y="826"/>
                </a:lnTo>
                <a:lnTo>
                  <a:pt x="443838" y="5953"/>
                </a:lnTo>
                <a:lnTo>
                  <a:pt x="460209" y="15378"/>
                </a:lnTo>
                <a:lnTo>
                  <a:pt x="476249" y="29104"/>
                </a:lnTo>
                <a:lnTo>
                  <a:pt x="517557" y="42711"/>
                </a:lnTo>
                <a:lnTo>
                  <a:pt x="559836" y="56318"/>
                </a:lnTo>
                <a:lnTo>
                  <a:pt x="603087" y="69925"/>
                </a:lnTo>
                <a:lnTo>
                  <a:pt x="647311" y="83532"/>
                </a:lnTo>
                <a:lnTo>
                  <a:pt x="692506" y="97139"/>
                </a:lnTo>
                <a:lnTo>
                  <a:pt x="738673" y="110747"/>
                </a:lnTo>
                <a:lnTo>
                  <a:pt x="785812" y="124354"/>
                </a:lnTo>
                <a:lnTo>
                  <a:pt x="833923" y="137961"/>
                </a:lnTo>
                <a:lnTo>
                  <a:pt x="883006" y="151568"/>
                </a:lnTo>
                <a:lnTo>
                  <a:pt x="933061" y="165175"/>
                </a:lnTo>
                <a:lnTo>
                  <a:pt x="984087" y="178782"/>
                </a:lnTo>
                <a:lnTo>
                  <a:pt x="1036086" y="192389"/>
                </a:lnTo>
                <a:lnTo>
                  <a:pt x="1089057" y="205997"/>
                </a:lnTo>
                <a:lnTo>
                  <a:pt x="1142999" y="219604"/>
                </a:lnTo>
                <a:lnTo>
                  <a:pt x="1202325" y="228008"/>
                </a:lnTo>
                <a:lnTo>
                  <a:pt x="1251762" y="233611"/>
                </a:lnTo>
                <a:lnTo>
                  <a:pt x="1309110" y="239214"/>
                </a:lnTo>
                <a:lnTo>
                  <a:pt x="1374368" y="244817"/>
                </a:lnTo>
                <a:lnTo>
                  <a:pt x="1447536" y="250420"/>
                </a:lnTo>
                <a:lnTo>
                  <a:pt x="1487086" y="253221"/>
                </a:lnTo>
                <a:lnTo>
                  <a:pt x="1528613" y="256023"/>
                </a:lnTo>
                <a:lnTo>
                  <a:pt x="1572119" y="258824"/>
                </a:lnTo>
                <a:lnTo>
                  <a:pt x="1617601" y="261626"/>
                </a:lnTo>
                <a:lnTo>
                  <a:pt x="1665062" y="264427"/>
                </a:lnTo>
                <a:lnTo>
                  <a:pt x="1714499" y="267229"/>
                </a:lnTo>
                <a:lnTo>
                  <a:pt x="1765914" y="270030"/>
                </a:lnTo>
                <a:lnTo>
                  <a:pt x="1819307" y="272832"/>
                </a:lnTo>
                <a:lnTo>
                  <a:pt x="1874677" y="275633"/>
                </a:lnTo>
                <a:lnTo>
                  <a:pt x="1932025" y="278435"/>
                </a:lnTo>
                <a:lnTo>
                  <a:pt x="1991350" y="281236"/>
                </a:lnTo>
                <a:lnTo>
                  <a:pt x="2052653" y="284037"/>
                </a:lnTo>
                <a:lnTo>
                  <a:pt x="2115933" y="286839"/>
                </a:lnTo>
                <a:lnTo>
                  <a:pt x="2181191" y="289640"/>
                </a:lnTo>
                <a:lnTo>
                  <a:pt x="2248427" y="292442"/>
                </a:lnTo>
                <a:lnTo>
                  <a:pt x="2317639" y="295243"/>
                </a:lnTo>
                <a:lnTo>
                  <a:pt x="2388830" y="298045"/>
                </a:lnTo>
                <a:lnTo>
                  <a:pt x="2461997" y="300846"/>
                </a:lnTo>
                <a:lnTo>
                  <a:pt x="2537143" y="303648"/>
                </a:lnTo>
                <a:lnTo>
                  <a:pt x="2614266" y="306449"/>
                </a:lnTo>
                <a:lnTo>
                  <a:pt x="2693366" y="309251"/>
                </a:lnTo>
                <a:lnTo>
                  <a:pt x="2774444" y="312052"/>
                </a:lnTo>
                <a:lnTo>
                  <a:pt x="2857499" y="314854"/>
                </a:lnTo>
              </a:path>
            </a:pathLst>
          </a:custGeom>
          <a:ln w="19049">
            <a:solidFill>
              <a:srgbClr val="1D40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8664575" y="4894693"/>
            <a:ext cx="469900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20">
                <a:solidFill>
                  <a:srgbClr val="2562EB"/>
                </a:solidFill>
                <a:latin typeface="Roboto"/>
                <a:cs typeface="Roboto"/>
              </a:rPr>
              <a:t>Synergetic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8391524" y="4816874"/>
            <a:ext cx="2857500" cy="1098550"/>
          </a:xfrm>
          <a:custGeom>
            <a:avLst/>
            <a:gdLst/>
            <a:ahLst/>
            <a:cxnLst/>
            <a:rect l="l" t="t" r="r" b="b"/>
            <a:pathLst>
              <a:path w="2857500" h="1098550">
                <a:moveTo>
                  <a:pt x="0" y="1098149"/>
                </a:moveTo>
                <a:lnTo>
                  <a:pt x="9796" y="1008109"/>
                </a:lnTo>
                <a:lnTo>
                  <a:pt x="19480" y="921920"/>
                </a:lnTo>
                <a:lnTo>
                  <a:pt x="29050" y="839581"/>
                </a:lnTo>
                <a:lnTo>
                  <a:pt x="38507" y="761093"/>
                </a:lnTo>
                <a:lnTo>
                  <a:pt x="47851" y="686456"/>
                </a:lnTo>
                <a:lnTo>
                  <a:pt x="57082" y="615670"/>
                </a:lnTo>
                <a:lnTo>
                  <a:pt x="66199" y="548735"/>
                </a:lnTo>
                <a:lnTo>
                  <a:pt x="75203" y="485650"/>
                </a:lnTo>
                <a:lnTo>
                  <a:pt x="84094" y="426416"/>
                </a:lnTo>
                <a:lnTo>
                  <a:pt x="92871" y="371033"/>
                </a:lnTo>
                <a:lnTo>
                  <a:pt x="101535" y="319500"/>
                </a:lnTo>
                <a:lnTo>
                  <a:pt x="110086" y="271819"/>
                </a:lnTo>
                <a:lnTo>
                  <a:pt x="118524" y="227988"/>
                </a:lnTo>
                <a:lnTo>
                  <a:pt x="126848" y="188008"/>
                </a:lnTo>
                <a:lnTo>
                  <a:pt x="143158" y="119600"/>
                </a:lnTo>
                <a:lnTo>
                  <a:pt x="159014" y="66595"/>
                </a:lnTo>
                <a:lnTo>
                  <a:pt x="174417" y="28994"/>
                </a:lnTo>
                <a:lnTo>
                  <a:pt x="203864" y="0"/>
                </a:lnTo>
                <a:lnTo>
                  <a:pt x="210943" y="2378"/>
                </a:lnTo>
                <a:lnTo>
                  <a:pt x="217908" y="8607"/>
                </a:lnTo>
                <a:lnTo>
                  <a:pt x="224760" y="18687"/>
                </a:lnTo>
                <a:lnTo>
                  <a:pt x="231499" y="32618"/>
                </a:lnTo>
                <a:lnTo>
                  <a:pt x="238124" y="50399"/>
                </a:lnTo>
                <a:lnTo>
                  <a:pt x="257658" y="73840"/>
                </a:lnTo>
                <a:lnTo>
                  <a:pt x="306771" y="118488"/>
                </a:lnTo>
                <a:lnTo>
                  <a:pt x="369279" y="160160"/>
                </a:lnTo>
                <a:lnTo>
                  <a:pt x="405556" y="179880"/>
                </a:lnTo>
                <a:lnTo>
                  <a:pt x="445182" y="198855"/>
                </a:lnTo>
                <a:lnTo>
                  <a:pt x="488156" y="217087"/>
                </a:lnTo>
                <a:lnTo>
                  <a:pt x="534478" y="234574"/>
                </a:lnTo>
                <a:lnTo>
                  <a:pt x="584150" y="251317"/>
                </a:lnTo>
                <a:lnTo>
                  <a:pt x="637170" y="267316"/>
                </a:lnTo>
                <a:lnTo>
                  <a:pt x="693538" y="282571"/>
                </a:lnTo>
                <a:lnTo>
                  <a:pt x="753256" y="297082"/>
                </a:lnTo>
                <a:lnTo>
                  <a:pt x="816322" y="310848"/>
                </a:lnTo>
                <a:lnTo>
                  <a:pt x="882736" y="323871"/>
                </a:lnTo>
                <a:lnTo>
                  <a:pt x="952499" y="336149"/>
                </a:lnTo>
                <a:lnTo>
                  <a:pt x="1005269" y="341162"/>
                </a:lnTo>
                <a:lnTo>
                  <a:pt x="1063317" y="346176"/>
                </a:lnTo>
                <a:lnTo>
                  <a:pt x="1126641" y="351189"/>
                </a:lnTo>
                <a:lnTo>
                  <a:pt x="1195242" y="356202"/>
                </a:lnTo>
                <a:lnTo>
                  <a:pt x="1269120" y="361215"/>
                </a:lnTo>
                <a:lnTo>
                  <a:pt x="1308038" y="363722"/>
                </a:lnTo>
                <a:lnTo>
                  <a:pt x="1348275" y="366228"/>
                </a:lnTo>
                <a:lnTo>
                  <a:pt x="1389831" y="368735"/>
                </a:lnTo>
                <a:lnTo>
                  <a:pt x="1432707" y="371241"/>
                </a:lnTo>
                <a:lnTo>
                  <a:pt x="1476902" y="373748"/>
                </a:lnTo>
                <a:lnTo>
                  <a:pt x="1522416" y="376255"/>
                </a:lnTo>
                <a:lnTo>
                  <a:pt x="1569250" y="378761"/>
                </a:lnTo>
                <a:lnTo>
                  <a:pt x="1617402" y="381268"/>
                </a:lnTo>
                <a:lnTo>
                  <a:pt x="1666874" y="383774"/>
                </a:lnTo>
                <a:lnTo>
                  <a:pt x="1717666" y="386281"/>
                </a:lnTo>
                <a:lnTo>
                  <a:pt x="1769776" y="388787"/>
                </a:lnTo>
                <a:lnTo>
                  <a:pt x="1823206" y="391294"/>
                </a:lnTo>
                <a:lnTo>
                  <a:pt x="1877955" y="393801"/>
                </a:lnTo>
                <a:lnTo>
                  <a:pt x="1934023" y="396307"/>
                </a:lnTo>
                <a:lnTo>
                  <a:pt x="1991410" y="398814"/>
                </a:lnTo>
                <a:lnTo>
                  <a:pt x="2050117" y="401320"/>
                </a:lnTo>
                <a:lnTo>
                  <a:pt x="2110143" y="403827"/>
                </a:lnTo>
                <a:lnTo>
                  <a:pt x="2171488" y="406334"/>
                </a:lnTo>
                <a:lnTo>
                  <a:pt x="2234153" y="408840"/>
                </a:lnTo>
                <a:lnTo>
                  <a:pt x="2298136" y="411347"/>
                </a:lnTo>
                <a:lnTo>
                  <a:pt x="2363439" y="413853"/>
                </a:lnTo>
                <a:lnTo>
                  <a:pt x="2430062" y="416360"/>
                </a:lnTo>
                <a:lnTo>
                  <a:pt x="2498003" y="418866"/>
                </a:lnTo>
                <a:lnTo>
                  <a:pt x="2567264" y="421373"/>
                </a:lnTo>
                <a:lnTo>
                  <a:pt x="2637844" y="423880"/>
                </a:lnTo>
                <a:lnTo>
                  <a:pt x="2709743" y="426386"/>
                </a:lnTo>
                <a:lnTo>
                  <a:pt x="2782961" y="428893"/>
                </a:lnTo>
                <a:lnTo>
                  <a:pt x="2857499" y="431399"/>
                </a:lnTo>
              </a:path>
            </a:pathLst>
          </a:custGeom>
          <a:ln w="19049">
            <a:solidFill>
              <a:srgbClr val="1D40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8521700" y="4608943"/>
            <a:ext cx="363855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35">
                <a:solidFill>
                  <a:srgbClr val="7C3AEC"/>
                </a:solidFill>
                <a:latin typeface="Roboto"/>
                <a:cs typeface="Roboto"/>
              </a:rPr>
              <a:t>RL-</a:t>
            </a:r>
            <a:r>
              <a:rPr dirty="0" sz="800" spc="-25">
                <a:solidFill>
                  <a:srgbClr val="7C3AEC"/>
                </a:solidFill>
                <a:latin typeface="Roboto"/>
                <a:cs typeface="Roboto"/>
              </a:rPr>
              <a:t>SMC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8391524" y="4654761"/>
            <a:ext cx="2857500" cy="1260475"/>
          </a:xfrm>
          <a:custGeom>
            <a:avLst/>
            <a:gdLst/>
            <a:ahLst/>
            <a:cxnLst/>
            <a:rect l="l" t="t" r="r" b="b"/>
            <a:pathLst>
              <a:path w="2857500" h="1260475">
                <a:moveTo>
                  <a:pt x="0" y="1260263"/>
                </a:moveTo>
                <a:lnTo>
                  <a:pt x="12647" y="1166812"/>
                </a:lnTo>
                <a:lnTo>
                  <a:pt x="25188" y="1076959"/>
                </a:lnTo>
                <a:lnTo>
                  <a:pt x="37623" y="990705"/>
                </a:lnTo>
                <a:lnTo>
                  <a:pt x="49953" y="908049"/>
                </a:lnTo>
                <a:lnTo>
                  <a:pt x="62177" y="828992"/>
                </a:lnTo>
                <a:lnTo>
                  <a:pt x="74295" y="753533"/>
                </a:lnTo>
                <a:lnTo>
                  <a:pt x="86307" y="681672"/>
                </a:lnTo>
                <a:lnTo>
                  <a:pt x="98213" y="613409"/>
                </a:lnTo>
                <a:lnTo>
                  <a:pt x="110013" y="548745"/>
                </a:lnTo>
                <a:lnTo>
                  <a:pt x="121708" y="487679"/>
                </a:lnTo>
                <a:lnTo>
                  <a:pt x="133297" y="430212"/>
                </a:lnTo>
                <a:lnTo>
                  <a:pt x="144779" y="376343"/>
                </a:lnTo>
                <a:lnTo>
                  <a:pt x="156157" y="326072"/>
                </a:lnTo>
                <a:lnTo>
                  <a:pt x="167428" y="279399"/>
                </a:lnTo>
                <a:lnTo>
                  <a:pt x="178593" y="236325"/>
                </a:lnTo>
                <a:lnTo>
                  <a:pt x="189653" y="196849"/>
                </a:lnTo>
                <a:lnTo>
                  <a:pt x="211454" y="128693"/>
                </a:lnTo>
                <a:lnTo>
                  <a:pt x="232833" y="74929"/>
                </a:lnTo>
                <a:lnTo>
                  <a:pt x="253788" y="35559"/>
                </a:lnTo>
                <a:lnTo>
                  <a:pt x="284427" y="3492"/>
                </a:lnTo>
                <a:lnTo>
                  <a:pt x="294428" y="0"/>
                </a:lnTo>
                <a:lnTo>
                  <a:pt x="304323" y="105"/>
                </a:lnTo>
                <a:lnTo>
                  <a:pt x="314113" y="3810"/>
                </a:lnTo>
                <a:lnTo>
                  <a:pt x="323797" y="11112"/>
                </a:lnTo>
                <a:lnTo>
                  <a:pt x="333374" y="22013"/>
                </a:lnTo>
                <a:lnTo>
                  <a:pt x="372109" y="46990"/>
                </a:lnTo>
                <a:lnTo>
                  <a:pt x="412114" y="71120"/>
                </a:lnTo>
                <a:lnTo>
                  <a:pt x="453389" y="94403"/>
                </a:lnTo>
                <a:lnTo>
                  <a:pt x="495934" y="116840"/>
                </a:lnTo>
                <a:lnTo>
                  <a:pt x="539749" y="138430"/>
                </a:lnTo>
                <a:lnTo>
                  <a:pt x="584834" y="159173"/>
                </a:lnTo>
                <a:lnTo>
                  <a:pt x="631189" y="179070"/>
                </a:lnTo>
                <a:lnTo>
                  <a:pt x="678814" y="198120"/>
                </a:lnTo>
                <a:lnTo>
                  <a:pt x="727709" y="216323"/>
                </a:lnTo>
                <a:lnTo>
                  <a:pt x="777874" y="233679"/>
                </a:lnTo>
                <a:lnTo>
                  <a:pt x="829309" y="250189"/>
                </a:lnTo>
                <a:lnTo>
                  <a:pt x="882014" y="265853"/>
                </a:lnTo>
                <a:lnTo>
                  <a:pt x="935989" y="280669"/>
                </a:lnTo>
                <a:lnTo>
                  <a:pt x="991234" y="294639"/>
                </a:lnTo>
                <a:lnTo>
                  <a:pt x="1047749" y="307763"/>
                </a:lnTo>
                <a:lnTo>
                  <a:pt x="1113307" y="313054"/>
                </a:lnTo>
                <a:lnTo>
                  <a:pt x="1182981" y="318346"/>
                </a:lnTo>
                <a:lnTo>
                  <a:pt x="1256770" y="323638"/>
                </a:lnTo>
                <a:lnTo>
                  <a:pt x="1295208" y="326284"/>
                </a:lnTo>
                <a:lnTo>
                  <a:pt x="1334675" y="328929"/>
                </a:lnTo>
                <a:lnTo>
                  <a:pt x="1375171" y="331575"/>
                </a:lnTo>
                <a:lnTo>
                  <a:pt x="1416696" y="334221"/>
                </a:lnTo>
                <a:lnTo>
                  <a:pt x="1459250" y="336867"/>
                </a:lnTo>
                <a:lnTo>
                  <a:pt x="1502833" y="339513"/>
                </a:lnTo>
                <a:lnTo>
                  <a:pt x="1547444" y="342159"/>
                </a:lnTo>
                <a:lnTo>
                  <a:pt x="1593085" y="344804"/>
                </a:lnTo>
                <a:lnTo>
                  <a:pt x="1639754" y="347450"/>
                </a:lnTo>
                <a:lnTo>
                  <a:pt x="1687453" y="350096"/>
                </a:lnTo>
                <a:lnTo>
                  <a:pt x="1736180" y="352742"/>
                </a:lnTo>
                <a:lnTo>
                  <a:pt x="1785937" y="355388"/>
                </a:lnTo>
                <a:lnTo>
                  <a:pt x="1836722" y="358034"/>
                </a:lnTo>
                <a:lnTo>
                  <a:pt x="1888536" y="360679"/>
                </a:lnTo>
                <a:lnTo>
                  <a:pt x="1941379" y="363325"/>
                </a:lnTo>
                <a:lnTo>
                  <a:pt x="1995251" y="365971"/>
                </a:lnTo>
                <a:lnTo>
                  <a:pt x="2050152" y="368617"/>
                </a:lnTo>
                <a:lnTo>
                  <a:pt x="2106082" y="371263"/>
                </a:lnTo>
                <a:lnTo>
                  <a:pt x="2163041" y="373909"/>
                </a:lnTo>
                <a:lnTo>
                  <a:pt x="2221029" y="376554"/>
                </a:lnTo>
                <a:lnTo>
                  <a:pt x="2280046" y="379200"/>
                </a:lnTo>
                <a:lnTo>
                  <a:pt x="2340092" y="381846"/>
                </a:lnTo>
                <a:lnTo>
                  <a:pt x="2401166" y="384492"/>
                </a:lnTo>
                <a:lnTo>
                  <a:pt x="2463270" y="387138"/>
                </a:lnTo>
                <a:lnTo>
                  <a:pt x="2526402" y="389784"/>
                </a:lnTo>
                <a:lnTo>
                  <a:pt x="2590564" y="392429"/>
                </a:lnTo>
                <a:lnTo>
                  <a:pt x="2655754" y="395075"/>
                </a:lnTo>
                <a:lnTo>
                  <a:pt x="2721974" y="397721"/>
                </a:lnTo>
                <a:lnTo>
                  <a:pt x="2789222" y="400367"/>
                </a:lnTo>
                <a:lnTo>
                  <a:pt x="2857499" y="403013"/>
                </a:lnTo>
              </a:path>
            </a:pathLst>
          </a:custGeom>
          <a:ln w="19049">
            <a:solidFill>
              <a:srgbClr val="1D40A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8569325" y="4275568"/>
            <a:ext cx="455930" cy="14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800" spc="-35">
                <a:solidFill>
                  <a:srgbClr val="0890B1"/>
                </a:solidFill>
                <a:latin typeface="Roboto"/>
                <a:cs typeface="Roboto"/>
              </a:rPr>
              <a:t>Auto-</a:t>
            </a:r>
            <a:r>
              <a:rPr dirty="0" sz="800" spc="-25">
                <a:solidFill>
                  <a:srgbClr val="0890B1"/>
                </a:solidFill>
                <a:latin typeface="Roboto"/>
                <a:cs typeface="Roboto"/>
              </a:rPr>
              <a:t>MPC</a:t>
            </a:r>
            <a:endParaRPr sz="800">
              <a:latin typeface="Roboto"/>
              <a:cs typeface="Roboto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8863011" y="5895974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4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" y="0"/>
                </a:lnTo>
                <a:lnTo>
                  <a:pt x="9524" y="3809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8812212" y="5912802"/>
            <a:ext cx="11112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-25">
                <a:solidFill>
                  <a:srgbClr val="666666"/>
                </a:solidFill>
                <a:latin typeface="Roboto"/>
                <a:cs typeface="Roboto"/>
              </a:rPr>
              <a:t>20</a:t>
            </a:r>
            <a:endParaRPr sz="650">
              <a:latin typeface="Roboto"/>
              <a:cs typeface="Roboto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815511" y="5895974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4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" y="0"/>
                </a:lnTo>
                <a:lnTo>
                  <a:pt x="9524" y="3809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9545786" y="5912802"/>
            <a:ext cx="549275" cy="23114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>
              <a:lnSpc>
                <a:spcPts val="590"/>
              </a:lnSpc>
              <a:spcBef>
                <a:spcPts val="114"/>
              </a:spcBef>
            </a:pPr>
            <a:r>
              <a:rPr dirty="0" sz="650" spc="-25">
                <a:solidFill>
                  <a:srgbClr val="666666"/>
                </a:solidFill>
                <a:latin typeface="Roboto"/>
                <a:cs typeface="Roboto"/>
              </a:rPr>
              <a:t>50</a:t>
            </a:r>
            <a:endParaRPr sz="650">
              <a:latin typeface="Roboto"/>
              <a:cs typeface="Roboto"/>
            </a:endParaRPr>
          </a:p>
          <a:p>
            <a:pPr algn="ctr">
              <a:lnSpc>
                <a:spcPts val="1010"/>
              </a:lnSpc>
            </a:pPr>
            <a:r>
              <a:rPr dirty="0" sz="1000" spc="-65">
                <a:solidFill>
                  <a:srgbClr val="666666"/>
                </a:solidFill>
                <a:latin typeface="Roboto"/>
                <a:cs typeface="Roboto"/>
              </a:rPr>
              <a:t>Time</a:t>
            </a:r>
            <a:r>
              <a:rPr dirty="0" sz="1000">
                <a:solidFill>
                  <a:srgbClr val="666666"/>
                </a:solidFill>
                <a:latin typeface="Roboto"/>
                <a:cs typeface="Roboto"/>
              </a:rPr>
              <a:t> </a:t>
            </a:r>
            <a:r>
              <a:rPr dirty="0" sz="1000" spc="-20">
                <a:solidFill>
                  <a:srgbClr val="666666"/>
                </a:solidFill>
                <a:latin typeface="Roboto"/>
                <a:cs typeface="Roboto"/>
              </a:rPr>
              <a:t>(ms)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0768011" y="5895974"/>
            <a:ext cx="9525" cy="38100"/>
          </a:xfrm>
          <a:custGeom>
            <a:avLst/>
            <a:gdLst/>
            <a:ahLst/>
            <a:cxnLst/>
            <a:rect l="l" t="t" r="r" b="b"/>
            <a:pathLst>
              <a:path w="9525" h="38100">
                <a:moveTo>
                  <a:pt x="9524" y="38099"/>
                </a:moveTo>
                <a:lnTo>
                  <a:pt x="0" y="38099"/>
                </a:lnTo>
                <a:lnTo>
                  <a:pt x="0" y="0"/>
                </a:lnTo>
                <a:lnTo>
                  <a:pt x="9524" y="0"/>
                </a:lnTo>
                <a:lnTo>
                  <a:pt x="9524" y="3809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0717211" y="5912802"/>
            <a:ext cx="111125" cy="1276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 spc="-25">
                <a:solidFill>
                  <a:srgbClr val="666666"/>
                </a:solidFill>
                <a:latin typeface="Roboto"/>
                <a:cs typeface="Roboto"/>
              </a:rPr>
              <a:t>80</a:t>
            </a:r>
            <a:endParaRPr sz="650">
              <a:latin typeface="Roboto"/>
              <a:cs typeface="Roboto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0387010" y="4386262"/>
            <a:ext cx="1247775" cy="628650"/>
            <a:chOff x="10387010" y="4386262"/>
            <a:chExt cx="1247775" cy="628650"/>
          </a:xfrm>
        </p:grpSpPr>
        <p:sp>
          <p:nvSpPr>
            <p:cNvPr id="21" name="object 21" descr=""/>
            <p:cNvSpPr/>
            <p:nvPr/>
          </p:nvSpPr>
          <p:spPr>
            <a:xfrm>
              <a:off x="10391773" y="4391025"/>
              <a:ext cx="1238250" cy="619125"/>
            </a:xfrm>
            <a:custGeom>
              <a:avLst/>
              <a:gdLst/>
              <a:ahLst/>
              <a:cxnLst/>
              <a:rect l="l" t="t" r="r" b="b"/>
              <a:pathLst>
                <a:path w="1238250" h="619125">
                  <a:moveTo>
                    <a:pt x="1205202" y="619124"/>
                  </a:moveTo>
                  <a:lnTo>
                    <a:pt x="33047" y="619124"/>
                  </a:lnTo>
                  <a:lnTo>
                    <a:pt x="28187" y="618157"/>
                  </a:lnTo>
                  <a:lnTo>
                    <a:pt x="966" y="590937"/>
                  </a:lnTo>
                  <a:lnTo>
                    <a:pt x="0" y="586077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  <a:lnTo>
                    <a:pt x="1205202" y="0"/>
                  </a:lnTo>
                  <a:lnTo>
                    <a:pt x="1237282" y="28187"/>
                  </a:lnTo>
                  <a:lnTo>
                    <a:pt x="1238249" y="33047"/>
                  </a:lnTo>
                  <a:lnTo>
                    <a:pt x="1238249" y="586077"/>
                  </a:lnTo>
                  <a:lnTo>
                    <a:pt x="1210062" y="618157"/>
                  </a:lnTo>
                  <a:lnTo>
                    <a:pt x="1205202" y="619124"/>
                  </a:lnTo>
                  <a:close/>
                </a:path>
              </a:pathLst>
            </a:custGeom>
            <a:solidFill>
              <a:srgbClr val="FFFFFF">
                <a:alpha val="7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391773" y="4391025"/>
              <a:ext cx="1238250" cy="619125"/>
            </a:xfrm>
            <a:custGeom>
              <a:avLst/>
              <a:gdLst/>
              <a:ahLst/>
              <a:cxnLst/>
              <a:rect l="l" t="t" r="r" b="b"/>
              <a:pathLst>
                <a:path w="1238250" h="619125">
                  <a:moveTo>
                    <a:pt x="38100" y="0"/>
                  </a:moveTo>
                  <a:lnTo>
                    <a:pt x="1200150" y="0"/>
                  </a:lnTo>
                  <a:lnTo>
                    <a:pt x="1205202" y="0"/>
                  </a:lnTo>
                  <a:lnTo>
                    <a:pt x="1210062" y="966"/>
                  </a:lnTo>
                  <a:lnTo>
                    <a:pt x="1237282" y="28187"/>
                  </a:lnTo>
                  <a:lnTo>
                    <a:pt x="1238250" y="38099"/>
                  </a:lnTo>
                  <a:lnTo>
                    <a:pt x="1238250" y="581024"/>
                  </a:lnTo>
                  <a:lnTo>
                    <a:pt x="1219397" y="614291"/>
                  </a:lnTo>
                  <a:lnTo>
                    <a:pt x="1200150" y="619124"/>
                  </a:lnTo>
                  <a:lnTo>
                    <a:pt x="38100" y="619124"/>
                  </a:lnTo>
                  <a:lnTo>
                    <a:pt x="11159" y="607965"/>
                  </a:lnTo>
                  <a:lnTo>
                    <a:pt x="7586" y="604392"/>
                  </a:lnTo>
                  <a:lnTo>
                    <a:pt x="4833" y="600272"/>
                  </a:lnTo>
                  <a:lnTo>
                    <a:pt x="2900" y="595604"/>
                  </a:lnTo>
                  <a:lnTo>
                    <a:pt x="966" y="590937"/>
                  </a:lnTo>
                  <a:lnTo>
                    <a:pt x="0" y="586077"/>
                  </a:lnTo>
                  <a:lnTo>
                    <a:pt x="0" y="581024"/>
                  </a:lnTo>
                  <a:lnTo>
                    <a:pt x="0" y="38099"/>
                  </a:lnTo>
                  <a:lnTo>
                    <a:pt x="0" y="33047"/>
                  </a:lnTo>
                  <a:lnTo>
                    <a:pt x="966" y="28187"/>
                  </a:lnTo>
                  <a:lnTo>
                    <a:pt x="2900" y="23519"/>
                  </a:lnTo>
                  <a:lnTo>
                    <a:pt x="4833" y="18851"/>
                  </a:lnTo>
                  <a:lnTo>
                    <a:pt x="7586" y="14731"/>
                  </a:lnTo>
                  <a:lnTo>
                    <a:pt x="11159" y="11159"/>
                  </a:lnTo>
                  <a:lnTo>
                    <a:pt x="14731" y="7586"/>
                  </a:lnTo>
                  <a:lnTo>
                    <a:pt x="18852" y="4833"/>
                  </a:lnTo>
                  <a:lnTo>
                    <a:pt x="23519" y="2900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38100" y="0"/>
                  </a:lnTo>
                </a:path>
              </a:pathLst>
            </a:custGeom>
            <a:ln w="9524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 txBox="1"/>
          <p:nvPr/>
        </p:nvSpPr>
        <p:spPr>
          <a:xfrm>
            <a:off x="10474324" y="4387512"/>
            <a:ext cx="1268730" cy="607060"/>
          </a:xfrm>
          <a:prstGeom prst="rect">
            <a:avLst/>
          </a:prstGeom>
        </p:spPr>
        <p:txBody>
          <a:bodyPr wrap="square" lIns="0" tIns="444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dirty="0" sz="800" spc="-40" b="1">
                <a:solidFill>
                  <a:srgbClr val="333333"/>
                </a:solidFill>
                <a:latin typeface="Roboto"/>
                <a:cs typeface="Roboto"/>
              </a:rPr>
              <a:t>Key</a:t>
            </a:r>
            <a:r>
              <a:rPr dirty="0" sz="800" spc="25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800" spc="-35" b="1">
                <a:solidFill>
                  <a:srgbClr val="333333"/>
                </a:solidFill>
                <a:latin typeface="Roboto"/>
                <a:cs typeface="Roboto"/>
              </a:rPr>
              <a:t>Performance</a:t>
            </a:r>
            <a:r>
              <a:rPr dirty="0" sz="800" spc="25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800" spc="-10" b="1">
                <a:solidFill>
                  <a:srgbClr val="333333"/>
                </a:solidFill>
                <a:latin typeface="Roboto"/>
                <a:cs typeface="Roboto"/>
              </a:rPr>
              <a:t>Metrics:</a:t>
            </a:r>
            <a:endParaRPr sz="800">
              <a:latin typeface="Roboto"/>
              <a:cs typeface="Roboto"/>
            </a:endParaRPr>
          </a:p>
          <a:p>
            <a:pPr marL="61594" indent="-48895">
              <a:lnSpc>
                <a:spcPct val="100000"/>
              </a:lnSpc>
              <a:spcBef>
                <a:spcPts val="215"/>
              </a:spcBef>
              <a:buChar char="•"/>
              <a:tabLst>
                <a:tab pos="61594" algn="l"/>
              </a:tabLst>
            </a:pPr>
            <a:r>
              <a:rPr dirty="0" sz="750" spc="-40">
                <a:solidFill>
                  <a:srgbClr val="333333"/>
                </a:solidFill>
                <a:latin typeface="Roboto"/>
                <a:cs typeface="Roboto"/>
              </a:rPr>
              <a:t>Settling</a:t>
            </a:r>
            <a:r>
              <a:rPr dirty="0" sz="7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750" spc="-40">
                <a:solidFill>
                  <a:srgbClr val="333333"/>
                </a:solidFill>
                <a:latin typeface="Roboto"/>
                <a:cs typeface="Roboto"/>
              </a:rPr>
              <a:t>time:</a:t>
            </a:r>
            <a:r>
              <a:rPr dirty="0" sz="75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Roboto"/>
                <a:cs typeface="Roboto"/>
              </a:rPr>
              <a:t>-42%</a:t>
            </a:r>
            <a:endParaRPr sz="750">
              <a:latin typeface="Roboto"/>
              <a:cs typeface="Roboto"/>
            </a:endParaRPr>
          </a:p>
          <a:p>
            <a:pPr marL="59690" indent="-46990">
              <a:lnSpc>
                <a:spcPct val="100000"/>
              </a:lnSpc>
              <a:spcBef>
                <a:spcPts val="225"/>
              </a:spcBef>
              <a:buChar char="•"/>
              <a:tabLst>
                <a:tab pos="59690" algn="l"/>
              </a:tabLst>
            </a:pPr>
            <a:r>
              <a:rPr dirty="0" sz="750" spc="-60">
                <a:solidFill>
                  <a:srgbClr val="333333"/>
                </a:solidFill>
                <a:latin typeface="Roboto"/>
                <a:cs typeface="Roboto"/>
              </a:rPr>
              <a:t>THD</a:t>
            </a:r>
            <a:r>
              <a:rPr dirty="0" sz="7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750" spc="-45">
                <a:solidFill>
                  <a:srgbClr val="333333"/>
                </a:solidFill>
                <a:latin typeface="Roboto"/>
                <a:cs typeface="Roboto"/>
              </a:rPr>
              <a:t>reduction:</a:t>
            </a:r>
            <a:r>
              <a:rPr dirty="0" sz="7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750" spc="-55">
                <a:solidFill>
                  <a:srgbClr val="333333"/>
                </a:solidFill>
                <a:latin typeface="Roboto"/>
                <a:cs typeface="Roboto"/>
              </a:rPr>
              <a:t>22%</a:t>
            </a:r>
            <a:r>
              <a:rPr dirty="0" sz="75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600" spc="70">
                <a:solidFill>
                  <a:srgbClr val="333333"/>
                </a:solidFill>
                <a:latin typeface="Arial"/>
                <a:cs typeface="Arial"/>
              </a:rPr>
              <a:t>→</a:t>
            </a:r>
            <a:r>
              <a:rPr dirty="0" sz="600" spc="30">
                <a:solidFill>
                  <a:srgbClr val="333333"/>
                </a:solidFill>
                <a:latin typeface="Arial"/>
                <a:cs typeface="Arial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Roboto"/>
                <a:cs typeface="Roboto"/>
              </a:rPr>
              <a:t>5%</a:t>
            </a:r>
            <a:endParaRPr sz="750">
              <a:latin typeface="Roboto"/>
              <a:cs typeface="Roboto"/>
            </a:endParaRPr>
          </a:p>
          <a:p>
            <a:pPr marL="61594" indent="-48895">
              <a:lnSpc>
                <a:spcPct val="100000"/>
              </a:lnSpc>
              <a:spcBef>
                <a:spcPts val="225"/>
              </a:spcBef>
              <a:buChar char="•"/>
              <a:tabLst>
                <a:tab pos="61594" algn="l"/>
              </a:tabLst>
            </a:pPr>
            <a:r>
              <a:rPr dirty="0" sz="750" spc="-50">
                <a:solidFill>
                  <a:srgbClr val="333333"/>
                </a:solidFill>
                <a:latin typeface="Roboto"/>
                <a:cs typeface="Roboto"/>
              </a:rPr>
              <a:t>Robustness</a:t>
            </a:r>
            <a:r>
              <a:rPr dirty="0" sz="7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7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750" spc="-50">
                <a:solidFill>
                  <a:srgbClr val="333333"/>
                </a:solidFill>
                <a:latin typeface="Roboto"/>
                <a:cs typeface="Roboto"/>
              </a:rPr>
              <a:t>model</a:t>
            </a:r>
            <a:r>
              <a:rPr dirty="0" sz="75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750" spc="-45">
                <a:solidFill>
                  <a:srgbClr val="333333"/>
                </a:solidFill>
                <a:latin typeface="Roboto"/>
                <a:cs typeface="Roboto"/>
              </a:rPr>
              <a:t>errors:</a:t>
            </a:r>
            <a:r>
              <a:rPr dirty="0" sz="75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750" spc="-25">
                <a:solidFill>
                  <a:srgbClr val="333333"/>
                </a:solidFill>
                <a:latin typeface="Roboto"/>
                <a:cs typeface="Roboto"/>
              </a:rPr>
              <a:t>+6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285737" y="1714499"/>
              <a:ext cx="1143000" cy="3810000"/>
            </a:xfrm>
            <a:custGeom>
              <a:avLst/>
              <a:gdLst/>
              <a:ahLst/>
              <a:cxnLst/>
              <a:rect l="l" t="t" r="r" b="b"/>
              <a:pathLst>
                <a:path w="1143000" h="3810000">
                  <a:moveTo>
                    <a:pt x="1143000" y="2857500"/>
                  </a:moveTo>
                  <a:lnTo>
                    <a:pt x="28575" y="2857500"/>
                  </a:lnTo>
                  <a:lnTo>
                    <a:pt x="28575" y="1933575"/>
                  </a:lnTo>
                  <a:lnTo>
                    <a:pt x="476250" y="1933575"/>
                  </a:lnTo>
                  <a:lnTo>
                    <a:pt x="476250" y="1905000"/>
                  </a:lnTo>
                  <a:lnTo>
                    <a:pt x="28575" y="1905000"/>
                  </a:lnTo>
                  <a:lnTo>
                    <a:pt x="28575" y="981075"/>
                  </a:lnTo>
                  <a:lnTo>
                    <a:pt x="666750" y="981075"/>
                  </a:lnTo>
                  <a:lnTo>
                    <a:pt x="666750" y="952500"/>
                  </a:lnTo>
                  <a:lnTo>
                    <a:pt x="28575" y="952500"/>
                  </a:lnTo>
                  <a:lnTo>
                    <a:pt x="28575" y="28575"/>
                  </a:lnTo>
                  <a:lnTo>
                    <a:pt x="952500" y="28575"/>
                  </a:lnTo>
                  <a:lnTo>
                    <a:pt x="952500" y="0"/>
                  </a:lnTo>
                  <a:lnTo>
                    <a:pt x="28575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0" y="3810000"/>
                  </a:lnTo>
                  <a:lnTo>
                    <a:pt x="28575" y="3810000"/>
                  </a:lnTo>
                  <a:lnTo>
                    <a:pt x="28575" y="2886075"/>
                  </a:lnTo>
                  <a:lnTo>
                    <a:pt x="1143000" y="2886075"/>
                  </a:lnTo>
                  <a:lnTo>
                    <a:pt x="1143000" y="285750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174" y="1685924"/>
              <a:ext cx="114300" cy="114299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174" y="2638424"/>
              <a:ext cx="114300" cy="114299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174" y="3590925"/>
              <a:ext cx="114300" cy="114299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174" y="4543424"/>
              <a:ext cx="114300" cy="11429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7174" y="5495924"/>
              <a:ext cx="114300" cy="114299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619124" y="476249"/>
              <a:ext cx="11001375" cy="533400"/>
            </a:xfrm>
            <a:custGeom>
              <a:avLst/>
              <a:gdLst/>
              <a:ahLst/>
              <a:cxnLst/>
              <a:rect l="l" t="t" r="r" b="b"/>
              <a:pathLst>
                <a:path w="11001375" h="533400">
                  <a:moveTo>
                    <a:pt x="0" y="533399"/>
                  </a:moveTo>
                  <a:lnTo>
                    <a:pt x="11001374" y="533399"/>
                  </a:lnTo>
                  <a:lnTo>
                    <a:pt x="11001374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71499" y="476249"/>
              <a:ext cx="47625" cy="533400"/>
            </a:xfrm>
            <a:custGeom>
              <a:avLst/>
              <a:gdLst/>
              <a:ahLst/>
              <a:cxnLst/>
              <a:rect l="l" t="t" r="r" b="b"/>
              <a:pathLst>
                <a:path w="47625" h="533400">
                  <a:moveTo>
                    <a:pt x="4762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5333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2500" spc="-135"/>
              <a:t>Nonlinear</a:t>
            </a:r>
            <a:r>
              <a:rPr dirty="0" sz="2500" spc="-20"/>
              <a:t> </a:t>
            </a:r>
            <a:r>
              <a:rPr dirty="0" sz="2500" spc="-140"/>
              <a:t>Synergetic</a:t>
            </a:r>
            <a:r>
              <a:rPr dirty="0" sz="2500" spc="-15"/>
              <a:t> </a:t>
            </a:r>
            <a:r>
              <a:rPr dirty="0" sz="2500" spc="-170"/>
              <a:t>&amp;</a:t>
            </a:r>
            <a:r>
              <a:rPr dirty="0" sz="2500" spc="-15"/>
              <a:t> </a:t>
            </a:r>
            <a:r>
              <a:rPr dirty="0" sz="2500" spc="-120"/>
              <a:t>AI-</a:t>
            </a:r>
            <a:r>
              <a:rPr dirty="0" sz="2500" spc="-155"/>
              <a:t>Based</a:t>
            </a:r>
            <a:r>
              <a:rPr dirty="0" sz="2500" spc="-15"/>
              <a:t> </a:t>
            </a:r>
            <a:r>
              <a:rPr dirty="0" sz="2500" spc="-10"/>
              <a:t>Control</a:t>
            </a:r>
            <a:endParaRPr sz="2500"/>
          </a:p>
        </p:txBody>
      </p:sp>
      <p:grpSp>
        <p:nvGrpSpPr>
          <p:cNvPr id="35" name="object 35" descr=""/>
          <p:cNvGrpSpPr/>
          <p:nvPr/>
        </p:nvGrpSpPr>
        <p:grpSpPr>
          <a:xfrm>
            <a:off x="571499" y="1247774"/>
            <a:ext cx="11430000" cy="5419725"/>
            <a:chOff x="571499" y="1247774"/>
            <a:chExt cx="11430000" cy="5419725"/>
          </a:xfrm>
        </p:grpSpPr>
        <p:sp>
          <p:nvSpPr>
            <p:cNvPr id="36" name="object 36" descr=""/>
            <p:cNvSpPr/>
            <p:nvPr/>
          </p:nvSpPr>
          <p:spPr>
            <a:xfrm>
              <a:off x="571499" y="124777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28649" y="1335881"/>
              <a:ext cx="238124" cy="166687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571499" y="26384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699" y="2714624"/>
              <a:ext cx="190499" cy="190499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571499" y="380047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4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6"/>
                  </a:lnTo>
                  <a:lnTo>
                    <a:pt x="171449" y="0"/>
                  </a:lnTo>
                  <a:lnTo>
                    <a:pt x="179872" y="206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2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0890B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699" y="3882628"/>
              <a:ext cx="190499" cy="178593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571499" y="4962524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4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20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0D948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3653" y="5038724"/>
              <a:ext cx="178593" cy="190202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6" name="object 46" descr=""/>
          <p:cNvSpPr txBox="1"/>
          <p:nvPr/>
        </p:nvSpPr>
        <p:spPr>
          <a:xfrm>
            <a:off x="1054100" y="1154707"/>
            <a:ext cx="4578350" cy="245427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Synergetic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Control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for</a:t>
            </a:r>
            <a:r>
              <a:rPr dirty="0" sz="165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20" b="1">
                <a:solidFill>
                  <a:srgbClr val="1D3A8A"/>
                </a:solidFill>
                <a:latin typeface="Roboto"/>
                <a:cs typeface="Roboto"/>
              </a:rPr>
              <a:t>UPFC</a:t>
            </a:r>
            <a:endParaRPr sz="1650">
              <a:latin typeface="Roboto"/>
              <a:cs typeface="Roboto"/>
            </a:endParaRPr>
          </a:p>
          <a:p>
            <a:pPr marL="12700" marR="21590">
              <a:lnSpc>
                <a:spcPct val="115399"/>
              </a:lnSpc>
              <a:spcBef>
                <a:spcPts val="229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Non-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linear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controller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using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macro-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variables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manifold-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based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dynamics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fast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robust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damping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both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local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inter-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area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oscillations.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Outperforms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PI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Lyapunov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methods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settling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time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(38%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reduction).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RL-</a:t>
            </a:r>
            <a:r>
              <a:rPr dirty="0" sz="1650" spc="-100" b="1">
                <a:solidFill>
                  <a:srgbClr val="1D3A8A"/>
                </a:solidFill>
                <a:latin typeface="Roboto"/>
                <a:cs typeface="Roboto"/>
              </a:rPr>
              <a:t>Based</a:t>
            </a:r>
            <a:r>
              <a:rPr dirty="0" sz="1650" spc="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Sliding</a:t>
            </a:r>
            <a:r>
              <a:rPr dirty="0" sz="1650" spc="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5" b="1">
                <a:solidFill>
                  <a:srgbClr val="1D3A8A"/>
                </a:solidFill>
                <a:latin typeface="Roboto"/>
                <a:cs typeface="Roboto"/>
              </a:rPr>
              <a:t>Mode</a:t>
            </a:r>
            <a:r>
              <a:rPr dirty="0" sz="1650" spc="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Control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ct val="115399"/>
              </a:lnSpc>
              <a:spcBef>
                <a:spcPts val="229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Model-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free</a:t>
            </a:r>
            <a:r>
              <a:rPr dirty="0" sz="13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agent-environment</a:t>
            </a:r>
            <a:r>
              <a:rPr dirty="0" sz="13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framework</a:t>
            </a:r>
            <a:r>
              <a:rPr dirty="0" sz="13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Hybrid-</a:t>
            </a:r>
            <a:r>
              <a:rPr dirty="0" sz="1300" spc="-100">
                <a:solidFill>
                  <a:srgbClr val="374050"/>
                </a:solidFill>
                <a:latin typeface="Roboto"/>
                <a:cs typeface="Roboto"/>
              </a:rPr>
              <a:t>STATCOM</a:t>
            </a:r>
            <a:r>
              <a:rPr dirty="0" sz="1300" spc="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that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achieves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high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steady-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state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accuracy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fast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response.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Reduces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THD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from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22.6%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5.2%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within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14ms.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10833000" y="6445249"/>
            <a:ext cx="106680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054100" y="3707407"/>
            <a:ext cx="4669155" cy="83502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650" spc="-100" b="1">
                <a:solidFill>
                  <a:srgbClr val="1D3A8A"/>
                </a:solidFill>
                <a:latin typeface="Roboto"/>
                <a:cs typeface="Roboto"/>
              </a:rPr>
              <a:t>Model</a:t>
            </a:r>
            <a:r>
              <a:rPr dirty="0" sz="1650" spc="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Predictive</a:t>
            </a:r>
            <a:r>
              <a:rPr dirty="0" sz="1650" spc="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Control</a:t>
            </a:r>
            <a:r>
              <a:rPr dirty="0" sz="1650" spc="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(Auto-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Tuned)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ct val="115399"/>
              </a:lnSpc>
              <a:spcBef>
                <a:spcPts val="229"/>
              </a:spcBef>
            </a:pP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Real-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weighting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factor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adjustments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MPUC7-</a:t>
            </a:r>
            <a:r>
              <a:rPr dirty="0" sz="1300" spc="-100">
                <a:solidFill>
                  <a:srgbClr val="374050"/>
                </a:solidFill>
                <a:latin typeface="Roboto"/>
                <a:cs typeface="Roboto"/>
              </a:rPr>
              <a:t>STATCOM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control,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optimizing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voltage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current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tracking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simultaneously.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Reduces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054100" y="4542154"/>
            <a:ext cx="373697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controller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complexity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improves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transient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response.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1054100" y="4869457"/>
            <a:ext cx="4658360" cy="106362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650" spc="-95" b="1">
                <a:solidFill>
                  <a:srgbClr val="1D3A8A"/>
                </a:solidFill>
                <a:latin typeface="Roboto"/>
                <a:cs typeface="Roboto"/>
              </a:rPr>
              <a:t>Safe</a:t>
            </a:r>
            <a:r>
              <a:rPr dirty="0" sz="1650" spc="-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1D3A8A"/>
                </a:solidFill>
                <a:latin typeface="Roboto"/>
                <a:cs typeface="Roboto"/>
              </a:rPr>
              <a:t>Reinforcement</a:t>
            </a:r>
            <a:r>
              <a:rPr dirty="0" sz="1650" spc="-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Learning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ct val="115399"/>
              </a:lnSpc>
              <a:spcBef>
                <a:spcPts val="229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Constraint-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aware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RL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0">
                <a:solidFill>
                  <a:srgbClr val="374050"/>
                </a:solidFill>
                <a:latin typeface="Roboto"/>
                <a:cs typeface="Roboto"/>
              </a:rPr>
              <a:t>FACTS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setpoint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under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model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errors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topology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uncertainties.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Maintains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stability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while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meeting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voltage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current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constraints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even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inaccurate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models.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7048499" y="3714749"/>
              <a:ext cx="4762500" cy="2667000"/>
            </a:xfrm>
            <a:custGeom>
              <a:avLst/>
              <a:gdLst/>
              <a:ahLst/>
              <a:cxnLst/>
              <a:rect l="l" t="t" r="r" b="b"/>
              <a:pathLst>
                <a:path w="4762500" h="2667000">
                  <a:moveTo>
                    <a:pt x="4686299" y="2666999"/>
                  </a:moveTo>
                  <a:lnTo>
                    <a:pt x="76199" y="2666999"/>
                  </a:lnTo>
                  <a:lnTo>
                    <a:pt x="68693" y="2666636"/>
                  </a:lnTo>
                  <a:lnTo>
                    <a:pt x="27882" y="2649731"/>
                  </a:lnTo>
                  <a:lnTo>
                    <a:pt x="3262" y="2612886"/>
                  </a:lnTo>
                  <a:lnTo>
                    <a:pt x="0" y="2590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686299" y="0"/>
                  </a:lnTo>
                  <a:lnTo>
                    <a:pt x="4728641" y="12829"/>
                  </a:lnTo>
                  <a:lnTo>
                    <a:pt x="4756698" y="47038"/>
                  </a:lnTo>
                  <a:lnTo>
                    <a:pt x="4762499" y="76199"/>
                  </a:lnTo>
                  <a:lnTo>
                    <a:pt x="4762499" y="2590799"/>
                  </a:lnTo>
                  <a:lnTo>
                    <a:pt x="4749668" y="2633141"/>
                  </a:lnTo>
                  <a:lnTo>
                    <a:pt x="4715459" y="2661198"/>
                  </a:lnTo>
                  <a:lnTo>
                    <a:pt x="4686299" y="26669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7048500" y="3714750"/>
              <a:ext cx="4762500" cy="2667000"/>
            </a:xfrm>
            <a:custGeom>
              <a:avLst/>
              <a:gdLst/>
              <a:ahLst/>
              <a:cxnLst/>
              <a:rect l="l" t="t" r="r" b="b"/>
              <a:pathLst>
                <a:path w="4762500" h="2667000">
                  <a:moveTo>
                    <a:pt x="4686299" y="2666999"/>
                  </a:moveTo>
                  <a:lnTo>
                    <a:pt x="76199" y="2666999"/>
                  </a:lnTo>
                  <a:lnTo>
                    <a:pt x="68693" y="2666637"/>
                  </a:lnTo>
                  <a:lnTo>
                    <a:pt x="27882" y="2649732"/>
                  </a:lnTo>
                  <a:lnTo>
                    <a:pt x="3262" y="2612886"/>
                  </a:lnTo>
                  <a:lnTo>
                    <a:pt x="0" y="2590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4686299" y="0"/>
                  </a:lnTo>
                  <a:lnTo>
                    <a:pt x="4723119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2595177"/>
                  </a:lnTo>
                  <a:lnTo>
                    <a:pt x="23192" y="2631481"/>
                  </a:lnTo>
                  <a:lnTo>
                    <a:pt x="54727" y="2654074"/>
                  </a:lnTo>
                  <a:lnTo>
                    <a:pt x="71821" y="2657473"/>
                  </a:lnTo>
                  <a:lnTo>
                    <a:pt x="4723119" y="2657473"/>
                  </a:lnTo>
                  <a:lnTo>
                    <a:pt x="4722255" y="2657990"/>
                  </a:lnTo>
                  <a:lnTo>
                    <a:pt x="4715459" y="2661198"/>
                  </a:lnTo>
                  <a:lnTo>
                    <a:pt x="4708386" y="2663736"/>
                  </a:lnTo>
                  <a:lnTo>
                    <a:pt x="4701168" y="2665549"/>
                  </a:lnTo>
                  <a:lnTo>
                    <a:pt x="4693806" y="2666637"/>
                  </a:lnTo>
                  <a:lnTo>
                    <a:pt x="4686299" y="2666999"/>
                  </a:lnTo>
                  <a:close/>
                </a:path>
                <a:path w="4762500" h="2667000">
                  <a:moveTo>
                    <a:pt x="4723119" y="2657473"/>
                  </a:moveTo>
                  <a:lnTo>
                    <a:pt x="4690676" y="2657473"/>
                  </a:lnTo>
                  <a:lnTo>
                    <a:pt x="4695012" y="2657047"/>
                  </a:lnTo>
                  <a:lnTo>
                    <a:pt x="4703599" y="2655339"/>
                  </a:lnTo>
                  <a:lnTo>
                    <a:pt x="4736539" y="2634849"/>
                  </a:lnTo>
                  <a:lnTo>
                    <a:pt x="4752546" y="2599513"/>
                  </a:lnTo>
                  <a:lnTo>
                    <a:pt x="4752973" y="2595177"/>
                  </a:lnTo>
                  <a:lnTo>
                    <a:pt x="4752973" y="71821"/>
                  </a:lnTo>
                  <a:lnTo>
                    <a:pt x="4739302" y="35516"/>
                  </a:lnTo>
                  <a:lnTo>
                    <a:pt x="4707455" y="12829"/>
                  </a:lnTo>
                  <a:lnTo>
                    <a:pt x="4690676" y="9524"/>
                  </a:lnTo>
                  <a:lnTo>
                    <a:pt x="4723119" y="9524"/>
                  </a:lnTo>
                  <a:lnTo>
                    <a:pt x="4753490" y="40242"/>
                  </a:lnTo>
                  <a:lnTo>
                    <a:pt x="4762499" y="2590799"/>
                  </a:lnTo>
                  <a:lnTo>
                    <a:pt x="4762136" y="2598306"/>
                  </a:lnTo>
                  <a:lnTo>
                    <a:pt x="4745232" y="2639116"/>
                  </a:lnTo>
                  <a:lnTo>
                    <a:pt x="4728768" y="2654074"/>
                  </a:lnTo>
                  <a:lnTo>
                    <a:pt x="4723119" y="2657473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72346" y="3838575"/>
              <a:ext cx="4507365" cy="252412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623082" y="5100637"/>
              <a:ext cx="3606165" cy="0"/>
            </a:xfrm>
            <a:custGeom>
              <a:avLst/>
              <a:gdLst/>
              <a:ahLst/>
              <a:cxnLst/>
              <a:rect l="l" t="t" r="r" b="b"/>
              <a:pathLst>
                <a:path w="3606165" h="0">
                  <a:moveTo>
                    <a:pt x="0" y="0"/>
                  </a:moveTo>
                  <a:lnTo>
                    <a:pt x="3605892" y="0"/>
                  </a:lnTo>
                </a:path>
              </a:pathLst>
            </a:custGeom>
            <a:ln w="27044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442788" y="4920342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94" y="360589"/>
                  </a:moveTo>
                  <a:lnTo>
                    <a:pt x="136475" y="355184"/>
                  </a:lnTo>
                  <a:lnTo>
                    <a:pt x="95303" y="339301"/>
                  </a:lnTo>
                  <a:lnTo>
                    <a:pt x="59223" y="313892"/>
                  </a:lnTo>
                  <a:lnTo>
                    <a:pt x="30385" y="280460"/>
                  </a:lnTo>
                  <a:lnTo>
                    <a:pt x="10534" y="241024"/>
                  </a:lnTo>
                  <a:lnTo>
                    <a:pt x="866" y="197966"/>
                  </a:lnTo>
                  <a:lnTo>
                    <a:pt x="0" y="180294"/>
                  </a:lnTo>
                  <a:lnTo>
                    <a:pt x="216" y="171437"/>
                  </a:lnTo>
                  <a:lnTo>
                    <a:pt x="7761" y="127957"/>
                  </a:lnTo>
                  <a:lnTo>
                    <a:pt x="25644" y="87613"/>
                  </a:lnTo>
                  <a:lnTo>
                    <a:pt x="52807" y="52807"/>
                  </a:lnTo>
                  <a:lnTo>
                    <a:pt x="87613" y="25644"/>
                  </a:lnTo>
                  <a:lnTo>
                    <a:pt x="127957" y="7761"/>
                  </a:lnTo>
                  <a:lnTo>
                    <a:pt x="171437" y="216"/>
                  </a:lnTo>
                  <a:lnTo>
                    <a:pt x="180294" y="0"/>
                  </a:lnTo>
                  <a:lnTo>
                    <a:pt x="189152" y="216"/>
                  </a:lnTo>
                  <a:lnTo>
                    <a:pt x="232631" y="7761"/>
                  </a:lnTo>
                  <a:lnTo>
                    <a:pt x="272975" y="25644"/>
                  </a:lnTo>
                  <a:lnTo>
                    <a:pt x="307782" y="52807"/>
                  </a:lnTo>
                  <a:lnTo>
                    <a:pt x="334944" y="87613"/>
                  </a:lnTo>
                  <a:lnTo>
                    <a:pt x="352827" y="127957"/>
                  </a:lnTo>
                  <a:lnTo>
                    <a:pt x="360372" y="171437"/>
                  </a:lnTo>
                  <a:lnTo>
                    <a:pt x="360589" y="180294"/>
                  </a:lnTo>
                  <a:lnTo>
                    <a:pt x="360372" y="189152"/>
                  </a:lnTo>
                  <a:lnTo>
                    <a:pt x="352827" y="232631"/>
                  </a:lnTo>
                  <a:lnTo>
                    <a:pt x="334944" y="272975"/>
                  </a:lnTo>
                  <a:lnTo>
                    <a:pt x="307782" y="307782"/>
                  </a:lnTo>
                  <a:lnTo>
                    <a:pt x="272975" y="334944"/>
                  </a:lnTo>
                  <a:lnTo>
                    <a:pt x="232631" y="352827"/>
                  </a:lnTo>
                  <a:lnTo>
                    <a:pt x="189152" y="360372"/>
                  </a:lnTo>
                  <a:lnTo>
                    <a:pt x="180294" y="36058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7442788" y="4920342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360589" y="180294"/>
                  </a:moveTo>
                  <a:lnTo>
                    <a:pt x="355184" y="224113"/>
                  </a:lnTo>
                  <a:lnTo>
                    <a:pt x="339302" y="265285"/>
                  </a:lnTo>
                  <a:lnTo>
                    <a:pt x="313892" y="301365"/>
                  </a:lnTo>
                  <a:lnTo>
                    <a:pt x="280460" y="330203"/>
                  </a:lnTo>
                  <a:lnTo>
                    <a:pt x="241024" y="350054"/>
                  </a:lnTo>
                  <a:lnTo>
                    <a:pt x="197966" y="359723"/>
                  </a:lnTo>
                  <a:lnTo>
                    <a:pt x="180294" y="360589"/>
                  </a:lnTo>
                  <a:lnTo>
                    <a:pt x="171437" y="360372"/>
                  </a:lnTo>
                  <a:lnTo>
                    <a:pt x="127957" y="352827"/>
                  </a:lnTo>
                  <a:lnTo>
                    <a:pt x="87613" y="334944"/>
                  </a:lnTo>
                  <a:lnTo>
                    <a:pt x="52807" y="307782"/>
                  </a:lnTo>
                  <a:lnTo>
                    <a:pt x="25644" y="272975"/>
                  </a:lnTo>
                  <a:lnTo>
                    <a:pt x="7761" y="232631"/>
                  </a:lnTo>
                  <a:lnTo>
                    <a:pt x="216" y="189152"/>
                  </a:lnTo>
                  <a:lnTo>
                    <a:pt x="0" y="180294"/>
                  </a:lnTo>
                  <a:lnTo>
                    <a:pt x="216" y="171437"/>
                  </a:lnTo>
                  <a:lnTo>
                    <a:pt x="7761" y="127957"/>
                  </a:lnTo>
                  <a:lnTo>
                    <a:pt x="25644" y="87613"/>
                  </a:lnTo>
                  <a:lnTo>
                    <a:pt x="52807" y="52807"/>
                  </a:lnTo>
                  <a:lnTo>
                    <a:pt x="87613" y="25644"/>
                  </a:lnTo>
                  <a:lnTo>
                    <a:pt x="127957" y="7761"/>
                  </a:lnTo>
                  <a:lnTo>
                    <a:pt x="171437" y="216"/>
                  </a:lnTo>
                  <a:lnTo>
                    <a:pt x="180294" y="0"/>
                  </a:lnTo>
                  <a:lnTo>
                    <a:pt x="189152" y="216"/>
                  </a:lnTo>
                  <a:lnTo>
                    <a:pt x="232631" y="7761"/>
                  </a:lnTo>
                  <a:lnTo>
                    <a:pt x="272975" y="25644"/>
                  </a:lnTo>
                  <a:lnTo>
                    <a:pt x="307782" y="52807"/>
                  </a:lnTo>
                  <a:lnTo>
                    <a:pt x="334944" y="87613"/>
                  </a:lnTo>
                  <a:lnTo>
                    <a:pt x="352827" y="127957"/>
                  </a:lnTo>
                  <a:lnTo>
                    <a:pt x="360372" y="171437"/>
                  </a:lnTo>
                  <a:lnTo>
                    <a:pt x="360589" y="180294"/>
                  </a:lnTo>
                  <a:close/>
                </a:path>
              </a:pathLst>
            </a:custGeom>
            <a:ln w="1802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7418329" y="5011526"/>
            <a:ext cx="409575" cy="146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40" b="1">
                <a:latin typeface="Roboto"/>
                <a:cs typeface="Roboto"/>
              </a:rPr>
              <a:t>AC</a:t>
            </a:r>
            <a:r>
              <a:rPr dirty="0" sz="750" spc="-15" b="1">
                <a:latin typeface="Roboto"/>
                <a:cs typeface="Roboto"/>
              </a:rPr>
              <a:t> </a:t>
            </a:r>
            <a:r>
              <a:rPr dirty="0" sz="750" spc="-20" b="1">
                <a:latin typeface="Roboto"/>
                <a:cs typeface="Roboto"/>
              </a:rPr>
              <a:t>Grid</a:t>
            </a:r>
            <a:r>
              <a:rPr dirty="0" sz="750" spc="-25" b="1">
                <a:latin typeface="Roboto"/>
                <a:cs typeface="Roboto"/>
              </a:rPr>
              <a:t> </a:t>
            </a:r>
            <a:r>
              <a:rPr dirty="0" sz="750" spc="-50" b="1">
                <a:latin typeface="Roboto"/>
                <a:cs typeface="Roboto"/>
              </a:rPr>
              <a:t>1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11039473" y="4911135"/>
            <a:ext cx="379095" cy="379095"/>
            <a:chOff x="11039473" y="4911135"/>
            <a:chExt cx="379095" cy="379095"/>
          </a:xfrm>
        </p:grpSpPr>
        <p:sp>
          <p:nvSpPr>
            <p:cNvPr id="11" name="object 11" descr=""/>
            <p:cNvSpPr/>
            <p:nvPr/>
          </p:nvSpPr>
          <p:spPr>
            <a:xfrm>
              <a:off x="11048680" y="4920342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180294" y="360589"/>
                  </a:moveTo>
                  <a:lnTo>
                    <a:pt x="136475" y="355184"/>
                  </a:lnTo>
                  <a:lnTo>
                    <a:pt x="95302" y="339301"/>
                  </a:lnTo>
                  <a:lnTo>
                    <a:pt x="59222" y="313892"/>
                  </a:lnTo>
                  <a:lnTo>
                    <a:pt x="30384" y="280460"/>
                  </a:lnTo>
                  <a:lnTo>
                    <a:pt x="10534" y="241024"/>
                  </a:lnTo>
                  <a:lnTo>
                    <a:pt x="865" y="197966"/>
                  </a:lnTo>
                  <a:lnTo>
                    <a:pt x="0" y="180294"/>
                  </a:lnTo>
                  <a:lnTo>
                    <a:pt x="216" y="171437"/>
                  </a:lnTo>
                  <a:lnTo>
                    <a:pt x="7761" y="127957"/>
                  </a:lnTo>
                  <a:lnTo>
                    <a:pt x="25643" y="87613"/>
                  </a:lnTo>
                  <a:lnTo>
                    <a:pt x="52806" y="52807"/>
                  </a:lnTo>
                  <a:lnTo>
                    <a:pt x="87612" y="25644"/>
                  </a:lnTo>
                  <a:lnTo>
                    <a:pt x="127956" y="7761"/>
                  </a:lnTo>
                  <a:lnTo>
                    <a:pt x="171437" y="216"/>
                  </a:lnTo>
                  <a:lnTo>
                    <a:pt x="180294" y="0"/>
                  </a:lnTo>
                  <a:lnTo>
                    <a:pt x="189151" y="216"/>
                  </a:lnTo>
                  <a:lnTo>
                    <a:pt x="232631" y="7761"/>
                  </a:lnTo>
                  <a:lnTo>
                    <a:pt x="272975" y="25644"/>
                  </a:lnTo>
                  <a:lnTo>
                    <a:pt x="307782" y="52807"/>
                  </a:lnTo>
                  <a:lnTo>
                    <a:pt x="334944" y="87613"/>
                  </a:lnTo>
                  <a:lnTo>
                    <a:pt x="352827" y="127957"/>
                  </a:lnTo>
                  <a:lnTo>
                    <a:pt x="360372" y="171437"/>
                  </a:lnTo>
                  <a:lnTo>
                    <a:pt x="360589" y="180294"/>
                  </a:lnTo>
                  <a:lnTo>
                    <a:pt x="360372" y="189152"/>
                  </a:lnTo>
                  <a:lnTo>
                    <a:pt x="352827" y="232631"/>
                  </a:lnTo>
                  <a:lnTo>
                    <a:pt x="334944" y="272975"/>
                  </a:lnTo>
                  <a:lnTo>
                    <a:pt x="307782" y="307782"/>
                  </a:lnTo>
                  <a:lnTo>
                    <a:pt x="272975" y="334944"/>
                  </a:lnTo>
                  <a:lnTo>
                    <a:pt x="232631" y="352827"/>
                  </a:lnTo>
                  <a:lnTo>
                    <a:pt x="189151" y="360372"/>
                  </a:lnTo>
                  <a:lnTo>
                    <a:pt x="180294" y="360589"/>
                  </a:lnTo>
                  <a:close/>
                </a:path>
              </a:pathLst>
            </a:custGeom>
            <a:solidFill>
              <a:srgbClr val="DAE9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048680" y="4920342"/>
              <a:ext cx="360680" cy="360680"/>
            </a:xfrm>
            <a:custGeom>
              <a:avLst/>
              <a:gdLst/>
              <a:ahLst/>
              <a:cxnLst/>
              <a:rect l="l" t="t" r="r" b="b"/>
              <a:pathLst>
                <a:path w="360679" h="360679">
                  <a:moveTo>
                    <a:pt x="360589" y="180294"/>
                  </a:moveTo>
                  <a:lnTo>
                    <a:pt x="355184" y="224113"/>
                  </a:lnTo>
                  <a:lnTo>
                    <a:pt x="339301" y="265285"/>
                  </a:lnTo>
                  <a:lnTo>
                    <a:pt x="313891" y="301365"/>
                  </a:lnTo>
                  <a:lnTo>
                    <a:pt x="280460" y="330203"/>
                  </a:lnTo>
                  <a:lnTo>
                    <a:pt x="241024" y="350054"/>
                  </a:lnTo>
                  <a:lnTo>
                    <a:pt x="197966" y="359723"/>
                  </a:lnTo>
                  <a:lnTo>
                    <a:pt x="180294" y="360589"/>
                  </a:lnTo>
                  <a:lnTo>
                    <a:pt x="171437" y="360372"/>
                  </a:lnTo>
                  <a:lnTo>
                    <a:pt x="127956" y="352827"/>
                  </a:lnTo>
                  <a:lnTo>
                    <a:pt x="87612" y="334944"/>
                  </a:lnTo>
                  <a:lnTo>
                    <a:pt x="52806" y="307782"/>
                  </a:lnTo>
                  <a:lnTo>
                    <a:pt x="25643" y="272975"/>
                  </a:lnTo>
                  <a:lnTo>
                    <a:pt x="7760" y="232631"/>
                  </a:lnTo>
                  <a:lnTo>
                    <a:pt x="216" y="189152"/>
                  </a:lnTo>
                  <a:lnTo>
                    <a:pt x="0" y="180294"/>
                  </a:lnTo>
                  <a:lnTo>
                    <a:pt x="216" y="171437"/>
                  </a:lnTo>
                  <a:lnTo>
                    <a:pt x="7761" y="127957"/>
                  </a:lnTo>
                  <a:lnTo>
                    <a:pt x="25643" y="87613"/>
                  </a:lnTo>
                  <a:lnTo>
                    <a:pt x="52806" y="52807"/>
                  </a:lnTo>
                  <a:lnTo>
                    <a:pt x="87612" y="25644"/>
                  </a:lnTo>
                  <a:lnTo>
                    <a:pt x="127956" y="7761"/>
                  </a:lnTo>
                  <a:lnTo>
                    <a:pt x="171437" y="216"/>
                  </a:lnTo>
                  <a:lnTo>
                    <a:pt x="180294" y="0"/>
                  </a:lnTo>
                  <a:lnTo>
                    <a:pt x="189151" y="216"/>
                  </a:lnTo>
                  <a:lnTo>
                    <a:pt x="232631" y="7761"/>
                  </a:lnTo>
                  <a:lnTo>
                    <a:pt x="272975" y="25644"/>
                  </a:lnTo>
                  <a:lnTo>
                    <a:pt x="307782" y="52807"/>
                  </a:lnTo>
                  <a:lnTo>
                    <a:pt x="334944" y="87613"/>
                  </a:lnTo>
                  <a:lnTo>
                    <a:pt x="352827" y="127957"/>
                  </a:lnTo>
                  <a:lnTo>
                    <a:pt x="360372" y="171437"/>
                  </a:lnTo>
                  <a:lnTo>
                    <a:pt x="360589" y="180294"/>
                  </a:lnTo>
                  <a:close/>
                </a:path>
              </a:pathLst>
            </a:custGeom>
            <a:ln w="1802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11024285" y="5011526"/>
            <a:ext cx="409575" cy="146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40" b="1">
                <a:latin typeface="Roboto"/>
                <a:cs typeface="Roboto"/>
              </a:rPr>
              <a:t>AC</a:t>
            </a:r>
            <a:r>
              <a:rPr dirty="0" sz="750" spc="-15" b="1">
                <a:latin typeface="Roboto"/>
                <a:cs typeface="Roboto"/>
              </a:rPr>
              <a:t> </a:t>
            </a:r>
            <a:r>
              <a:rPr dirty="0" sz="750" spc="-20" b="1">
                <a:latin typeface="Roboto"/>
                <a:cs typeface="Roboto"/>
              </a:rPr>
              <a:t>Grid</a:t>
            </a:r>
            <a:r>
              <a:rPr dirty="0" sz="750" spc="-25" b="1">
                <a:latin typeface="Roboto"/>
                <a:cs typeface="Roboto"/>
              </a:rPr>
              <a:t> </a:t>
            </a:r>
            <a:r>
              <a:rPr dirty="0" sz="750" spc="-50" b="1">
                <a:latin typeface="Roboto"/>
                <a:cs typeface="Roboto"/>
              </a:rPr>
              <a:t>2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9416821" y="4189956"/>
            <a:ext cx="1100455" cy="469265"/>
            <a:chOff x="9416821" y="4189956"/>
            <a:chExt cx="1100455" cy="469265"/>
          </a:xfrm>
        </p:grpSpPr>
        <p:sp>
          <p:nvSpPr>
            <p:cNvPr id="15" name="object 15" descr=""/>
            <p:cNvSpPr/>
            <p:nvPr/>
          </p:nvSpPr>
          <p:spPr>
            <a:xfrm>
              <a:off x="9426028" y="4199164"/>
              <a:ext cx="1082040" cy="450850"/>
            </a:xfrm>
            <a:custGeom>
              <a:avLst/>
              <a:gdLst/>
              <a:ahLst/>
              <a:cxnLst/>
              <a:rect l="l" t="t" r="r" b="b"/>
              <a:pathLst>
                <a:path w="1082040" h="450850">
                  <a:moveTo>
                    <a:pt x="1042671" y="450736"/>
                  </a:moveTo>
                  <a:lnTo>
                    <a:pt x="39096" y="450736"/>
                  </a:lnTo>
                  <a:lnTo>
                    <a:pt x="33346" y="449592"/>
                  </a:lnTo>
                  <a:lnTo>
                    <a:pt x="1143" y="417389"/>
                  </a:lnTo>
                  <a:lnTo>
                    <a:pt x="0" y="411639"/>
                  </a:lnTo>
                  <a:lnTo>
                    <a:pt x="0" y="39096"/>
                  </a:lnTo>
                  <a:lnTo>
                    <a:pt x="22302" y="5718"/>
                  </a:lnTo>
                  <a:lnTo>
                    <a:pt x="39096" y="0"/>
                  </a:lnTo>
                  <a:lnTo>
                    <a:pt x="45073" y="0"/>
                  </a:lnTo>
                  <a:lnTo>
                    <a:pt x="1042671" y="0"/>
                  </a:lnTo>
                  <a:lnTo>
                    <a:pt x="1076049" y="22302"/>
                  </a:lnTo>
                  <a:lnTo>
                    <a:pt x="1081767" y="39096"/>
                  </a:lnTo>
                  <a:lnTo>
                    <a:pt x="1081767" y="411639"/>
                  </a:lnTo>
                  <a:lnTo>
                    <a:pt x="1059465" y="445018"/>
                  </a:lnTo>
                  <a:lnTo>
                    <a:pt x="1048420" y="449592"/>
                  </a:lnTo>
                  <a:lnTo>
                    <a:pt x="1042671" y="450736"/>
                  </a:lnTo>
                  <a:close/>
                </a:path>
              </a:pathLst>
            </a:custGeom>
            <a:solidFill>
              <a:srgbClr val="ECE8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9426028" y="4199164"/>
              <a:ext cx="1082040" cy="450850"/>
            </a:xfrm>
            <a:custGeom>
              <a:avLst/>
              <a:gdLst/>
              <a:ahLst/>
              <a:cxnLst/>
              <a:rect l="l" t="t" r="r" b="b"/>
              <a:pathLst>
                <a:path w="1082040" h="450850">
                  <a:moveTo>
                    <a:pt x="45073" y="0"/>
                  </a:moveTo>
                  <a:lnTo>
                    <a:pt x="1036694" y="0"/>
                  </a:lnTo>
                  <a:lnTo>
                    <a:pt x="1042671" y="0"/>
                  </a:lnTo>
                  <a:lnTo>
                    <a:pt x="1048420" y="1143"/>
                  </a:lnTo>
                  <a:lnTo>
                    <a:pt x="1078336" y="27824"/>
                  </a:lnTo>
                  <a:lnTo>
                    <a:pt x="1080624" y="33346"/>
                  </a:lnTo>
                  <a:lnTo>
                    <a:pt x="1081767" y="39096"/>
                  </a:lnTo>
                  <a:lnTo>
                    <a:pt x="1081767" y="45073"/>
                  </a:lnTo>
                  <a:lnTo>
                    <a:pt x="1081767" y="405662"/>
                  </a:lnTo>
                  <a:lnTo>
                    <a:pt x="1064339" y="441761"/>
                  </a:lnTo>
                  <a:lnTo>
                    <a:pt x="1042671" y="450736"/>
                  </a:lnTo>
                  <a:lnTo>
                    <a:pt x="1036694" y="450736"/>
                  </a:lnTo>
                  <a:lnTo>
                    <a:pt x="45073" y="450736"/>
                  </a:lnTo>
                  <a:lnTo>
                    <a:pt x="39096" y="450736"/>
                  </a:lnTo>
                  <a:lnTo>
                    <a:pt x="33346" y="449592"/>
                  </a:lnTo>
                  <a:lnTo>
                    <a:pt x="27824" y="447305"/>
                  </a:lnTo>
                  <a:lnTo>
                    <a:pt x="22302" y="445018"/>
                  </a:lnTo>
                  <a:lnTo>
                    <a:pt x="17428" y="441761"/>
                  </a:lnTo>
                  <a:lnTo>
                    <a:pt x="13201" y="437534"/>
                  </a:lnTo>
                  <a:lnTo>
                    <a:pt x="8975" y="433308"/>
                  </a:lnTo>
                  <a:lnTo>
                    <a:pt x="5718" y="428433"/>
                  </a:lnTo>
                  <a:lnTo>
                    <a:pt x="3431" y="422911"/>
                  </a:lnTo>
                  <a:lnTo>
                    <a:pt x="1143" y="417389"/>
                  </a:lnTo>
                  <a:lnTo>
                    <a:pt x="0" y="411639"/>
                  </a:lnTo>
                  <a:lnTo>
                    <a:pt x="0" y="405662"/>
                  </a:lnTo>
                  <a:lnTo>
                    <a:pt x="0" y="45073"/>
                  </a:lnTo>
                  <a:lnTo>
                    <a:pt x="13201" y="13201"/>
                  </a:lnTo>
                  <a:lnTo>
                    <a:pt x="17428" y="8975"/>
                  </a:lnTo>
                  <a:lnTo>
                    <a:pt x="22302" y="5718"/>
                  </a:lnTo>
                  <a:lnTo>
                    <a:pt x="27824" y="3430"/>
                  </a:lnTo>
                  <a:lnTo>
                    <a:pt x="33346" y="1143"/>
                  </a:lnTo>
                  <a:lnTo>
                    <a:pt x="39096" y="0"/>
                  </a:lnTo>
                  <a:lnTo>
                    <a:pt x="45073" y="0"/>
                  </a:lnTo>
                  <a:close/>
                </a:path>
              </a:pathLst>
            </a:custGeom>
            <a:ln w="18029">
              <a:solidFill>
                <a:srgbClr val="8B5C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9635779" y="4319980"/>
            <a:ext cx="66230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70" b="1">
                <a:latin typeface="Roboto"/>
                <a:cs typeface="Roboto"/>
              </a:rPr>
              <a:t>DC</a:t>
            </a:r>
            <a:r>
              <a:rPr dirty="0" sz="950" spc="-20" b="1">
                <a:latin typeface="Roboto"/>
                <a:cs typeface="Roboto"/>
              </a:rPr>
              <a:t> </a:t>
            </a:r>
            <a:r>
              <a:rPr dirty="0" sz="950" spc="-50" b="1">
                <a:latin typeface="Roboto"/>
                <a:cs typeface="Roboto"/>
              </a:rPr>
              <a:t>Microgrid</a:t>
            </a:r>
            <a:endParaRPr sz="950">
              <a:latin typeface="Roboto"/>
              <a:cs typeface="Roboto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8244906" y="5452018"/>
            <a:ext cx="559435" cy="334010"/>
            <a:chOff x="8244906" y="5452018"/>
            <a:chExt cx="559435" cy="334010"/>
          </a:xfrm>
        </p:grpSpPr>
        <p:sp>
          <p:nvSpPr>
            <p:cNvPr id="19" name="object 19" descr=""/>
            <p:cNvSpPr/>
            <p:nvPr/>
          </p:nvSpPr>
          <p:spPr>
            <a:xfrm>
              <a:off x="8254114" y="5461226"/>
              <a:ext cx="541020" cy="315595"/>
            </a:xfrm>
            <a:custGeom>
              <a:avLst/>
              <a:gdLst/>
              <a:ahLst/>
              <a:cxnLst/>
              <a:rect l="l" t="t" r="r" b="b"/>
              <a:pathLst>
                <a:path w="541020" h="315595">
                  <a:moveTo>
                    <a:pt x="501787" y="315515"/>
                  </a:moveTo>
                  <a:lnTo>
                    <a:pt x="39096" y="315515"/>
                  </a:lnTo>
                  <a:lnTo>
                    <a:pt x="33346" y="314371"/>
                  </a:lnTo>
                  <a:lnTo>
                    <a:pt x="1143" y="282168"/>
                  </a:lnTo>
                  <a:lnTo>
                    <a:pt x="0" y="276418"/>
                  </a:lnTo>
                  <a:lnTo>
                    <a:pt x="0" y="39096"/>
                  </a:lnTo>
                  <a:lnTo>
                    <a:pt x="22302" y="5718"/>
                  </a:lnTo>
                  <a:lnTo>
                    <a:pt x="39096" y="0"/>
                  </a:lnTo>
                  <a:lnTo>
                    <a:pt x="45073" y="0"/>
                  </a:lnTo>
                  <a:lnTo>
                    <a:pt x="501787" y="0"/>
                  </a:lnTo>
                  <a:lnTo>
                    <a:pt x="535165" y="22302"/>
                  </a:lnTo>
                  <a:lnTo>
                    <a:pt x="540883" y="39096"/>
                  </a:lnTo>
                  <a:lnTo>
                    <a:pt x="540883" y="276418"/>
                  </a:lnTo>
                  <a:lnTo>
                    <a:pt x="518581" y="309796"/>
                  </a:lnTo>
                  <a:lnTo>
                    <a:pt x="507537" y="314371"/>
                  </a:lnTo>
                  <a:lnTo>
                    <a:pt x="501787" y="315515"/>
                  </a:lnTo>
                  <a:close/>
                </a:path>
              </a:pathLst>
            </a:custGeom>
            <a:solidFill>
              <a:srgbClr val="FE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8254114" y="5461226"/>
              <a:ext cx="541020" cy="315595"/>
            </a:xfrm>
            <a:custGeom>
              <a:avLst/>
              <a:gdLst/>
              <a:ahLst/>
              <a:cxnLst/>
              <a:rect l="l" t="t" r="r" b="b"/>
              <a:pathLst>
                <a:path w="541020" h="315595">
                  <a:moveTo>
                    <a:pt x="45073" y="0"/>
                  </a:moveTo>
                  <a:lnTo>
                    <a:pt x="495810" y="0"/>
                  </a:lnTo>
                  <a:lnTo>
                    <a:pt x="501787" y="0"/>
                  </a:lnTo>
                  <a:lnTo>
                    <a:pt x="507537" y="1143"/>
                  </a:lnTo>
                  <a:lnTo>
                    <a:pt x="513059" y="3431"/>
                  </a:lnTo>
                  <a:lnTo>
                    <a:pt x="518581" y="5718"/>
                  </a:lnTo>
                  <a:lnTo>
                    <a:pt x="523455" y="8975"/>
                  </a:lnTo>
                  <a:lnTo>
                    <a:pt x="527682" y="13201"/>
                  </a:lnTo>
                  <a:lnTo>
                    <a:pt x="531908" y="17428"/>
                  </a:lnTo>
                  <a:lnTo>
                    <a:pt x="535165" y="22302"/>
                  </a:lnTo>
                  <a:lnTo>
                    <a:pt x="537452" y="27824"/>
                  </a:lnTo>
                  <a:lnTo>
                    <a:pt x="539740" y="33346"/>
                  </a:lnTo>
                  <a:lnTo>
                    <a:pt x="540883" y="39096"/>
                  </a:lnTo>
                  <a:lnTo>
                    <a:pt x="540883" y="45073"/>
                  </a:lnTo>
                  <a:lnTo>
                    <a:pt x="540883" y="270441"/>
                  </a:lnTo>
                  <a:lnTo>
                    <a:pt x="540883" y="276418"/>
                  </a:lnTo>
                  <a:lnTo>
                    <a:pt x="539740" y="282168"/>
                  </a:lnTo>
                  <a:lnTo>
                    <a:pt x="537452" y="287690"/>
                  </a:lnTo>
                  <a:lnTo>
                    <a:pt x="535165" y="293212"/>
                  </a:lnTo>
                  <a:lnTo>
                    <a:pt x="501787" y="315515"/>
                  </a:lnTo>
                  <a:lnTo>
                    <a:pt x="495810" y="315515"/>
                  </a:lnTo>
                  <a:lnTo>
                    <a:pt x="45073" y="315515"/>
                  </a:lnTo>
                  <a:lnTo>
                    <a:pt x="39096" y="315515"/>
                  </a:lnTo>
                  <a:lnTo>
                    <a:pt x="33346" y="314371"/>
                  </a:lnTo>
                  <a:lnTo>
                    <a:pt x="27824" y="312084"/>
                  </a:lnTo>
                  <a:lnTo>
                    <a:pt x="22302" y="309796"/>
                  </a:lnTo>
                  <a:lnTo>
                    <a:pt x="3431" y="287690"/>
                  </a:lnTo>
                  <a:lnTo>
                    <a:pt x="1143" y="282168"/>
                  </a:lnTo>
                  <a:lnTo>
                    <a:pt x="0" y="276418"/>
                  </a:lnTo>
                  <a:lnTo>
                    <a:pt x="0" y="270441"/>
                  </a:lnTo>
                  <a:lnTo>
                    <a:pt x="0" y="45073"/>
                  </a:lnTo>
                  <a:lnTo>
                    <a:pt x="0" y="39096"/>
                  </a:lnTo>
                  <a:lnTo>
                    <a:pt x="1143" y="33346"/>
                  </a:lnTo>
                  <a:lnTo>
                    <a:pt x="3431" y="27824"/>
                  </a:lnTo>
                  <a:lnTo>
                    <a:pt x="5718" y="22302"/>
                  </a:lnTo>
                  <a:lnTo>
                    <a:pt x="8975" y="17428"/>
                  </a:lnTo>
                  <a:lnTo>
                    <a:pt x="13201" y="13201"/>
                  </a:lnTo>
                  <a:lnTo>
                    <a:pt x="17428" y="8975"/>
                  </a:lnTo>
                  <a:lnTo>
                    <a:pt x="22302" y="5718"/>
                  </a:lnTo>
                  <a:lnTo>
                    <a:pt x="27824" y="3430"/>
                  </a:lnTo>
                  <a:lnTo>
                    <a:pt x="33346" y="1143"/>
                  </a:lnTo>
                  <a:lnTo>
                    <a:pt x="39096" y="0"/>
                  </a:lnTo>
                  <a:lnTo>
                    <a:pt x="45073" y="0"/>
                  </a:lnTo>
                  <a:close/>
                </a:path>
              </a:pathLst>
            </a:custGeom>
            <a:ln w="18029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8408187" y="5518895"/>
            <a:ext cx="233045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60" b="1">
                <a:latin typeface="Roboto"/>
                <a:cs typeface="Roboto"/>
              </a:rPr>
              <a:t>SVC</a:t>
            </a:r>
            <a:endParaRPr sz="950">
              <a:latin typeface="Roboto"/>
              <a:cs typeface="Roboto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8515348" y="4911135"/>
            <a:ext cx="1010285" cy="559435"/>
            <a:chOff x="8515348" y="4911135"/>
            <a:chExt cx="1010285" cy="559435"/>
          </a:xfrm>
        </p:grpSpPr>
        <p:sp>
          <p:nvSpPr>
            <p:cNvPr id="23" name="object 23" descr=""/>
            <p:cNvSpPr/>
            <p:nvPr/>
          </p:nvSpPr>
          <p:spPr>
            <a:xfrm>
              <a:off x="8524555" y="5100637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w="0" h="360679">
                  <a:moveTo>
                    <a:pt x="0" y="0"/>
                  </a:moveTo>
                  <a:lnTo>
                    <a:pt x="0" y="360589"/>
                  </a:lnTo>
                </a:path>
              </a:pathLst>
            </a:custGeom>
            <a:ln w="18029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975292" y="4920342"/>
              <a:ext cx="541020" cy="360680"/>
            </a:xfrm>
            <a:custGeom>
              <a:avLst/>
              <a:gdLst/>
              <a:ahLst/>
              <a:cxnLst/>
              <a:rect l="l" t="t" r="r" b="b"/>
              <a:pathLst>
                <a:path w="541020" h="360679">
                  <a:moveTo>
                    <a:pt x="501787" y="360589"/>
                  </a:moveTo>
                  <a:lnTo>
                    <a:pt x="39096" y="360589"/>
                  </a:lnTo>
                  <a:lnTo>
                    <a:pt x="33346" y="359445"/>
                  </a:lnTo>
                  <a:lnTo>
                    <a:pt x="1143" y="327242"/>
                  </a:lnTo>
                  <a:lnTo>
                    <a:pt x="0" y="321492"/>
                  </a:lnTo>
                  <a:lnTo>
                    <a:pt x="0" y="39096"/>
                  </a:lnTo>
                  <a:lnTo>
                    <a:pt x="22302" y="5718"/>
                  </a:lnTo>
                  <a:lnTo>
                    <a:pt x="39096" y="0"/>
                  </a:lnTo>
                  <a:lnTo>
                    <a:pt x="45073" y="0"/>
                  </a:lnTo>
                  <a:lnTo>
                    <a:pt x="501787" y="0"/>
                  </a:lnTo>
                  <a:lnTo>
                    <a:pt x="535165" y="22302"/>
                  </a:lnTo>
                  <a:lnTo>
                    <a:pt x="540883" y="39096"/>
                  </a:lnTo>
                  <a:lnTo>
                    <a:pt x="540883" y="321492"/>
                  </a:lnTo>
                  <a:lnTo>
                    <a:pt x="518581" y="354870"/>
                  </a:lnTo>
                  <a:lnTo>
                    <a:pt x="507537" y="359445"/>
                  </a:lnTo>
                  <a:lnTo>
                    <a:pt x="501787" y="360589"/>
                  </a:lnTo>
                  <a:close/>
                </a:path>
              </a:pathLst>
            </a:custGeom>
            <a:solidFill>
              <a:srgbClr val="FEF2C7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8975292" y="4920342"/>
              <a:ext cx="541020" cy="360680"/>
            </a:xfrm>
            <a:custGeom>
              <a:avLst/>
              <a:gdLst/>
              <a:ahLst/>
              <a:cxnLst/>
              <a:rect l="l" t="t" r="r" b="b"/>
              <a:pathLst>
                <a:path w="541020" h="360679">
                  <a:moveTo>
                    <a:pt x="45073" y="0"/>
                  </a:moveTo>
                  <a:lnTo>
                    <a:pt x="495810" y="0"/>
                  </a:lnTo>
                  <a:lnTo>
                    <a:pt x="501787" y="0"/>
                  </a:lnTo>
                  <a:lnTo>
                    <a:pt x="507537" y="1143"/>
                  </a:lnTo>
                  <a:lnTo>
                    <a:pt x="513059" y="3430"/>
                  </a:lnTo>
                  <a:lnTo>
                    <a:pt x="518581" y="5718"/>
                  </a:lnTo>
                  <a:lnTo>
                    <a:pt x="523455" y="8975"/>
                  </a:lnTo>
                  <a:lnTo>
                    <a:pt x="527682" y="13201"/>
                  </a:lnTo>
                  <a:lnTo>
                    <a:pt x="531908" y="17428"/>
                  </a:lnTo>
                  <a:lnTo>
                    <a:pt x="535165" y="22302"/>
                  </a:lnTo>
                  <a:lnTo>
                    <a:pt x="537452" y="27824"/>
                  </a:lnTo>
                  <a:lnTo>
                    <a:pt x="539740" y="33346"/>
                  </a:lnTo>
                  <a:lnTo>
                    <a:pt x="540883" y="39096"/>
                  </a:lnTo>
                  <a:lnTo>
                    <a:pt x="540884" y="45073"/>
                  </a:lnTo>
                  <a:lnTo>
                    <a:pt x="540884" y="315515"/>
                  </a:lnTo>
                  <a:lnTo>
                    <a:pt x="523455" y="351613"/>
                  </a:lnTo>
                  <a:lnTo>
                    <a:pt x="513059" y="357157"/>
                  </a:lnTo>
                  <a:lnTo>
                    <a:pt x="507537" y="359445"/>
                  </a:lnTo>
                  <a:lnTo>
                    <a:pt x="501787" y="360589"/>
                  </a:lnTo>
                  <a:lnTo>
                    <a:pt x="495810" y="360589"/>
                  </a:lnTo>
                  <a:lnTo>
                    <a:pt x="45073" y="360589"/>
                  </a:lnTo>
                  <a:lnTo>
                    <a:pt x="8975" y="343160"/>
                  </a:lnTo>
                  <a:lnTo>
                    <a:pt x="0" y="321492"/>
                  </a:lnTo>
                  <a:lnTo>
                    <a:pt x="0" y="315515"/>
                  </a:lnTo>
                  <a:lnTo>
                    <a:pt x="0" y="45073"/>
                  </a:lnTo>
                  <a:lnTo>
                    <a:pt x="13201" y="13201"/>
                  </a:lnTo>
                  <a:lnTo>
                    <a:pt x="17428" y="8975"/>
                  </a:lnTo>
                  <a:lnTo>
                    <a:pt x="22302" y="5718"/>
                  </a:lnTo>
                  <a:lnTo>
                    <a:pt x="27824" y="3430"/>
                  </a:lnTo>
                  <a:lnTo>
                    <a:pt x="33346" y="1143"/>
                  </a:lnTo>
                  <a:lnTo>
                    <a:pt x="39096" y="0"/>
                  </a:lnTo>
                  <a:lnTo>
                    <a:pt x="45073" y="0"/>
                  </a:lnTo>
                  <a:close/>
                </a:path>
              </a:pathLst>
            </a:custGeom>
            <a:ln w="18029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 descr=""/>
          <p:cNvSpPr txBox="1"/>
          <p:nvPr/>
        </p:nvSpPr>
        <p:spPr>
          <a:xfrm>
            <a:off x="9097760" y="5032137"/>
            <a:ext cx="29591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60" b="1">
                <a:latin typeface="Roboto"/>
                <a:cs typeface="Roboto"/>
              </a:rPr>
              <a:t>SSSC</a:t>
            </a:r>
            <a:endParaRPr sz="950">
              <a:latin typeface="Roboto"/>
              <a:cs typeface="Roboto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9867558" y="5452018"/>
            <a:ext cx="739775" cy="334010"/>
            <a:chOff x="9867558" y="5452018"/>
            <a:chExt cx="739775" cy="334010"/>
          </a:xfrm>
        </p:grpSpPr>
        <p:sp>
          <p:nvSpPr>
            <p:cNvPr id="28" name="object 28" descr=""/>
            <p:cNvSpPr/>
            <p:nvPr/>
          </p:nvSpPr>
          <p:spPr>
            <a:xfrm>
              <a:off x="9876765" y="5461226"/>
              <a:ext cx="721360" cy="315595"/>
            </a:xfrm>
            <a:custGeom>
              <a:avLst/>
              <a:gdLst/>
              <a:ahLst/>
              <a:cxnLst/>
              <a:rect l="l" t="t" r="r" b="b"/>
              <a:pathLst>
                <a:path w="721359" h="315595">
                  <a:moveTo>
                    <a:pt x="682081" y="315515"/>
                  </a:moveTo>
                  <a:lnTo>
                    <a:pt x="39096" y="315515"/>
                  </a:lnTo>
                  <a:lnTo>
                    <a:pt x="33346" y="314371"/>
                  </a:lnTo>
                  <a:lnTo>
                    <a:pt x="1143" y="282168"/>
                  </a:lnTo>
                  <a:lnTo>
                    <a:pt x="0" y="276418"/>
                  </a:lnTo>
                  <a:lnTo>
                    <a:pt x="0" y="39096"/>
                  </a:lnTo>
                  <a:lnTo>
                    <a:pt x="22302" y="5718"/>
                  </a:lnTo>
                  <a:lnTo>
                    <a:pt x="39096" y="0"/>
                  </a:lnTo>
                  <a:lnTo>
                    <a:pt x="45073" y="0"/>
                  </a:lnTo>
                  <a:lnTo>
                    <a:pt x="682081" y="0"/>
                  </a:lnTo>
                  <a:lnTo>
                    <a:pt x="715460" y="22302"/>
                  </a:lnTo>
                  <a:lnTo>
                    <a:pt x="721178" y="39096"/>
                  </a:lnTo>
                  <a:lnTo>
                    <a:pt x="721178" y="276418"/>
                  </a:lnTo>
                  <a:lnTo>
                    <a:pt x="698875" y="309796"/>
                  </a:lnTo>
                  <a:lnTo>
                    <a:pt x="687831" y="314371"/>
                  </a:lnTo>
                  <a:lnTo>
                    <a:pt x="682081" y="315515"/>
                  </a:lnTo>
                  <a:close/>
                </a:path>
              </a:pathLst>
            </a:custGeom>
            <a:solidFill>
              <a:srgbClr val="D0FAE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9876765" y="5461226"/>
              <a:ext cx="721360" cy="315595"/>
            </a:xfrm>
            <a:custGeom>
              <a:avLst/>
              <a:gdLst/>
              <a:ahLst/>
              <a:cxnLst/>
              <a:rect l="l" t="t" r="r" b="b"/>
              <a:pathLst>
                <a:path w="721359" h="315595">
                  <a:moveTo>
                    <a:pt x="45073" y="0"/>
                  </a:moveTo>
                  <a:lnTo>
                    <a:pt x="676105" y="0"/>
                  </a:lnTo>
                  <a:lnTo>
                    <a:pt x="682081" y="0"/>
                  </a:lnTo>
                  <a:lnTo>
                    <a:pt x="687831" y="1143"/>
                  </a:lnTo>
                  <a:lnTo>
                    <a:pt x="693353" y="3431"/>
                  </a:lnTo>
                  <a:lnTo>
                    <a:pt x="698875" y="5718"/>
                  </a:lnTo>
                  <a:lnTo>
                    <a:pt x="703749" y="8975"/>
                  </a:lnTo>
                  <a:lnTo>
                    <a:pt x="707976" y="13201"/>
                  </a:lnTo>
                  <a:lnTo>
                    <a:pt x="712203" y="17428"/>
                  </a:lnTo>
                  <a:lnTo>
                    <a:pt x="715460" y="22302"/>
                  </a:lnTo>
                  <a:lnTo>
                    <a:pt x="717747" y="27824"/>
                  </a:lnTo>
                  <a:lnTo>
                    <a:pt x="720034" y="33346"/>
                  </a:lnTo>
                  <a:lnTo>
                    <a:pt x="721178" y="39096"/>
                  </a:lnTo>
                  <a:lnTo>
                    <a:pt x="721178" y="45073"/>
                  </a:lnTo>
                  <a:lnTo>
                    <a:pt x="721178" y="270441"/>
                  </a:lnTo>
                  <a:lnTo>
                    <a:pt x="721178" y="276418"/>
                  </a:lnTo>
                  <a:lnTo>
                    <a:pt x="720034" y="282168"/>
                  </a:lnTo>
                  <a:lnTo>
                    <a:pt x="717747" y="287690"/>
                  </a:lnTo>
                  <a:lnTo>
                    <a:pt x="715460" y="293212"/>
                  </a:lnTo>
                  <a:lnTo>
                    <a:pt x="682081" y="315515"/>
                  </a:lnTo>
                  <a:lnTo>
                    <a:pt x="676105" y="315515"/>
                  </a:lnTo>
                  <a:lnTo>
                    <a:pt x="45073" y="315515"/>
                  </a:lnTo>
                  <a:lnTo>
                    <a:pt x="39096" y="315515"/>
                  </a:lnTo>
                  <a:lnTo>
                    <a:pt x="33346" y="314371"/>
                  </a:lnTo>
                  <a:lnTo>
                    <a:pt x="27824" y="312084"/>
                  </a:lnTo>
                  <a:lnTo>
                    <a:pt x="22302" y="309796"/>
                  </a:lnTo>
                  <a:lnTo>
                    <a:pt x="17428" y="306540"/>
                  </a:lnTo>
                  <a:lnTo>
                    <a:pt x="13201" y="302313"/>
                  </a:lnTo>
                  <a:lnTo>
                    <a:pt x="8975" y="298087"/>
                  </a:lnTo>
                  <a:lnTo>
                    <a:pt x="5718" y="293212"/>
                  </a:lnTo>
                  <a:lnTo>
                    <a:pt x="3430" y="287690"/>
                  </a:lnTo>
                  <a:lnTo>
                    <a:pt x="1143" y="282168"/>
                  </a:lnTo>
                  <a:lnTo>
                    <a:pt x="0" y="276418"/>
                  </a:lnTo>
                  <a:lnTo>
                    <a:pt x="0" y="270441"/>
                  </a:lnTo>
                  <a:lnTo>
                    <a:pt x="0" y="45073"/>
                  </a:lnTo>
                  <a:lnTo>
                    <a:pt x="13201" y="13201"/>
                  </a:lnTo>
                  <a:lnTo>
                    <a:pt x="17428" y="8975"/>
                  </a:lnTo>
                  <a:lnTo>
                    <a:pt x="22302" y="5718"/>
                  </a:lnTo>
                  <a:lnTo>
                    <a:pt x="27824" y="3430"/>
                  </a:lnTo>
                  <a:lnTo>
                    <a:pt x="33346" y="1143"/>
                  </a:lnTo>
                  <a:lnTo>
                    <a:pt x="39096" y="0"/>
                  </a:lnTo>
                  <a:lnTo>
                    <a:pt x="45073" y="0"/>
                  </a:lnTo>
                  <a:close/>
                </a:path>
              </a:pathLst>
            </a:custGeom>
            <a:ln w="18029">
              <a:solidFill>
                <a:srgbClr val="0FB98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9918680" y="5518895"/>
            <a:ext cx="6375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60" b="1">
                <a:latin typeface="Roboto"/>
                <a:cs typeface="Roboto"/>
              </a:rPr>
              <a:t>D-</a:t>
            </a:r>
            <a:r>
              <a:rPr dirty="0" sz="950" spc="-80" b="1">
                <a:latin typeface="Roboto"/>
                <a:cs typeface="Roboto"/>
              </a:rPr>
              <a:t>STATCOM</a:t>
            </a:r>
            <a:endParaRPr sz="950">
              <a:latin typeface="Roboto"/>
              <a:cs typeface="Roboto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8966084" y="4649900"/>
            <a:ext cx="1461135" cy="1631950"/>
            <a:chOff x="8966084" y="4649900"/>
            <a:chExt cx="1461135" cy="1631950"/>
          </a:xfrm>
        </p:grpSpPr>
        <p:sp>
          <p:nvSpPr>
            <p:cNvPr id="32" name="object 32" descr=""/>
            <p:cNvSpPr/>
            <p:nvPr/>
          </p:nvSpPr>
          <p:spPr>
            <a:xfrm>
              <a:off x="10237354" y="5100637"/>
              <a:ext cx="0" cy="360680"/>
            </a:xfrm>
            <a:custGeom>
              <a:avLst/>
              <a:gdLst/>
              <a:ahLst/>
              <a:cxnLst/>
              <a:rect l="l" t="t" r="r" b="b"/>
              <a:pathLst>
                <a:path w="0" h="360679">
                  <a:moveTo>
                    <a:pt x="0" y="0"/>
                  </a:moveTo>
                  <a:lnTo>
                    <a:pt x="0" y="360589"/>
                  </a:lnTo>
                </a:path>
              </a:pathLst>
            </a:custGeom>
            <a:ln w="18029">
              <a:solidFill>
                <a:srgbClr val="0FB98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966912" y="4649900"/>
              <a:ext cx="270510" cy="811530"/>
            </a:xfrm>
            <a:custGeom>
              <a:avLst/>
              <a:gdLst/>
              <a:ahLst/>
              <a:cxnLst/>
              <a:rect l="l" t="t" r="r" b="b"/>
              <a:pathLst>
                <a:path w="270509" h="811529">
                  <a:moveTo>
                    <a:pt x="270441" y="81132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963686" y="4663028"/>
              <a:ext cx="282575" cy="801370"/>
            </a:xfrm>
            <a:custGeom>
              <a:avLst/>
              <a:gdLst/>
              <a:ahLst/>
              <a:cxnLst/>
              <a:rect l="l" t="t" r="r" b="b"/>
              <a:pathLst>
                <a:path w="282575" h="801370">
                  <a:moveTo>
                    <a:pt x="265115" y="801049"/>
                  </a:moveTo>
                  <a:lnTo>
                    <a:pt x="250862" y="758288"/>
                  </a:lnTo>
                  <a:lnTo>
                    <a:pt x="267966" y="752586"/>
                  </a:lnTo>
                  <a:lnTo>
                    <a:pt x="282219" y="795347"/>
                  </a:lnTo>
                  <a:lnTo>
                    <a:pt x="265115" y="801049"/>
                  </a:lnTo>
                  <a:close/>
                </a:path>
                <a:path w="282575" h="801370">
                  <a:moveTo>
                    <a:pt x="242310" y="732632"/>
                  </a:moveTo>
                  <a:lnTo>
                    <a:pt x="228056" y="689871"/>
                  </a:lnTo>
                  <a:lnTo>
                    <a:pt x="245160" y="684170"/>
                  </a:lnTo>
                  <a:lnTo>
                    <a:pt x="259414" y="726930"/>
                  </a:lnTo>
                  <a:lnTo>
                    <a:pt x="242310" y="732632"/>
                  </a:lnTo>
                  <a:close/>
                </a:path>
                <a:path w="282575" h="801370">
                  <a:moveTo>
                    <a:pt x="219504" y="664215"/>
                  </a:moveTo>
                  <a:lnTo>
                    <a:pt x="205251" y="621454"/>
                  </a:lnTo>
                  <a:lnTo>
                    <a:pt x="222355" y="615753"/>
                  </a:lnTo>
                  <a:lnTo>
                    <a:pt x="236608" y="658513"/>
                  </a:lnTo>
                  <a:lnTo>
                    <a:pt x="219504" y="664215"/>
                  </a:lnTo>
                  <a:close/>
                </a:path>
                <a:path w="282575" h="801370">
                  <a:moveTo>
                    <a:pt x="196698" y="595798"/>
                  </a:moveTo>
                  <a:lnTo>
                    <a:pt x="182445" y="553037"/>
                  </a:lnTo>
                  <a:lnTo>
                    <a:pt x="199549" y="547336"/>
                  </a:lnTo>
                  <a:lnTo>
                    <a:pt x="213802" y="590096"/>
                  </a:lnTo>
                  <a:lnTo>
                    <a:pt x="196698" y="595798"/>
                  </a:lnTo>
                  <a:close/>
                </a:path>
                <a:path w="282575" h="801370">
                  <a:moveTo>
                    <a:pt x="173893" y="527381"/>
                  </a:moveTo>
                  <a:lnTo>
                    <a:pt x="159639" y="484620"/>
                  </a:lnTo>
                  <a:lnTo>
                    <a:pt x="176743" y="478919"/>
                  </a:lnTo>
                  <a:lnTo>
                    <a:pt x="190997" y="521679"/>
                  </a:lnTo>
                  <a:lnTo>
                    <a:pt x="173893" y="527381"/>
                  </a:lnTo>
                  <a:close/>
                </a:path>
                <a:path w="282575" h="801370">
                  <a:moveTo>
                    <a:pt x="151087" y="458964"/>
                  </a:moveTo>
                  <a:lnTo>
                    <a:pt x="136833" y="416203"/>
                  </a:lnTo>
                  <a:lnTo>
                    <a:pt x="153937" y="410502"/>
                  </a:lnTo>
                  <a:lnTo>
                    <a:pt x="168191" y="453262"/>
                  </a:lnTo>
                  <a:lnTo>
                    <a:pt x="151087" y="458964"/>
                  </a:lnTo>
                  <a:close/>
                </a:path>
                <a:path w="282575" h="801370">
                  <a:moveTo>
                    <a:pt x="128281" y="390546"/>
                  </a:moveTo>
                  <a:lnTo>
                    <a:pt x="114028" y="347786"/>
                  </a:lnTo>
                  <a:lnTo>
                    <a:pt x="131132" y="342085"/>
                  </a:lnTo>
                  <a:lnTo>
                    <a:pt x="145385" y="384845"/>
                  </a:lnTo>
                  <a:lnTo>
                    <a:pt x="128281" y="390546"/>
                  </a:lnTo>
                  <a:close/>
                </a:path>
                <a:path w="282575" h="801370">
                  <a:moveTo>
                    <a:pt x="105476" y="322130"/>
                  </a:moveTo>
                  <a:lnTo>
                    <a:pt x="91222" y="279369"/>
                  </a:lnTo>
                  <a:lnTo>
                    <a:pt x="108326" y="273668"/>
                  </a:lnTo>
                  <a:lnTo>
                    <a:pt x="122580" y="316428"/>
                  </a:lnTo>
                  <a:lnTo>
                    <a:pt x="105476" y="322130"/>
                  </a:lnTo>
                  <a:close/>
                </a:path>
                <a:path w="282575" h="801370">
                  <a:moveTo>
                    <a:pt x="82670" y="253713"/>
                  </a:moveTo>
                  <a:lnTo>
                    <a:pt x="68417" y="210952"/>
                  </a:lnTo>
                  <a:lnTo>
                    <a:pt x="85521" y="205251"/>
                  </a:lnTo>
                  <a:lnTo>
                    <a:pt x="99774" y="248011"/>
                  </a:lnTo>
                  <a:lnTo>
                    <a:pt x="82670" y="253713"/>
                  </a:lnTo>
                  <a:close/>
                </a:path>
                <a:path w="282575" h="801370">
                  <a:moveTo>
                    <a:pt x="59864" y="185296"/>
                  </a:moveTo>
                  <a:lnTo>
                    <a:pt x="45611" y="142535"/>
                  </a:lnTo>
                  <a:lnTo>
                    <a:pt x="62715" y="136833"/>
                  </a:lnTo>
                  <a:lnTo>
                    <a:pt x="76968" y="179594"/>
                  </a:lnTo>
                  <a:lnTo>
                    <a:pt x="59864" y="185296"/>
                  </a:lnTo>
                  <a:close/>
                </a:path>
                <a:path w="282575" h="801370">
                  <a:moveTo>
                    <a:pt x="37059" y="116879"/>
                  </a:moveTo>
                  <a:lnTo>
                    <a:pt x="22805" y="74118"/>
                  </a:lnTo>
                  <a:lnTo>
                    <a:pt x="39909" y="68417"/>
                  </a:lnTo>
                  <a:lnTo>
                    <a:pt x="54163" y="111177"/>
                  </a:lnTo>
                  <a:lnTo>
                    <a:pt x="37059" y="116879"/>
                  </a:lnTo>
                  <a:close/>
                </a:path>
                <a:path w="282575" h="801370">
                  <a:moveTo>
                    <a:pt x="14253" y="48462"/>
                  </a:moveTo>
                  <a:lnTo>
                    <a:pt x="0" y="5701"/>
                  </a:lnTo>
                  <a:lnTo>
                    <a:pt x="17104" y="0"/>
                  </a:lnTo>
                  <a:lnTo>
                    <a:pt x="31357" y="42760"/>
                  </a:lnTo>
                  <a:lnTo>
                    <a:pt x="14253" y="48462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975292" y="5911962"/>
              <a:ext cx="1442720" cy="360680"/>
            </a:xfrm>
            <a:custGeom>
              <a:avLst/>
              <a:gdLst/>
              <a:ahLst/>
              <a:cxnLst/>
              <a:rect l="l" t="t" r="r" b="b"/>
              <a:pathLst>
                <a:path w="1442720" h="360679">
                  <a:moveTo>
                    <a:pt x="1403260" y="360588"/>
                  </a:moveTo>
                  <a:lnTo>
                    <a:pt x="39096" y="360588"/>
                  </a:lnTo>
                  <a:lnTo>
                    <a:pt x="33346" y="359445"/>
                  </a:lnTo>
                  <a:lnTo>
                    <a:pt x="1143" y="327242"/>
                  </a:lnTo>
                  <a:lnTo>
                    <a:pt x="0" y="321492"/>
                  </a:lnTo>
                  <a:lnTo>
                    <a:pt x="0" y="39096"/>
                  </a:lnTo>
                  <a:lnTo>
                    <a:pt x="22302" y="5718"/>
                  </a:lnTo>
                  <a:lnTo>
                    <a:pt x="39096" y="0"/>
                  </a:lnTo>
                  <a:lnTo>
                    <a:pt x="45073" y="0"/>
                  </a:lnTo>
                  <a:lnTo>
                    <a:pt x="1403260" y="0"/>
                  </a:lnTo>
                  <a:lnTo>
                    <a:pt x="1436638" y="22302"/>
                  </a:lnTo>
                  <a:lnTo>
                    <a:pt x="1442357" y="39096"/>
                  </a:lnTo>
                  <a:lnTo>
                    <a:pt x="1442357" y="321492"/>
                  </a:lnTo>
                  <a:lnTo>
                    <a:pt x="1420054" y="354870"/>
                  </a:lnTo>
                  <a:lnTo>
                    <a:pt x="1409009" y="359445"/>
                  </a:lnTo>
                  <a:lnTo>
                    <a:pt x="1403260" y="360588"/>
                  </a:lnTo>
                  <a:close/>
                </a:path>
              </a:pathLst>
            </a:custGeom>
            <a:solidFill>
              <a:srgbClr val="DFF1F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975292" y="5911962"/>
              <a:ext cx="1442720" cy="360680"/>
            </a:xfrm>
            <a:custGeom>
              <a:avLst/>
              <a:gdLst/>
              <a:ahLst/>
              <a:cxnLst/>
              <a:rect l="l" t="t" r="r" b="b"/>
              <a:pathLst>
                <a:path w="1442720" h="360679">
                  <a:moveTo>
                    <a:pt x="45073" y="0"/>
                  </a:moveTo>
                  <a:lnTo>
                    <a:pt x="1397283" y="0"/>
                  </a:lnTo>
                  <a:lnTo>
                    <a:pt x="1403260" y="0"/>
                  </a:lnTo>
                  <a:lnTo>
                    <a:pt x="1409009" y="1143"/>
                  </a:lnTo>
                  <a:lnTo>
                    <a:pt x="1414532" y="3431"/>
                  </a:lnTo>
                  <a:lnTo>
                    <a:pt x="1420054" y="5718"/>
                  </a:lnTo>
                  <a:lnTo>
                    <a:pt x="1424928" y="8974"/>
                  </a:lnTo>
                  <a:lnTo>
                    <a:pt x="1429155" y="13201"/>
                  </a:lnTo>
                  <a:lnTo>
                    <a:pt x="1433381" y="17427"/>
                  </a:lnTo>
                  <a:lnTo>
                    <a:pt x="1436638" y="22302"/>
                  </a:lnTo>
                  <a:lnTo>
                    <a:pt x="1438925" y="27824"/>
                  </a:lnTo>
                  <a:lnTo>
                    <a:pt x="1441213" y="33346"/>
                  </a:lnTo>
                  <a:lnTo>
                    <a:pt x="1442357" y="39096"/>
                  </a:lnTo>
                  <a:lnTo>
                    <a:pt x="1442357" y="45073"/>
                  </a:lnTo>
                  <a:lnTo>
                    <a:pt x="1442357" y="315515"/>
                  </a:lnTo>
                  <a:lnTo>
                    <a:pt x="1442357" y="321492"/>
                  </a:lnTo>
                  <a:lnTo>
                    <a:pt x="1441213" y="327242"/>
                  </a:lnTo>
                  <a:lnTo>
                    <a:pt x="1414532" y="357157"/>
                  </a:lnTo>
                  <a:lnTo>
                    <a:pt x="1397283" y="360589"/>
                  </a:lnTo>
                  <a:lnTo>
                    <a:pt x="45073" y="360589"/>
                  </a:lnTo>
                  <a:lnTo>
                    <a:pt x="39096" y="360588"/>
                  </a:lnTo>
                  <a:lnTo>
                    <a:pt x="33346" y="359445"/>
                  </a:lnTo>
                  <a:lnTo>
                    <a:pt x="27824" y="357157"/>
                  </a:lnTo>
                  <a:lnTo>
                    <a:pt x="22302" y="354870"/>
                  </a:lnTo>
                  <a:lnTo>
                    <a:pt x="0" y="321492"/>
                  </a:lnTo>
                  <a:lnTo>
                    <a:pt x="0" y="315515"/>
                  </a:lnTo>
                  <a:lnTo>
                    <a:pt x="0" y="45073"/>
                  </a:lnTo>
                  <a:lnTo>
                    <a:pt x="0" y="39096"/>
                  </a:lnTo>
                  <a:lnTo>
                    <a:pt x="1143" y="33346"/>
                  </a:lnTo>
                  <a:lnTo>
                    <a:pt x="3430" y="27824"/>
                  </a:lnTo>
                  <a:lnTo>
                    <a:pt x="5718" y="22302"/>
                  </a:lnTo>
                  <a:lnTo>
                    <a:pt x="8975" y="17427"/>
                  </a:lnTo>
                  <a:lnTo>
                    <a:pt x="13201" y="13201"/>
                  </a:lnTo>
                  <a:lnTo>
                    <a:pt x="17428" y="8974"/>
                  </a:lnTo>
                  <a:lnTo>
                    <a:pt x="22302" y="5718"/>
                  </a:lnTo>
                  <a:lnTo>
                    <a:pt x="27824" y="3430"/>
                  </a:lnTo>
                  <a:lnTo>
                    <a:pt x="33346" y="1143"/>
                  </a:lnTo>
                  <a:lnTo>
                    <a:pt x="39096" y="0"/>
                  </a:lnTo>
                  <a:lnTo>
                    <a:pt x="45073" y="0"/>
                  </a:lnTo>
                  <a:close/>
                </a:path>
              </a:pathLst>
            </a:custGeom>
            <a:ln w="18029">
              <a:solidFill>
                <a:srgbClr val="0DA5E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8994347" y="5972328"/>
            <a:ext cx="1404620" cy="311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1100" spc="-60" b="1">
                <a:solidFill>
                  <a:srgbClr val="0369A1"/>
                </a:solidFill>
                <a:latin typeface="Roboto"/>
                <a:cs typeface="Roboto"/>
              </a:rPr>
              <a:t>Unified</a:t>
            </a:r>
            <a:r>
              <a:rPr dirty="0" sz="1100" spc="-10" b="1">
                <a:solidFill>
                  <a:srgbClr val="0369A1"/>
                </a:solidFill>
                <a:latin typeface="Roboto"/>
                <a:cs typeface="Roboto"/>
              </a:rPr>
              <a:t> </a:t>
            </a:r>
            <a:r>
              <a:rPr dirty="0" sz="1100" spc="-60" b="1">
                <a:solidFill>
                  <a:srgbClr val="0369A1"/>
                </a:solidFill>
                <a:latin typeface="Roboto"/>
                <a:cs typeface="Roboto"/>
              </a:rPr>
              <a:t>Control</a:t>
            </a:r>
            <a:r>
              <a:rPr dirty="0" sz="1100" spc="-10" b="1">
                <a:solidFill>
                  <a:srgbClr val="0369A1"/>
                </a:solidFill>
                <a:latin typeface="Roboto"/>
                <a:cs typeface="Roboto"/>
              </a:rPr>
              <a:t> </a:t>
            </a:r>
            <a:r>
              <a:rPr dirty="0" sz="1100" spc="-35" b="1">
                <a:solidFill>
                  <a:srgbClr val="0369A1"/>
                </a:solidFill>
                <a:latin typeface="Roboto"/>
                <a:cs typeface="Roboto"/>
              </a:rPr>
              <a:t>Platform</a:t>
            </a:r>
            <a:endParaRPr sz="11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dirty="0" sz="750" spc="-20">
                <a:latin typeface="Roboto"/>
                <a:cs typeface="Roboto"/>
              </a:rPr>
              <a:t>Expert </a:t>
            </a:r>
            <a:r>
              <a:rPr dirty="0" sz="750" spc="-30">
                <a:latin typeface="Roboto"/>
                <a:cs typeface="Roboto"/>
              </a:rPr>
              <a:t>Decision</a:t>
            </a:r>
            <a:r>
              <a:rPr dirty="0" sz="750" spc="-15">
                <a:latin typeface="Roboto"/>
                <a:cs typeface="Roboto"/>
              </a:rPr>
              <a:t> </a:t>
            </a:r>
            <a:r>
              <a:rPr dirty="0" sz="750">
                <a:latin typeface="Roboto"/>
                <a:cs typeface="Roboto"/>
              </a:rPr>
              <a:t>+</a:t>
            </a:r>
            <a:r>
              <a:rPr dirty="0" sz="750" spc="-15">
                <a:latin typeface="Roboto"/>
                <a:cs typeface="Roboto"/>
              </a:rPr>
              <a:t> </a:t>
            </a:r>
            <a:r>
              <a:rPr dirty="0" sz="750" spc="-20">
                <a:latin typeface="Roboto"/>
                <a:cs typeface="Roboto"/>
              </a:rPr>
              <a:t>RL</a:t>
            </a:r>
            <a:r>
              <a:rPr dirty="0" sz="750" spc="-15">
                <a:latin typeface="Roboto"/>
                <a:cs typeface="Roboto"/>
              </a:rPr>
              <a:t> </a:t>
            </a:r>
            <a:r>
              <a:rPr dirty="0" sz="750">
                <a:latin typeface="Roboto"/>
                <a:cs typeface="Roboto"/>
              </a:rPr>
              <a:t>+</a:t>
            </a:r>
            <a:r>
              <a:rPr dirty="0" sz="750" spc="-15">
                <a:latin typeface="Roboto"/>
                <a:cs typeface="Roboto"/>
              </a:rPr>
              <a:t> </a:t>
            </a:r>
            <a:r>
              <a:rPr dirty="0" sz="750" spc="-25">
                <a:latin typeface="Roboto"/>
                <a:cs typeface="Roboto"/>
              </a:rPr>
              <a:t>MPC</a:t>
            </a:r>
            <a:endParaRPr sz="750">
              <a:latin typeface="Roboto"/>
              <a:cs typeface="Roboto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8520679" y="5273946"/>
            <a:ext cx="1722755" cy="824230"/>
            <a:chOff x="8520679" y="5273946"/>
            <a:chExt cx="1722755" cy="824230"/>
          </a:xfrm>
        </p:grpSpPr>
        <p:sp>
          <p:nvSpPr>
            <p:cNvPr id="39" name="object 39" descr=""/>
            <p:cNvSpPr/>
            <p:nvPr/>
          </p:nvSpPr>
          <p:spPr>
            <a:xfrm>
              <a:off x="8524556" y="5776741"/>
              <a:ext cx="450850" cy="315595"/>
            </a:xfrm>
            <a:custGeom>
              <a:avLst/>
              <a:gdLst/>
              <a:ahLst/>
              <a:cxnLst/>
              <a:rect l="l" t="t" r="r" b="b"/>
              <a:pathLst>
                <a:path w="450850" h="315595">
                  <a:moveTo>
                    <a:pt x="450736" y="315515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520679" y="5771203"/>
              <a:ext cx="459105" cy="327025"/>
            </a:xfrm>
            <a:custGeom>
              <a:avLst/>
              <a:gdLst/>
              <a:ahLst/>
              <a:cxnLst/>
              <a:rect l="l" t="t" r="r" b="b"/>
              <a:pathLst>
                <a:path w="459104" h="327025">
                  <a:moveTo>
                    <a:pt x="450736" y="326593"/>
                  </a:moveTo>
                  <a:lnTo>
                    <a:pt x="421195" y="305914"/>
                  </a:lnTo>
                  <a:lnTo>
                    <a:pt x="428950" y="294837"/>
                  </a:lnTo>
                  <a:lnTo>
                    <a:pt x="458491" y="315515"/>
                  </a:lnTo>
                  <a:lnTo>
                    <a:pt x="450736" y="326593"/>
                  </a:lnTo>
                  <a:close/>
                </a:path>
                <a:path w="459104" h="327025">
                  <a:moveTo>
                    <a:pt x="406425" y="295575"/>
                  </a:moveTo>
                  <a:lnTo>
                    <a:pt x="376884" y="274897"/>
                  </a:lnTo>
                  <a:lnTo>
                    <a:pt x="384639" y="263819"/>
                  </a:lnTo>
                  <a:lnTo>
                    <a:pt x="414180" y="284497"/>
                  </a:lnTo>
                  <a:lnTo>
                    <a:pt x="406425" y="295575"/>
                  </a:lnTo>
                  <a:close/>
                </a:path>
                <a:path w="459104" h="327025">
                  <a:moveTo>
                    <a:pt x="362114" y="264558"/>
                  </a:moveTo>
                  <a:lnTo>
                    <a:pt x="332574" y="243879"/>
                  </a:lnTo>
                  <a:lnTo>
                    <a:pt x="340328" y="232801"/>
                  </a:lnTo>
                  <a:lnTo>
                    <a:pt x="369869" y="253480"/>
                  </a:lnTo>
                  <a:lnTo>
                    <a:pt x="362114" y="264558"/>
                  </a:lnTo>
                  <a:close/>
                </a:path>
                <a:path w="459104" h="327025">
                  <a:moveTo>
                    <a:pt x="317803" y="233540"/>
                  </a:moveTo>
                  <a:lnTo>
                    <a:pt x="288263" y="212862"/>
                  </a:lnTo>
                  <a:lnTo>
                    <a:pt x="296017" y="201784"/>
                  </a:lnTo>
                  <a:lnTo>
                    <a:pt x="325558" y="222462"/>
                  </a:lnTo>
                  <a:lnTo>
                    <a:pt x="317803" y="233540"/>
                  </a:lnTo>
                  <a:close/>
                </a:path>
                <a:path w="459104" h="327025">
                  <a:moveTo>
                    <a:pt x="273492" y="202522"/>
                  </a:moveTo>
                  <a:lnTo>
                    <a:pt x="243952" y="181844"/>
                  </a:lnTo>
                  <a:lnTo>
                    <a:pt x="251706" y="170766"/>
                  </a:lnTo>
                  <a:lnTo>
                    <a:pt x="281247" y="191445"/>
                  </a:lnTo>
                  <a:lnTo>
                    <a:pt x="273492" y="202522"/>
                  </a:lnTo>
                  <a:close/>
                </a:path>
                <a:path w="459104" h="327025">
                  <a:moveTo>
                    <a:pt x="229181" y="171505"/>
                  </a:moveTo>
                  <a:lnTo>
                    <a:pt x="199641" y="150826"/>
                  </a:lnTo>
                  <a:lnTo>
                    <a:pt x="207395" y="139748"/>
                  </a:lnTo>
                  <a:lnTo>
                    <a:pt x="236936" y="160427"/>
                  </a:lnTo>
                  <a:lnTo>
                    <a:pt x="229181" y="171505"/>
                  </a:lnTo>
                  <a:close/>
                </a:path>
                <a:path w="459104" h="327025">
                  <a:moveTo>
                    <a:pt x="184870" y="140487"/>
                  </a:moveTo>
                  <a:lnTo>
                    <a:pt x="155330" y="119809"/>
                  </a:lnTo>
                  <a:lnTo>
                    <a:pt x="163084" y="108731"/>
                  </a:lnTo>
                  <a:lnTo>
                    <a:pt x="192625" y="129409"/>
                  </a:lnTo>
                  <a:lnTo>
                    <a:pt x="184870" y="140487"/>
                  </a:lnTo>
                  <a:close/>
                </a:path>
                <a:path w="459104" h="327025">
                  <a:moveTo>
                    <a:pt x="140559" y="109469"/>
                  </a:moveTo>
                  <a:lnTo>
                    <a:pt x="111019" y="88791"/>
                  </a:lnTo>
                  <a:lnTo>
                    <a:pt x="118773" y="77713"/>
                  </a:lnTo>
                  <a:lnTo>
                    <a:pt x="148314" y="98392"/>
                  </a:lnTo>
                  <a:lnTo>
                    <a:pt x="140559" y="109469"/>
                  </a:lnTo>
                  <a:close/>
                </a:path>
                <a:path w="459104" h="327025">
                  <a:moveTo>
                    <a:pt x="96249" y="78452"/>
                  </a:moveTo>
                  <a:lnTo>
                    <a:pt x="66708" y="57773"/>
                  </a:lnTo>
                  <a:lnTo>
                    <a:pt x="74462" y="46696"/>
                  </a:lnTo>
                  <a:lnTo>
                    <a:pt x="104003" y="67374"/>
                  </a:lnTo>
                  <a:lnTo>
                    <a:pt x="96249" y="78452"/>
                  </a:lnTo>
                  <a:close/>
                </a:path>
                <a:path w="459104" h="327025">
                  <a:moveTo>
                    <a:pt x="51938" y="47434"/>
                  </a:moveTo>
                  <a:lnTo>
                    <a:pt x="22397" y="26756"/>
                  </a:lnTo>
                  <a:lnTo>
                    <a:pt x="30151" y="15678"/>
                  </a:lnTo>
                  <a:lnTo>
                    <a:pt x="59692" y="36356"/>
                  </a:lnTo>
                  <a:lnTo>
                    <a:pt x="51938" y="47434"/>
                  </a:lnTo>
                  <a:close/>
                </a:path>
                <a:path w="459104" h="327025">
                  <a:moveTo>
                    <a:pt x="7627" y="16416"/>
                  </a:moveTo>
                  <a:lnTo>
                    <a:pt x="0" y="11077"/>
                  </a:lnTo>
                  <a:lnTo>
                    <a:pt x="7754" y="0"/>
                  </a:lnTo>
                  <a:lnTo>
                    <a:pt x="15381" y="5339"/>
                  </a:lnTo>
                  <a:lnTo>
                    <a:pt x="7627" y="16416"/>
                  </a:lnTo>
                  <a:close/>
                </a:path>
              </a:pathLst>
            </a:custGeom>
            <a:solidFill>
              <a:srgbClr val="0DA5E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9245734" y="5280931"/>
              <a:ext cx="0" cy="631190"/>
            </a:xfrm>
            <a:custGeom>
              <a:avLst/>
              <a:gdLst/>
              <a:ahLst/>
              <a:cxnLst/>
              <a:rect l="l" t="t" r="r" b="b"/>
              <a:pathLst>
                <a:path w="0" h="631189">
                  <a:moveTo>
                    <a:pt x="0" y="0"/>
                  </a:moveTo>
                  <a:lnTo>
                    <a:pt x="0" y="631031"/>
                  </a:lnTo>
                </a:path>
              </a:pathLst>
            </a:custGeom>
            <a:ln w="13522">
              <a:solidFill>
                <a:srgbClr val="0DA5E8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41582" y="5772991"/>
              <a:ext cx="101398" cy="142721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8399124" y="4855428"/>
            <a:ext cx="250825" cy="1422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750" spc="-25">
                <a:solidFill>
                  <a:srgbClr val="1D40AF"/>
                </a:solidFill>
                <a:latin typeface="Roboto"/>
                <a:cs typeface="Roboto"/>
              </a:rPr>
              <a:t>Bus </a:t>
            </a:r>
            <a:r>
              <a:rPr dirty="0" sz="750" spc="-50">
                <a:solidFill>
                  <a:srgbClr val="1D40AF"/>
                </a:solidFill>
                <a:latin typeface="Roboto"/>
                <a:cs typeface="Roboto"/>
              </a:rPr>
              <a:t>1</a:t>
            </a:r>
            <a:endParaRPr sz="750">
              <a:latin typeface="Roboto"/>
              <a:cs typeface="Roboto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10111986" y="4855428"/>
            <a:ext cx="250825" cy="1422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750" spc="-25">
                <a:solidFill>
                  <a:srgbClr val="1D40AF"/>
                </a:solidFill>
                <a:latin typeface="Roboto"/>
                <a:cs typeface="Roboto"/>
              </a:rPr>
              <a:t>Bus </a:t>
            </a:r>
            <a:r>
              <a:rPr dirty="0" sz="750" spc="-50">
                <a:solidFill>
                  <a:srgbClr val="1D40AF"/>
                </a:solidFill>
                <a:latin typeface="Roboto"/>
                <a:cs typeface="Roboto"/>
              </a:rPr>
              <a:t>2</a:t>
            </a:r>
            <a:endParaRPr sz="750">
              <a:latin typeface="Roboto"/>
              <a:cs typeface="Roboto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8919460" y="3996111"/>
            <a:ext cx="1012825" cy="1460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750" spc="-30">
                <a:solidFill>
                  <a:srgbClr val="5B20B5"/>
                </a:solidFill>
                <a:latin typeface="Roboto"/>
                <a:cs typeface="Roboto"/>
              </a:rPr>
              <a:t>Bidirectional</a:t>
            </a:r>
            <a:r>
              <a:rPr dirty="0" sz="750" spc="35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750" spc="-30">
                <a:solidFill>
                  <a:srgbClr val="5B20B5"/>
                </a:solidFill>
                <a:latin typeface="Roboto"/>
                <a:cs typeface="Roboto"/>
              </a:rPr>
              <a:t>Power</a:t>
            </a:r>
            <a:r>
              <a:rPr dirty="0" sz="750" spc="40">
                <a:solidFill>
                  <a:srgbClr val="5B20B5"/>
                </a:solidFill>
                <a:latin typeface="Roboto"/>
                <a:cs typeface="Roboto"/>
              </a:rPr>
              <a:t> </a:t>
            </a:r>
            <a:r>
              <a:rPr dirty="0" sz="750" spc="-20">
                <a:solidFill>
                  <a:srgbClr val="5B20B5"/>
                </a:solidFill>
                <a:latin typeface="Roboto"/>
                <a:cs typeface="Roboto"/>
              </a:rPr>
              <a:t>Flow</a:t>
            </a:r>
            <a:endParaRPr sz="750">
              <a:latin typeface="Roboto"/>
              <a:cs typeface="Roboto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8848438" y="4684840"/>
            <a:ext cx="795020" cy="1308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650" spc="-10">
                <a:solidFill>
                  <a:srgbClr val="B45309"/>
                </a:solidFill>
                <a:latin typeface="Roboto"/>
                <a:cs typeface="Roboto"/>
              </a:rPr>
              <a:t>Series</a:t>
            </a:r>
            <a:r>
              <a:rPr dirty="0" sz="650" spc="5">
                <a:solidFill>
                  <a:srgbClr val="B45309"/>
                </a:solidFill>
                <a:latin typeface="Roboto"/>
                <a:cs typeface="Roboto"/>
              </a:rPr>
              <a:t> </a:t>
            </a:r>
            <a:r>
              <a:rPr dirty="0" sz="650" spc="-10">
                <a:solidFill>
                  <a:srgbClr val="B45309"/>
                </a:solidFill>
                <a:latin typeface="Roboto"/>
                <a:cs typeface="Roboto"/>
              </a:rPr>
              <a:t>Compensation</a:t>
            </a:r>
            <a:endParaRPr sz="650">
              <a:latin typeface="Roboto"/>
              <a:cs typeface="Roboto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8168820" y="5222949"/>
            <a:ext cx="711835" cy="13398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700" spc="-35">
                <a:solidFill>
                  <a:srgbClr val="B91B1B"/>
                </a:solidFill>
                <a:latin typeface="Roboto"/>
                <a:cs typeface="Roboto"/>
              </a:rPr>
              <a:t>Shunt</a:t>
            </a:r>
            <a:r>
              <a:rPr dirty="0" sz="700" spc="-20">
                <a:solidFill>
                  <a:srgbClr val="B91B1B"/>
                </a:solidFill>
                <a:latin typeface="Roboto"/>
                <a:cs typeface="Roboto"/>
              </a:rPr>
              <a:t> </a:t>
            </a:r>
            <a:r>
              <a:rPr dirty="0" sz="700" spc="-55">
                <a:solidFill>
                  <a:srgbClr val="B91B1B"/>
                </a:solidFill>
                <a:latin typeface="Roboto"/>
                <a:cs typeface="Roboto"/>
              </a:rPr>
              <a:t>VAR</a:t>
            </a:r>
            <a:r>
              <a:rPr dirty="0" sz="700" spc="-15">
                <a:solidFill>
                  <a:srgbClr val="B91B1B"/>
                </a:solidFill>
                <a:latin typeface="Roboto"/>
                <a:cs typeface="Roboto"/>
              </a:rPr>
              <a:t> </a:t>
            </a:r>
            <a:r>
              <a:rPr dirty="0" sz="700" spc="-20">
                <a:solidFill>
                  <a:srgbClr val="B91B1B"/>
                </a:solidFill>
                <a:latin typeface="Roboto"/>
                <a:cs typeface="Roboto"/>
              </a:rPr>
              <a:t>Support</a:t>
            </a:r>
            <a:endParaRPr sz="700">
              <a:latin typeface="Roboto"/>
              <a:cs typeface="Roboto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49" name="object 4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285737" y="1714499"/>
              <a:ext cx="1143000" cy="3810000"/>
            </a:xfrm>
            <a:custGeom>
              <a:avLst/>
              <a:gdLst/>
              <a:ahLst/>
              <a:cxnLst/>
              <a:rect l="l" t="t" r="r" b="b"/>
              <a:pathLst>
                <a:path w="1143000" h="3810000">
                  <a:moveTo>
                    <a:pt x="1143000" y="2857500"/>
                  </a:moveTo>
                  <a:lnTo>
                    <a:pt x="28575" y="2857500"/>
                  </a:lnTo>
                  <a:lnTo>
                    <a:pt x="28575" y="1933575"/>
                  </a:lnTo>
                  <a:lnTo>
                    <a:pt x="476250" y="1933575"/>
                  </a:lnTo>
                  <a:lnTo>
                    <a:pt x="476250" y="1905000"/>
                  </a:lnTo>
                  <a:lnTo>
                    <a:pt x="28575" y="1905000"/>
                  </a:lnTo>
                  <a:lnTo>
                    <a:pt x="28575" y="981075"/>
                  </a:lnTo>
                  <a:lnTo>
                    <a:pt x="666750" y="981075"/>
                  </a:lnTo>
                  <a:lnTo>
                    <a:pt x="666750" y="952500"/>
                  </a:lnTo>
                  <a:lnTo>
                    <a:pt x="28575" y="952500"/>
                  </a:lnTo>
                  <a:lnTo>
                    <a:pt x="28575" y="28575"/>
                  </a:lnTo>
                  <a:lnTo>
                    <a:pt x="952500" y="28575"/>
                  </a:lnTo>
                  <a:lnTo>
                    <a:pt x="952500" y="0"/>
                  </a:lnTo>
                  <a:lnTo>
                    <a:pt x="28575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0" y="3810000"/>
                  </a:lnTo>
                  <a:lnTo>
                    <a:pt x="28575" y="3810000"/>
                  </a:lnTo>
                  <a:lnTo>
                    <a:pt x="28575" y="2886075"/>
                  </a:lnTo>
                  <a:lnTo>
                    <a:pt x="1143000" y="2886075"/>
                  </a:lnTo>
                  <a:lnTo>
                    <a:pt x="1143000" y="285750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174" y="1685924"/>
              <a:ext cx="114300" cy="114299"/>
            </a:xfrm>
            <a:prstGeom prst="rect">
              <a:avLst/>
            </a:prstGeom>
          </p:spPr>
        </p:pic>
        <p:pic>
          <p:nvPicPr>
            <p:cNvPr id="52" name="object 5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174" y="2638424"/>
              <a:ext cx="114300" cy="114299"/>
            </a:xfrm>
            <a:prstGeom prst="rect">
              <a:avLst/>
            </a:prstGeom>
          </p:spPr>
        </p:pic>
        <p:pic>
          <p:nvPicPr>
            <p:cNvPr id="53" name="object 5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174" y="3590925"/>
              <a:ext cx="114300" cy="114299"/>
            </a:xfrm>
            <a:prstGeom prst="rect">
              <a:avLst/>
            </a:prstGeom>
          </p:spPr>
        </p:pic>
        <p:pic>
          <p:nvPicPr>
            <p:cNvPr id="54" name="object 54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174" y="4543424"/>
              <a:ext cx="114300" cy="114299"/>
            </a:xfrm>
            <a:prstGeom prst="rect">
              <a:avLst/>
            </a:prstGeom>
          </p:spPr>
        </p:pic>
        <p:pic>
          <p:nvPicPr>
            <p:cNvPr id="55" name="object 55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7174" y="5495924"/>
              <a:ext cx="114300" cy="114299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619124" y="476249"/>
              <a:ext cx="11001375" cy="533400"/>
            </a:xfrm>
            <a:custGeom>
              <a:avLst/>
              <a:gdLst/>
              <a:ahLst/>
              <a:cxnLst/>
              <a:rect l="l" t="t" r="r" b="b"/>
              <a:pathLst>
                <a:path w="11001375" h="533400">
                  <a:moveTo>
                    <a:pt x="0" y="533399"/>
                  </a:moveTo>
                  <a:lnTo>
                    <a:pt x="11001374" y="533399"/>
                  </a:lnTo>
                  <a:lnTo>
                    <a:pt x="11001374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571499" y="476249"/>
              <a:ext cx="47625" cy="533400"/>
            </a:xfrm>
            <a:custGeom>
              <a:avLst/>
              <a:gdLst/>
              <a:ahLst/>
              <a:cxnLst/>
              <a:rect l="l" t="t" r="r" b="b"/>
              <a:pathLst>
                <a:path w="47625" h="533400">
                  <a:moveTo>
                    <a:pt x="4762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5333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2500" spc="-145"/>
              <a:t>Coordinated</a:t>
            </a:r>
            <a:r>
              <a:rPr dirty="0" sz="2500" spc="-5"/>
              <a:t> </a:t>
            </a:r>
            <a:r>
              <a:rPr dirty="0" sz="2500" spc="-229"/>
              <a:t>FACTS</a:t>
            </a:r>
            <a:r>
              <a:rPr dirty="0" sz="2500" spc="-5"/>
              <a:t> </a:t>
            </a:r>
            <a:r>
              <a:rPr dirty="0" sz="2500" spc="-135"/>
              <a:t>Devices:</a:t>
            </a:r>
            <a:r>
              <a:rPr dirty="0" sz="2500" spc="-5"/>
              <a:t> </a:t>
            </a:r>
            <a:r>
              <a:rPr dirty="0" sz="2500" spc="-145"/>
              <a:t>Control</a:t>
            </a:r>
            <a:r>
              <a:rPr dirty="0" sz="2500"/>
              <a:t> </a:t>
            </a:r>
            <a:r>
              <a:rPr dirty="0" sz="2500" spc="-10"/>
              <a:t>Strategies</a:t>
            </a:r>
            <a:endParaRPr sz="2500"/>
          </a:p>
        </p:txBody>
      </p:sp>
      <p:grpSp>
        <p:nvGrpSpPr>
          <p:cNvPr id="59" name="object 59" descr=""/>
          <p:cNvGrpSpPr/>
          <p:nvPr/>
        </p:nvGrpSpPr>
        <p:grpSpPr>
          <a:xfrm>
            <a:off x="571499" y="1295399"/>
            <a:ext cx="11430000" cy="5372100"/>
            <a:chOff x="571499" y="1295399"/>
            <a:chExt cx="11430000" cy="5372100"/>
          </a:xfrm>
        </p:grpSpPr>
        <p:sp>
          <p:nvSpPr>
            <p:cNvPr id="60" name="object 60" descr=""/>
            <p:cNvSpPr/>
            <p:nvPr/>
          </p:nvSpPr>
          <p:spPr>
            <a:xfrm>
              <a:off x="571499" y="12953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7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174" y="1383241"/>
              <a:ext cx="209549" cy="162983"/>
            </a:xfrm>
            <a:prstGeom prst="rect">
              <a:avLst/>
            </a:prstGeom>
          </p:spPr>
        </p:pic>
        <p:sp>
          <p:nvSpPr>
            <p:cNvPr id="62" name="object 62" descr=""/>
            <p:cNvSpPr/>
            <p:nvPr/>
          </p:nvSpPr>
          <p:spPr>
            <a:xfrm>
              <a:off x="571499" y="2666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4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7662" y="2742232"/>
              <a:ext cx="190574" cy="192434"/>
            </a:xfrm>
            <a:prstGeom prst="rect">
              <a:avLst/>
            </a:prstGeom>
          </p:spPr>
        </p:pic>
        <p:sp>
          <p:nvSpPr>
            <p:cNvPr id="64" name="object 64" descr=""/>
            <p:cNvSpPr/>
            <p:nvPr/>
          </p:nvSpPr>
          <p:spPr>
            <a:xfrm>
              <a:off x="571499" y="3809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7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29245" y="3889176"/>
              <a:ext cx="234408" cy="186853"/>
            </a:xfrm>
            <a:prstGeom prst="rect">
              <a:avLst/>
            </a:prstGeom>
          </p:spPr>
        </p:pic>
        <p:sp>
          <p:nvSpPr>
            <p:cNvPr id="66" name="object 66" descr=""/>
            <p:cNvSpPr/>
            <p:nvPr/>
          </p:nvSpPr>
          <p:spPr>
            <a:xfrm>
              <a:off x="571499" y="49529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199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79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79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3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7699" y="5029199"/>
              <a:ext cx="190499" cy="190499"/>
            </a:xfrm>
            <a:prstGeom prst="rect">
              <a:avLst/>
            </a:prstGeom>
          </p:spPr>
        </p:pic>
        <p:sp>
          <p:nvSpPr>
            <p:cNvPr id="68" name="object 68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70" name="object 70" descr=""/>
          <p:cNvSpPr txBox="1"/>
          <p:nvPr/>
        </p:nvSpPr>
        <p:spPr>
          <a:xfrm>
            <a:off x="1054100" y="1202332"/>
            <a:ext cx="5423535" cy="243522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650" spc="-85" b="1">
                <a:solidFill>
                  <a:srgbClr val="1D3A8A"/>
                </a:solidFill>
                <a:latin typeface="Roboto"/>
                <a:cs typeface="Roboto"/>
              </a:rPr>
              <a:t>Hybrid</a:t>
            </a:r>
            <a:r>
              <a:rPr dirty="0" sz="1650" spc="-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0" b="1">
                <a:solidFill>
                  <a:srgbClr val="1D3A8A"/>
                </a:solidFill>
                <a:latin typeface="Roboto"/>
                <a:cs typeface="Roboto"/>
              </a:rPr>
              <a:t>SVC/SSSC</a:t>
            </a:r>
            <a:r>
              <a:rPr dirty="0" sz="1650" spc="-2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Integration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ct val="115399"/>
              </a:lnSpc>
              <a:spcBef>
                <a:spcPts val="229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Coordinated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SVC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(shunt)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SSSC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(series)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devices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enhances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voltage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stability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while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improving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transfer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capability.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SVC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provides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reactive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compensation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while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SSSC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modifies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line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impedance,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12.9ms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increase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in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critical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clearing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time.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90"/>
              </a:spcBef>
            </a:pP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D-</a:t>
            </a:r>
            <a:r>
              <a:rPr dirty="0" sz="1650" spc="-145" b="1">
                <a:solidFill>
                  <a:srgbClr val="1D3A8A"/>
                </a:solidFill>
                <a:latin typeface="Roboto"/>
                <a:cs typeface="Roboto"/>
              </a:rPr>
              <a:t>STATCOM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14" b="1">
                <a:solidFill>
                  <a:srgbClr val="1D3A8A"/>
                </a:solidFill>
                <a:latin typeface="Roboto"/>
                <a:cs typeface="Roboto"/>
              </a:rPr>
              <a:t>&amp;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0" b="1">
                <a:solidFill>
                  <a:srgbClr val="1D3A8A"/>
                </a:solidFill>
                <a:latin typeface="Roboto"/>
                <a:cs typeface="Roboto"/>
              </a:rPr>
              <a:t>SVC:</a:t>
            </a:r>
            <a:r>
              <a:rPr dirty="0" sz="165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5" b="1">
                <a:solidFill>
                  <a:srgbClr val="1D3A8A"/>
                </a:solidFill>
                <a:latin typeface="Roboto"/>
                <a:cs typeface="Roboto"/>
              </a:rPr>
              <a:t>AC-</a:t>
            </a:r>
            <a:r>
              <a:rPr dirty="0" sz="1650" spc="-114" b="1">
                <a:solidFill>
                  <a:srgbClr val="1D3A8A"/>
                </a:solidFill>
                <a:latin typeface="Roboto"/>
                <a:cs typeface="Roboto"/>
              </a:rPr>
              <a:t>DC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1D3A8A"/>
                </a:solidFill>
                <a:latin typeface="Roboto"/>
                <a:cs typeface="Roboto"/>
              </a:rPr>
              <a:t>Grid</a:t>
            </a:r>
            <a:r>
              <a:rPr dirty="0" sz="165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Interface</a:t>
            </a:r>
            <a:endParaRPr sz="1650">
              <a:latin typeface="Roboto"/>
              <a:cs typeface="Roboto"/>
            </a:endParaRPr>
          </a:p>
          <a:p>
            <a:pPr marL="12700" marR="23495">
              <a:lnSpc>
                <a:spcPct val="115399"/>
              </a:lnSpc>
              <a:spcBef>
                <a:spcPts val="229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Fast-responding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D-</a:t>
            </a:r>
            <a:r>
              <a:rPr dirty="0" sz="1300" spc="-100">
                <a:solidFill>
                  <a:srgbClr val="374050"/>
                </a:solidFill>
                <a:latin typeface="Roboto"/>
                <a:cs typeface="Roboto"/>
              </a:rPr>
              <a:t>STATCOM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(</a:t>
            </a:r>
            <a:r>
              <a:rPr dirty="0" sz="1150" spc="-40">
                <a:solidFill>
                  <a:srgbClr val="374050"/>
                </a:solidFill>
                <a:latin typeface="Arial"/>
                <a:cs typeface="Arial"/>
              </a:rPr>
              <a:t>≈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5ms)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handles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initial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dynamic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compensation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and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bidirectional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flow,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while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slower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SVC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(</a:t>
            </a:r>
            <a:r>
              <a:rPr dirty="0" sz="1150" spc="-45">
                <a:solidFill>
                  <a:srgbClr val="374050"/>
                </a:solidFill>
                <a:latin typeface="Arial"/>
                <a:cs typeface="Arial"/>
              </a:rPr>
              <a:t>≈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40ms)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manages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steady-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state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VAR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demands,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achieving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2.4%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THD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near-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unity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factor.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74" name="object 74" descr=""/>
          <p:cNvSpPr txBox="1"/>
          <p:nvPr/>
        </p:nvSpPr>
        <p:spPr>
          <a:xfrm>
            <a:off x="10833000" y="6445249"/>
            <a:ext cx="106680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71" name="object 71" descr=""/>
          <p:cNvSpPr txBox="1"/>
          <p:nvPr/>
        </p:nvSpPr>
        <p:spPr>
          <a:xfrm>
            <a:off x="1054100" y="3716932"/>
            <a:ext cx="5181600" cy="83502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650" spc="-85" b="1">
                <a:solidFill>
                  <a:srgbClr val="1D3A8A"/>
                </a:solidFill>
                <a:latin typeface="Roboto"/>
                <a:cs typeface="Roboto"/>
              </a:rPr>
              <a:t>Unified</a:t>
            </a:r>
            <a:r>
              <a:rPr dirty="0" sz="1650" spc="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Control</a:t>
            </a:r>
            <a:r>
              <a:rPr dirty="0" sz="1650" spc="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Platform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ct val="115399"/>
              </a:lnSpc>
              <a:spcBef>
                <a:spcPts val="229"/>
              </a:spcBef>
            </a:pP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Expert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Decision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(EDS)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orchestrates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operation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5">
                <a:solidFill>
                  <a:srgbClr val="374050"/>
                </a:solidFill>
                <a:latin typeface="Roboto"/>
                <a:cs typeface="Roboto"/>
              </a:rPr>
              <a:t>modes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based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on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load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demands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system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conditions.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Logic-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based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rules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determine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when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devices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72" name="object 72" descr=""/>
          <p:cNvSpPr txBox="1"/>
          <p:nvPr/>
        </p:nvSpPr>
        <p:spPr>
          <a:xfrm>
            <a:off x="1054100" y="4551679"/>
            <a:ext cx="427609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operate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standalone,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collaborative,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or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complementary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modes.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73" name="object 73" descr=""/>
          <p:cNvSpPr txBox="1"/>
          <p:nvPr/>
        </p:nvSpPr>
        <p:spPr>
          <a:xfrm>
            <a:off x="1054100" y="4859932"/>
            <a:ext cx="5313680" cy="106362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Adaptive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14" b="1">
                <a:solidFill>
                  <a:srgbClr val="1D3A8A"/>
                </a:solidFill>
                <a:latin typeface="Roboto"/>
                <a:cs typeface="Roboto"/>
              </a:rPr>
              <a:t>&amp;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Predictive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Schemes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ct val="115399"/>
              </a:lnSpc>
              <a:spcBef>
                <a:spcPts val="229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Reinforcement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learning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374050"/>
                </a:solidFill>
                <a:latin typeface="Roboto"/>
                <a:cs typeface="Roboto"/>
              </a:rPr>
              <a:t>MPC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elements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enable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real-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time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adaptation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load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variations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grid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disturbances,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autotuned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weighting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factors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optimizing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multiple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objectives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simultaneously.</a:t>
            </a:r>
            <a:endParaRPr sz="13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86575"/>
            <a:chOff x="0" y="0"/>
            <a:chExt cx="12192000" cy="6886575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86574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285737" y="1714499"/>
              <a:ext cx="1143000" cy="3810000"/>
            </a:xfrm>
            <a:custGeom>
              <a:avLst/>
              <a:gdLst/>
              <a:ahLst/>
              <a:cxnLst/>
              <a:rect l="l" t="t" r="r" b="b"/>
              <a:pathLst>
                <a:path w="1143000" h="3810000">
                  <a:moveTo>
                    <a:pt x="1143000" y="2857500"/>
                  </a:moveTo>
                  <a:lnTo>
                    <a:pt x="28575" y="2857500"/>
                  </a:lnTo>
                  <a:lnTo>
                    <a:pt x="28575" y="1933575"/>
                  </a:lnTo>
                  <a:lnTo>
                    <a:pt x="476250" y="1933575"/>
                  </a:lnTo>
                  <a:lnTo>
                    <a:pt x="476250" y="1905000"/>
                  </a:lnTo>
                  <a:lnTo>
                    <a:pt x="28575" y="1905000"/>
                  </a:lnTo>
                  <a:lnTo>
                    <a:pt x="28575" y="981075"/>
                  </a:lnTo>
                  <a:lnTo>
                    <a:pt x="666750" y="981075"/>
                  </a:lnTo>
                  <a:lnTo>
                    <a:pt x="666750" y="952500"/>
                  </a:lnTo>
                  <a:lnTo>
                    <a:pt x="28575" y="952500"/>
                  </a:lnTo>
                  <a:lnTo>
                    <a:pt x="28575" y="28575"/>
                  </a:lnTo>
                  <a:lnTo>
                    <a:pt x="952500" y="28575"/>
                  </a:lnTo>
                  <a:lnTo>
                    <a:pt x="952500" y="0"/>
                  </a:lnTo>
                  <a:lnTo>
                    <a:pt x="28575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0" y="3810000"/>
                  </a:lnTo>
                  <a:lnTo>
                    <a:pt x="28575" y="3810000"/>
                  </a:lnTo>
                  <a:lnTo>
                    <a:pt x="28575" y="2886075"/>
                  </a:lnTo>
                  <a:lnTo>
                    <a:pt x="1143000" y="2886075"/>
                  </a:lnTo>
                  <a:lnTo>
                    <a:pt x="1143000" y="285750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1685924"/>
              <a:ext cx="114300" cy="1142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2638424"/>
              <a:ext cx="114300" cy="11429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3590924"/>
              <a:ext cx="114300" cy="114299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4543424"/>
              <a:ext cx="114300" cy="11429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19124" y="476249"/>
              <a:ext cx="11001375" cy="533400"/>
            </a:xfrm>
            <a:custGeom>
              <a:avLst/>
              <a:gdLst/>
              <a:ahLst/>
              <a:cxnLst/>
              <a:rect l="l" t="t" r="r" b="b"/>
              <a:pathLst>
                <a:path w="11001375" h="533400">
                  <a:moveTo>
                    <a:pt x="0" y="533399"/>
                  </a:moveTo>
                  <a:lnTo>
                    <a:pt x="11001374" y="533399"/>
                  </a:lnTo>
                  <a:lnTo>
                    <a:pt x="11001374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571499" y="476249"/>
              <a:ext cx="47625" cy="533400"/>
            </a:xfrm>
            <a:custGeom>
              <a:avLst/>
              <a:gdLst/>
              <a:ahLst/>
              <a:cxnLst/>
              <a:rect l="l" t="t" r="r" b="b"/>
              <a:pathLst>
                <a:path w="47625" h="533400">
                  <a:moveTo>
                    <a:pt x="4762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5333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dirty="0" sz="2500" spc="-140"/>
              <a:t>Simulation</a:t>
            </a:r>
            <a:r>
              <a:rPr dirty="0" sz="2500" spc="-15"/>
              <a:t> </a:t>
            </a:r>
            <a:r>
              <a:rPr dirty="0" sz="2500" spc="-135"/>
              <a:t>Results</a:t>
            </a:r>
            <a:r>
              <a:rPr dirty="0" sz="2500" spc="-15"/>
              <a:t> </a:t>
            </a:r>
            <a:r>
              <a:rPr dirty="0" sz="2500" spc="-170"/>
              <a:t>&amp;</a:t>
            </a:r>
            <a:r>
              <a:rPr dirty="0" sz="2500" spc="-10"/>
              <a:t> </a:t>
            </a:r>
            <a:r>
              <a:rPr dirty="0" sz="2500" spc="-150"/>
              <a:t>Performance</a:t>
            </a:r>
            <a:r>
              <a:rPr dirty="0" sz="2500" spc="-15"/>
              <a:t> </a:t>
            </a:r>
            <a:r>
              <a:rPr dirty="0" sz="2500" spc="-10"/>
              <a:t>Analysis</a:t>
            </a:r>
            <a:endParaRPr sz="2500"/>
          </a:p>
        </p:txBody>
      </p:sp>
      <p:grpSp>
        <p:nvGrpSpPr>
          <p:cNvPr id="12" name="object 12" descr=""/>
          <p:cNvGrpSpPr/>
          <p:nvPr/>
        </p:nvGrpSpPr>
        <p:grpSpPr>
          <a:xfrm>
            <a:off x="571499" y="1200149"/>
            <a:ext cx="11430000" cy="5505450"/>
            <a:chOff x="571499" y="1200149"/>
            <a:chExt cx="11430000" cy="5505450"/>
          </a:xfrm>
        </p:grpSpPr>
        <p:sp>
          <p:nvSpPr>
            <p:cNvPr id="13" name="object 13" descr=""/>
            <p:cNvSpPr/>
            <p:nvPr/>
          </p:nvSpPr>
          <p:spPr>
            <a:xfrm>
              <a:off x="571499" y="12001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7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1288256"/>
              <a:ext cx="190499" cy="166687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71499" y="20764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699" y="2152649"/>
              <a:ext cx="190499" cy="190499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571499" y="318134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47699" y="3257549"/>
              <a:ext cx="191653" cy="19169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6248399" y="3743324"/>
              <a:ext cx="5372100" cy="2667000"/>
            </a:xfrm>
            <a:custGeom>
              <a:avLst/>
              <a:gdLst/>
              <a:ahLst/>
              <a:cxnLst/>
              <a:rect l="l" t="t" r="r" b="b"/>
              <a:pathLst>
                <a:path w="5372100" h="2667000">
                  <a:moveTo>
                    <a:pt x="5295899" y="2666999"/>
                  </a:moveTo>
                  <a:lnTo>
                    <a:pt x="76199" y="2666999"/>
                  </a:lnTo>
                  <a:lnTo>
                    <a:pt x="68693" y="2666636"/>
                  </a:lnTo>
                  <a:lnTo>
                    <a:pt x="27882" y="2649731"/>
                  </a:lnTo>
                  <a:lnTo>
                    <a:pt x="3261" y="2612885"/>
                  </a:lnTo>
                  <a:lnTo>
                    <a:pt x="0" y="2590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5295899" y="0"/>
                  </a:lnTo>
                  <a:lnTo>
                    <a:pt x="5338241" y="12829"/>
                  </a:lnTo>
                  <a:lnTo>
                    <a:pt x="5366298" y="47038"/>
                  </a:lnTo>
                  <a:lnTo>
                    <a:pt x="5372099" y="76199"/>
                  </a:lnTo>
                  <a:lnTo>
                    <a:pt x="5372099" y="2590799"/>
                  </a:lnTo>
                  <a:lnTo>
                    <a:pt x="5359268" y="2633141"/>
                  </a:lnTo>
                  <a:lnTo>
                    <a:pt x="5325058" y="2661198"/>
                  </a:lnTo>
                  <a:lnTo>
                    <a:pt x="5295899" y="26669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6248399" y="3743324"/>
              <a:ext cx="5372100" cy="2667000"/>
            </a:xfrm>
            <a:custGeom>
              <a:avLst/>
              <a:gdLst/>
              <a:ahLst/>
              <a:cxnLst/>
              <a:rect l="l" t="t" r="r" b="b"/>
              <a:pathLst>
                <a:path w="5372100" h="2667000">
                  <a:moveTo>
                    <a:pt x="5295899" y="2666999"/>
                  </a:moveTo>
                  <a:lnTo>
                    <a:pt x="76199" y="2666999"/>
                  </a:lnTo>
                  <a:lnTo>
                    <a:pt x="68693" y="2666637"/>
                  </a:lnTo>
                  <a:lnTo>
                    <a:pt x="27882" y="2649732"/>
                  </a:lnTo>
                  <a:lnTo>
                    <a:pt x="3261" y="2612885"/>
                  </a:lnTo>
                  <a:lnTo>
                    <a:pt x="0" y="2590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5295899" y="0"/>
                  </a:lnTo>
                  <a:lnTo>
                    <a:pt x="5332719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7"/>
                  </a:lnTo>
                  <a:lnTo>
                    <a:pt x="9524" y="71821"/>
                  </a:lnTo>
                  <a:lnTo>
                    <a:pt x="9524" y="2595177"/>
                  </a:lnTo>
                  <a:lnTo>
                    <a:pt x="23193" y="2631481"/>
                  </a:lnTo>
                  <a:lnTo>
                    <a:pt x="54727" y="2654073"/>
                  </a:lnTo>
                  <a:lnTo>
                    <a:pt x="71821" y="2657473"/>
                  </a:lnTo>
                  <a:lnTo>
                    <a:pt x="5332719" y="2657473"/>
                  </a:lnTo>
                  <a:lnTo>
                    <a:pt x="5331855" y="2657990"/>
                  </a:lnTo>
                  <a:lnTo>
                    <a:pt x="5325059" y="2661198"/>
                  </a:lnTo>
                  <a:lnTo>
                    <a:pt x="5317985" y="2663736"/>
                  </a:lnTo>
                  <a:lnTo>
                    <a:pt x="5310767" y="2665549"/>
                  </a:lnTo>
                  <a:lnTo>
                    <a:pt x="5303405" y="2666637"/>
                  </a:lnTo>
                  <a:lnTo>
                    <a:pt x="5295899" y="2666999"/>
                  </a:lnTo>
                  <a:close/>
                </a:path>
                <a:path w="5372100" h="2667000">
                  <a:moveTo>
                    <a:pt x="5332719" y="2657473"/>
                  </a:moveTo>
                  <a:lnTo>
                    <a:pt x="5300276" y="2657473"/>
                  </a:lnTo>
                  <a:lnTo>
                    <a:pt x="5304612" y="2657046"/>
                  </a:lnTo>
                  <a:lnTo>
                    <a:pt x="5313199" y="2655338"/>
                  </a:lnTo>
                  <a:lnTo>
                    <a:pt x="5346139" y="2634849"/>
                  </a:lnTo>
                  <a:lnTo>
                    <a:pt x="5362146" y="2599512"/>
                  </a:lnTo>
                  <a:lnTo>
                    <a:pt x="5362573" y="2595177"/>
                  </a:lnTo>
                  <a:lnTo>
                    <a:pt x="5362573" y="71821"/>
                  </a:lnTo>
                  <a:lnTo>
                    <a:pt x="5362265" y="68693"/>
                  </a:lnTo>
                  <a:lnTo>
                    <a:pt x="5362146" y="67485"/>
                  </a:lnTo>
                  <a:lnTo>
                    <a:pt x="5346139" y="32148"/>
                  </a:lnTo>
                  <a:lnTo>
                    <a:pt x="5313199" y="11660"/>
                  </a:lnTo>
                  <a:lnTo>
                    <a:pt x="5300276" y="9524"/>
                  </a:lnTo>
                  <a:lnTo>
                    <a:pt x="5332719" y="9524"/>
                  </a:lnTo>
                  <a:lnTo>
                    <a:pt x="5363090" y="40242"/>
                  </a:lnTo>
                  <a:lnTo>
                    <a:pt x="5372099" y="2590799"/>
                  </a:lnTo>
                  <a:lnTo>
                    <a:pt x="5371736" y="2598306"/>
                  </a:lnTo>
                  <a:lnTo>
                    <a:pt x="5354831" y="2639116"/>
                  </a:lnTo>
                  <a:lnTo>
                    <a:pt x="5338369" y="2654073"/>
                  </a:lnTo>
                  <a:lnTo>
                    <a:pt x="5332719" y="2657473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10324" y="3905249"/>
              <a:ext cx="5048249" cy="234314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0544174" y="63817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8474" y="6476999"/>
              <a:ext cx="133349" cy="133349"/>
            </a:xfrm>
            <a:prstGeom prst="rect">
              <a:avLst/>
            </a:prstGeom>
          </p:spPr>
        </p:pic>
      </p:grpSp>
      <p:sp>
        <p:nvSpPr>
          <p:cNvPr id="24" name="object 24" descr=""/>
          <p:cNvSpPr txBox="1"/>
          <p:nvPr/>
        </p:nvSpPr>
        <p:spPr>
          <a:xfrm>
            <a:off x="1054100" y="1154707"/>
            <a:ext cx="4705985" cy="318770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Comparative</a:t>
            </a:r>
            <a:r>
              <a:rPr dirty="0" sz="1650" spc="-1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Analysis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ts val="1800"/>
              </a:lnSpc>
              <a:spcBef>
                <a:spcPts val="30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Evaluation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across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multiple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scenarios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including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374050"/>
                </a:solidFill>
                <a:latin typeface="Roboto"/>
                <a:cs typeface="Roboto"/>
              </a:rPr>
              <a:t>AGC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response,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voltage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stabilization,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oscillation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damping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reactive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support.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650" spc="-105" b="1">
                <a:solidFill>
                  <a:srgbClr val="1D3A8A"/>
                </a:solidFill>
                <a:latin typeface="Roboto"/>
                <a:cs typeface="Roboto"/>
              </a:rPr>
              <a:t>Key</a:t>
            </a:r>
            <a:r>
              <a:rPr dirty="0" sz="1650" spc="2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95" b="1">
                <a:solidFill>
                  <a:srgbClr val="1D3A8A"/>
                </a:solidFill>
                <a:latin typeface="Roboto"/>
                <a:cs typeface="Roboto"/>
              </a:rPr>
              <a:t>Performance</a:t>
            </a:r>
            <a:r>
              <a:rPr dirty="0" sz="1650" spc="3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Metrics</a:t>
            </a:r>
            <a:endParaRPr sz="1650">
              <a:latin typeface="Roboto"/>
              <a:cs typeface="Roboto"/>
            </a:endParaRPr>
          </a:p>
          <a:p>
            <a:pPr marL="12700" marR="322580">
              <a:lnSpc>
                <a:spcPts val="1800"/>
              </a:lnSpc>
              <a:spcBef>
                <a:spcPts val="30"/>
              </a:spcBef>
            </a:pP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ISE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reduced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by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up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100%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optimized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scenarios.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Settling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times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improved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by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38.2%.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THD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maintained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below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2.5%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all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FACTS configurations.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650" spc="-105" b="1">
                <a:solidFill>
                  <a:srgbClr val="1D3A8A"/>
                </a:solidFill>
                <a:latin typeface="Roboto"/>
                <a:cs typeface="Roboto"/>
              </a:rPr>
              <a:t>Key</a:t>
            </a:r>
            <a:r>
              <a:rPr dirty="0" sz="1650" spc="-1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Findings</a:t>
            </a:r>
            <a:endParaRPr sz="1650">
              <a:latin typeface="Roboto"/>
              <a:cs typeface="Roboto"/>
            </a:endParaRPr>
          </a:p>
          <a:p>
            <a:pPr marL="12700" marR="183515">
              <a:lnSpc>
                <a:spcPts val="1800"/>
              </a:lnSpc>
              <a:spcBef>
                <a:spcPts val="30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Coordinated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outperforms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independent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by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44%.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Synergetic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shows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superior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performance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300" spc="-1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asymmetric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disturbances.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RL-</a:t>
            </a:r>
            <a:r>
              <a:rPr dirty="0" sz="1300" spc="-75">
                <a:solidFill>
                  <a:srgbClr val="374050"/>
                </a:solidFill>
                <a:latin typeface="Roboto"/>
                <a:cs typeface="Roboto"/>
              </a:rPr>
              <a:t>SMC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maintains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robust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response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under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parameter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variations.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6248398" y="1200149"/>
            <a:ext cx="5372100" cy="2352675"/>
            <a:chOff x="6248398" y="1200149"/>
            <a:chExt cx="5372100" cy="2352675"/>
          </a:xfrm>
        </p:grpSpPr>
        <p:sp>
          <p:nvSpPr>
            <p:cNvPr id="26" name="object 26" descr=""/>
            <p:cNvSpPr/>
            <p:nvPr/>
          </p:nvSpPr>
          <p:spPr>
            <a:xfrm>
              <a:off x="6248398" y="1200149"/>
              <a:ext cx="5372100" cy="2352675"/>
            </a:xfrm>
            <a:custGeom>
              <a:avLst/>
              <a:gdLst/>
              <a:ahLst/>
              <a:cxnLst/>
              <a:rect l="l" t="t" r="r" b="b"/>
              <a:pathLst>
                <a:path w="5372100" h="2352675">
                  <a:moveTo>
                    <a:pt x="5300903" y="2352674"/>
                  </a:moveTo>
                  <a:lnTo>
                    <a:pt x="71196" y="2352674"/>
                  </a:lnTo>
                  <a:lnTo>
                    <a:pt x="66241" y="2352186"/>
                  </a:lnTo>
                  <a:lnTo>
                    <a:pt x="29705" y="2337052"/>
                  </a:lnTo>
                  <a:lnTo>
                    <a:pt x="3885" y="2301012"/>
                  </a:lnTo>
                  <a:lnTo>
                    <a:pt x="0" y="2281478"/>
                  </a:lnTo>
                  <a:lnTo>
                    <a:pt x="0" y="2276474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300903" y="0"/>
                  </a:lnTo>
                  <a:lnTo>
                    <a:pt x="5342395" y="15621"/>
                  </a:lnTo>
                  <a:lnTo>
                    <a:pt x="5368213" y="51661"/>
                  </a:lnTo>
                  <a:lnTo>
                    <a:pt x="5372100" y="71196"/>
                  </a:lnTo>
                  <a:lnTo>
                    <a:pt x="5372100" y="2281478"/>
                  </a:lnTo>
                  <a:lnTo>
                    <a:pt x="5356479" y="2322969"/>
                  </a:lnTo>
                  <a:lnTo>
                    <a:pt x="5320437" y="2348788"/>
                  </a:lnTo>
                  <a:lnTo>
                    <a:pt x="5305857" y="2352186"/>
                  </a:lnTo>
                  <a:lnTo>
                    <a:pt x="5300903" y="2352674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6257912" y="1209674"/>
              <a:ext cx="5362575" cy="390525"/>
            </a:xfrm>
            <a:custGeom>
              <a:avLst/>
              <a:gdLst/>
              <a:ahLst/>
              <a:cxnLst/>
              <a:rect l="l" t="t" r="r" b="b"/>
              <a:pathLst>
                <a:path w="5362575" h="390525">
                  <a:moveTo>
                    <a:pt x="1943100" y="0"/>
                  </a:moveTo>
                  <a:lnTo>
                    <a:pt x="29857" y="0"/>
                  </a:lnTo>
                  <a:lnTo>
                    <a:pt x="24333" y="3314"/>
                  </a:lnTo>
                  <a:lnTo>
                    <a:pt x="0" y="29857"/>
                  </a:lnTo>
                  <a:lnTo>
                    <a:pt x="0" y="390525"/>
                  </a:lnTo>
                  <a:lnTo>
                    <a:pt x="1943100" y="390525"/>
                  </a:lnTo>
                  <a:lnTo>
                    <a:pt x="1943100" y="0"/>
                  </a:lnTo>
                  <a:close/>
                </a:path>
                <a:path w="5362575" h="390525">
                  <a:moveTo>
                    <a:pt x="5362575" y="66675"/>
                  </a:moveTo>
                  <a:lnTo>
                    <a:pt x="5349748" y="24333"/>
                  </a:lnTo>
                  <a:lnTo>
                    <a:pt x="5323205" y="0"/>
                  </a:lnTo>
                  <a:lnTo>
                    <a:pt x="4781550" y="0"/>
                  </a:lnTo>
                  <a:lnTo>
                    <a:pt x="4781550" y="390525"/>
                  </a:lnTo>
                  <a:lnTo>
                    <a:pt x="5362575" y="390525"/>
                  </a:lnTo>
                  <a:lnTo>
                    <a:pt x="5362575" y="66675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6257912" y="1990724"/>
              <a:ext cx="5362575" cy="1171575"/>
            </a:xfrm>
            <a:custGeom>
              <a:avLst/>
              <a:gdLst/>
              <a:ahLst/>
              <a:cxnLst/>
              <a:rect l="l" t="t" r="r" b="b"/>
              <a:pathLst>
                <a:path w="5362575" h="1171575">
                  <a:moveTo>
                    <a:pt x="5362575" y="781050"/>
                  </a:moveTo>
                  <a:lnTo>
                    <a:pt x="5362575" y="781050"/>
                  </a:lnTo>
                  <a:lnTo>
                    <a:pt x="0" y="781050"/>
                  </a:lnTo>
                  <a:lnTo>
                    <a:pt x="0" y="1171575"/>
                  </a:lnTo>
                  <a:lnTo>
                    <a:pt x="5362575" y="1171575"/>
                  </a:lnTo>
                  <a:lnTo>
                    <a:pt x="5362575" y="781050"/>
                  </a:lnTo>
                  <a:close/>
                </a:path>
                <a:path w="5362575" h="1171575">
                  <a:moveTo>
                    <a:pt x="5362575" y="0"/>
                  </a:moveTo>
                  <a:lnTo>
                    <a:pt x="5362575" y="0"/>
                  </a:lnTo>
                  <a:lnTo>
                    <a:pt x="0" y="0"/>
                  </a:lnTo>
                  <a:lnTo>
                    <a:pt x="0" y="390525"/>
                  </a:lnTo>
                  <a:lnTo>
                    <a:pt x="5362575" y="390525"/>
                  </a:lnTo>
                  <a:lnTo>
                    <a:pt x="5362575" y="0"/>
                  </a:lnTo>
                  <a:close/>
                </a:path>
              </a:pathLst>
            </a:custGeom>
            <a:solidFill>
              <a:srgbClr val="FFFFFF">
                <a:alpha val="501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6257912" y="3162299"/>
              <a:ext cx="5362575" cy="390525"/>
            </a:xfrm>
            <a:custGeom>
              <a:avLst/>
              <a:gdLst/>
              <a:ahLst/>
              <a:cxnLst/>
              <a:rect l="l" t="t" r="r" b="b"/>
              <a:pathLst>
                <a:path w="5362575" h="390525">
                  <a:moveTo>
                    <a:pt x="1943100" y="0"/>
                  </a:moveTo>
                  <a:lnTo>
                    <a:pt x="0" y="0"/>
                  </a:lnTo>
                  <a:lnTo>
                    <a:pt x="0" y="351155"/>
                  </a:lnTo>
                  <a:lnTo>
                    <a:pt x="30721" y="381520"/>
                  </a:lnTo>
                  <a:lnTo>
                    <a:pt x="66675" y="390525"/>
                  </a:lnTo>
                  <a:lnTo>
                    <a:pt x="1943100" y="390525"/>
                  </a:lnTo>
                  <a:lnTo>
                    <a:pt x="1943100" y="0"/>
                  </a:lnTo>
                  <a:close/>
                </a:path>
                <a:path w="5362575" h="390525">
                  <a:moveTo>
                    <a:pt x="5362575" y="0"/>
                  </a:moveTo>
                  <a:lnTo>
                    <a:pt x="4781550" y="0"/>
                  </a:lnTo>
                  <a:lnTo>
                    <a:pt x="4781550" y="390525"/>
                  </a:lnTo>
                  <a:lnTo>
                    <a:pt x="5286375" y="390525"/>
                  </a:lnTo>
                  <a:lnTo>
                    <a:pt x="5293880" y="390169"/>
                  </a:lnTo>
                  <a:lnTo>
                    <a:pt x="5334698" y="373265"/>
                  </a:lnTo>
                  <a:lnTo>
                    <a:pt x="5359311" y="336423"/>
                  </a:lnTo>
                  <a:lnTo>
                    <a:pt x="5362575" y="314325"/>
                  </a:lnTo>
                  <a:lnTo>
                    <a:pt x="5362575" y="0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30" name="object 30" descr=""/>
          <p:cNvGraphicFramePr>
            <a:graphicFrameLocks noGrp="1"/>
          </p:cNvGraphicFramePr>
          <p:nvPr/>
        </p:nvGraphicFramePr>
        <p:xfrm>
          <a:off x="6248399" y="1200149"/>
          <a:ext cx="5448300" cy="2339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52625"/>
                <a:gridCol w="723900"/>
                <a:gridCol w="1162050"/>
                <a:gridCol w="952500"/>
                <a:gridCol w="571500"/>
              </a:tblGrid>
              <a:tr h="389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60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Control</a:t>
                      </a:r>
                      <a:r>
                        <a:rPr dirty="0" sz="1300" spc="25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10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Strategy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5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ISE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3B81F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50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Settling</a:t>
                      </a:r>
                      <a:r>
                        <a:rPr dirty="0" sz="1300" spc="-15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20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Time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3B81F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10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Overshoot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3B81F5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5" b="1">
                          <a:solidFill>
                            <a:srgbClr val="1D3A8A"/>
                          </a:solidFill>
                          <a:latin typeface="Roboto"/>
                          <a:cs typeface="Roboto"/>
                        </a:rPr>
                        <a:t>THD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55">
                          <a:latin typeface="Roboto"/>
                          <a:cs typeface="Roboto"/>
                        </a:rPr>
                        <a:t>Conventional</a:t>
                      </a:r>
                      <a:r>
                        <a:rPr dirty="0" sz="1300" spc="1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25">
                          <a:latin typeface="Roboto"/>
                          <a:cs typeface="Roboto"/>
                        </a:rPr>
                        <a:t>PID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10">
                          <a:latin typeface="Roboto"/>
                          <a:cs typeface="Roboto"/>
                        </a:rPr>
                        <a:t>0.0152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211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55">
                          <a:latin typeface="Roboto"/>
                          <a:cs typeface="Roboto"/>
                        </a:rPr>
                        <a:t>12.4</a:t>
                      </a:r>
                      <a:r>
                        <a:rPr dirty="0" sz="1300" spc="-5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50">
                          <a:latin typeface="Roboto"/>
                          <a:cs typeface="Roboto"/>
                        </a:rPr>
                        <a:t>s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0">
                          <a:latin typeface="Roboto"/>
                          <a:cs typeface="Roboto"/>
                        </a:rPr>
                        <a:t>8.5%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0">
                          <a:latin typeface="Roboto"/>
                          <a:cs typeface="Roboto"/>
                        </a:rPr>
                        <a:t>3.8%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65">
                          <a:latin typeface="Roboto"/>
                          <a:cs typeface="Roboto"/>
                        </a:rPr>
                        <a:t>PSO-</a:t>
                      </a:r>
                      <a:r>
                        <a:rPr dirty="0" sz="1300" spc="-55">
                          <a:latin typeface="Roboto"/>
                          <a:cs typeface="Roboto"/>
                        </a:rPr>
                        <a:t>Optimized</a:t>
                      </a:r>
                      <a:r>
                        <a:rPr dirty="0" sz="1300" spc="2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25">
                          <a:latin typeface="Roboto"/>
                          <a:cs typeface="Roboto"/>
                        </a:rPr>
                        <a:t>PID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FFFFFF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10">
                          <a:latin typeface="Roboto"/>
                          <a:cs typeface="Roboto"/>
                        </a:rPr>
                        <a:t>0.0094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FFFFFF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45">
                          <a:latin typeface="Roboto"/>
                          <a:cs typeface="Roboto"/>
                        </a:rPr>
                        <a:t>7.6</a:t>
                      </a:r>
                      <a:r>
                        <a:rPr dirty="0" sz="1300" spc="-3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50">
                          <a:latin typeface="Roboto"/>
                          <a:cs typeface="Roboto"/>
                        </a:rPr>
                        <a:t>s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FFFFFF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0">
                          <a:latin typeface="Roboto"/>
                          <a:cs typeface="Roboto"/>
                        </a:rPr>
                        <a:t>4.8%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FFFFFF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0">
                          <a:latin typeface="Roboto"/>
                          <a:cs typeface="Roboto"/>
                        </a:rPr>
                        <a:t>2.9%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FFFFFF">
                        <a:alpha val="50199"/>
                      </a:srgbClr>
                    </a:solidFill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60">
                          <a:latin typeface="Roboto"/>
                          <a:cs typeface="Roboto"/>
                        </a:rPr>
                        <a:t>Non-</a:t>
                      </a:r>
                      <a:r>
                        <a:rPr dirty="0" sz="1300" spc="-40">
                          <a:latin typeface="Roboto"/>
                          <a:cs typeface="Roboto"/>
                        </a:rPr>
                        <a:t>linear</a:t>
                      </a:r>
                      <a:r>
                        <a:rPr dirty="0" sz="1300" spc="-10">
                          <a:latin typeface="Roboto"/>
                          <a:cs typeface="Roboto"/>
                        </a:rPr>
                        <a:t> Synergetic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10">
                          <a:latin typeface="Roboto"/>
                          <a:cs typeface="Roboto"/>
                        </a:rPr>
                        <a:t>0.0085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45">
                          <a:latin typeface="Roboto"/>
                          <a:cs typeface="Roboto"/>
                        </a:rPr>
                        <a:t>6.9</a:t>
                      </a:r>
                      <a:r>
                        <a:rPr dirty="0" sz="1300" spc="-3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50">
                          <a:latin typeface="Roboto"/>
                          <a:cs typeface="Roboto"/>
                        </a:rPr>
                        <a:t>s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0">
                          <a:latin typeface="Roboto"/>
                          <a:cs typeface="Roboto"/>
                        </a:rPr>
                        <a:t>3.7%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0">
                          <a:latin typeface="Roboto"/>
                          <a:cs typeface="Roboto"/>
                        </a:rPr>
                        <a:t>2.4%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</a:tr>
              <a:tr h="38989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55">
                          <a:latin typeface="Roboto"/>
                          <a:cs typeface="Roboto"/>
                        </a:rPr>
                        <a:t>RL-</a:t>
                      </a:r>
                      <a:r>
                        <a:rPr dirty="0" sz="1300" spc="-25">
                          <a:latin typeface="Roboto"/>
                          <a:cs typeface="Roboto"/>
                        </a:rPr>
                        <a:t>SMC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FFFFFF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10">
                          <a:latin typeface="Roboto"/>
                          <a:cs typeface="Roboto"/>
                        </a:rPr>
                        <a:t>0.0079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FFFFFF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1529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45">
                          <a:latin typeface="Roboto"/>
                          <a:cs typeface="Roboto"/>
                        </a:rPr>
                        <a:t>5.8</a:t>
                      </a:r>
                      <a:r>
                        <a:rPr dirty="0" sz="1300" spc="-3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50">
                          <a:latin typeface="Roboto"/>
                          <a:cs typeface="Roboto"/>
                        </a:rPr>
                        <a:t>s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FFFFFF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0">
                          <a:latin typeface="Roboto"/>
                          <a:cs typeface="Roboto"/>
                        </a:rPr>
                        <a:t>3.2%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FFFFFF">
                        <a:alpha val="501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0">
                          <a:latin typeface="Roboto"/>
                          <a:cs typeface="Roboto"/>
                        </a:rPr>
                        <a:t>2.2%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FFFFFF">
                        <a:alpha val="50199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55">
                          <a:latin typeface="Roboto"/>
                          <a:cs typeface="Roboto"/>
                        </a:rPr>
                        <a:t>Coordinated</a:t>
                      </a:r>
                      <a:r>
                        <a:rPr dirty="0" sz="1300" spc="60"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50">
                          <a:latin typeface="Roboto"/>
                          <a:cs typeface="Roboto"/>
                        </a:rPr>
                        <a:t>Multi-</a:t>
                      </a:r>
                      <a:r>
                        <a:rPr dirty="0" sz="1300" spc="-10">
                          <a:latin typeface="Roboto"/>
                          <a:cs typeface="Roboto"/>
                        </a:rPr>
                        <a:t>FACTS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10" b="1">
                          <a:solidFill>
                            <a:srgbClr val="047857"/>
                          </a:solidFill>
                          <a:latin typeface="Roboto"/>
                          <a:cs typeface="Roboto"/>
                        </a:rPr>
                        <a:t>0.0057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pPr marL="41148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60" b="1">
                          <a:solidFill>
                            <a:srgbClr val="047857"/>
                          </a:solidFill>
                          <a:latin typeface="Roboto"/>
                          <a:cs typeface="Roboto"/>
                        </a:rPr>
                        <a:t>4.2</a:t>
                      </a:r>
                      <a:r>
                        <a:rPr dirty="0" sz="1300" spc="-5" b="1">
                          <a:solidFill>
                            <a:srgbClr val="047857"/>
                          </a:solidFill>
                          <a:latin typeface="Roboto"/>
                          <a:cs typeface="Roboto"/>
                        </a:rPr>
                        <a:t> </a:t>
                      </a:r>
                      <a:r>
                        <a:rPr dirty="0" sz="1300" spc="-50" b="1">
                          <a:solidFill>
                            <a:srgbClr val="047857"/>
                          </a:solidFill>
                          <a:latin typeface="Roboto"/>
                          <a:cs typeface="Roboto"/>
                        </a:rPr>
                        <a:t>s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0" b="1">
                          <a:solidFill>
                            <a:srgbClr val="047857"/>
                          </a:solidFill>
                          <a:latin typeface="Roboto"/>
                          <a:cs typeface="Roboto"/>
                        </a:rPr>
                        <a:t>2.1%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  <a:solidFill>
                      <a:srgbClr val="EFF5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dirty="0" sz="1300" spc="-20" b="1">
                          <a:solidFill>
                            <a:srgbClr val="047857"/>
                          </a:solidFill>
                          <a:latin typeface="Roboto"/>
                          <a:cs typeface="Roboto"/>
                        </a:rPr>
                        <a:t>1.6%</a:t>
                      </a:r>
                      <a:endParaRPr sz="1300">
                        <a:latin typeface="Roboto"/>
                        <a:cs typeface="Roboto"/>
                      </a:endParaRPr>
                    </a:p>
                  </a:txBody>
                  <a:tcPr marL="0" marR="0" marB="0" marT="77470">
                    <a:lnL w="9525">
                      <a:solidFill>
                        <a:srgbClr val="3B81F5"/>
                      </a:solidFill>
                      <a:prstDash val="solid"/>
                    </a:lnL>
                    <a:lnR w="9525">
                      <a:solidFill>
                        <a:srgbClr val="3B81F5"/>
                      </a:solidFill>
                      <a:prstDash val="solid"/>
                    </a:lnR>
                    <a:lnT w="9525">
                      <a:solidFill>
                        <a:srgbClr val="3B81F5"/>
                      </a:solidFill>
                      <a:prstDash val="solid"/>
                    </a:lnT>
                    <a:lnB w="9525">
                      <a:solidFill>
                        <a:srgbClr val="3B81F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object 31" descr=""/>
          <p:cNvSpPr txBox="1"/>
          <p:nvPr/>
        </p:nvSpPr>
        <p:spPr>
          <a:xfrm>
            <a:off x="10833000" y="6483349"/>
            <a:ext cx="106680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object 3" descr=""/>
            <p:cNvSpPr/>
            <p:nvPr/>
          </p:nvSpPr>
          <p:spPr>
            <a:xfrm>
              <a:off x="4705349" y="5095875"/>
              <a:ext cx="2781300" cy="990600"/>
            </a:xfrm>
            <a:custGeom>
              <a:avLst/>
              <a:gdLst/>
              <a:ahLst/>
              <a:cxnLst/>
              <a:rect l="l" t="t" r="r" b="b"/>
              <a:pathLst>
                <a:path w="2781300" h="990600">
                  <a:moveTo>
                    <a:pt x="2719001" y="990598"/>
                  </a:moveTo>
                  <a:lnTo>
                    <a:pt x="62296" y="990598"/>
                  </a:lnTo>
                  <a:lnTo>
                    <a:pt x="57960" y="990172"/>
                  </a:lnTo>
                  <a:lnTo>
                    <a:pt x="22623" y="974166"/>
                  </a:lnTo>
                  <a:lnTo>
                    <a:pt x="2134" y="941224"/>
                  </a:lnTo>
                  <a:lnTo>
                    <a:pt x="0" y="928302"/>
                  </a:lnTo>
                  <a:lnTo>
                    <a:pt x="0" y="923924"/>
                  </a:lnTo>
                  <a:lnTo>
                    <a:pt x="0" y="62296"/>
                  </a:lnTo>
                  <a:lnTo>
                    <a:pt x="13668" y="25990"/>
                  </a:lnTo>
                  <a:lnTo>
                    <a:pt x="45203" y="3399"/>
                  </a:lnTo>
                  <a:lnTo>
                    <a:pt x="62296" y="0"/>
                  </a:lnTo>
                  <a:lnTo>
                    <a:pt x="2719001" y="0"/>
                  </a:lnTo>
                  <a:lnTo>
                    <a:pt x="2755306" y="13667"/>
                  </a:lnTo>
                  <a:lnTo>
                    <a:pt x="2777898" y="45203"/>
                  </a:lnTo>
                  <a:lnTo>
                    <a:pt x="2781299" y="62296"/>
                  </a:lnTo>
                  <a:lnTo>
                    <a:pt x="2781299" y="928302"/>
                  </a:lnTo>
                  <a:lnTo>
                    <a:pt x="2767629" y="964606"/>
                  </a:lnTo>
                  <a:lnTo>
                    <a:pt x="2736094" y="987199"/>
                  </a:lnTo>
                  <a:lnTo>
                    <a:pt x="2723337" y="990172"/>
                  </a:lnTo>
                  <a:lnTo>
                    <a:pt x="2719001" y="990598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705349" y="5095874"/>
              <a:ext cx="2781300" cy="990600"/>
            </a:xfrm>
            <a:custGeom>
              <a:avLst/>
              <a:gdLst/>
              <a:ahLst/>
              <a:cxnLst/>
              <a:rect l="l" t="t" r="r" b="b"/>
              <a:pathLst>
                <a:path w="2781300" h="990600">
                  <a:moveTo>
                    <a:pt x="0" y="923924"/>
                  </a:moveTo>
                  <a:lnTo>
                    <a:pt x="0" y="66674"/>
                  </a:lnTo>
                  <a:lnTo>
                    <a:pt x="0" y="62296"/>
                  </a:lnTo>
                  <a:lnTo>
                    <a:pt x="427" y="57960"/>
                  </a:lnTo>
                  <a:lnTo>
                    <a:pt x="1280" y="53667"/>
                  </a:lnTo>
                  <a:lnTo>
                    <a:pt x="2134" y="49373"/>
                  </a:lnTo>
                  <a:lnTo>
                    <a:pt x="3399" y="45203"/>
                  </a:lnTo>
                  <a:lnTo>
                    <a:pt x="5074" y="41159"/>
                  </a:lnTo>
                  <a:lnTo>
                    <a:pt x="6749" y="37113"/>
                  </a:lnTo>
                  <a:lnTo>
                    <a:pt x="8803" y="33271"/>
                  </a:lnTo>
                  <a:lnTo>
                    <a:pt x="11235" y="29631"/>
                  </a:lnTo>
                  <a:lnTo>
                    <a:pt x="13668" y="25991"/>
                  </a:lnTo>
                  <a:lnTo>
                    <a:pt x="16432" y="22624"/>
                  </a:lnTo>
                  <a:lnTo>
                    <a:pt x="19528" y="19528"/>
                  </a:lnTo>
                  <a:lnTo>
                    <a:pt x="22623" y="16432"/>
                  </a:lnTo>
                  <a:lnTo>
                    <a:pt x="53667" y="1281"/>
                  </a:lnTo>
                  <a:lnTo>
                    <a:pt x="57960" y="427"/>
                  </a:lnTo>
                  <a:lnTo>
                    <a:pt x="62296" y="0"/>
                  </a:lnTo>
                  <a:lnTo>
                    <a:pt x="66674" y="0"/>
                  </a:lnTo>
                  <a:lnTo>
                    <a:pt x="2714624" y="0"/>
                  </a:lnTo>
                  <a:lnTo>
                    <a:pt x="2751666" y="11235"/>
                  </a:lnTo>
                  <a:lnTo>
                    <a:pt x="2770061" y="29631"/>
                  </a:lnTo>
                  <a:lnTo>
                    <a:pt x="2772493" y="33271"/>
                  </a:lnTo>
                  <a:lnTo>
                    <a:pt x="2780017" y="53667"/>
                  </a:lnTo>
                  <a:lnTo>
                    <a:pt x="2780872" y="57960"/>
                  </a:lnTo>
                  <a:lnTo>
                    <a:pt x="2781299" y="62296"/>
                  </a:lnTo>
                  <a:lnTo>
                    <a:pt x="2781299" y="66674"/>
                  </a:lnTo>
                  <a:lnTo>
                    <a:pt x="2781299" y="923924"/>
                  </a:lnTo>
                  <a:lnTo>
                    <a:pt x="2781299" y="928303"/>
                  </a:lnTo>
                  <a:lnTo>
                    <a:pt x="2780872" y="932638"/>
                  </a:lnTo>
                  <a:lnTo>
                    <a:pt x="2780017" y="936931"/>
                  </a:lnTo>
                  <a:lnTo>
                    <a:pt x="2779163" y="941224"/>
                  </a:lnTo>
                  <a:lnTo>
                    <a:pt x="2758674" y="974166"/>
                  </a:lnTo>
                  <a:lnTo>
                    <a:pt x="2751666" y="979362"/>
                  </a:lnTo>
                  <a:lnTo>
                    <a:pt x="2748026" y="981794"/>
                  </a:lnTo>
                  <a:lnTo>
                    <a:pt x="2714624" y="990599"/>
                  </a:lnTo>
                  <a:lnTo>
                    <a:pt x="66674" y="990599"/>
                  </a:lnTo>
                  <a:lnTo>
                    <a:pt x="62296" y="990599"/>
                  </a:lnTo>
                  <a:lnTo>
                    <a:pt x="57960" y="990172"/>
                  </a:lnTo>
                  <a:lnTo>
                    <a:pt x="53667" y="989318"/>
                  </a:lnTo>
                  <a:lnTo>
                    <a:pt x="49372" y="988464"/>
                  </a:lnTo>
                  <a:lnTo>
                    <a:pt x="19528" y="971070"/>
                  </a:lnTo>
                  <a:lnTo>
                    <a:pt x="16432" y="967975"/>
                  </a:lnTo>
                  <a:lnTo>
                    <a:pt x="5074" y="949439"/>
                  </a:lnTo>
                  <a:lnTo>
                    <a:pt x="3399" y="945394"/>
                  </a:lnTo>
                  <a:lnTo>
                    <a:pt x="2134" y="941224"/>
                  </a:lnTo>
                  <a:lnTo>
                    <a:pt x="1280" y="936931"/>
                  </a:lnTo>
                  <a:lnTo>
                    <a:pt x="427" y="932638"/>
                  </a:lnTo>
                  <a:lnTo>
                    <a:pt x="0" y="928303"/>
                  </a:lnTo>
                  <a:lnTo>
                    <a:pt x="0" y="923924"/>
                  </a:lnTo>
                  <a:close/>
                </a:path>
              </a:pathLst>
            </a:custGeom>
            <a:ln w="19049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"/>
          <p:cNvSpPr txBox="1"/>
          <p:nvPr/>
        </p:nvSpPr>
        <p:spPr>
          <a:xfrm>
            <a:off x="5363120" y="5184269"/>
            <a:ext cx="1466215" cy="40703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155" b="1">
                <a:solidFill>
                  <a:srgbClr val="1C4ED8"/>
                </a:solidFill>
                <a:latin typeface="Roboto"/>
                <a:cs typeface="Roboto"/>
              </a:rPr>
              <a:t>Thank</a:t>
            </a:r>
            <a:r>
              <a:rPr dirty="0" sz="2500" spc="-35" b="1">
                <a:solidFill>
                  <a:srgbClr val="1C4ED8"/>
                </a:solidFill>
                <a:latin typeface="Roboto"/>
                <a:cs typeface="Roboto"/>
              </a:rPr>
              <a:t> </a:t>
            </a:r>
            <a:r>
              <a:rPr dirty="0" sz="2500" spc="-130" b="1">
                <a:solidFill>
                  <a:srgbClr val="1C4ED8"/>
                </a:solidFill>
                <a:latin typeface="Roboto"/>
                <a:cs typeface="Roboto"/>
              </a:rPr>
              <a:t>You!</a:t>
            </a:r>
            <a:endParaRPr sz="25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083026" y="5649186"/>
            <a:ext cx="2026285" cy="27241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600" spc="-60">
                <a:solidFill>
                  <a:srgbClr val="1D3A8A"/>
                </a:solidFill>
                <a:latin typeface="Roboto"/>
                <a:cs typeface="Roboto"/>
              </a:rPr>
              <a:t>Questions</a:t>
            </a:r>
            <a:r>
              <a:rPr dirty="0" sz="1600" spc="-30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00">
                <a:solidFill>
                  <a:srgbClr val="1D3A8A"/>
                </a:solidFill>
                <a:latin typeface="Roboto"/>
                <a:cs typeface="Roboto"/>
              </a:rPr>
              <a:t>&amp;</a:t>
            </a:r>
            <a:r>
              <a:rPr dirty="0" sz="1600" spc="-30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00" spc="-50">
                <a:solidFill>
                  <a:srgbClr val="1D3A8A"/>
                </a:solidFill>
                <a:latin typeface="Roboto"/>
                <a:cs typeface="Roboto"/>
              </a:rPr>
              <a:t>Discussion</a:t>
            </a:r>
            <a:endParaRPr sz="1600">
              <a:latin typeface="Roboto"/>
              <a:cs typeface="Roboto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85737" y="1714499"/>
              <a:ext cx="952500" cy="2857500"/>
            </a:xfrm>
            <a:custGeom>
              <a:avLst/>
              <a:gdLst/>
              <a:ahLst/>
              <a:cxnLst/>
              <a:rect l="l" t="t" r="r" b="b"/>
              <a:pathLst>
                <a:path w="952500" h="2857500">
                  <a:moveTo>
                    <a:pt x="952500" y="0"/>
                  </a:moveTo>
                  <a:lnTo>
                    <a:pt x="28575" y="0"/>
                  </a:lnTo>
                  <a:lnTo>
                    <a:pt x="0" y="0"/>
                  </a:lnTo>
                  <a:lnTo>
                    <a:pt x="0" y="28575"/>
                  </a:lnTo>
                  <a:lnTo>
                    <a:pt x="0" y="2857500"/>
                  </a:lnTo>
                  <a:lnTo>
                    <a:pt x="28575" y="2857500"/>
                  </a:lnTo>
                  <a:lnTo>
                    <a:pt x="28575" y="1933575"/>
                  </a:lnTo>
                  <a:lnTo>
                    <a:pt x="476250" y="1933575"/>
                  </a:lnTo>
                  <a:lnTo>
                    <a:pt x="476250" y="1905000"/>
                  </a:lnTo>
                  <a:lnTo>
                    <a:pt x="28575" y="1905000"/>
                  </a:lnTo>
                  <a:lnTo>
                    <a:pt x="28575" y="981075"/>
                  </a:lnTo>
                  <a:lnTo>
                    <a:pt x="666750" y="981075"/>
                  </a:lnTo>
                  <a:lnTo>
                    <a:pt x="666750" y="952500"/>
                  </a:lnTo>
                  <a:lnTo>
                    <a:pt x="28575" y="952500"/>
                  </a:lnTo>
                  <a:lnTo>
                    <a:pt x="28575" y="28575"/>
                  </a:lnTo>
                  <a:lnTo>
                    <a:pt x="952500" y="28575"/>
                  </a:lnTo>
                  <a:lnTo>
                    <a:pt x="952500" y="0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1685924"/>
              <a:ext cx="114300" cy="11429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2638424"/>
              <a:ext cx="114300" cy="1142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3590925"/>
              <a:ext cx="114300" cy="11429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7174" y="4543424"/>
              <a:ext cx="114300" cy="114299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619124" y="476249"/>
              <a:ext cx="11001375" cy="533400"/>
            </a:xfrm>
            <a:custGeom>
              <a:avLst/>
              <a:gdLst/>
              <a:ahLst/>
              <a:cxnLst/>
              <a:rect l="l" t="t" r="r" b="b"/>
              <a:pathLst>
                <a:path w="11001375" h="533400">
                  <a:moveTo>
                    <a:pt x="0" y="533399"/>
                  </a:moveTo>
                  <a:lnTo>
                    <a:pt x="11001374" y="533399"/>
                  </a:lnTo>
                  <a:lnTo>
                    <a:pt x="11001374" y="0"/>
                  </a:lnTo>
                  <a:lnTo>
                    <a:pt x="0" y="0"/>
                  </a:lnTo>
                  <a:lnTo>
                    <a:pt x="0" y="5333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71499" y="476249"/>
              <a:ext cx="47625" cy="533400"/>
            </a:xfrm>
            <a:custGeom>
              <a:avLst/>
              <a:gdLst/>
              <a:ahLst/>
              <a:cxnLst/>
              <a:rect l="l" t="t" r="r" b="b"/>
              <a:pathLst>
                <a:path w="47625" h="533400">
                  <a:moveTo>
                    <a:pt x="47624" y="533399"/>
                  </a:moveTo>
                  <a:lnTo>
                    <a:pt x="0" y="533399"/>
                  </a:lnTo>
                  <a:lnTo>
                    <a:pt x="0" y="0"/>
                  </a:lnTo>
                  <a:lnTo>
                    <a:pt x="47624" y="0"/>
                  </a:lnTo>
                  <a:lnTo>
                    <a:pt x="47624" y="5333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250190">
              <a:lnSpc>
                <a:spcPct val="100000"/>
              </a:lnSpc>
              <a:spcBef>
                <a:spcPts val="120"/>
              </a:spcBef>
            </a:pPr>
            <a:r>
              <a:rPr dirty="0" spc="-120"/>
              <a:t>Future</a:t>
            </a:r>
            <a:r>
              <a:rPr dirty="0" spc="-15"/>
              <a:t> </a:t>
            </a:r>
            <a:r>
              <a:rPr dirty="0" spc="-110"/>
              <a:t>Directions</a:t>
            </a:r>
            <a:r>
              <a:rPr dirty="0" spc="-15"/>
              <a:t> </a:t>
            </a:r>
            <a:r>
              <a:rPr dirty="0" spc="-130"/>
              <a:t>&amp;</a:t>
            </a:r>
            <a:r>
              <a:rPr dirty="0" spc="-15"/>
              <a:t> </a:t>
            </a:r>
            <a:r>
              <a:rPr dirty="0" spc="-25"/>
              <a:t>Q&amp;A</a:t>
            </a:r>
          </a:p>
        </p:txBody>
      </p:sp>
      <p:grpSp>
        <p:nvGrpSpPr>
          <p:cNvPr id="17" name="object 17" descr=""/>
          <p:cNvGrpSpPr/>
          <p:nvPr/>
        </p:nvGrpSpPr>
        <p:grpSpPr>
          <a:xfrm>
            <a:off x="571499" y="1295399"/>
            <a:ext cx="11430000" cy="5372100"/>
            <a:chOff x="571499" y="1295399"/>
            <a:chExt cx="11430000" cy="5372100"/>
          </a:xfrm>
        </p:grpSpPr>
        <p:sp>
          <p:nvSpPr>
            <p:cNvPr id="18" name="object 18" descr=""/>
            <p:cNvSpPr/>
            <p:nvPr/>
          </p:nvSpPr>
          <p:spPr>
            <a:xfrm>
              <a:off x="571499" y="12953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7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6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8174" y="1383241"/>
              <a:ext cx="209549" cy="162983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71499" y="22478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59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2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7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7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3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699" y="2324099"/>
              <a:ext cx="190499" cy="190499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571499" y="32003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5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5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5"/>
                  </a:lnTo>
                  <a:lnTo>
                    <a:pt x="171449" y="0"/>
                  </a:lnTo>
                  <a:lnTo>
                    <a:pt x="179872" y="205"/>
                  </a:lnTo>
                  <a:lnTo>
                    <a:pt x="221219" y="7380"/>
                  </a:lnTo>
                  <a:lnTo>
                    <a:pt x="259584" y="24385"/>
                  </a:lnTo>
                  <a:lnTo>
                    <a:pt x="292683" y="50216"/>
                  </a:lnTo>
                  <a:lnTo>
                    <a:pt x="318513" y="83315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2"/>
                  </a:lnTo>
                  <a:lnTo>
                    <a:pt x="259584" y="318513"/>
                  </a:lnTo>
                  <a:lnTo>
                    <a:pt x="221219" y="335519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1738" y="3276599"/>
              <a:ext cx="231985" cy="190499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571499" y="4152899"/>
              <a:ext cx="342900" cy="342900"/>
            </a:xfrm>
            <a:custGeom>
              <a:avLst/>
              <a:gdLst/>
              <a:ahLst/>
              <a:cxnLst/>
              <a:rect l="l" t="t" r="r" b="b"/>
              <a:pathLst>
                <a:path w="342900" h="342900">
                  <a:moveTo>
                    <a:pt x="171449" y="342899"/>
                  </a:moveTo>
                  <a:lnTo>
                    <a:pt x="129780" y="337760"/>
                  </a:lnTo>
                  <a:lnTo>
                    <a:pt x="90627" y="322656"/>
                  </a:lnTo>
                  <a:lnTo>
                    <a:pt x="56317" y="298493"/>
                  </a:lnTo>
                  <a:lnTo>
                    <a:pt x="28894" y="266701"/>
                  </a:lnTo>
                  <a:lnTo>
                    <a:pt x="10017" y="229200"/>
                  </a:lnTo>
                  <a:lnTo>
                    <a:pt x="823" y="188254"/>
                  </a:lnTo>
                  <a:lnTo>
                    <a:pt x="0" y="171449"/>
                  </a:lnTo>
                  <a:lnTo>
                    <a:pt x="205" y="163026"/>
                  </a:lnTo>
                  <a:lnTo>
                    <a:pt x="7380" y="121679"/>
                  </a:lnTo>
                  <a:lnTo>
                    <a:pt x="24386" y="83314"/>
                  </a:lnTo>
                  <a:lnTo>
                    <a:pt x="50216" y="50216"/>
                  </a:lnTo>
                  <a:lnTo>
                    <a:pt x="83315" y="24385"/>
                  </a:lnTo>
                  <a:lnTo>
                    <a:pt x="121680" y="7380"/>
                  </a:lnTo>
                  <a:lnTo>
                    <a:pt x="163027" y="206"/>
                  </a:lnTo>
                  <a:lnTo>
                    <a:pt x="171449" y="0"/>
                  </a:lnTo>
                  <a:lnTo>
                    <a:pt x="179872" y="206"/>
                  </a:lnTo>
                  <a:lnTo>
                    <a:pt x="221219" y="7380"/>
                  </a:lnTo>
                  <a:lnTo>
                    <a:pt x="259584" y="24386"/>
                  </a:lnTo>
                  <a:lnTo>
                    <a:pt x="292683" y="50216"/>
                  </a:lnTo>
                  <a:lnTo>
                    <a:pt x="318513" y="83314"/>
                  </a:lnTo>
                  <a:lnTo>
                    <a:pt x="335519" y="121679"/>
                  </a:lnTo>
                  <a:lnTo>
                    <a:pt x="342694" y="163026"/>
                  </a:lnTo>
                  <a:lnTo>
                    <a:pt x="342899" y="171449"/>
                  </a:lnTo>
                  <a:lnTo>
                    <a:pt x="342694" y="179872"/>
                  </a:lnTo>
                  <a:lnTo>
                    <a:pt x="335519" y="221219"/>
                  </a:lnTo>
                  <a:lnTo>
                    <a:pt x="318513" y="259584"/>
                  </a:lnTo>
                  <a:lnTo>
                    <a:pt x="292683" y="292683"/>
                  </a:lnTo>
                  <a:lnTo>
                    <a:pt x="259584" y="318513"/>
                  </a:lnTo>
                  <a:lnTo>
                    <a:pt x="221219" y="335518"/>
                  </a:lnTo>
                  <a:lnTo>
                    <a:pt x="179872" y="342694"/>
                  </a:lnTo>
                  <a:lnTo>
                    <a:pt x="171449" y="342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53653" y="4229099"/>
              <a:ext cx="178593" cy="190202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1054100" y="1202332"/>
            <a:ext cx="6503670" cy="3692525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5"/>
              </a:spcBef>
            </a:pPr>
            <a:r>
              <a:rPr dirty="0" sz="1650" spc="-80" b="1">
                <a:solidFill>
                  <a:srgbClr val="1D3A8A"/>
                </a:solidFill>
                <a:latin typeface="Roboto"/>
                <a:cs typeface="Roboto"/>
              </a:rPr>
              <a:t>Hierarchical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14" b="1">
                <a:solidFill>
                  <a:srgbClr val="1D3A8A"/>
                </a:solidFill>
                <a:latin typeface="Roboto"/>
                <a:cs typeface="Roboto"/>
              </a:rPr>
              <a:t>&amp;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75" b="1">
                <a:solidFill>
                  <a:srgbClr val="1D3A8A"/>
                </a:solidFill>
                <a:latin typeface="Roboto"/>
                <a:cs typeface="Roboto"/>
              </a:rPr>
              <a:t>Distributed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Control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Systems</a:t>
            </a:r>
            <a:endParaRPr sz="1650">
              <a:latin typeface="Roboto"/>
              <a:cs typeface="Roboto"/>
            </a:endParaRPr>
          </a:p>
          <a:p>
            <a:pPr marL="12700" marR="193040">
              <a:lnSpc>
                <a:spcPct val="115399"/>
              </a:lnSpc>
              <a:spcBef>
                <a:spcPts val="229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Extending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our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framework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hierarchical/distributed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374050"/>
                </a:solidFill>
                <a:latin typeface="Roboto"/>
                <a:cs typeface="Roboto"/>
              </a:rPr>
              <a:t>AGC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architectures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support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large-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scale,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geographically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diverse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systems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with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improved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resilience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scalability.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50" spc="-100" b="1">
                <a:solidFill>
                  <a:srgbClr val="1D3A8A"/>
                </a:solidFill>
                <a:latin typeface="Roboto"/>
                <a:cs typeface="Roboto"/>
              </a:rPr>
              <a:t>Advanced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1D3A8A"/>
                </a:solidFill>
                <a:latin typeface="Roboto"/>
                <a:cs typeface="Roboto"/>
              </a:rPr>
              <a:t>AI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14" b="1">
                <a:solidFill>
                  <a:srgbClr val="1D3A8A"/>
                </a:solidFill>
                <a:latin typeface="Roboto"/>
                <a:cs typeface="Roboto"/>
              </a:rPr>
              <a:t>&amp;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0" b="1">
                <a:solidFill>
                  <a:srgbClr val="1D3A8A"/>
                </a:solidFill>
                <a:latin typeface="Roboto"/>
                <a:cs typeface="Roboto"/>
              </a:rPr>
              <a:t>Deep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85" b="1">
                <a:solidFill>
                  <a:srgbClr val="1D3A8A"/>
                </a:solidFill>
                <a:latin typeface="Roboto"/>
                <a:cs typeface="Roboto"/>
              </a:rPr>
              <a:t>Learning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Integration</a:t>
            </a:r>
            <a:endParaRPr sz="1650">
              <a:latin typeface="Roboto"/>
              <a:cs typeface="Roboto"/>
            </a:endParaRPr>
          </a:p>
          <a:p>
            <a:pPr marL="12700" marR="153670">
              <a:lnSpc>
                <a:spcPct val="115399"/>
              </a:lnSpc>
              <a:spcBef>
                <a:spcPts val="229"/>
              </a:spcBef>
            </a:pP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Incorporating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deep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learning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techniques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for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adaptive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parameter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tuning,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online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state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estimation,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predictive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stability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assessment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further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enhance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performance.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Renewables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14" b="1">
                <a:solidFill>
                  <a:srgbClr val="1D3A8A"/>
                </a:solidFill>
                <a:latin typeface="Roboto"/>
                <a:cs typeface="Roboto"/>
              </a:rPr>
              <a:t>&amp;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95" b="1">
                <a:solidFill>
                  <a:srgbClr val="1D3A8A"/>
                </a:solidFill>
                <a:latin typeface="Roboto"/>
                <a:cs typeface="Roboto"/>
              </a:rPr>
              <a:t>Storage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Integration</a:t>
            </a:r>
            <a:endParaRPr sz="1650">
              <a:latin typeface="Roboto"/>
              <a:cs typeface="Roboto"/>
            </a:endParaRPr>
          </a:p>
          <a:p>
            <a:pPr marL="12700" marR="38100">
              <a:lnSpc>
                <a:spcPct val="115399"/>
              </a:lnSpc>
              <a:spcBef>
                <a:spcPts val="229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Extending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our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control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strategies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to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better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support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high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penetration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of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renewable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energy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74050"/>
                </a:solidFill>
                <a:latin typeface="Roboto"/>
                <a:cs typeface="Roboto"/>
              </a:rPr>
              <a:t>sources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energy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storage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systems,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improving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grid</a:t>
            </a:r>
            <a:r>
              <a:rPr dirty="0" sz="130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flexibility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74050"/>
                </a:solidFill>
                <a:latin typeface="Roboto"/>
                <a:cs typeface="Roboto"/>
              </a:rPr>
              <a:t>inertial</a:t>
            </a:r>
            <a:r>
              <a:rPr dirty="0" sz="1300" spc="-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response.</a:t>
            </a:r>
            <a:endParaRPr sz="13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dirty="0" sz="1650" spc="-90" b="1">
                <a:solidFill>
                  <a:srgbClr val="1D3A8A"/>
                </a:solidFill>
                <a:latin typeface="Roboto"/>
                <a:cs typeface="Roboto"/>
              </a:rPr>
              <a:t>Cyber-</a:t>
            </a:r>
            <a:r>
              <a:rPr dirty="0" sz="1650" spc="-75" b="1">
                <a:solidFill>
                  <a:srgbClr val="1D3A8A"/>
                </a:solidFill>
                <a:latin typeface="Roboto"/>
                <a:cs typeface="Roboto"/>
              </a:rPr>
              <a:t>Physical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75" b="1">
                <a:solidFill>
                  <a:srgbClr val="1D3A8A"/>
                </a:solidFill>
                <a:latin typeface="Roboto"/>
                <a:cs typeface="Roboto"/>
              </a:rPr>
              <a:t>Security</a:t>
            </a:r>
            <a:r>
              <a:rPr dirty="0" sz="1650" spc="-5" b="1">
                <a:solidFill>
                  <a:srgbClr val="1D3A8A"/>
                </a:solidFill>
                <a:latin typeface="Roboto"/>
                <a:cs typeface="Roboto"/>
              </a:rPr>
              <a:t> </a:t>
            </a:r>
            <a:r>
              <a:rPr dirty="0" sz="1650" spc="-10" b="1">
                <a:solidFill>
                  <a:srgbClr val="1D3A8A"/>
                </a:solidFill>
                <a:latin typeface="Roboto"/>
                <a:cs typeface="Roboto"/>
              </a:rPr>
              <a:t>Considerations</a:t>
            </a:r>
            <a:endParaRPr sz="1650">
              <a:latin typeface="Roboto"/>
              <a:cs typeface="Roboto"/>
            </a:endParaRPr>
          </a:p>
          <a:p>
            <a:pPr marL="12700" marR="5080">
              <a:lnSpc>
                <a:spcPct val="115399"/>
              </a:lnSpc>
              <a:spcBef>
                <a:spcPts val="229"/>
              </a:spcBef>
            </a:pP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Developing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robust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74050"/>
                </a:solidFill>
                <a:latin typeface="Roboto"/>
                <a:cs typeface="Roboto"/>
              </a:rPr>
              <a:t>defense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74050"/>
                </a:solidFill>
                <a:latin typeface="Roboto"/>
                <a:cs typeface="Roboto"/>
              </a:rPr>
              <a:t>mechanisms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against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potential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cyber-attacks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targeting</a:t>
            </a:r>
            <a:r>
              <a:rPr dirty="0" sz="1300" spc="1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0">
                <a:solidFill>
                  <a:srgbClr val="374050"/>
                </a:solidFill>
                <a:latin typeface="Roboto"/>
                <a:cs typeface="Roboto"/>
              </a:rPr>
              <a:t>FACTS</a:t>
            </a:r>
            <a:r>
              <a:rPr dirty="0" sz="1300" spc="5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control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systems,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74050"/>
                </a:solidFill>
                <a:latin typeface="Roboto"/>
                <a:cs typeface="Roboto"/>
              </a:rPr>
              <a:t>ensuring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74050"/>
                </a:solidFill>
                <a:latin typeface="Roboto"/>
                <a:cs typeface="Roboto"/>
              </a:rPr>
              <a:t>secure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74050"/>
                </a:solidFill>
                <a:latin typeface="Roboto"/>
                <a:cs typeface="Roboto"/>
              </a:rPr>
              <a:t>and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74050"/>
                </a:solidFill>
                <a:latin typeface="Roboto"/>
                <a:cs typeface="Roboto"/>
              </a:rPr>
              <a:t>resilient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74050"/>
                </a:solidFill>
                <a:latin typeface="Roboto"/>
                <a:cs typeface="Roboto"/>
              </a:rPr>
              <a:t>grid</a:t>
            </a:r>
            <a:r>
              <a:rPr dirty="0" sz="1300" spc="-20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300" spc="-10">
                <a:solidFill>
                  <a:srgbClr val="374050"/>
                </a:solidFill>
                <a:latin typeface="Roboto"/>
                <a:cs typeface="Roboto"/>
              </a:rPr>
              <a:t>operation.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10833000" y="6445249"/>
            <a:ext cx="1066800" cy="13462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2025-06-15T20:23:12Z</dcterms:created>
  <dcterms:modified xsi:type="dcterms:W3CDTF">2025-06-15T20:23:12Z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2025-06-15T00:00:00Z</vt:filetime>
  </property>
</Properties>
</file>