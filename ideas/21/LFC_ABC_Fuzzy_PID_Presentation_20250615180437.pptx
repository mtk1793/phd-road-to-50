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7142"/>
  <p:notesSz cx="12192000" cy="8026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0045A5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975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50"/>
              <a:t>Genspark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0045A5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975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50"/>
              <a:t>Genspark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0045A5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975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50"/>
              <a:t>Genspark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0045A5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975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50"/>
              <a:t>Genspark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975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50"/>
              <a:t>Genspark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152400"/>
          </a:xfrm>
          <a:custGeom>
            <a:avLst/>
            <a:gdLst/>
            <a:ahLst/>
            <a:cxnLst/>
            <a:rect l="l" t="t" r="r" b="b"/>
            <a:pathLst>
              <a:path w="12192000" h="152400">
                <a:moveTo>
                  <a:pt x="12191999" y="152399"/>
                </a:moveTo>
                <a:lnTo>
                  <a:pt x="0" y="1523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152399"/>
                </a:lnTo>
                <a:close/>
              </a:path>
            </a:pathLst>
          </a:custGeom>
          <a:solidFill>
            <a:srgbClr val="0045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1700" y="739298"/>
            <a:ext cx="5614670" cy="4832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0045A5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0833000" y="6445249"/>
            <a:ext cx="1066800" cy="134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975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50"/>
              <a:t>Genspark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6.png"/><Relationship Id="rId6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800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1999" cy="6857999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0" y="0"/>
              <a:ext cx="12192000" cy="152400"/>
            </a:xfrm>
            <a:custGeom>
              <a:avLst/>
              <a:gdLst/>
              <a:ahLst/>
              <a:cxnLst/>
              <a:rect l="l" t="t" r="r" b="b"/>
              <a:pathLst>
                <a:path w="12192000" h="152400">
                  <a:moveTo>
                    <a:pt x="12191999" y="152399"/>
                  </a:moveTo>
                  <a:lnTo>
                    <a:pt x="0" y="1523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152399"/>
                  </a:lnTo>
                  <a:close/>
                </a:path>
              </a:pathLst>
            </a:custGeom>
            <a:solidFill>
              <a:srgbClr val="0045A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49957" y="607949"/>
            <a:ext cx="9692005" cy="1100455"/>
          </a:xfrm>
          <a:prstGeom prst="rect"/>
        </p:spPr>
        <p:txBody>
          <a:bodyPr wrap="square" lIns="0" tIns="82550" rIns="0" bIns="0" rtlCol="0" vert="horz">
            <a:spAutoFit/>
          </a:bodyPr>
          <a:lstStyle/>
          <a:p>
            <a:pPr marL="1212850" marR="5080" indent="-1200785">
              <a:lnSpc>
                <a:spcPts val="3979"/>
              </a:lnSpc>
              <a:spcBef>
                <a:spcPts val="650"/>
              </a:spcBef>
            </a:pPr>
            <a:r>
              <a:rPr dirty="0" sz="3700" spc="-215"/>
              <a:t>Load</a:t>
            </a:r>
            <a:r>
              <a:rPr dirty="0" sz="3700" spc="-45"/>
              <a:t> </a:t>
            </a:r>
            <a:r>
              <a:rPr dirty="0" sz="3700" spc="-215"/>
              <a:t>Frequency</a:t>
            </a:r>
            <a:r>
              <a:rPr dirty="0" sz="3700" spc="-45"/>
              <a:t> </a:t>
            </a:r>
            <a:r>
              <a:rPr dirty="0" sz="3700" spc="-195"/>
              <a:t>Control</a:t>
            </a:r>
            <a:r>
              <a:rPr dirty="0" sz="3700" spc="-40"/>
              <a:t> </a:t>
            </a:r>
            <a:r>
              <a:rPr dirty="0" sz="3700" spc="-155"/>
              <a:t>in</a:t>
            </a:r>
            <a:r>
              <a:rPr dirty="0" sz="3700" spc="-135"/>
              <a:t> </a:t>
            </a:r>
            <a:r>
              <a:rPr dirty="0" sz="3700" spc="-240"/>
              <a:t>Two-</a:t>
            </a:r>
            <a:r>
              <a:rPr dirty="0" sz="3700" spc="-215"/>
              <a:t>Area</a:t>
            </a:r>
            <a:r>
              <a:rPr dirty="0" sz="3700" spc="-40"/>
              <a:t> </a:t>
            </a:r>
            <a:r>
              <a:rPr dirty="0" sz="3700" spc="-215"/>
              <a:t>Systems</a:t>
            </a:r>
            <a:r>
              <a:rPr dirty="0" sz="3700" spc="-45"/>
              <a:t> </a:t>
            </a:r>
            <a:r>
              <a:rPr dirty="0" sz="3700" spc="-20"/>
              <a:t>with </a:t>
            </a:r>
            <a:r>
              <a:rPr dirty="0" sz="3700" spc="-225"/>
              <a:t>ABC-</a:t>
            </a:r>
            <a:r>
              <a:rPr dirty="0" sz="3700" spc="-200"/>
              <a:t>Optimized</a:t>
            </a:r>
            <a:r>
              <a:rPr dirty="0" sz="3700" spc="-5"/>
              <a:t> </a:t>
            </a:r>
            <a:r>
              <a:rPr dirty="0" sz="3700" spc="-195"/>
              <a:t>Fuzzy-</a:t>
            </a:r>
            <a:r>
              <a:rPr dirty="0" sz="3700" spc="-204"/>
              <a:t>PID</a:t>
            </a:r>
            <a:r>
              <a:rPr dirty="0" sz="3700" spc="-5"/>
              <a:t> </a:t>
            </a:r>
            <a:r>
              <a:rPr dirty="0" sz="3700" spc="-60"/>
              <a:t>Controllers</a:t>
            </a:r>
            <a:endParaRPr sz="3700"/>
          </a:p>
        </p:txBody>
      </p:sp>
      <p:sp>
        <p:nvSpPr>
          <p:cNvPr id="7" name="object 7" descr=""/>
          <p:cNvSpPr txBox="1"/>
          <p:nvPr/>
        </p:nvSpPr>
        <p:spPr>
          <a:xfrm>
            <a:off x="2125811" y="1920494"/>
            <a:ext cx="794067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50" b="0">
                <a:solidFill>
                  <a:srgbClr val="333333"/>
                </a:solidFill>
                <a:latin typeface="Roboto Medium"/>
                <a:cs typeface="Roboto Medium"/>
              </a:rPr>
              <a:t>Enhanced</a:t>
            </a:r>
            <a:r>
              <a:rPr dirty="0" sz="2400" spc="-10" b="0">
                <a:solidFill>
                  <a:srgbClr val="333333"/>
                </a:solidFill>
                <a:latin typeface="Roboto Medium"/>
                <a:cs typeface="Roboto Medium"/>
              </a:rPr>
              <a:t> </a:t>
            </a:r>
            <a:r>
              <a:rPr dirty="0" sz="2400" spc="-114" b="0">
                <a:solidFill>
                  <a:srgbClr val="333333"/>
                </a:solidFill>
                <a:latin typeface="Roboto Medium"/>
                <a:cs typeface="Roboto Medium"/>
              </a:rPr>
              <a:t>Stability</a:t>
            </a:r>
            <a:r>
              <a:rPr dirty="0" sz="2400" spc="-10" b="0">
                <a:solidFill>
                  <a:srgbClr val="333333"/>
                </a:solidFill>
                <a:latin typeface="Roboto Medium"/>
                <a:cs typeface="Roboto Medium"/>
              </a:rPr>
              <a:t> </a:t>
            </a:r>
            <a:r>
              <a:rPr dirty="0" sz="2400" spc="-114" b="0">
                <a:solidFill>
                  <a:srgbClr val="333333"/>
                </a:solidFill>
                <a:latin typeface="Roboto Medium"/>
                <a:cs typeface="Roboto Medium"/>
              </a:rPr>
              <a:t>for</a:t>
            </a:r>
            <a:r>
              <a:rPr dirty="0" sz="2400" spc="-10" b="0">
                <a:solidFill>
                  <a:srgbClr val="333333"/>
                </a:solidFill>
                <a:latin typeface="Roboto Medium"/>
                <a:cs typeface="Roboto Medium"/>
              </a:rPr>
              <a:t> </a:t>
            </a:r>
            <a:r>
              <a:rPr dirty="0" sz="2400" spc="-150" b="0">
                <a:solidFill>
                  <a:srgbClr val="333333"/>
                </a:solidFill>
                <a:latin typeface="Roboto Medium"/>
                <a:cs typeface="Roboto Medium"/>
              </a:rPr>
              <a:t>Renewable</a:t>
            </a:r>
            <a:r>
              <a:rPr dirty="0" sz="2400" spc="-10" b="0">
                <a:solidFill>
                  <a:srgbClr val="333333"/>
                </a:solidFill>
                <a:latin typeface="Roboto Medium"/>
                <a:cs typeface="Roboto Medium"/>
              </a:rPr>
              <a:t> </a:t>
            </a:r>
            <a:r>
              <a:rPr dirty="0" sz="2400" spc="-130" b="0">
                <a:solidFill>
                  <a:srgbClr val="333333"/>
                </a:solidFill>
                <a:latin typeface="Roboto Medium"/>
                <a:cs typeface="Roboto Medium"/>
              </a:rPr>
              <a:t>Energy-</a:t>
            </a:r>
            <a:r>
              <a:rPr dirty="0" sz="2400" spc="-125" b="0">
                <a:solidFill>
                  <a:srgbClr val="333333"/>
                </a:solidFill>
                <a:latin typeface="Roboto Medium"/>
                <a:cs typeface="Roboto Medium"/>
              </a:rPr>
              <a:t>Integrated</a:t>
            </a:r>
            <a:r>
              <a:rPr dirty="0" sz="2400" spc="-10" b="0">
                <a:solidFill>
                  <a:srgbClr val="333333"/>
                </a:solidFill>
                <a:latin typeface="Roboto Medium"/>
                <a:cs typeface="Roboto Medium"/>
              </a:rPr>
              <a:t> </a:t>
            </a:r>
            <a:r>
              <a:rPr dirty="0" sz="2400" spc="-160" b="0">
                <a:solidFill>
                  <a:srgbClr val="333333"/>
                </a:solidFill>
                <a:latin typeface="Roboto Medium"/>
                <a:cs typeface="Roboto Medium"/>
              </a:rPr>
              <a:t>Power</a:t>
            </a:r>
            <a:r>
              <a:rPr dirty="0" sz="2400" spc="-10" b="0">
                <a:solidFill>
                  <a:srgbClr val="333333"/>
                </a:solidFill>
                <a:latin typeface="Roboto Medium"/>
                <a:cs typeface="Roboto Medium"/>
              </a:rPr>
              <a:t> </a:t>
            </a:r>
            <a:r>
              <a:rPr dirty="0" sz="2400" spc="-25" b="0">
                <a:solidFill>
                  <a:srgbClr val="333333"/>
                </a:solidFill>
                <a:latin typeface="Roboto Medium"/>
                <a:cs typeface="Roboto Medium"/>
              </a:rPr>
              <a:t>Grids</a:t>
            </a:r>
            <a:endParaRPr sz="2400">
              <a:latin typeface="Roboto Medium"/>
              <a:cs typeface="Roboto Medium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520455" y="5112778"/>
            <a:ext cx="3151505" cy="1063625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dirty="0" sz="1650" spc="-75">
                <a:latin typeface="Roboto"/>
                <a:cs typeface="Roboto"/>
              </a:rPr>
              <a:t>Presenter:</a:t>
            </a:r>
            <a:r>
              <a:rPr dirty="0" sz="1650" spc="-25">
                <a:latin typeface="Roboto"/>
                <a:cs typeface="Roboto"/>
              </a:rPr>
              <a:t> </a:t>
            </a:r>
            <a:r>
              <a:rPr dirty="0" sz="1650" spc="-90">
                <a:latin typeface="Roboto"/>
                <a:cs typeface="Roboto"/>
              </a:rPr>
              <a:t>[Your</a:t>
            </a:r>
            <a:r>
              <a:rPr dirty="0" sz="1650" spc="-20">
                <a:latin typeface="Roboto"/>
                <a:cs typeface="Roboto"/>
              </a:rPr>
              <a:t> Name]</a:t>
            </a:r>
            <a:endParaRPr sz="1650">
              <a:latin typeface="Roboto"/>
              <a:cs typeface="Roboto"/>
            </a:endParaRPr>
          </a:p>
          <a:p>
            <a:pPr algn="ctr" marL="12700" marR="5080">
              <a:lnSpc>
                <a:spcPts val="2700"/>
              </a:lnSpc>
            </a:pPr>
            <a:r>
              <a:rPr dirty="0" sz="1500" spc="-70">
                <a:latin typeface="Roboto"/>
                <a:cs typeface="Roboto"/>
              </a:rPr>
              <a:t>Affiliation:</a:t>
            </a:r>
            <a:r>
              <a:rPr dirty="0" sz="1500" spc="-20">
                <a:latin typeface="Roboto"/>
                <a:cs typeface="Roboto"/>
              </a:rPr>
              <a:t> </a:t>
            </a:r>
            <a:r>
              <a:rPr dirty="0" sz="1500" spc="-95">
                <a:latin typeface="Roboto"/>
                <a:cs typeface="Roboto"/>
              </a:rPr>
              <a:t>[Your</a:t>
            </a:r>
            <a:r>
              <a:rPr dirty="0" sz="1500" spc="-15">
                <a:latin typeface="Roboto"/>
                <a:cs typeface="Roboto"/>
              </a:rPr>
              <a:t> </a:t>
            </a:r>
            <a:r>
              <a:rPr dirty="0" sz="1500" spc="-65">
                <a:latin typeface="Roboto"/>
                <a:cs typeface="Roboto"/>
              </a:rPr>
              <a:t>Institute</a:t>
            </a:r>
            <a:r>
              <a:rPr dirty="0" sz="1500" spc="-20">
                <a:latin typeface="Roboto"/>
                <a:cs typeface="Roboto"/>
              </a:rPr>
              <a:t> </a:t>
            </a:r>
            <a:r>
              <a:rPr dirty="0" sz="1500" spc="-80">
                <a:latin typeface="Roboto"/>
                <a:cs typeface="Roboto"/>
              </a:rPr>
              <a:t>or</a:t>
            </a:r>
            <a:r>
              <a:rPr dirty="0" sz="1500" spc="-15">
                <a:latin typeface="Roboto"/>
                <a:cs typeface="Roboto"/>
              </a:rPr>
              <a:t> </a:t>
            </a:r>
            <a:r>
              <a:rPr dirty="0" sz="1500" spc="-70">
                <a:latin typeface="Roboto"/>
                <a:cs typeface="Roboto"/>
              </a:rPr>
              <a:t>Organization] </a:t>
            </a:r>
            <a:r>
              <a:rPr dirty="0" sz="1500" spc="-80">
                <a:latin typeface="Roboto"/>
                <a:cs typeface="Roboto"/>
              </a:rPr>
              <a:t>Date:</a:t>
            </a:r>
            <a:r>
              <a:rPr dirty="0" sz="1500" spc="-15">
                <a:latin typeface="Roboto"/>
                <a:cs typeface="Roboto"/>
              </a:rPr>
              <a:t> </a:t>
            </a:r>
            <a:r>
              <a:rPr dirty="0" sz="1500" spc="-75">
                <a:latin typeface="Roboto"/>
                <a:cs typeface="Roboto"/>
              </a:rPr>
              <a:t>[Presentation</a:t>
            </a:r>
            <a:r>
              <a:rPr dirty="0" sz="1500" spc="-15">
                <a:latin typeface="Roboto"/>
                <a:cs typeface="Roboto"/>
              </a:rPr>
              <a:t> </a:t>
            </a:r>
            <a:r>
              <a:rPr dirty="0" sz="1500" spc="-20">
                <a:latin typeface="Roboto"/>
                <a:cs typeface="Roboto"/>
              </a:rPr>
              <a:t>Date]</a:t>
            </a:r>
            <a:endParaRPr sz="1500">
              <a:latin typeface="Roboto"/>
              <a:cs typeface="Roboto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0" y="400374"/>
            <a:ext cx="12192000" cy="6457950"/>
            <a:chOff x="0" y="400374"/>
            <a:chExt cx="12192000" cy="6457950"/>
          </a:xfrm>
        </p:grpSpPr>
        <p:sp>
          <p:nvSpPr>
            <p:cNvPr id="10" name="object 10" descr=""/>
            <p:cNvSpPr/>
            <p:nvPr/>
          </p:nvSpPr>
          <p:spPr>
            <a:xfrm>
              <a:off x="0" y="400379"/>
              <a:ext cx="12192000" cy="6457950"/>
            </a:xfrm>
            <a:custGeom>
              <a:avLst/>
              <a:gdLst/>
              <a:ahLst/>
              <a:cxnLst/>
              <a:rect l="l" t="t" r="r" b="b"/>
              <a:pathLst>
                <a:path w="12192000" h="6457950">
                  <a:moveTo>
                    <a:pt x="11173295" y="393"/>
                  </a:moveTo>
                  <a:lnTo>
                    <a:pt x="11125187" y="393"/>
                  </a:lnTo>
                  <a:lnTo>
                    <a:pt x="11125187" y="13093"/>
                  </a:lnTo>
                  <a:lnTo>
                    <a:pt x="11125187" y="43573"/>
                  </a:lnTo>
                  <a:lnTo>
                    <a:pt x="11125187" y="56273"/>
                  </a:lnTo>
                  <a:lnTo>
                    <a:pt x="11125187" y="99453"/>
                  </a:lnTo>
                  <a:lnTo>
                    <a:pt x="11141177" y="99453"/>
                  </a:lnTo>
                  <a:lnTo>
                    <a:pt x="11141177" y="56273"/>
                  </a:lnTo>
                  <a:lnTo>
                    <a:pt x="11170056" y="56273"/>
                  </a:lnTo>
                  <a:lnTo>
                    <a:pt x="11170056" y="43573"/>
                  </a:lnTo>
                  <a:lnTo>
                    <a:pt x="11141177" y="43573"/>
                  </a:lnTo>
                  <a:lnTo>
                    <a:pt x="11141177" y="13093"/>
                  </a:lnTo>
                  <a:lnTo>
                    <a:pt x="11173295" y="13093"/>
                  </a:lnTo>
                  <a:lnTo>
                    <a:pt x="11173295" y="393"/>
                  </a:lnTo>
                  <a:close/>
                </a:path>
                <a:path w="12192000" h="6457950">
                  <a:moveTo>
                    <a:pt x="11202784" y="0"/>
                  </a:moveTo>
                  <a:lnTo>
                    <a:pt x="11186808" y="0"/>
                  </a:lnTo>
                  <a:lnTo>
                    <a:pt x="11186808" y="99847"/>
                  </a:lnTo>
                  <a:lnTo>
                    <a:pt x="11202784" y="99847"/>
                  </a:lnTo>
                  <a:lnTo>
                    <a:pt x="11202784" y="0"/>
                  </a:lnTo>
                  <a:close/>
                </a:path>
                <a:path w="12192000" h="6457950">
                  <a:moveTo>
                    <a:pt x="11270031" y="393"/>
                  </a:moveTo>
                  <a:lnTo>
                    <a:pt x="11221936" y="393"/>
                  </a:lnTo>
                  <a:lnTo>
                    <a:pt x="11221936" y="13093"/>
                  </a:lnTo>
                  <a:lnTo>
                    <a:pt x="11221936" y="43573"/>
                  </a:lnTo>
                  <a:lnTo>
                    <a:pt x="11221936" y="56273"/>
                  </a:lnTo>
                  <a:lnTo>
                    <a:pt x="11221936" y="86753"/>
                  </a:lnTo>
                  <a:lnTo>
                    <a:pt x="11221936" y="99453"/>
                  </a:lnTo>
                  <a:lnTo>
                    <a:pt x="11270031" y="99453"/>
                  </a:lnTo>
                  <a:lnTo>
                    <a:pt x="11270031" y="86753"/>
                  </a:lnTo>
                  <a:lnTo>
                    <a:pt x="11237913" y="86753"/>
                  </a:lnTo>
                  <a:lnTo>
                    <a:pt x="11237913" y="56273"/>
                  </a:lnTo>
                  <a:lnTo>
                    <a:pt x="11266792" y="56273"/>
                  </a:lnTo>
                  <a:lnTo>
                    <a:pt x="11266792" y="43573"/>
                  </a:lnTo>
                  <a:lnTo>
                    <a:pt x="11237913" y="43573"/>
                  </a:lnTo>
                  <a:lnTo>
                    <a:pt x="11237913" y="13093"/>
                  </a:lnTo>
                  <a:lnTo>
                    <a:pt x="11270031" y="13093"/>
                  </a:lnTo>
                  <a:lnTo>
                    <a:pt x="11270031" y="393"/>
                  </a:lnTo>
                  <a:close/>
                </a:path>
                <a:path w="12192000" h="6457950">
                  <a:moveTo>
                    <a:pt x="11333671" y="393"/>
                  </a:moveTo>
                  <a:lnTo>
                    <a:pt x="11285563" y="393"/>
                  </a:lnTo>
                  <a:lnTo>
                    <a:pt x="11285563" y="13093"/>
                  </a:lnTo>
                  <a:lnTo>
                    <a:pt x="11285563" y="43573"/>
                  </a:lnTo>
                  <a:lnTo>
                    <a:pt x="11285563" y="56273"/>
                  </a:lnTo>
                  <a:lnTo>
                    <a:pt x="11285563" y="86753"/>
                  </a:lnTo>
                  <a:lnTo>
                    <a:pt x="11285563" y="99453"/>
                  </a:lnTo>
                  <a:lnTo>
                    <a:pt x="11333671" y="99453"/>
                  </a:lnTo>
                  <a:lnTo>
                    <a:pt x="11333671" y="86753"/>
                  </a:lnTo>
                  <a:lnTo>
                    <a:pt x="11301552" y="86753"/>
                  </a:lnTo>
                  <a:lnTo>
                    <a:pt x="11301552" y="56273"/>
                  </a:lnTo>
                  <a:lnTo>
                    <a:pt x="11330432" y="56273"/>
                  </a:lnTo>
                  <a:lnTo>
                    <a:pt x="11330432" y="43573"/>
                  </a:lnTo>
                  <a:lnTo>
                    <a:pt x="11301552" y="43573"/>
                  </a:lnTo>
                  <a:lnTo>
                    <a:pt x="11301552" y="13093"/>
                  </a:lnTo>
                  <a:lnTo>
                    <a:pt x="11333671" y="13093"/>
                  </a:lnTo>
                  <a:lnTo>
                    <a:pt x="11333671" y="393"/>
                  </a:lnTo>
                  <a:close/>
                </a:path>
                <a:path w="12192000" h="6457950">
                  <a:moveTo>
                    <a:pt x="11367745" y="0"/>
                  </a:moveTo>
                  <a:lnTo>
                    <a:pt x="11351768" y="0"/>
                  </a:lnTo>
                  <a:lnTo>
                    <a:pt x="11351768" y="99847"/>
                  </a:lnTo>
                  <a:lnTo>
                    <a:pt x="11367745" y="99847"/>
                  </a:lnTo>
                  <a:lnTo>
                    <a:pt x="11367745" y="0"/>
                  </a:lnTo>
                  <a:close/>
                </a:path>
                <a:path w="12192000" h="6457950">
                  <a:moveTo>
                    <a:pt x="12191987" y="6343320"/>
                  </a:moveTo>
                  <a:lnTo>
                    <a:pt x="0" y="6343320"/>
                  </a:lnTo>
                  <a:lnTo>
                    <a:pt x="0" y="6457620"/>
                  </a:lnTo>
                  <a:lnTo>
                    <a:pt x="12191987" y="6457620"/>
                  </a:lnTo>
                  <a:lnTo>
                    <a:pt x="12191987" y="6343320"/>
                  </a:lnTo>
                  <a:close/>
                </a:path>
              </a:pathLst>
            </a:custGeom>
            <a:solidFill>
              <a:srgbClr val="004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362450" y="3495674"/>
              <a:ext cx="3429000" cy="381000"/>
            </a:xfrm>
            <a:custGeom>
              <a:avLst/>
              <a:gdLst/>
              <a:ahLst/>
              <a:cxnLst/>
              <a:rect l="l" t="t" r="r" b="b"/>
              <a:pathLst>
                <a:path w="3429000" h="381000">
                  <a:moveTo>
                    <a:pt x="0" y="190499"/>
                  </a:moveTo>
                  <a:lnTo>
                    <a:pt x="27214" y="139959"/>
                  </a:lnTo>
                  <a:lnTo>
                    <a:pt x="54428" y="97193"/>
                  </a:lnTo>
                  <a:lnTo>
                    <a:pt x="81642" y="62204"/>
                  </a:lnTo>
                  <a:lnTo>
                    <a:pt x="108857" y="34989"/>
                  </a:lnTo>
                  <a:lnTo>
                    <a:pt x="163285" y="3887"/>
                  </a:lnTo>
                  <a:lnTo>
                    <a:pt x="190499" y="0"/>
                  </a:lnTo>
                  <a:lnTo>
                    <a:pt x="217714" y="3887"/>
                  </a:lnTo>
                  <a:lnTo>
                    <a:pt x="272142" y="34989"/>
                  </a:lnTo>
                  <a:lnTo>
                    <a:pt x="299357" y="62204"/>
                  </a:lnTo>
                  <a:lnTo>
                    <a:pt x="326571" y="97193"/>
                  </a:lnTo>
                  <a:lnTo>
                    <a:pt x="353785" y="139959"/>
                  </a:lnTo>
                  <a:lnTo>
                    <a:pt x="380999" y="190499"/>
                  </a:lnTo>
                  <a:lnTo>
                    <a:pt x="408214" y="241040"/>
                  </a:lnTo>
                  <a:lnTo>
                    <a:pt x="435428" y="283806"/>
                  </a:lnTo>
                  <a:lnTo>
                    <a:pt x="462642" y="318795"/>
                  </a:lnTo>
                  <a:lnTo>
                    <a:pt x="489857" y="346010"/>
                  </a:lnTo>
                  <a:lnTo>
                    <a:pt x="544285" y="377112"/>
                  </a:lnTo>
                  <a:lnTo>
                    <a:pt x="571499" y="381000"/>
                  </a:lnTo>
                  <a:lnTo>
                    <a:pt x="598714" y="377112"/>
                  </a:lnTo>
                  <a:lnTo>
                    <a:pt x="653142" y="346010"/>
                  </a:lnTo>
                  <a:lnTo>
                    <a:pt x="680357" y="318795"/>
                  </a:lnTo>
                  <a:lnTo>
                    <a:pt x="707571" y="283806"/>
                  </a:lnTo>
                  <a:lnTo>
                    <a:pt x="734785" y="241040"/>
                  </a:lnTo>
                  <a:lnTo>
                    <a:pt x="761999" y="190499"/>
                  </a:lnTo>
                  <a:lnTo>
                    <a:pt x="789214" y="139959"/>
                  </a:lnTo>
                  <a:lnTo>
                    <a:pt x="816428" y="97193"/>
                  </a:lnTo>
                  <a:lnTo>
                    <a:pt x="843642" y="62204"/>
                  </a:lnTo>
                  <a:lnTo>
                    <a:pt x="870857" y="34989"/>
                  </a:lnTo>
                  <a:lnTo>
                    <a:pt x="925285" y="3887"/>
                  </a:lnTo>
                  <a:lnTo>
                    <a:pt x="952499" y="0"/>
                  </a:lnTo>
                  <a:lnTo>
                    <a:pt x="979714" y="3887"/>
                  </a:lnTo>
                  <a:lnTo>
                    <a:pt x="1034142" y="34989"/>
                  </a:lnTo>
                  <a:lnTo>
                    <a:pt x="1061357" y="62204"/>
                  </a:lnTo>
                  <a:lnTo>
                    <a:pt x="1088571" y="97193"/>
                  </a:lnTo>
                  <a:lnTo>
                    <a:pt x="1115785" y="139959"/>
                  </a:lnTo>
                  <a:lnTo>
                    <a:pt x="1142999" y="190499"/>
                  </a:lnTo>
                  <a:lnTo>
                    <a:pt x="1170214" y="241040"/>
                  </a:lnTo>
                  <a:lnTo>
                    <a:pt x="1197428" y="283806"/>
                  </a:lnTo>
                  <a:lnTo>
                    <a:pt x="1224642" y="318795"/>
                  </a:lnTo>
                  <a:lnTo>
                    <a:pt x="1251857" y="346010"/>
                  </a:lnTo>
                  <a:lnTo>
                    <a:pt x="1306285" y="377112"/>
                  </a:lnTo>
                  <a:lnTo>
                    <a:pt x="1333499" y="381000"/>
                  </a:lnTo>
                  <a:lnTo>
                    <a:pt x="1360714" y="377112"/>
                  </a:lnTo>
                  <a:lnTo>
                    <a:pt x="1415142" y="346010"/>
                  </a:lnTo>
                  <a:lnTo>
                    <a:pt x="1442357" y="318795"/>
                  </a:lnTo>
                  <a:lnTo>
                    <a:pt x="1469571" y="283806"/>
                  </a:lnTo>
                  <a:lnTo>
                    <a:pt x="1496785" y="241040"/>
                  </a:lnTo>
                  <a:lnTo>
                    <a:pt x="1523999" y="190499"/>
                  </a:lnTo>
                  <a:lnTo>
                    <a:pt x="1551214" y="139959"/>
                  </a:lnTo>
                  <a:lnTo>
                    <a:pt x="1578428" y="97193"/>
                  </a:lnTo>
                  <a:lnTo>
                    <a:pt x="1605642" y="62204"/>
                  </a:lnTo>
                  <a:lnTo>
                    <a:pt x="1632857" y="34989"/>
                  </a:lnTo>
                  <a:lnTo>
                    <a:pt x="1687285" y="3887"/>
                  </a:lnTo>
                  <a:lnTo>
                    <a:pt x="1714499" y="0"/>
                  </a:lnTo>
                  <a:lnTo>
                    <a:pt x="1741714" y="3887"/>
                  </a:lnTo>
                  <a:lnTo>
                    <a:pt x="1796142" y="34989"/>
                  </a:lnTo>
                  <a:lnTo>
                    <a:pt x="1823357" y="62204"/>
                  </a:lnTo>
                  <a:lnTo>
                    <a:pt x="1850571" y="97193"/>
                  </a:lnTo>
                  <a:lnTo>
                    <a:pt x="1877785" y="139959"/>
                  </a:lnTo>
                  <a:lnTo>
                    <a:pt x="1904999" y="190499"/>
                  </a:lnTo>
                  <a:lnTo>
                    <a:pt x="1932214" y="241040"/>
                  </a:lnTo>
                  <a:lnTo>
                    <a:pt x="1959428" y="283806"/>
                  </a:lnTo>
                  <a:lnTo>
                    <a:pt x="1986642" y="318795"/>
                  </a:lnTo>
                  <a:lnTo>
                    <a:pt x="2013856" y="346010"/>
                  </a:lnTo>
                  <a:lnTo>
                    <a:pt x="2068285" y="377112"/>
                  </a:lnTo>
                  <a:lnTo>
                    <a:pt x="2095499" y="381000"/>
                  </a:lnTo>
                  <a:lnTo>
                    <a:pt x="2122714" y="377112"/>
                  </a:lnTo>
                  <a:lnTo>
                    <a:pt x="2177142" y="346010"/>
                  </a:lnTo>
                  <a:lnTo>
                    <a:pt x="2204356" y="318795"/>
                  </a:lnTo>
                  <a:lnTo>
                    <a:pt x="2231571" y="283806"/>
                  </a:lnTo>
                  <a:lnTo>
                    <a:pt x="2258785" y="241040"/>
                  </a:lnTo>
                  <a:lnTo>
                    <a:pt x="2285999" y="190499"/>
                  </a:lnTo>
                  <a:lnTo>
                    <a:pt x="2313214" y="139959"/>
                  </a:lnTo>
                  <a:lnTo>
                    <a:pt x="2340428" y="97193"/>
                  </a:lnTo>
                  <a:lnTo>
                    <a:pt x="2367642" y="62204"/>
                  </a:lnTo>
                  <a:lnTo>
                    <a:pt x="2394856" y="34989"/>
                  </a:lnTo>
                  <a:lnTo>
                    <a:pt x="2449285" y="3887"/>
                  </a:lnTo>
                  <a:lnTo>
                    <a:pt x="2476499" y="0"/>
                  </a:lnTo>
                  <a:lnTo>
                    <a:pt x="2503714" y="3887"/>
                  </a:lnTo>
                  <a:lnTo>
                    <a:pt x="2558142" y="34989"/>
                  </a:lnTo>
                  <a:lnTo>
                    <a:pt x="2585356" y="62204"/>
                  </a:lnTo>
                  <a:lnTo>
                    <a:pt x="2612571" y="97193"/>
                  </a:lnTo>
                  <a:lnTo>
                    <a:pt x="2639785" y="139959"/>
                  </a:lnTo>
                  <a:lnTo>
                    <a:pt x="2666999" y="190499"/>
                  </a:lnTo>
                  <a:lnTo>
                    <a:pt x="2694214" y="241040"/>
                  </a:lnTo>
                  <a:lnTo>
                    <a:pt x="2721428" y="283806"/>
                  </a:lnTo>
                  <a:lnTo>
                    <a:pt x="2748642" y="318795"/>
                  </a:lnTo>
                  <a:lnTo>
                    <a:pt x="2775856" y="346010"/>
                  </a:lnTo>
                  <a:lnTo>
                    <a:pt x="2830285" y="377112"/>
                  </a:lnTo>
                  <a:lnTo>
                    <a:pt x="2857499" y="381000"/>
                  </a:lnTo>
                  <a:lnTo>
                    <a:pt x="2884714" y="377112"/>
                  </a:lnTo>
                  <a:lnTo>
                    <a:pt x="2939142" y="346010"/>
                  </a:lnTo>
                  <a:lnTo>
                    <a:pt x="2966356" y="318795"/>
                  </a:lnTo>
                  <a:lnTo>
                    <a:pt x="2993571" y="283806"/>
                  </a:lnTo>
                  <a:lnTo>
                    <a:pt x="3020785" y="241040"/>
                  </a:lnTo>
                  <a:lnTo>
                    <a:pt x="3047999" y="190499"/>
                  </a:lnTo>
                  <a:lnTo>
                    <a:pt x="3075214" y="139959"/>
                  </a:lnTo>
                  <a:lnTo>
                    <a:pt x="3102428" y="97193"/>
                  </a:lnTo>
                  <a:lnTo>
                    <a:pt x="3129642" y="62204"/>
                  </a:lnTo>
                  <a:lnTo>
                    <a:pt x="3156856" y="34989"/>
                  </a:lnTo>
                  <a:lnTo>
                    <a:pt x="3211285" y="3887"/>
                  </a:lnTo>
                  <a:lnTo>
                    <a:pt x="3238499" y="0"/>
                  </a:lnTo>
                  <a:lnTo>
                    <a:pt x="3265714" y="3887"/>
                  </a:lnTo>
                  <a:lnTo>
                    <a:pt x="3320142" y="34989"/>
                  </a:lnTo>
                  <a:lnTo>
                    <a:pt x="3347356" y="62204"/>
                  </a:lnTo>
                  <a:lnTo>
                    <a:pt x="3374571" y="97193"/>
                  </a:lnTo>
                  <a:lnTo>
                    <a:pt x="3401785" y="139959"/>
                  </a:lnTo>
                  <a:lnTo>
                    <a:pt x="3428999" y="190499"/>
                  </a:lnTo>
                </a:path>
              </a:pathLst>
            </a:custGeom>
            <a:ln w="38099">
              <a:solidFill>
                <a:srgbClr val="0045A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345411" y="3476641"/>
              <a:ext cx="3463290" cy="419100"/>
            </a:xfrm>
            <a:custGeom>
              <a:avLst/>
              <a:gdLst/>
              <a:ahLst/>
              <a:cxnLst/>
              <a:rect l="l" t="t" r="r" b="b"/>
              <a:pathLst>
                <a:path w="3463290" h="419100">
                  <a:moveTo>
                    <a:pt x="24122" y="263303"/>
                  </a:moveTo>
                  <a:lnTo>
                    <a:pt x="18087" y="252542"/>
                  </a:lnTo>
                  <a:lnTo>
                    <a:pt x="12055" y="241413"/>
                  </a:lnTo>
                  <a:lnTo>
                    <a:pt x="6025" y="229917"/>
                  </a:lnTo>
                  <a:lnTo>
                    <a:pt x="0" y="218052"/>
                  </a:lnTo>
                  <a:lnTo>
                    <a:pt x="34077" y="201013"/>
                  </a:lnTo>
                  <a:lnTo>
                    <a:pt x="39866" y="212411"/>
                  </a:lnTo>
                  <a:lnTo>
                    <a:pt x="45651" y="223444"/>
                  </a:lnTo>
                  <a:lnTo>
                    <a:pt x="51433" y="234112"/>
                  </a:lnTo>
                  <a:lnTo>
                    <a:pt x="57211" y="244415"/>
                  </a:lnTo>
                  <a:lnTo>
                    <a:pt x="24122" y="263303"/>
                  </a:lnTo>
                  <a:close/>
                </a:path>
                <a:path w="3463290" h="419100">
                  <a:moveTo>
                    <a:pt x="79354" y="344546"/>
                  </a:moveTo>
                  <a:lnTo>
                    <a:pt x="71606" y="335007"/>
                  </a:lnTo>
                  <a:lnTo>
                    <a:pt x="63870" y="324881"/>
                  </a:lnTo>
                  <a:lnTo>
                    <a:pt x="56145" y="314170"/>
                  </a:lnTo>
                  <a:lnTo>
                    <a:pt x="48432" y="302872"/>
                  </a:lnTo>
                  <a:lnTo>
                    <a:pt x="80159" y="281776"/>
                  </a:lnTo>
                  <a:lnTo>
                    <a:pt x="87274" y="292200"/>
                  </a:lnTo>
                  <a:lnTo>
                    <a:pt x="94377" y="302057"/>
                  </a:lnTo>
                  <a:lnTo>
                    <a:pt x="101469" y="311345"/>
                  </a:lnTo>
                  <a:lnTo>
                    <a:pt x="108548" y="320065"/>
                  </a:lnTo>
                  <a:lnTo>
                    <a:pt x="79354" y="344546"/>
                  </a:lnTo>
                  <a:close/>
                </a:path>
                <a:path w="3463290" h="419100">
                  <a:moveTo>
                    <a:pt x="158487" y="408482"/>
                  </a:moveTo>
                  <a:lnTo>
                    <a:pt x="147434" y="403113"/>
                  </a:lnTo>
                  <a:lnTo>
                    <a:pt x="136435" y="396650"/>
                  </a:lnTo>
                  <a:lnTo>
                    <a:pt x="125489" y="389094"/>
                  </a:lnTo>
                  <a:lnTo>
                    <a:pt x="114597" y="380443"/>
                  </a:lnTo>
                  <a:lnTo>
                    <a:pt x="139214" y="351364"/>
                  </a:lnTo>
                  <a:lnTo>
                    <a:pt x="147914" y="358290"/>
                  </a:lnTo>
                  <a:lnTo>
                    <a:pt x="156560" y="364297"/>
                  </a:lnTo>
                  <a:lnTo>
                    <a:pt x="165152" y="369382"/>
                  </a:lnTo>
                  <a:lnTo>
                    <a:pt x="173690" y="373546"/>
                  </a:lnTo>
                  <a:lnTo>
                    <a:pt x="158487" y="408482"/>
                  </a:lnTo>
                  <a:close/>
                </a:path>
                <a:path w="3463290" h="419100">
                  <a:moveTo>
                    <a:pt x="213241" y="418940"/>
                  </a:moveTo>
                  <a:lnTo>
                    <a:pt x="211342" y="380888"/>
                  </a:lnTo>
                  <a:lnTo>
                    <a:pt x="220667" y="379851"/>
                  </a:lnTo>
                  <a:lnTo>
                    <a:pt x="230052" y="377670"/>
                  </a:lnTo>
                  <a:lnTo>
                    <a:pt x="239498" y="374344"/>
                  </a:lnTo>
                  <a:lnTo>
                    <a:pt x="249005" y="369873"/>
                  </a:lnTo>
                  <a:lnTo>
                    <a:pt x="266816" y="403553"/>
                  </a:lnTo>
                  <a:lnTo>
                    <a:pt x="253513" y="409779"/>
                  </a:lnTo>
                  <a:lnTo>
                    <a:pt x="240150" y="414419"/>
                  </a:lnTo>
                  <a:lnTo>
                    <a:pt x="226726" y="417473"/>
                  </a:lnTo>
                  <a:lnTo>
                    <a:pt x="213241" y="418940"/>
                  </a:lnTo>
                  <a:close/>
                </a:path>
                <a:path w="3463290" h="419100">
                  <a:moveTo>
                    <a:pt x="308975" y="372902"/>
                  </a:moveTo>
                  <a:lnTo>
                    <a:pt x="283046" y="344986"/>
                  </a:lnTo>
                  <a:lnTo>
                    <a:pt x="290340" y="337910"/>
                  </a:lnTo>
                  <a:lnTo>
                    <a:pt x="297653" y="330211"/>
                  </a:lnTo>
                  <a:lnTo>
                    <a:pt x="304987" y="321890"/>
                  </a:lnTo>
                  <a:lnTo>
                    <a:pt x="312340" y="312948"/>
                  </a:lnTo>
                  <a:lnTo>
                    <a:pt x="342154" y="336670"/>
                  </a:lnTo>
                  <a:lnTo>
                    <a:pt x="333889" y="346716"/>
                  </a:lnTo>
                  <a:lnTo>
                    <a:pt x="325604" y="356103"/>
                  </a:lnTo>
                  <a:lnTo>
                    <a:pt x="317299" y="364832"/>
                  </a:lnTo>
                  <a:lnTo>
                    <a:pt x="308975" y="372902"/>
                  </a:lnTo>
                  <a:close/>
                </a:path>
                <a:path w="3463290" h="419100">
                  <a:moveTo>
                    <a:pt x="371665" y="295193"/>
                  </a:moveTo>
                  <a:lnTo>
                    <a:pt x="339620" y="274584"/>
                  </a:lnTo>
                  <a:lnTo>
                    <a:pt x="345362" y="265478"/>
                  </a:lnTo>
                  <a:lnTo>
                    <a:pt x="351108" y="256008"/>
                  </a:lnTo>
                  <a:lnTo>
                    <a:pt x="356858" y="246175"/>
                  </a:lnTo>
                  <a:lnTo>
                    <a:pt x="362612" y="235978"/>
                  </a:lnTo>
                  <a:lnTo>
                    <a:pt x="395931" y="254457"/>
                  </a:lnTo>
                  <a:lnTo>
                    <a:pt x="389871" y="265195"/>
                  </a:lnTo>
                  <a:lnTo>
                    <a:pt x="383807" y="275563"/>
                  </a:lnTo>
                  <a:lnTo>
                    <a:pt x="377738" y="285562"/>
                  </a:lnTo>
                  <a:lnTo>
                    <a:pt x="371665" y="295193"/>
                  </a:lnTo>
                  <a:close/>
                </a:path>
                <a:path w="3463290" h="419100">
                  <a:moveTo>
                    <a:pt x="419849" y="208630"/>
                  </a:moveTo>
                  <a:lnTo>
                    <a:pt x="385951" y="191237"/>
                  </a:lnTo>
                  <a:lnTo>
                    <a:pt x="391985" y="179665"/>
                  </a:lnTo>
                  <a:lnTo>
                    <a:pt x="398022" y="168461"/>
                  </a:lnTo>
                  <a:lnTo>
                    <a:pt x="404063" y="157625"/>
                  </a:lnTo>
                  <a:lnTo>
                    <a:pt x="410107" y="147158"/>
                  </a:lnTo>
                  <a:lnTo>
                    <a:pt x="442951" y="166468"/>
                  </a:lnTo>
                  <a:lnTo>
                    <a:pt x="437181" y="176461"/>
                  </a:lnTo>
                  <a:lnTo>
                    <a:pt x="431407" y="186820"/>
                  </a:lnTo>
                  <a:lnTo>
                    <a:pt x="425630" y="197542"/>
                  </a:lnTo>
                  <a:lnTo>
                    <a:pt x="419849" y="208630"/>
                  </a:lnTo>
                  <a:close/>
                </a:path>
                <a:path w="3463290" h="419100">
                  <a:moveTo>
                    <a:pt x="466971" y="128732"/>
                  </a:moveTo>
                  <a:lnTo>
                    <a:pt x="435673" y="107006"/>
                  </a:lnTo>
                  <a:lnTo>
                    <a:pt x="443439" y="96123"/>
                  </a:lnTo>
                  <a:lnTo>
                    <a:pt x="451218" y="85831"/>
                  </a:lnTo>
                  <a:lnTo>
                    <a:pt x="459011" y="76130"/>
                  </a:lnTo>
                  <a:lnTo>
                    <a:pt x="466817" y="67021"/>
                  </a:lnTo>
                  <a:lnTo>
                    <a:pt x="495329" y="92292"/>
                  </a:lnTo>
                  <a:lnTo>
                    <a:pt x="488259" y="100546"/>
                  </a:lnTo>
                  <a:lnTo>
                    <a:pt x="481176" y="109371"/>
                  </a:lnTo>
                  <a:lnTo>
                    <a:pt x="474080" y="118767"/>
                  </a:lnTo>
                  <a:lnTo>
                    <a:pt x="466971" y="128732"/>
                  </a:lnTo>
                  <a:close/>
                </a:path>
                <a:path w="3463290" h="419100">
                  <a:moveTo>
                    <a:pt x="527312" y="61984"/>
                  </a:moveTo>
                  <a:lnTo>
                    <a:pt x="504177" y="31712"/>
                  </a:lnTo>
                  <a:lnTo>
                    <a:pt x="515677" y="23552"/>
                  </a:lnTo>
                  <a:lnTo>
                    <a:pt x="527236" y="16601"/>
                  </a:lnTo>
                  <a:lnTo>
                    <a:pt x="538857" y="10860"/>
                  </a:lnTo>
                  <a:lnTo>
                    <a:pt x="550538" y="6327"/>
                  </a:lnTo>
                  <a:lnTo>
                    <a:pt x="562652" y="42450"/>
                  </a:lnTo>
                  <a:lnTo>
                    <a:pt x="553908" y="45863"/>
                  </a:lnTo>
                  <a:lnTo>
                    <a:pt x="545104" y="50256"/>
                  </a:lnTo>
                  <a:lnTo>
                    <a:pt x="536238" y="55630"/>
                  </a:lnTo>
                  <a:lnTo>
                    <a:pt x="527312" y="61984"/>
                  </a:lnTo>
                  <a:close/>
                </a:path>
                <a:path w="3463290" h="419100">
                  <a:moveTo>
                    <a:pt x="636816" y="53075"/>
                  </a:moveTo>
                  <a:lnTo>
                    <a:pt x="627508" y="47910"/>
                  </a:lnTo>
                  <a:lnTo>
                    <a:pt x="618266" y="43833"/>
                  </a:lnTo>
                  <a:lnTo>
                    <a:pt x="609089" y="40843"/>
                  </a:lnTo>
                  <a:lnTo>
                    <a:pt x="599978" y="38940"/>
                  </a:lnTo>
                  <a:lnTo>
                    <a:pt x="605619" y="1260"/>
                  </a:lnTo>
                  <a:lnTo>
                    <a:pt x="618483" y="3915"/>
                  </a:lnTo>
                  <a:lnTo>
                    <a:pt x="631282" y="8017"/>
                  </a:lnTo>
                  <a:lnTo>
                    <a:pt x="644016" y="13568"/>
                  </a:lnTo>
                  <a:lnTo>
                    <a:pt x="656684" y="20566"/>
                  </a:lnTo>
                  <a:lnTo>
                    <a:pt x="636816" y="53075"/>
                  </a:lnTo>
                  <a:close/>
                </a:path>
                <a:path w="3463290" h="419100">
                  <a:moveTo>
                    <a:pt x="699179" y="113644"/>
                  </a:moveTo>
                  <a:lnTo>
                    <a:pt x="692132" y="104608"/>
                  </a:lnTo>
                  <a:lnTo>
                    <a:pt x="685102" y="96139"/>
                  </a:lnTo>
                  <a:lnTo>
                    <a:pt x="678087" y="88237"/>
                  </a:lnTo>
                  <a:lnTo>
                    <a:pt x="671089" y="80902"/>
                  </a:lnTo>
                  <a:lnTo>
                    <a:pt x="698146" y="54078"/>
                  </a:lnTo>
                  <a:lnTo>
                    <a:pt x="706023" y="62329"/>
                  </a:lnTo>
                  <a:lnTo>
                    <a:pt x="713883" y="71174"/>
                  </a:lnTo>
                  <a:lnTo>
                    <a:pt x="721728" y="80614"/>
                  </a:lnTo>
                  <a:lnTo>
                    <a:pt x="729557" y="90649"/>
                  </a:lnTo>
                  <a:lnTo>
                    <a:pt x="699179" y="113644"/>
                  </a:lnTo>
                  <a:close/>
                </a:path>
                <a:path w="3463290" h="419100">
                  <a:moveTo>
                    <a:pt x="748367" y="191781"/>
                  </a:moveTo>
                  <a:lnTo>
                    <a:pt x="742602" y="181272"/>
                  </a:lnTo>
                  <a:lnTo>
                    <a:pt x="736842" y="171127"/>
                  </a:lnTo>
                  <a:lnTo>
                    <a:pt x="731086" y="161347"/>
                  </a:lnTo>
                  <a:lnTo>
                    <a:pt x="725333" y="151930"/>
                  </a:lnTo>
                  <a:lnTo>
                    <a:pt x="757676" y="131791"/>
                  </a:lnTo>
                  <a:lnTo>
                    <a:pt x="763738" y="141713"/>
                  </a:lnTo>
                  <a:lnTo>
                    <a:pt x="769752" y="151930"/>
                  </a:lnTo>
                  <a:lnTo>
                    <a:pt x="775850" y="162665"/>
                  </a:lnTo>
                  <a:lnTo>
                    <a:pt x="781900" y="173694"/>
                  </a:lnTo>
                  <a:lnTo>
                    <a:pt x="748367" y="191781"/>
                  </a:lnTo>
                  <a:close/>
                </a:path>
                <a:path w="3463290" h="419100">
                  <a:moveTo>
                    <a:pt x="796099" y="280272"/>
                  </a:moveTo>
                  <a:lnTo>
                    <a:pt x="790046" y="270098"/>
                  </a:lnTo>
                  <a:lnTo>
                    <a:pt x="783996" y="259555"/>
                  </a:lnTo>
                  <a:lnTo>
                    <a:pt x="777950" y="248643"/>
                  </a:lnTo>
                  <a:lnTo>
                    <a:pt x="771908" y="237363"/>
                  </a:lnTo>
                  <a:lnTo>
                    <a:pt x="805615" y="219603"/>
                  </a:lnTo>
                  <a:lnTo>
                    <a:pt x="811387" y="230379"/>
                  </a:lnTo>
                  <a:lnTo>
                    <a:pt x="817156" y="240792"/>
                  </a:lnTo>
                  <a:lnTo>
                    <a:pt x="822921" y="250840"/>
                  </a:lnTo>
                  <a:lnTo>
                    <a:pt x="828682" y="260523"/>
                  </a:lnTo>
                  <a:lnTo>
                    <a:pt x="796099" y="280272"/>
                  </a:lnTo>
                  <a:close/>
                </a:path>
                <a:path w="3463290" h="419100">
                  <a:moveTo>
                    <a:pt x="854313" y="359165"/>
                  </a:moveTo>
                  <a:lnTo>
                    <a:pt x="846471" y="350517"/>
                  </a:lnTo>
                  <a:lnTo>
                    <a:pt x="838643" y="341276"/>
                  </a:lnTo>
                  <a:lnTo>
                    <a:pt x="830830" y="331442"/>
                  </a:lnTo>
                  <a:lnTo>
                    <a:pt x="823032" y="321015"/>
                  </a:lnTo>
                  <a:lnTo>
                    <a:pt x="853855" y="298620"/>
                  </a:lnTo>
                  <a:lnTo>
                    <a:pt x="860932" y="308086"/>
                  </a:lnTo>
                  <a:lnTo>
                    <a:pt x="867994" y="316984"/>
                  </a:lnTo>
                  <a:lnTo>
                    <a:pt x="875042" y="325312"/>
                  </a:lnTo>
                  <a:lnTo>
                    <a:pt x="882075" y="333072"/>
                  </a:lnTo>
                  <a:lnTo>
                    <a:pt x="854313" y="359165"/>
                  </a:lnTo>
                  <a:close/>
                </a:path>
                <a:path w="3463290" h="419100">
                  <a:moveTo>
                    <a:pt x="942734" y="415933"/>
                  </a:moveTo>
                  <a:lnTo>
                    <a:pt x="930416" y="412356"/>
                  </a:lnTo>
                  <a:lnTo>
                    <a:pt x="918162" y="407446"/>
                  </a:lnTo>
                  <a:lnTo>
                    <a:pt x="905974" y="401202"/>
                  </a:lnTo>
                  <a:lnTo>
                    <a:pt x="893851" y="393624"/>
                  </a:lnTo>
                  <a:lnTo>
                    <a:pt x="915317" y="362147"/>
                  </a:lnTo>
                  <a:lnTo>
                    <a:pt x="924453" y="367880"/>
                  </a:lnTo>
                  <a:lnTo>
                    <a:pt x="933523" y="372574"/>
                  </a:lnTo>
                  <a:lnTo>
                    <a:pt x="942529" y="376230"/>
                  </a:lnTo>
                  <a:lnTo>
                    <a:pt x="951469" y="378848"/>
                  </a:lnTo>
                  <a:lnTo>
                    <a:pt x="942734" y="415933"/>
                  </a:lnTo>
                  <a:close/>
                </a:path>
                <a:path w="3463290" h="419100">
                  <a:moveTo>
                    <a:pt x="997917" y="415551"/>
                  </a:moveTo>
                  <a:lnTo>
                    <a:pt x="988693" y="378584"/>
                  </a:lnTo>
                  <a:lnTo>
                    <a:pt x="997606" y="375853"/>
                  </a:lnTo>
                  <a:lnTo>
                    <a:pt x="1006584" y="372091"/>
                  </a:lnTo>
                  <a:lnTo>
                    <a:pt x="1015626" y="367299"/>
                  </a:lnTo>
                  <a:lnTo>
                    <a:pt x="1024733" y="361477"/>
                  </a:lnTo>
                  <a:lnTo>
                    <a:pt x="1046444" y="392786"/>
                  </a:lnTo>
                  <a:lnTo>
                    <a:pt x="1034409" y="400451"/>
                  </a:lnTo>
                  <a:lnTo>
                    <a:pt x="1022310" y="406800"/>
                  </a:lnTo>
                  <a:lnTo>
                    <a:pt x="1010145" y="411833"/>
                  </a:lnTo>
                  <a:lnTo>
                    <a:pt x="997917" y="415551"/>
                  </a:lnTo>
                  <a:close/>
                </a:path>
                <a:path w="3463290" h="419100">
                  <a:moveTo>
                    <a:pt x="1085674" y="358192"/>
                  </a:moveTo>
                  <a:lnTo>
                    <a:pt x="1057803" y="332216"/>
                  </a:lnTo>
                  <a:lnTo>
                    <a:pt x="1064841" y="324387"/>
                  </a:lnTo>
                  <a:lnTo>
                    <a:pt x="1071894" y="315989"/>
                  </a:lnTo>
                  <a:lnTo>
                    <a:pt x="1078962" y="307022"/>
                  </a:lnTo>
                  <a:lnTo>
                    <a:pt x="1086043" y="297486"/>
                  </a:lnTo>
                  <a:lnTo>
                    <a:pt x="1116936" y="319785"/>
                  </a:lnTo>
                  <a:lnTo>
                    <a:pt x="1109142" y="330276"/>
                  </a:lnTo>
                  <a:lnTo>
                    <a:pt x="1101334" y="340174"/>
                  </a:lnTo>
                  <a:lnTo>
                    <a:pt x="1093511" y="349479"/>
                  </a:lnTo>
                  <a:lnTo>
                    <a:pt x="1085674" y="358192"/>
                  </a:lnTo>
                  <a:close/>
                </a:path>
                <a:path w="3463290" h="419100">
                  <a:moveTo>
                    <a:pt x="1143676" y="279116"/>
                  </a:moveTo>
                  <a:lnTo>
                    <a:pt x="1111056" y="259430"/>
                  </a:lnTo>
                  <a:lnTo>
                    <a:pt x="1116818" y="249703"/>
                  </a:lnTo>
                  <a:lnTo>
                    <a:pt x="1122584" y="239612"/>
                  </a:lnTo>
                  <a:lnTo>
                    <a:pt x="1128354" y="229156"/>
                  </a:lnTo>
                  <a:lnTo>
                    <a:pt x="1134127" y="218336"/>
                  </a:lnTo>
                  <a:lnTo>
                    <a:pt x="1167862" y="236044"/>
                  </a:lnTo>
                  <a:lnTo>
                    <a:pt x="1161822" y="247364"/>
                  </a:lnTo>
                  <a:lnTo>
                    <a:pt x="1155777" y="258317"/>
                  </a:lnTo>
                  <a:lnTo>
                    <a:pt x="1149728" y="268901"/>
                  </a:lnTo>
                  <a:lnTo>
                    <a:pt x="1143676" y="279116"/>
                  </a:lnTo>
                  <a:close/>
                </a:path>
                <a:path w="3463290" h="419100">
                  <a:moveTo>
                    <a:pt x="1191375" y="190549"/>
                  </a:moveTo>
                  <a:lnTo>
                    <a:pt x="1157871" y="172409"/>
                  </a:lnTo>
                  <a:lnTo>
                    <a:pt x="1163923" y="161420"/>
                  </a:lnTo>
                  <a:lnTo>
                    <a:pt x="1169978" y="150801"/>
                  </a:lnTo>
                  <a:lnTo>
                    <a:pt x="1176038" y="140551"/>
                  </a:lnTo>
                  <a:lnTo>
                    <a:pt x="1182101" y="130669"/>
                  </a:lnTo>
                  <a:lnTo>
                    <a:pt x="1214289" y="150801"/>
                  </a:lnTo>
                  <a:lnTo>
                    <a:pt x="1214447" y="150801"/>
                  </a:lnTo>
                  <a:lnTo>
                    <a:pt x="1208652" y="160246"/>
                  </a:lnTo>
                  <a:lnTo>
                    <a:pt x="1202897" y="169983"/>
                  </a:lnTo>
                  <a:lnTo>
                    <a:pt x="1197138" y="180084"/>
                  </a:lnTo>
                  <a:lnTo>
                    <a:pt x="1191375" y="190549"/>
                  </a:lnTo>
                  <a:close/>
                </a:path>
                <a:path w="3463290" h="419100">
                  <a:moveTo>
                    <a:pt x="1240716" y="112567"/>
                  </a:moveTo>
                  <a:lnTo>
                    <a:pt x="1210414" y="89472"/>
                  </a:lnTo>
                  <a:lnTo>
                    <a:pt x="1218250" y="79498"/>
                  </a:lnTo>
                  <a:lnTo>
                    <a:pt x="1226102" y="70120"/>
                  </a:lnTo>
                  <a:lnTo>
                    <a:pt x="1233971" y="61337"/>
                  </a:lnTo>
                  <a:lnTo>
                    <a:pt x="1241856" y="53150"/>
                  </a:lnTo>
                  <a:lnTo>
                    <a:pt x="1268791" y="80095"/>
                  </a:lnTo>
                  <a:lnTo>
                    <a:pt x="1261797" y="87363"/>
                  </a:lnTo>
                  <a:lnTo>
                    <a:pt x="1254786" y="95197"/>
                  </a:lnTo>
                  <a:lnTo>
                    <a:pt x="1247759" y="103599"/>
                  </a:lnTo>
                  <a:lnTo>
                    <a:pt x="1240716" y="112567"/>
                  </a:lnTo>
                  <a:close/>
                </a:path>
                <a:path w="3463290" h="419100">
                  <a:moveTo>
                    <a:pt x="1303220" y="52494"/>
                  </a:moveTo>
                  <a:lnTo>
                    <a:pt x="1283627" y="19819"/>
                  </a:lnTo>
                  <a:lnTo>
                    <a:pt x="1296384" y="12922"/>
                  </a:lnTo>
                  <a:lnTo>
                    <a:pt x="1309206" y="7492"/>
                  </a:lnTo>
                  <a:lnTo>
                    <a:pt x="1322093" y="3530"/>
                  </a:lnTo>
                  <a:lnTo>
                    <a:pt x="1335046" y="1033"/>
                  </a:lnTo>
                  <a:lnTo>
                    <a:pt x="1340171" y="38787"/>
                  </a:lnTo>
                  <a:lnTo>
                    <a:pt x="1331031" y="40571"/>
                  </a:lnTo>
                  <a:lnTo>
                    <a:pt x="1321826" y="43450"/>
                  </a:lnTo>
                  <a:lnTo>
                    <a:pt x="1312556" y="47425"/>
                  </a:lnTo>
                  <a:lnTo>
                    <a:pt x="1303220" y="52494"/>
                  </a:lnTo>
                  <a:close/>
                </a:path>
                <a:path w="3463290" h="419100">
                  <a:moveTo>
                    <a:pt x="1412752" y="62744"/>
                  </a:moveTo>
                  <a:lnTo>
                    <a:pt x="1403856" y="56307"/>
                  </a:lnTo>
                  <a:lnTo>
                    <a:pt x="1395021" y="50842"/>
                  </a:lnTo>
                  <a:lnTo>
                    <a:pt x="1386245" y="46349"/>
                  </a:lnTo>
                  <a:lnTo>
                    <a:pt x="1377529" y="42828"/>
                  </a:lnTo>
                  <a:lnTo>
                    <a:pt x="1390093" y="6860"/>
                  </a:lnTo>
                  <a:lnTo>
                    <a:pt x="1401686" y="11516"/>
                  </a:lnTo>
                  <a:lnTo>
                    <a:pt x="1413219" y="17365"/>
                  </a:lnTo>
                  <a:lnTo>
                    <a:pt x="1424692" y="24406"/>
                  </a:lnTo>
                  <a:lnTo>
                    <a:pt x="1436105" y="32641"/>
                  </a:lnTo>
                  <a:lnTo>
                    <a:pt x="1412752" y="62744"/>
                  </a:lnTo>
                  <a:close/>
                </a:path>
                <a:path w="3463290" h="419100">
                  <a:moveTo>
                    <a:pt x="1472930" y="129924"/>
                  </a:moveTo>
                  <a:lnTo>
                    <a:pt x="1465817" y="119888"/>
                  </a:lnTo>
                  <a:lnTo>
                    <a:pt x="1458716" y="110424"/>
                  </a:lnTo>
                  <a:lnTo>
                    <a:pt x="1451629" y="101529"/>
                  </a:lnTo>
                  <a:lnTo>
                    <a:pt x="1444554" y="93206"/>
                  </a:lnTo>
                  <a:lnTo>
                    <a:pt x="1473166" y="68047"/>
                  </a:lnTo>
                  <a:lnTo>
                    <a:pt x="1480967" y="77221"/>
                  </a:lnTo>
                  <a:lnTo>
                    <a:pt x="1488755" y="86986"/>
                  </a:lnTo>
                  <a:lnTo>
                    <a:pt x="1496530" y="97342"/>
                  </a:lnTo>
                  <a:lnTo>
                    <a:pt x="1504292" y="108289"/>
                  </a:lnTo>
                  <a:lnTo>
                    <a:pt x="1472930" y="129924"/>
                  </a:lnTo>
                  <a:close/>
                </a:path>
                <a:path w="3463290" h="419100">
                  <a:moveTo>
                    <a:pt x="1519894" y="209932"/>
                  </a:moveTo>
                  <a:lnTo>
                    <a:pt x="1514113" y="198802"/>
                  </a:lnTo>
                  <a:lnTo>
                    <a:pt x="1508334" y="188035"/>
                  </a:lnTo>
                  <a:lnTo>
                    <a:pt x="1502560" y="177634"/>
                  </a:lnTo>
                  <a:lnTo>
                    <a:pt x="1496788" y="167597"/>
                  </a:lnTo>
                  <a:lnTo>
                    <a:pt x="1529668" y="148347"/>
                  </a:lnTo>
                  <a:lnTo>
                    <a:pt x="1535711" y="158855"/>
                  </a:lnTo>
                  <a:lnTo>
                    <a:pt x="1541750" y="169732"/>
                  </a:lnTo>
                  <a:lnTo>
                    <a:pt x="1547786" y="180977"/>
                  </a:lnTo>
                  <a:lnTo>
                    <a:pt x="1553819" y="192590"/>
                  </a:lnTo>
                  <a:lnTo>
                    <a:pt x="1519894" y="209932"/>
                  </a:lnTo>
                  <a:close/>
                </a:path>
                <a:path w="3463290" h="419100">
                  <a:moveTo>
                    <a:pt x="1568113" y="296281"/>
                  </a:moveTo>
                  <a:lnTo>
                    <a:pt x="1562038" y="286692"/>
                  </a:lnTo>
                  <a:lnTo>
                    <a:pt x="1555969" y="276734"/>
                  </a:lnTo>
                  <a:lnTo>
                    <a:pt x="1549983" y="266543"/>
                  </a:lnTo>
                  <a:lnTo>
                    <a:pt x="1543842" y="255709"/>
                  </a:lnTo>
                  <a:lnTo>
                    <a:pt x="1577129" y="237173"/>
                  </a:lnTo>
                  <a:lnTo>
                    <a:pt x="1582882" y="247327"/>
                  </a:lnTo>
                  <a:lnTo>
                    <a:pt x="1588630" y="257116"/>
                  </a:lnTo>
                  <a:lnTo>
                    <a:pt x="1594291" y="266406"/>
                  </a:lnTo>
                  <a:lnTo>
                    <a:pt x="1600114" y="275605"/>
                  </a:lnTo>
                  <a:lnTo>
                    <a:pt x="1568113" y="296281"/>
                  </a:lnTo>
                  <a:close/>
                </a:path>
                <a:path w="3463290" h="419100">
                  <a:moveTo>
                    <a:pt x="1631285" y="373995"/>
                  </a:moveTo>
                  <a:lnTo>
                    <a:pt x="1622888" y="365948"/>
                  </a:lnTo>
                  <a:lnTo>
                    <a:pt x="1614512" y="357233"/>
                  </a:lnTo>
                  <a:lnTo>
                    <a:pt x="1606156" y="347848"/>
                  </a:lnTo>
                  <a:lnTo>
                    <a:pt x="1597821" y="337794"/>
                  </a:lnTo>
                  <a:lnTo>
                    <a:pt x="1627551" y="313968"/>
                  </a:lnTo>
                  <a:lnTo>
                    <a:pt x="1634954" y="322902"/>
                  </a:lnTo>
                  <a:lnTo>
                    <a:pt x="1642337" y="331205"/>
                  </a:lnTo>
                  <a:lnTo>
                    <a:pt x="1649699" y="338878"/>
                  </a:lnTo>
                  <a:lnTo>
                    <a:pt x="1657040" y="345918"/>
                  </a:lnTo>
                  <a:lnTo>
                    <a:pt x="1631285" y="373995"/>
                  </a:lnTo>
                  <a:close/>
                </a:path>
                <a:path w="3463290" h="419100">
                  <a:moveTo>
                    <a:pt x="1727431" y="419009"/>
                  </a:moveTo>
                  <a:lnTo>
                    <a:pt x="1713861" y="417717"/>
                  </a:lnTo>
                  <a:lnTo>
                    <a:pt x="1700351" y="414819"/>
                  </a:lnTo>
                  <a:lnTo>
                    <a:pt x="1686901" y="410316"/>
                  </a:lnTo>
                  <a:lnTo>
                    <a:pt x="1673510" y="404207"/>
                  </a:lnTo>
                  <a:lnTo>
                    <a:pt x="1691016" y="370367"/>
                  </a:lnTo>
                  <a:lnTo>
                    <a:pt x="1700551" y="374738"/>
                  </a:lnTo>
                  <a:lnTo>
                    <a:pt x="1710026" y="377956"/>
                  </a:lnTo>
                  <a:lnTo>
                    <a:pt x="1719442" y="380021"/>
                  </a:lnTo>
                  <a:lnTo>
                    <a:pt x="1728799" y="380933"/>
                  </a:lnTo>
                  <a:lnTo>
                    <a:pt x="1727581" y="414819"/>
                  </a:lnTo>
                  <a:lnTo>
                    <a:pt x="1727477" y="417717"/>
                  </a:lnTo>
                  <a:lnTo>
                    <a:pt x="1727431" y="419009"/>
                  </a:lnTo>
                  <a:close/>
                </a:path>
                <a:path w="3463290" h="419100">
                  <a:moveTo>
                    <a:pt x="1782123" y="407804"/>
                  </a:moveTo>
                  <a:lnTo>
                    <a:pt x="1766513" y="373048"/>
                  </a:lnTo>
                  <a:lnTo>
                    <a:pt x="1775021" y="368782"/>
                  </a:lnTo>
                  <a:lnTo>
                    <a:pt x="1783582" y="363604"/>
                  </a:lnTo>
                  <a:lnTo>
                    <a:pt x="1792196" y="357514"/>
                  </a:lnTo>
                  <a:lnTo>
                    <a:pt x="1800862" y="350511"/>
                  </a:lnTo>
                  <a:lnTo>
                    <a:pt x="1825673" y="379426"/>
                  </a:lnTo>
                  <a:lnTo>
                    <a:pt x="1814864" y="388138"/>
                  </a:lnTo>
                  <a:lnTo>
                    <a:pt x="1804003" y="395772"/>
                  </a:lnTo>
                  <a:lnTo>
                    <a:pt x="1793089" y="402327"/>
                  </a:lnTo>
                  <a:lnTo>
                    <a:pt x="1782123" y="407804"/>
                  </a:lnTo>
                  <a:close/>
                </a:path>
                <a:path w="3463290" h="419100">
                  <a:moveTo>
                    <a:pt x="1860624" y="343467"/>
                  </a:moveTo>
                  <a:lnTo>
                    <a:pt x="1831339" y="319094"/>
                  </a:lnTo>
                  <a:lnTo>
                    <a:pt x="1838381" y="310360"/>
                  </a:lnTo>
                  <a:lnTo>
                    <a:pt x="1845434" y="301063"/>
                  </a:lnTo>
                  <a:lnTo>
                    <a:pt x="1852499" y="291205"/>
                  </a:lnTo>
                  <a:lnTo>
                    <a:pt x="1859575" y="280785"/>
                  </a:lnTo>
                  <a:lnTo>
                    <a:pt x="1891347" y="301812"/>
                  </a:lnTo>
                  <a:lnTo>
                    <a:pt x="1883684" y="313094"/>
                  </a:lnTo>
                  <a:lnTo>
                    <a:pt x="1876009" y="323797"/>
                  </a:lnTo>
                  <a:lnTo>
                    <a:pt x="1868322" y="333921"/>
                  </a:lnTo>
                  <a:lnTo>
                    <a:pt x="1860624" y="343467"/>
                  </a:lnTo>
                  <a:close/>
                </a:path>
                <a:path w="3463290" h="419100">
                  <a:moveTo>
                    <a:pt x="1915651" y="262080"/>
                  </a:moveTo>
                  <a:lnTo>
                    <a:pt x="1882529" y="243251"/>
                  </a:lnTo>
                  <a:lnTo>
                    <a:pt x="1888142" y="233207"/>
                  </a:lnTo>
                  <a:lnTo>
                    <a:pt x="1893758" y="222819"/>
                  </a:lnTo>
                  <a:lnTo>
                    <a:pt x="1899377" y="212088"/>
                  </a:lnTo>
                  <a:lnTo>
                    <a:pt x="1905686" y="199643"/>
                  </a:lnTo>
                  <a:lnTo>
                    <a:pt x="1939751" y="216707"/>
                  </a:lnTo>
                  <a:lnTo>
                    <a:pt x="1933225" y="229580"/>
                  </a:lnTo>
                  <a:lnTo>
                    <a:pt x="1927370" y="240761"/>
                  </a:lnTo>
                  <a:lnTo>
                    <a:pt x="1921512" y="251594"/>
                  </a:lnTo>
                  <a:lnTo>
                    <a:pt x="1915651" y="262080"/>
                  </a:lnTo>
                  <a:close/>
                </a:path>
                <a:path w="3463290" h="419100">
                  <a:moveTo>
                    <a:pt x="1962875" y="173490"/>
                  </a:moveTo>
                  <a:lnTo>
                    <a:pt x="1929819" y="154544"/>
                  </a:lnTo>
                  <a:lnTo>
                    <a:pt x="1935912" y="144104"/>
                  </a:lnTo>
                  <a:lnTo>
                    <a:pt x="1942010" y="134035"/>
                  </a:lnTo>
                  <a:lnTo>
                    <a:pt x="1948112" y="124338"/>
                  </a:lnTo>
                  <a:lnTo>
                    <a:pt x="1954219" y="115012"/>
                  </a:lnTo>
                  <a:lnTo>
                    <a:pt x="1985894" y="136187"/>
                  </a:lnTo>
                  <a:lnTo>
                    <a:pt x="1980146" y="144964"/>
                  </a:lnTo>
                  <a:lnTo>
                    <a:pt x="1974394" y="154106"/>
                  </a:lnTo>
                  <a:lnTo>
                    <a:pt x="1968637" y="163615"/>
                  </a:lnTo>
                  <a:lnTo>
                    <a:pt x="1962875" y="173490"/>
                  </a:lnTo>
                  <a:close/>
                </a:path>
                <a:path w="3463290" h="419100">
                  <a:moveTo>
                    <a:pt x="2014359" y="98037"/>
                  </a:moveTo>
                  <a:lnTo>
                    <a:pt x="1985256" y="73447"/>
                  </a:lnTo>
                  <a:lnTo>
                    <a:pt x="1994102" y="63367"/>
                  </a:lnTo>
                  <a:lnTo>
                    <a:pt x="2002974" y="54035"/>
                  </a:lnTo>
                  <a:lnTo>
                    <a:pt x="2011870" y="45452"/>
                  </a:lnTo>
                  <a:lnTo>
                    <a:pt x="2020792" y="37617"/>
                  </a:lnTo>
                  <a:lnTo>
                    <a:pt x="2045212" y="66862"/>
                  </a:lnTo>
                  <a:lnTo>
                    <a:pt x="2037537" y="73610"/>
                  </a:lnTo>
                  <a:lnTo>
                    <a:pt x="2029836" y="81055"/>
                  </a:lnTo>
                  <a:lnTo>
                    <a:pt x="2022110" y="89197"/>
                  </a:lnTo>
                  <a:lnTo>
                    <a:pt x="2014359" y="98037"/>
                  </a:lnTo>
                  <a:close/>
                </a:path>
                <a:path w="3463290" h="419100">
                  <a:moveTo>
                    <a:pt x="2079813" y="45038"/>
                  </a:moveTo>
                  <a:lnTo>
                    <a:pt x="2065024" y="9926"/>
                  </a:lnTo>
                  <a:lnTo>
                    <a:pt x="2078663" y="5017"/>
                  </a:lnTo>
                  <a:lnTo>
                    <a:pt x="2092344" y="1763"/>
                  </a:lnTo>
                  <a:lnTo>
                    <a:pt x="2106069" y="162"/>
                  </a:lnTo>
                  <a:lnTo>
                    <a:pt x="2119839" y="162"/>
                  </a:lnTo>
                  <a:lnTo>
                    <a:pt x="2117409" y="38217"/>
                  </a:lnTo>
                  <a:lnTo>
                    <a:pt x="2108073" y="38217"/>
                  </a:lnTo>
                  <a:lnTo>
                    <a:pt x="2098696" y="39343"/>
                  </a:lnTo>
                  <a:lnTo>
                    <a:pt x="2089276" y="41617"/>
                  </a:lnTo>
                  <a:lnTo>
                    <a:pt x="2079813" y="45038"/>
                  </a:lnTo>
                  <a:close/>
                </a:path>
                <a:path w="3463290" h="419100">
                  <a:moveTo>
                    <a:pt x="2189057" y="75024"/>
                  </a:moveTo>
                  <a:lnTo>
                    <a:pt x="2180460" y="67361"/>
                  </a:lnTo>
                  <a:lnTo>
                    <a:pt x="2171910" y="60586"/>
                  </a:lnTo>
                  <a:lnTo>
                    <a:pt x="2163407" y="54698"/>
                  </a:lnTo>
                  <a:lnTo>
                    <a:pt x="2154951" y="49698"/>
                  </a:lnTo>
                  <a:lnTo>
                    <a:pt x="2173063" y="16179"/>
                  </a:lnTo>
                  <a:lnTo>
                    <a:pt x="2183657" y="22425"/>
                  </a:lnTo>
                  <a:lnTo>
                    <a:pt x="2194204" y="29688"/>
                  </a:lnTo>
                  <a:lnTo>
                    <a:pt x="2204704" y="37969"/>
                  </a:lnTo>
                  <a:lnTo>
                    <a:pt x="2215157" y="47268"/>
                  </a:lnTo>
                  <a:lnTo>
                    <a:pt x="2189057" y="75024"/>
                  </a:lnTo>
                  <a:close/>
                </a:path>
                <a:path w="3463290" h="419100">
                  <a:moveTo>
                    <a:pt x="2245279" y="145508"/>
                  </a:moveTo>
                  <a:lnTo>
                    <a:pt x="2238484" y="135144"/>
                  </a:lnTo>
                  <a:lnTo>
                    <a:pt x="2231698" y="125295"/>
                  </a:lnTo>
                  <a:lnTo>
                    <a:pt x="2224922" y="115963"/>
                  </a:lnTo>
                  <a:lnTo>
                    <a:pt x="2218155" y="107146"/>
                  </a:lnTo>
                  <a:lnTo>
                    <a:pt x="2248051" y="83527"/>
                  </a:lnTo>
                  <a:lnTo>
                    <a:pt x="2255395" y="93093"/>
                  </a:lnTo>
                  <a:lnTo>
                    <a:pt x="2262728" y="103188"/>
                  </a:lnTo>
                  <a:lnTo>
                    <a:pt x="2270053" y="113812"/>
                  </a:lnTo>
                  <a:lnTo>
                    <a:pt x="2277367" y="124966"/>
                  </a:lnTo>
                  <a:lnTo>
                    <a:pt x="2245279" y="145508"/>
                  </a:lnTo>
                  <a:close/>
                </a:path>
                <a:path w="3463290" h="419100">
                  <a:moveTo>
                    <a:pt x="2291644" y="229177"/>
                  </a:moveTo>
                  <a:lnTo>
                    <a:pt x="2287880" y="221812"/>
                  </a:lnTo>
                  <a:lnTo>
                    <a:pt x="2285999" y="218052"/>
                  </a:lnTo>
                  <a:lnTo>
                    <a:pt x="2281566" y="209291"/>
                  </a:lnTo>
                  <a:lnTo>
                    <a:pt x="2277135" y="200743"/>
                  </a:lnTo>
                  <a:lnTo>
                    <a:pt x="2272705" y="192409"/>
                  </a:lnTo>
                  <a:lnTo>
                    <a:pt x="2268277" y="184289"/>
                  </a:lnTo>
                  <a:lnTo>
                    <a:pt x="2301626" y="165865"/>
                  </a:lnTo>
                  <a:lnTo>
                    <a:pt x="2306242" y="174328"/>
                  </a:lnTo>
                  <a:lnTo>
                    <a:pt x="2310855" y="183008"/>
                  </a:lnTo>
                  <a:lnTo>
                    <a:pt x="2315467" y="191903"/>
                  </a:lnTo>
                  <a:lnTo>
                    <a:pt x="2323705" y="208216"/>
                  </a:lnTo>
                  <a:lnTo>
                    <a:pt x="2325516" y="211733"/>
                  </a:lnTo>
                  <a:lnTo>
                    <a:pt x="2291644" y="229177"/>
                  </a:lnTo>
                  <a:close/>
                </a:path>
                <a:path w="3463290" h="419100">
                  <a:moveTo>
                    <a:pt x="2341561" y="313335"/>
                  </a:moveTo>
                  <a:lnTo>
                    <a:pt x="2335113" y="303893"/>
                  </a:lnTo>
                  <a:lnTo>
                    <a:pt x="2328671" y="294039"/>
                  </a:lnTo>
                  <a:lnTo>
                    <a:pt x="2322235" y="283772"/>
                  </a:lnTo>
                  <a:lnTo>
                    <a:pt x="2315805" y="273092"/>
                  </a:lnTo>
                  <a:lnTo>
                    <a:pt x="2348613" y="253722"/>
                  </a:lnTo>
                  <a:lnTo>
                    <a:pt x="2354668" y="263779"/>
                  </a:lnTo>
                  <a:lnTo>
                    <a:pt x="2360716" y="273431"/>
                  </a:lnTo>
                  <a:lnTo>
                    <a:pt x="2366759" y="282677"/>
                  </a:lnTo>
                  <a:lnTo>
                    <a:pt x="2372795" y="291517"/>
                  </a:lnTo>
                  <a:lnTo>
                    <a:pt x="2341561" y="313335"/>
                  </a:lnTo>
                  <a:close/>
                </a:path>
                <a:path w="3463290" h="419100">
                  <a:moveTo>
                    <a:pt x="2410385" y="388269"/>
                  </a:moveTo>
                  <a:lnTo>
                    <a:pt x="2400923" y="380718"/>
                  </a:lnTo>
                  <a:lnTo>
                    <a:pt x="2391492" y="372334"/>
                  </a:lnTo>
                  <a:lnTo>
                    <a:pt x="2382093" y="363116"/>
                  </a:lnTo>
                  <a:lnTo>
                    <a:pt x="2372724" y="353064"/>
                  </a:lnTo>
                  <a:lnTo>
                    <a:pt x="2401135" y="327679"/>
                  </a:lnTo>
                  <a:lnTo>
                    <a:pt x="2409222" y="336365"/>
                  </a:lnTo>
                  <a:lnTo>
                    <a:pt x="2417279" y="344286"/>
                  </a:lnTo>
                  <a:lnTo>
                    <a:pt x="2425304" y="351440"/>
                  </a:lnTo>
                  <a:lnTo>
                    <a:pt x="2433298" y="357829"/>
                  </a:lnTo>
                  <a:lnTo>
                    <a:pt x="2410385" y="388269"/>
                  </a:lnTo>
                  <a:close/>
                </a:path>
                <a:path w="3463290" h="419100">
                  <a:moveTo>
                    <a:pt x="2498398" y="418984"/>
                  </a:moveTo>
                  <a:lnTo>
                    <a:pt x="2484611" y="418741"/>
                  </a:lnTo>
                  <a:lnTo>
                    <a:pt x="2470843" y="416830"/>
                  </a:lnTo>
                  <a:lnTo>
                    <a:pt x="2457096" y="413249"/>
                  </a:lnTo>
                  <a:lnTo>
                    <a:pt x="2468754" y="376977"/>
                  </a:lnTo>
                  <a:lnTo>
                    <a:pt x="2478108" y="379420"/>
                  </a:lnTo>
                  <a:lnTo>
                    <a:pt x="2487443" y="380731"/>
                  </a:lnTo>
                  <a:lnTo>
                    <a:pt x="2496757" y="380910"/>
                  </a:lnTo>
                  <a:lnTo>
                    <a:pt x="2506207" y="380910"/>
                  </a:lnTo>
                  <a:lnTo>
                    <a:pt x="2512086" y="416830"/>
                  </a:lnTo>
                  <a:lnTo>
                    <a:pt x="2512205" y="417557"/>
                  </a:lnTo>
                  <a:lnTo>
                    <a:pt x="2498398" y="418984"/>
                  </a:lnTo>
                  <a:close/>
                </a:path>
                <a:path w="3463290" h="419100">
                  <a:moveTo>
                    <a:pt x="2506207" y="380910"/>
                  </a:moveTo>
                  <a:lnTo>
                    <a:pt x="2496757" y="380910"/>
                  </a:lnTo>
                  <a:lnTo>
                    <a:pt x="2506051" y="379957"/>
                  </a:lnTo>
                  <a:lnTo>
                    <a:pt x="2506178" y="380731"/>
                  </a:lnTo>
                  <a:lnTo>
                    <a:pt x="2506207" y="380910"/>
                  </a:lnTo>
                  <a:close/>
                </a:path>
                <a:path w="3463290" h="419100">
                  <a:moveTo>
                    <a:pt x="2562916" y="397739"/>
                  </a:moveTo>
                  <a:lnTo>
                    <a:pt x="2542778" y="365397"/>
                  </a:lnTo>
                  <a:lnTo>
                    <a:pt x="2551242" y="359701"/>
                  </a:lnTo>
                  <a:lnTo>
                    <a:pt x="2559747" y="353129"/>
                  </a:lnTo>
                  <a:lnTo>
                    <a:pt x="2568295" y="345681"/>
                  </a:lnTo>
                  <a:lnTo>
                    <a:pt x="2576886" y="337356"/>
                  </a:lnTo>
                  <a:lnTo>
                    <a:pt x="2604062" y="364059"/>
                  </a:lnTo>
                  <a:lnTo>
                    <a:pt x="2593838" y="373951"/>
                  </a:lnTo>
                  <a:lnTo>
                    <a:pt x="2583573" y="382862"/>
                  </a:lnTo>
                  <a:lnTo>
                    <a:pt x="2573265" y="390791"/>
                  </a:lnTo>
                  <a:lnTo>
                    <a:pt x="2562916" y="397739"/>
                  </a:lnTo>
                  <a:close/>
                </a:path>
                <a:path w="3463290" h="419100">
                  <a:moveTo>
                    <a:pt x="2635451" y="327231"/>
                  </a:moveTo>
                  <a:lnTo>
                    <a:pt x="2604998" y="304335"/>
                  </a:lnTo>
                  <a:lnTo>
                    <a:pt x="2611485" y="295477"/>
                  </a:lnTo>
                  <a:lnTo>
                    <a:pt x="2617980" y="286147"/>
                  </a:lnTo>
                  <a:lnTo>
                    <a:pt x="2624483" y="276346"/>
                  </a:lnTo>
                  <a:lnTo>
                    <a:pt x="2630994" y="266073"/>
                  </a:lnTo>
                  <a:lnTo>
                    <a:pt x="2663375" y="286147"/>
                  </a:lnTo>
                  <a:lnTo>
                    <a:pt x="2656407" y="297142"/>
                  </a:lnTo>
                  <a:lnTo>
                    <a:pt x="2649429" y="307654"/>
                  </a:lnTo>
                  <a:lnTo>
                    <a:pt x="2642444" y="317684"/>
                  </a:lnTo>
                  <a:lnTo>
                    <a:pt x="2635451" y="327231"/>
                  </a:lnTo>
                  <a:close/>
                </a:path>
                <a:path w="3463290" h="419100">
                  <a:moveTo>
                    <a:pt x="2687595" y="244081"/>
                  </a:moveTo>
                  <a:lnTo>
                    <a:pt x="2654032" y="226048"/>
                  </a:lnTo>
                  <a:lnTo>
                    <a:pt x="2657274" y="219959"/>
                  </a:lnTo>
                  <a:lnTo>
                    <a:pt x="2660515" y="213756"/>
                  </a:lnTo>
                  <a:lnTo>
                    <a:pt x="2663757" y="207441"/>
                  </a:lnTo>
                  <a:lnTo>
                    <a:pt x="2666999" y="201013"/>
                  </a:lnTo>
                  <a:lnTo>
                    <a:pt x="2670531" y="193950"/>
                  </a:lnTo>
                  <a:lnTo>
                    <a:pt x="2674066" y="187074"/>
                  </a:lnTo>
                  <a:lnTo>
                    <a:pt x="2677603" y="180387"/>
                  </a:lnTo>
                  <a:lnTo>
                    <a:pt x="2711282" y="198200"/>
                  </a:lnTo>
                  <a:lnTo>
                    <a:pt x="2707883" y="204626"/>
                  </a:lnTo>
                  <a:lnTo>
                    <a:pt x="2704481" y="211244"/>
                  </a:lnTo>
                  <a:lnTo>
                    <a:pt x="2701077" y="218052"/>
                  </a:lnTo>
                  <a:lnTo>
                    <a:pt x="2697707" y="224734"/>
                  </a:lnTo>
                  <a:lnTo>
                    <a:pt x="2694336" y="231299"/>
                  </a:lnTo>
                  <a:lnTo>
                    <a:pt x="2690966" y="237748"/>
                  </a:lnTo>
                  <a:lnTo>
                    <a:pt x="2687595" y="244081"/>
                  </a:lnTo>
                  <a:close/>
                </a:path>
                <a:path w="3463290" h="419100">
                  <a:moveTo>
                    <a:pt x="2734343" y="157453"/>
                  </a:moveTo>
                  <a:lnTo>
                    <a:pt x="2701798" y="137642"/>
                  </a:lnTo>
                  <a:lnTo>
                    <a:pt x="2708569" y="126755"/>
                  </a:lnTo>
                  <a:lnTo>
                    <a:pt x="2715346" y="116323"/>
                  </a:lnTo>
                  <a:lnTo>
                    <a:pt x="2722131" y="106347"/>
                  </a:lnTo>
                  <a:lnTo>
                    <a:pt x="2728923" y="96827"/>
                  </a:lnTo>
                  <a:lnTo>
                    <a:pt x="2759676" y="119318"/>
                  </a:lnTo>
                  <a:lnTo>
                    <a:pt x="2753354" y="128181"/>
                  </a:lnTo>
                  <a:lnTo>
                    <a:pt x="2747024" y="137491"/>
                  </a:lnTo>
                  <a:lnTo>
                    <a:pt x="2740687" y="147249"/>
                  </a:lnTo>
                  <a:lnTo>
                    <a:pt x="2734343" y="157453"/>
                  </a:lnTo>
                  <a:close/>
                </a:path>
                <a:path w="3463290" h="419100">
                  <a:moveTo>
                    <a:pt x="2787877" y="85144"/>
                  </a:moveTo>
                  <a:lnTo>
                    <a:pt x="2760225" y="58934"/>
                  </a:lnTo>
                  <a:lnTo>
                    <a:pt x="2770130" y="48966"/>
                  </a:lnTo>
                  <a:lnTo>
                    <a:pt x="2780073" y="39924"/>
                  </a:lnTo>
                  <a:lnTo>
                    <a:pt x="2790054" y="31807"/>
                  </a:lnTo>
                  <a:lnTo>
                    <a:pt x="2800073" y="24615"/>
                  </a:lnTo>
                  <a:lnTo>
                    <a:pt x="2821289" y="56261"/>
                  </a:lnTo>
                  <a:lnTo>
                    <a:pt x="2812993" y="62228"/>
                  </a:lnTo>
                  <a:lnTo>
                    <a:pt x="2804658" y="69031"/>
                  </a:lnTo>
                  <a:lnTo>
                    <a:pt x="2796287" y="76670"/>
                  </a:lnTo>
                  <a:lnTo>
                    <a:pt x="2787877" y="85144"/>
                  </a:lnTo>
                  <a:close/>
                </a:path>
                <a:path w="3463290" h="419100">
                  <a:moveTo>
                    <a:pt x="2857553" y="39970"/>
                  </a:moveTo>
                  <a:lnTo>
                    <a:pt x="2849311" y="2772"/>
                  </a:lnTo>
                  <a:lnTo>
                    <a:pt x="2863113" y="549"/>
                  </a:lnTo>
                  <a:lnTo>
                    <a:pt x="2876911" y="0"/>
                  </a:lnTo>
                  <a:lnTo>
                    <a:pt x="2890702" y="1122"/>
                  </a:lnTo>
                  <a:lnTo>
                    <a:pt x="2904489" y="3918"/>
                  </a:lnTo>
                  <a:lnTo>
                    <a:pt x="2895480" y="38108"/>
                  </a:lnTo>
                  <a:lnTo>
                    <a:pt x="2876156" y="38108"/>
                  </a:lnTo>
                  <a:lnTo>
                    <a:pt x="2866852" y="38474"/>
                  </a:lnTo>
                  <a:lnTo>
                    <a:pt x="2857553" y="39970"/>
                  </a:lnTo>
                  <a:close/>
                </a:path>
                <a:path w="3463290" h="419100">
                  <a:moveTo>
                    <a:pt x="2894781" y="40760"/>
                  </a:moveTo>
                  <a:lnTo>
                    <a:pt x="2885466" y="38870"/>
                  </a:lnTo>
                  <a:lnTo>
                    <a:pt x="2876156" y="38108"/>
                  </a:lnTo>
                  <a:lnTo>
                    <a:pt x="2895480" y="38108"/>
                  </a:lnTo>
                  <a:lnTo>
                    <a:pt x="2894781" y="40760"/>
                  </a:lnTo>
                  <a:close/>
                </a:path>
                <a:path w="3463290" h="419100">
                  <a:moveTo>
                    <a:pt x="2963605" y="87715"/>
                  </a:moveTo>
                  <a:lnTo>
                    <a:pt x="2955329" y="79145"/>
                  </a:lnTo>
                  <a:lnTo>
                    <a:pt x="2947088" y="71381"/>
                  </a:lnTo>
                  <a:lnTo>
                    <a:pt x="2938882" y="64423"/>
                  </a:lnTo>
                  <a:lnTo>
                    <a:pt x="2930710" y="58271"/>
                  </a:lnTo>
                  <a:lnTo>
                    <a:pt x="2952663" y="27131"/>
                  </a:lnTo>
                  <a:lnTo>
                    <a:pt x="2962445" y="34483"/>
                  </a:lnTo>
                  <a:lnTo>
                    <a:pt x="2972193" y="42721"/>
                  </a:lnTo>
                  <a:lnTo>
                    <a:pt x="2981907" y="51845"/>
                  </a:lnTo>
                  <a:lnTo>
                    <a:pt x="2991585" y="61855"/>
                  </a:lnTo>
                  <a:lnTo>
                    <a:pt x="2963605" y="87715"/>
                  </a:lnTo>
                  <a:close/>
                </a:path>
                <a:path w="3463290" h="419100">
                  <a:moveTo>
                    <a:pt x="3016718" y="160734"/>
                  </a:moveTo>
                  <a:lnTo>
                    <a:pt x="3010495" y="150587"/>
                  </a:lnTo>
                  <a:lnTo>
                    <a:pt x="3004279" y="140870"/>
                  </a:lnTo>
                  <a:lnTo>
                    <a:pt x="2998069" y="131582"/>
                  </a:lnTo>
                  <a:lnTo>
                    <a:pt x="2991866" y="122723"/>
                  </a:lnTo>
                  <a:lnTo>
                    <a:pt x="3022827" y="100518"/>
                  </a:lnTo>
                  <a:lnTo>
                    <a:pt x="3029474" y="110010"/>
                  </a:lnTo>
                  <a:lnTo>
                    <a:pt x="3036114" y="119939"/>
                  </a:lnTo>
                  <a:lnTo>
                    <a:pt x="3042748" y="130306"/>
                  </a:lnTo>
                  <a:lnTo>
                    <a:pt x="3049375" y="141110"/>
                  </a:lnTo>
                  <a:lnTo>
                    <a:pt x="3016718" y="160734"/>
                  </a:lnTo>
                  <a:close/>
                </a:path>
                <a:path w="3463290" h="419100">
                  <a:moveTo>
                    <a:pt x="3063567" y="247938"/>
                  </a:moveTo>
                  <a:lnTo>
                    <a:pt x="3045264" y="212580"/>
                  </a:lnTo>
                  <a:lnTo>
                    <a:pt x="3042529" y="207230"/>
                  </a:lnTo>
                  <a:lnTo>
                    <a:pt x="3039794" y="202002"/>
                  </a:lnTo>
                  <a:lnTo>
                    <a:pt x="3073556" y="184346"/>
                  </a:lnTo>
                  <a:lnTo>
                    <a:pt x="3076397" y="189779"/>
                  </a:lnTo>
                  <a:lnTo>
                    <a:pt x="3079238" y="195335"/>
                  </a:lnTo>
                  <a:lnTo>
                    <a:pt x="3082077" y="201013"/>
                  </a:lnTo>
                  <a:lnTo>
                    <a:pt x="3085821" y="208425"/>
                  </a:lnTo>
                  <a:lnTo>
                    <a:pt x="3089562" y="215684"/>
                  </a:lnTo>
                  <a:lnTo>
                    <a:pt x="3093303" y="222790"/>
                  </a:lnTo>
                  <a:lnTo>
                    <a:pt x="3097041" y="229743"/>
                  </a:lnTo>
                  <a:lnTo>
                    <a:pt x="3063567" y="247938"/>
                  </a:lnTo>
                  <a:close/>
                </a:path>
                <a:path w="3463290" h="419100">
                  <a:moveTo>
                    <a:pt x="3116309" y="330764"/>
                  </a:moveTo>
                  <a:lnTo>
                    <a:pt x="3109169" y="321205"/>
                  </a:lnTo>
                  <a:lnTo>
                    <a:pt x="3102038" y="311143"/>
                  </a:lnTo>
                  <a:lnTo>
                    <a:pt x="3094916" y="300580"/>
                  </a:lnTo>
                  <a:lnTo>
                    <a:pt x="3087802" y="289515"/>
                  </a:lnTo>
                  <a:lnTo>
                    <a:pt x="3120063" y="269246"/>
                  </a:lnTo>
                  <a:lnTo>
                    <a:pt x="3126694" y="279561"/>
                  </a:lnTo>
                  <a:lnTo>
                    <a:pt x="3133316" y="289387"/>
                  </a:lnTo>
                  <a:lnTo>
                    <a:pt x="3139929" y="298723"/>
                  </a:lnTo>
                  <a:lnTo>
                    <a:pt x="3146534" y="307569"/>
                  </a:lnTo>
                  <a:lnTo>
                    <a:pt x="3116309" y="330764"/>
                  </a:lnTo>
                  <a:close/>
                </a:path>
                <a:path w="3463290" h="419100">
                  <a:moveTo>
                    <a:pt x="3189863" y="399981"/>
                  </a:moveTo>
                  <a:lnTo>
                    <a:pt x="3179338" y="393273"/>
                  </a:lnTo>
                  <a:lnTo>
                    <a:pt x="3168858" y="385554"/>
                  </a:lnTo>
                  <a:lnTo>
                    <a:pt x="3158422" y="376824"/>
                  </a:lnTo>
                  <a:lnTo>
                    <a:pt x="3148031" y="367084"/>
                  </a:lnTo>
                  <a:lnTo>
                    <a:pt x="3174810" y="339983"/>
                  </a:lnTo>
                  <a:lnTo>
                    <a:pt x="3183469" y="348114"/>
                  </a:lnTo>
                  <a:lnTo>
                    <a:pt x="3192084" y="355350"/>
                  </a:lnTo>
                  <a:lnTo>
                    <a:pt x="3200653" y="361692"/>
                  </a:lnTo>
                  <a:lnTo>
                    <a:pt x="3209091" y="367084"/>
                  </a:lnTo>
                  <a:lnTo>
                    <a:pt x="3203482" y="376824"/>
                  </a:lnTo>
                  <a:lnTo>
                    <a:pt x="3189863" y="399981"/>
                  </a:lnTo>
                  <a:close/>
                </a:path>
                <a:path w="3463290" h="419100">
                  <a:moveTo>
                    <a:pt x="3285503" y="380979"/>
                  </a:moveTo>
                  <a:lnTo>
                    <a:pt x="3255545" y="380979"/>
                  </a:lnTo>
                  <a:lnTo>
                    <a:pt x="3264879" y="380404"/>
                  </a:lnTo>
                  <a:lnTo>
                    <a:pt x="3274243" y="378691"/>
                  </a:lnTo>
                  <a:lnTo>
                    <a:pt x="3283637" y="375842"/>
                  </a:lnTo>
                  <a:lnTo>
                    <a:pt x="3285503" y="380979"/>
                  </a:lnTo>
                  <a:close/>
                </a:path>
                <a:path w="3463290" h="419100">
                  <a:moveTo>
                    <a:pt x="3255434" y="419087"/>
                  </a:moveTo>
                  <a:lnTo>
                    <a:pt x="3241636" y="418237"/>
                  </a:lnTo>
                  <a:lnTo>
                    <a:pt x="3246173" y="380979"/>
                  </a:lnTo>
                  <a:lnTo>
                    <a:pt x="3246243" y="380404"/>
                  </a:lnTo>
                  <a:lnTo>
                    <a:pt x="3246038" y="380404"/>
                  </a:lnTo>
                  <a:lnTo>
                    <a:pt x="3255545" y="380979"/>
                  </a:lnTo>
                  <a:lnTo>
                    <a:pt x="3285503" y="380979"/>
                  </a:lnTo>
                  <a:lnTo>
                    <a:pt x="3296647" y="411652"/>
                  </a:lnTo>
                  <a:lnTo>
                    <a:pt x="3282939" y="415794"/>
                  </a:lnTo>
                  <a:lnTo>
                    <a:pt x="3269401" y="418237"/>
                  </a:lnTo>
                  <a:lnTo>
                    <a:pt x="3269809" y="418237"/>
                  </a:lnTo>
                  <a:lnTo>
                    <a:pt x="3255434" y="419087"/>
                  </a:lnTo>
                  <a:close/>
                </a:path>
                <a:path w="3463290" h="419100">
                  <a:moveTo>
                    <a:pt x="3342310" y="385483"/>
                  </a:moveTo>
                  <a:lnTo>
                    <a:pt x="3318742" y="355547"/>
                  </a:lnTo>
                  <a:lnTo>
                    <a:pt x="3326604" y="349000"/>
                  </a:lnTo>
                  <a:lnTo>
                    <a:pt x="3334495" y="341716"/>
                  </a:lnTo>
                  <a:lnTo>
                    <a:pt x="3342414" y="333695"/>
                  </a:lnTo>
                  <a:lnTo>
                    <a:pt x="3350362" y="324937"/>
                  </a:lnTo>
                  <a:lnTo>
                    <a:pt x="3379072" y="349984"/>
                  </a:lnTo>
                  <a:lnTo>
                    <a:pt x="3369924" y="360054"/>
                  </a:lnTo>
                  <a:lnTo>
                    <a:pt x="3360748" y="369328"/>
                  </a:lnTo>
                  <a:lnTo>
                    <a:pt x="3351543" y="377804"/>
                  </a:lnTo>
                  <a:lnTo>
                    <a:pt x="3342310" y="385483"/>
                  </a:lnTo>
                  <a:close/>
                </a:path>
                <a:path w="3463290" h="419100">
                  <a:moveTo>
                    <a:pt x="3410180" y="309484"/>
                  </a:moveTo>
                  <a:lnTo>
                    <a:pt x="3378756" y="287940"/>
                  </a:lnTo>
                  <a:lnTo>
                    <a:pt x="3384672" y="279122"/>
                  </a:lnTo>
                  <a:lnTo>
                    <a:pt x="3390593" y="269914"/>
                  </a:lnTo>
                  <a:lnTo>
                    <a:pt x="3396519" y="260318"/>
                  </a:lnTo>
                  <a:lnTo>
                    <a:pt x="3402451" y="250333"/>
                  </a:lnTo>
                  <a:lnTo>
                    <a:pt x="3435366" y="269523"/>
                  </a:lnTo>
                  <a:lnTo>
                    <a:pt x="3429077" y="280106"/>
                  </a:lnTo>
                  <a:lnTo>
                    <a:pt x="3422784" y="290294"/>
                  </a:lnTo>
                  <a:lnTo>
                    <a:pt x="3416485" y="300087"/>
                  </a:lnTo>
                  <a:lnTo>
                    <a:pt x="3410180" y="309484"/>
                  </a:lnTo>
                  <a:close/>
                </a:path>
                <a:path w="3463290" h="419100">
                  <a:moveTo>
                    <a:pt x="3459544" y="225053"/>
                  </a:moveTo>
                  <a:lnTo>
                    <a:pt x="3425530" y="207888"/>
                  </a:lnTo>
                  <a:lnTo>
                    <a:pt x="3429031" y="200950"/>
                  </a:lnTo>
                  <a:lnTo>
                    <a:pt x="3463045" y="218115"/>
                  </a:lnTo>
                  <a:lnTo>
                    <a:pt x="3459544" y="225053"/>
                  </a:lnTo>
                  <a:close/>
                </a:path>
              </a:pathLst>
            </a:custGeom>
            <a:solidFill>
              <a:srgbClr val="7DB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5095862" y="3657599"/>
              <a:ext cx="2343150" cy="57150"/>
            </a:xfrm>
            <a:custGeom>
              <a:avLst/>
              <a:gdLst/>
              <a:ahLst/>
              <a:cxnLst/>
              <a:rect l="l" t="t" r="r" b="b"/>
              <a:pathLst>
                <a:path w="2343150" h="57150">
                  <a:moveTo>
                    <a:pt x="57150" y="24790"/>
                  </a:moveTo>
                  <a:lnTo>
                    <a:pt x="32372" y="0"/>
                  </a:lnTo>
                  <a:lnTo>
                    <a:pt x="24790" y="0"/>
                  </a:lnTo>
                  <a:lnTo>
                    <a:pt x="0" y="24790"/>
                  </a:lnTo>
                  <a:lnTo>
                    <a:pt x="0" y="32372"/>
                  </a:lnTo>
                  <a:lnTo>
                    <a:pt x="24790" y="57150"/>
                  </a:lnTo>
                  <a:lnTo>
                    <a:pt x="32372" y="57150"/>
                  </a:lnTo>
                  <a:lnTo>
                    <a:pt x="57150" y="32372"/>
                  </a:lnTo>
                  <a:lnTo>
                    <a:pt x="57150" y="28575"/>
                  </a:lnTo>
                  <a:lnTo>
                    <a:pt x="57150" y="24790"/>
                  </a:lnTo>
                  <a:close/>
                </a:path>
                <a:path w="2343150" h="57150">
                  <a:moveTo>
                    <a:pt x="819150" y="24790"/>
                  </a:moveTo>
                  <a:lnTo>
                    <a:pt x="794372" y="0"/>
                  </a:lnTo>
                  <a:lnTo>
                    <a:pt x="786790" y="0"/>
                  </a:lnTo>
                  <a:lnTo>
                    <a:pt x="762000" y="24790"/>
                  </a:lnTo>
                  <a:lnTo>
                    <a:pt x="762000" y="32372"/>
                  </a:lnTo>
                  <a:lnTo>
                    <a:pt x="786790" y="57150"/>
                  </a:lnTo>
                  <a:lnTo>
                    <a:pt x="794372" y="57150"/>
                  </a:lnTo>
                  <a:lnTo>
                    <a:pt x="819150" y="32372"/>
                  </a:lnTo>
                  <a:lnTo>
                    <a:pt x="819150" y="28575"/>
                  </a:lnTo>
                  <a:lnTo>
                    <a:pt x="819150" y="24790"/>
                  </a:lnTo>
                  <a:close/>
                </a:path>
                <a:path w="2343150" h="57150">
                  <a:moveTo>
                    <a:pt x="1581150" y="24790"/>
                  </a:moveTo>
                  <a:lnTo>
                    <a:pt x="1556372" y="0"/>
                  </a:lnTo>
                  <a:lnTo>
                    <a:pt x="1548790" y="0"/>
                  </a:lnTo>
                  <a:lnTo>
                    <a:pt x="1524000" y="24790"/>
                  </a:lnTo>
                  <a:lnTo>
                    <a:pt x="1524000" y="32372"/>
                  </a:lnTo>
                  <a:lnTo>
                    <a:pt x="1548790" y="57150"/>
                  </a:lnTo>
                  <a:lnTo>
                    <a:pt x="1556372" y="57150"/>
                  </a:lnTo>
                  <a:lnTo>
                    <a:pt x="1581150" y="32372"/>
                  </a:lnTo>
                  <a:lnTo>
                    <a:pt x="1581150" y="28575"/>
                  </a:lnTo>
                  <a:lnTo>
                    <a:pt x="1581150" y="24790"/>
                  </a:lnTo>
                  <a:close/>
                </a:path>
                <a:path w="2343150" h="57150">
                  <a:moveTo>
                    <a:pt x="2343150" y="24790"/>
                  </a:moveTo>
                  <a:lnTo>
                    <a:pt x="2318372" y="0"/>
                  </a:lnTo>
                  <a:lnTo>
                    <a:pt x="2310790" y="0"/>
                  </a:lnTo>
                  <a:lnTo>
                    <a:pt x="2286000" y="24790"/>
                  </a:lnTo>
                  <a:lnTo>
                    <a:pt x="2286000" y="32372"/>
                  </a:lnTo>
                  <a:lnTo>
                    <a:pt x="2310790" y="57150"/>
                  </a:lnTo>
                  <a:lnTo>
                    <a:pt x="2318372" y="57150"/>
                  </a:lnTo>
                  <a:lnTo>
                    <a:pt x="2343150" y="32372"/>
                  </a:lnTo>
                  <a:lnTo>
                    <a:pt x="2343150" y="28575"/>
                  </a:lnTo>
                  <a:lnTo>
                    <a:pt x="2343150" y="24790"/>
                  </a:lnTo>
                  <a:close/>
                </a:path>
              </a:pathLst>
            </a:custGeom>
            <a:solidFill>
              <a:srgbClr val="004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743437" y="4529137"/>
              <a:ext cx="2638425" cy="28575"/>
            </a:xfrm>
            <a:custGeom>
              <a:avLst/>
              <a:gdLst/>
              <a:ahLst/>
              <a:cxnLst/>
              <a:rect l="l" t="t" r="r" b="b"/>
              <a:pathLst>
                <a:path w="2638425" h="28575">
                  <a:moveTo>
                    <a:pt x="9525" y="0"/>
                  </a:moveTo>
                  <a:lnTo>
                    <a:pt x="0" y="0"/>
                  </a:lnTo>
                  <a:lnTo>
                    <a:pt x="0" y="28575"/>
                  </a:lnTo>
                  <a:lnTo>
                    <a:pt x="9525" y="28575"/>
                  </a:lnTo>
                  <a:lnTo>
                    <a:pt x="9525" y="0"/>
                  </a:lnTo>
                  <a:close/>
                </a:path>
                <a:path w="2638425" h="28575">
                  <a:moveTo>
                    <a:pt x="47625" y="0"/>
                  </a:moveTo>
                  <a:lnTo>
                    <a:pt x="38100" y="0"/>
                  </a:lnTo>
                  <a:lnTo>
                    <a:pt x="38100" y="28575"/>
                  </a:lnTo>
                  <a:lnTo>
                    <a:pt x="47625" y="28575"/>
                  </a:lnTo>
                  <a:lnTo>
                    <a:pt x="47625" y="0"/>
                  </a:lnTo>
                  <a:close/>
                </a:path>
                <a:path w="2638425" h="28575">
                  <a:moveTo>
                    <a:pt x="85725" y="0"/>
                  </a:moveTo>
                  <a:lnTo>
                    <a:pt x="76200" y="0"/>
                  </a:lnTo>
                  <a:lnTo>
                    <a:pt x="76200" y="28575"/>
                  </a:lnTo>
                  <a:lnTo>
                    <a:pt x="85725" y="28575"/>
                  </a:lnTo>
                  <a:lnTo>
                    <a:pt x="85725" y="0"/>
                  </a:lnTo>
                  <a:close/>
                </a:path>
                <a:path w="2638425" h="28575">
                  <a:moveTo>
                    <a:pt x="123825" y="0"/>
                  </a:moveTo>
                  <a:lnTo>
                    <a:pt x="114300" y="0"/>
                  </a:lnTo>
                  <a:lnTo>
                    <a:pt x="114300" y="28575"/>
                  </a:lnTo>
                  <a:lnTo>
                    <a:pt x="123825" y="28575"/>
                  </a:lnTo>
                  <a:lnTo>
                    <a:pt x="123825" y="0"/>
                  </a:lnTo>
                  <a:close/>
                </a:path>
                <a:path w="2638425" h="28575">
                  <a:moveTo>
                    <a:pt x="161925" y="0"/>
                  </a:moveTo>
                  <a:lnTo>
                    <a:pt x="152400" y="0"/>
                  </a:lnTo>
                  <a:lnTo>
                    <a:pt x="152400" y="28575"/>
                  </a:lnTo>
                  <a:lnTo>
                    <a:pt x="161925" y="28575"/>
                  </a:lnTo>
                  <a:lnTo>
                    <a:pt x="161925" y="0"/>
                  </a:lnTo>
                  <a:close/>
                </a:path>
                <a:path w="2638425" h="28575">
                  <a:moveTo>
                    <a:pt x="200025" y="0"/>
                  </a:moveTo>
                  <a:lnTo>
                    <a:pt x="190500" y="0"/>
                  </a:lnTo>
                  <a:lnTo>
                    <a:pt x="190500" y="28575"/>
                  </a:lnTo>
                  <a:lnTo>
                    <a:pt x="200025" y="28575"/>
                  </a:lnTo>
                  <a:lnTo>
                    <a:pt x="200025" y="0"/>
                  </a:lnTo>
                  <a:close/>
                </a:path>
                <a:path w="2638425" h="28575">
                  <a:moveTo>
                    <a:pt x="238125" y="0"/>
                  </a:moveTo>
                  <a:lnTo>
                    <a:pt x="228600" y="0"/>
                  </a:lnTo>
                  <a:lnTo>
                    <a:pt x="228600" y="28575"/>
                  </a:lnTo>
                  <a:lnTo>
                    <a:pt x="238125" y="28575"/>
                  </a:lnTo>
                  <a:lnTo>
                    <a:pt x="238125" y="0"/>
                  </a:lnTo>
                  <a:close/>
                </a:path>
                <a:path w="2638425" h="28575">
                  <a:moveTo>
                    <a:pt x="276225" y="0"/>
                  </a:moveTo>
                  <a:lnTo>
                    <a:pt x="266700" y="0"/>
                  </a:lnTo>
                  <a:lnTo>
                    <a:pt x="266700" y="28575"/>
                  </a:lnTo>
                  <a:lnTo>
                    <a:pt x="276225" y="28575"/>
                  </a:lnTo>
                  <a:lnTo>
                    <a:pt x="276225" y="0"/>
                  </a:lnTo>
                  <a:close/>
                </a:path>
                <a:path w="2638425" h="28575">
                  <a:moveTo>
                    <a:pt x="314325" y="0"/>
                  </a:moveTo>
                  <a:lnTo>
                    <a:pt x="304800" y="0"/>
                  </a:lnTo>
                  <a:lnTo>
                    <a:pt x="304800" y="28575"/>
                  </a:lnTo>
                  <a:lnTo>
                    <a:pt x="314325" y="28575"/>
                  </a:lnTo>
                  <a:lnTo>
                    <a:pt x="314325" y="0"/>
                  </a:lnTo>
                  <a:close/>
                </a:path>
                <a:path w="2638425" h="28575">
                  <a:moveTo>
                    <a:pt x="352425" y="0"/>
                  </a:moveTo>
                  <a:lnTo>
                    <a:pt x="342900" y="0"/>
                  </a:lnTo>
                  <a:lnTo>
                    <a:pt x="342900" y="28575"/>
                  </a:lnTo>
                  <a:lnTo>
                    <a:pt x="352425" y="28575"/>
                  </a:lnTo>
                  <a:lnTo>
                    <a:pt x="352425" y="0"/>
                  </a:lnTo>
                  <a:close/>
                </a:path>
                <a:path w="2638425" h="28575">
                  <a:moveTo>
                    <a:pt x="390525" y="0"/>
                  </a:moveTo>
                  <a:lnTo>
                    <a:pt x="381000" y="0"/>
                  </a:lnTo>
                  <a:lnTo>
                    <a:pt x="381000" y="28575"/>
                  </a:lnTo>
                  <a:lnTo>
                    <a:pt x="390525" y="28575"/>
                  </a:lnTo>
                  <a:lnTo>
                    <a:pt x="390525" y="0"/>
                  </a:lnTo>
                  <a:close/>
                </a:path>
                <a:path w="2638425" h="28575">
                  <a:moveTo>
                    <a:pt x="428625" y="0"/>
                  </a:moveTo>
                  <a:lnTo>
                    <a:pt x="419100" y="0"/>
                  </a:lnTo>
                  <a:lnTo>
                    <a:pt x="419100" y="28575"/>
                  </a:lnTo>
                  <a:lnTo>
                    <a:pt x="428625" y="28575"/>
                  </a:lnTo>
                  <a:lnTo>
                    <a:pt x="428625" y="0"/>
                  </a:lnTo>
                  <a:close/>
                </a:path>
                <a:path w="2638425" h="28575">
                  <a:moveTo>
                    <a:pt x="466725" y="0"/>
                  </a:moveTo>
                  <a:lnTo>
                    <a:pt x="457200" y="0"/>
                  </a:lnTo>
                  <a:lnTo>
                    <a:pt x="457200" y="28575"/>
                  </a:lnTo>
                  <a:lnTo>
                    <a:pt x="466725" y="28575"/>
                  </a:lnTo>
                  <a:lnTo>
                    <a:pt x="466725" y="0"/>
                  </a:lnTo>
                  <a:close/>
                </a:path>
                <a:path w="2638425" h="28575">
                  <a:moveTo>
                    <a:pt x="504825" y="0"/>
                  </a:moveTo>
                  <a:lnTo>
                    <a:pt x="495300" y="0"/>
                  </a:lnTo>
                  <a:lnTo>
                    <a:pt x="495300" y="28575"/>
                  </a:lnTo>
                  <a:lnTo>
                    <a:pt x="504825" y="28575"/>
                  </a:lnTo>
                  <a:lnTo>
                    <a:pt x="504825" y="0"/>
                  </a:lnTo>
                  <a:close/>
                </a:path>
                <a:path w="2638425" h="28575">
                  <a:moveTo>
                    <a:pt x="542925" y="0"/>
                  </a:moveTo>
                  <a:lnTo>
                    <a:pt x="533400" y="0"/>
                  </a:lnTo>
                  <a:lnTo>
                    <a:pt x="533400" y="28575"/>
                  </a:lnTo>
                  <a:lnTo>
                    <a:pt x="542925" y="28575"/>
                  </a:lnTo>
                  <a:lnTo>
                    <a:pt x="542925" y="0"/>
                  </a:lnTo>
                  <a:close/>
                </a:path>
                <a:path w="2638425" h="28575">
                  <a:moveTo>
                    <a:pt x="581025" y="0"/>
                  </a:moveTo>
                  <a:lnTo>
                    <a:pt x="571500" y="0"/>
                  </a:lnTo>
                  <a:lnTo>
                    <a:pt x="571500" y="28575"/>
                  </a:lnTo>
                  <a:lnTo>
                    <a:pt x="581025" y="28575"/>
                  </a:lnTo>
                  <a:lnTo>
                    <a:pt x="581025" y="0"/>
                  </a:lnTo>
                  <a:close/>
                </a:path>
                <a:path w="2638425" h="28575">
                  <a:moveTo>
                    <a:pt x="619125" y="0"/>
                  </a:moveTo>
                  <a:lnTo>
                    <a:pt x="609600" y="0"/>
                  </a:lnTo>
                  <a:lnTo>
                    <a:pt x="609600" y="28575"/>
                  </a:lnTo>
                  <a:lnTo>
                    <a:pt x="619125" y="28575"/>
                  </a:lnTo>
                  <a:lnTo>
                    <a:pt x="619125" y="0"/>
                  </a:lnTo>
                  <a:close/>
                </a:path>
                <a:path w="2638425" h="28575">
                  <a:moveTo>
                    <a:pt x="657225" y="0"/>
                  </a:moveTo>
                  <a:lnTo>
                    <a:pt x="647700" y="0"/>
                  </a:lnTo>
                  <a:lnTo>
                    <a:pt x="647700" y="28575"/>
                  </a:lnTo>
                  <a:lnTo>
                    <a:pt x="657225" y="28575"/>
                  </a:lnTo>
                  <a:lnTo>
                    <a:pt x="657225" y="0"/>
                  </a:lnTo>
                  <a:close/>
                </a:path>
                <a:path w="2638425" h="28575">
                  <a:moveTo>
                    <a:pt x="695325" y="0"/>
                  </a:moveTo>
                  <a:lnTo>
                    <a:pt x="685800" y="0"/>
                  </a:lnTo>
                  <a:lnTo>
                    <a:pt x="685800" y="28575"/>
                  </a:lnTo>
                  <a:lnTo>
                    <a:pt x="695325" y="28575"/>
                  </a:lnTo>
                  <a:lnTo>
                    <a:pt x="695325" y="0"/>
                  </a:lnTo>
                  <a:close/>
                </a:path>
                <a:path w="2638425" h="28575">
                  <a:moveTo>
                    <a:pt x="733425" y="0"/>
                  </a:moveTo>
                  <a:lnTo>
                    <a:pt x="723900" y="0"/>
                  </a:lnTo>
                  <a:lnTo>
                    <a:pt x="723900" y="28575"/>
                  </a:lnTo>
                  <a:lnTo>
                    <a:pt x="733425" y="28575"/>
                  </a:lnTo>
                  <a:lnTo>
                    <a:pt x="733425" y="0"/>
                  </a:lnTo>
                  <a:close/>
                </a:path>
                <a:path w="2638425" h="28575">
                  <a:moveTo>
                    <a:pt x="771525" y="0"/>
                  </a:moveTo>
                  <a:lnTo>
                    <a:pt x="762000" y="0"/>
                  </a:lnTo>
                  <a:lnTo>
                    <a:pt x="762000" y="28575"/>
                  </a:lnTo>
                  <a:lnTo>
                    <a:pt x="771525" y="28575"/>
                  </a:lnTo>
                  <a:lnTo>
                    <a:pt x="771525" y="0"/>
                  </a:lnTo>
                  <a:close/>
                </a:path>
                <a:path w="2638425" h="28575">
                  <a:moveTo>
                    <a:pt x="809625" y="0"/>
                  </a:moveTo>
                  <a:lnTo>
                    <a:pt x="800100" y="0"/>
                  </a:lnTo>
                  <a:lnTo>
                    <a:pt x="800100" y="28575"/>
                  </a:lnTo>
                  <a:lnTo>
                    <a:pt x="809625" y="28575"/>
                  </a:lnTo>
                  <a:lnTo>
                    <a:pt x="809625" y="0"/>
                  </a:lnTo>
                  <a:close/>
                </a:path>
                <a:path w="2638425" h="28575">
                  <a:moveTo>
                    <a:pt x="847725" y="0"/>
                  </a:moveTo>
                  <a:lnTo>
                    <a:pt x="838200" y="0"/>
                  </a:lnTo>
                  <a:lnTo>
                    <a:pt x="838200" y="28575"/>
                  </a:lnTo>
                  <a:lnTo>
                    <a:pt x="847725" y="28575"/>
                  </a:lnTo>
                  <a:lnTo>
                    <a:pt x="847725" y="0"/>
                  </a:lnTo>
                  <a:close/>
                </a:path>
                <a:path w="2638425" h="28575">
                  <a:moveTo>
                    <a:pt x="885825" y="0"/>
                  </a:moveTo>
                  <a:lnTo>
                    <a:pt x="876300" y="0"/>
                  </a:lnTo>
                  <a:lnTo>
                    <a:pt x="876300" y="28575"/>
                  </a:lnTo>
                  <a:lnTo>
                    <a:pt x="885825" y="28575"/>
                  </a:lnTo>
                  <a:lnTo>
                    <a:pt x="885825" y="0"/>
                  </a:lnTo>
                  <a:close/>
                </a:path>
                <a:path w="2638425" h="28575">
                  <a:moveTo>
                    <a:pt x="923925" y="0"/>
                  </a:moveTo>
                  <a:lnTo>
                    <a:pt x="914400" y="0"/>
                  </a:lnTo>
                  <a:lnTo>
                    <a:pt x="914400" y="28575"/>
                  </a:lnTo>
                  <a:lnTo>
                    <a:pt x="923925" y="28575"/>
                  </a:lnTo>
                  <a:lnTo>
                    <a:pt x="923925" y="0"/>
                  </a:lnTo>
                  <a:close/>
                </a:path>
                <a:path w="2638425" h="28575">
                  <a:moveTo>
                    <a:pt x="962025" y="0"/>
                  </a:moveTo>
                  <a:lnTo>
                    <a:pt x="952500" y="0"/>
                  </a:lnTo>
                  <a:lnTo>
                    <a:pt x="952500" y="28575"/>
                  </a:lnTo>
                  <a:lnTo>
                    <a:pt x="962025" y="28575"/>
                  </a:lnTo>
                  <a:lnTo>
                    <a:pt x="962025" y="0"/>
                  </a:lnTo>
                  <a:close/>
                </a:path>
                <a:path w="2638425" h="28575">
                  <a:moveTo>
                    <a:pt x="1000125" y="0"/>
                  </a:moveTo>
                  <a:lnTo>
                    <a:pt x="990600" y="0"/>
                  </a:lnTo>
                  <a:lnTo>
                    <a:pt x="990600" y="28575"/>
                  </a:lnTo>
                  <a:lnTo>
                    <a:pt x="1000125" y="28575"/>
                  </a:lnTo>
                  <a:lnTo>
                    <a:pt x="1000125" y="0"/>
                  </a:lnTo>
                  <a:close/>
                </a:path>
                <a:path w="2638425" h="28575">
                  <a:moveTo>
                    <a:pt x="1038225" y="0"/>
                  </a:moveTo>
                  <a:lnTo>
                    <a:pt x="1028700" y="0"/>
                  </a:lnTo>
                  <a:lnTo>
                    <a:pt x="1028700" y="28575"/>
                  </a:lnTo>
                  <a:lnTo>
                    <a:pt x="1038225" y="28575"/>
                  </a:lnTo>
                  <a:lnTo>
                    <a:pt x="1038225" y="0"/>
                  </a:lnTo>
                  <a:close/>
                </a:path>
                <a:path w="2638425" h="28575">
                  <a:moveTo>
                    <a:pt x="1076325" y="0"/>
                  </a:moveTo>
                  <a:lnTo>
                    <a:pt x="1066800" y="0"/>
                  </a:lnTo>
                  <a:lnTo>
                    <a:pt x="1066800" y="28575"/>
                  </a:lnTo>
                  <a:lnTo>
                    <a:pt x="1076325" y="28575"/>
                  </a:lnTo>
                  <a:lnTo>
                    <a:pt x="1076325" y="0"/>
                  </a:lnTo>
                  <a:close/>
                </a:path>
                <a:path w="2638425" h="28575">
                  <a:moveTo>
                    <a:pt x="1114425" y="0"/>
                  </a:moveTo>
                  <a:lnTo>
                    <a:pt x="1104900" y="0"/>
                  </a:lnTo>
                  <a:lnTo>
                    <a:pt x="1104900" y="28575"/>
                  </a:lnTo>
                  <a:lnTo>
                    <a:pt x="1114425" y="28575"/>
                  </a:lnTo>
                  <a:lnTo>
                    <a:pt x="1114425" y="0"/>
                  </a:lnTo>
                  <a:close/>
                </a:path>
                <a:path w="2638425" h="28575">
                  <a:moveTo>
                    <a:pt x="1152525" y="0"/>
                  </a:moveTo>
                  <a:lnTo>
                    <a:pt x="1143000" y="0"/>
                  </a:lnTo>
                  <a:lnTo>
                    <a:pt x="1143000" y="28575"/>
                  </a:lnTo>
                  <a:lnTo>
                    <a:pt x="1152525" y="28575"/>
                  </a:lnTo>
                  <a:lnTo>
                    <a:pt x="1152525" y="0"/>
                  </a:lnTo>
                  <a:close/>
                </a:path>
                <a:path w="2638425" h="28575">
                  <a:moveTo>
                    <a:pt x="1190625" y="0"/>
                  </a:moveTo>
                  <a:lnTo>
                    <a:pt x="1181100" y="0"/>
                  </a:lnTo>
                  <a:lnTo>
                    <a:pt x="1181100" y="28575"/>
                  </a:lnTo>
                  <a:lnTo>
                    <a:pt x="1190625" y="28575"/>
                  </a:lnTo>
                  <a:lnTo>
                    <a:pt x="1190625" y="0"/>
                  </a:lnTo>
                  <a:close/>
                </a:path>
                <a:path w="2638425" h="28575">
                  <a:moveTo>
                    <a:pt x="1228725" y="0"/>
                  </a:moveTo>
                  <a:lnTo>
                    <a:pt x="1219200" y="0"/>
                  </a:lnTo>
                  <a:lnTo>
                    <a:pt x="1219200" y="28575"/>
                  </a:lnTo>
                  <a:lnTo>
                    <a:pt x="1228725" y="28575"/>
                  </a:lnTo>
                  <a:lnTo>
                    <a:pt x="1228725" y="0"/>
                  </a:lnTo>
                  <a:close/>
                </a:path>
                <a:path w="2638425" h="28575">
                  <a:moveTo>
                    <a:pt x="1266825" y="0"/>
                  </a:moveTo>
                  <a:lnTo>
                    <a:pt x="1257300" y="0"/>
                  </a:lnTo>
                  <a:lnTo>
                    <a:pt x="1257300" y="28575"/>
                  </a:lnTo>
                  <a:lnTo>
                    <a:pt x="1266825" y="28575"/>
                  </a:lnTo>
                  <a:lnTo>
                    <a:pt x="1266825" y="0"/>
                  </a:lnTo>
                  <a:close/>
                </a:path>
                <a:path w="2638425" h="28575">
                  <a:moveTo>
                    <a:pt x="1304925" y="0"/>
                  </a:moveTo>
                  <a:lnTo>
                    <a:pt x="1295400" y="0"/>
                  </a:lnTo>
                  <a:lnTo>
                    <a:pt x="1295400" y="28575"/>
                  </a:lnTo>
                  <a:lnTo>
                    <a:pt x="1304925" y="28575"/>
                  </a:lnTo>
                  <a:lnTo>
                    <a:pt x="1304925" y="0"/>
                  </a:lnTo>
                  <a:close/>
                </a:path>
                <a:path w="2638425" h="28575">
                  <a:moveTo>
                    <a:pt x="1343025" y="0"/>
                  </a:moveTo>
                  <a:lnTo>
                    <a:pt x="1333500" y="0"/>
                  </a:lnTo>
                  <a:lnTo>
                    <a:pt x="1333500" y="28575"/>
                  </a:lnTo>
                  <a:lnTo>
                    <a:pt x="1343025" y="28575"/>
                  </a:lnTo>
                  <a:lnTo>
                    <a:pt x="1343025" y="0"/>
                  </a:lnTo>
                  <a:close/>
                </a:path>
                <a:path w="2638425" h="28575">
                  <a:moveTo>
                    <a:pt x="1381125" y="0"/>
                  </a:moveTo>
                  <a:lnTo>
                    <a:pt x="1371600" y="0"/>
                  </a:lnTo>
                  <a:lnTo>
                    <a:pt x="1371600" y="28575"/>
                  </a:lnTo>
                  <a:lnTo>
                    <a:pt x="1381125" y="28575"/>
                  </a:lnTo>
                  <a:lnTo>
                    <a:pt x="1381125" y="0"/>
                  </a:lnTo>
                  <a:close/>
                </a:path>
                <a:path w="2638425" h="28575">
                  <a:moveTo>
                    <a:pt x="1419225" y="0"/>
                  </a:moveTo>
                  <a:lnTo>
                    <a:pt x="1409700" y="0"/>
                  </a:lnTo>
                  <a:lnTo>
                    <a:pt x="1409700" y="28575"/>
                  </a:lnTo>
                  <a:lnTo>
                    <a:pt x="1419225" y="28575"/>
                  </a:lnTo>
                  <a:lnTo>
                    <a:pt x="1419225" y="0"/>
                  </a:lnTo>
                  <a:close/>
                </a:path>
                <a:path w="2638425" h="28575">
                  <a:moveTo>
                    <a:pt x="1457325" y="0"/>
                  </a:moveTo>
                  <a:lnTo>
                    <a:pt x="1447800" y="0"/>
                  </a:lnTo>
                  <a:lnTo>
                    <a:pt x="1447800" y="28575"/>
                  </a:lnTo>
                  <a:lnTo>
                    <a:pt x="1457325" y="28575"/>
                  </a:lnTo>
                  <a:lnTo>
                    <a:pt x="1457325" y="0"/>
                  </a:lnTo>
                  <a:close/>
                </a:path>
                <a:path w="2638425" h="28575">
                  <a:moveTo>
                    <a:pt x="1495425" y="0"/>
                  </a:moveTo>
                  <a:lnTo>
                    <a:pt x="1485900" y="0"/>
                  </a:lnTo>
                  <a:lnTo>
                    <a:pt x="1485900" y="28575"/>
                  </a:lnTo>
                  <a:lnTo>
                    <a:pt x="1495425" y="28575"/>
                  </a:lnTo>
                  <a:lnTo>
                    <a:pt x="1495425" y="0"/>
                  </a:lnTo>
                  <a:close/>
                </a:path>
                <a:path w="2638425" h="28575">
                  <a:moveTo>
                    <a:pt x="1533525" y="0"/>
                  </a:moveTo>
                  <a:lnTo>
                    <a:pt x="1524000" y="0"/>
                  </a:lnTo>
                  <a:lnTo>
                    <a:pt x="1524000" y="28575"/>
                  </a:lnTo>
                  <a:lnTo>
                    <a:pt x="1533525" y="28575"/>
                  </a:lnTo>
                  <a:lnTo>
                    <a:pt x="1533525" y="0"/>
                  </a:lnTo>
                  <a:close/>
                </a:path>
                <a:path w="2638425" h="28575">
                  <a:moveTo>
                    <a:pt x="1571625" y="0"/>
                  </a:moveTo>
                  <a:lnTo>
                    <a:pt x="1562100" y="0"/>
                  </a:lnTo>
                  <a:lnTo>
                    <a:pt x="1562100" y="28575"/>
                  </a:lnTo>
                  <a:lnTo>
                    <a:pt x="1571625" y="28575"/>
                  </a:lnTo>
                  <a:lnTo>
                    <a:pt x="1571625" y="0"/>
                  </a:lnTo>
                  <a:close/>
                </a:path>
                <a:path w="2638425" h="28575">
                  <a:moveTo>
                    <a:pt x="1609725" y="0"/>
                  </a:moveTo>
                  <a:lnTo>
                    <a:pt x="1600200" y="0"/>
                  </a:lnTo>
                  <a:lnTo>
                    <a:pt x="1600200" y="28575"/>
                  </a:lnTo>
                  <a:lnTo>
                    <a:pt x="1609725" y="28575"/>
                  </a:lnTo>
                  <a:lnTo>
                    <a:pt x="1609725" y="0"/>
                  </a:lnTo>
                  <a:close/>
                </a:path>
                <a:path w="2638425" h="28575">
                  <a:moveTo>
                    <a:pt x="1647825" y="0"/>
                  </a:moveTo>
                  <a:lnTo>
                    <a:pt x="1638300" y="0"/>
                  </a:lnTo>
                  <a:lnTo>
                    <a:pt x="1638300" y="28575"/>
                  </a:lnTo>
                  <a:lnTo>
                    <a:pt x="1647825" y="28575"/>
                  </a:lnTo>
                  <a:lnTo>
                    <a:pt x="1647825" y="0"/>
                  </a:lnTo>
                  <a:close/>
                </a:path>
                <a:path w="2638425" h="28575">
                  <a:moveTo>
                    <a:pt x="1685925" y="0"/>
                  </a:moveTo>
                  <a:lnTo>
                    <a:pt x="1676400" y="0"/>
                  </a:lnTo>
                  <a:lnTo>
                    <a:pt x="1676400" y="28575"/>
                  </a:lnTo>
                  <a:lnTo>
                    <a:pt x="1685925" y="28575"/>
                  </a:lnTo>
                  <a:lnTo>
                    <a:pt x="1685925" y="0"/>
                  </a:lnTo>
                  <a:close/>
                </a:path>
                <a:path w="2638425" h="28575">
                  <a:moveTo>
                    <a:pt x="1724025" y="0"/>
                  </a:moveTo>
                  <a:lnTo>
                    <a:pt x="1714500" y="0"/>
                  </a:lnTo>
                  <a:lnTo>
                    <a:pt x="1714500" y="28575"/>
                  </a:lnTo>
                  <a:lnTo>
                    <a:pt x="1724025" y="28575"/>
                  </a:lnTo>
                  <a:lnTo>
                    <a:pt x="1724025" y="0"/>
                  </a:lnTo>
                  <a:close/>
                </a:path>
                <a:path w="2638425" h="28575">
                  <a:moveTo>
                    <a:pt x="1762125" y="0"/>
                  </a:moveTo>
                  <a:lnTo>
                    <a:pt x="1752600" y="0"/>
                  </a:lnTo>
                  <a:lnTo>
                    <a:pt x="1752600" y="28575"/>
                  </a:lnTo>
                  <a:lnTo>
                    <a:pt x="1762125" y="28575"/>
                  </a:lnTo>
                  <a:lnTo>
                    <a:pt x="1762125" y="0"/>
                  </a:lnTo>
                  <a:close/>
                </a:path>
                <a:path w="2638425" h="28575">
                  <a:moveTo>
                    <a:pt x="1800225" y="0"/>
                  </a:moveTo>
                  <a:lnTo>
                    <a:pt x="1790700" y="0"/>
                  </a:lnTo>
                  <a:lnTo>
                    <a:pt x="1790700" y="28575"/>
                  </a:lnTo>
                  <a:lnTo>
                    <a:pt x="1800225" y="28575"/>
                  </a:lnTo>
                  <a:lnTo>
                    <a:pt x="1800225" y="0"/>
                  </a:lnTo>
                  <a:close/>
                </a:path>
                <a:path w="2638425" h="28575">
                  <a:moveTo>
                    <a:pt x="1838325" y="0"/>
                  </a:moveTo>
                  <a:lnTo>
                    <a:pt x="1828800" y="0"/>
                  </a:lnTo>
                  <a:lnTo>
                    <a:pt x="1828800" y="28575"/>
                  </a:lnTo>
                  <a:lnTo>
                    <a:pt x="1838325" y="28575"/>
                  </a:lnTo>
                  <a:lnTo>
                    <a:pt x="1838325" y="0"/>
                  </a:lnTo>
                  <a:close/>
                </a:path>
                <a:path w="2638425" h="28575">
                  <a:moveTo>
                    <a:pt x="1876425" y="0"/>
                  </a:moveTo>
                  <a:lnTo>
                    <a:pt x="1866900" y="0"/>
                  </a:lnTo>
                  <a:lnTo>
                    <a:pt x="1866900" y="28575"/>
                  </a:lnTo>
                  <a:lnTo>
                    <a:pt x="1876425" y="28575"/>
                  </a:lnTo>
                  <a:lnTo>
                    <a:pt x="1876425" y="0"/>
                  </a:lnTo>
                  <a:close/>
                </a:path>
                <a:path w="2638425" h="28575">
                  <a:moveTo>
                    <a:pt x="1914525" y="0"/>
                  </a:moveTo>
                  <a:lnTo>
                    <a:pt x="1905000" y="0"/>
                  </a:lnTo>
                  <a:lnTo>
                    <a:pt x="1905000" y="28575"/>
                  </a:lnTo>
                  <a:lnTo>
                    <a:pt x="1914525" y="28575"/>
                  </a:lnTo>
                  <a:lnTo>
                    <a:pt x="1914525" y="0"/>
                  </a:lnTo>
                  <a:close/>
                </a:path>
                <a:path w="2638425" h="28575">
                  <a:moveTo>
                    <a:pt x="1952625" y="0"/>
                  </a:moveTo>
                  <a:lnTo>
                    <a:pt x="1943100" y="0"/>
                  </a:lnTo>
                  <a:lnTo>
                    <a:pt x="1943100" y="28575"/>
                  </a:lnTo>
                  <a:lnTo>
                    <a:pt x="1952625" y="28575"/>
                  </a:lnTo>
                  <a:lnTo>
                    <a:pt x="1952625" y="0"/>
                  </a:lnTo>
                  <a:close/>
                </a:path>
                <a:path w="2638425" h="28575">
                  <a:moveTo>
                    <a:pt x="1990725" y="0"/>
                  </a:moveTo>
                  <a:lnTo>
                    <a:pt x="1981200" y="0"/>
                  </a:lnTo>
                  <a:lnTo>
                    <a:pt x="1981200" y="28575"/>
                  </a:lnTo>
                  <a:lnTo>
                    <a:pt x="1990725" y="28575"/>
                  </a:lnTo>
                  <a:lnTo>
                    <a:pt x="1990725" y="0"/>
                  </a:lnTo>
                  <a:close/>
                </a:path>
                <a:path w="2638425" h="28575">
                  <a:moveTo>
                    <a:pt x="2028825" y="0"/>
                  </a:moveTo>
                  <a:lnTo>
                    <a:pt x="2019300" y="0"/>
                  </a:lnTo>
                  <a:lnTo>
                    <a:pt x="2019300" y="28575"/>
                  </a:lnTo>
                  <a:lnTo>
                    <a:pt x="2028825" y="28575"/>
                  </a:lnTo>
                  <a:lnTo>
                    <a:pt x="2028825" y="0"/>
                  </a:lnTo>
                  <a:close/>
                </a:path>
                <a:path w="2638425" h="28575">
                  <a:moveTo>
                    <a:pt x="2066925" y="0"/>
                  </a:moveTo>
                  <a:lnTo>
                    <a:pt x="2057400" y="0"/>
                  </a:lnTo>
                  <a:lnTo>
                    <a:pt x="2057400" y="28575"/>
                  </a:lnTo>
                  <a:lnTo>
                    <a:pt x="2066925" y="28575"/>
                  </a:lnTo>
                  <a:lnTo>
                    <a:pt x="2066925" y="0"/>
                  </a:lnTo>
                  <a:close/>
                </a:path>
                <a:path w="2638425" h="28575">
                  <a:moveTo>
                    <a:pt x="2105025" y="0"/>
                  </a:moveTo>
                  <a:lnTo>
                    <a:pt x="2095500" y="0"/>
                  </a:lnTo>
                  <a:lnTo>
                    <a:pt x="2095500" y="28575"/>
                  </a:lnTo>
                  <a:lnTo>
                    <a:pt x="2105025" y="28575"/>
                  </a:lnTo>
                  <a:lnTo>
                    <a:pt x="2105025" y="0"/>
                  </a:lnTo>
                  <a:close/>
                </a:path>
                <a:path w="2638425" h="28575">
                  <a:moveTo>
                    <a:pt x="2143125" y="0"/>
                  </a:moveTo>
                  <a:lnTo>
                    <a:pt x="2133600" y="0"/>
                  </a:lnTo>
                  <a:lnTo>
                    <a:pt x="2133600" y="28575"/>
                  </a:lnTo>
                  <a:lnTo>
                    <a:pt x="2143125" y="28575"/>
                  </a:lnTo>
                  <a:lnTo>
                    <a:pt x="2143125" y="0"/>
                  </a:lnTo>
                  <a:close/>
                </a:path>
                <a:path w="2638425" h="28575">
                  <a:moveTo>
                    <a:pt x="2181225" y="0"/>
                  </a:moveTo>
                  <a:lnTo>
                    <a:pt x="2171700" y="0"/>
                  </a:lnTo>
                  <a:lnTo>
                    <a:pt x="2171700" y="28575"/>
                  </a:lnTo>
                  <a:lnTo>
                    <a:pt x="2181225" y="28575"/>
                  </a:lnTo>
                  <a:lnTo>
                    <a:pt x="2181225" y="0"/>
                  </a:lnTo>
                  <a:close/>
                </a:path>
                <a:path w="2638425" h="28575">
                  <a:moveTo>
                    <a:pt x="2219325" y="0"/>
                  </a:moveTo>
                  <a:lnTo>
                    <a:pt x="2209800" y="0"/>
                  </a:lnTo>
                  <a:lnTo>
                    <a:pt x="2209800" y="28575"/>
                  </a:lnTo>
                  <a:lnTo>
                    <a:pt x="2219325" y="28575"/>
                  </a:lnTo>
                  <a:lnTo>
                    <a:pt x="2219325" y="0"/>
                  </a:lnTo>
                  <a:close/>
                </a:path>
                <a:path w="2638425" h="28575">
                  <a:moveTo>
                    <a:pt x="2257425" y="0"/>
                  </a:moveTo>
                  <a:lnTo>
                    <a:pt x="2247900" y="0"/>
                  </a:lnTo>
                  <a:lnTo>
                    <a:pt x="2247900" y="28575"/>
                  </a:lnTo>
                  <a:lnTo>
                    <a:pt x="2257425" y="28575"/>
                  </a:lnTo>
                  <a:lnTo>
                    <a:pt x="2257425" y="0"/>
                  </a:lnTo>
                  <a:close/>
                </a:path>
                <a:path w="2638425" h="28575">
                  <a:moveTo>
                    <a:pt x="2295525" y="0"/>
                  </a:moveTo>
                  <a:lnTo>
                    <a:pt x="2286000" y="0"/>
                  </a:lnTo>
                  <a:lnTo>
                    <a:pt x="2286000" y="28575"/>
                  </a:lnTo>
                  <a:lnTo>
                    <a:pt x="2295525" y="28575"/>
                  </a:lnTo>
                  <a:lnTo>
                    <a:pt x="2295525" y="0"/>
                  </a:lnTo>
                  <a:close/>
                </a:path>
                <a:path w="2638425" h="28575">
                  <a:moveTo>
                    <a:pt x="2333625" y="0"/>
                  </a:moveTo>
                  <a:lnTo>
                    <a:pt x="2324100" y="0"/>
                  </a:lnTo>
                  <a:lnTo>
                    <a:pt x="2324100" y="28575"/>
                  </a:lnTo>
                  <a:lnTo>
                    <a:pt x="2333625" y="28575"/>
                  </a:lnTo>
                  <a:lnTo>
                    <a:pt x="2333625" y="0"/>
                  </a:lnTo>
                  <a:close/>
                </a:path>
                <a:path w="2638425" h="28575">
                  <a:moveTo>
                    <a:pt x="2371725" y="0"/>
                  </a:moveTo>
                  <a:lnTo>
                    <a:pt x="2362200" y="0"/>
                  </a:lnTo>
                  <a:lnTo>
                    <a:pt x="2362200" y="28575"/>
                  </a:lnTo>
                  <a:lnTo>
                    <a:pt x="2371725" y="28575"/>
                  </a:lnTo>
                  <a:lnTo>
                    <a:pt x="2371725" y="0"/>
                  </a:lnTo>
                  <a:close/>
                </a:path>
                <a:path w="2638425" h="28575">
                  <a:moveTo>
                    <a:pt x="2409825" y="0"/>
                  </a:moveTo>
                  <a:lnTo>
                    <a:pt x="2400300" y="0"/>
                  </a:lnTo>
                  <a:lnTo>
                    <a:pt x="2400300" y="28575"/>
                  </a:lnTo>
                  <a:lnTo>
                    <a:pt x="2409825" y="28575"/>
                  </a:lnTo>
                  <a:lnTo>
                    <a:pt x="2409825" y="0"/>
                  </a:lnTo>
                  <a:close/>
                </a:path>
                <a:path w="2638425" h="28575">
                  <a:moveTo>
                    <a:pt x="2447925" y="0"/>
                  </a:moveTo>
                  <a:lnTo>
                    <a:pt x="2438400" y="0"/>
                  </a:lnTo>
                  <a:lnTo>
                    <a:pt x="2438400" y="28575"/>
                  </a:lnTo>
                  <a:lnTo>
                    <a:pt x="2447925" y="28575"/>
                  </a:lnTo>
                  <a:lnTo>
                    <a:pt x="2447925" y="0"/>
                  </a:lnTo>
                  <a:close/>
                </a:path>
                <a:path w="2638425" h="28575">
                  <a:moveTo>
                    <a:pt x="2486025" y="0"/>
                  </a:moveTo>
                  <a:lnTo>
                    <a:pt x="2476500" y="0"/>
                  </a:lnTo>
                  <a:lnTo>
                    <a:pt x="2476500" y="28575"/>
                  </a:lnTo>
                  <a:lnTo>
                    <a:pt x="2486025" y="28575"/>
                  </a:lnTo>
                  <a:lnTo>
                    <a:pt x="2486025" y="0"/>
                  </a:lnTo>
                  <a:close/>
                </a:path>
                <a:path w="2638425" h="28575">
                  <a:moveTo>
                    <a:pt x="2524125" y="0"/>
                  </a:moveTo>
                  <a:lnTo>
                    <a:pt x="2514600" y="0"/>
                  </a:lnTo>
                  <a:lnTo>
                    <a:pt x="2514600" y="28575"/>
                  </a:lnTo>
                  <a:lnTo>
                    <a:pt x="2524125" y="28575"/>
                  </a:lnTo>
                  <a:lnTo>
                    <a:pt x="2524125" y="0"/>
                  </a:lnTo>
                  <a:close/>
                </a:path>
                <a:path w="2638425" h="28575">
                  <a:moveTo>
                    <a:pt x="2562225" y="0"/>
                  </a:moveTo>
                  <a:lnTo>
                    <a:pt x="2552700" y="0"/>
                  </a:lnTo>
                  <a:lnTo>
                    <a:pt x="2552700" y="28575"/>
                  </a:lnTo>
                  <a:lnTo>
                    <a:pt x="2562225" y="28575"/>
                  </a:lnTo>
                  <a:lnTo>
                    <a:pt x="2562225" y="0"/>
                  </a:lnTo>
                  <a:close/>
                </a:path>
                <a:path w="2638425" h="28575">
                  <a:moveTo>
                    <a:pt x="2600325" y="0"/>
                  </a:moveTo>
                  <a:lnTo>
                    <a:pt x="2590800" y="0"/>
                  </a:lnTo>
                  <a:lnTo>
                    <a:pt x="2590800" y="28575"/>
                  </a:lnTo>
                  <a:lnTo>
                    <a:pt x="2600325" y="28575"/>
                  </a:lnTo>
                  <a:lnTo>
                    <a:pt x="2600325" y="0"/>
                  </a:lnTo>
                  <a:close/>
                </a:path>
                <a:path w="2638425" h="28575">
                  <a:moveTo>
                    <a:pt x="2638425" y="0"/>
                  </a:moveTo>
                  <a:lnTo>
                    <a:pt x="2628900" y="0"/>
                  </a:lnTo>
                  <a:lnTo>
                    <a:pt x="2628900" y="28575"/>
                  </a:lnTo>
                  <a:lnTo>
                    <a:pt x="2638425" y="28575"/>
                  </a:lnTo>
                  <a:lnTo>
                    <a:pt x="2638425" y="0"/>
                  </a:lnTo>
                  <a:close/>
                </a:path>
              </a:pathLst>
            </a:custGeom>
            <a:solidFill>
              <a:srgbClr val="8787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124449" y="4305299"/>
              <a:ext cx="0" cy="238125"/>
            </a:xfrm>
            <a:custGeom>
              <a:avLst/>
              <a:gdLst/>
              <a:ahLst/>
              <a:cxnLst/>
              <a:rect l="l" t="t" r="r" b="b"/>
              <a:pathLst>
                <a:path w="0" h="238125">
                  <a:moveTo>
                    <a:pt x="0" y="238124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54545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981574" y="4257674"/>
              <a:ext cx="285750" cy="190500"/>
            </a:xfrm>
            <a:custGeom>
              <a:avLst/>
              <a:gdLst/>
              <a:ahLst/>
              <a:cxnLst/>
              <a:rect l="l" t="t" r="r" b="b"/>
              <a:pathLst>
                <a:path w="285750" h="190500">
                  <a:moveTo>
                    <a:pt x="277567" y="0"/>
                  </a:moveTo>
                  <a:lnTo>
                    <a:pt x="285578" y="40605"/>
                  </a:lnTo>
                  <a:lnTo>
                    <a:pt x="285749" y="47624"/>
                  </a:lnTo>
                  <a:lnTo>
                    <a:pt x="285578" y="54643"/>
                  </a:lnTo>
                  <a:lnTo>
                    <a:pt x="277401" y="95750"/>
                  </a:lnTo>
                  <a:lnTo>
                    <a:pt x="257628" y="132742"/>
                  </a:lnTo>
                  <a:lnTo>
                    <a:pt x="227992" y="162378"/>
                  </a:lnTo>
                  <a:lnTo>
                    <a:pt x="191000" y="182151"/>
                  </a:lnTo>
                  <a:lnTo>
                    <a:pt x="149894" y="190328"/>
                  </a:lnTo>
                  <a:lnTo>
                    <a:pt x="142874" y="190499"/>
                  </a:lnTo>
                  <a:lnTo>
                    <a:pt x="135855" y="190328"/>
                  </a:lnTo>
                  <a:lnTo>
                    <a:pt x="94749" y="182151"/>
                  </a:lnTo>
                  <a:lnTo>
                    <a:pt x="57757" y="162378"/>
                  </a:lnTo>
                  <a:lnTo>
                    <a:pt x="28120" y="132742"/>
                  </a:lnTo>
                  <a:lnTo>
                    <a:pt x="8348" y="95750"/>
                  </a:lnTo>
                  <a:lnTo>
                    <a:pt x="171" y="54643"/>
                  </a:lnTo>
                  <a:lnTo>
                    <a:pt x="0" y="47624"/>
                  </a:lnTo>
                  <a:lnTo>
                    <a:pt x="171" y="40605"/>
                  </a:lnTo>
                  <a:lnTo>
                    <a:pt x="8182" y="0"/>
                  </a:lnTo>
                </a:path>
              </a:pathLst>
            </a:custGeom>
            <a:ln w="9524">
              <a:solidFill>
                <a:srgbClr val="54545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00624" y="4257674"/>
              <a:ext cx="247649" cy="152399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7029449" y="4305299"/>
              <a:ext cx="0" cy="238125"/>
            </a:xfrm>
            <a:custGeom>
              <a:avLst/>
              <a:gdLst/>
              <a:ahLst/>
              <a:cxnLst/>
              <a:rect l="l" t="t" r="r" b="b"/>
              <a:pathLst>
                <a:path w="0" h="238125">
                  <a:moveTo>
                    <a:pt x="0" y="238124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54545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6886574" y="4257674"/>
              <a:ext cx="285750" cy="190500"/>
            </a:xfrm>
            <a:custGeom>
              <a:avLst/>
              <a:gdLst/>
              <a:ahLst/>
              <a:cxnLst/>
              <a:rect l="l" t="t" r="r" b="b"/>
              <a:pathLst>
                <a:path w="285750" h="190500">
                  <a:moveTo>
                    <a:pt x="277566" y="0"/>
                  </a:moveTo>
                  <a:lnTo>
                    <a:pt x="285578" y="40605"/>
                  </a:lnTo>
                  <a:lnTo>
                    <a:pt x="285749" y="47624"/>
                  </a:lnTo>
                  <a:lnTo>
                    <a:pt x="285578" y="54643"/>
                  </a:lnTo>
                  <a:lnTo>
                    <a:pt x="277401" y="95750"/>
                  </a:lnTo>
                  <a:lnTo>
                    <a:pt x="257628" y="132742"/>
                  </a:lnTo>
                  <a:lnTo>
                    <a:pt x="227992" y="162378"/>
                  </a:lnTo>
                  <a:lnTo>
                    <a:pt x="191000" y="182151"/>
                  </a:lnTo>
                  <a:lnTo>
                    <a:pt x="149893" y="190328"/>
                  </a:lnTo>
                  <a:lnTo>
                    <a:pt x="142874" y="190499"/>
                  </a:lnTo>
                  <a:lnTo>
                    <a:pt x="135855" y="190328"/>
                  </a:lnTo>
                  <a:lnTo>
                    <a:pt x="94749" y="182151"/>
                  </a:lnTo>
                  <a:lnTo>
                    <a:pt x="57756" y="162378"/>
                  </a:lnTo>
                  <a:lnTo>
                    <a:pt x="28120" y="132742"/>
                  </a:lnTo>
                  <a:lnTo>
                    <a:pt x="8347" y="95750"/>
                  </a:lnTo>
                  <a:lnTo>
                    <a:pt x="171" y="54643"/>
                  </a:lnTo>
                  <a:lnTo>
                    <a:pt x="0" y="47624"/>
                  </a:lnTo>
                  <a:lnTo>
                    <a:pt x="171" y="40605"/>
                  </a:lnTo>
                  <a:lnTo>
                    <a:pt x="8182" y="0"/>
                  </a:lnTo>
                </a:path>
              </a:pathLst>
            </a:custGeom>
            <a:ln w="9524">
              <a:solidFill>
                <a:srgbClr val="54545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05625" y="4257674"/>
              <a:ext cx="247649" cy="152399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5886449" y="4448174"/>
              <a:ext cx="381000" cy="190500"/>
            </a:xfrm>
            <a:custGeom>
              <a:avLst/>
              <a:gdLst/>
              <a:ahLst/>
              <a:cxnLst/>
              <a:rect l="l" t="t" r="r" b="b"/>
              <a:pathLst>
                <a:path w="381000" h="190500">
                  <a:moveTo>
                    <a:pt x="364476" y="190499"/>
                  </a:moveTo>
                  <a:lnTo>
                    <a:pt x="16523" y="190499"/>
                  </a:lnTo>
                  <a:lnTo>
                    <a:pt x="14093" y="190016"/>
                  </a:lnTo>
                  <a:lnTo>
                    <a:pt x="0" y="173976"/>
                  </a:lnTo>
                  <a:lnTo>
                    <a:pt x="0" y="16523"/>
                  </a:lnTo>
                  <a:lnTo>
                    <a:pt x="16523" y="0"/>
                  </a:lnTo>
                  <a:lnTo>
                    <a:pt x="19050" y="0"/>
                  </a:lnTo>
                  <a:lnTo>
                    <a:pt x="364476" y="0"/>
                  </a:lnTo>
                  <a:lnTo>
                    <a:pt x="380999" y="16523"/>
                  </a:lnTo>
                  <a:lnTo>
                    <a:pt x="380999" y="173976"/>
                  </a:lnTo>
                  <a:lnTo>
                    <a:pt x="366906" y="190016"/>
                  </a:lnTo>
                  <a:lnTo>
                    <a:pt x="364476" y="190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5886449" y="4448174"/>
              <a:ext cx="381000" cy="190500"/>
            </a:xfrm>
            <a:custGeom>
              <a:avLst/>
              <a:gdLst/>
              <a:ahLst/>
              <a:cxnLst/>
              <a:rect l="l" t="t" r="r" b="b"/>
              <a:pathLst>
                <a:path w="381000" h="190500">
                  <a:moveTo>
                    <a:pt x="19050" y="0"/>
                  </a:moveTo>
                  <a:lnTo>
                    <a:pt x="361950" y="0"/>
                  </a:lnTo>
                  <a:lnTo>
                    <a:pt x="364476" y="0"/>
                  </a:lnTo>
                  <a:lnTo>
                    <a:pt x="366906" y="483"/>
                  </a:lnTo>
                  <a:lnTo>
                    <a:pt x="379549" y="11759"/>
                  </a:lnTo>
                  <a:lnTo>
                    <a:pt x="380516" y="14093"/>
                  </a:lnTo>
                  <a:lnTo>
                    <a:pt x="380999" y="16523"/>
                  </a:lnTo>
                  <a:lnTo>
                    <a:pt x="381000" y="19049"/>
                  </a:lnTo>
                  <a:lnTo>
                    <a:pt x="381000" y="171449"/>
                  </a:lnTo>
                  <a:lnTo>
                    <a:pt x="380999" y="173976"/>
                  </a:lnTo>
                  <a:lnTo>
                    <a:pt x="380516" y="176406"/>
                  </a:lnTo>
                  <a:lnTo>
                    <a:pt x="379549" y="178740"/>
                  </a:lnTo>
                  <a:lnTo>
                    <a:pt x="378583" y="181073"/>
                  </a:lnTo>
                  <a:lnTo>
                    <a:pt x="361950" y="190499"/>
                  </a:lnTo>
                  <a:lnTo>
                    <a:pt x="19050" y="190499"/>
                  </a:lnTo>
                  <a:lnTo>
                    <a:pt x="16523" y="190499"/>
                  </a:lnTo>
                  <a:lnTo>
                    <a:pt x="14093" y="190016"/>
                  </a:lnTo>
                  <a:lnTo>
                    <a:pt x="11759" y="189049"/>
                  </a:lnTo>
                  <a:lnTo>
                    <a:pt x="9426" y="188083"/>
                  </a:lnTo>
                  <a:lnTo>
                    <a:pt x="0" y="173976"/>
                  </a:lnTo>
                  <a:lnTo>
                    <a:pt x="0" y="171449"/>
                  </a:lnTo>
                  <a:lnTo>
                    <a:pt x="0" y="19049"/>
                  </a:lnTo>
                  <a:lnTo>
                    <a:pt x="5579" y="5579"/>
                  </a:lnTo>
                  <a:lnTo>
                    <a:pt x="7366" y="3793"/>
                  </a:lnTo>
                  <a:lnTo>
                    <a:pt x="9426" y="2416"/>
                  </a:lnTo>
                  <a:lnTo>
                    <a:pt x="11759" y="1450"/>
                  </a:lnTo>
                  <a:lnTo>
                    <a:pt x="14093" y="483"/>
                  </a:lnTo>
                  <a:lnTo>
                    <a:pt x="16523" y="0"/>
                  </a:lnTo>
                  <a:lnTo>
                    <a:pt x="19050" y="0"/>
                  </a:lnTo>
                  <a:close/>
                </a:path>
              </a:pathLst>
            </a:custGeom>
            <a:ln w="19049">
              <a:solidFill>
                <a:srgbClr val="0045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5921374" y="4466068"/>
            <a:ext cx="398145" cy="149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00" spc="-35">
                <a:solidFill>
                  <a:srgbClr val="0045A5"/>
                </a:solidFill>
                <a:latin typeface="Roboto"/>
                <a:cs typeface="Roboto"/>
              </a:rPr>
              <a:t>ABC-</a:t>
            </a:r>
            <a:r>
              <a:rPr dirty="0" sz="800" spc="-25">
                <a:solidFill>
                  <a:srgbClr val="0045A5"/>
                </a:solidFill>
                <a:latin typeface="Roboto"/>
                <a:cs typeface="Roboto"/>
              </a:rPr>
              <a:t>FLC</a:t>
            </a:r>
            <a:endParaRPr sz="800">
              <a:latin typeface="Roboto"/>
              <a:cs typeface="Roboto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10544174" y="6343649"/>
            <a:ext cx="1457325" cy="323850"/>
            <a:chOff x="10544174" y="6343649"/>
            <a:chExt cx="1457325" cy="323850"/>
          </a:xfrm>
        </p:grpSpPr>
        <p:sp>
          <p:nvSpPr>
            <p:cNvPr id="25" name="object 25" descr=""/>
            <p:cNvSpPr/>
            <p:nvPr/>
          </p:nvSpPr>
          <p:spPr>
            <a:xfrm>
              <a:off x="10544174" y="634364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6584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27" name="object 2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75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50"/>
              <a:t>Genspark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7353299"/>
            <a:ext cx="12192000" cy="114300"/>
          </a:xfrm>
          <a:custGeom>
            <a:avLst/>
            <a:gdLst/>
            <a:ahLst/>
            <a:cxnLst/>
            <a:rect l="l" t="t" r="r" b="b"/>
            <a:pathLst>
              <a:path w="12192000" h="114300">
                <a:moveTo>
                  <a:pt x="12191999" y="114299"/>
                </a:moveTo>
                <a:lnTo>
                  <a:pt x="0" y="1142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114299"/>
                </a:lnTo>
                <a:close/>
              </a:path>
            </a:pathLst>
          </a:custGeom>
          <a:solidFill>
            <a:srgbClr val="0045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1700" y="735012"/>
            <a:ext cx="1337310" cy="53403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300" spc="-175"/>
              <a:t>Agenda</a:t>
            </a:r>
            <a:endParaRPr sz="3300"/>
          </a:p>
        </p:txBody>
      </p:sp>
      <p:sp>
        <p:nvSpPr>
          <p:cNvPr id="4" name="object 4" descr=""/>
          <p:cNvSpPr/>
          <p:nvPr/>
        </p:nvSpPr>
        <p:spPr>
          <a:xfrm>
            <a:off x="11125187" y="552779"/>
            <a:ext cx="242570" cy="100330"/>
          </a:xfrm>
          <a:custGeom>
            <a:avLst/>
            <a:gdLst/>
            <a:ahLst/>
            <a:cxnLst/>
            <a:rect l="l" t="t" r="r" b="b"/>
            <a:pathLst>
              <a:path w="242570" h="100329">
                <a:moveTo>
                  <a:pt x="48107" y="393"/>
                </a:moveTo>
                <a:lnTo>
                  <a:pt x="0" y="393"/>
                </a:lnTo>
                <a:lnTo>
                  <a:pt x="0" y="13093"/>
                </a:lnTo>
                <a:lnTo>
                  <a:pt x="0" y="43573"/>
                </a:lnTo>
                <a:lnTo>
                  <a:pt x="0" y="56273"/>
                </a:lnTo>
                <a:lnTo>
                  <a:pt x="0" y="99453"/>
                </a:lnTo>
                <a:lnTo>
                  <a:pt x="15989" y="99453"/>
                </a:lnTo>
                <a:lnTo>
                  <a:pt x="15989" y="56273"/>
                </a:lnTo>
                <a:lnTo>
                  <a:pt x="44869" y="56273"/>
                </a:lnTo>
                <a:lnTo>
                  <a:pt x="44869" y="43573"/>
                </a:lnTo>
                <a:lnTo>
                  <a:pt x="15989" y="43573"/>
                </a:lnTo>
                <a:lnTo>
                  <a:pt x="15989" y="13093"/>
                </a:lnTo>
                <a:lnTo>
                  <a:pt x="48107" y="13093"/>
                </a:lnTo>
                <a:lnTo>
                  <a:pt x="48107" y="393"/>
                </a:lnTo>
                <a:close/>
              </a:path>
              <a:path w="242570" h="100329">
                <a:moveTo>
                  <a:pt x="77597" y="0"/>
                </a:moveTo>
                <a:lnTo>
                  <a:pt x="61620" y="0"/>
                </a:lnTo>
                <a:lnTo>
                  <a:pt x="61620" y="99847"/>
                </a:lnTo>
                <a:lnTo>
                  <a:pt x="77597" y="99847"/>
                </a:lnTo>
                <a:lnTo>
                  <a:pt x="77597" y="0"/>
                </a:lnTo>
                <a:close/>
              </a:path>
              <a:path w="242570" h="100329">
                <a:moveTo>
                  <a:pt x="144843" y="393"/>
                </a:moveTo>
                <a:lnTo>
                  <a:pt x="96748" y="393"/>
                </a:lnTo>
                <a:lnTo>
                  <a:pt x="96748" y="13093"/>
                </a:lnTo>
                <a:lnTo>
                  <a:pt x="96748" y="43573"/>
                </a:lnTo>
                <a:lnTo>
                  <a:pt x="96748" y="56273"/>
                </a:lnTo>
                <a:lnTo>
                  <a:pt x="96748" y="86753"/>
                </a:lnTo>
                <a:lnTo>
                  <a:pt x="96748" y="99453"/>
                </a:lnTo>
                <a:lnTo>
                  <a:pt x="144843" y="99453"/>
                </a:lnTo>
                <a:lnTo>
                  <a:pt x="144843" y="86753"/>
                </a:lnTo>
                <a:lnTo>
                  <a:pt x="112725" y="86753"/>
                </a:lnTo>
                <a:lnTo>
                  <a:pt x="112725" y="56273"/>
                </a:lnTo>
                <a:lnTo>
                  <a:pt x="141605" y="56273"/>
                </a:lnTo>
                <a:lnTo>
                  <a:pt x="141605" y="43573"/>
                </a:lnTo>
                <a:lnTo>
                  <a:pt x="112725" y="43573"/>
                </a:lnTo>
                <a:lnTo>
                  <a:pt x="112725" y="13093"/>
                </a:lnTo>
                <a:lnTo>
                  <a:pt x="144843" y="13093"/>
                </a:lnTo>
                <a:lnTo>
                  <a:pt x="144843" y="393"/>
                </a:lnTo>
                <a:close/>
              </a:path>
              <a:path w="242570" h="100329">
                <a:moveTo>
                  <a:pt x="208483" y="393"/>
                </a:moveTo>
                <a:lnTo>
                  <a:pt x="160375" y="393"/>
                </a:lnTo>
                <a:lnTo>
                  <a:pt x="160375" y="13093"/>
                </a:lnTo>
                <a:lnTo>
                  <a:pt x="160375" y="43573"/>
                </a:lnTo>
                <a:lnTo>
                  <a:pt x="160375" y="56273"/>
                </a:lnTo>
                <a:lnTo>
                  <a:pt x="160375" y="86753"/>
                </a:lnTo>
                <a:lnTo>
                  <a:pt x="160375" y="99453"/>
                </a:lnTo>
                <a:lnTo>
                  <a:pt x="208483" y="99453"/>
                </a:lnTo>
                <a:lnTo>
                  <a:pt x="208483" y="86753"/>
                </a:lnTo>
                <a:lnTo>
                  <a:pt x="176364" y="86753"/>
                </a:lnTo>
                <a:lnTo>
                  <a:pt x="176364" y="56273"/>
                </a:lnTo>
                <a:lnTo>
                  <a:pt x="205244" y="56273"/>
                </a:lnTo>
                <a:lnTo>
                  <a:pt x="205244" y="43573"/>
                </a:lnTo>
                <a:lnTo>
                  <a:pt x="176364" y="43573"/>
                </a:lnTo>
                <a:lnTo>
                  <a:pt x="176364" y="13093"/>
                </a:lnTo>
                <a:lnTo>
                  <a:pt x="208483" y="13093"/>
                </a:lnTo>
                <a:lnTo>
                  <a:pt x="208483" y="393"/>
                </a:lnTo>
                <a:close/>
              </a:path>
              <a:path w="242570" h="100329">
                <a:moveTo>
                  <a:pt x="242557" y="0"/>
                </a:moveTo>
                <a:lnTo>
                  <a:pt x="226580" y="0"/>
                </a:lnTo>
                <a:lnTo>
                  <a:pt x="226580" y="99847"/>
                </a:lnTo>
                <a:lnTo>
                  <a:pt x="242557" y="99847"/>
                </a:lnTo>
                <a:lnTo>
                  <a:pt x="242557" y="0"/>
                </a:lnTo>
                <a:close/>
              </a:path>
            </a:pathLst>
          </a:custGeom>
          <a:solidFill>
            <a:srgbClr val="0045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914399" y="180974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99" y="304799"/>
                </a:moveTo>
                <a:lnTo>
                  <a:pt x="108159" y="298239"/>
                </a:lnTo>
                <a:lnTo>
                  <a:pt x="67730" y="279115"/>
                </a:lnTo>
                <a:lnTo>
                  <a:pt x="34591" y="249082"/>
                </a:lnTo>
                <a:lnTo>
                  <a:pt x="11600" y="210720"/>
                </a:lnTo>
                <a:lnTo>
                  <a:pt x="731" y="167337"/>
                </a:lnTo>
                <a:lnTo>
                  <a:pt x="0" y="152399"/>
                </a:lnTo>
                <a:lnTo>
                  <a:pt x="182" y="144912"/>
                </a:lnTo>
                <a:lnTo>
                  <a:pt x="8904" y="101065"/>
                </a:lnTo>
                <a:lnTo>
                  <a:pt x="29995" y="61607"/>
                </a:lnTo>
                <a:lnTo>
                  <a:pt x="61607" y="29995"/>
                </a:lnTo>
                <a:lnTo>
                  <a:pt x="101066" y="8904"/>
                </a:lnTo>
                <a:lnTo>
                  <a:pt x="144912" y="183"/>
                </a:lnTo>
                <a:lnTo>
                  <a:pt x="152399" y="0"/>
                </a:lnTo>
                <a:lnTo>
                  <a:pt x="159886" y="183"/>
                </a:lnTo>
                <a:lnTo>
                  <a:pt x="203733" y="8904"/>
                </a:lnTo>
                <a:lnTo>
                  <a:pt x="243192" y="29995"/>
                </a:lnTo>
                <a:lnTo>
                  <a:pt x="274804" y="61607"/>
                </a:lnTo>
                <a:lnTo>
                  <a:pt x="295895" y="101065"/>
                </a:lnTo>
                <a:lnTo>
                  <a:pt x="304616" y="144912"/>
                </a:lnTo>
                <a:lnTo>
                  <a:pt x="304799" y="152399"/>
                </a:lnTo>
                <a:lnTo>
                  <a:pt x="304616" y="159886"/>
                </a:lnTo>
                <a:lnTo>
                  <a:pt x="295895" y="203733"/>
                </a:lnTo>
                <a:lnTo>
                  <a:pt x="274804" y="243192"/>
                </a:lnTo>
                <a:lnTo>
                  <a:pt x="243192" y="274804"/>
                </a:lnTo>
                <a:lnTo>
                  <a:pt x="203733" y="295895"/>
                </a:lnTo>
                <a:lnTo>
                  <a:pt x="159886" y="304616"/>
                </a:lnTo>
                <a:lnTo>
                  <a:pt x="152399" y="304799"/>
                </a:lnTo>
                <a:close/>
              </a:path>
            </a:pathLst>
          </a:custGeom>
          <a:solidFill>
            <a:srgbClr val="0045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989062" y="1771332"/>
            <a:ext cx="15500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6070" algn="l"/>
              </a:tabLst>
            </a:pPr>
            <a:r>
              <a:rPr dirty="0" sz="1950" spc="-50" b="0">
                <a:solidFill>
                  <a:srgbClr val="FFFFFF"/>
                </a:solidFill>
                <a:latin typeface="Ubuntu Light"/>
                <a:cs typeface="Ubuntu Light"/>
              </a:rPr>
              <a:t>1</a:t>
            </a:r>
            <a:r>
              <a:rPr dirty="0" sz="1950" b="0">
                <a:solidFill>
                  <a:srgbClr val="FFFFFF"/>
                </a:solidFill>
                <a:latin typeface="Ubuntu Light"/>
                <a:cs typeface="Ubuntu Light"/>
              </a:rPr>
              <a:t>	</a:t>
            </a:r>
            <a:r>
              <a:rPr dirty="0" sz="2000" spc="-90">
                <a:solidFill>
                  <a:srgbClr val="333333"/>
                </a:solidFill>
                <a:latin typeface="Roboto"/>
                <a:cs typeface="Roboto"/>
              </a:rPr>
              <a:t>Introduction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914399" y="230504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99" y="304799"/>
                </a:moveTo>
                <a:lnTo>
                  <a:pt x="108159" y="298238"/>
                </a:lnTo>
                <a:lnTo>
                  <a:pt x="67730" y="279115"/>
                </a:lnTo>
                <a:lnTo>
                  <a:pt x="34591" y="249082"/>
                </a:lnTo>
                <a:lnTo>
                  <a:pt x="11600" y="210720"/>
                </a:lnTo>
                <a:lnTo>
                  <a:pt x="731" y="167337"/>
                </a:lnTo>
                <a:lnTo>
                  <a:pt x="0" y="152399"/>
                </a:lnTo>
                <a:lnTo>
                  <a:pt x="182" y="144912"/>
                </a:lnTo>
                <a:lnTo>
                  <a:pt x="8904" y="101065"/>
                </a:lnTo>
                <a:lnTo>
                  <a:pt x="29995" y="61607"/>
                </a:lnTo>
                <a:lnTo>
                  <a:pt x="61607" y="29995"/>
                </a:lnTo>
                <a:lnTo>
                  <a:pt x="101066" y="8904"/>
                </a:lnTo>
                <a:lnTo>
                  <a:pt x="144912" y="183"/>
                </a:lnTo>
                <a:lnTo>
                  <a:pt x="152399" y="0"/>
                </a:lnTo>
                <a:lnTo>
                  <a:pt x="159886" y="183"/>
                </a:lnTo>
                <a:lnTo>
                  <a:pt x="203733" y="8904"/>
                </a:lnTo>
                <a:lnTo>
                  <a:pt x="243192" y="29995"/>
                </a:lnTo>
                <a:lnTo>
                  <a:pt x="274804" y="61607"/>
                </a:lnTo>
                <a:lnTo>
                  <a:pt x="295895" y="101065"/>
                </a:lnTo>
                <a:lnTo>
                  <a:pt x="304616" y="144912"/>
                </a:lnTo>
                <a:lnTo>
                  <a:pt x="304799" y="152399"/>
                </a:lnTo>
                <a:lnTo>
                  <a:pt x="304616" y="159886"/>
                </a:lnTo>
                <a:lnTo>
                  <a:pt x="295895" y="203733"/>
                </a:lnTo>
                <a:lnTo>
                  <a:pt x="274804" y="243192"/>
                </a:lnTo>
                <a:lnTo>
                  <a:pt x="243192" y="274803"/>
                </a:lnTo>
                <a:lnTo>
                  <a:pt x="203733" y="295894"/>
                </a:lnTo>
                <a:lnTo>
                  <a:pt x="159886" y="304616"/>
                </a:lnTo>
                <a:lnTo>
                  <a:pt x="152399" y="304799"/>
                </a:lnTo>
                <a:close/>
              </a:path>
            </a:pathLst>
          </a:custGeom>
          <a:solidFill>
            <a:srgbClr val="0045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989062" y="2266632"/>
            <a:ext cx="278066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6070" algn="l"/>
              </a:tabLst>
            </a:pPr>
            <a:r>
              <a:rPr dirty="0" sz="1950" spc="-50" b="0">
                <a:solidFill>
                  <a:srgbClr val="FFFFFF"/>
                </a:solidFill>
                <a:latin typeface="Ubuntu Light"/>
                <a:cs typeface="Ubuntu Light"/>
              </a:rPr>
              <a:t>2</a:t>
            </a:r>
            <a:r>
              <a:rPr dirty="0" sz="1950" b="0">
                <a:solidFill>
                  <a:srgbClr val="FFFFFF"/>
                </a:solidFill>
                <a:latin typeface="Ubuntu Light"/>
                <a:cs typeface="Ubuntu Light"/>
              </a:rPr>
              <a:t>	</a:t>
            </a:r>
            <a:r>
              <a:rPr dirty="0" sz="2000" spc="-100">
                <a:solidFill>
                  <a:srgbClr val="333333"/>
                </a:solidFill>
                <a:latin typeface="Roboto"/>
                <a:cs typeface="Roboto"/>
              </a:rPr>
              <a:t>Motivation</a:t>
            </a:r>
            <a:r>
              <a:rPr dirty="0" sz="2000" spc="-4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2000" spc="-145">
                <a:solidFill>
                  <a:srgbClr val="333333"/>
                </a:solidFill>
                <a:latin typeface="Roboto"/>
                <a:cs typeface="Roboto"/>
              </a:rPr>
              <a:t>&amp;</a:t>
            </a:r>
            <a:r>
              <a:rPr dirty="0" sz="2000" spc="-4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2000" spc="-95">
                <a:solidFill>
                  <a:srgbClr val="333333"/>
                </a:solidFill>
                <a:latin typeface="Roboto"/>
                <a:cs typeface="Roboto"/>
              </a:rPr>
              <a:t>Challenges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914399" y="280034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99" y="304799"/>
                </a:moveTo>
                <a:lnTo>
                  <a:pt x="108159" y="298239"/>
                </a:lnTo>
                <a:lnTo>
                  <a:pt x="67730" y="279115"/>
                </a:lnTo>
                <a:lnTo>
                  <a:pt x="34591" y="249082"/>
                </a:lnTo>
                <a:lnTo>
                  <a:pt x="11600" y="210720"/>
                </a:lnTo>
                <a:lnTo>
                  <a:pt x="731" y="167337"/>
                </a:lnTo>
                <a:lnTo>
                  <a:pt x="0" y="152399"/>
                </a:lnTo>
                <a:lnTo>
                  <a:pt x="182" y="144912"/>
                </a:lnTo>
                <a:lnTo>
                  <a:pt x="8904" y="101065"/>
                </a:lnTo>
                <a:lnTo>
                  <a:pt x="29995" y="61607"/>
                </a:lnTo>
                <a:lnTo>
                  <a:pt x="61607" y="29995"/>
                </a:lnTo>
                <a:lnTo>
                  <a:pt x="101066" y="8904"/>
                </a:lnTo>
                <a:lnTo>
                  <a:pt x="144912" y="183"/>
                </a:lnTo>
                <a:lnTo>
                  <a:pt x="152399" y="0"/>
                </a:lnTo>
                <a:lnTo>
                  <a:pt x="159886" y="183"/>
                </a:lnTo>
                <a:lnTo>
                  <a:pt x="203733" y="8904"/>
                </a:lnTo>
                <a:lnTo>
                  <a:pt x="243192" y="29995"/>
                </a:lnTo>
                <a:lnTo>
                  <a:pt x="274804" y="61607"/>
                </a:lnTo>
                <a:lnTo>
                  <a:pt x="295895" y="101065"/>
                </a:lnTo>
                <a:lnTo>
                  <a:pt x="304616" y="144912"/>
                </a:lnTo>
                <a:lnTo>
                  <a:pt x="304799" y="152399"/>
                </a:lnTo>
                <a:lnTo>
                  <a:pt x="304616" y="159886"/>
                </a:lnTo>
                <a:lnTo>
                  <a:pt x="295895" y="203733"/>
                </a:lnTo>
                <a:lnTo>
                  <a:pt x="274804" y="243191"/>
                </a:lnTo>
                <a:lnTo>
                  <a:pt x="243192" y="274803"/>
                </a:lnTo>
                <a:lnTo>
                  <a:pt x="203733" y="295894"/>
                </a:lnTo>
                <a:lnTo>
                  <a:pt x="159886" y="304616"/>
                </a:lnTo>
                <a:lnTo>
                  <a:pt x="152399" y="304799"/>
                </a:lnTo>
                <a:close/>
              </a:path>
            </a:pathLst>
          </a:custGeom>
          <a:solidFill>
            <a:srgbClr val="0045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989062" y="2761932"/>
            <a:ext cx="275336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6070" algn="l"/>
              </a:tabLst>
            </a:pPr>
            <a:r>
              <a:rPr dirty="0" sz="1950" spc="-50" b="0">
                <a:solidFill>
                  <a:srgbClr val="FFFFFF"/>
                </a:solidFill>
                <a:latin typeface="Ubuntu Light"/>
                <a:cs typeface="Ubuntu Light"/>
              </a:rPr>
              <a:t>3</a:t>
            </a:r>
            <a:r>
              <a:rPr dirty="0" sz="1950" b="0">
                <a:solidFill>
                  <a:srgbClr val="FFFFFF"/>
                </a:solidFill>
                <a:latin typeface="Ubuntu Light"/>
                <a:cs typeface="Ubuntu Light"/>
              </a:rPr>
              <a:t>	</a:t>
            </a:r>
            <a:r>
              <a:rPr dirty="0" sz="2000" spc="-120">
                <a:solidFill>
                  <a:srgbClr val="333333"/>
                </a:solidFill>
                <a:latin typeface="Roboto"/>
                <a:cs typeface="Roboto"/>
              </a:rPr>
              <a:t>System</a:t>
            </a:r>
            <a:r>
              <a:rPr dirty="0" sz="20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2000" spc="-120">
                <a:solidFill>
                  <a:srgbClr val="333333"/>
                </a:solidFill>
                <a:latin typeface="Roboto"/>
                <a:cs typeface="Roboto"/>
              </a:rPr>
              <a:t>Model</a:t>
            </a:r>
            <a:r>
              <a:rPr dirty="0" sz="20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2000" spc="-100">
                <a:solidFill>
                  <a:srgbClr val="333333"/>
                </a:solidFill>
                <a:latin typeface="Roboto"/>
                <a:cs typeface="Roboto"/>
              </a:rPr>
              <a:t>Overview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914399" y="329564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99" y="304799"/>
                </a:moveTo>
                <a:lnTo>
                  <a:pt x="108159" y="298239"/>
                </a:lnTo>
                <a:lnTo>
                  <a:pt x="67730" y="279115"/>
                </a:lnTo>
                <a:lnTo>
                  <a:pt x="34591" y="249082"/>
                </a:lnTo>
                <a:lnTo>
                  <a:pt x="11600" y="210720"/>
                </a:lnTo>
                <a:lnTo>
                  <a:pt x="731" y="167337"/>
                </a:lnTo>
                <a:lnTo>
                  <a:pt x="0" y="152399"/>
                </a:lnTo>
                <a:lnTo>
                  <a:pt x="182" y="144912"/>
                </a:lnTo>
                <a:lnTo>
                  <a:pt x="8904" y="101065"/>
                </a:lnTo>
                <a:lnTo>
                  <a:pt x="29995" y="61607"/>
                </a:lnTo>
                <a:lnTo>
                  <a:pt x="61607" y="29995"/>
                </a:lnTo>
                <a:lnTo>
                  <a:pt x="101066" y="8904"/>
                </a:lnTo>
                <a:lnTo>
                  <a:pt x="144912" y="183"/>
                </a:lnTo>
                <a:lnTo>
                  <a:pt x="152399" y="0"/>
                </a:lnTo>
                <a:lnTo>
                  <a:pt x="159886" y="183"/>
                </a:lnTo>
                <a:lnTo>
                  <a:pt x="203733" y="8904"/>
                </a:lnTo>
                <a:lnTo>
                  <a:pt x="243192" y="29995"/>
                </a:lnTo>
                <a:lnTo>
                  <a:pt x="274804" y="61607"/>
                </a:lnTo>
                <a:lnTo>
                  <a:pt x="295895" y="101065"/>
                </a:lnTo>
                <a:lnTo>
                  <a:pt x="304616" y="144912"/>
                </a:lnTo>
                <a:lnTo>
                  <a:pt x="304799" y="152399"/>
                </a:lnTo>
                <a:lnTo>
                  <a:pt x="304616" y="159886"/>
                </a:lnTo>
                <a:lnTo>
                  <a:pt x="295895" y="203733"/>
                </a:lnTo>
                <a:lnTo>
                  <a:pt x="274804" y="243192"/>
                </a:lnTo>
                <a:lnTo>
                  <a:pt x="243192" y="274804"/>
                </a:lnTo>
                <a:lnTo>
                  <a:pt x="203733" y="295894"/>
                </a:lnTo>
                <a:lnTo>
                  <a:pt x="159886" y="304616"/>
                </a:lnTo>
                <a:lnTo>
                  <a:pt x="152399" y="304799"/>
                </a:lnTo>
                <a:close/>
              </a:path>
            </a:pathLst>
          </a:custGeom>
          <a:solidFill>
            <a:srgbClr val="0045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989062" y="3257232"/>
            <a:ext cx="43357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6070" algn="l"/>
              </a:tabLst>
            </a:pPr>
            <a:r>
              <a:rPr dirty="0" sz="1950" spc="-50" b="0">
                <a:solidFill>
                  <a:srgbClr val="FFFFFF"/>
                </a:solidFill>
                <a:latin typeface="Ubuntu Light"/>
                <a:cs typeface="Ubuntu Light"/>
              </a:rPr>
              <a:t>4</a:t>
            </a:r>
            <a:r>
              <a:rPr dirty="0" sz="1950" b="0">
                <a:solidFill>
                  <a:srgbClr val="FFFFFF"/>
                </a:solidFill>
                <a:latin typeface="Ubuntu Light"/>
                <a:cs typeface="Ubuntu Light"/>
              </a:rPr>
              <a:t>	</a:t>
            </a:r>
            <a:r>
              <a:rPr dirty="0" sz="2000" spc="-110">
                <a:solidFill>
                  <a:srgbClr val="333333"/>
                </a:solidFill>
                <a:latin typeface="Roboto"/>
                <a:cs typeface="Roboto"/>
              </a:rPr>
              <a:t>Fuzzy-</a:t>
            </a:r>
            <a:r>
              <a:rPr dirty="0" sz="2000" spc="-114">
                <a:solidFill>
                  <a:srgbClr val="333333"/>
                </a:solidFill>
                <a:latin typeface="Roboto"/>
                <a:cs typeface="Roboto"/>
              </a:rPr>
              <a:t>PID</a:t>
            </a:r>
            <a:r>
              <a:rPr dirty="0" sz="20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2000" spc="-120">
                <a:solidFill>
                  <a:srgbClr val="333333"/>
                </a:solidFill>
                <a:latin typeface="Roboto"/>
                <a:cs typeface="Roboto"/>
              </a:rPr>
              <a:t>and</a:t>
            </a:r>
            <a:r>
              <a:rPr dirty="0" sz="20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2000" spc="-150">
                <a:solidFill>
                  <a:srgbClr val="333333"/>
                </a:solidFill>
                <a:latin typeface="Roboto"/>
                <a:cs typeface="Roboto"/>
              </a:rPr>
              <a:t>ABC</a:t>
            </a:r>
            <a:r>
              <a:rPr dirty="0" sz="20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2000" spc="-110">
                <a:solidFill>
                  <a:srgbClr val="333333"/>
                </a:solidFill>
                <a:latin typeface="Roboto"/>
                <a:cs typeface="Roboto"/>
              </a:rPr>
              <a:t>Algorithm</a:t>
            </a:r>
            <a:r>
              <a:rPr dirty="0" sz="20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2000" spc="-90">
                <a:solidFill>
                  <a:srgbClr val="333333"/>
                </a:solidFill>
                <a:latin typeface="Roboto"/>
                <a:cs typeface="Roboto"/>
              </a:rPr>
              <a:t>Concepts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914399" y="379094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99" y="304799"/>
                </a:moveTo>
                <a:lnTo>
                  <a:pt x="108159" y="298238"/>
                </a:lnTo>
                <a:lnTo>
                  <a:pt x="67730" y="279115"/>
                </a:lnTo>
                <a:lnTo>
                  <a:pt x="34591" y="249082"/>
                </a:lnTo>
                <a:lnTo>
                  <a:pt x="11600" y="210720"/>
                </a:lnTo>
                <a:lnTo>
                  <a:pt x="731" y="167337"/>
                </a:lnTo>
                <a:lnTo>
                  <a:pt x="0" y="152399"/>
                </a:lnTo>
                <a:lnTo>
                  <a:pt x="182" y="144912"/>
                </a:lnTo>
                <a:lnTo>
                  <a:pt x="8904" y="101065"/>
                </a:lnTo>
                <a:lnTo>
                  <a:pt x="29995" y="61607"/>
                </a:lnTo>
                <a:lnTo>
                  <a:pt x="61607" y="29995"/>
                </a:lnTo>
                <a:lnTo>
                  <a:pt x="101066" y="8904"/>
                </a:lnTo>
                <a:lnTo>
                  <a:pt x="144912" y="183"/>
                </a:lnTo>
                <a:lnTo>
                  <a:pt x="152399" y="0"/>
                </a:lnTo>
                <a:lnTo>
                  <a:pt x="159886" y="183"/>
                </a:lnTo>
                <a:lnTo>
                  <a:pt x="203733" y="8904"/>
                </a:lnTo>
                <a:lnTo>
                  <a:pt x="243192" y="29995"/>
                </a:lnTo>
                <a:lnTo>
                  <a:pt x="274804" y="61607"/>
                </a:lnTo>
                <a:lnTo>
                  <a:pt x="295895" y="101065"/>
                </a:lnTo>
                <a:lnTo>
                  <a:pt x="304616" y="144912"/>
                </a:lnTo>
                <a:lnTo>
                  <a:pt x="304799" y="152399"/>
                </a:lnTo>
                <a:lnTo>
                  <a:pt x="304616" y="159886"/>
                </a:lnTo>
                <a:lnTo>
                  <a:pt x="295895" y="203733"/>
                </a:lnTo>
                <a:lnTo>
                  <a:pt x="274804" y="243191"/>
                </a:lnTo>
                <a:lnTo>
                  <a:pt x="243192" y="274804"/>
                </a:lnTo>
                <a:lnTo>
                  <a:pt x="203733" y="295894"/>
                </a:lnTo>
                <a:lnTo>
                  <a:pt x="159886" y="304616"/>
                </a:lnTo>
                <a:lnTo>
                  <a:pt x="152399" y="304799"/>
                </a:lnTo>
                <a:close/>
              </a:path>
            </a:pathLst>
          </a:custGeom>
          <a:solidFill>
            <a:srgbClr val="0045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989062" y="3752532"/>
            <a:ext cx="328866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6070" algn="l"/>
              </a:tabLst>
            </a:pPr>
            <a:r>
              <a:rPr dirty="0" sz="1950" spc="-50" b="0">
                <a:solidFill>
                  <a:srgbClr val="FFFFFF"/>
                </a:solidFill>
                <a:latin typeface="Ubuntu Light"/>
                <a:cs typeface="Ubuntu Light"/>
              </a:rPr>
              <a:t>5</a:t>
            </a:r>
            <a:r>
              <a:rPr dirty="0" sz="1950" b="0">
                <a:solidFill>
                  <a:srgbClr val="FFFFFF"/>
                </a:solidFill>
                <a:latin typeface="Ubuntu Light"/>
                <a:cs typeface="Ubuntu Light"/>
              </a:rPr>
              <a:t>	</a:t>
            </a:r>
            <a:r>
              <a:rPr dirty="0" sz="2000" spc="-120">
                <a:solidFill>
                  <a:srgbClr val="333333"/>
                </a:solidFill>
                <a:latin typeface="Roboto"/>
                <a:cs typeface="Roboto"/>
              </a:rPr>
              <a:t>Proposed</a:t>
            </a:r>
            <a:r>
              <a:rPr dirty="0" sz="20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2000" spc="-105">
                <a:solidFill>
                  <a:srgbClr val="333333"/>
                </a:solidFill>
                <a:latin typeface="Roboto"/>
                <a:cs typeface="Roboto"/>
              </a:rPr>
              <a:t>Control</a:t>
            </a:r>
            <a:r>
              <a:rPr dirty="0" sz="20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2000" spc="-110">
                <a:solidFill>
                  <a:srgbClr val="333333"/>
                </a:solidFill>
                <a:latin typeface="Roboto"/>
                <a:cs typeface="Roboto"/>
              </a:rPr>
              <a:t>Framework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914399" y="428624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99" y="304799"/>
                </a:moveTo>
                <a:lnTo>
                  <a:pt x="108159" y="298238"/>
                </a:lnTo>
                <a:lnTo>
                  <a:pt x="67730" y="279115"/>
                </a:lnTo>
                <a:lnTo>
                  <a:pt x="34591" y="249081"/>
                </a:lnTo>
                <a:lnTo>
                  <a:pt x="11600" y="210720"/>
                </a:lnTo>
                <a:lnTo>
                  <a:pt x="731" y="167337"/>
                </a:lnTo>
                <a:lnTo>
                  <a:pt x="0" y="152399"/>
                </a:lnTo>
                <a:lnTo>
                  <a:pt x="182" y="144912"/>
                </a:lnTo>
                <a:lnTo>
                  <a:pt x="8904" y="101065"/>
                </a:lnTo>
                <a:lnTo>
                  <a:pt x="29995" y="61607"/>
                </a:lnTo>
                <a:lnTo>
                  <a:pt x="61607" y="29995"/>
                </a:lnTo>
                <a:lnTo>
                  <a:pt x="101066" y="8904"/>
                </a:lnTo>
                <a:lnTo>
                  <a:pt x="144912" y="183"/>
                </a:lnTo>
                <a:lnTo>
                  <a:pt x="152399" y="0"/>
                </a:lnTo>
                <a:lnTo>
                  <a:pt x="159886" y="183"/>
                </a:lnTo>
                <a:lnTo>
                  <a:pt x="203733" y="8904"/>
                </a:lnTo>
                <a:lnTo>
                  <a:pt x="243192" y="29995"/>
                </a:lnTo>
                <a:lnTo>
                  <a:pt x="274804" y="61606"/>
                </a:lnTo>
                <a:lnTo>
                  <a:pt x="295895" y="101065"/>
                </a:lnTo>
                <a:lnTo>
                  <a:pt x="304616" y="144912"/>
                </a:lnTo>
                <a:lnTo>
                  <a:pt x="304799" y="152399"/>
                </a:lnTo>
                <a:lnTo>
                  <a:pt x="304616" y="159886"/>
                </a:lnTo>
                <a:lnTo>
                  <a:pt x="295895" y="203733"/>
                </a:lnTo>
                <a:lnTo>
                  <a:pt x="274804" y="243191"/>
                </a:lnTo>
                <a:lnTo>
                  <a:pt x="243192" y="274803"/>
                </a:lnTo>
                <a:lnTo>
                  <a:pt x="203733" y="295894"/>
                </a:lnTo>
                <a:lnTo>
                  <a:pt x="159886" y="304616"/>
                </a:lnTo>
                <a:lnTo>
                  <a:pt x="152399" y="304799"/>
                </a:lnTo>
                <a:close/>
              </a:path>
            </a:pathLst>
          </a:custGeom>
          <a:solidFill>
            <a:srgbClr val="0045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989062" y="4247832"/>
            <a:ext cx="204660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6070" algn="l"/>
              </a:tabLst>
            </a:pPr>
            <a:r>
              <a:rPr dirty="0" sz="1950" spc="-50" b="0">
                <a:solidFill>
                  <a:srgbClr val="FFFFFF"/>
                </a:solidFill>
                <a:latin typeface="Ubuntu Light"/>
                <a:cs typeface="Ubuntu Light"/>
              </a:rPr>
              <a:t>6</a:t>
            </a:r>
            <a:r>
              <a:rPr dirty="0" sz="1950" b="0">
                <a:solidFill>
                  <a:srgbClr val="FFFFFF"/>
                </a:solidFill>
                <a:latin typeface="Ubuntu Light"/>
                <a:cs typeface="Ubuntu Light"/>
              </a:rPr>
              <a:t>	</a:t>
            </a:r>
            <a:r>
              <a:rPr dirty="0" sz="2000" spc="-95">
                <a:solidFill>
                  <a:srgbClr val="333333"/>
                </a:solidFill>
                <a:latin typeface="Roboto"/>
                <a:cs typeface="Roboto"/>
              </a:rPr>
              <a:t>Simulation</a:t>
            </a:r>
            <a:r>
              <a:rPr dirty="0" sz="2000" spc="-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2000" spc="-95">
                <a:solidFill>
                  <a:srgbClr val="333333"/>
                </a:solidFill>
                <a:latin typeface="Roboto"/>
                <a:cs typeface="Roboto"/>
              </a:rPr>
              <a:t>Setup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914399" y="478154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99" y="304799"/>
                </a:moveTo>
                <a:lnTo>
                  <a:pt x="108159" y="298238"/>
                </a:lnTo>
                <a:lnTo>
                  <a:pt x="67730" y="279114"/>
                </a:lnTo>
                <a:lnTo>
                  <a:pt x="34591" y="249082"/>
                </a:lnTo>
                <a:lnTo>
                  <a:pt x="11600" y="210720"/>
                </a:lnTo>
                <a:lnTo>
                  <a:pt x="731" y="167338"/>
                </a:lnTo>
                <a:lnTo>
                  <a:pt x="0" y="152399"/>
                </a:lnTo>
                <a:lnTo>
                  <a:pt x="182" y="144912"/>
                </a:lnTo>
                <a:lnTo>
                  <a:pt x="8904" y="101065"/>
                </a:lnTo>
                <a:lnTo>
                  <a:pt x="29995" y="61607"/>
                </a:lnTo>
                <a:lnTo>
                  <a:pt x="61607" y="29995"/>
                </a:lnTo>
                <a:lnTo>
                  <a:pt x="101066" y="8904"/>
                </a:lnTo>
                <a:lnTo>
                  <a:pt x="144912" y="183"/>
                </a:lnTo>
                <a:lnTo>
                  <a:pt x="152399" y="0"/>
                </a:lnTo>
                <a:lnTo>
                  <a:pt x="159886" y="183"/>
                </a:lnTo>
                <a:lnTo>
                  <a:pt x="203733" y="8904"/>
                </a:lnTo>
                <a:lnTo>
                  <a:pt x="243192" y="29995"/>
                </a:lnTo>
                <a:lnTo>
                  <a:pt x="274804" y="61606"/>
                </a:lnTo>
                <a:lnTo>
                  <a:pt x="295895" y="101065"/>
                </a:lnTo>
                <a:lnTo>
                  <a:pt x="304616" y="144912"/>
                </a:lnTo>
                <a:lnTo>
                  <a:pt x="304799" y="152399"/>
                </a:lnTo>
                <a:lnTo>
                  <a:pt x="304616" y="159887"/>
                </a:lnTo>
                <a:lnTo>
                  <a:pt x="295895" y="203732"/>
                </a:lnTo>
                <a:lnTo>
                  <a:pt x="274804" y="243191"/>
                </a:lnTo>
                <a:lnTo>
                  <a:pt x="243192" y="274803"/>
                </a:lnTo>
                <a:lnTo>
                  <a:pt x="203733" y="295894"/>
                </a:lnTo>
                <a:lnTo>
                  <a:pt x="159886" y="304616"/>
                </a:lnTo>
                <a:lnTo>
                  <a:pt x="152399" y="304799"/>
                </a:lnTo>
                <a:close/>
              </a:path>
            </a:pathLst>
          </a:custGeom>
          <a:solidFill>
            <a:srgbClr val="0045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989062" y="4743132"/>
            <a:ext cx="26098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6070" algn="l"/>
              </a:tabLst>
            </a:pPr>
            <a:r>
              <a:rPr dirty="0" sz="1950" spc="-50" b="0">
                <a:solidFill>
                  <a:srgbClr val="FFFFFF"/>
                </a:solidFill>
                <a:latin typeface="Ubuntu Light"/>
                <a:cs typeface="Ubuntu Light"/>
              </a:rPr>
              <a:t>7</a:t>
            </a:r>
            <a:r>
              <a:rPr dirty="0" sz="1950" b="0">
                <a:solidFill>
                  <a:srgbClr val="FFFFFF"/>
                </a:solidFill>
                <a:latin typeface="Ubuntu Light"/>
                <a:cs typeface="Ubuntu Light"/>
              </a:rPr>
              <a:t>	</a:t>
            </a:r>
            <a:r>
              <a:rPr dirty="0" sz="2000" spc="-130">
                <a:solidFill>
                  <a:srgbClr val="333333"/>
                </a:solidFill>
                <a:latin typeface="Roboto"/>
                <a:cs typeface="Roboto"/>
              </a:rPr>
              <a:t>Key</a:t>
            </a:r>
            <a:r>
              <a:rPr dirty="0" sz="20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2000" spc="-105">
                <a:solidFill>
                  <a:srgbClr val="333333"/>
                </a:solidFill>
                <a:latin typeface="Roboto"/>
                <a:cs typeface="Roboto"/>
              </a:rPr>
              <a:t>Results</a:t>
            </a:r>
            <a:r>
              <a:rPr dirty="0" sz="20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2000" spc="-145">
                <a:solidFill>
                  <a:srgbClr val="333333"/>
                </a:solidFill>
                <a:latin typeface="Roboto"/>
                <a:cs typeface="Roboto"/>
              </a:rPr>
              <a:t>&amp;</a:t>
            </a:r>
            <a:r>
              <a:rPr dirty="0" sz="20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2000" spc="-95">
                <a:solidFill>
                  <a:srgbClr val="333333"/>
                </a:solidFill>
                <a:latin typeface="Roboto"/>
                <a:cs typeface="Roboto"/>
              </a:rPr>
              <a:t>Analysis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914399" y="527684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99" y="304799"/>
                </a:moveTo>
                <a:lnTo>
                  <a:pt x="108159" y="298238"/>
                </a:lnTo>
                <a:lnTo>
                  <a:pt x="67730" y="279114"/>
                </a:lnTo>
                <a:lnTo>
                  <a:pt x="34591" y="249081"/>
                </a:lnTo>
                <a:lnTo>
                  <a:pt x="11600" y="210720"/>
                </a:lnTo>
                <a:lnTo>
                  <a:pt x="731" y="167337"/>
                </a:lnTo>
                <a:lnTo>
                  <a:pt x="0" y="152399"/>
                </a:lnTo>
                <a:lnTo>
                  <a:pt x="182" y="144912"/>
                </a:lnTo>
                <a:lnTo>
                  <a:pt x="8904" y="101065"/>
                </a:lnTo>
                <a:lnTo>
                  <a:pt x="29995" y="61607"/>
                </a:lnTo>
                <a:lnTo>
                  <a:pt x="61607" y="29995"/>
                </a:lnTo>
                <a:lnTo>
                  <a:pt x="101066" y="8903"/>
                </a:lnTo>
                <a:lnTo>
                  <a:pt x="144912" y="183"/>
                </a:lnTo>
                <a:lnTo>
                  <a:pt x="152399" y="0"/>
                </a:lnTo>
                <a:lnTo>
                  <a:pt x="159886" y="183"/>
                </a:lnTo>
                <a:lnTo>
                  <a:pt x="203733" y="8903"/>
                </a:lnTo>
                <a:lnTo>
                  <a:pt x="243192" y="29995"/>
                </a:lnTo>
                <a:lnTo>
                  <a:pt x="274804" y="61607"/>
                </a:lnTo>
                <a:lnTo>
                  <a:pt x="295895" y="101065"/>
                </a:lnTo>
                <a:lnTo>
                  <a:pt x="304616" y="144912"/>
                </a:lnTo>
                <a:lnTo>
                  <a:pt x="304799" y="152399"/>
                </a:lnTo>
                <a:lnTo>
                  <a:pt x="304616" y="159886"/>
                </a:lnTo>
                <a:lnTo>
                  <a:pt x="295895" y="203732"/>
                </a:lnTo>
                <a:lnTo>
                  <a:pt x="274804" y="243191"/>
                </a:lnTo>
                <a:lnTo>
                  <a:pt x="243192" y="274803"/>
                </a:lnTo>
                <a:lnTo>
                  <a:pt x="203733" y="295894"/>
                </a:lnTo>
                <a:lnTo>
                  <a:pt x="159886" y="304616"/>
                </a:lnTo>
                <a:lnTo>
                  <a:pt x="152399" y="304799"/>
                </a:lnTo>
                <a:close/>
              </a:path>
            </a:pathLst>
          </a:custGeom>
          <a:solidFill>
            <a:srgbClr val="0045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989062" y="5238432"/>
            <a:ext cx="294386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6070" algn="l"/>
              </a:tabLst>
            </a:pPr>
            <a:r>
              <a:rPr dirty="0" sz="1950" spc="-50" b="0">
                <a:solidFill>
                  <a:srgbClr val="FFFFFF"/>
                </a:solidFill>
                <a:latin typeface="Ubuntu Light"/>
                <a:cs typeface="Ubuntu Light"/>
              </a:rPr>
              <a:t>8</a:t>
            </a:r>
            <a:r>
              <a:rPr dirty="0" sz="1950" b="0">
                <a:solidFill>
                  <a:srgbClr val="FFFFFF"/>
                </a:solidFill>
                <a:latin typeface="Ubuntu Light"/>
                <a:cs typeface="Ubuntu Light"/>
              </a:rPr>
              <a:t>	</a:t>
            </a:r>
            <a:r>
              <a:rPr dirty="0" sz="2000" spc="-100">
                <a:solidFill>
                  <a:srgbClr val="333333"/>
                </a:solidFill>
                <a:latin typeface="Roboto"/>
                <a:cs typeface="Roboto"/>
              </a:rPr>
              <a:t>Discussion</a:t>
            </a:r>
            <a:r>
              <a:rPr dirty="0" sz="2000" spc="-3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2000" spc="-145">
                <a:solidFill>
                  <a:srgbClr val="333333"/>
                </a:solidFill>
                <a:latin typeface="Roboto"/>
                <a:cs typeface="Roboto"/>
              </a:rPr>
              <a:t>&amp;</a:t>
            </a:r>
            <a:r>
              <a:rPr dirty="0" sz="2000" spc="-3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2000" spc="-95">
                <a:solidFill>
                  <a:srgbClr val="333333"/>
                </a:solidFill>
                <a:latin typeface="Roboto"/>
                <a:cs typeface="Roboto"/>
              </a:rPr>
              <a:t>Implications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914399" y="577214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99" y="304799"/>
                </a:moveTo>
                <a:lnTo>
                  <a:pt x="108159" y="298238"/>
                </a:lnTo>
                <a:lnTo>
                  <a:pt x="67730" y="279115"/>
                </a:lnTo>
                <a:lnTo>
                  <a:pt x="34591" y="249082"/>
                </a:lnTo>
                <a:lnTo>
                  <a:pt x="11600" y="210720"/>
                </a:lnTo>
                <a:lnTo>
                  <a:pt x="731" y="167338"/>
                </a:lnTo>
                <a:lnTo>
                  <a:pt x="0" y="152399"/>
                </a:lnTo>
                <a:lnTo>
                  <a:pt x="182" y="144912"/>
                </a:lnTo>
                <a:lnTo>
                  <a:pt x="8904" y="101065"/>
                </a:lnTo>
                <a:lnTo>
                  <a:pt x="29995" y="61607"/>
                </a:lnTo>
                <a:lnTo>
                  <a:pt x="61607" y="29995"/>
                </a:lnTo>
                <a:lnTo>
                  <a:pt x="101066" y="8903"/>
                </a:lnTo>
                <a:lnTo>
                  <a:pt x="144912" y="183"/>
                </a:lnTo>
                <a:lnTo>
                  <a:pt x="152399" y="0"/>
                </a:lnTo>
                <a:lnTo>
                  <a:pt x="159886" y="183"/>
                </a:lnTo>
                <a:lnTo>
                  <a:pt x="203733" y="8903"/>
                </a:lnTo>
                <a:lnTo>
                  <a:pt x="243192" y="29995"/>
                </a:lnTo>
                <a:lnTo>
                  <a:pt x="274804" y="61607"/>
                </a:lnTo>
                <a:lnTo>
                  <a:pt x="295895" y="101065"/>
                </a:lnTo>
                <a:lnTo>
                  <a:pt x="304616" y="144912"/>
                </a:lnTo>
                <a:lnTo>
                  <a:pt x="304799" y="152399"/>
                </a:lnTo>
                <a:lnTo>
                  <a:pt x="304616" y="159887"/>
                </a:lnTo>
                <a:lnTo>
                  <a:pt x="295895" y="203733"/>
                </a:lnTo>
                <a:lnTo>
                  <a:pt x="274804" y="243191"/>
                </a:lnTo>
                <a:lnTo>
                  <a:pt x="243192" y="274803"/>
                </a:lnTo>
                <a:lnTo>
                  <a:pt x="203733" y="295894"/>
                </a:lnTo>
                <a:lnTo>
                  <a:pt x="159886" y="304616"/>
                </a:lnTo>
                <a:lnTo>
                  <a:pt x="152399" y="304799"/>
                </a:lnTo>
                <a:close/>
              </a:path>
            </a:pathLst>
          </a:custGeom>
          <a:solidFill>
            <a:srgbClr val="0045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914399" y="626744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99" y="304799"/>
                </a:moveTo>
                <a:lnTo>
                  <a:pt x="108159" y="298238"/>
                </a:lnTo>
                <a:lnTo>
                  <a:pt x="67730" y="279114"/>
                </a:lnTo>
                <a:lnTo>
                  <a:pt x="34591" y="249082"/>
                </a:lnTo>
                <a:lnTo>
                  <a:pt x="11600" y="210720"/>
                </a:lnTo>
                <a:lnTo>
                  <a:pt x="731" y="167337"/>
                </a:lnTo>
                <a:lnTo>
                  <a:pt x="0" y="152399"/>
                </a:lnTo>
                <a:lnTo>
                  <a:pt x="182" y="144912"/>
                </a:lnTo>
                <a:lnTo>
                  <a:pt x="8904" y="101064"/>
                </a:lnTo>
                <a:lnTo>
                  <a:pt x="29995" y="61606"/>
                </a:lnTo>
                <a:lnTo>
                  <a:pt x="61607" y="29995"/>
                </a:lnTo>
                <a:lnTo>
                  <a:pt x="101066" y="8903"/>
                </a:lnTo>
                <a:lnTo>
                  <a:pt x="144912" y="183"/>
                </a:lnTo>
                <a:lnTo>
                  <a:pt x="152399" y="0"/>
                </a:lnTo>
                <a:lnTo>
                  <a:pt x="159886" y="183"/>
                </a:lnTo>
                <a:lnTo>
                  <a:pt x="203733" y="8903"/>
                </a:lnTo>
                <a:lnTo>
                  <a:pt x="243192" y="29995"/>
                </a:lnTo>
                <a:lnTo>
                  <a:pt x="274804" y="61606"/>
                </a:lnTo>
                <a:lnTo>
                  <a:pt x="295895" y="101064"/>
                </a:lnTo>
                <a:lnTo>
                  <a:pt x="304616" y="144912"/>
                </a:lnTo>
                <a:lnTo>
                  <a:pt x="304799" y="152399"/>
                </a:lnTo>
                <a:lnTo>
                  <a:pt x="304616" y="159886"/>
                </a:lnTo>
                <a:lnTo>
                  <a:pt x="295895" y="203733"/>
                </a:lnTo>
                <a:lnTo>
                  <a:pt x="274804" y="243191"/>
                </a:lnTo>
                <a:lnTo>
                  <a:pt x="243192" y="274803"/>
                </a:lnTo>
                <a:lnTo>
                  <a:pt x="203733" y="295894"/>
                </a:lnTo>
                <a:lnTo>
                  <a:pt x="159886" y="304616"/>
                </a:lnTo>
                <a:lnTo>
                  <a:pt x="152399" y="304799"/>
                </a:lnTo>
                <a:close/>
              </a:path>
            </a:pathLst>
          </a:custGeom>
          <a:solidFill>
            <a:srgbClr val="0045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924173" y="5733732"/>
            <a:ext cx="1520825" cy="826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0840" indent="-293370">
              <a:lnSpc>
                <a:spcPct val="100000"/>
              </a:lnSpc>
              <a:spcBef>
                <a:spcPts val="100"/>
              </a:spcBef>
              <a:buClr>
                <a:srgbClr val="FFFFFF"/>
              </a:buClr>
              <a:buSzPct val="97500"/>
              <a:buFont typeface="Ubuntu Light"/>
              <a:buAutoNum type="arabicPlain" startAt="9"/>
              <a:tabLst>
                <a:tab pos="370840" algn="l"/>
              </a:tabLst>
            </a:pPr>
            <a:r>
              <a:rPr dirty="0" sz="2000" spc="-100">
                <a:solidFill>
                  <a:srgbClr val="333333"/>
                </a:solidFill>
                <a:latin typeface="Roboto"/>
                <a:cs typeface="Roboto"/>
              </a:rPr>
              <a:t>Conclusion</a:t>
            </a:r>
            <a:endParaRPr sz="2000">
              <a:latin typeface="Roboto"/>
              <a:cs typeface="Roboto"/>
            </a:endParaRPr>
          </a:p>
          <a:p>
            <a:pPr marL="369570" indent="-356870">
              <a:lnSpc>
                <a:spcPct val="100000"/>
              </a:lnSpc>
              <a:spcBef>
                <a:spcPts val="1500"/>
              </a:spcBef>
              <a:buClr>
                <a:srgbClr val="FFFFFF"/>
              </a:buClr>
              <a:buSzPct val="97500"/>
              <a:buFont typeface="Ubuntu Light"/>
              <a:buAutoNum type="arabicPlain" startAt="9"/>
              <a:tabLst>
                <a:tab pos="369570" algn="l"/>
              </a:tabLst>
            </a:pPr>
            <a:r>
              <a:rPr dirty="0" sz="2000" spc="-25">
                <a:solidFill>
                  <a:srgbClr val="333333"/>
                </a:solidFill>
                <a:latin typeface="Roboto"/>
                <a:cs typeface="Roboto"/>
              </a:rPr>
              <a:t>Q&amp;A</a:t>
            </a:r>
            <a:endParaRPr sz="2000">
              <a:latin typeface="Roboto"/>
              <a:cs typeface="Roboto"/>
            </a:endParaRPr>
          </a:p>
        </p:txBody>
      </p:sp>
      <p:pic>
        <p:nvPicPr>
          <p:cNvPr id="24" name="object 2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24974" y="2128837"/>
            <a:ext cx="2112168" cy="2583656"/>
          </a:xfrm>
          <a:prstGeom prst="rect">
            <a:avLst/>
          </a:prstGeom>
        </p:spPr>
      </p:pic>
      <p:sp>
        <p:nvSpPr>
          <p:cNvPr id="25" name="object 25" descr=""/>
          <p:cNvSpPr txBox="1"/>
          <p:nvPr/>
        </p:nvSpPr>
        <p:spPr>
          <a:xfrm>
            <a:off x="9511555" y="2929540"/>
            <a:ext cx="407670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25">
                <a:solidFill>
                  <a:srgbClr val="0045A5"/>
                </a:solidFill>
                <a:latin typeface="Roboto"/>
                <a:cs typeface="Roboto"/>
              </a:rPr>
              <a:t>Area</a:t>
            </a:r>
            <a:r>
              <a:rPr dirty="0" sz="1100" spc="-45">
                <a:solidFill>
                  <a:srgbClr val="0045A5"/>
                </a:solidFill>
                <a:latin typeface="Roboto"/>
                <a:cs typeface="Roboto"/>
              </a:rPr>
              <a:t> </a:t>
            </a:r>
            <a:r>
              <a:rPr dirty="0" sz="1100" spc="-50">
                <a:solidFill>
                  <a:srgbClr val="0045A5"/>
                </a:solidFill>
                <a:latin typeface="Roboto"/>
                <a:cs typeface="Roboto"/>
              </a:rPr>
              <a:t>1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0654555" y="2929540"/>
            <a:ext cx="407670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25">
                <a:solidFill>
                  <a:srgbClr val="0045A5"/>
                </a:solidFill>
                <a:latin typeface="Roboto"/>
                <a:cs typeface="Roboto"/>
              </a:rPr>
              <a:t>Area</a:t>
            </a:r>
            <a:r>
              <a:rPr dirty="0" sz="1100" spc="-45">
                <a:solidFill>
                  <a:srgbClr val="0045A5"/>
                </a:solidFill>
                <a:latin typeface="Roboto"/>
                <a:cs typeface="Roboto"/>
              </a:rPr>
              <a:t> </a:t>
            </a:r>
            <a:r>
              <a:rPr dirty="0" sz="1100" spc="-50">
                <a:solidFill>
                  <a:srgbClr val="0045A5"/>
                </a:solidFill>
                <a:latin typeface="Roboto"/>
                <a:cs typeface="Roboto"/>
              </a:rPr>
              <a:t>2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0121155" y="2872184"/>
            <a:ext cx="332105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-35">
                <a:solidFill>
                  <a:srgbClr val="333333"/>
                </a:solidFill>
                <a:latin typeface="Roboto"/>
                <a:cs typeface="Roboto"/>
              </a:rPr>
              <a:t>Tie-</a:t>
            </a:r>
            <a:r>
              <a:rPr dirty="0" sz="800" spc="-20">
                <a:solidFill>
                  <a:srgbClr val="333333"/>
                </a:solidFill>
                <a:latin typeface="Roboto"/>
                <a:cs typeface="Roboto"/>
              </a:rPr>
              <a:t>line</a:t>
            </a:r>
            <a:endParaRPr sz="800">
              <a:latin typeface="Roboto"/>
              <a:cs typeface="Roboto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9847757" y="2300890"/>
            <a:ext cx="116839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0">
                <a:solidFill>
                  <a:srgbClr val="545454"/>
                </a:solidFill>
                <a:latin typeface="Trebuchet MS"/>
                <a:cs typeface="Trebuchet MS"/>
              </a:rPr>
              <a:t>G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0990757" y="2300890"/>
            <a:ext cx="116839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0">
                <a:solidFill>
                  <a:srgbClr val="545454"/>
                </a:solidFill>
                <a:latin typeface="Trebuchet MS"/>
                <a:cs typeface="Trebuchet MS"/>
              </a:rPr>
              <a:t>G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9663062" y="3865242"/>
            <a:ext cx="486409" cy="1612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00" spc="-45">
                <a:solidFill>
                  <a:srgbClr val="0045A5"/>
                </a:solidFill>
                <a:latin typeface="Roboto"/>
                <a:cs typeface="Roboto"/>
              </a:rPr>
              <a:t>Fuzzy-</a:t>
            </a:r>
            <a:r>
              <a:rPr dirty="0" sz="900" spc="-25">
                <a:solidFill>
                  <a:srgbClr val="0045A5"/>
                </a:solidFill>
                <a:latin typeface="Roboto"/>
                <a:cs typeface="Roboto"/>
              </a:rPr>
              <a:t>PID</a:t>
            </a:r>
            <a:endParaRPr sz="900">
              <a:latin typeface="Roboto"/>
              <a:cs typeface="Roboto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10806062" y="3865242"/>
            <a:ext cx="486409" cy="1612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00" spc="-45">
                <a:solidFill>
                  <a:srgbClr val="0045A5"/>
                </a:solidFill>
                <a:latin typeface="Roboto"/>
                <a:cs typeface="Roboto"/>
              </a:rPr>
              <a:t>Fuzzy-</a:t>
            </a:r>
            <a:r>
              <a:rPr dirty="0" sz="900" spc="-25">
                <a:solidFill>
                  <a:srgbClr val="0045A5"/>
                </a:solidFill>
                <a:latin typeface="Roboto"/>
                <a:cs typeface="Roboto"/>
              </a:rPr>
              <a:t>PID</a:t>
            </a:r>
            <a:endParaRPr sz="900">
              <a:latin typeface="Roboto"/>
              <a:cs typeface="Roboto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9863087" y="4433212"/>
            <a:ext cx="847725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spc="-60">
                <a:solidFill>
                  <a:srgbClr val="333333"/>
                </a:solidFill>
                <a:latin typeface="Roboto"/>
                <a:cs typeface="Roboto"/>
              </a:rPr>
              <a:t>ABC</a:t>
            </a:r>
            <a:r>
              <a:rPr dirty="0" sz="9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900" spc="-35">
                <a:solidFill>
                  <a:srgbClr val="333333"/>
                </a:solidFill>
                <a:latin typeface="Roboto"/>
                <a:cs typeface="Roboto"/>
              </a:rPr>
              <a:t>Optimization</a:t>
            </a:r>
            <a:endParaRPr sz="900">
              <a:latin typeface="Roboto"/>
              <a:cs typeface="Roboto"/>
            </a:endParaRPr>
          </a:p>
        </p:txBody>
      </p:sp>
      <p:sp>
        <p:nvSpPr>
          <p:cNvPr id="33" name="object 33" descr=""/>
          <p:cNvSpPr/>
          <p:nvPr/>
        </p:nvSpPr>
        <p:spPr>
          <a:xfrm>
            <a:off x="10096499" y="4895849"/>
            <a:ext cx="381000" cy="285750"/>
          </a:xfrm>
          <a:custGeom>
            <a:avLst/>
            <a:gdLst/>
            <a:ahLst/>
            <a:cxnLst/>
            <a:rect l="l" t="t" r="r" b="b"/>
            <a:pathLst>
              <a:path w="381000" h="285750">
                <a:moveTo>
                  <a:pt x="28575" y="0"/>
                </a:moveTo>
                <a:lnTo>
                  <a:pt x="352425" y="0"/>
                </a:lnTo>
                <a:lnTo>
                  <a:pt x="356214" y="0"/>
                </a:lnTo>
                <a:lnTo>
                  <a:pt x="359859" y="724"/>
                </a:lnTo>
                <a:lnTo>
                  <a:pt x="363360" y="2174"/>
                </a:lnTo>
                <a:lnTo>
                  <a:pt x="366860" y="3625"/>
                </a:lnTo>
                <a:lnTo>
                  <a:pt x="369951" y="5689"/>
                </a:lnTo>
                <a:lnTo>
                  <a:pt x="372630" y="8369"/>
                </a:lnTo>
                <a:lnTo>
                  <a:pt x="375309" y="11048"/>
                </a:lnTo>
                <a:lnTo>
                  <a:pt x="381000" y="28574"/>
                </a:lnTo>
                <a:lnTo>
                  <a:pt x="381000" y="257174"/>
                </a:lnTo>
                <a:lnTo>
                  <a:pt x="363360" y="283574"/>
                </a:lnTo>
                <a:lnTo>
                  <a:pt x="359859" y="285024"/>
                </a:lnTo>
                <a:lnTo>
                  <a:pt x="356214" y="285749"/>
                </a:lnTo>
                <a:lnTo>
                  <a:pt x="352425" y="285749"/>
                </a:lnTo>
                <a:lnTo>
                  <a:pt x="28575" y="285749"/>
                </a:lnTo>
                <a:lnTo>
                  <a:pt x="24785" y="285749"/>
                </a:lnTo>
                <a:lnTo>
                  <a:pt x="21140" y="285024"/>
                </a:lnTo>
                <a:lnTo>
                  <a:pt x="17639" y="283574"/>
                </a:lnTo>
                <a:lnTo>
                  <a:pt x="14138" y="282124"/>
                </a:lnTo>
                <a:lnTo>
                  <a:pt x="2175" y="268109"/>
                </a:lnTo>
                <a:lnTo>
                  <a:pt x="724" y="264609"/>
                </a:lnTo>
                <a:lnTo>
                  <a:pt x="0" y="260964"/>
                </a:lnTo>
                <a:lnTo>
                  <a:pt x="0" y="257174"/>
                </a:lnTo>
                <a:lnTo>
                  <a:pt x="0" y="28574"/>
                </a:lnTo>
                <a:lnTo>
                  <a:pt x="8369" y="8369"/>
                </a:lnTo>
                <a:lnTo>
                  <a:pt x="11048" y="5689"/>
                </a:lnTo>
                <a:lnTo>
                  <a:pt x="14138" y="3625"/>
                </a:lnTo>
                <a:lnTo>
                  <a:pt x="17639" y="2174"/>
                </a:lnTo>
                <a:lnTo>
                  <a:pt x="21140" y="724"/>
                </a:lnTo>
                <a:lnTo>
                  <a:pt x="24785" y="0"/>
                </a:lnTo>
                <a:lnTo>
                  <a:pt x="28575" y="0"/>
                </a:lnTo>
                <a:close/>
              </a:path>
            </a:pathLst>
          </a:custGeom>
          <a:ln w="14287">
            <a:solidFill>
              <a:srgbClr val="0045A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 txBox="1"/>
          <p:nvPr/>
        </p:nvSpPr>
        <p:spPr>
          <a:xfrm>
            <a:off x="10148985" y="4970893"/>
            <a:ext cx="276225" cy="149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00" spc="-25">
                <a:solidFill>
                  <a:srgbClr val="0045A5"/>
                </a:solidFill>
                <a:latin typeface="Roboto"/>
                <a:cs typeface="Roboto"/>
              </a:rPr>
              <a:t>SMES</a:t>
            </a:r>
            <a:endParaRPr sz="800">
              <a:latin typeface="Roboto"/>
              <a:cs typeface="Roboto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9613105" y="5269498"/>
            <a:ext cx="1252855" cy="205104"/>
            <a:chOff x="9613105" y="5269498"/>
            <a:chExt cx="1252855" cy="205104"/>
          </a:xfrm>
        </p:grpSpPr>
        <p:sp>
          <p:nvSpPr>
            <p:cNvPr id="36" name="object 36" descr=""/>
            <p:cNvSpPr/>
            <p:nvPr/>
          </p:nvSpPr>
          <p:spPr>
            <a:xfrm>
              <a:off x="9620249" y="5276849"/>
              <a:ext cx="1238250" cy="190500"/>
            </a:xfrm>
            <a:custGeom>
              <a:avLst/>
              <a:gdLst/>
              <a:ahLst/>
              <a:cxnLst/>
              <a:rect l="l" t="t" r="r" b="b"/>
              <a:pathLst>
                <a:path w="1238250" h="190500">
                  <a:moveTo>
                    <a:pt x="0" y="95250"/>
                  </a:moveTo>
                  <a:lnTo>
                    <a:pt x="46672" y="60960"/>
                  </a:lnTo>
                  <a:lnTo>
                    <a:pt x="91440" y="34290"/>
                  </a:lnTo>
                  <a:lnTo>
                    <a:pt x="134302" y="15240"/>
                  </a:lnTo>
                  <a:lnTo>
                    <a:pt x="175260" y="3810"/>
                  </a:lnTo>
                  <a:lnTo>
                    <a:pt x="214312" y="0"/>
                  </a:lnTo>
                  <a:lnTo>
                    <a:pt x="251459" y="3810"/>
                  </a:lnTo>
                  <a:lnTo>
                    <a:pt x="320039" y="34290"/>
                  </a:lnTo>
                  <a:lnTo>
                    <a:pt x="351472" y="60960"/>
                  </a:lnTo>
                  <a:lnTo>
                    <a:pt x="380999" y="95250"/>
                  </a:lnTo>
                  <a:lnTo>
                    <a:pt x="416718" y="136921"/>
                  </a:lnTo>
                  <a:lnTo>
                    <a:pt x="452437" y="166687"/>
                  </a:lnTo>
                  <a:lnTo>
                    <a:pt x="488156" y="184546"/>
                  </a:lnTo>
                  <a:lnTo>
                    <a:pt x="523874" y="190500"/>
                  </a:lnTo>
                  <a:lnTo>
                    <a:pt x="559593" y="184546"/>
                  </a:lnTo>
                  <a:lnTo>
                    <a:pt x="595312" y="166687"/>
                  </a:lnTo>
                  <a:lnTo>
                    <a:pt x="631031" y="136921"/>
                  </a:lnTo>
                  <a:lnTo>
                    <a:pt x="666749" y="95250"/>
                  </a:lnTo>
                  <a:lnTo>
                    <a:pt x="702468" y="53578"/>
                  </a:lnTo>
                  <a:lnTo>
                    <a:pt x="738187" y="23812"/>
                  </a:lnTo>
                  <a:lnTo>
                    <a:pt x="773906" y="5953"/>
                  </a:lnTo>
                  <a:lnTo>
                    <a:pt x="809624" y="0"/>
                  </a:lnTo>
                  <a:lnTo>
                    <a:pt x="845343" y="5953"/>
                  </a:lnTo>
                  <a:lnTo>
                    <a:pt x="881062" y="23812"/>
                  </a:lnTo>
                  <a:lnTo>
                    <a:pt x="916781" y="53578"/>
                  </a:lnTo>
                  <a:lnTo>
                    <a:pt x="952499" y="95250"/>
                  </a:lnTo>
                  <a:lnTo>
                    <a:pt x="988218" y="136921"/>
                  </a:lnTo>
                  <a:lnTo>
                    <a:pt x="1023937" y="166687"/>
                  </a:lnTo>
                  <a:lnTo>
                    <a:pt x="1059656" y="184546"/>
                  </a:lnTo>
                  <a:lnTo>
                    <a:pt x="1095374" y="190500"/>
                  </a:lnTo>
                  <a:lnTo>
                    <a:pt x="1131093" y="184546"/>
                  </a:lnTo>
                  <a:lnTo>
                    <a:pt x="1166812" y="166687"/>
                  </a:lnTo>
                  <a:lnTo>
                    <a:pt x="1202531" y="136921"/>
                  </a:lnTo>
                  <a:lnTo>
                    <a:pt x="1238249" y="95250"/>
                  </a:lnTo>
                </a:path>
              </a:pathLst>
            </a:custGeom>
            <a:ln w="14287">
              <a:solidFill>
                <a:srgbClr val="0045A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9614534" y="5269498"/>
              <a:ext cx="1250950" cy="205104"/>
            </a:xfrm>
            <a:custGeom>
              <a:avLst/>
              <a:gdLst/>
              <a:ahLst/>
              <a:cxnLst/>
              <a:rect l="l" t="t" r="r" b="b"/>
              <a:pathLst>
                <a:path w="1250950" h="205104">
                  <a:moveTo>
                    <a:pt x="12606" y="122754"/>
                  </a:moveTo>
                  <a:lnTo>
                    <a:pt x="8343" y="117698"/>
                  </a:lnTo>
                  <a:lnTo>
                    <a:pt x="4141" y="112409"/>
                  </a:lnTo>
                  <a:lnTo>
                    <a:pt x="0" y="106887"/>
                  </a:lnTo>
                  <a:lnTo>
                    <a:pt x="11430" y="98315"/>
                  </a:lnTo>
                  <a:lnTo>
                    <a:pt x="15408" y="103619"/>
                  </a:lnTo>
                  <a:lnTo>
                    <a:pt x="19441" y="108695"/>
                  </a:lnTo>
                  <a:lnTo>
                    <a:pt x="23529" y="113544"/>
                  </a:lnTo>
                  <a:lnTo>
                    <a:pt x="12606" y="122754"/>
                  </a:lnTo>
                  <a:close/>
                </a:path>
                <a:path w="1250950" h="205104">
                  <a:moveTo>
                    <a:pt x="39099" y="150461"/>
                  </a:moveTo>
                  <a:lnTo>
                    <a:pt x="34538" y="146295"/>
                  </a:lnTo>
                  <a:lnTo>
                    <a:pt x="30039" y="141891"/>
                  </a:lnTo>
                  <a:lnTo>
                    <a:pt x="25602" y="137247"/>
                  </a:lnTo>
                  <a:lnTo>
                    <a:pt x="35932" y="127377"/>
                  </a:lnTo>
                  <a:lnTo>
                    <a:pt x="40144" y="131785"/>
                  </a:lnTo>
                  <a:lnTo>
                    <a:pt x="44412" y="135964"/>
                  </a:lnTo>
                  <a:lnTo>
                    <a:pt x="48735" y="139912"/>
                  </a:lnTo>
                  <a:lnTo>
                    <a:pt x="39099" y="150461"/>
                  </a:lnTo>
                  <a:close/>
                </a:path>
                <a:path w="1250950" h="205104">
                  <a:moveTo>
                    <a:pt x="70462" y="174723"/>
                  </a:moveTo>
                  <a:lnTo>
                    <a:pt x="65074" y="171265"/>
                  </a:lnTo>
                  <a:lnTo>
                    <a:pt x="59764" y="167512"/>
                  </a:lnTo>
                  <a:lnTo>
                    <a:pt x="54531" y="163463"/>
                  </a:lnTo>
                  <a:lnTo>
                    <a:pt x="63274" y="152163"/>
                  </a:lnTo>
                  <a:lnTo>
                    <a:pt x="68176" y="155956"/>
                  </a:lnTo>
                  <a:lnTo>
                    <a:pt x="73145" y="159468"/>
                  </a:lnTo>
                  <a:lnTo>
                    <a:pt x="78179" y="162700"/>
                  </a:lnTo>
                  <a:lnTo>
                    <a:pt x="70462" y="174723"/>
                  </a:lnTo>
                  <a:close/>
                </a:path>
                <a:path w="1250950" h="205104">
                  <a:moveTo>
                    <a:pt x="105556" y="192649"/>
                  </a:moveTo>
                  <a:lnTo>
                    <a:pt x="99420" y="190273"/>
                  </a:lnTo>
                  <a:lnTo>
                    <a:pt x="93372" y="187556"/>
                  </a:lnTo>
                  <a:lnTo>
                    <a:pt x="87410" y="184496"/>
                  </a:lnTo>
                  <a:lnTo>
                    <a:pt x="93934" y="171786"/>
                  </a:lnTo>
                  <a:lnTo>
                    <a:pt x="99449" y="174616"/>
                  </a:lnTo>
                  <a:lnTo>
                    <a:pt x="105043" y="177129"/>
                  </a:lnTo>
                  <a:lnTo>
                    <a:pt x="110713" y="179324"/>
                  </a:lnTo>
                  <a:lnTo>
                    <a:pt x="105556" y="192649"/>
                  </a:lnTo>
                  <a:close/>
                </a:path>
                <a:path w="1250950" h="205104">
                  <a:moveTo>
                    <a:pt x="143530" y="202808"/>
                  </a:moveTo>
                  <a:lnTo>
                    <a:pt x="137014" y="201802"/>
                  </a:lnTo>
                  <a:lnTo>
                    <a:pt x="130585" y="200450"/>
                  </a:lnTo>
                  <a:lnTo>
                    <a:pt x="124244" y="198752"/>
                  </a:lnTo>
                  <a:lnTo>
                    <a:pt x="127940" y="184951"/>
                  </a:lnTo>
                  <a:lnTo>
                    <a:pt x="133784" y="186516"/>
                  </a:lnTo>
                  <a:lnTo>
                    <a:pt x="139707" y="187761"/>
                  </a:lnTo>
                  <a:lnTo>
                    <a:pt x="145709" y="188688"/>
                  </a:lnTo>
                  <a:lnTo>
                    <a:pt x="143530" y="202808"/>
                  </a:lnTo>
                  <a:close/>
                </a:path>
                <a:path w="1250950" h="205104">
                  <a:moveTo>
                    <a:pt x="176294" y="205064"/>
                  </a:moveTo>
                  <a:lnTo>
                    <a:pt x="169311" y="205064"/>
                  </a:lnTo>
                  <a:lnTo>
                    <a:pt x="161954" y="204720"/>
                  </a:lnTo>
                  <a:lnTo>
                    <a:pt x="163317" y="204720"/>
                  </a:lnTo>
                  <a:lnTo>
                    <a:pt x="163969" y="190771"/>
                  </a:lnTo>
                  <a:lnTo>
                    <a:pt x="163984" y="190451"/>
                  </a:lnTo>
                  <a:lnTo>
                    <a:pt x="162694" y="190451"/>
                  </a:lnTo>
                  <a:lnTo>
                    <a:pt x="169531" y="190771"/>
                  </a:lnTo>
                  <a:lnTo>
                    <a:pt x="182172" y="190771"/>
                  </a:lnTo>
                  <a:lnTo>
                    <a:pt x="182899" y="204720"/>
                  </a:lnTo>
                  <a:lnTo>
                    <a:pt x="176294" y="205064"/>
                  </a:lnTo>
                  <a:close/>
                </a:path>
                <a:path w="1250950" h="205104">
                  <a:moveTo>
                    <a:pt x="182172" y="190771"/>
                  </a:moveTo>
                  <a:lnTo>
                    <a:pt x="176019" y="190771"/>
                  </a:lnTo>
                  <a:lnTo>
                    <a:pt x="182156" y="190451"/>
                  </a:lnTo>
                  <a:lnTo>
                    <a:pt x="182172" y="190771"/>
                  </a:lnTo>
                  <a:close/>
                </a:path>
                <a:path w="1250950" h="205104">
                  <a:moveTo>
                    <a:pt x="202345" y="202805"/>
                  </a:moveTo>
                  <a:lnTo>
                    <a:pt x="200313" y="188663"/>
                  </a:lnTo>
                  <a:lnTo>
                    <a:pt x="206453" y="187781"/>
                  </a:lnTo>
                  <a:lnTo>
                    <a:pt x="212669" y="186612"/>
                  </a:lnTo>
                  <a:lnTo>
                    <a:pt x="218962" y="185157"/>
                  </a:lnTo>
                  <a:lnTo>
                    <a:pt x="222180" y="199078"/>
                  </a:lnTo>
                  <a:lnTo>
                    <a:pt x="215497" y="200623"/>
                  </a:lnTo>
                  <a:lnTo>
                    <a:pt x="208886" y="201865"/>
                  </a:lnTo>
                  <a:lnTo>
                    <a:pt x="202345" y="202805"/>
                  </a:lnTo>
                  <a:close/>
                </a:path>
                <a:path w="1250950" h="205104">
                  <a:moveTo>
                    <a:pt x="240429" y="194163"/>
                  </a:moveTo>
                  <a:lnTo>
                    <a:pt x="236238" y="180504"/>
                  </a:lnTo>
                  <a:lnTo>
                    <a:pt x="242039" y="178724"/>
                  </a:lnTo>
                  <a:lnTo>
                    <a:pt x="247901" y="176712"/>
                  </a:lnTo>
                  <a:lnTo>
                    <a:pt x="253824" y="174466"/>
                  </a:lnTo>
                  <a:lnTo>
                    <a:pt x="258888" y="187826"/>
                  </a:lnTo>
                  <a:lnTo>
                    <a:pt x="252677" y="190181"/>
                  </a:lnTo>
                  <a:lnTo>
                    <a:pt x="246524" y="192293"/>
                  </a:lnTo>
                  <a:lnTo>
                    <a:pt x="240429" y="194163"/>
                  </a:lnTo>
                  <a:close/>
                </a:path>
                <a:path w="1250950" h="205104">
                  <a:moveTo>
                    <a:pt x="277520" y="180114"/>
                  </a:moveTo>
                  <a:lnTo>
                    <a:pt x="271677" y="167076"/>
                  </a:lnTo>
                  <a:lnTo>
                    <a:pt x="277012" y="164685"/>
                  </a:lnTo>
                  <a:lnTo>
                    <a:pt x="282395" y="162113"/>
                  </a:lnTo>
                  <a:lnTo>
                    <a:pt x="287828" y="159358"/>
                  </a:lnTo>
                  <a:lnTo>
                    <a:pt x="294290" y="172101"/>
                  </a:lnTo>
                  <a:lnTo>
                    <a:pt x="288657" y="174957"/>
                  </a:lnTo>
                  <a:lnTo>
                    <a:pt x="283067" y="177628"/>
                  </a:lnTo>
                  <a:lnTo>
                    <a:pt x="277520" y="180114"/>
                  </a:lnTo>
                  <a:close/>
                </a:path>
                <a:path w="1250950" h="205104">
                  <a:moveTo>
                    <a:pt x="311305" y="162983"/>
                  </a:moveTo>
                  <a:lnTo>
                    <a:pt x="304284" y="150540"/>
                  </a:lnTo>
                  <a:lnTo>
                    <a:pt x="309822" y="147415"/>
                  </a:lnTo>
                  <a:lnTo>
                    <a:pt x="315409" y="144108"/>
                  </a:lnTo>
                  <a:lnTo>
                    <a:pt x="321044" y="140617"/>
                  </a:lnTo>
                  <a:lnTo>
                    <a:pt x="328568" y="152764"/>
                  </a:lnTo>
                  <a:lnTo>
                    <a:pt x="322770" y="156354"/>
                  </a:lnTo>
                  <a:lnTo>
                    <a:pt x="317016" y="159761"/>
                  </a:lnTo>
                  <a:lnTo>
                    <a:pt x="311305" y="162983"/>
                  </a:lnTo>
                  <a:close/>
                </a:path>
                <a:path w="1250950" h="205104">
                  <a:moveTo>
                    <a:pt x="344388" y="142579"/>
                  </a:moveTo>
                  <a:lnTo>
                    <a:pt x="336453" y="130697"/>
                  </a:lnTo>
                  <a:lnTo>
                    <a:pt x="341474" y="127344"/>
                  </a:lnTo>
                  <a:lnTo>
                    <a:pt x="346529" y="123852"/>
                  </a:lnTo>
                  <a:lnTo>
                    <a:pt x="351619" y="120221"/>
                  </a:lnTo>
                  <a:lnTo>
                    <a:pt x="359917" y="131852"/>
                  </a:lnTo>
                  <a:lnTo>
                    <a:pt x="354705" y="135571"/>
                  </a:lnTo>
                  <a:lnTo>
                    <a:pt x="349528" y="139147"/>
                  </a:lnTo>
                  <a:lnTo>
                    <a:pt x="344388" y="142579"/>
                  </a:lnTo>
                  <a:close/>
                </a:path>
                <a:path w="1250950" h="205104">
                  <a:moveTo>
                    <a:pt x="375642" y="120282"/>
                  </a:moveTo>
                  <a:lnTo>
                    <a:pt x="367013" y="108895"/>
                  </a:lnTo>
                  <a:lnTo>
                    <a:pt x="372058" y="105071"/>
                  </a:lnTo>
                  <a:lnTo>
                    <a:pt x="377138" y="101113"/>
                  </a:lnTo>
                  <a:lnTo>
                    <a:pt x="382646" y="96708"/>
                  </a:lnTo>
                  <a:lnTo>
                    <a:pt x="391564" y="107870"/>
                  </a:lnTo>
                  <a:lnTo>
                    <a:pt x="385966" y="112348"/>
                  </a:lnTo>
                  <a:lnTo>
                    <a:pt x="380787" y="116383"/>
                  </a:lnTo>
                  <a:lnTo>
                    <a:pt x="375642" y="120282"/>
                  </a:lnTo>
                  <a:close/>
                </a:path>
                <a:path w="1250950" h="205104">
                  <a:moveTo>
                    <a:pt x="407362" y="95505"/>
                  </a:moveTo>
                  <a:lnTo>
                    <a:pt x="398676" y="84161"/>
                  </a:lnTo>
                  <a:lnTo>
                    <a:pt x="403949" y="80123"/>
                  </a:lnTo>
                  <a:lnTo>
                    <a:pt x="409151" y="76231"/>
                  </a:lnTo>
                  <a:lnTo>
                    <a:pt x="414282" y="72484"/>
                  </a:lnTo>
                  <a:lnTo>
                    <a:pt x="422708" y="84022"/>
                  </a:lnTo>
                  <a:lnTo>
                    <a:pt x="417668" y="87703"/>
                  </a:lnTo>
                  <a:lnTo>
                    <a:pt x="412552" y="91531"/>
                  </a:lnTo>
                  <a:lnTo>
                    <a:pt x="407362" y="95505"/>
                  </a:lnTo>
                  <a:close/>
                </a:path>
                <a:path w="1250950" h="205104">
                  <a:moveTo>
                    <a:pt x="437602" y="73420"/>
                  </a:moveTo>
                  <a:lnTo>
                    <a:pt x="429465" y="61675"/>
                  </a:lnTo>
                  <a:lnTo>
                    <a:pt x="434787" y="57988"/>
                  </a:lnTo>
                  <a:lnTo>
                    <a:pt x="440029" y="54466"/>
                  </a:lnTo>
                  <a:lnTo>
                    <a:pt x="445191" y="51110"/>
                  </a:lnTo>
                  <a:lnTo>
                    <a:pt x="452979" y="63088"/>
                  </a:lnTo>
                  <a:lnTo>
                    <a:pt x="447939" y="66366"/>
                  </a:lnTo>
                  <a:lnTo>
                    <a:pt x="442813" y="69809"/>
                  </a:lnTo>
                  <a:lnTo>
                    <a:pt x="437602" y="73420"/>
                  </a:lnTo>
                  <a:close/>
                </a:path>
                <a:path w="1250950" h="205104">
                  <a:moveTo>
                    <a:pt x="469618" y="52685"/>
                  </a:moveTo>
                  <a:lnTo>
                    <a:pt x="462275" y="40430"/>
                  </a:lnTo>
                  <a:lnTo>
                    <a:pt x="467876" y="37074"/>
                  </a:lnTo>
                  <a:lnTo>
                    <a:pt x="473373" y="33929"/>
                  </a:lnTo>
                  <a:lnTo>
                    <a:pt x="478767" y="30994"/>
                  </a:lnTo>
                  <a:lnTo>
                    <a:pt x="485595" y="43545"/>
                  </a:lnTo>
                  <a:lnTo>
                    <a:pt x="480375" y="46384"/>
                  </a:lnTo>
                  <a:lnTo>
                    <a:pt x="475049" y="49431"/>
                  </a:lnTo>
                  <a:lnTo>
                    <a:pt x="469618" y="52685"/>
                  </a:lnTo>
                  <a:close/>
                </a:path>
                <a:path w="1250950" h="205104">
                  <a:moveTo>
                    <a:pt x="501744" y="35258"/>
                  </a:moveTo>
                  <a:lnTo>
                    <a:pt x="495552" y="22382"/>
                  </a:lnTo>
                  <a:lnTo>
                    <a:pt x="501904" y="19328"/>
                  </a:lnTo>
                  <a:lnTo>
                    <a:pt x="508105" y="16589"/>
                  </a:lnTo>
                  <a:lnTo>
                    <a:pt x="514153" y="14166"/>
                  </a:lnTo>
                  <a:lnTo>
                    <a:pt x="519466" y="27429"/>
                  </a:lnTo>
                  <a:lnTo>
                    <a:pt x="513718" y="29731"/>
                  </a:lnTo>
                  <a:lnTo>
                    <a:pt x="507811" y="32341"/>
                  </a:lnTo>
                  <a:lnTo>
                    <a:pt x="501744" y="35258"/>
                  </a:lnTo>
                  <a:close/>
                </a:path>
                <a:path w="1250950" h="205104">
                  <a:moveTo>
                    <a:pt x="536161" y="21463"/>
                  </a:moveTo>
                  <a:lnTo>
                    <a:pt x="531912" y="7822"/>
                  </a:lnTo>
                  <a:lnTo>
                    <a:pt x="538682" y="5714"/>
                  </a:lnTo>
                  <a:lnTo>
                    <a:pt x="545243" y="4043"/>
                  </a:lnTo>
                  <a:lnTo>
                    <a:pt x="551595" y="2811"/>
                  </a:lnTo>
                  <a:lnTo>
                    <a:pt x="554316" y="16837"/>
                  </a:lnTo>
                  <a:lnTo>
                    <a:pt x="548480" y="17969"/>
                  </a:lnTo>
                  <a:lnTo>
                    <a:pt x="542428" y="19511"/>
                  </a:lnTo>
                  <a:lnTo>
                    <a:pt x="536161" y="21463"/>
                  </a:lnTo>
                  <a:close/>
                </a:path>
                <a:path w="1250950" h="205104">
                  <a:moveTo>
                    <a:pt x="573627" y="14543"/>
                  </a:moveTo>
                  <a:lnTo>
                    <a:pt x="571860" y="14543"/>
                  </a:lnTo>
                  <a:lnTo>
                    <a:pt x="571173" y="1164"/>
                  </a:lnTo>
                  <a:lnTo>
                    <a:pt x="571127" y="267"/>
                  </a:lnTo>
                  <a:lnTo>
                    <a:pt x="573046" y="267"/>
                  </a:lnTo>
                  <a:lnTo>
                    <a:pt x="578235" y="0"/>
                  </a:lnTo>
                  <a:lnTo>
                    <a:pt x="585042" y="267"/>
                  </a:lnTo>
                  <a:lnTo>
                    <a:pt x="591554" y="1164"/>
                  </a:lnTo>
                  <a:lnTo>
                    <a:pt x="589742" y="14315"/>
                  </a:lnTo>
                  <a:lnTo>
                    <a:pt x="578070" y="14315"/>
                  </a:lnTo>
                  <a:lnTo>
                    <a:pt x="573627" y="14543"/>
                  </a:lnTo>
                  <a:close/>
                </a:path>
                <a:path w="1250950" h="205104">
                  <a:moveTo>
                    <a:pt x="589604" y="15318"/>
                  </a:moveTo>
                  <a:lnTo>
                    <a:pt x="583983" y="14543"/>
                  </a:lnTo>
                  <a:lnTo>
                    <a:pt x="578070" y="14315"/>
                  </a:lnTo>
                  <a:lnTo>
                    <a:pt x="589742" y="14315"/>
                  </a:lnTo>
                  <a:lnTo>
                    <a:pt x="589710" y="14543"/>
                  </a:lnTo>
                  <a:lnTo>
                    <a:pt x="589604" y="15318"/>
                  </a:lnTo>
                  <a:close/>
                </a:path>
                <a:path w="1250950" h="205104">
                  <a:moveTo>
                    <a:pt x="621328" y="27504"/>
                  </a:moveTo>
                  <a:lnTo>
                    <a:pt x="616596" y="24209"/>
                  </a:lnTo>
                  <a:lnTo>
                    <a:pt x="611550" y="21542"/>
                  </a:lnTo>
                  <a:lnTo>
                    <a:pt x="606192" y="19503"/>
                  </a:lnTo>
                  <a:lnTo>
                    <a:pt x="611273" y="6149"/>
                  </a:lnTo>
                  <a:lnTo>
                    <a:pt x="617725" y="8604"/>
                  </a:lnTo>
                  <a:lnTo>
                    <a:pt x="623798" y="11814"/>
                  </a:lnTo>
                  <a:lnTo>
                    <a:pt x="629492" y="15779"/>
                  </a:lnTo>
                  <a:lnTo>
                    <a:pt x="621328" y="27504"/>
                  </a:lnTo>
                  <a:close/>
                </a:path>
                <a:path w="1250950" h="205104">
                  <a:moveTo>
                    <a:pt x="644914" y="52952"/>
                  </a:moveTo>
                  <a:lnTo>
                    <a:pt x="641652" y="47793"/>
                  </a:lnTo>
                  <a:lnTo>
                    <a:pt x="638146" y="43158"/>
                  </a:lnTo>
                  <a:lnTo>
                    <a:pt x="634396" y="39045"/>
                  </a:lnTo>
                  <a:lnTo>
                    <a:pt x="644954" y="29419"/>
                  </a:lnTo>
                  <a:lnTo>
                    <a:pt x="649268" y="34149"/>
                  </a:lnTo>
                  <a:lnTo>
                    <a:pt x="653279" y="39448"/>
                  </a:lnTo>
                  <a:lnTo>
                    <a:pt x="656989" y="45315"/>
                  </a:lnTo>
                  <a:lnTo>
                    <a:pt x="644914" y="52952"/>
                  </a:lnTo>
                  <a:close/>
                </a:path>
                <a:path w="1250950" h="205104">
                  <a:moveTo>
                    <a:pt x="660074" y="85649"/>
                  </a:moveTo>
                  <a:lnTo>
                    <a:pt x="658077" y="79769"/>
                  </a:lnTo>
                  <a:lnTo>
                    <a:pt x="655907" y="74252"/>
                  </a:lnTo>
                  <a:lnTo>
                    <a:pt x="653564" y="69098"/>
                  </a:lnTo>
                  <a:lnTo>
                    <a:pt x="666570" y="63184"/>
                  </a:lnTo>
                  <a:lnTo>
                    <a:pt x="669109" y="68768"/>
                  </a:lnTo>
                  <a:lnTo>
                    <a:pt x="671453" y="74725"/>
                  </a:lnTo>
                  <a:lnTo>
                    <a:pt x="673603" y="81055"/>
                  </a:lnTo>
                  <a:lnTo>
                    <a:pt x="660074" y="85649"/>
                  </a:lnTo>
                  <a:close/>
                </a:path>
                <a:path w="1250950" h="205104">
                  <a:moveTo>
                    <a:pt x="671433" y="124459"/>
                  </a:moveTo>
                  <a:lnTo>
                    <a:pt x="669289" y="118179"/>
                  </a:lnTo>
                  <a:lnTo>
                    <a:pt x="667337" y="111528"/>
                  </a:lnTo>
                  <a:lnTo>
                    <a:pt x="665577" y="104506"/>
                  </a:lnTo>
                  <a:lnTo>
                    <a:pt x="679436" y="101033"/>
                  </a:lnTo>
                  <a:lnTo>
                    <a:pt x="681099" y="107668"/>
                  </a:lnTo>
                  <a:lnTo>
                    <a:pt x="682939" y="113939"/>
                  </a:lnTo>
                  <a:lnTo>
                    <a:pt x="684954" y="119844"/>
                  </a:lnTo>
                  <a:lnTo>
                    <a:pt x="671433" y="124459"/>
                  </a:lnTo>
                  <a:close/>
                </a:path>
                <a:path w="1250950" h="205104">
                  <a:moveTo>
                    <a:pt x="688122" y="160174"/>
                  </a:moveTo>
                  <a:lnTo>
                    <a:pt x="684647" y="154710"/>
                  </a:lnTo>
                  <a:lnTo>
                    <a:pt x="681435" y="148751"/>
                  </a:lnTo>
                  <a:lnTo>
                    <a:pt x="678449" y="142216"/>
                  </a:lnTo>
                  <a:lnTo>
                    <a:pt x="678657" y="142216"/>
                  </a:lnTo>
                  <a:lnTo>
                    <a:pt x="691481" y="136358"/>
                  </a:lnTo>
                  <a:lnTo>
                    <a:pt x="694157" y="142216"/>
                  </a:lnTo>
                  <a:lnTo>
                    <a:pt x="697056" y="147599"/>
                  </a:lnTo>
                  <a:lnTo>
                    <a:pt x="700178" y="152506"/>
                  </a:lnTo>
                  <a:lnTo>
                    <a:pt x="688122" y="160174"/>
                  </a:lnTo>
                  <a:close/>
                </a:path>
                <a:path w="1250950" h="205104">
                  <a:moveTo>
                    <a:pt x="715719" y="189619"/>
                  </a:moveTo>
                  <a:lnTo>
                    <a:pt x="710174" y="185791"/>
                  </a:lnTo>
                  <a:lnTo>
                    <a:pt x="704997" y="181257"/>
                  </a:lnTo>
                  <a:lnTo>
                    <a:pt x="700190" y="176017"/>
                  </a:lnTo>
                  <a:lnTo>
                    <a:pt x="710717" y="166358"/>
                  </a:lnTo>
                  <a:lnTo>
                    <a:pt x="714799" y="170807"/>
                  </a:lnTo>
                  <a:lnTo>
                    <a:pt x="719172" y="174641"/>
                  </a:lnTo>
                  <a:lnTo>
                    <a:pt x="723836" y="177861"/>
                  </a:lnTo>
                  <a:lnTo>
                    <a:pt x="715719" y="189619"/>
                  </a:lnTo>
                  <a:close/>
                </a:path>
                <a:path w="1250950" h="205104">
                  <a:moveTo>
                    <a:pt x="753716" y="204084"/>
                  </a:moveTo>
                  <a:lnTo>
                    <a:pt x="746793" y="203156"/>
                  </a:lnTo>
                  <a:lnTo>
                    <a:pt x="740209" y="201517"/>
                  </a:lnTo>
                  <a:lnTo>
                    <a:pt x="733965" y="199169"/>
                  </a:lnTo>
                  <a:lnTo>
                    <a:pt x="738995" y="185796"/>
                  </a:lnTo>
                  <a:lnTo>
                    <a:pt x="744225" y="187763"/>
                  </a:lnTo>
                  <a:lnTo>
                    <a:pt x="749765" y="189139"/>
                  </a:lnTo>
                  <a:lnTo>
                    <a:pt x="755616" y="189924"/>
                  </a:lnTo>
                  <a:lnTo>
                    <a:pt x="753841" y="203156"/>
                  </a:lnTo>
                  <a:lnTo>
                    <a:pt x="753716" y="204084"/>
                  </a:lnTo>
                  <a:close/>
                </a:path>
                <a:path w="1250950" h="205104">
                  <a:moveTo>
                    <a:pt x="774109" y="204820"/>
                  </a:moveTo>
                  <a:lnTo>
                    <a:pt x="773341" y="190554"/>
                  </a:lnTo>
                  <a:lnTo>
                    <a:pt x="778961" y="190251"/>
                  </a:lnTo>
                  <a:lnTo>
                    <a:pt x="784819" y="189502"/>
                  </a:lnTo>
                  <a:lnTo>
                    <a:pt x="790915" y="188306"/>
                  </a:lnTo>
                  <a:lnTo>
                    <a:pt x="793666" y="202326"/>
                  </a:lnTo>
                  <a:lnTo>
                    <a:pt x="786915" y="203650"/>
                  </a:lnTo>
                  <a:lnTo>
                    <a:pt x="780396" y="204482"/>
                  </a:lnTo>
                  <a:lnTo>
                    <a:pt x="774109" y="204820"/>
                  </a:lnTo>
                  <a:close/>
                </a:path>
                <a:path w="1250950" h="205104">
                  <a:moveTo>
                    <a:pt x="813303" y="197290"/>
                  </a:moveTo>
                  <a:lnTo>
                    <a:pt x="809035" y="183655"/>
                  </a:lnTo>
                  <a:lnTo>
                    <a:pt x="814449" y="181960"/>
                  </a:lnTo>
                  <a:lnTo>
                    <a:pt x="820019" y="179962"/>
                  </a:lnTo>
                  <a:lnTo>
                    <a:pt x="825747" y="177659"/>
                  </a:lnTo>
                  <a:lnTo>
                    <a:pt x="831076" y="190915"/>
                  </a:lnTo>
                  <a:lnTo>
                    <a:pt x="824997" y="193359"/>
                  </a:lnTo>
                  <a:lnTo>
                    <a:pt x="819072" y="195484"/>
                  </a:lnTo>
                  <a:lnTo>
                    <a:pt x="813303" y="197290"/>
                  </a:lnTo>
                  <a:close/>
                </a:path>
                <a:path w="1250950" h="205104">
                  <a:moveTo>
                    <a:pt x="849690" y="182669"/>
                  </a:moveTo>
                  <a:lnTo>
                    <a:pt x="843486" y="169798"/>
                  </a:lnTo>
                  <a:lnTo>
                    <a:pt x="848737" y="167267"/>
                  </a:lnTo>
                  <a:lnTo>
                    <a:pt x="854106" y="164507"/>
                  </a:lnTo>
                  <a:lnTo>
                    <a:pt x="859592" y="161516"/>
                  </a:lnTo>
                  <a:lnTo>
                    <a:pt x="866429" y="174062"/>
                  </a:lnTo>
                  <a:lnTo>
                    <a:pt x="860736" y="177165"/>
                  </a:lnTo>
                  <a:lnTo>
                    <a:pt x="855157" y="180034"/>
                  </a:lnTo>
                  <a:lnTo>
                    <a:pt x="849690" y="182669"/>
                  </a:lnTo>
                  <a:close/>
                </a:path>
                <a:path w="1250950" h="205104">
                  <a:moveTo>
                    <a:pt x="882931" y="164606"/>
                  </a:moveTo>
                  <a:lnTo>
                    <a:pt x="875580" y="152355"/>
                  </a:lnTo>
                  <a:lnTo>
                    <a:pt x="881022" y="149090"/>
                  </a:lnTo>
                  <a:lnTo>
                    <a:pt x="886572" y="145615"/>
                  </a:lnTo>
                  <a:lnTo>
                    <a:pt x="892229" y="141932"/>
                  </a:lnTo>
                  <a:lnTo>
                    <a:pt x="900025" y="153905"/>
                  </a:lnTo>
                  <a:lnTo>
                    <a:pt x="894226" y="157681"/>
                  </a:lnTo>
                  <a:lnTo>
                    <a:pt x="888528" y="161248"/>
                  </a:lnTo>
                  <a:lnTo>
                    <a:pt x="882931" y="164606"/>
                  </a:lnTo>
                  <a:close/>
                </a:path>
                <a:path w="1250950" h="205104">
                  <a:moveTo>
                    <a:pt x="915711" y="143355"/>
                  </a:moveTo>
                  <a:lnTo>
                    <a:pt x="907569" y="131614"/>
                  </a:lnTo>
                  <a:lnTo>
                    <a:pt x="912462" y="128221"/>
                  </a:lnTo>
                  <a:lnTo>
                    <a:pt x="917429" y="124683"/>
                  </a:lnTo>
                  <a:lnTo>
                    <a:pt x="922470" y="120998"/>
                  </a:lnTo>
                  <a:lnTo>
                    <a:pt x="930901" y="132532"/>
                  </a:lnTo>
                  <a:lnTo>
                    <a:pt x="925766" y="136285"/>
                  </a:lnTo>
                  <a:lnTo>
                    <a:pt x="920703" y="139893"/>
                  </a:lnTo>
                  <a:lnTo>
                    <a:pt x="915711" y="143355"/>
                  </a:lnTo>
                  <a:close/>
                </a:path>
                <a:path w="1250950" h="205104">
                  <a:moveTo>
                    <a:pt x="946514" y="120841"/>
                  </a:moveTo>
                  <a:lnTo>
                    <a:pt x="937824" y="109500"/>
                  </a:lnTo>
                  <a:lnTo>
                    <a:pt x="943017" y="105521"/>
                  </a:lnTo>
                  <a:lnTo>
                    <a:pt x="948285" y="101394"/>
                  </a:lnTo>
                  <a:lnTo>
                    <a:pt x="953629" y="97121"/>
                  </a:lnTo>
                  <a:lnTo>
                    <a:pt x="962552" y="108279"/>
                  </a:lnTo>
                  <a:lnTo>
                    <a:pt x="957135" y="112611"/>
                  </a:lnTo>
                  <a:lnTo>
                    <a:pt x="951789" y="116798"/>
                  </a:lnTo>
                  <a:lnTo>
                    <a:pt x="946514" y="120841"/>
                  </a:lnTo>
                  <a:close/>
                </a:path>
                <a:path w="1250950" h="205104">
                  <a:moveTo>
                    <a:pt x="978365" y="95885"/>
                  </a:moveTo>
                  <a:lnTo>
                    <a:pt x="969671" y="84547"/>
                  </a:lnTo>
                  <a:lnTo>
                    <a:pt x="974949" y="80500"/>
                  </a:lnTo>
                  <a:lnTo>
                    <a:pt x="980156" y="76599"/>
                  </a:lnTo>
                  <a:lnTo>
                    <a:pt x="985291" y="72842"/>
                  </a:lnTo>
                  <a:lnTo>
                    <a:pt x="993726" y="84374"/>
                  </a:lnTo>
                  <a:lnTo>
                    <a:pt x="988681" y="88065"/>
                  </a:lnTo>
                  <a:lnTo>
                    <a:pt x="983560" y="91902"/>
                  </a:lnTo>
                  <a:lnTo>
                    <a:pt x="978365" y="95885"/>
                  </a:lnTo>
                  <a:close/>
                </a:path>
                <a:path w="1250950" h="205104">
                  <a:moveTo>
                    <a:pt x="1008634" y="73744"/>
                  </a:moveTo>
                  <a:lnTo>
                    <a:pt x="1000488" y="62007"/>
                  </a:lnTo>
                  <a:lnTo>
                    <a:pt x="1005786" y="58330"/>
                  </a:lnTo>
                  <a:lnTo>
                    <a:pt x="1011002" y="54818"/>
                  </a:lnTo>
                  <a:lnTo>
                    <a:pt x="1016136" y="51471"/>
                  </a:lnTo>
                  <a:lnTo>
                    <a:pt x="1023938" y="63440"/>
                  </a:lnTo>
                  <a:lnTo>
                    <a:pt x="1018919" y="66712"/>
                  </a:lnTo>
                  <a:lnTo>
                    <a:pt x="1013817" y="70147"/>
                  </a:lnTo>
                  <a:lnTo>
                    <a:pt x="1008634" y="73744"/>
                  </a:lnTo>
                  <a:close/>
                </a:path>
                <a:path w="1250950" h="205104">
                  <a:moveTo>
                    <a:pt x="1040598" y="52998"/>
                  </a:moveTo>
                  <a:lnTo>
                    <a:pt x="1033239" y="40751"/>
                  </a:lnTo>
                  <a:lnTo>
                    <a:pt x="1038846" y="37382"/>
                  </a:lnTo>
                  <a:lnTo>
                    <a:pt x="1044350" y="34224"/>
                  </a:lnTo>
                  <a:lnTo>
                    <a:pt x="1049750" y="31276"/>
                  </a:lnTo>
                  <a:lnTo>
                    <a:pt x="1056595" y="43817"/>
                  </a:lnTo>
                  <a:lnTo>
                    <a:pt x="1051368" y="46670"/>
                  </a:lnTo>
                  <a:lnTo>
                    <a:pt x="1046036" y="49730"/>
                  </a:lnTo>
                  <a:lnTo>
                    <a:pt x="1040598" y="52998"/>
                  </a:lnTo>
                  <a:close/>
                </a:path>
                <a:path w="1250950" h="205104">
                  <a:moveTo>
                    <a:pt x="1072662" y="35539"/>
                  </a:moveTo>
                  <a:lnTo>
                    <a:pt x="1066445" y="22675"/>
                  </a:lnTo>
                  <a:lnTo>
                    <a:pt x="1072807" y="19600"/>
                  </a:lnTo>
                  <a:lnTo>
                    <a:pt x="1079016" y="16842"/>
                  </a:lnTo>
                  <a:lnTo>
                    <a:pt x="1085073" y="14399"/>
                  </a:lnTo>
                  <a:lnTo>
                    <a:pt x="1090417" y="27649"/>
                  </a:lnTo>
                  <a:lnTo>
                    <a:pt x="1084658" y="29972"/>
                  </a:lnTo>
                  <a:lnTo>
                    <a:pt x="1078739" y="32602"/>
                  </a:lnTo>
                  <a:lnTo>
                    <a:pt x="1072662" y="35539"/>
                  </a:lnTo>
                  <a:close/>
                </a:path>
                <a:path w="1250950" h="205104">
                  <a:moveTo>
                    <a:pt x="1107145" y="21625"/>
                  </a:moveTo>
                  <a:lnTo>
                    <a:pt x="1102859" y="7996"/>
                  </a:lnTo>
                  <a:lnTo>
                    <a:pt x="1109596" y="5877"/>
                  </a:lnTo>
                  <a:lnTo>
                    <a:pt x="1116128" y="4191"/>
                  </a:lnTo>
                  <a:lnTo>
                    <a:pt x="1122453" y="2937"/>
                  </a:lnTo>
                  <a:lnTo>
                    <a:pt x="1125230" y="16952"/>
                  </a:lnTo>
                  <a:lnTo>
                    <a:pt x="1119414" y="18105"/>
                  </a:lnTo>
                  <a:lnTo>
                    <a:pt x="1113386" y="19663"/>
                  </a:lnTo>
                  <a:lnTo>
                    <a:pt x="1107145" y="21625"/>
                  </a:lnTo>
                  <a:close/>
                </a:path>
                <a:path w="1250950" h="205104">
                  <a:moveTo>
                    <a:pt x="1142830" y="14662"/>
                  </a:moveTo>
                  <a:lnTo>
                    <a:pt x="1142066" y="1075"/>
                  </a:lnTo>
                  <a:lnTo>
                    <a:pt x="1142028" y="397"/>
                  </a:lnTo>
                  <a:lnTo>
                    <a:pt x="1149110" y="0"/>
                  </a:lnTo>
                  <a:lnTo>
                    <a:pt x="1155899" y="225"/>
                  </a:lnTo>
                  <a:lnTo>
                    <a:pt x="1162395" y="1075"/>
                  </a:lnTo>
                  <a:lnTo>
                    <a:pt x="1160663" y="14314"/>
                  </a:lnTo>
                  <a:lnTo>
                    <a:pt x="1149023" y="14314"/>
                  </a:lnTo>
                  <a:lnTo>
                    <a:pt x="1142830" y="14662"/>
                  </a:lnTo>
                  <a:close/>
                </a:path>
                <a:path w="1250950" h="205104">
                  <a:moveTo>
                    <a:pt x="1160541" y="15242"/>
                  </a:moveTo>
                  <a:lnTo>
                    <a:pt x="1154927" y="14507"/>
                  </a:lnTo>
                  <a:lnTo>
                    <a:pt x="1149023" y="14314"/>
                  </a:lnTo>
                  <a:lnTo>
                    <a:pt x="1160663" y="14314"/>
                  </a:lnTo>
                  <a:lnTo>
                    <a:pt x="1160541" y="15242"/>
                  </a:lnTo>
                  <a:close/>
                </a:path>
                <a:path w="1250950" h="205104">
                  <a:moveTo>
                    <a:pt x="1192373" y="27189"/>
                  </a:moveTo>
                  <a:lnTo>
                    <a:pt x="1187625" y="23938"/>
                  </a:lnTo>
                  <a:lnTo>
                    <a:pt x="1182565" y="21313"/>
                  </a:lnTo>
                  <a:lnTo>
                    <a:pt x="1177194" y="19315"/>
                  </a:lnTo>
                  <a:lnTo>
                    <a:pt x="1182174" y="5924"/>
                  </a:lnTo>
                  <a:lnTo>
                    <a:pt x="1188643" y="8330"/>
                  </a:lnTo>
                  <a:lnTo>
                    <a:pt x="1194733" y="11489"/>
                  </a:lnTo>
                  <a:lnTo>
                    <a:pt x="1200446" y="15401"/>
                  </a:lnTo>
                  <a:lnTo>
                    <a:pt x="1192373" y="27189"/>
                  </a:lnTo>
                  <a:close/>
                </a:path>
                <a:path w="1250950" h="205104">
                  <a:moveTo>
                    <a:pt x="1216099" y="52457"/>
                  </a:moveTo>
                  <a:lnTo>
                    <a:pt x="1212822" y="47334"/>
                  </a:lnTo>
                  <a:lnTo>
                    <a:pt x="1209302" y="42733"/>
                  </a:lnTo>
                  <a:lnTo>
                    <a:pt x="1205539" y="38656"/>
                  </a:lnTo>
                  <a:lnTo>
                    <a:pt x="1216038" y="28966"/>
                  </a:lnTo>
                  <a:lnTo>
                    <a:pt x="1220373" y="33662"/>
                  </a:lnTo>
                  <a:lnTo>
                    <a:pt x="1224405" y="38927"/>
                  </a:lnTo>
                  <a:lnTo>
                    <a:pt x="1228136" y="44759"/>
                  </a:lnTo>
                  <a:lnTo>
                    <a:pt x="1216099" y="52457"/>
                  </a:lnTo>
                  <a:close/>
                </a:path>
                <a:path w="1250950" h="205104">
                  <a:moveTo>
                    <a:pt x="1231382" y="85086"/>
                  </a:moveTo>
                  <a:lnTo>
                    <a:pt x="1229374" y="79230"/>
                  </a:lnTo>
                  <a:lnTo>
                    <a:pt x="1227193" y="73737"/>
                  </a:lnTo>
                  <a:lnTo>
                    <a:pt x="1224840" y="68608"/>
                  </a:lnTo>
                  <a:lnTo>
                    <a:pt x="1237826" y="62649"/>
                  </a:lnTo>
                  <a:lnTo>
                    <a:pt x="1240378" y="68212"/>
                  </a:lnTo>
                  <a:lnTo>
                    <a:pt x="1242735" y="74146"/>
                  </a:lnTo>
                  <a:lnTo>
                    <a:pt x="1244897" y="80452"/>
                  </a:lnTo>
                  <a:lnTo>
                    <a:pt x="1231382" y="85086"/>
                  </a:lnTo>
                  <a:close/>
                </a:path>
                <a:path w="1250950" h="205104">
                  <a:moveTo>
                    <a:pt x="1237036" y="104340"/>
                  </a:moveTo>
                  <a:lnTo>
                    <a:pt x="1236914" y="103856"/>
                  </a:lnTo>
                  <a:lnTo>
                    <a:pt x="1250772" y="100377"/>
                  </a:lnTo>
                  <a:lnTo>
                    <a:pt x="1250893" y="100861"/>
                  </a:lnTo>
                  <a:lnTo>
                    <a:pt x="1237036" y="104340"/>
                  </a:lnTo>
                  <a:close/>
                </a:path>
              </a:pathLst>
            </a:custGeom>
            <a:solidFill>
              <a:srgbClr val="AED1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 descr=""/>
          <p:cNvSpPr txBox="1"/>
          <p:nvPr/>
        </p:nvSpPr>
        <p:spPr>
          <a:xfrm>
            <a:off x="9878118" y="5502155"/>
            <a:ext cx="817880" cy="14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50">
                <a:solidFill>
                  <a:srgbClr val="333333"/>
                </a:solidFill>
                <a:latin typeface="Roboto"/>
                <a:cs typeface="Roboto"/>
              </a:rPr>
              <a:t>Frequency</a:t>
            </a:r>
            <a:r>
              <a:rPr dirty="0" sz="75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750" spc="-35">
                <a:solidFill>
                  <a:srgbClr val="333333"/>
                </a:solidFill>
                <a:latin typeface="Roboto"/>
                <a:cs typeface="Roboto"/>
              </a:rPr>
              <a:t>Response</a:t>
            </a:r>
            <a:endParaRPr sz="750">
              <a:latin typeface="Roboto"/>
              <a:cs typeface="Roboto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10544174" y="6953250"/>
            <a:ext cx="1457325" cy="323850"/>
            <a:chOff x="10544174" y="6953250"/>
            <a:chExt cx="1457325" cy="323850"/>
          </a:xfrm>
        </p:grpSpPr>
        <p:sp>
          <p:nvSpPr>
            <p:cNvPr id="40" name="object 40" descr=""/>
            <p:cNvSpPr/>
            <p:nvPr/>
          </p:nvSpPr>
          <p:spPr>
            <a:xfrm>
              <a:off x="10544174" y="6953250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58474" y="7048499"/>
              <a:ext cx="133349" cy="133349"/>
            </a:xfrm>
            <a:prstGeom prst="rect">
              <a:avLst/>
            </a:prstGeom>
          </p:spPr>
        </p:pic>
      </p:grpSp>
      <p:sp>
        <p:nvSpPr>
          <p:cNvPr id="42" name="object 42" descr=""/>
          <p:cNvSpPr txBox="1"/>
          <p:nvPr/>
        </p:nvSpPr>
        <p:spPr>
          <a:xfrm>
            <a:off x="10833000" y="7054850"/>
            <a:ext cx="1066800" cy="1346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75"/>
              </a:lnSpc>
            </a:pPr>
            <a:r>
              <a:rPr dirty="0" sz="1000" spc="-75">
                <a:solidFill>
                  <a:srgbClr val="FFFFFF"/>
                </a:solidFill>
                <a:latin typeface="Roboto"/>
                <a:cs typeface="Roboto"/>
              </a:rPr>
              <a:t>Made</a:t>
            </a:r>
            <a:r>
              <a:rPr dirty="0" sz="10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FFFFFF"/>
                </a:solidFill>
                <a:latin typeface="Roboto"/>
                <a:cs typeface="Roboto"/>
              </a:rPr>
              <a:t>with</a:t>
            </a:r>
            <a:r>
              <a:rPr dirty="0" sz="10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FFFFFF"/>
                </a:solidFill>
                <a:latin typeface="Roboto"/>
                <a:cs typeface="Roboto"/>
              </a:rPr>
              <a:t>Genspark</a:t>
            </a:r>
            <a:endParaRPr sz="10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6743699"/>
            <a:ext cx="12192000" cy="114300"/>
          </a:xfrm>
          <a:custGeom>
            <a:avLst/>
            <a:gdLst/>
            <a:ahLst/>
            <a:cxnLst/>
            <a:rect l="l" t="t" r="r" b="b"/>
            <a:pathLst>
              <a:path w="12192000" h="114300">
                <a:moveTo>
                  <a:pt x="12191999" y="114299"/>
                </a:moveTo>
                <a:lnTo>
                  <a:pt x="0" y="1142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114299"/>
                </a:lnTo>
                <a:close/>
              </a:path>
            </a:pathLst>
          </a:custGeom>
          <a:solidFill>
            <a:srgbClr val="0045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1700" y="682720"/>
            <a:ext cx="5282565" cy="10541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100"/>
              </a:spcBef>
            </a:pPr>
            <a:r>
              <a:rPr dirty="0" spc="-145"/>
              <a:t>Introduction:</a:t>
            </a:r>
            <a:r>
              <a:rPr dirty="0" spc="-60"/>
              <a:t> </a:t>
            </a:r>
            <a:r>
              <a:rPr dirty="0" spc="-204"/>
              <a:t>Why</a:t>
            </a:r>
            <a:r>
              <a:rPr dirty="0" spc="-60"/>
              <a:t> </a:t>
            </a:r>
            <a:r>
              <a:rPr dirty="0" spc="-190"/>
              <a:t>Load</a:t>
            </a:r>
            <a:r>
              <a:rPr dirty="0" spc="-55"/>
              <a:t> </a:t>
            </a:r>
            <a:r>
              <a:rPr dirty="0" spc="-155"/>
              <a:t>Frequency </a:t>
            </a:r>
            <a:r>
              <a:rPr dirty="0" spc="-35"/>
              <a:t>Control?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2318444"/>
            <a:ext cx="186481" cy="1864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240581" y="2035022"/>
            <a:ext cx="4915535" cy="6731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4900"/>
              </a:lnSpc>
              <a:spcBef>
                <a:spcPts val="95"/>
              </a:spcBef>
            </a:pPr>
            <a:r>
              <a:rPr dirty="0" sz="1850" spc="-105">
                <a:latin typeface="Roboto"/>
                <a:cs typeface="Roboto"/>
              </a:rPr>
              <a:t>Fundamental</a:t>
            </a:r>
            <a:r>
              <a:rPr dirty="0" sz="1850" spc="-10">
                <a:latin typeface="Roboto"/>
                <a:cs typeface="Roboto"/>
              </a:rPr>
              <a:t> </a:t>
            </a:r>
            <a:r>
              <a:rPr dirty="0" sz="1850" spc="-80">
                <a:latin typeface="Roboto"/>
                <a:cs typeface="Roboto"/>
              </a:rPr>
              <a:t>for</a:t>
            </a:r>
            <a:r>
              <a:rPr dirty="0" sz="1850" spc="-10">
                <a:latin typeface="Roboto"/>
                <a:cs typeface="Roboto"/>
              </a:rPr>
              <a:t> </a:t>
            </a:r>
            <a:r>
              <a:rPr dirty="0" sz="1850" spc="-110">
                <a:latin typeface="Roboto"/>
                <a:cs typeface="Roboto"/>
              </a:rPr>
              <a:t>power</a:t>
            </a:r>
            <a:r>
              <a:rPr dirty="0" sz="1850" spc="-10">
                <a:latin typeface="Roboto"/>
                <a:cs typeface="Roboto"/>
              </a:rPr>
              <a:t> </a:t>
            </a:r>
            <a:r>
              <a:rPr dirty="0" sz="1850" spc="-110">
                <a:latin typeface="Roboto"/>
                <a:cs typeface="Roboto"/>
              </a:rPr>
              <a:t>system</a:t>
            </a:r>
            <a:r>
              <a:rPr dirty="0" sz="1850" spc="-5">
                <a:latin typeface="Roboto"/>
                <a:cs typeface="Roboto"/>
              </a:rPr>
              <a:t> </a:t>
            </a:r>
            <a:r>
              <a:rPr dirty="0" sz="1850" spc="-80">
                <a:latin typeface="Roboto"/>
                <a:cs typeface="Roboto"/>
              </a:rPr>
              <a:t>stability</a:t>
            </a:r>
            <a:r>
              <a:rPr dirty="0" sz="1850" spc="-10">
                <a:latin typeface="Roboto"/>
                <a:cs typeface="Roboto"/>
              </a:rPr>
              <a:t> </a:t>
            </a:r>
            <a:r>
              <a:rPr dirty="0" sz="1850" spc="-110">
                <a:latin typeface="Roboto"/>
                <a:cs typeface="Roboto"/>
              </a:rPr>
              <a:t>and</a:t>
            </a:r>
            <a:r>
              <a:rPr dirty="0" sz="1850" spc="-10">
                <a:latin typeface="Roboto"/>
                <a:cs typeface="Roboto"/>
              </a:rPr>
              <a:t> </a:t>
            </a:r>
            <a:r>
              <a:rPr dirty="0" sz="1850" spc="-40">
                <a:latin typeface="Roboto"/>
                <a:cs typeface="Roboto"/>
              </a:rPr>
              <a:t>reliable </a:t>
            </a:r>
            <a:r>
              <a:rPr dirty="0" sz="1850" spc="-10">
                <a:latin typeface="Roboto"/>
                <a:cs typeface="Roboto"/>
              </a:rPr>
              <a:t>operation</a:t>
            </a:r>
            <a:endParaRPr sz="1850">
              <a:latin typeface="Roboto"/>
              <a:cs typeface="Roboto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3194510"/>
            <a:ext cx="183228" cy="183228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240581" y="2901797"/>
            <a:ext cx="5496560" cy="6731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4900"/>
              </a:lnSpc>
              <a:spcBef>
                <a:spcPts val="95"/>
              </a:spcBef>
            </a:pPr>
            <a:r>
              <a:rPr dirty="0" sz="1850" spc="-120">
                <a:latin typeface="Roboto"/>
                <a:cs typeface="Roboto"/>
              </a:rPr>
              <a:t>Two-</a:t>
            </a:r>
            <a:r>
              <a:rPr dirty="0" sz="1850" spc="-105">
                <a:latin typeface="Roboto"/>
                <a:cs typeface="Roboto"/>
              </a:rPr>
              <a:t>area</a:t>
            </a:r>
            <a:r>
              <a:rPr dirty="0" sz="1850" spc="-15">
                <a:latin typeface="Roboto"/>
                <a:cs typeface="Roboto"/>
              </a:rPr>
              <a:t> </a:t>
            </a:r>
            <a:r>
              <a:rPr dirty="0" sz="1850" spc="-95">
                <a:latin typeface="Roboto"/>
                <a:cs typeface="Roboto"/>
              </a:rPr>
              <a:t>systems:</a:t>
            </a:r>
            <a:r>
              <a:rPr dirty="0" sz="1850" spc="-15">
                <a:latin typeface="Roboto"/>
                <a:cs typeface="Roboto"/>
              </a:rPr>
              <a:t> </a:t>
            </a:r>
            <a:r>
              <a:rPr dirty="0" sz="1850" spc="-90">
                <a:latin typeface="Roboto"/>
                <a:cs typeface="Roboto"/>
              </a:rPr>
              <a:t>Multiple</a:t>
            </a:r>
            <a:r>
              <a:rPr dirty="0" sz="1850" spc="-15">
                <a:latin typeface="Roboto"/>
                <a:cs typeface="Roboto"/>
              </a:rPr>
              <a:t> </a:t>
            </a:r>
            <a:r>
              <a:rPr dirty="0" sz="1850" spc="-95">
                <a:latin typeface="Roboto"/>
                <a:cs typeface="Roboto"/>
              </a:rPr>
              <a:t>generation</a:t>
            </a:r>
            <a:r>
              <a:rPr dirty="0" sz="1850" spc="-15">
                <a:latin typeface="Roboto"/>
                <a:cs typeface="Roboto"/>
              </a:rPr>
              <a:t> </a:t>
            </a:r>
            <a:r>
              <a:rPr dirty="0" sz="1850" spc="-105">
                <a:latin typeface="Roboto"/>
                <a:cs typeface="Roboto"/>
              </a:rPr>
              <a:t>areas</a:t>
            </a:r>
            <a:r>
              <a:rPr dirty="0" sz="1850" spc="-15">
                <a:latin typeface="Roboto"/>
                <a:cs typeface="Roboto"/>
              </a:rPr>
              <a:t> </a:t>
            </a:r>
            <a:r>
              <a:rPr dirty="0" sz="1850" spc="-90">
                <a:latin typeface="Roboto"/>
                <a:cs typeface="Roboto"/>
              </a:rPr>
              <a:t>linked</a:t>
            </a:r>
            <a:r>
              <a:rPr dirty="0" sz="1850" spc="-15">
                <a:latin typeface="Roboto"/>
                <a:cs typeface="Roboto"/>
              </a:rPr>
              <a:t> </a:t>
            </a:r>
            <a:r>
              <a:rPr dirty="0" sz="1850" spc="-100">
                <a:latin typeface="Roboto"/>
                <a:cs typeface="Roboto"/>
              </a:rPr>
              <a:t>by</a:t>
            </a:r>
            <a:r>
              <a:rPr dirty="0" sz="1850" spc="-15">
                <a:latin typeface="Roboto"/>
                <a:cs typeface="Roboto"/>
              </a:rPr>
              <a:t> </a:t>
            </a:r>
            <a:r>
              <a:rPr dirty="0" sz="1850" spc="-20">
                <a:latin typeface="Roboto"/>
                <a:cs typeface="Roboto"/>
              </a:rPr>
              <a:t>tie- </a:t>
            </a:r>
            <a:r>
              <a:rPr dirty="0" sz="1850" spc="-85">
                <a:latin typeface="Roboto"/>
                <a:cs typeface="Roboto"/>
              </a:rPr>
              <a:t>lines</a:t>
            </a:r>
            <a:r>
              <a:rPr dirty="0" sz="1850" spc="-25">
                <a:latin typeface="Roboto"/>
                <a:cs typeface="Roboto"/>
              </a:rPr>
              <a:t> </a:t>
            </a:r>
            <a:r>
              <a:rPr dirty="0" sz="1850" spc="-80">
                <a:latin typeface="Roboto"/>
                <a:cs typeface="Roboto"/>
              </a:rPr>
              <a:t>for</a:t>
            </a:r>
            <a:r>
              <a:rPr dirty="0" sz="1850" spc="-20">
                <a:latin typeface="Roboto"/>
                <a:cs typeface="Roboto"/>
              </a:rPr>
              <a:t> </a:t>
            </a:r>
            <a:r>
              <a:rPr dirty="0" sz="1850" spc="-110">
                <a:latin typeface="Roboto"/>
                <a:cs typeface="Roboto"/>
              </a:rPr>
              <a:t>power</a:t>
            </a:r>
            <a:r>
              <a:rPr dirty="0" sz="1850" spc="-20">
                <a:latin typeface="Roboto"/>
                <a:cs typeface="Roboto"/>
              </a:rPr>
              <a:t> </a:t>
            </a:r>
            <a:r>
              <a:rPr dirty="0" sz="1850" spc="-10">
                <a:latin typeface="Roboto"/>
                <a:cs typeface="Roboto"/>
              </a:rPr>
              <a:t>exchange</a:t>
            </a:r>
            <a:endParaRPr sz="1850">
              <a:latin typeface="Roboto"/>
              <a:cs typeface="Roboto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4061285"/>
            <a:ext cx="183228" cy="183228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240581" y="3768572"/>
            <a:ext cx="5117465" cy="6731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4900"/>
              </a:lnSpc>
              <a:spcBef>
                <a:spcPts val="95"/>
              </a:spcBef>
            </a:pPr>
            <a:r>
              <a:rPr dirty="0" sz="1850" spc="-110">
                <a:latin typeface="Roboto"/>
                <a:cs typeface="Roboto"/>
              </a:rPr>
              <a:t>Renewable</a:t>
            </a:r>
            <a:r>
              <a:rPr dirty="0" sz="1850" spc="-20">
                <a:latin typeface="Roboto"/>
                <a:cs typeface="Roboto"/>
              </a:rPr>
              <a:t> </a:t>
            </a:r>
            <a:r>
              <a:rPr dirty="0" sz="1850" spc="-85">
                <a:latin typeface="Roboto"/>
                <a:cs typeface="Roboto"/>
              </a:rPr>
              <a:t>integration</a:t>
            </a:r>
            <a:r>
              <a:rPr dirty="0" sz="1850" spc="-20">
                <a:latin typeface="Roboto"/>
                <a:cs typeface="Roboto"/>
              </a:rPr>
              <a:t> </a:t>
            </a:r>
            <a:r>
              <a:rPr dirty="0" sz="1850" spc="-95">
                <a:latin typeface="Roboto"/>
                <a:cs typeface="Roboto"/>
              </a:rPr>
              <a:t>brings</a:t>
            </a:r>
            <a:r>
              <a:rPr dirty="0" sz="1850" spc="-20">
                <a:latin typeface="Roboto"/>
                <a:cs typeface="Roboto"/>
              </a:rPr>
              <a:t> </a:t>
            </a:r>
            <a:r>
              <a:rPr dirty="0" sz="1850" spc="-95">
                <a:latin typeface="Roboto"/>
                <a:cs typeface="Roboto"/>
              </a:rPr>
              <a:t>increased</a:t>
            </a:r>
            <a:r>
              <a:rPr dirty="0" sz="1850" spc="-15">
                <a:latin typeface="Roboto"/>
                <a:cs typeface="Roboto"/>
              </a:rPr>
              <a:t> </a:t>
            </a:r>
            <a:r>
              <a:rPr dirty="0" sz="1850" spc="-75">
                <a:latin typeface="Roboto"/>
                <a:cs typeface="Roboto"/>
              </a:rPr>
              <a:t>variability</a:t>
            </a:r>
            <a:r>
              <a:rPr dirty="0" sz="1850" spc="-20">
                <a:latin typeface="Roboto"/>
                <a:cs typeface="Roboto"/>
              </a:rPr>
              <a:t> </a:t>
            </a:r>
            <a:r>
              <a:rPr dirty="0" sz="1850" spc="-25">
                <a:latin typeface="Roboto"/>
                <a:cs typeface="Roboto"/>
              </a:rPr>
              <a:t>and </a:t>
            </a:r>
            <a:r>
              <a:rPr dirty="0" sz="1850" spc="-105">
                <a:latin typeface="Roboto"/>
                <a:cs typeface="Roboto"/>
              </a:rPr>
              <a:t>reduced</a:t>
            </a:r>
            <a:r>
              <a:rPr dirty="0" sz="1850">
                <a:latin typeface="Roboto"/>
                <a:cs typeface="Roboto"/>
              </a:rPr>
              <a:t> </a:t>
            </a:r>
            <a:r>
              <a:rPr dirty="0" sz="1850" spc="-110">
                <a:latin typeface="Roboto"/>
                <a:cs typeface="Roboto"/>
              </a:rPr>
              <a:t>system</a:t>
            </a:r>
            <a:r>
              <a:rPr dirty="0" sz="1850" spc="5">
                <a:latin typeface="Roboto"/>
                <a:cs typeface="Roboto"/>
              </a:rPr>
              <a:t> </a:t>
            </a:r>
            <a:r>
              <a:rPr dirty="0" sz="1850" spc="-10">
                <a:latin typeface="Roboto"/>
                <a:cs typeface="Roboto"/>
              </a:rPr>
              <a:t>inertia</a:t>
            </a:r>
            <a:endParaRPr sz="1850">
              <a:latin typeface="Roboto"/>
              <a:cs typeface="Roboto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4928060"/>
            <a:ext cx="183228" cy="183228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1240581" y="4654397"/>
            <a:ext cx="5507355" cy="6540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1500"/>
              </a:lnSpc>
              <a:spcBef>
                <a:spcPts val="95"/>
              </a:spcBef>
            </a:pPr>
            <a:r>
              <a:rPr dirty="0" sz="1850" spc="-114">
                <a:latin typeface="Roboto"/>
                <a:cs typeface="Roboto"/>
              </a:rPr>
              <a:t>Need</a:t>
            </a:r>
            <a:r>
              <a:rPr dirty="0" sz="1850" spc="-5">
                <a:latin typeface="Roboto"/>
                <a:cs typeface="Roboto"/>
              </a:rPr>
              <a:t> </a:t>
            </a:r>
            <a:r>
              <a:rPr dirty="0" sz="1850" spc="-80">
                <a:latin typeface="Roboto"/>
                <a:cs typeface="Roboto"/>
              </a:rPr>
              <a:t>for</a:t>
            </a:r>
            <a:r>
              <a:rPr dirty="0" sz="1850">
                <a:latin typeface="Roboto"/>
                <a:cs typeface="Roboto"/>
              </a:rPr>
              <a:t> </a:t>
            </a:r>
            <a:r>
              <a:rPr dirty="0" sz="1850" spc="-80">
                <a:latin typeface="Roboto"/>
                <a:cs typeface="Roboto"/>
              </a:rPr>
              <a:t>fast,</a:t>
            </a:r>
            <a:r>
              <a:rPr dirty="0" sz="1850">
                <a:latin typeface="Roboto"/>
                <a:cs typeface="Roboto"/>
              </a:rPr>
              <a:t> </a:t>
            </a:r>
            <a:r>
              <a:rPr dirty="0" sz="1850" spc="-100">
                <a:latin typeface="Roboto"/>
                <a:cs typeface="Roboto"/>
              </a:rPr>
              <a:t>robust</a:t>
            </a:r>
            <a:r>
              <a:rPr dirty="0" sz="1850">
                <a:latin typeface="Roboto"/>
                <a:cs typeface="Roboto"/>
              </a:rPr>
              <a:t> </a:t>
            </a:r>
            <a:r>
              <a:rPr dirty="0" sz="1850" spc="-105">
                <a:latin typeface="Roboto"/>
                <a:cs typeface="Roboto"/>
              </a:rPr>
              <a:t>frequency</a:t>
            </a:r>
            <a:r>
              <a:rPr dirty="0" sz="1850">
                <a:latin typeface="Roboto"/>
                <a:cs typeface="Roboto"/>
              </a:rPr>
              <a:t> </a:t>
            </a:r>
            <a:r>
              <a:rPr dirty="0" sz="1850" spc="-95">
                <a:latin typeface="Roboto"/>
                <a:cs typeface="Roboto"/>
              </a:rPr>
              <a:t>regulation</a:t>
            </a:r>
            <a:r>
              <a:rPr dirty="0" sz="1850">
                <a:latin typeface="Roboto"/>
                <a:cs typeface="Roboto"/>
              </a:rPr>
              <a:t> </a:t>
            </a:r>
            <a:r>
              <a:rPr dirty="0" sz="1850" spc="-90">
                <a:latin typeface="Roboto"/>
                <a:cs typeface="Roboto"/>
              </a:rPr>
              <a:t>to</a:t>
            </a:r>
            <a:r>
              <a:rPr dirty="0" sz="1850">
                <a:latin typeface="Roboto"/>
                <a:cs typeface="Roboto"/>
              </a:rPr>
              <a:t> </a:t>
            </a:r>
            <a:r>
              <a:rPr dirty="0" sz="1850" spc="-100">
                <a:latin typeface="Roboto"/>
                <a:cs typeface="Roboto"/>
              </a:rPr>
              <a:t>maintain</a:t>
            </a:r>
            <a:r>
              <a:rPr dirty="0" sz="1850">
                <a:latin typeface="Roboto"/>
                <a:cs typeface="Roboto"/>
              </a:rPr>
              <a:t> </a:t>
            </a:r>
            <a:r>
              <a:rPr dirty="0" sz="1850" spc="-20">
                <a:latin typeface="Roboto"/>
                <a:cs typeface="Roboto"/>
              </a:rPr>
              <a:t>grid </a:t>
            </a:r>
            <a:r>
              <a:rPr dirty="0" sz="1850" spc="-10">
                <a:latin typeface="Roboto"/>
                <a:cs typeface="Roboto"/>
              </a:rPr>
              <a:t>standards</a:t>
            </a:r>
            <a:endParaRPr sz="1850">
              <a:latin typeface="Roboto"/>
              <a:cs typeface="Roboto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7596187" y="1916747"/>
            <a:ext cx="2886075" cy="2493645"/>
            <a:chOff x="7596187" y="1916747"/>
            <a:chExt cx="2886075" cy="2493645"/>
          </a:xfrm>
        </p:grpSpPr>
        <p:sp>
          <p:nvSpPr>
            <p:cNvPr id="13" name="object 13" descr=""/>
            <p:cNvSpPr/>
            <p:nvPr/>
          </p:nvSpPr>
          <p:spPr>
            <a:xfrm>
              <a:off x="7686662" y="2109787"/>
              <a:ext cx="2781300" cy="9525"/>
            </a:xfrm>
            <a:custGeom>
              <a:avLst/>
              <a:gdLst/>
              <a:ahLst/>
              <a:cxnLst/>
              <a:rect l="l" t="t" r="r" b="b"/>
              <a:pathLst>
                <a:path w="2781300" h="9525">
                  <a:moveTo>
                    <a:pt x="381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38100" y="9525"/>
                  </a:lnTo>
                  <a:lnTo>
                    <a:pt x="38100" y="0"/>
                  </a:lnTo>
                  <a:close/>
                </a:path>
                <a:path w="2781300" h="9525">
                  <a:moveTo>
                    <a:pt x="114300" y="0"/>
                  </a:moveTo>
                  <a:lnTo>
                    <a:pt x="76200" y="0"/>
                  </a:lnTo>
                  <a:lnTo>
                    <a:pt x="76200" y="9525"/>
                  </a:lnTo>
                  <a:lnTo>
                    <a:pt x="114300" y="9525"/>
                  </a:lnTo>
                  <a:lnTo>
                    <a:pt x="114300" y="0"/>
                  </a:lnTo>
                  <a:close/>
                </a:path>
                <a:path w="2781300" h="9525">
                  <a:moveTo>
                    <a:pt x="190500" y="0"/>
                  </a:moveTo>
                  <a:lnTo>
                    <a:pt x="152400" y="0"/>
                  </a:lnTo>
                  <a:lnTo>
                    <a:pt x="152400" y="9525"/>
                  </a:lnTo>
                  <a:lnTo>
                    <a:pt x="190500" y="9525"/>
                  </a:lnTo>
                  <a:lnTo>
                    <a:pt x="190500" y="0"/>
                  </a:lnTo>
                  <a:close/>
                </a:path>
                <a:path w="2781300" h="9525">
                  <a:moveTo>
                    <a:pt x="266700" y="0"/>
                  </a:moveTo>
                  <a:lnTo>
                    <a:pt x="228600" y="0"/>
                  </a:lnTo>
                  <a:lnTo>
                    <a:pt x="228600" y="9525"/>
                  </a:lnTo>
                  <a:lnTo>
                    <a:pt x="266700" y="9525"/>
                  </a:lnTo>
                  <a:lnTo>
                    <a:pt x="266700" y="0"/>
                  </a:lnTo>
                  <a:close/>
                </a:path>
                <a:path w="2781300" h="9525">
                  <a:moveTo>
                    <a:pt x="342900" y="0"/>
                  </a:moveTo>
                  <a:lnTo>
                    <a:pt x="304800" y="0"/>
                  </a:lnTo>
                  <a:lnTo>
                    <a:pt x="304800" y="9525"/>
                  </a:lnTo>
                  <a:lnTo>
                    <a:pt x="342900" y="9525"/>
                  </a:lnTo>
                  <a:lnTo>
                    <a:pt x="342900" y="0"/>
                  </a:lnTo>
                  <a:close/>
                </a:path>
                <a:path w="2781300" h="9525">
                  <a:moveTo>
                    <a:pt x="419100" y="0"/>
                  </a:moveTo>
                  <a:lnTo>
                    <a:pt x="381000" y="0"/>
                  </a:lnTo>
                  <a:lnTo>
                    <a:pt x="381000" y="9525"/>
                  </a:lnTo>
                  <a:lnTo>
                    <a:pt x="419100" y="9525"/>
                  </a:lnTo>
                  <a:lnTo>
                    <a:pt x="419100" y="0"/>
                  </a:lnTo>
                  <a:close/>
                </a:path>
                <a:path w="2781300" h="9525">
                  <a:moveTo>
                    <a:pt x="495300" y="0"/>
                  </a:moveTo>
                  <a:lnTo>
                    <a:pt x="457200" y="0"/>
                  </a:lnTo>
                  <a:lnTo>
                    <a:pt x="457200" y="9525"/>
                  </a:lnTo>
                  <a:lnTo>
                    <a:pt x="495300" y="9525"/>
                  </a:lnTo>
                  <a:lnTo>
                    <a:pt x="495300" y="0"/>
                  </a:lnTo>
                  <a:close/>
                </a:path>
                <a:path w="2781300" h="9525">
                  <a:moveTo>
                    <a:pt x="571500" y="0"/>
                  </a:moveTo>
                  <a:lnTo>
                    <a:pt x="533400" y="0"/>
                  </a:lnTo>
                  <a:lnTo>
                    <a:pt x="533400" y="9525"/>
                  </a:lnTo>
                  <a:lnTo>
                    <a:pt x="571500" y="9525"/>
                  </a:lnTo>
                  <a:lnTo>
                    <a:pt x="571500" y="0"/>
                  </a:lnTo>
                  <a:close/>
                </a:path>
                <a:path w="2781300" h="9525">
                  <a:moveTo>
                    <a:pt x="647700" y="0"/>
                  </a:moveTo>
                  <a:lnTo>
                    <a:pt x="609600" y="0"/>
                  </a:lnTo>
                  <a:lnTo>
                    <a:pt x="609600" y="9525"/>
                  </a:lnTo>
                  <a:lnTo>
                    <a:pt x="647700" y="9525"/>
                  </a:lnTo>
                  <a:lnTo>
                    <a:pt x="647700" y="0"/>
                  </a:lnTo>
                  <a:close/>
                </a:path>
                <a:path w="2781300" h="9525">
                  <a:moveTo>
                    <a:pt x="723900" y="0"/>
                  </a:moveTo>
                  <a:lnTo>
                    <a:pt x="685800" y="0"/>
                  </a:lnTo>
                  <a:lnTo>
                    <a:pt x="685800" y="9525"/>
                  </a:lnTo>
                  <a:lnTo>
                    <a:pt x="723900" y="9525"/>
                  </a:lnTo>
                  <a:lnTo>
                    <a:pt x="723900" y="0"/>
                  </a:lnTo>
                  <a:close/>
                </a:path>
                <a:path w="2781300" h="9525">
                  <a:moveTo>
                    <a:pt x="800100" y="0"/>
                  </a:moveTo>
                  <a:lnTo>
                    <a:pt x="762000" y="0"/>
                  </a:lnTo>
                  <a:lnTo>
                    <a:pt x="762000" y="9525"/>
                  </a:lnTo>
                  <a:lnTo>
                    <a:pt x="800100" y="9525"/>
                  </a:lnTo>
                  <a:lnTo>
                    <a:pt x="800100" y="0"/>
                  </a:lnTo>
                  <a:close/>
                </a:path>
                <a:path w="2781300" h="9525">
                  <a:moveTo>
                    <a:pt x="876300" y="0"/>
                  </a:moveTo>
                  <a:lnTo>
                    <a:pt x="838200" y="0"/>
                  </a:lnTo>
                  <a:lnTo>
                    <a:pt x="838200" y="9525"/>
                  </a:lnTo>
                  <a:lnTo>
                    <a:pt x="876300" y="9525"/>
                  </a:lnTo>
                  <a:lnTo>
                    <a:pt x="876300" y="0"/>
                  </a:lnTo>
                  <a:close/>
                </a:path>
                <a:path w="2781300" h="9525">
                  <a:moveTo>
                    <a:pt x="952500" y="0"/>
                  </a:moveTo>
                  <a:lnTo>
                    <a:pt x="914400" y="0"/>
                  </a:lnTo>
                  <a:lnTo>
                    <a:pt x="914400" y="9525"/>
                  </a:lnTo>
                  <a:lnTo>
                    <a:pt x="952500" y="9525"/>
                  </a:lnTo>
                  <a:lnTo>
                    <a:pt x="952500" y="0"/>
                  </a:lnTo>
                  <a:close/>
                </a:path>
                <a:path w="2781300" h="9525">
                  <a:moveTo>
                    <a:pt x="1028700" y="0"/>
                  </a:moveTo>
                  <a:lnTo>
                    <a:pt x="990600" y="0"/>
                  </a:lnTo>
                  <a:lnTo>
                    <a:pt x="990600" y="9525"/>
                  </a:lnTo>
                  <a:lnTo>
                    <a:pt x="1028700" y="9525"/>
                  </a:lnTo>
                  <a:lnTo>
                    <a:pt x="1028700" y="0"/>
                  </a:lnTo>
                  <a:close/>
                </a:path>
                <a:path w="2781300" h="9525">
                  <a:moveTo>
                    <a:pt x="1104900" y="0"/>
                  </a:moveTo>
                  <a:lnTo>
                    <a:pt x="1066800" y="0"/>
                  </a:lnTo>
                  <a:lnTo>
                    <a:pt x="1066800" y="9525"/>
                  </a:lnTo>
                  <a:lnTo>
                    <a:pt x="1104900" y="9525"/>
                  </a:lnTo>
                  <a:lnTo>
                    <a:pt x="1104900" y="0"/>
                  </a:lnTo>
                  <a:close/>
                </a:path>
                <a:path w="2781300" h="9525">
                  <a:moveTo>
                    <a:pt x="1181100" y="0"/>
                  </a:moveTo>
                  <a:lnTo>
                    <a:pt x="1143000" y="0"/>
                  </a:lnTo>
                  <a:lnTo>
                    <a:pt x="1143000" y="9525"/>
                  </a:lnTo>
                  <a:lnTo>
                    <a:pt x="1181100" y="9525"/>
                  </a:lnTo>
                  <a:lnTo>
                    <a:pt x="1181100" y="0"/>
                  </a:lnTo>
                  <a:close/>
                </a:path>
                <a:path w="2781300" h="9525">
                  <a:moveTo>
                    <a:pt x="1257300" y="0"/>
                  </a:moveTo>
                  <a:lnTo>
                    <a:pt x="1219200" y="0"/>
                  </a:lnTo>
                  <a:lnTo>
                    <a:pt x="1219200" y="9525"/>
                  </a:lnTo>
                  <a:lnTo>
                    <a:pt x="1257300" y="9525"/>
                  </a:lnTo>
                  <a:lnTo>
                    <a:pt x="1257300" y="0"/>
                  </a:lnTo>
                  <a:close/>
                </a:path>
                <a:path w="2781300" h="9525">
                  <a:moveTo>
                    <a:pt x="1333500" y="0"/>
                  </a:moveTo>
                  <a:lnTo>
                    <a:pt x="1295400" y="0"/>
                  </a:lnTo>
                  <a:lnTo>
                    <a:pt x="1295400" y="9525"/>
                  </a:lnTo>
                  <a:lnTo>
                    <a:pt x="1333500" y="9525"/>
                  </a:lnTo>
                  <a:lnTo>
                    <a:pt x="1333500" y="0"/>
                  </a:lnTo>
                  <a:close/>
                </a:path>
                <a:path w="2781300" h="9525">
                  <a:moveTo>
                    <a:pt x="1409700" y="0"/>
                  </a:moveTo>
                  <a:lnTo>
                    <a:pt x="1371600" y="0"/>
                  </a:lnTo>
                  <a:lnTo>
                    <a:pt x="1371600" y="9525"/>
                  </a:lnTo>
                  <a:lnTo>
                    <a:pt x="1409700" y="9525"/>
                  </a:lnTo>
                  <a:lnTo>
                    <a:pt x="1409700" y="0"/>
                  </a:lnTo>
                  <a:close/>
                </a:path>
                <a:path w="2781300" h="9525">
                  <a:moveTo>
                    <a:pt x="1485900" y="0"/>
                  </a:moveTo>
                  <a:lnTo>
                    <a:pt x="1447800" y="0"/>
                  </a:lnTo>
                  <a:lnTo>
                    <a:pt x="1447800" y="9525"/>
                  </a:lnTo>
                  <a:lnTo>
                    <a:pt x="1485900" y="9525"/>
                  </a:lnTo>
                  <a:lnTo>
                    <a:pt x="1485900" y="0"/>
                  </a:lnTo>
                  <a:close/>
                </a:path>
                <a:path w="2781300" h="9525">
                  <a:moveTo>
                    <a:pt x="1562100" y="0"/>
                  </a:moveTo>
                  <a:lnTo>
                    <a:pt x="1524000" y="0"/>
                  </a:lnTo>
                  <a:lnTo>
                    <a:pt x="1524000" y="9525"/>
                  </a:lnTo>
                  <a:lnTo>
                    <a:pt x="1562100" y="9525"/>
                  </a:lnTo>
                  <a:lnTo>
                    <a:pt x="1562100" y="0"/>
                  </a:lnTo>
                  <a:close/>
                </a:path>
                <a:path w="2781300" h="9525">
                  <a:moveTo>
                    <a:pt x="1638300" y="0"/>
                  </a:moveTo>
                  <a:lnTo>
                    <a:pt x="1600200" y="0"/>
                  </a:lnTo>
                  <a:lnTo>
                    <a:pt x="1600200" y="9525"/>
                  </a:lnTo>
                  <a:lnTo>
                    <a:pt x="1638300" y="9525"/>
                  </a:lnTo>
                  <a:lnTo>
                    <a:pt x="1638300" y="0"/>
                  </a:lnTo>
                  <a:close/>
                </a:path>
                <a:path w="2781300" h="9525">
                  <a:moveTo>
                    <a:pt x="1714500" y="0"/>
                  </a:moveTo>
                  <a:lnTo>
                    <a:pt x="1676400" y="0"/>
                  </a:lnTo>
                  <a:lnTo>
                    <a:pt x="1676400" y="9525"/>
                  </a:lnTo>
                  <a:lnTo>
                    <a:pt x="1714500" y="9525"/>
                  </a:lnTo>
                  <a:lnTo>
                    <a:pt x="1714500" y="0"/>
                  </a:lnTo>
                  <a:close/>
                </a:path>
                <a:path w="2781300" h="9525">
                  <a:moveTo>
                    <a:pt x="1790700" y="0"/>
                  </a:moveTo>
                  <a:lnTo>
                    <a:pt x="1752600" y="0"/>
                  </a:lnTo>
                  <a:lnTo>
                    <a:pt x="1752600" y="9525"/>
                  </a:lnTo>
                  <a:lnTo>
                    <a:pt x="1790700" y="9525"/>
                  </a:lnTo>
                  <a:lnTo>
                    <a:pt x="1790700" y="0"/>
                  </a:lnTo>
                  <a:close/>
                </a:path>
                <a:path w="2781300" h="9525">
                  <a:moveTo>
                    <a:pt x="1866900" y="0"/>
                  </a:moveTo>
                  <a:lnTo>
                    <a:pt x="1828800" y="0"/>
                  </a:lnTo>
                  <a:lnTo>
                    <a:pt x="1828800" y="9525"/>
                  </a:lnTo>
                  <a:lnTo>
                    <a:pt x="1866900" y="9525"/>
                  </a:lnTo>
                  <a:lnTo>
                    <a:pt x="1866900" y="0"/>
                  </a:lnTo>
                  <a:close/>
                </a:path>
                <a:path w="2781300" h="9525">
                  <a:moveTo>
                    <a:pt x="1943100" y="0"/>
                  </a:moveTo>
                  <a:lnTo>
                    <a:pt x="1905000" y="0"/>
                  </a:lnTo>
                  <a:lnTo>
                    <a:pt x="1905000" y="9525"/>
                  </a:lnTo>
                  <a:lnTo>
                    <a:pt x="1943100" y="9525"/>
                  </a:lnTo>
                  <a:lnTo>
                    <a:pt x="1943100" y="0"/>
                  </a:lnTo>
                  <a:close/>
                </a:path>
                <a:path w="2781300" h="9525">
                  <a:moveTo>
                    <a:pt x="2019300" y="0"/>
                  </a:moveTo>
                  <a:lnTo>
                    <a:pt x="1981200" y="0"/>
                  </a:lnTo>
                  <a:lnTo>
                    <a:pt x="1981200" y="9525"/>
                  </a:lnTo>
                  <a:lnTo>
                    <a:pt x="2019300" y="9525"/>
                  </a:lnTo>
                  <a:lnTo>
                    <a:pt x="2019300" y="0"/>
                  </a:lnTo>
                  <a:close/>
                </a:path>
                <a:path w="2781300" h="9525">
                  <a:moveTo>
                    <a:pt x="2095500" y="0"/>
                  </a:moveTo>
                  <a:lnTo>
                    <a:pt x="2057400" y="0"/>
                  </a:lnTo>
                  <a:lnTo>
                    <a:pt x="2057400" y="9525"/>
                  </a:lnTo>
                  <a:lnTo>
                    <a:pt x="2095500" y="9525"/>
                  </a:lnTo>
                  <a:lnTo>
                    <a:pt x="2095500" y="0"/>
                  </a:lnTo>
                  <a:close/>
                </a:path>
                <a:path w="2781300" h="9525">
                  <a:moveTo>
                    <a:pt x="2171700" y="0"/>
                  </a:moveTo>
                  <a:lnTo>
                    <a:pt x="2133600" y="0"/>
                  </a:lnTo>
                  <a:lnTo>
                    <a:pt x="2133600" y="9525"/>
                  </a:lnTo>
                  <a:lnTo>
                    <a:pt x="2171700" y="9525"/>
                  </a:lnTo>
                  <a:lnTo>
                    <a:pt x="2171700" y="0"/>
                  </a:lnTo>
                  <a:close/>
                </a:path>
                <a:path w="2781300" h="9525">
                  <a:moveTo>
                    <a:pt x="2247900" y="0"/>
                  </a:moveTo>
                  <a:lnTo>
                    <a:pt x="2209800" y="0"/>
                  </a:lnTo>
                  <a:lnTo>
                    <a:pt x="2209800" y="9525"/>
                  </a:lnTo>
                  <a:lnTo>
                    <a:pt x="2247900" y="9525"/>
                  </a:lnTo>
                  <a:lnTo>
                    <a:pt x="2247900" y="0"/>
                  </a:lnTo>
                  <a:close/>
                </a:path>
                <a:path w="2781300" h="9525">
                  <a:moveTo>
                    <a:pt x="2324100" y="0"/>
                  </a:moveTo>
                  <a:lnTo>
                    <a:pt x="2286000" y="0"/>
                  </a:lnTo>
                  <a:lnTo>
                    <a:pt x="2286000" y="9525"/>
                  </a:lnTo>
                  <a:lnTo>
                    <a:pt x="2324100" y="9525"/>
                  </a:lnTo>
                  <a:lnTo>
                    <a:pt x="2324100" y="0"/>
                  </a:lnTo>
                  <a:close/>
                </a:path>
                <a:path w="2781300" h="9525">
                  <a:moveTo>
                    <a:pt x="2400300" y="0"/>
                  </a:moveTo>
                  <a:lnTo>
                    <a:pt x="2362200" y="0"/>
                  </a:lnTo>
                  <a:lnTo>
                    <a:pt x="2362200" y="9525"/>
                  </a:lnTo>
                  <a:lnTo>
                    <a:pt x="2400300" y="9525"/>
                  </a:lnTo>
                  <a:lnTo>
                    <a:pt x="2400300" y="0"/>
                  </a:lnTo>
                  <a:close/>
                </a:path>
                <a:path w="2781300" h="9525">
                  <a:moveTo>
                    <a:pt x="2476500" y="0"/>
                  </a:moveTo>
                  <a:lnTo>
                    <a:pt x="2438400" y="0"/>
                  </a:lnTo>
                  <a:lnTo>
                    <a:pt x="2438400" y="9525"/>
                  </a:lnTo>
                  <a:lnTo>
                    <a:pt x="2476500" y="9525"/>
                  </a:lnTo>
                  <a:lnTo>
                    <a:pt x="2476500" y="0"/>
                  </a:lnTo>
                  <a:close/>
                </a:path>
                <a:path w="2781300" h="9525">
                  <a:moveTo>
                    <a:pt x="2552700" y="0"/>
                  </a:moveTo>
                  <a:lnTo>
                    <a:pt x="2514600" y="0"/>
                  </a:lnTo>
                  <a:lnTo>
                    <a:pt x="2514600" y="9525"/>
                  </a:lnTo>
                  <a:lnTo>
                    <a:pt x="2552700" y="9525"/>
                  </a:lnTo>
                  <a:lnTo>
                    <a:pt x="2552700" y="0"/>
                  </a:lnTo>
                  <a:close/>
                </a:path>
                <a:path w="2781300" h="9525">
                  <a:moveTo>
                    <a:pt x="2628900" y="0"/>
                  </a:moveTo>
                  <a:lnTo>
                    <a:pt x="2590800" y="0"/>
                  </a:lnTo>
                  <a:lnTo>
                    <a:pt x="2590800" y="9525"/>
                  </a:lnTo>
                  <a:lnTo>
                    <a:pt x="2628900" y="9525"/>
                  </a:lnTo>
                  <a:lnTo>
                    <a:pt x="2628900" y="0"/>
                  </a:lnTo>
                  <a:close/>
                </a:path>
                <a:path w="2781300" h="9525">
                  <a:moveTo>
                    <a:pt x="2705100" y="0"/>
                  </a:moveTo>
                  <a:lnTo>
                    <a:pt x="2667000" y="0"/>
                  </a:lnTo>
                  <a:lnTo>
                    <a:pt x="2667000" y="9525"/>
                  </a:lnTo>
                  <a:lnTo>
                    <a:pt x="2705100" y="9525"/>
                  </a:lnTo>
                  <a:lnTo>
                    <a:pt x="2705100" y="0"/>
                  </a:lnTo>
                  <a:close/>
                </a:path>
                <a:path w="2781300" h="9525">
                  <a:moveTo>
                    <a:pt x="2781300" y="0"/>
                  </a:moveTo>
                  <a:lnTo>
                    <a:pt x="2743200" y="0"/>
                  </a:lnTo>
                  <a:lnTo>
                    <a:pt x="2743200" y="9525"/>
                  </a:lnTo>
                  <a:lnTo>
                    <a:pt x="2781300" y="9525"/>
                  </a:lnTo>
                  <a:lnTo>
                    <a:pt x="2781300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0467975" y="2152649"/>
              <a:ext cx="0" cy="2247900"/>
            </a:xfrm>
            <a:custGeom>
              <a:avLst/>
              <a:gdLst/>
              <a:ahLst/>
              <a:cxnLst/>
              <a:rect l="l" t="t" r="r" b="b"/>
              <a:pathLst>
                <a:path w="0" h="2247900">
                  <a:moveTo>
                    <a:pt x="0" y="0"/>
                  </a:moveTo>
                  <a:lnTo>
                    <a:pt x="0" y="2247899"/>
                  </a:lnTo>
                </a:path>
              </a:pathLst>
            </a:custGeom>
            <a:ln w="9524">
              <a:solidFill>
                <a:srgbClr val="DDDDDD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648575" y="4400549"/>
              <a:ext cx="2781300" cy="0"/>
            </a:xfrm>
            <a:custGeom>
              <a:avLst/>
              <a:gdLst/>
              <a:ahLst/>
              <a:cxnLst/>
              <a:rect l="l" t="t" r="r" b="b"/>
              <a:pathLst>
                <a:path w="2781300" h="0">
                  <a:moveTo>
                    <a:pt x="0" y="0"/>
                  </a:moveTo>
                  <a:lnTo>
                    <a:pt x="2781299" y="0"/>
                  </a:lnTo>
                </a:path>
              </a:pathLst>
            </a:custGeom>
            <a:ln w="9524">
              <a:solidFill>
                <a:srgbClr val="DDDDDD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610475" y="2152649"/>
              <a:ext cx="0" cy="2247900"/>
            </a:xfrm>
            <a:custGeom>
              <a:avLst/>
              <a:gdLst/>
              <a:ahLst/>
              <a:cxnLst/>
              <a:rect l="l" t="t" r="r" b="b"/>
              <a:pathLst>
                <a:path w="0" h="2247900">
                  <a:moveTo>
                    <a:pt x="0" y="0"/>
                  </a:moveTo>
                  <a:lnTo>
                    <a:pt x="0" y="2247899"/>
                  </a:lnTo>
                </a:path>
              </a:pathLst>
            </a:custGeom>
            <a:ln w="9524">
              <a:solidFill>
                <a:srgbClr val="DDDDDD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610475" y="2109787"/>
              <a:ext cx="38100" cy="9525"/>
            </a:xfrm>
            <a:custGeom>
              <a:avLst/>
              <a:gdLst/>
              <a:ahLst/>
              <a:cxnLst/>
              <a:rect l="l" t="t" r="r" b="b"/>
              <a:pathLst>
                <a:path w="38100" h="9525">
                  <a:moveTo>
                    <a:pt x="380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9524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610475" y="2114549"/>
              <a:ext cx="2857500" cy="2286000"/>
            </a:xfrm>
            <a:custGeom>
              <a:avLst/>
              <a:gdLst/>
              <a:ahLst/>
              <a:cxnLst/>
              <a:rect l="l" t="t" r="r" b="b"/>
              <a:pathLst>
                <a:path w="2857500" h="2286000">
                  <a:moveTo>
                    <a:pt x="0" y="2285999"/>
                  </a:moveTo>
                  <a:lnTo>
                    <a:pt x="2857499" y="2285999"/>
                  </a:lnTo>
                </a:path>
                <a:path w="2857500" h="2286000">
                  <a:moveTo>
                    <a:pt x="0" y="0"/>
                  </a:moveTo>
                  <a:lnTo>
                    <a:pt x="0" y="2285999"/>
                  </a:lnTo>
                </a:path>
              </a:pathLst>
            </a:custGeom>
            <a:ln w="1904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7610475" y="3257549"/>
              <a:ext cx="2828925" cy="0"/>
            </a:xfrm>
            <a:custGeom>
              <a:avLst/>
              <a:gdLst/>
              <a:ahLst/>
              <a:cxnLst/>
              <a:rect l="l" t="t" r="r" b="b"/>
              <a:pathLst>
                <a:path w="2828925" h="0">
                  <a:moveTo>
                    <a:pt x="0" y="0"/>
                  </a:moveTo>
                  <a:lnTo>
                    <a:pt x="2828924" y="0"/>
                  </a:lnTo>
                </a:path>
              </a:pathLst>
            </a:custGeom>
            <a:ln w="9524">
              <a:solidFill>
                <a:srgbClr val="878787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7610475" y="3067049"/>
              <a:ext cx="2838450" cy="0"/>
            </a:xfrm>
            <a:custGeom>
              <a:avLst/>
              <a:gdLst/>
              <a:ahLst/>
              <a:cxnLst/>
              <a:rect l="l" t="t" r="r" b="b"/>
              <a:pathLst>
                <a:path w="2838450" h="0">
                  <a:moveTo>
                    <a:pt x="0" y="0"/>
                  </a:moveTo>
                  <a:lnTo>
                    <a:pt x="2838449" y="0"/>
                  </a:lnTo>
                </a:path>
              </a:pathLst>
            </a:custGeom>
            <a:ln w="9524">
              <a:solidFill>
                <a:srgbClr val="878787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7610475" y="3448049"/>
              <a:ext cx="2838450" cy="0"/>
            </a:xfrm>
            <a:custGeom>
              <a:avLst/>
              <a:gdLst/>
              <a:ahLst/>
              <a:cxnLst/>
              <a:rect l="l" t="t" r="r" b="b"/>
              <a:pathLst>
                <a:path w="2838450" h="0">
                  <a:moveTo>
                    <a:pt x="0" y="0"/>
                  </a:moveTo>
                  <a:lnTo>
                    <a:pt x="2838449" y="0"/>
                  </a:lnTo>
                </a:path>
              </a:pathLst>
            </a:custGeom>
            <a:ln w="9524">
              <a:solidFill>
                <a:srgbClr val="878787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8081950" y="2114549"/>
              <a:ext cx="9525" cy="2266950"/>
            </a:xfrm>
            <a:custGeom>
              <a:avLst/>
              <a:gdLst/>
              <a:ahLst/>
              <a:cxnLst/>
              <a:rect l="l" t="t" r="r" b="b"/>
              <a:pathLst>
                <a:path w="9525" h="2266950">
                  <a:moveTo>
                    <a:pt x="9525" y="2247900"/>
                  </a:moveTo>
                  <a:lnTo>
                    <a:pt x="0" y="2247900"/>
                  </a:lnTo>
                  <a:lnTo>
                    <a:pt x="0" y="2266950"/>
                  </a:lnTo>
                  <a:lnTo>
                    <a:pt x="9525" y="2266950"/>
                  </a:lnTo>
                  <a:lnTo>
                    <a:pt x="9525" y="2247900"/>
                  </a:lnTo>
                  <a:close/>
                </a:path>
                <a:path w="9525" h="2266950">
                  <a:moveTo>
                    <a:pt x="9525" y="2209800"/>
                  </a:moveTo>
                  <a:lnTo>
                    <a:pt x="0" y="2209800"/>
                  </a:lnTo>
                  <a:lnTo>
                    <a:pt x="0" y="2228850"/>
                  </a:lnTo>
                  <a:lnTo>
                    <a:pt x="9525" y="2228850"/>
                  </a:lnTo>
                  <a:lnTo>
                    <a:pt x="9525" y="2209800"/>
                  </a:lnTo>
                  <a:close/>
                </a:path>
                <a:path w="9525" h="2266950">
                  <a:moveTo>
                    <a:pt x="9525" y="2171700"/>
                  </a:moveTo>
                  <a:lnTo>
                    <a:pt x="0" y="2171700"/>
                  </a:lnTo>
                  <a:lnTo>
                    <a:pt x="0" y="2190750"/>
                  </a:lnTo>
                  <a:lnTo>
                    <a:pt x="9525" y="2190750"/>
                  </a:lnTo>
                  <a:lnTo>
                    <a:pt x="9525" y="2171700"/>
                  </a:lnTo>
                  <a:close/>
                </a:path>
                <a:path w="9525" h="2266950">
                  <a:moveTo>
                    <a:pt x="9525" y="2133600"/>
                  </a:moveTo>
                  <a:lnTo>
                    <a:pt x="0" y="2133600"/>
                  </a:lnTo>
                  <a:lnTo>
                    <a:pt x="0" y="2152650"/>
                  </a:lnTo>
                  <a:lnTo>
                    <a:pt x="9525" y="2152650"/>
                  </a:lnTo>
                  <a:lnTo>
                    <a:pt x="9525" y="2133600"/>
                  </a:lnTo>
                  <a:close/>
                </a:path>
                <a:path w="9525" h="2266950">
                  <a:moveTo>
                    <a:pt x="9525" y="2095500"/>
                  </a:moveTo>
                  <a:lnTo>
                    <a:pt x="0" y="2095500"/>
                  </a:lnTo>
                  <a:lnTo>
                    <a:pt x="0" y="2114550"/>
                  </a:lnTo>
                  <a:lnTo>
                    <a:pt x="9525" y="2114550"/>
                  </a:lnTo>
                  <a:lnTo>
                    <a:pt x="9525" y="2095500"/>
                  </a:lnTo>
                  <a:close/>
                </a:path>
                <a:path w="9525" h="2266950">
                  <a:moveTo>
                    <a:pt x="9525" y="2057400"/>
                  </a:moveTo>
                  <a:lnTo>
                    <a:pt x="0" y="2057400"/>
                  </a:lnTo>
                  <a:lnTo>
                    <a:pt x="0" y="2076450"/>
                  </a:lnTo>
                  <a:lnTo>
                    <a:pt x="9525" y="2076450"/>
                  </a:lnTo>
                  <a:lnTo>
                    <a:pt x="9525" y="2057400"/>
                  </a:lnTo>
                  <a:close/>
                </a:path>
                <a:path w="9525" h="2266950">
                  <a:moveTo>
                    <a:pt x="9525" y="2019300"/>
                  </a:moveTo>
                  <a:lnTo>
                    <a:pt x="0" y="2019300"/>
                  </a:lnTo>
                  <a:lnTo>
                    <a:pt x="0" y="2038350"/>
                  </a:lnTo>
                  <a:lnTo>
                    <a:pt x="9525" y="2038350"/>
                  </a:lnTo>
                  <a:lnTo>
                    <a:pt x="9525" y="2019300"/>
                  </a:lnTo>
                  <a:close/>
                </a:path>
                <a:path w="9525" h="2266950">
                  <a:moveTo>
                    <a:pt x="9525" y="1981200"/>
                  </a:moveTo>
                  <a:lnTo>
                    <a:pt x="0" y="1981200"/>
                  </a:lnTo>
                  <a:lnTo>
                    <a:pt x="0" y="2000250"/>
                  </a:lnTo>
                  <a:lnTo>
                    <a:pt x="9525" y="2000250"/>
                  </a:lnTo>
                  <a:lnTo>
                    <a:pt x="9525" y="1981200"/>
                  </a:lnTo>
                  <a:close/>
                </a:path>
                <a:path w="9525" h="2266950">
                  <a:moveTo>
                    <a:pt x="9525" y="1943100"/>
                  </a:moveTo>
                  <a:lnTo>
                    <a:pt x="0" y="1943100"/>
                  </a:lnTo>
                  <a:lnTo>
                    <a:pt x="0" y="1962150"/>
                  </a:lnTo>
                  <a:lnTo>
                    <a:pt x="9525" y="1962150"/>
                  </a:lnTo>
                  <a:lnTo>
                    <a:pt x="9525" y="1943100"/>
                  </a:lnTo>
                  <a:close/>
                </a:path>
                <a:path w="9525" h="2266950">
                  <a:moveTo>
                    <a:pt x="9525" y="1905000"/>
                  </a:moveTo>
                  <a:lnTo>
                    <a:pt x="0" y="1905000"/>
                  </a:lnTo>
                  <a:lnTo>
                    <a:pt x="0" y="1924050"/>
                  </a:lnTo>
                  <a:lnTo>
                    <a:pt x="9525" y="1924050"/>
                  </a:lnTo>
                  <a:lnTo>
                    <a:pt x="9525" y="1905000"/>
                  </a:lnTo>
                  <a:close/>
                </a:path>
                <a:path w="9525" h="2266950">
                  <a:moveTo>
                    <a:pt x="9525" y="1866900"/>
                  </a:moveTo>
                  <a:lnTo>
                    <a:pt x="0" y="1866900"/>
                  </a:lnTo>
                  <a:lnTo>
                    <a:pt x="0" y="1885950"/>
                  </a:lnTo>
                  <a:lnTo>
                    <a:pt x="9525" y="1885950"/>
                  </a:lnTo>
                  <a:lnTo>
                    <a:pt x="9525" y="1866900"/>
                  </a:lnTo>
                  <a:close/>
                </a:path>
                <a:path w="9525" h="2266950">
                  <a:moveTo>
                    <a:pt x="9525" y="1828800"/>
                  </a:moveTo>
                  <a:lnTo>
                    <a:pt x="0" y="1828800"/>
                  </a:lnTo>
                  <a:lnTo>
                    <a:pt x="0" y="1847850"/>
                  </a:lnTo>
                  <a:lnTo>
                    <a:pt x="9525" y="1847850"/>
                  </a:lnTo>
                  <a:lnTo>
                    <a:pt x="9525" y="1828800"/>
                  </a:lnTo>
                  <a:close/>
                </a:path>
                <a:path w="9525" h="2266950">
                  <a:moveTo>
                    <a:pt x="9525" y="1790700"/>
                  </a:moveTo>
                  <a:lnTo>
                    <a:pt x="0" y="1790700"/>
                  </a:lnTo>
                  <a:lnTo>
                    <a:pt x="0" y="1809750"/>
                  </a:lnTo>
                  <a:lnTo>
                    <a:pt x="9525" y="1809750"/>
                  </a:lnTo>
                  <a:lnTo>
                    <a:pt x="9525" y="1790700"/>
                  </a:lnTo>
                  <a:close/>
                </a:path>
                <a:path w="9525" h="2266950">
                  <a:moveTo>
                    <a:pt x="9525" y="1752600"/>
                  </a:moveTo>
                  <a:lnTo>
                    <a:pt x="0" y="1752600"/>
                  </a:lnTo>
                  <a:lnTo>
                    <a:pt x="0" y="1771650"/>
                  </a:lnTo>
                  <a:lnTo>
                    <a:pt x="9525" y="1771650"/>
                  </a:lnTo>
                  <a:lnTo>
                    <a:pt x="9525" y="1752600"/>
                  </a:lnTo>
                  <a:close/>
                </a:path>
                <a:path w="9525" h="2266950">
                  <a:moveTo>
                    <a:pt x="9525" y="1714500"/>
                  </a:moveTo>
                  <a:lnTo>
                    <a:pt x="0" y="1714500"/>
                  </a:lnTo>
                  <a:lnTo>
                    <a:pt x="0" y="1733550"/>
                  </a:lnTo>
                  <a:lnTo>
                    <a:pt x="9525" y="1733550"/>
                  </a:lnTo>
                  <a:lnTo>
                    <a:pt x="9525" y="1714500"/>
                  </a:lnTo>
                  <a:close/>
                </a:path>
                <a:path w="9525" h="2266950">
                  <a:moveTo>
                    <a:pt x="9525" y="1676400"/>
                  </a:moveTo>
                  <a:lnTo>
                    <a:pt x="0" y="1676400"/>
                  </a:lnTo>
                  <a:lnTo>
                    <a:pt x="0" y="1695450"/>
                  </a:lnTo>
                  <a:lnTo>
                    <a:pt x="9525" y="1695450"/>
                  </a:lnTo>
                  <a:lnTo>
                    <a:pt x="9525" y="1676400"/>
                  </a:lnTo>
                  <a:close/>
                </a:path>
                <a:path w="9525" h="2266950">
                  <a:moveTo>
                    <a:pt x="9525" y="1638300"/>
                  </a:moveTo>
                  <a:lnTo>
                    <a:pt x="0" y="1638300"/>
                  </a:lnTo>
                  <a:lnTo>
                    <a:pt x="0" y="1657350"/>
                  </a:lnTo>
                  <a:lnTo>
                    <a:pt x="9525" y="1657350"/>
                  </a:lnTo>
                  <a:lnTo>
                    <a:pt x="9525" y="1638300"/>
                  </a:lnTo>
                  <a:close/>
                </a:path>
                <a:path w="9525" h="2266950">
                  <a:moveTo>
                    <a:pt x="9525" y="1600200"/>
                  </a:moveTo>
                  <a:lnTo>
                    <a:pt x="0" y="1600200"/>
                  </a:lnTo>
                  <a:lnTo>
                    <a:pt x="0" y="1619250"/>
                  </a:lnTo>
                  <a:lnTo>
                    <a:pt x="9525" y="1619250"/>
                  </a:lnTo>
                  <a:lnTo>
                    <a:pt x="9525" y="1600200"/>
                  </a:lnTo>
                  <a:close/>
                </a:path>
                <a:path w="9525" h="2266950">
                  <a:moveTo>
                    <a:pt x="9525" y="1562100"/>
                  </a:moveTo>
                  <a:lnTo>
                    <a:pt x="0" y="1562100"/>
                  </a:lnTo>
                  <a:lnTo>
                    <a:pt x="0" y="1581150"/>
                  </a:lnTo>
                  <a:lnTo>
                    <a:pt x="9525" y="1581150"/>
                  </a:lnTo>
                  <a:lnTo>
                    <a:pt x="9525" y="1562100"/>
                  </a:lnTo>
                  <a:close/>
                </a:path>
                <a:path w="9525" h="2266950">
                  <a:moveTo>
                    <a:pt x="9525" y="1524000"/>
                  </a:moveTo>
                  <a:lnTo>
                    <a:pt x="0" y="1524000"/>
                  </a:lnTo>
                  <a:lnTo>
                    <a:pt x="0" y="1543050"/>
                  </a:lnTo>
                  <a:lnTo>
                    <a:pt x="9525" y="1543050"/>
                  </a:lnTo>
                  <a:lnTo>
                    <a:pt x="9525" y="1524000"/>
                  </a:lnTo>
                  <a:close/>
                </a:path>
                <a:path w="9525" h="2266950">
                  <a:moveTo>
                    <a:pt x="9525" y="1485900"/>
                  </a:moveTo>
                  <a:lnTo>
                    <a:pt x="0" y="1485900"/>
                  </a:lnTo>
                  <a:lnTo>
                    <a:pt x="0" y="1504950"/>
                  </a:lnTo>
                  <a:lnTo>
                    <a:pt x="9525" y="1504950"/>
                  </a:lnTo>
                  <a:lnTo>
                    <a:pt x="9525" y="1485900"/>
                  </a:lnTo>
                  <a:close/>
                </a:path>
                <a:path w="9525" h="2266950">
                  <a:moveTo>
                    <a:pt x="9525" y="1447800"/>
                  </a:moveTo>
                  <a:lnTo>
                    <a:pt x="0" y="1447800"/>
                  </a:lnTo>
                  <a:lnTo>
                    <a:pt x="0" y="1466850"/>
                  </a:lnTo>
                  <a:lnTo>
                    <a:pt x="9525" y="1466850"/>
                  </a:lnTo>
                  <a:lnTo>
                    <a:pt x="9525" y="1447800"/>
                  </a:lnTo>
                  <a:close/>
                </a:path>
                <a:path w="9525" h="2266950">
                  <a:moveTo>
                    <a:pt x="9525" y="1409700"/>
                  </a:moveTo>
                  <a:lnTo>
                    <a:pt x="0" y="1409700"/>
                  </a:lnTo>
                  <a:lnTo>
                    <a:pt x="0" y="1428750"/>
                  </a:lnTo>
                  <a:lnTo>
                    <a:pt x="9525" y="1428750"/>
                  </a:lnTo>
                  <a:lnTo>
                    <a:pt x="9525" y="1409700"/>
                  </a:lnTo>
                  <a:close/>
                </a:path>
                <a:path w="9525" h="2266950">
                  <a:moveTo>
                    <a:pt x="9525" y="1371600"/>
                  </a:moveTo>
                  <a:lnTo>
                    <a:pt x="0" y="1371600"/>
                  </a:lnTo>
                  <a:lnTo>
                    <a:pt x="0" y="1390650"/>
                  </a:lnTo>
                  <a:lnTo>
                    <a:pt x="9525" y="1390650"/>
                  </a:lnTo>
                  <a:lnTo>
                    <a:pt x="9525" y="1371600"/>
                  </a:lnTo>
                  <a:close/>
                </a:path>
                <a:path w="9525" h="2266950">
                  <a:moveTo>
                    <a:pt x="9525" y="1333500"/>
                  </a:moveTo>
                  <a:lnTo>
                    <a:pt x="0" y="1333500"/>
                  </a:lnTo>
                  <a:lnTo>
                    <a:pt x="0" y="1352550"/>
                  </a:lnTo>
                  <a:lnTo>
                    <a:pt x="9525" y="1352550"/>
                  </a:lnTo>
                  <a:lnTo>
                    <a:pt x="9525" y="1333500"/>
                  </a:lnTo>
                  <a:close/>
                </a:path>
                <a:path w="9525" h="2266950">
                  <a:moveTo>
                    <a:pt x="9525" y="1295400"/>
                  </a:moveTo>
                  <a:lnTo>
                    <a:pt x="0" y="1295400"/>
                  </a:lnTo>
                  <a:lnTo>
                    <a:pt x="0" y="1314450"/>
                  </a:lnTo>
                  <a:lnTo>
                    <a:pt x="9525" y="1314450"/>
                  </a:lnTo>
                  <a:lnTo>
                    <a:pt x="9525" y="1295400"/>
                  </a:lnTo>
                  <a:close/>
                </a:path>
                <a:path w="9525" h="2266950">
                  <a:moveTo>
                    <a:pt x="9525" y="1257300"/>
                  </a:moveTo>
                  <a:lnTo>
                    <a:pt x="0" y="1257300"/>
                  </a:lnTo>
                  <a:lnTo>
                    <a:pt x="0" y="1276350"/>
                  </a:lnTo>
                  <a:lnTo>
                    <a:pt x="9525" y="1276350"/>
                  </a:lnTo>
                  <a:lnTo>
                    <a:pt x="9525" y="1257300"/>
                  </a:lnTo>
                  <a:close/>
                </a:path>
                <a:path w="9525" h="2266950">
                  <a:moveTo>
                    <a:pt x="9525" y="1219200"/>
                  </a:moveTo>
                  <a:lnTo>
                    <a:pt x="0" y="1219200"/>
                  </a:lnTo>
                  <a:lnTo>
                    <a:pt x="0" y="1238250"/>
                  </a:lnTo>
                  <a:lnTo>
                    <a:pt x="9525" y="1238250"/>
                  </a:lnTo>
                  <a:lnTo>
                    <a:pt x="9525" y="1219200"/>
                  </a:lnTo>
                  <a:close/>
                </a:path>
                <a:path w="9525" h="2266950">
                  <a:moveTo>
                    <a:pt x="9525" y="1181100"/>
                  </a:moveTo>
                  <a:lnTo>
                    <a:pt x="0" y="1181100"/>
                  </a:lnTo>
                  <a:lnTo>
                    <a:pt x="0" y="1200150"/>
                  </a:lnTo>
                  <a:lnTo>
                    <a:pt x="9525" y="1200150"/>
                  </a:lnTo>
                  <a:lnTo>
                    <a:pt x="9525" y="1181100"/>
                  </a:lnTo>
                  <a:close/>
                </a:path>
                <a:path w="9525" h="2266950">
                  <a:moveTo>
                    <a:pt x="9525" y="1143000"/>
                  </a:moveTo>
                  <a:lnTo>
                    <a:pt x="0" y="1143000"/>
                  </a:lnTo>
                  <a:lnTo>
                    <a:pt x="0" y="1162050"/>
                  </a:lnTo>
                  <a:lnTo>
                    <a:pt x="9525" y="1162050"/>
                  </a:lnTo>
                  <a:lnTo>
                    <a:pt x="9525" y="1143000"/>
                  </a:lnTo>
                  <a:close/>
                </a:path>
                <a:path w="9525" h="2266950">
                  <a:moveTo>
                    <a:pt x="9525" y="1104900"/>
                  </a:moveTo>
                  <a:lnTo>
                    <a:pt x="0" y="1104900"/>
                  </a:lnTo>
                  <a:lnTo>
                    <a:pt x="0" y="1123950"/>
                  </a:lnTo>
                  <a:lnTo>
                    <a:pt x="9525" y="1123950"/>
                  </a:lnTo>
                  <a:lnTo>
                    <a:pt x="9525" y="1104900"/>
                  </a:lnTo>
                  <a:close/>
                </a:path>
                <a:path w="9525" h="2266950">
                  <a:moveTo>
                    <a:pt x="9525" y="1066800"/>
                  </a:moveTo>
                  <a:lnTo>
                    <a:pt x="0" y="1066800"/>
                  </a:lnTo>
                  <a:lnTo>
                    <a:pt x="0" y="1085850"/>
                  </a:lnTo>
                  <a:lnTo>
                    <a:pt x="9525" y="1085850"/>
                  </a:lnTo>
                  <a:lnTo>
                    <a:pt x="9525" y="1066800"/>
                  </a:lnTo>
                  <a:close/>
                </a:path>
                <a:path w="9525" h="2266950">
                  <a:moveTo>
                    <a:pt x="9525" y="1028700"/>
                  </a:moveTo>
                  <a:lnTo>
                    <a:pt x="0" y="1028700"/>
                  </a:lnTo>
                  <a:lnTo>
                    <a:pt x="0" y="1047750"/>
                  </a:lnTo>
                  <a:lnTo>
                    <a:pt x="9525" y="1047750"/>
                  </a:lnTo>
                  <a:lnTo>
                    <a:pt x="9525" y="1028700"/>
                  </a:lnTo>
                  <a:close/>
                </a:path>
                <a:path w="9525" h="2266950">
                  <a:moveTo>
                    <a:pt x="9525" y="990600"/>
                  </a:moveTo>
                  <a:lnTo>
                    <a:pt x="0" y="990600"/>
                  </a:lnTo>
                  <a:lnTo>
                    <a:pt x="0" y="1009650"/>
                  </a:lnTo>
                  <a:lnTo>
                    <a:pt x="9525" y="1009650"/>
                  </a:lnTo>
                  <a:lnTo>
                    <a:pt x="9525" y="990600"/>
                  </a:lnTo>
                  <a:close/>
                </a:path>
                <a:path w="9525" h="2266950">
                  <a:moveTo>
                    <a:pt x="9525" y="952500"/>
                  </a:moveTo>
                  <a:lnTo>
                    <a:pt x="0" y="952500"/>
                  </a:lnTo>
                  <a:lnTo>
                    <a:pt x="0" y="971550"/>
                  </a:lnTo>
                  <a:lnTo>
                    <a:pt x="9525" y="971550"/>
                  </a:lnTo>
                  <a:lnTo>
                    <a:pt x="9525" y="952500"/>
                  </a:lnTo>
                  <a:close/>
                </a:path>
                <a:path w="9525" h="2266950">
                  <a:moveTo>
                    <a:pt x="9525" y="914400"/>
                  </a:moveTo>
                  <a:lnTo>
                    <a:pt x="0" y="914400"/>
                  </a:lnTo>
                  <a:lnTo>
                    <a:pt x="0" y="933450"/>
                  </a:lnTo>
                  <a:lnTo>
                    <a:pt x="9525" y="933450"/>
                  </a:lnTo>
                  <a:lnTo>
                    <a:pt x="9525" y="914400"/>
                  </a:lnTo>
                  <a:close/>
                </a:path>
                <a:path w="9525" h="2266950">
                  <a:moveTo>
                    <a:pt x="9525" y="876300"/>
                  </a:moveTo>
                  <a:lnTo>
                    <a:pt x="0" y="876300"/>
                  </a:lnTo>
                  <a:lnTo>
                    <a:pt x="0" y="895350"/>
                  </a:lnTo>
                  <a:lnTo>
                    <a:pt x="9525" y="895350"/>
                  </a:lnTo>
                  <a:lnTo>
                    <a:pt x="9525" y="876300"/>
                  </a:lnTo>
                  <a:close/>
                </a:path>
                <a:path w="9525" h="2266950">
                  <a:moveTo>
                    <a:pt x="9525" y="838200"/>
                  </a:moveTo>
                  <a:lnTo>
                    <a:pt x="0" y="838200"/>
                  </a:lnTo>
                  <a:lnTo>
                    <a:pt x="0" y="857250"/>
                  </a:lnTo>
                  <a:lnTo>
                    <a:pt x="9525" y="857250"/>
                  </a:lnTo>
                  <a:lnTo>
                    <a:pt x="9525" y="838200"/>
                  </a:lnTo>
                  <a:close/>
                </a:path>
                <a:path w="9525" h="2266950">
                  <a:moveTo>
                    <a:pt x="9525" y="800100"/>
                  </a:moveTo>
                  <a:lnTo>
                    <a:pt x="0" y="800100"/>
                  </a:lnTo>
                  <a:lnTo>
                    <a:pt x="0" y="819150"/>
                  </a:lnTo>
                  <a:lnTo>
                    <a:pt x="9525" y="819150"/>
                  </a:lnTo>
                  <a:lnTo>
                    <a:pt x="9525" y="800100"/>
                  </a:lnTo>
                  <a:close/>
                </a:path>
                <a:path w="9525" h="2266950">
                  <a:moveTo>
                    <a:pt x="9525" y="762000"/>
                  </a:moveTo>
                  <a:lnTo>
                    <a:pt x="0" y="762000"/>
                  </a:lnTo>
                  <a:lnTo>
                    <a:pt x="0" y="781050"/>
                  </a:lnTo>
                  <a:lnTo>
                    <a:pt x="9525" y="781050"/>
                  </a:lnTo>
                  <a:lnTo>
                    <a:pt x="9525" y="762000"/>
                  </a:lnTo>
                  <a:close/>
                </a:path>
                <a:path w="9525" h="2266950">
                  <a:moveTo>
                    <a:pt x="9525" y="723900"/>
                  </a:moveTo>
                  <a:lnTo>
                    <a:pt x="0" y="723900"/>
                  </a:lnTo>
                  <a:lnTo>
                    <a:pt x="0" y="742950"/>
                  </a:lnTo>
                  <a:lnTo>
                    <a:pt x="9525" y="742950"/>
                  </a:lnTo>
                  <a:lnTo>
                    <a:pt x="9525" y="723900"/>
                  </a:lnTo>
                  <a:close/>
                </a:path>
                <a:path w="9525" h="2266950">
                  <a:moveTo>
                    <a:pt x="9525" y="685800"/>
                  </a:moveTo>
                  <a:lnTo>
                    <a:pt x="0" y="685800"/>
                  </a:lnTo>
                  <a:lnTo>
                    <a:pt x="0" y="704850"/>
                  </a:lnTo>
                  <a:lnTo>
                    <a:pt x="9525" y="704850"/>
                  </a:lnTo>
                  <a:lnTo>
                    <a:pt x="9525" y="685800"/>
                  </a:lnTo>
                  <a:close/>
                </a:path>
                <a:path w="9525" h="2266950">
                  <a:moveTo>
                    <a:pt x="9525" y="647700"/>
                  </a:moveTo>
                  <a:lnTo>
                    <a:pt x="0" y="647700"/>
                  </a:lnTo>
                  <a:lnTo>
                    <a:pt x="0" y="666750"/>
                  </a:lnTo>
                  <a:lnTo>
                    <a:pt x="9525" y="666750"/>
                  </a:lnTo>
                  <a:lnTo>
                    <a:pt x="9525" y="647700"/>
                  </a:lnTo>
                  <a:close/>
                </a:path>
                <a:path w="9525" h="2266950">
                  <a:moveTo>
                    <a:pt x="9525" y="609600"/>
                  </a:moveTo>
                  <a:lnTo>
                    <a:pt x="0" y="609600"/>
                  </a:lnTo>
                  <a:lnTo>
                    <a:pt x="0" y="628650"/>
                  </a:lnTo>
                  <a:lnTo>
                    <a:pt x="9525" y="628650"/>
                  </a:lnTo>
                  <a:lnTo>
                    <a:pt x="9525" y="609600"/>
                  </a:lnTo>
                  <a:close/>
                </a:path>
                <a:path w="9525" h="2266950">
                  <a:moveTo>
                    <a:pt x="9525" y="571500"/>
                  </a:moveTo>
                  <a:lnTo>
                    <a:pt x="0" y="571500"/>
                  </a:lnTo>
                  <a:lnTo>
                    <a:pt x="0" y="590550"/>
                  </a:lnTo>
                  <a:lnTo>
                    <a:pt x="9525" y="590550"/>
                  </a:lnTo>
                  <a:lnTo>
                    <a:pt x="9525" y="571500"/>
                  </a:lnTo>
                  <a:close/>
                </a:path>
                <a:path w="9525" h="2266950">
                  <a:moveTo>
                    <a:pt x="9525" y="533400"/>
                  </a:moveTo>
                  <a:lnTo>
                    <a:pt x="0" y="533400"/>
                  </a:lnTo>
                  <a:lnTo>
                    <a:pt x="0" y="552450"/>
                  </a:lnTo>
                  <a:lnTo>
                    <a:pt x="9525" y="552450"/>
                  </a:lnTo>
                  <a:lnTo>
                    <a:pt x="9525" y="533400"/>
                  </a:lnTo>
                  <a:close/>
                </a:path>
                <a:path w="9525" h="2266950">
                  <a:moveTo>
                    <a:pt x="9525" y="495300"/>
                  </a:moveTo>
                  <a:lnTo>
                    <a:pt x="0" y="495300"/>
                  </a:lnTo>
                  <a:lnTo>
                    <a:pt x="0" y="514350"/>
                  </a:lnTo>
                  <a:lnTo>
                    <a:pt x="9525" y="514350"/>
                  </a:lnTo>
                  <a:lnTo>
                    <a:pt x="9525" y="495300"/>
                  </a:lnTo>
                  <a:close/>
                </a:path>
                <a:path w="9525" h="2266950">
                  <a:moveTo>
                    <a:pt x="9525" y="457200"/>
                  </a:moveTo>
                  <a:lnTo>
                    <a:pt x="0" y="457200"/>
                  </a:lnTo>
                  <a:lnTo>
                    <a:pt x="0" y="476250"/>
                  </a:lnTo>
                  <a:lnTo>
                    <a:pt x="9525" y="476250"/>
                  </a:lnTo>
                  <a:lnTo>
                    <a:pt x="9525" y="457200"/>
                  </a:lnTo>
                  <a:close/>
                </a:path>
                <a:path w="9525" h="2266950">
                  <a:moveTo>
                    <a:pt x="9525" y="419100"/>
                  </a:moveTo>
                  <a:lnTo>
                    <a:pt x="0" y="419100"/>
                  </a:lnTo>
                  <a:lnTo>
                    <a:pt x="0" y="438150"/>
                  </a:lnTo>
                  <a:lnTo>
                    <a:pt x="9525" y="438150"/>
                  </a:lnTo>
                  <a:lnTo>
                    <a:pt x="9525" y="419100"/>
                  </a:lnTo>
                  <a:close/>
                </a:path>
                <a:path w="9525" h="2266950">
                  <a:moveTo>
                    <a:pt x="9525" y="381000"/>
                  </a:moveTo>
                  <a:lnTo>
                    <a:pt x="0" y="381000"/>
                  </a:lnTo>
                  <a:lnTo>
                    <a:pt x="0" y="400050"/>
                  </a:lnTo>
                  <a:lnTo>
                    <a:pt x="9525" y="400050"/>
                  </a:lnTo>
                  <a:lnTo>
                    <a:pt x="9525" y="381000"/>
                  </a:lnTo>
                  <a:close/>
                </a:path>
                <a:path w="9525" h="2266950">
                  <a:moveTo>
                    <a:pt x="9525" y="342900"/>
                  </a:moveTo>
                  <a:lnTo>
                    <a:pt x="0" y="342900"/>
                  </a:lnTo>
                  <a:lnTo>
                    <a:pt x="0" y="361950"/>
                  </a:lnTo>
                  <a:lnTo>
                    <a:pt x="9525" y="361950"/>
                  </a:lnTo>
                  <a:lnTo>
                    <a:pt x="9525" y="342900"/>
                  </a:lnTo>
                  <a:close/>
                </a:path>
                <a:path w="9525" h="2266950">
                  <a:moveTo>
                    <a:pt x="9525" y="304800"/>
                  </a:moveTo>
                  <a:lnTo>
                    <a:pt x="0" y="304800"/>
                  </a:lnTo>
                  <a:lnTo>
                    <a:pt x="0" y="323850"/>
                  </a:lnTo>
                  <a:lnTo>
                    <a:pt x="9525" y="323850"/>
                  </a:lnTo>
                  <a:lnTo>
                    <a:pt x="9525" y="304800"/>
                  </a:lnTo>
                  <a:close/>
                </a:path>
                <a:path w="9525" h="2266950">
                  <a:moveTo>
                    <a:pt x="9525" y="266700"/>
                  </a:moveTo>
                  <a:lnTo>
                    <a:pt x="0" y="266700"/>
                  </a:lnTo>
                  <a:lnTo>
                    <a:pt x="0" y="285750"/>
                  </a:lnTo>
                  <a:lnTo>
                    <a:pt x="9525" y="285750"/>
                  </a:lnTo>
                  <a:lnTo>
                    <a:pt x="9525" y="266700"/>
                  </a:lnTo>
                  <a:close/>
                </a:path>
                <a:path w="9525" h="2266950">
                  <a:moveTo>
                    <a:pt x="9525" y="228600"/>
                  </a:moveTo>
                  <a:lnTo>
                    <a:pt x="0" y="228600"/>
                  </a:lnTo>
                  <a:lnTo>
                    <a:pt x="0" y="247650"/>
                  </a:lnTo>
                  <a:lnTo>
                    <a:pt x="9525" y="247650"/>
                  </a:lnTo>
                  <a:lnTo>
                    <a:pt x="9525" y="228600"/>
                  </a:lnTo>
                  <a:close/>
                </a:path>
                <a:path w="9525" h="2266950">
                  <a:moveTo>
                    <a:pt x="9525" y="190500"/>
                  </a:moveTo>
                  <a:lnTo>
                    <a:pt x="0" y="190500"/>
                  </a:lnTo>
                  <a:lnTo>
                    <a:pt x="0" y="209550"/>
                  </a:lnTo>
                  <a:lnTo>
                    <a:pt x="9525" y="209550"/>
                  </a:lnTo>
                  <a:lnTo>
                    <a:pt x="9525" y="190500"/>
                  </a:lnTo>
                  <a:close/>
                </a:path>
                <a:path w="9525" h="2266950">
                  <a:moveTo>
                    <a:pt x="9525" y="152400"/>
                  </a:moveTo>
                  <a:lnTo>
                    <a:pt x="0" y="152400"/>
                  </a:lnTo>
                  <a:lnTo>
                    <a:pt x="0" y="171450"/>
                  </a:lnTo>
                  <a:lnTo>
                    <a:pt x="9525" y="171450"/>
                  </a:lnTo>
                  <a:lnTo>
                    <a:pt x="9525" y="152400"/>
                  </a:lnTo>
                  <a:close/>
                </a:path>
                <a:path w="9525" h="2266950">
                  <a:moveTo>
                    <a:pt x="9525" y="114300"/>
                  </a:moveTo>
                  <a:lnTo>
                    <a:pt x="0" y="114300"/>
                  </a:lnTo>
                  <a:lnTo>
                    <a:pt x="0" y="133350"/>
                  </a:lnTo>
                  <a:lnTo>
                    <a:pt x="9525" y="133350"/>
                  </a:lnTo>
                  <a:lnTo>
                    <a:pt x="9525" y="114300"/>
                  </a:lnTo>
                  <a:close/>
                </a:path>
                <a:path w="9525" h="2266950">
                  <a:moveTo>
                    <a:pt x="9525" y="76200"/>
                  </a:moveTo>
                  <a:lnTo>
                    <a:pt x="0" y="76200"/>
                  </a:lnTo>
                  <a:lnTo>
                    <a:pt x="0" y="95250"/>
                  </a:lnTo>
                  <a:lnTo>
                    <a:pt x="9525" y="95250"/>
                  </a:lnTo>
                  <a:lnTo>
                    <a:pt x="9525" y="76200"/>
                  </a:lnTo>
                  <a:close/>
                </a:path>
                <a:path w="9525" h="2266950">
                  <a:moveTo>
                    <a:pt x="9525" y="38100"/>
                  </a:moveTo>
                  <a:lnTo>
                    <a:pt x="0" y="38100"/>
                  </a:lnTo>
                  <a:lnTo>
                    <a:pt x="0" y="57150"/>
                  </a:lnTo>
                  <a:lnTo>
                    <a:pt x="9525" y="57150"/>
                  </a:lnTo>
                  <a:lnTo>
                    <a:pt x="9525" y="38100"/>
                  </a:lnTo>
                  <a:close/>
                </a:path>
                <a:path w="9525" h="2266950">
                  <a:moveTo>
                    <a:pt x="9525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9525" y="19050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59D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7610475" y="3257549"/>
              <a:ext cx="2857500" cy="677545"/>
            </a:xfrm>
            <a:custGeom>
              <a:avLst/>
              <a:gdLst/>
              <a:ahLst/>
              <a:cxnLst/>
              <a:rect l="l" t="t" r="r" b="b"/>
              <a:pathLst>
                <a:path w="2857500" h="677545">
                  <a:moveTo>
                    <a:pt x="0" y="0"/>
                  </a:moveTo>
                  <a:lnTo>
                    <a:pt x="476249" y="0"/>
                  </a:lnTo>
                  <a:lnTo>
                    <a:pt x="495538" y="74056"/>
                  </a:lnTo>
                  <a:lnTo>
                    <a:pt x="515302" y="143827"/>
                  </a:lnTo>
                  <a:lnTo>
                    <a:pt x="535543" y="209311"/>
                  </a:lnTo>
                  <a:lnTo>
                    <a:pt x="556259" y="270510"/>
                  </a:lnTo>
                  <a:lnTo>
                    <a:pt x="577453" y="327421"/>
                  </a:lnTo>
                  <a:lnTo>
                    <a:pt x="599122" y="380047"/>
                  </a:lnTo>
                  <a:lnTo>
                    <a:pt x="621268" y="428386"/>
                  </a:lnTo>
                  <a:lnTo>
                    <a:pt x="643889" y="472439"/>
                  </a:lnTo>
                  <a:lnTo>
                    <a:pt x="666988" y="512206"/>
                  </a:lnTo>
                  <a:lnTo>
                    <a:pt x="690562" y="547687"/>
                  </a:lnTo>
                  <a:lnTo>
                    <a:pt x="714613" y="578881"/>
                  </a:lnTo>
                  <a:lnTo>
                    <a:pt x="764143" y="628411"/>
                  </a:lnTo>
                  <a:lnTo>
                    <a:pt x="815578" y="660796"/>
                  </a:lnTo>
                  <a:lnTo>
                    <a:pt x="868918" y="676036"/>
                  </a:lnTo>
                  <a:lnTo>
                    <a:pt x="896302" y="677227"/>
                  </a:lnTo>
                  <a:lnTo>
                    <a:pt x="924163" y="674131"/>
                  </a:lnTo>
                  <a:lnTo>
                    <a:pt x="1003667" y="648644"/>
                  </a:lnTo>
                  <a:lnTo>
                    <a:pt x="1053260" y="628964"/>
                  </a:lnTo>
                  <a:lnTo>
                    <a:pt x="1101278" y="607710"/>
                  </a:lnTo>
                  <a:lnTo>
                    <a:pt x="1147723" y="584882"/>
                  </a:lnTo>
                  <a:lnTo>
                    <a:pt x="1192592" y="560479"/>
                  </a:lnTo>
                  <a:lnTo>
                    <a:pt x="1235888" y="534502"/>
                  </a:lnTo>
                  <a:lnTo>
                    <a:pt x="1277609" y="506950"/>
                  </a:lnTo>
                  <a:lnTo>
                    <a:pt x="1317756" y="477824"/>
                  </a:lnTo>
                  <a:lnTo>
                    <a:pt x="1356328" y="447123"/>
                  </a:lnTo>
                  <a:lnTo>
                    <a:pt x="1393326" y="414849"/>
                  </a:lnTo>
                  <a:lnTo>
                    <a:pt x="1428749" y="380999"/>
                  </a:lnTo>
                  <a:lnTo>
                    <a:pt x="1464173" y="347150"/>
                  </a:lnTo>
                  <a:lnTo>
                    <a:pt x="1501171" y="314876"/>
                  </a:lnTo>
                  <a:lnTo>
                    <a:pt x="1539743" y="284175"/>
                  </a:lnTo>
                  <a:lnTo>
                    <a:pt x="1579890" y="255049"/>
                  </a:lnTo>
                  <a:lnTo>
                    <a:pt x="1621611" y="227497"/>
                  </a:lnTo>
                  <a:lnTo>
                    <a:pt x="1664906" y="201520"/>
                  </a:lnTo>
                  <a:lnTo>
                    <a:pt x="1709776" y="177117"/>
                  </a:lnTo>
                  <a:lnTo>
                    <a:pt x="1756220" y="154289"/>
                  </a:lnTo>
                  <a:lnTo>
                    <a:pt x="1804239" y="133035"/>
                  </a:lnTo>
                  <a:lnTo>
                    <a:pt x="1853832" y="113355"/>
                  </a:lnTo>
                  <a:lnTo>
                    <a:pt x="1904999" y="95249"/>
                  </a:lnTo>
                  <a:lnTo>
                    <a:pt x="1961197" y="77152"/>
                  </a:lnTo>
                  <a:lnTo>
                    <a:pt x="2015489" y="60959"/>
                  </a:lnTo>
                  <a:lnTo>
                    <a:pt x="2067877" y="46672"/>
                  </a:lnTo>
                  <a:lnTo>
                    <a:pt x="2118359" y="34289"/>
                  </a:lnTo>
                  <a:lnTo>
                    <a:pt x="2166937" y="23812"/>
                  </a:lnTo>
                  <a:lnTo>
                    <a:pt x="2213609" y="15239"/>
                  </a:lnTo>
                  <a:lnTo>
                    <a:pt x="2258377" y="8572"/>
                  </a:lnTo>
                  <a:lnTo>
                    <a:pt x="2301239" y="3809"/>
                  </a:lnTo>
                  <a:lnTo>
                    <a:pt x="2342197" y="952"/>
                  </a:lnTo>
                  <a:lnTo>
                    <a:pt x="2381249" y="0"/>
                  </a:lnTo>
                  <a:lnTo>
                    <a:pt x="2857499" y="0"/>
                  </a:lnTo>
                </a:path>
              </a:pathLst>
            </a:custGeom>
            <a:ln w="28574">
              <a:solidFill>
                <a:srgbClr val="E11C4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7610475" y="3184459"/>
              <a:ext cx="2857500" cy="243204"/>
            </a:xfrm>
            <a:custGeom>
              <a:avLst/>
              <a:gdLst/>
              <a:ahLst/>
              <a:cxnLst/>
              <a:rect l="l" t="t" r="r" b="b"/>
              <a:pathLst>
                <a:path w="2857500" h="243204">
                  <a:moveTo>
                    <a:pt x="0" y="73089"/>
                  </a:moveTo>
                  <a:lnTo>
                    <a:pt x="476249" y="73089"/>
                  </a:lnTo>
                  <a:lnTo>
                    <a:pt x="503464" y="134321"/>
                  </a:lnTo>
                  <a:lnTo>
                    <a:pt x="530678" y="181946"/>
                  </a:lnTo>
                  <a:lnTo>
                    <a:pt x="557892" y="215964"/>
                  </a:lnTo>
                  <a:lnTo>
                    <a:pt x="585107" y="236375"/>
                  </a:lnTo>
                  <a:lnTo>
                    <a:pt x="612321" y="243179"/>
                  </a:lnTo>
                  <a:lnTo>
                    <a:pt x="639535" y="236375"/>
                  </a:lnTo>
                  <a:lnTo>
                    <a:pt x="666749" y="215964"/>
                  </a:lnTo>
                  <a:lnTo>
                    <a:pt x="695908" y="188944"/>
                  </a:lnTo>
                  <a:lnTo>
                    <a:pt x="728954" y="162313"/>
                  </a:lnTo>
                  <a:lnTo>
                    <a:pt x="765887" y="136071"/>
                  </a:lnTo>
                  <a:lnTo>
                    <a:pt x="806709" y="110217"/>
                  </a:lnTo>
                  <a:lnTo>
                    <a:pt x="851418" y="84753"/>
                  </a:lnTo>
                  <a:lnTo>
                    <a:pt x="900015" y="59677"/>
                  </a:lnTo>
                  <a:lnTo>
                    <a:pt x="952499" y="34989"/>
                  </a:lnTo>
                  <a:lnTo>
                    <a:pt x="1004984" y="14773"/>
                  </a:lnTo>
                  <a:lnTo>
                    <a:pt x="1053581" y="3110"/>
                  </a:lnTo>
                  <a:lnTo>
                    <a:pt x="1098290" y="0"/>
                  </a:lnTo>
                  <a:lnTo>
                    <a:pt x="1139112" y="5442"/>
                  </a:lnTo>
                  <a:lnTo>
                    <a:pt x="1176045" y="19438"/>
                  </a:lnTo>
                  <a:lnTo>
                    <a:pt x="1209091" y="41987"/>
                  </a:lnTo>
                  <a:lnTo>
                    <a:pt x="1238249" y="73089"/>
                  </a:lnTo>
                  <a:lnTo>
                    <a:pt x="1267408" y="103803"/>
                  </a:lnTo>
                  <a:lnTo>
                    <a:pt x="1300453" y="125185"/>
                  </a:lnTo>
                  <a:lnTo>
                    <a:pt x="1337387" y="137237"/>
                  </a:lnTo>
                  <a:lnTo>
                    <a:pt x="1378209" y="139959"/>
                  </a:lnTo>
                  <a:lnTo>
                    <a:pt x="1422918" y="133349"/>
                  </a:lnTo>
                  <a:lnTo>
                    <a:pt x="1471515" y="117410"/>
                  </a:lnTo>
                  <a:lnTo>
                    <a:pt x="1523999" y="92139"/>
                  </a:lnTo>
                  <a:lnTo>
                    <a:pt x="1584854" y="62506"/>
                  </a:lnTo>
                  <a:lnTo>
                    <a:pt x="1640416" y="43456"/>
                  </a:lnTo>
                  <a:lnTo>
                    <a:pt x="1690687" y="34989"/>
                  </a:lnTo>
                  <a:lnTo>
                    <a:pt x="1735666" y="37106"/>
                  </a:lnTo>
                  <a:lnTo>
                    <a:pt x="1775354" y="49806"/>
                  </a:lnTo>
                  <a:lnTo>
                    <a:pt x="1809749" y="73089"/>
                  </a:lnTo>
                  <a:lnTo>
                    <a:pt x="2857499" y="73089"/>
                  </a:lnTo>
                </a:path>
              </a:pathLst>
            </a:custGeom>
            <a:ln w="28574">
              <a:solidFill>
                <a:srgbClr val="0045A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7800974" y="1924049"/>
              <a:ext cx="762000" cy="381000"/>
            </a:xfrm>
            <a:custGeom>
              <a:avLst/>
              <a:gdLst/>
              <a:ahLst/>
              <a:cxnLst/>
              <a:rect l="l" t="t" r="r" b="b"/>
              <a:pathLst>
                <a:path w="762000" h="381000">
                  <a:moveTo>
                    <a:pt x="720690" y="380999"/>
                  </a:moveTo>
                  <a:lnTo>
                    <a:pt x="41309" y="380999"/>
                  </a:lnTo>
                  <a:lnTo>
                    <a:pt x="35234" y="379791"/>
                  </a:lnTo>
                  <a:lnTo>
                    <a:pt x="1208" y="345765"/>
                  </a:lnTo>
                  <a:lnTo>
                    <a:pt x="0" y="339690"/>
                  </a:lnTo>
                  <a:lnTo>
                    <a:pt x="0" y="41309"/>
                  </a:lnTo>
                  <a:lnTo>
                    <a:pt x="23564" y="6042"/>
                  </a:lnTo>
                  <a:lnTo>
                    <a:pt x="41309" y="0"/>
                  </a:lnTo>
                  <a:lnTo>
                    <a:pt x="47625" y="0"/>
                  </a:lnTo>
                  <a:lnTo>
                    <a:pt x="720690" y="0"/>
                  </a:lnTo>
                  <a:lnTo>
                    <a:pt x="755957" y="23564"/>
                  </a:lnTo>
                  <a:lnTo>
                    <a:pt x="761999" y="41309"/>
                  </a:lnTo>
                  <a:lnTo>
                    <a:pt x="761999" y="339690"/>
                  </a:lnTo>
                  <a:lnTo>
                    <a:pt x="738434" y="374957"/>
                  </a:lnTo>
                  <a:lnTo>
                    <a:pt x="726765" y="379791"/>
                  </a:lnTo>
                  <a:lnTo>
                    <a:pt x="720690" y="380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7800974" y="1924049"/>
              <a:ext cx="762000" cy="381000"/>
            </a:xfrm>
            <a:custGeom>
              <a:avLst/>
              <a:gdLst/>
              <a:ahLst/>
              <a:cxnLst/>
              <a:rect l="l" t="t" r="r" b="b"/>
              <a:pathLst>
                <a:path w="762000" h="381000">
                  <a:moveTo>
                    <a:pt x="47625" y="0"/>
                  </a:moveTo>
                  <a:lnTo>
                    <a:pt x="714375" y="0"/>
                  </a:lnTo>
                  <a:lnTo>
                    <a:pt x="720690" y="0"/>
                  </a:lnTo>
                  <a:lnTo>
                    <a:pt x="726765" y="1208"/>
                  </a:lnTo>
                  <a:lnTo>
                    <a:pt x="758374" y="29399"/>
                  </a:lnTo>
                  <a:lnTo>
                    <a:pt x="762000" y="47624"/>
                  </a:lnTo>
                  <a:lnTo>
                    <a:pt x="762000" y="333374"/>
                  </a:lnTo>
                  <a:lnTo>
                    <a:pt x="743585" y="371516"/>
                  </a:lnTo>
                  <a:lnTo>
                    <a:pt x="714375" y="380999"/>
                  </a:lnTo>
                  <a:lnTo>
                    <a:pt x="47625" y="380999"/>
                  </a:lnTo>
                  <a:lnTo>
                    <a:pt x="13949" y="367050"/>
                  </a:lnTo>
                  <a:lnTo>
                    <a:pt x="9483" y="362585"/>
                  </a:lnTo>
                  <a:lnTo>
                    <a:pt x="6042" y="357434"/>
                  </a:lnTo>
                  <a:lnTo>
                    <a:pt x="3625" y="351600"/>
                  </a:lnTo>
                  <a:lnTo>
                    <a:pt x="1208" y="345765"/>
                  </a:lnTo>
                  <a:lnTo>
                    <a:pt x="0" y="339690"/>
                  </a:lnTo>
                  <a:lnTo>
                    <a:pt x="0" y="333374"/>
                  </a:lnTo>
                  <a:lnTo>
                    <a:pt x="0" y="47624"/>
                  </a:lnTo>
                  <a:lnTo>
                    <a:pt x="13949" y="13949"/>
                  </a:lnTo>
                  <a:lnTo>
                    <a:pt x="18414" y="9483"/>
                  </a:lnTo>
                  <a:lnTo>
                    <a:pt x="23564" y="6042"/>
                  </a:lnTo>
                  <a:lnTo>
                    <a:pt x="29399" y="3625"/>
                  </a:lnTo>
                  <a:lnTo>
                    <a:pt x="35234" y="1208"/>
                  </a:lnTo>
                  <a:lnTo>
                    <a:pt x="41309" y="0"/>
                  </a:lnTo>
                  <a:lnTo>
                    <a:pt x="47625" y="0"/>
                  </a:lnTo>
                  <a:close/>
                </a:path>
              </a:pathLst>
            </a:custGeom>
            <a:ln w="14287">
              <a:solidFill>
                <a:srgbClr val="0045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7795121" y="4424759"/>
            <a:ext cx="1407160" cy="3041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ts val="869"/>
              </a:lnSpc>
              <a:spcBef>
                <a:spcPts val="135"/>
              </a:spcBef>
            </a:pPr>
            <a:r>
              <a:rPr dirty="0" sz="800" spc="-30">
                <a:solidFill>
                  <a:srgbClr val="F59D0A"/>
                </a:solidFill>
                <a:latin typeface="Roboto"/>
                <a:cs typeface="Roboto"/>
              </a:rPr>
              <a:t>Load</a:t>
            </a:r>
            <a:r>
              <a:rPr dirty="0" sz="800" spc="-15">
                <a:solidFill>
                  <a:srgbClr val="F59D0A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F59D0A"/>
                </a:solidFill>
                <a:latin typeface="Roboto"/>
                <a:cs typeface="Roboto"/>
              </a:rPr>
              <a:t>Change</a:t>
            </a:r>
            <a:endParaRPr sz="800">
              <a:latin typeface="Roboto"/>
              <a:cs typeface="Roboto"/>
            </a:endParaRPr>
          </a:p>
          <a:p>
            <a:pPr algn="r" marR="5080">
              <a:lnSpc>
                <a:spcPts val="1290"/>
              </a:lnSpc>
            </a:pPr>
            <a:r>
              <a:rPr dirty="0" sz="1150" spc="-20">
                <a:solidFill>
                  <a:srgbClr val="333333"/>
                </a:solidFill>
                <a:latin typeface="Roboto"/>
                <a:cs typeface="Roboto"/>
              </a:rPr>
              <a:t>Time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7259637" y="2938208"/>
            <a:ext cx="154305" cy="63881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115"/>
              </a:lnSpc>
            </a:pPr>
            <a:r>
              <a:rPr dirty="0" sz="1150" spc="-55">
                <a:solidFill>
                  <a:srgbClr val="333333"/>
                </a:solidFill>
                <a:latin typeface="Roboto"/>
                <a:cs typeface="Roboto"/>
              </a:rPr>
              <a:t>Frequency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7256512" y="3164036"/>
            <a:ext cx="271780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-45">
                <a:solidFill>
                  <a:srgbClr val="333333"/>
                </a:solidFill>
                <a:latin typeface="Roboto"/>
                <a:cs typeface="Roboto"/>
              </a:rPr>
              <a:t>50</a:t>
            </a:r>
            <a:r>
              <a:rPr dirty="0" sz="8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800" spc="-25">
                <a:solidFill>
                  <a:srgbClr val="333333"/>
                </a:solidFill>
                <a:latin typeface="Roboto"/>
                <a:cs typeface="Roboto"/>
              </a:rPr>
              <a:t>Hz</a:t>
            </a:r>
            <a:endParaRPr sz="800">
              <a:latin typeface="Roboto"/>
              <a:cs typeface="Roboto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9039224" y="4781549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299" y="114299"/>
                </a:moveTo>
                <a:lnTo>
                  <a:pt x="0" y="114299"/>
                </a:lnTo>
                <a:lnTo>
                  <a:pt x="0" y="0"/>
                </a:lnTo>
                <a:lnTo>
                  <a:pt x="114299" y="0"/>
                </a:lnTo>
                <a:lnTo>
                  <a:pt x="114299" y="114299"/>
                </a:lnTo>
                <a:close/>
              </a:path>
            </a:pathLst>
          </a:custGeom>
          <a:solidFill>
            <a:srgbClr val="E11C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9188450" y="4767153"/>
            <a:ext cx="64833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5">
                <a:solidFill>
                  <a:srgbClr val="333333"/>
                </a:solidFill>
                <a:latin typeface="Roboto"/>
                <a:cs typeface="Roboto"/>
              </a:rPr>
              <a:t>Without</a:t>
            </a:r>
            <a:r>
              <a:rPr dirty="0" sz="10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000" spc="-35">
                <a:solidFill>
                  <a:srgbClr val="333333"/>
                </a:solidFill>
                <a:latin typeface="Roboto"/>
                <a:cs typeface="Roboto"/>
              </a:rPr>
              <a:t>LFC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32" name="object 32" descr=""/>
          <p:cNvSpPr/>
          <p:nvPr/>
        </p:nvSpPr>
        <p:spPr>
          <a:xfrm>
            <a:off x="7896225" y="4781549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299" y="114299"/>
                </a:moveTo>
                <a:lnTo>
                  <a:pt x="0" y="114299"/>
                </a:lnTo>
                <a:lnTo>
                  <a:pt x="0" y="0"/>
                </a:lnTo>
                <a:lnTo>
                  <a:pt x="114299" y="0"/>
                </a:lnTo>
                <a:lnTo>
                  <a:pt x="114299" y="114299"/>
                </a:lnTo>
                <a:close/>
              </a:path>
            </a:pathLst>
          </a:custGeom>
          <a:solidFill>
            <a:srgbClr val="0045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 txBox="1"/>
          <p:nvPr/>
        </p:nvSpPr>
        <p:spPr>
          <a:xfrm>
            <a:off x="8045450" y="4767153"/>
            <a:ext cx="48260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60">
                <a:solidFill>
                  <a:srgbClr val="333333"/>
                </a:solidFill>
                <a:latin typeface="Roboto"/>
                <a:cs typeface="Roboto"/>
              </a:rPr>
              <a:t>With</a:t>
            </a:r>
            <a:r>
              <a:rPr dirty="0" sz="10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000" spc="-40">
                <a:solidFill>
                  <a:srgbClr val="333333"/>
                </a:solidFill>
                <a:latin typeface="Roboto"/>
                <a:cs typeface="Roboto"/>
              </a:rPr>
              <a:t>LFC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8005415" y="2026167"/>
            <a:ext cx="353060" cy="1739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50" spc="-35">
                <a:solidFill>
                  <a:srgbClr val="0045A5"/>
                </a:solidFill>
                <a:latin typeface="Helvetica Neue World"/>
                <a:cs typeface="Helvetica Neue World"/>
              </a:rPr>
              <a:t>Area </a:t>
            </a:r>
            <a:r>
              <a:rPr dirty="0" sz="950" spc="-50">
                <a:solidFill>
                  <a:srgbClr val="0045A5"/>
                </a:solidFill>
                <a:latin typeface="Helvetica Neue World"/>
                <a:cs typeface="Helvetica Neue World"/>
              </a:rPr>
              <a:t>1</a:t>
            </a:r>
            <a:endParaRPr sz="950">
              <a:latin typeface="Helvetica Neue World"/>
              <a:cs typeface="Helvetica Neue World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9508171" y="1916747"/>
            <a:ext cx="776605" cy="395605"/>
            <a:chOff x="9508171" y="1916747"/>
            <a:chExt cx="776605" cy="395605"/>
          </a:xfrm>
        </p:grpSpPr>
        <p:sp>
          <p:nvSpPr>
            <p:cNvPr id="36" name="object 36" descr=""/>
            <p:cNvSpPr/>
            <p:nvPr/>
          </p:nvSpPr>
          <p:spPr>
            <a:xfrm>
              <a:off x="9515474" y="1924049"/>
              <a:ext cx="762000" cy="381000"/>
            </a:xfrm>
            <a:custGeom>
              <a:avLst/>
              <a:gdLst/>
              <a:ahLst/>
              <a:cxnLst/>
              <a:rect l="l" t="t" r="r" b="b"/>
              <a:pathLst>
                <a:path w="762000" h="381000">
                  <a:moveTo>
                    <a:pt x="720690" y="380999"/>
                  </a:moveTo>
                  <a:lnTo>
                    <a:pt x="41309" y="380999"/>
                  </a:lnTo>
                  <a:lnTo>
                    <a:pt x="35234" y="379791"/>
                  </a:lnTo>
                  <a:lnTo>
                    <a:pt x="1208" y="345765"/>
                  </a:lnTo>
                  <a:lnTo>
                    <a:pt x="0" y="339690"/>
                  </a:lnTo>
                  <a:lnTo>
                    <a:pt x="0" y="41309"/>
                  </a:lnTo>
                  <a:lnTo>
                    <a:pt x="23564" y="6042"/>
                  </a:lnTo>
                  <a:lnTo>
                    <a:pt x="41309" y="0"/>
                  </a:lnTo>
                  <a:lnTo>
                    <a:pt x="47625" y="0"/>
                  </a:lnTo>
                  <a:lnTo>
                    <a:pt x="720690" y="0"/>
                  </a:lnTo>
                  <a:lnTo>
                    <a:pt x="755957" y="23564"/>
                  </a:lnTo>
                  <a:lnTo>
                    <a:pt x="761999" y="41309"/>
                  </a:lnTo>
                  <a:lnTo>
                    <a:pt x="761999" y="339690"/>
                  </a:lnTo>
                  <a:lnTo>
                    <a:pt x="738434" y="374957"/>
                  </a:lnTo>
                  <a:lnTo>
                    <a:pt x="726765" y="379791"/>
                  </a:lnTo>
                  <a:lnTo>
                    <a:pt x="720690" y="380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9515474" y="1924049"/>
              <a:ext cx="762000" cy="381000"/>
            </a:xfrm>
            <a:custGeom>
              <a:avLst/>
              <a:gdLst/>
              <a:ahLst/>
              <a:cxnLst/>
              <a:rect l="l" t="t" r="r" b="b"/>
              <a:pathLst>
                <a:path w="762000" h="381000">
                  <a:moveTo>
                    <a:pt x="47625" y="0"/>
                  </a:moveTo>
                  <a:lnTo>
                    <a:pt x="714375" y="0"/>
                  </a:lnTo>
                  <a:lnTo>
                    <a:pt x="720690" y="0"/>
                  </a:lnTo>
                  <a:lnTo>
                    <a:pt x="726765" y="1208"/>
                  </a:lnTo>
                  <a:lnTo>
                    <a:pt x="732600" y="3625"/>
                  </a:lnTo>
                  <a:lnTo>
                    <a:pt x="738434" y="6042"/>
                  </a:lnTo>
                  <a:lnTo>
                    <a:pt x="743585" y="9483"/>
                  </a:lnTo>
                  <a:lnTo>
                    <a:pt x="748050" y="13949"/>
                  </a:lnTo>
                  <a:lnTo>
                    <a:pt x="752516" y="18414"/>
                  </a:lnTo>
                  <a:lnTo>
                    <a:pt x="755957" y="23564"/>
                  </a:lnTo>
                  <a:lnTo>
                    <a:pt x="758374" y="29399"/>
                  </a:lnTo>
                  <a:lnTo>
                    <a:pt x="760791" y="35234"/>
                  </a:lnTo>
                  <a:lnTo>
                    <a:pt x="761999" y="41309"/>
                  </a:lnTo>
                  <a:lnTo>
                    <a:pt x="762000" y="47624"/>
                  </a:lnTo>
                  <a:lnTo>
                    <a:pt x="762000" y="333374"/>
                  </a:lnTo>
                  <a:lnTo>
                    <a:pt x="761999" y="339690"/>
                  </a:lnTo>
                  <a:lnTo>
                    <a:pt x="760791" y="345765"/>
                  </a:lnTo>
                  <a:lnTo>
                    <a:pt x="758374" y="351600"/>
                  </a:lnTo>
                  <a:lnTo>
                    <a:pt x="755957" y="357434"/>
                  </a:lnTo>
                  <a:lnTo>
                    <a:pt x="720690" y="380999"/>
                  </a:lnTo>
                  <a:lnTo>
                    <a:pt x="714375" y="380999"/>
                  </a:lnTo>
                  <a:lnTo>
                    <a:pt x="47625" y="380999"/>
                  </a:lnTo>
                  <a:lnTo>
                    <a:pt x="13948" y="367050"/>
                  </a:lnTo>
                  <a:lnTo>
                    <a:pt x="9483" y="362585"/>
                  </a:lnTo>
                  <a:lnTo>
                    <a:pt x="6041" y="357434"/>
                  </a:lnTo>
                  <a:lnTo>
                    <a:pt x="3625" y="351600"/>
                  </a:lnTo>
                  <a:lnTo>
                    <a:pt x="1208" y="345765"/>
                  </a:lnTo>
                  <a:lnTo>
                    <a:pt x="0" y="339690"/>
                  </a:lnTo>
                  <a:lnTo>
                    <a:pt x="0" y="333374"/>
                  </a:lnTo>
                  <a:lnTo>
                    <a:pt x="0" y="47624"/>
                  </a:lnTo>
                  <a:lnTo>
                    <a:pt x="13948" y="13949"/>
                  </a:lnTo>
                  <a:lnTo>
                    <a:pt x="18414" y="9483"/>
                  </a:lnTo>
                  <a:lnTo>
                    <a:pt x="23564" y="6042"/>
                  </a:lnTo>
                  <a:lnTo>
                    <a:pt x="29399" y="3625"/>
                  </a:lnTo>
                  <a:lnTo>
                    <a:pt x="35234" y="1208"/>
                  </a:lnTo>
                  <a:lnTo>
                    <a:pt x="41309" y="0"/>
                  </a:lnTo>
                  <a:lnTo>
                    <a:pt x="47625" y="0"/>
                  </a:lnTo>
                  <a:close/>
                </a:path>
              </a:pathLst>
            </a:custGeom>
            <a:ln w="14287">
              <a:solidFill>
                <a:srgbClr val="0045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 descr=""/>
          <p:cNvSpPr txBox="1"/>
          <p:nvPr/>
        </p:nvSpPr>
        <p:spPr>
          <a:xfrm>
            <a:off x="9719915" y="2026167"/>
            <a:ext cx="353060" cy="1739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50" spc="-35">
                <a:solidFill>
                  <a:srgbClr val="0045A5"/>
                </a:solidFill>
                <a:latin typeface="Helvetica Neue World"/>
                <a:cs typeface="Helvetica Neue World"/>
              </a:rPr>
              <a:t>Area </a:t>
            </a:r>
            <a:r>
              <a:rPr dirty="0" sz="950" spc="-50">
                <a:solidFill>
                  <a:srgbClr val="0045A5"/>
                </a:solidFill>
                <a:latin typeface="Helvetica Neue World"/>
                <a:cs typeface="Helvetica Neue World"/>
              </a:rPr>
              <a:t>2</a:t>
            </a:r>
            <a:endParaRPr sz="950">
              <a:latin typeface="Helvetica Neue World"/>
              <a:cs typeface="Helvetica Neue World"/>
            </a:endParaRPr>
          </a:p>
        </p:txBody>
      </p:sp>
      <p:sp>
        <p:nvSpPr>
          <p:cNvPr id="39" name="object 39" descr=""/>
          <p:cNvSpPr/>
          <p:nvPr/>
        </p:nvSpPr>
        <p:spPr>
          <a:xfrm>
            <a:off x="8562974" y="2114549"/>
            <a:ext cx="952500" cy="0"/>
          </a:xfrm>
          <a:custGeom>
            <a:avLst/>
            <a:gdLst/>
            <a:ahLst/>
            <a:cxnLst/>
            <a:rect l="l" t="t" r="r" b="b"/>
            <a:pathLst>
              <a:path w="952500" h="0">
                <a:moveTo>
                  <a:pt x="0" y="0"/>
                </a:moveTo>
                <a:lnTo>
                  <a:pt x="952499" y="0"/>
                </a:lnTo>
              </a:path>
            </a:pathLst>
          </a:custGeom>
          <a:ln w="19049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 txBox="1"/>
          <p:nvPr/>
        </p:nvSpPr>
        <p:spPr>
          <a:xfrm>
            <a:off x="8873380" y="1900634"/>
            <a:ext cx="332105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-35">
                <a:solidFill>
                  <a:srgbClr val="333333"/>
                </a:solidFill>
                <a:latin typeface="Roboto"/>
                <a:cs typeface="Roboto"/>
              </a:rPr>
              <a:t>Tie-</a:t>
            </a:r>
            <a:r>
              <a:rPr dirty="0" sz="800" spc="-20">
                <a:solidFill>
                  <a:srgbClr val="333333"/>
                </a:solidFill>
                <a:latin typeface="Roboto"/>
                <a:cs typeface="Roboto"/>
              </a:rPr>
              <a:t>line</a:t>
            </a:r>
            <a:endParaRPr sz="800">
              <a:latin typeface="Roboto"/>
              <a:cs typeface="Roboto"/>
            </a:endParaRPr>
          </a:p>
        </p:txBody>
      </p:sp>
      <p:sp>
        <p:nvSpPr>
          <p:cNvPr id="41" name="object 41" descr=""/>
          <p:cNvSpPr/>
          <p:nvPr/>
        </p:nvSpPr>
        <p:spPr>
          <a:xfrm>
            <a:off x="11125187" y="552779"/>
            <a:ext cx="242570" cy="100330"/>
          </a:xfrm>
          <a:custGeom>
            <a:avLst/>
            <a:gdLst/>
            <a:ahLst/>
            <a:cxnLst/>
            <a:rect l="l" t="t" r="r" b="b"/>
            <a:pathLst>
              <a:path w="242570" h="100329">
                <a:moveTo>
                  <a:pt x="48107" y="393"/>
                </a:moveTo>
                <a:lnTo>
                  <a:pt x="0" y="393"/>
                </a:lnTo>
                <a:lnTo>
                  <a:pt x="0" y="13093"/>
                </a:lnTo>
                <a:lnTo>
                  <a:pt x="0" y="43573"/>
                </a:lnTo>
                <a:lnTo>
                  <a:pt x="0" y="56273"/>
                </a:lnTo>
                <a:lnTo>
                  <a:pt x="0" y="99453"/>
                </a:lnTo>
                <a:lnTo>
                  <a:pt x="15989" y="99453"/>
                </a:lnTo>
                <a:lnTo>
                  <a:pt x="15989" y="56273"/>
                </a:lnTo>
                <a:lnTo>
                  <a:pt x="44869" y="56273"/>
                </a:lnTo>
                <a:lnTo>
                  <a:pt x="44869" y="43573"/>
                </a:lnTo>
                <a:lnTo>
                  <a:pt x="15989" y="43573"/>
                </a:lnTo>
                <a:lnTo>
                  <a:pt x="15989" y="13093"/>
                </a:lnTo>
                <a:lnTo>
                  <a:pt x="48107" y="13093"/>
                </a:lnTo>
                <a:lnTo>
                  <a:pt x="48107" y="393"/>
                </a:lnTo>
                <a:close/>
              </a:path>
              <a:path w="242570" h="100329">
                <a:moveTo>
                  <a:pt x="77597" y="0"/>
                </a:moveTo>
                <a:lnTo>
                  <a:pt x="61620" y="0"/>
                </a:lnTo>
                <a:lnTo>
                  <a:pt x="61620" y="99847"/>
                </a:lnTo>
                <a:lnTo>
                  <a:pt x="77597" y="99847"/>
                </a:lnTo>
                <a:lnTo>
                  <a:pt x="77597" y="0"/>
                </a:lnTo>
                <a:close/>
              </a:path>
              <a:path w="242570" h="100329">
                <a:moveTo>
                  <a:pt x="144843" y="393"/>
                </a:moveTo>
                <a:lnTo>
                  <a:pt x="96748" y="393"/>
                </a:lnTo>
                <a:lnTo>
                  <a:pt x="96748" y="13093"/>
                </a:lnTo>
                <a:lnTo>
                  <a:pt x="96748" y="43573"/>
                </a:lnTo>
                <a:lnTo>
                  <a:pt x="96748" y="56273"/>
                </a:lnTo>
                <a:lnTo>
                  <a:pt x="96748" y="86753"/>
                </a:lnTo>
                <a:lnTo>
                  <a:pt x="96748" y="99453"/>
                </a:lnTo>
                <a:lnTo>
                  <a:pt x="144843" y="99453"/>
                </a:lnTo>
                <a:lnTo>
                  <a:pt x="144843" y="86753"/>
                </a:lnTo>
                <a:lnTo>
                  <a:pt x="112725" y="86753"/>
                </a:lnTo>
                <a:lnTo>
                  <a:pt x="112725" y="56273"/>
                </a:lnTo>
                <a:lnTo>
                  <a:pt x="141605" y="56273"/>
                </a:lnTo>
                <a:lnTo>
                  <a:pt x="141605" y="43573"/>
                </a:lnTo>
                <a:lnTo>
                  <a:pt x="112725" y="43573"/>
                </a:lnTo>
                <a:lnTo>
                  <a:pt x="112725" y="13093"/>
                </a:lnTo>
                <a:lnTo>
                  <a:pt x="144843" y="13093"/>
                </a:lnTo>
                <a:lnTo>
                  <a:pt x="144843" y="393"/>
                </a:lnTo>
                <a:close/>
              </a:path>
              <a:path w="242570" h="100329">
                <a:moveTo>
                  <a:pt x="208483" y="393"/>
                </a:moveTo>
                <a:lnTo>
                  <a:pt x="160375" y="393"/>
                </a:lnTo>
                <a:lnTo>
                  <a:pt x="160375" y="13093"/>
                </a:lnTo>
                <a:lnTo>
                  <a:pt x="160375" y="43573"/>
                </a:lnTo>
                <a:lnTo>
                  <a:pt x="160375" y="56273"/>
                </a:lnTo>
                <a:lnTo>
                  <a:pt x="160375" y="86753"/>
                </a:lnTo>
                <a:lnTo>
                  <a:pt x="160375" y="99453"/>
                </a:lnTo>
                <a:lnTo>
                  <a:pt x="208483" y="99453"/>
                </a:lnTo>
                <a:lnTo>
                  <a:pt x="208483" y="86753"/>
                </a:lnTo>
                <a:lnTo>
                  <a:pt x="176364" y="86753"/>
                </a:lnTo>
                <a:lnTo>
                  <a:pt x="176364" y="56273"/>
                </a:lnTo>
                <a:lnTo>
                  <a:pt x="205244" y="56273"/>
                </a:lnTo>
                <a:lnTo>
                  <a:pt x="205244" y="43573"/>
                </a:lnTo>
                <a:lnTo>
                  <a:pt x="176364" y="43573"/>
                </a:lnTo>
                <a:lnTo>
                  <a:pt x="176364" y="13093"/>
                </a:lnTo>
                <a:lnTo>
                  <a:pt x="208483" y="13093"/>
                </a:lnTo>
                <a:lnTo>
                  <a:pt x="208483" y="393"/>
                </a:lnTo>
                <a:close/>
              </a:path>
              <a:path w="242570" h="100329">
                <a:moveTo>
                  <a:pt x="242557" y="0"/>
                </a:moveTo>
                <a:lnTo>
                  <a:pt x="226580" y="0"/>
                </a:lnTo>
                <a:lnTo>
                  <a:pt x="226580" y="99847"/>
                </a:lnTo>
                <a:lnTo>
                  <a:pt x="242557" y="99847"/>
                </a:lnTo>
                <a:lnTo>
                  <a:pt x="242557" y="0"/>
                </a:lnTo>
                <a:close/>
              </a:path>
            </a:pathLst>
          </a:custGeom>
          <a:solidFill>
            <a:srgbClr val="0045A5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2" name="object 42" descr=""/>
          <p:cNvGrpSpPr/>
          <p:nvPr/>
        </p:nvGrpSpPr>
        <p:grpSpPr>
          <a:xfrm>
            <a:off x="10544174" y="6343649"/>
            <a:ext cx="1457325" cy="323850"/>
            <a:chOff x="10544174" y="6343649"/>
            <a:chExt cx="1457325" cy="323850"/>
          </a:xfrm>
        </p:grpSpPr>
        <p:sp>
          <p:nvSpPr>
            <p:cNvPr id="43" name="object 43" descr=""/>
            <p:cNvSpPr/>
            <p:nvPr/>
          </p:nvSpPr>
          <p:spPr>
            <a:xfrm>
              <a:off x="10544174" y="634364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584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45" name="object 4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75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50"/>
              <a:t>Genspark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6743699"/>
            <a:ext cx="12192000" cy="114300"/>
          </a:xfrm>
          <a:custGeom>
            <a:avLst/>
            <a:gdLst/>
            <a:ahLst/>
            <a:cxnLst/>
            <a:rect l="l" t="t" r="r" b="b"/>
            <a:pathLst>
              <a:path w="12192000" h="114300">
                <a:moveTo>
                  <a:pt x="12191999" y="114299"/>
                </a:moveTo>
                <a:lnTo>
                  <a:pt x="0" y="1142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114299"/>
                </a:lnTo>
                <a:close/>
              </a:path>
            </a:pathLst>
          </a:custGeom>
          <a:solidFill>
            <a:srgbClr val="0045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1700" y="682720"/>
            <a:ext cx="5428615" cy="10541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100"/>
              </a:spcBef>
            </a:pPr>
            <a:r>
              <a:rPr dirty="0" spc="-160"/>
              <a:t>Motivation</a:t>
            </a:r>
            <a:r>
              <a:rPr dirty="0" spc="-40"/>
              <a:t> </a:t>
            </a:r>
            <a:r>
              <a:rPr dirty="0" spc="-204"/>
              <a:t>&amp;</a:t>
            </a:r>
            <a:r>
              <a:rPr dirty="0" spc="-35"/>
              <a:t> </a:t>
            </a:r>
            <a:r>
              <a:rPr dirty="0" spc="-165"/>
              <a:t>Challenges</a:t>
            </a:r>
            <a:r>
              <a:rPr dirty="0" spc="-40"/>
              <a:t> </a:t>
            </a:r>
            <a:r>
              <a:rPr dirty="0" spc="-130"/>
              <a:t>in</a:t>
            </a:r>
            <a:r>
              <a:rPr dirty="0" spc="-35"/>
              <a:t> </a:t>
            </a:r>
            <a:r>
              <a:rPr dirty="0" spc="-170"/>
              <a:t>Modern </a:t>
            </a:r>
            <a:r>
              <a:rPr dirty="0" spc="-10"/>
              <a:t>Grids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2165810"/>
            <a:ext cx="183228" cy="183228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240581" y="2074036"/>
            <a:ext cx="4271010" cy="3105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850" spc="-100">
                <a:latin typeface="Roboto"/>
                <a:cs typeface="Roboto"/>
              </a:rPr>
              <a:t>Rapid</a:t>
            </a:r>
            <a:r>
              <a:rPr dirty="0" sz="1850" spc="-25">
                <a:latin typeface="Roboto"/>
                <a:cs typeface="Roboto"/>
              </a:rPr>
              <a:t> </a:t>
            </a:r>
            <a:r>
              <a:rPr dirty="0" sz="1850" spc="-105">
                <a:latin typeface="Roboto"/>
                <a:cs typeface="Roboto"/>
              </a:rPr>
              <a:t>growth</a:t>
            </a:r>
            <a:r>
              <a:rPr dirty="0" sz="1850" spc="-20">
                <a:latin typeface="Roboto"/>
                <a:cs typeface="Roboto"/>
              </a:rPr>
              <a:t> </a:t>
            </a:r>
            <a:r>
              <a:rPr dirty="0" sz="1850" spc="-85">
                <a:latin typeface="Roboto"/>
                <a:cs typeface="Roboto"/>
              </a:rPr>
              <a:t>of</a:t>
            </a:r>
            <a:r>
              <a:rPr dirty="0" sz="1850" spc="-25">
                <a:latin typeface="Roboto"/>
                <a:cs typeface="Roboto"/>
              </a:rPr>
              <a:t> </a:t>
            </a:r>
            <a:r>
              <a:rPr dirty="0" sz="1850" spc="-105">
                <a:latin typeface="Roboto"/>
                <a:cs typeface="Roboto"/>
              </a:rPr>
              <a:t>wind</a:t>
            </a:r>
            <a:r>
              <a:rPr dirty="0" sz="1850" spc="-20">
                <a:latin typeface="Roboto"/>
                <a:cs typeface="Roboto"/>
              </a:rPr>
              <a:t> </a:t>
            </a:r>
            <a:r>
              <a:rPr dirty="0" sz="1850" spc="-110">
                <a:latin typeface="Roboto"/>
                <a:cs typeface="Roboto"/>
              </a:rPr>
              <a:t>and</a:t>
            </a:r>
            <a:r>
              <a:rPr dirty="0" sz="1850" spc="-25">
                <a:latin typeface="Roboto"/>
                <a:cs typeface="Roboto"/>
              </a:rPr>
              <a:t> </a:t>
            </a:r>
            <a:r>
              <a:rPr dirty="0" sz="1850" spc="-100">
                <a:latin typeface="Roboto"/>
                <a:cs typeface="Roboto"/>
              </a:rPr>
              <a:t>renewable</a:t>
            </a:r>
            <a:r>
              <a:rPr dirty="0" sz="1850" spc="-20">
                <a:latin typeface="Roboto"/>
                <a:cs typeface="Roboto"/>
              </a:rPr>
              <a:t> </a:t>
            </a:r>
            <a:r>
              <a:rPr dirty="0" sz="1850" spc="-45">
                <a:latin typeface="Roboto"/>
                <a:cs typeface="Roboto"/>
              </a:rPr>
              <a:t>sources</a:t>
            </a:r>
            <a:endParaRPr sz="1850">
              <a:latin typeface="Roboto"/>
              <a:cs typeface="Roboto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2870660"/>
            <a:ext cx="183228" cy="183228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240581" y="2596997"/>
            <a:ext cx="4763135" cy="6540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1500"/>
              </a:lnSpc>
              <a:spcBef>
                <a:spcPts val="95"/>
              </a:spcBef>
            </a:pPr>
            <a:r>
              <a:rPr dirty="0" sz="1850" spc="-95">
                <a:latin typeface="Roboto"/>
                <a:cs typeface="Roboto"/>
              </a:rPr>
              <a:t>Conventional</a:t>
            </a:r>
            <a:r>
              <a:rPr dirty="0" sz="1850" spc="10">
                <a:latin typeface="Roboto"/>
                <a:cs typeface="Roboto"/>
              </a:rPr>
              <a:t> </a:t>
            </a:r>
            <a:r>
              <a:rPr dirty="0" sz="1850" spc="-85">
                <a:latin typeface="Roboto"/>
                <a:cs typeface="Roboto"/>
              </a:rPr>
              <a:t>controllers</a:t>
            </a:r>
            <a:r>
              <a:rPr dirty="0" sz="1850" spc="10">
                <a:latin typeface="Roboto"/>
                <a:cs typeface="Roboto"/>
              </a:rPr>
              <a:t> </a:t>
            </a:r>
            <a:r>
              <a:rPr dirty="0" sz="1850" spc="-95">
                <a:latin typeface="Roboto"/>
                <a:cs typeface="Roboto"/>
              </a:rPr>
              <a:t>often</a:t>
            </a:r>
            <a:r>
              <a:rPr dirty="0" sz="1850" spc="10">
                <a:latin typeface="Roboto"/>
                <a:cs typeface="Roboto"/>
              </a:rPr>
              <a:t> </a:t>
            </a:r>
            <a:r>
              <a:rPr dirty="0" sz="1850" spc="-105">
                <a:latin typeface="Roboto"/>
                <a:cs typeface="Roboto"/>
              </a:rPr>
              <a:t>underperform</a:t>
            </a:r>
            <a:r>
              <a:rPr dirty="0" sz="1850" spc="10">
                <a:latin typeface="Roboto"/>
                <a:cs typeface="Roboto"/>
              </a:rPr>
              <a:t> </a:t>
            </a:r>
            <a:r>
              <a:rPr dirty="0" sz="1850" spc="-20">
                <a:latin typeface="Roboto"/>
                <a:cs typeface="Roboto"/>
              </a:rPr>
              <a:t>amid </a:t>
            </a:r>
            <a:r>
              <a:rPr dirty="0" sz="1850" spc="-95">
                <a:latin typeface="Roboto"/>
                <a:cs typeface="Roboto"/>
              </a:rPr>
              <a:t>disturbances</a:t>
            </a:r>
            <a:r>
              <a:rPr dirty="0" sz="1850" spc="-15">
                <a:latin typeface="Roboto"/>
                <a:cs typeface="Roboto"/>
              </a:rPr>
              <a:t> </a:t>
            </a:r>
            <a:r>
              <a:rPr dirty="0" sz="1850" spc="-110">
                <a:latin typeface="Roboto"/>
                <a:cs typeface="Roboto"/>
              </a:rPr>
              <a:t>and</a:t>
            </a:r>
            <a:r>
              <a:rPr dirty="0" sz="1850" spc="-15">
                <a:latin typeface="Roboto"/>
                <a:cs typeface="Roboto"/>
              </a:rPr>
              <a:t> </a:t>
            </a:r>
            <a:r>
              <a:rPr dirty="0" sz="1850" spc="-10">
                <a:latin typeface="Roboto"/>
                <a:cs typeface="Roboto"/>
              </a:rPr>
              <a:t>uncertainties</a:t>
            </a:r>
            <a:endParaRPr sz="1850">
              <a:latin typeface="Roboto"/>
              <a:cs typeface="Roboto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3737669"/>
            <a:ext cx="186481" cy="18648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240581" y="3463772"/>
            <a:ext cx="5194300" cy="6540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1500"/>
              </a:lnSpc>
              <a:spcBef>
                <a:spcPts val="95"/>
              </a:spcBef>
            </a:pPr>
            <a:r>
              <a:rPr dirty="0" sz="1850" spc="-95">
                <a:latin typeface="Roboto"/>
                <a:cs typeface="Roboto"/>
              </a:rPr>
              <a:t>Requirement:</a:t>
            </a:r>
            <a:r>
              <a:rPr dirty="0" sz="1850" spc="-15">
                <a:latin typeface="Roboto"/>
                <a:cs typeface="Roboto"/>
              </a:rPr>
              <a:t> </a:t>
            </a:r>
            <a:r>
              <a:rPr dirty="0" sz="1850" spc="-95">
                <a:latin typeface="Roboto"/>
                <a:cs typeface="Roboto"/>
              </a:rPr>
              <a:t>Adaptive,</a:t>
            </a:r>
            <a:r>
              <a:rPr dirty="0" sz="1850" spc="-10">
                <a:latin typeface="Roboto"/>
                <a:cs typeface="Roboto"/>
              </a:rPr>
              <a:t> </a:t>
            </a:r>
            <a:r>
              <a:rPr dirty="0" sz="1850" spc="-95">
                <a:latin typeface="Roboto"/>
                <a:cs typeface="Roboto"/>
              </a:rPr>
              <a:t>optimal</a:t>
            </a:r>
            <a:r>
              <a:rPr dirty="0" sz="1850" spc="-10">
                <a:latin typeface="Roboto"/>
                <a:cs typeface="Roboto"/>
              </a:rPr>
              <a:t> </a:t>
            </a:r>
            <a:r>
              <a:rPr dirty="0" sz="1850" spc="-90">
                <a:latin typeface="Roboto"/>
                <a:cs typeface="Roboto"/>
              </a:rPr>
              <a:t>strategies</a:t>
            </a:r>
            <a:r>
              <a:rPr dirty="0" sz="1850" spc="-10">
                <a:latin typeface="Roboto"/>
                <a:cs typeface="Roboto"/>
              </a:rPr>
              <a:t> </a:t>
            </a:r>
            <a:r>
              <a:rPr dirty="0" sz="1850" spc="-80">
                <a:latin typeface="Roboto"/>
                <a:cs typeface="Roboto"/>
              </a:rPr>
              <a:t>for</a:t>
            </a:r>
            <a:r>
              <a:rPr dirty="0" sz="1850" spc="-10">
                <a:latin typeface="Roboto"/>
                <a:cs typeface="Roboto"/>
              </a:rPr>
              <a:t> </a:t>
            </a:r>
            <a:r>
              <a:rPr dirty="0" sz="1850" spc="-90">
                <a:latin typeface="Roboto"/>
                <a:cs typeface="Roboto"/>
              </a:rPr>
              <a:t>high-</a:t>
            </a:r>
            <a:r>
              <a:rPr dirty="0" sz="1850" spc="-25">
                <a:latin typeface="Roboto"/>
                <a:cs typeface="Roboto"/>
              </a:rPr>
              <a:t>RES </a:t>
            </a:r>
            <a:r>
              <a:rPr dirty="0" sz="1850" spc="-10">
                <a:latin typeface="Roboto"/>
                <a:cs typeface="Roboto"/>
              </a:rPr>
              <a:t>penetration</a:t>
            </a:r>
            <a:endParaRPr sz="1850">
              <a:latin typeface="Roboto"/>
              <a:cs typeface="Roboto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4604444"/>
            <a:ext cx="186481" cy="186481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1240581" y="4321022"/>
            <a:ext cx="4709795" cy="6731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4900"/>
              </a:lnSpc>
              <a:spcBef>
                <a:spcPts val="95"/>
              </a:spcBef>
            </a:pPr>
            <a:r>
              <a:rPr dirty="0" sz="1850" spc="-120">
                <a:latin typeface="Roboto"/>
                <a:cs typeface="Roboto"/>
              </a:rPr>
              <a:t>Key</a:t>
            </a:r>
            <a:r>
              <a:rPr dirty="0" sz="1850" spc="-25">
                <a:latin typeface="Roboto"/>
                <a:cs typeface="Roboto"/>
              </a:rPr>
              <a:t> </a:t>
            </a:r>
            <a:r>
              <a:rPr dirty="0" sz="1850" spc="-90">
                <a:latin typeface="Roboto"/>
                <a:cs typeface="Roboto"/>
              </a:rPr>
              <a:t>challenges:</a:t>
            </a:r>
            <a:r>
              <a:rPr dirty="0" sz="1850" spc="-20">
                <a:latin typeface="Roboto"/>
                <a:cs typeface="Roboto"/>
              </a:rPr>
              <a:t> </a:t>
            </a:r>
            <a:r>
              <a:rPr dirty="0" sz="1850" spc="-90">
                <a:latin typeface="Roboto"/>
                <a:cs typeface="Roboto"/>
              </a:rPr>
              <a:t>Uncertainty,</a:t>
            </a:r>
            <a:r>
              <a:rPr dirty="0" sz="1850" spc="-25">
                <a:latin typeface="Roboto"/>
                <a:cs typeface="Roboto"/>
              </a:rPr>
              <a:t> </a:t>
            </a:r>
            <a:r>
              <a:rPr dirty="0" sz="1850" spc="-85">
                <a:latin typeface="Roboto"/>
                <a:cs typeface="Roboto"/>
              </a:rPr>
              <a:t>nonlinearity,</a:t>
            </a:r>
            <a:r>
              <a:rPr dirty="0" sz="1850" spc="-20">
                <a:latin typeface="Roboto"/>
                <a:cs typeface="Roboto"/>
              </a:rPr>
              <a:t> </a:t>
            </a:r>
            <a:r>
              <a:rPr dirty="0" sz="1850" spc="-55">
                <a:latin typeface="Roboto"/>
                <a:cs typeface="Roboto"/>
              </a:rPr>
              <a:t>dynamic </a:t>
            </a:r>
            <a:r>
              <a:rPr dirty="0" sz="1850" spc="-85">
                <a:latin typeface="Roboto"/>
                <a:cs typeface="Roboto"/>
              </a:rPr>
              <a:t>coupling,</a:t>
            </a:r>
            <a:r>
              <a:rPr dirty="0" sz="1850" spc="-45">
                <a:latin typeface="Roboto"/>
                <a:cs typeface="Roboto"/>
              </a:rPr>
              <a:t> </a:t>
            </a:r>
            <a:r>
              <a:rPr dirty="0" sz="1850" spc="-10">
                <a:latin typeface="Roboto"/>
                <a:cs typeface="Roboto"/>
              </a:rPr>
              <a:t>robustness</a:t>
            </a:r>
            <a:endParaRPr sz="1850">
              <a:latin typeface="Roboto"/>
              <a:cs typeface="Roboto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7600950" y="2295524"/>
            <a:ext cx="2876550" cy="1924050"/>
            <a:chOff x="7600950" y="2295524"/>
            <a:chExt cx="2876550" cy="1924050"/>
          </a:xfrm>
        </p:grpSpPr>
        <p:sp>
          <p:nvSpPr>
            <p:cNvPr id="13" name="object 13" descr=""/>
            <p:cNvSpPr/>
            <p:nvPr/>
          </p:nvSpPr>
          <p:spPr>
            <a:xfrm>
              <a:off x="7686675" y="2305049"/>
              <a:ext cx="2781300" cy="0"/>
            </a:xfrm>
            <a:custGeom>
              <a:avLst/>
              <a:gdLst/>
              <a:ahLst/>
              <a:cxnLst/>
              <a:rect l="l" t="t" r="r" b="b"/>
              <a:pathLst>
                <a:path w="2781300" h="0">
                  <a:moveTo>
                    <a:pt x="0" y="0"/>
                  </a:moveTo>
                  <a:lnTo>
                    <a:pt x="2781299" y="0"/>
                  </a:lnTo>
                </a:path>
              </a:pathLst>
            </a:custGeom>
            <a:ln w="9524">
              <a:solidFill>
                <a:srgbClr val="DDDDDD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0467975" y="2343149"/>
              <a:ext cx="0" cy="1866900"/>
            </a:xfrm>
            <a:custGeom>
              <a:avLst/>
              <a:gdLst/>
              <a:ahLst/>
              <a:cxnLst/>
              <a:rect l="l" t="t" r="r" b="b"/>
              <a:pathLst>
                <a:path w="0" h="1866900">
                  <a:moveTo>
                    <a:pt x="0" y="0"/>
                  </a:moveTo>
                  <a:lnTo>
                    <a:pt x="0" y="1866899"/>
                  </a:lnTo>
                </a:path>
              </a:pathLst>
            </a:custGeom>
            <a:ln w="9524">
              <a:solidFill>
                <a:srgbClr val="DDDDDD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648575" y="4210049"/>
              <a:ext cx="2781300" cy="0"/>
            </a:xfrm>
            <a:custGeom>
              <a:avLst/>
              <a:gdLst/>
              <a:ahLst/>
              <a:cxnLst/>
              <a:rect l="l" t="t" r="r" b="b"/>
              <a:pathLst>
                <a:path w="2781300" h="0">
                  <a:moveTo>
                    <a:pt x="0" y="0"/>
                  </a:moveTo>
                  <a:lnTo>
                    <a:pt x="2781299" y="0"/>
                  </a:lnTo>
                </a:path>
              </a:pathLst>
            </a:custGeom>
            <a:ln w="9524">
              <a:solidFill>
                <a:srgbClr val="DDDDDD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610475" y="2343149"/>
              <a:ext cx="0" cy="1866900"/>
            </a:xfrm>
            <a:custGeom>
              <a:avLst/>
              <a:gdLst/>
              <a:ahLst/>
              <a:cxnLst/>
              <a:rect l="l" t="t" r="r" b="b"/>
              <a:pathLst>
                <a:path w="0" h="1866900">
                  <a:moveTo>
                    <a:pt x="0" y="0"/>
                  </a:moveTo>
                  <a:lnTo>
                    <a:pt x="0" y="1866899"/>
                  </a:lnTo>
                </a:path>
              </a:pathLst>
            </a:custGeom>
            <a:ln w="9524">
              <a:solidFill>
                <a:srgbClr val="DDDDDD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610475" y="2300287"/>
              <a:ext cx="38100" cy="9525"/>
            </a:xfrm>
            <a:custGeom>
              <a:avLst/>
              <a:gdLst/>
              <a:ahLst/>
              <a:cxnLst/>
              <a:rect l="l" t="t" r="r" b="b"/>
              <a:pathLst>
                <a:path w="38100" h="9525">
                  <a:moveTo>
                    <a:pt x="380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9524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610475" y="2305049"/>
              <a:ext cx="2857500" cy="1905000"/>
            </a:xfrm>
            <a:custGeom>
              <a:avLst/>
              <a:gdLst/>
              <a:ahLst/>
              <a:cxnLst/>
              <a:rect l="l" t="t" r="r" b="b"/>
              <a:pathLst>
                <a:path w="2857500" h="1905000">
                  <a:moveTo>
                    <a:pt x="0" y="1904999"/>
                  </a:moveTo>
                  <a:lnTo>
                    <a:pt x="2857499" y="1904999"/>
                  </a:lnTo>
                </a:path>
                <a:path w="2857500" h="1905000">
                  <a:moveTo>
                    <a:pt x="0" y="0"/>
                  </a:moveTo>
                  <a:lnTo>
                    <a:pt x="0" y="1904999"/>
                  </a:lnTo>
                </a:path>
              </a:pathLst>
            </a:custGeom>
            <a:ln w="1904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7252670" y="2921669"/>
            <a:ext cx="163195" cy="67183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170"/>
              </a:lnSpc>
            </a:pPr>
            <a:r>
              <a:rPr dirty="0" sz="1150" spc="-55">
                <a:solidFill>
                  <a:srgbClr val="333333"/>
                </a:solidFill>
                <a:latin typeface="Roboto"/>
                <a:cs typeface="Roboto"/>
              </a:rPr>
              <a:t>Capacity</a:t>
            </a:r>
            <a:r>
              <a:rPr dirty="0" sz="115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333333"/>
                </a:solidFill>
                <a:latin typeface="Roboto"/>
                <a:cs typeface="Roboto"/>
              </a:rPr>
              <a:t>%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7754937" y="4213066"/>
            <a:ext cx="28257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solidFill>
                  <a:srgbClr val="333333"/>
                </a:solidFill>
                <a:latin typeface="Roboto"/>
                <a:cs typeface="Roboto"/>
              </a:rPr>
              <a:t>2010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8469312" y="4213066"/>
            <a:ext cx="1044575" cy="325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090"/>
              </a:lnSpc>
              <a:spcBef>
                <a:spcPts val="100"/>
              </a:spcBef>
              <a:tabLst>
                <a:tab pos="774065" algn="l"/>
              </a:tabLst>
            </a:pPr>
            <a:r>
              <a:rPr dirty="0" sz="1000" spc="-20">
                <a:solidFill>
                  <a:srgbClr val="333333"/>
                </a:solidFill>
                <a:latin typeface="Roboto"/>
                <a:cs typeface="Roboto"/>
              </a:rPr>
              <a:t>2015</a:t>
            </a:r>
            <a:r>
              <a:rPr dirty="0" sz="1000">
                <a:solidFill>
                  <a:srgbClr val="333333"/>
                </a:solidFill>
                <a:latin typeface="Roboto"/>
                <a:cs typeface="Roboto"/>
              </a:rPr>
              <a:t>	</a:t>
            </a:r>
            <a:r>
              <a:rPr dirty="0" sz="1000" spc="-50">
                <a:solidFill>
                  <a:srgbClr val="333333"/>
                </a:solidFill>
                <a:latin typeface="Roboto"/>
                <a:cs typeface="Roboto"/>
              </a:rPr>
              <a:t>2020</a:t>
            </a:r>
            <a:endParaRPr sz="1000">
              <a:latin typeface="Roboto"/>
              <a:cs typeface="Roboto"/>
            </a:endParaRPr>
          </a:p>
          <a:p>
            <a:pPr marL="189865">
              <a:lnSpc>
                <a:spcPts val="1270"/>
              </a:lnSpc>
            </a:pPr>
            <a:r>
              <a:rPr dirty="0" sz="1150" spc="-70">
                <a:solidFill>
                  <a:srgbClr val="333333"/>
                </a:solidFill>
                <a:latin typeface="Roboto"/>
                <a:cs typeface="Roboto"/>
              </a:rPr>
              <a:t>Time</a:t>
            </a:r>
            <a:r>
              <a:rPr dirty="0" sz="1150" spc="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33333"/>
                </a:solidFill>
                <a:latin typeface="Roboto"/>
                <a:cs typeface="Roboto"/>
              </a:rPr>
              <a:t>(Years)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9945686" y="4213066"/>
            <a:ext cx="28257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solidFill>
                  <a:srgbClr val="333333"/>
                </a:solidFill>
                <a:latin typeface="Roboto"/>
                <a:cs typeface="Roboto"/>
              </a:rPr>
              <a:t>2025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7354441" y="4070191"/>
            <a:ext cx="17335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solidFill>
                  <a:srgbClr val="333333"/>
                </a:solidFill>
                <a:latin typeface="Roboto"/>
                <a:cs typeface="Roboto"/>
              </a:rPr>
              <a:t>0%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7290296" y="3593941"/>
            <a:ext cx="23812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5">
                <a:solidFill>
                  <a:srgbClr val="333333"/>
                </a:solidFill>
                <a:latin typeface="Roboto"/>
                <a:cs typeface="Roboto"/>
              </a:rPr>
              <a:t>10%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7290296" y="3117691"/>
            <a:ext cx="23812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5">
                <a:solidFill>
                  <a:srgbClr val="333333"/>
                </a:solidFill>
                <a:latin typeface="Roboto"/>
                <a:cs typeface="Roboto"/>
              </a:rPr>
              <a:t>20%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7290296" y="2641441"/>
            <a:ext cx="23812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5">
                <a:solidFill>
                  <a:srgbClr val="333333"/>
                </a:solidFill>
                <a:latin typeface="Roboto"/>
                <a:cs typeface="Roboto"/>
              </a:rPr>
              <a:t>30%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7290296" y="2165191"/>
            <a:ext cx="23812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5">
                <a:solidFill>
                  <a:srgbClr val="333333"/>
                </a:solidFill>
                <a:latin typeface="Roboto"/>
                <a:cs typeface="Roboto"/>
              </a:rPr>
              <a:t>40%</a:t>
            </a:r>
            <a:endParaRPr sz="1000">
              <a:latin typeface="Roboto"/>
              <a:cs typeface="Roboto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7858124" y="2586037"/>
            <a:ext cx="2900680" cy="1567180"/>
            <a:chOff x="7858124" y="2586037"/>
            <a:chExt cx="2900680" cy="1567180"/>
          </a:xfrm>
        </p:grpSpPr>
        <p:sp>
          <p:nvSpPr>
            <p:cNvPr id="29" name="object 29" descr=""/>
            <p:cNvSpPr/>
            <p:nvPr/>
          </p:nvSpPr>
          <p:spPr>
            <a:xfrm>
              <a:off x="7896224" y="2686049"/>
              <a:ext cx="2190750" cy="1333500"/>
            </a:xfrm>
            <a:custGeom>
              <a:avLst/>
              <a:gdLst/>
              <a:ahLst/>
              <a:cxnLst/>
              <a:rect l="l" t="t" r="r" b="b"/>
              <a:pathLst>
                <a:path w="2190750" h="1333500">
                  <a:moveTo>
                    <a:pt x="0" y="1333499"/>
                  </a:moveTo>
                  <a:lnTo>
                    <a:pt x="714374" y="1047749"/>
                  </a:lnTo>
                  <a:lnTo>
                    <a:pt x="1476374" y="571499"/>
                  </a:lnTo>
                  <a:lnTo>
                    <a:pt x="2190749" y="0"/>
                  </a:lnTo>
                </a:path>
              </a:pathLst>
            </a:custGeom>
            <a:ln w="28574">
              <a:solidFill>
                <a:srgbClr val="0045A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58124" y="3981449"/>
              <a:ext cx="76200" cy="76199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72499" y="3695699"/>
              <a:ext cx="76200" cy="76199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34499" y="3219449"/>
              <a:ext cx="76200" cy="76199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48873" y="2647949"/>
              <a:ext cx="76200" cy="76199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7896224" y="3067049"/>
              <a:ext cx="2190750" cy="1047750"/>
            </a:xfrm>
            <a:custGeom>
              <a:avLst/>
              <a:gdLst/>
              <a:ahLst/>
              <a:cxnLst/>
              <a:rect l="l" t="t" r="r" b="b"/>
              <a:pathLst>
                <a:path w="2190750" h="1047750">
                  <a:moveTo>
                    <a:pt x="0" y="1047749"/>
                  </a:moveTo>
                  <a:lnTo>
                    <a:pt x="714374" y="857249"/>
                  </a:lnTo>
                  <a:lnTo>
                    <a:pt x="1476374" y="476249"/>
                  </a:lnTo>
                  <a:lnTo>
                    <a:pt x="2190749" y="0"/>
                  </a:lnTo>
                </a:path>
              </a:pathLst>
            </a:custGeom>
            <a:ln w="28574">
              <a:solidFill>
                <a:srgbClr val="E11C4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58124" y="4076699"/>
              <a:ext cx="76200" cy="76199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72499" y="3886199"/>
              <a:ext cx="76200" cy="76199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34499" y="3505199"/>
              <a:ext cx="76200" cy="76199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48873" y="3028949"/>
              <a:ext cx="76200" cy="76199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7891706" y="2672495"/>
              <a:ext cx="2195195" cy="1070610"/>
            </a:xfrm>
            <a:custGeom>
              <a:avLst/>
              <a:gdLst/>
              <a:ahLst/>
              <a:cxnLst/>
              <a:rect l="l" t="t" r="r" b="b"/>
              <a:pathLst>
                <a:path w="2195195" h="1070610">
                  <a:moveTo>
                    <a:pt x="45181" y="42169"/>
                  </a:moveTo>
                  <a:lnTo>
                    <a:pt x="0" y="27108"/>
                  </a:lnTo>
                  <a:lnTo>
                    <a:pt x="9036" y="0"/>
                  </a:lnTo>
                  <a:lnTo>
                    <a:pt x="54217" y="15060"/>
                  </a:lnTo>
                  <a:lnTo>
                    <a:pt x="45181" y="42169"/>
                  </a:lnTo>
                  <a:close/>
                </a:path>
                <a:path w="2195195" h="1070610">
                  <a:moveTo>
                    <a:pt x="135543" y="72289"/>
                  </a:moveTo>
                  <a:lnTo>
                    <a:pt x="90362" y="57229"/>
                  </a:lnTo>
                  <a:lnTo>
                    <a:pt x="99398" y="30120"/>
                  </a:lnTo>
                  <a:lnTo>
                    <a:pt x="144579" y="45181"/>
                  </a:lnTo>
                  <a:lnTo>
                    <a:pt x="135543" y="72289"/>
                  </a:lnTo>
                  <a:close/>
                </a:path>
                <a:path w="2195195" h="1070610">
                  <a:moveTo>
                    <a:pt x="225905" y="102410"/>
                  </a:moveTo>
                  <a:lnTo>
                    <a:pt x="180724" y="87350"/>
                  </a:lnTo>
                  <a:lnTo>
                    <a:pt x="189760" y="60241"/>
                  </a:lnTo>
                  <a:lnTo>
                    <a:pt x="234941" y="75301"/>
                  </a:lnTo>
                  <a:lnTo>
                    <a:pt x="225905" y="102410"/>
                  </a:lnTo>
                  <a:close/>
                </a:path>
                <a:path w="2195195" h="1070610">
                  <a:moveTo>
                    <a:pt x="316267" y="132531"/>
                  </a:moveTo>
                  <a:lnTo>
                    <a:pt x="271086" y="117470"/>
                  </a:lnTo>
                  <a:lnTo>
                    <a:pt x="280122" y="90362"/>
                  </a:lnTo>
                  <a:lnTo>
                    <a:pt x="325303" y="105422"/>
                  </a:lnTo>
                  <a:lnTo>
                    <a:pt x="316267" y="132531"/>
                  </a:lnTo>
                  <a:close/>
                </a:path>
                <a:path w="2195195" h="1070610">
                  <a:moveTo>
                    <a:pt x="406629" y="162651"/>
                  </a:moveTo>
                  <a:lnTo>
                    <a:pt x="361448" y="147591"/>
                  </a:lnTo>
                  <a:lnTo>
                    <a:pt x="370484" y="120482"/>
                  </a:lnTo>
                  <a:lnTo>
                    <a:pt x="415665" y="135543"/>
                  </a:lnTo>
                  <a:lnTo>
                    <a:pt x="406629" y="162651"/>
                  </a:lnTo>
                  <a:close/>
                </a:path>
                <a:path w="2195195" h="1070610">
                  <a:moveTo>
                    <a:pt x="496991" y="192772"/>
                  </a:moveTo>
                  <a:lnTo>
                    <a:pt x="451810" y="177712"/>
                  </a:lnTo>
                  <a:lnTo>
                    <a:pt x="460846" y="150603"/>
                  </a:lnTo>
                  <a:lnTo>
                    <a:pt x="506027" y="165663"/>
                  </a:lnTo>
                  <a:lnTo>
                    <a:pt x="496991" y="192772"/>
                  </a:lnTo>
                  <a:close/>
                </a:path>
                <a:path w="2195195" h="1070610">
                  <a:moveTo>
                    <a:pt x="587353" y="222893"/>
                  </a:moveTo>
                  <a:lnTo>
                    <a:pt x="542172" y="207832"/>
                  </a:lnTo>
                  <a:lnTo>
                    <a:pt x="551208" y="180724"/>
                  </a:lnTo>
                  <a:lnTo>
                    <a:pt x="596389" y="195784"/>
                  </a:lnTo>
                  <a:lnTo>
                    <a:pt x="587353" y="222893"/>
                  </a:lnTo>
                  <a:close/>
                </a:path>
                <a:path w="2195195" h="1070610">
                  <a:moveTo>
                    <a:pt x="677715" y="253013"/>
                  </a:moveTo>
                  <a:lnTo>
                    <a:pt x="632534" y="237953"/>
                  </a:lnTo>
                  <a:lnTo>
                    <a:pt x="641570" y="210844"/>
                  </a:lnTo>
                  <a:lnTo>
                    <a:pt x="686751" y="225905"/>
                  </a:lnTo>
                  <a:lnTo>
                    <a:pt x="677715" y="253013"/>
                  </a:lnTo>
                  <a:close/>
                </a:path>
                <a:path w="2195195" h="1070610">
                  <a:moveTo>
                    <a:pt x="761226" y="291884"/>
                  </a:moveTo>
                  <a:lnTo>
                    <a:pt x="719717" y="268535"/>
                  </a:lnTo>
                  <a:lnTo>
                    <a:pt x="733726" y="243630"/>
                  </a:lnTo>
                  <a:lnTo>
                    <a:pt x="775235" y="266979"/>
                  </a:lnTo>
                  <a:lnTo>
                    <a:pt x="761226" y="291884"/>
                  </a:lnTo>
                  <a:close/>
                </a:path>
                <a:path w="2195195" h="1070610">
                  <a:moveTo>
                    <a:pt x="844243" y="338581"/>
                  </a:moveTo>
                  <a:lnTo>
                    <a:pt x="802735" y="315233"/>
                  </a:lnTo>
                  <a:lnTo>
                    <a:pt x="816744" y="290327"/>
                  </a:lnTo>
                  <a:lnTo>
                    <a:pt x="858253" y="313676"/>
                  </a:lnTo>
                  <a:lnTo>
                    <a:pt x="844243" y="338581"/>
                  </a:lnTo>
                  <a:close/>
                </a:path>
                <a:path w="2195195" h="1070610">
                  <a:moveTo>
                    <a:pt x="927261" y="385279"/>
                  </a:moveTo>
                  <a:lnTo>
                    <a:pt x="885752" y="361930"/>
                  </a:lnTo>
                  <a:lnTo>
                    <a:pt x="899761" y="337025"/>
                  </a:lnTo>
                  <a:lnTo>
                    <a:pt x="941270" y="360373"/>
                  </a:lnTo>
                  <a:lnTo>
                    <a:pt x="927261" y="385279"/>
                  </a:lnTo>
                  <a:close/>
                </a:path>
                <a:path w="2195195" h="1070610">
                  <a:moveTo>
                    <a:pt x="1010279" y="431976"/>
                  </a:moveTo>
                  <a:lnTo>
                    <a:pt x="968770" y="408627"/>
                  </a:lnTo>
                  <a:lnTo>
                    <a:pt x="982779" y="383722"/>
                  </a:lnTo>
                  <a:lnTo>
                    <a:pt x="1024288" y="407071"/>
                  </a:lnTo>
                  <a:lnTo>
                    <a:pt x="1010279" y="431976"/>
                  </a:lnTo>
                  <a:close/>
                </a:path>
                <a:path w="2195195" h="1070610">
                  <a:moveTo>
                    <a:pt x="1093296" y="478674"/>
                  </a:moveTo>
                  <a:lnTo>
                    <a:pt x="1051787" y="455325"/>
                  </a:lnTo>
                  <a:lnTo>
                    <a:pt x="1065796" y="430420"/>
                  </a:lnTo>
                  <a:lnTo>
                    <a:pt x="1107305" y="453768"/>
                  </a:lnTo>
                  <a:lnTo>
                    <a:pt x="1093296" y="478674"/>
                  </a:lnTo>
                  <a:close/>
                </a:path>
                <a:path w="2195195" h="1070610">
                  <a:moveTo>
                    <a:pt x="1176314" y="525371"/>
                  </a:moveTo>
                  <a:lnTo>
                    <a:pt x="1134805" y="502022"/>
                  </a:lnTo>
                  <a:lnTo>
                    <a:pt x="1148814" y="477117"/>
                  </a:lnTo>
                  <a:lnTo>
                    <a:pt x="1190323" y="500466"/>
                  </a:lnTo>
                  <a:lnTo>
                    <a:pt x="1176314" y="525371"/>
                  </a:lnTo>
                  <a:close/>
                </a:path>
                <a:path w="2195195" h="1070610">
                  <a:moveTo>
                    <a:pt x="1259331" y="572068"/>
                  </a:moveTo>
                  <a:lnTo>
                    <a:pt x="1217822" y="548720"/>
                  </a:lnTo>
                  <a:lnTo>
                    <a:pt x="1231832" y="523814"/>
                  </a:lnTo>
                  <a:lnTo>
                    <a:pt x="1273341" y="547163"/>
                  </a:lnTo>
                  <a:lnTo>
                    <a:pt x="1259331" y="572068"/>
                  </a:lnTo>
                  <a:close/>
                </a:path>
                <a:path w="2195195" h="1070610">
                  <a:moveTo>
                    <a:pt x="1342349" y="618766"/>
                  </a:moveTo>
                  <a:lnTo>
                    <a:pt x="1300840" y="595417"/>
                  </a:lnTo>
                  <a:lnTo>
                    <a:pt x="1314849" y="570512"/>
                  </a:lnTo>
                  <a:lnTo>
                    <a:pt x="1356358" y="593861"/>
                  </a:lnTo>
                  <a:lnTo>
                    <a:pt x="1342349" y="618766"/>
                  </a:lnTo>
                  <a:close/>
                </a:path>
                <a:path w="2195195" h="1070610">
                  <a:moveTo>
                    <a:pt x="1425367" y="665463"/>
                  </a:moveTo>
                  <a:lnTo>
                    <a:pt x="1383858" y="642114"/>
                  </a:lnTo>
                  <a:lnTo>
                    <a:pt x="1397867" y="617209"/>
                  </a:lnTo>
                  <a:lnTo>
                    <a:pt x="1439376" y="640558"/>
                  </a:lnTo>
                  <a:lnTo>
                    <a:pt x="1425367" y="665463"/>
                  </a:lnTo>
                  <a:close/>
                </a:path>
                <a:path w="2195195" h="1070610">
                  <a:moveTo>
                    <a:pt x="1509092" y="711536"/>
                  </a:moveTo>
                  <a:lnTo>
                    <a:pt x="1474028" y="692835"/>
                  </a:lnTo>
                  <a:lnTo>
                    <a:pt x="1466875" y="688812"/>
                  </a:lnTo>
                  <a:lnTo>
                    <a:pt x="1480885" y="663907"/>
                  </a:lnTo>
                  <a:lnTo>
                    <a:pt x="1487618" y="667694"/>
                  </a:lnTo>
                  <a:lnTo>
                    <a:pt x="1480893" y="680304"/>
                  </a:lnTo>
                  <a:lnTo>
                    <a:pt x="1511253" y="680304"/>
                  </a:lnTo>
                  <a:lnTo>
                    <a:pt x="1522539" y="686323"/>
                  </a:lnTo>
                  <a:lnTo>
                    <a:pt x="1509092" y="711536"/>
                  </a:lnTo>
                  <a:close/>
                </a:path>
                <a:path w="2195195" h="1070610">
                  <a:moveTo>
                    <a:pt x="1480893" y="680304"/>
                  </a:moveTo>
                  <a:lnTo>
                    <a:pt x="1487618" y="667694"/>
                  </a:lnTo>
                  <a:lnTo>
                    <a:pt x="1487986" y="667694"/>
                  </a:lnTo>
                  <a:lnTo>
                    <a:pt x="1480893" y="680304"/>
                  </a:lnTo>
                  <a:close/>
                </a:path>
                <a:path w="2195195" h="1070610">
                  <a:moveTo>
                    <a:pt x="1511253" y="680304"/>
                  </a:moveTo>
                  <a:lnTo>
                    <a:pt x="1480893" y="680304"/>
                  </a:lnTo>
                  <a:lnTo>
                    <a:pt x="1487986" y="667694"/>
                  </a:lnTo>
                  <a:lnTo>
                    <a:pt x="1487610" y="667694"/>
                  </a:lnTo>
                  <a:lnTo>
                    <a:pt x="1511253" y="680304"/>
                  </a:lnTo>
                  <a:close/>
                </a:path>
                <a:path w="2195195" h="1070610">
                  <a:moveTo>
                    <a:pt x="1593136" y="756359"/>
                  </a:moveTo>
                  <a:lnTo>
                    <a:pt x="1551114" y="733948"/>
                  </a:lnTo>
                  <a:lnTo>
                    <a:pt x="1564561" y="708734"/>
                  </a:lnTo>
                  <a:lnTo>
                    <a:pt x="1606583" y="731146"/>
                  </a:lnTo>
                  <a:lnTo>
                    <a:pt x="1593136" y="756359"/>
                  </a:lnTo>
                  <a:close/>
                </a:path>
                <a:path w="2195195" h="1070610">
                  <a:moveTo>
                    <a:pt x="1677180" y="801183"/>
                  </a:moveTo>
                  <a:lnTo>
                    <a:pt x="1635158" y="778771"/>
                  </a:lnTo>
                  <a:lnTo>
                    <a:pt x="1648605" y="753558"/>
                  </a:lnTo>
                  <a:lnTo>
                    <a:pt x="1690627" y="775970"/>
                  </a:lnTo>
                  <a:lnTo>
                    <a:pt x="1677180" y="801183"/>
                  </a:lnTo>
                  <a:close/>
                </a:path>
                <a:path w="2195195" h="1070610">
                  <a:moveTo>
                    <a:pt x="1761224" y="846007"/>
                  </a:moveTo>
                  <a:lnTo>
                    <a:pt x="1719202" y="823595"/>
                  </a:lnTo>
                  <a:lnTo>
                    <a:pt x="1732649" y="798381"/>
                  </a:lnTo>
                  <a:lnTo>
                    <a:pt x="1774671" y="820793"/>
                  </a:lnTo>
                  <a:lnTo>
                    <a:pt x="1761224" y="846007"/>
                  </a:lnTo>
                  <a:close/>
                </a:path>
                <a:path w="2195195" h="1070610">
                  <a:moveTo>
                    <a:pt x="1845268" y="890830"/>
                  </a:moveTo>
                  <a:lnTo>
                    <a:pt x="1803246" y="868418"/>
                  </a:lnTo>
                  <a:lnTo>
                    <a:pt x="1816693" y="843205"/>
                  </a:lnTo>
                  <a:lnTo>
                    <a:pt x="1858715" y="865617"/>
                  </a:lnTo>
                  <a:lnTo>
                    <a:pt x="1845268" y="890830"/>
                  </a:lnTo>
                  <a:close/>
                </a:path>
                <a:path w="2195195" h="1070610">
                  <a:moveTo>
                    <a:pt x="1929312" y="935653"/>
                  </a:moveTo>
                  <a:lnTo>
                    <a:pt x="1887290" y="913242"/>
                  </a:lnTo>
                  <a:lnTo>
                    <a:pt x="1900737" y="888028"/>
                  </a:lnTo>
                  <a:lnTo>
                    <a:pt x="1942759" y="910440"/>
                  </a:lnTo>
                  <a:lnTo>
                    <a:pt x="1929312" y="935653"/>
                  </a:lnTo>
                  <a:close/>
                </a:path>
                <a:path w="2195195" h="1070610">
                  <a:moveTo>
                    <a:pt x="2013357" y="980477"/>
                  </a:moveTo>
                  <a:lnTo>
                    <a:pt x="1971334" y="958065"/>
                  </a:lnTo>
                  <a:lnTo>
                    <a:pt x="1984781" y="932852"/>
                  </a:lnTo>
                  <a:lnTo>
                    <a:pt x="2026803" y="955264"/>
                  </a:lnTo>
                  <a:lnTo>
                    <a:pt x="2013357" y="980477"/>
                  </a:lnTo>
                  <a:close/>
                </a:path>
                <a:path w="2195195" h="1070610">
                  <a:moveTo>
                    <a:pt x="2097401" y="1025301"/>
                  </a:moveTo>
                  <a:lnTo>
                    <a:pt x="2055378" y="1002889"/>
                  </a:lnTo>
                  <a:lnTo>
                    <a:pt x="2068825" y="977675"/>
                  </a:lnTo>
                  <a:lnTo>
                    <a:pt x="2110847" y="1000087"/>
                  </a:lnTo>
                  <a:lnTo>
                    <a:pt x="2097401" y="1025301"/>
                  </a:lnTo>
                  <a:close/>
                </a:path>
                <a:path w="2195195" h="1070610">
                  <a:moveTo>
                    <a:pt x="2181445" y="1070124"/>
                  </a:moveTo>
                  <a:lnTo>
                    <a:pt x="2139423" y="1047712"/>
                  </a:lnTo>
                  <a:lnTo>
                    <a:pt x="2152870" y="1022499"/>
                  </a:lnTo>
                  <a:lnTo>
                    <a:pt x="2194891" y="1044911"/>
                  </a:lnTo>
                  <a:lnTo>
                    <a:pt x="2181445" y="1070124"/>
                  </a:lnTo>
                  <a:close/>
                </a:path>
              </a:pathLst>
            </a:custGeom>
            <a:solidFill>
              <a:srgbClr val="FABE2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58124" y="2647949"/>
              <a:ext cx="76200" cy="76199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72499" y="2886074"/>
              <a:ext cx="76200" cy="76199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34499" y="3314699"/>
              <a:ext cx="76200" cy="76199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048873" y="3695699"/>
              <a:ext cx="76200" cy="76199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9801223" y="2590799"/>
              <a:ext cx="952500" cy="190500"/>
            </a:xfrm>
            <a:custGeom>
              <a:avLst/>
              <a:gdLst/>
              <a:ahLst/>
              <a:cxnLst/>
              <a:rect l="l" t="t" r="r" b="b"/>
              <a:pathLst>
                <a:path w="952500" h="190500">
                  <a:moveTo>
                    <a:pt x="911190" y="190499"/>
                  </a:moveTo>
                  <a:lnTo>
                    <a:pt x="41309" y="190499"/>
                  </a:lnTo>
                  <a:lnTo>
                    <a:pt x="35234" y="189291"/>
                  </a:lnTo>
                  <a:lnTo>
                    <a:pt x="1208" y="155265"/>
                  </a:lnTo>
                  <a:lnTo>
                    <a:pt x="0" y="149190"/>
                  </a:lnTo>
                  <a:lnTo>
                    <a:pt x="0" y="41309"/>
                  </a:lnTo>
                  <a:lnTo>
                    <a:pt x="23564" y="6041"/>
                  </a:lnTo>
                  <a:lnTo>
                    <a:pt x="41309" y="0"/>
                  </a:lnTo>
                  <a:lnTo>
                    <a:pt x="47625" y="0"/>
                  </a:lnTo>
                  <a:lnTo>
                    <a:pt x="911190" y="0"/>
                  </a:lnTo>
                  <a:lnTo>
                    <a:pt x="946457" y="23564"/>
                  </a:lnTo>
                  <a:lnTo>
                    <a:pt x="952499" y="41309"/>
                  </a:lnTo>
                  <a:lnTo>
                    <a:pt x="952499" y="149190"/>
                  </a:lnTo>
                  <a:lnTo>
                    <a:pt x="928934" y="184457"/>
                  </a:lnTo>
                  <a:lnTo>
                    <a:pt x="917265" y="189291"/>
                  </a:lnTo>
                  <a:lnTo>
                    <a:pt x="911190" y="190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9801223" y="2590799"/>
              <a:ext cx="952500" cy="190500"/>
            </a:xfrm>
            <a:custGeom>
              <a:avLst/>
              <a:gdLst/>
              <a:ahLst/>
              <a:cxnLst/>
              <a:rect l="l" t="t" r="r" b="b"/>
              <a:pathLst>
                <a:path w="952500" h="190500">
                  <a:moveTo>
                    <a:pt x="47625" y="0"/>
                  </a:moveTo>
                  <a:lnTo>
                    <a:pt x="904875" y="0"/>
                  </a:lnTo>
                  <a:lnTo>
                    <a:pt x="911190" y="0"/>
                  </a:lnTo>
                  <a:lnTo>
                    <a:pt x="917265" y="1208"/>
                  </a:lnTo>
                  <a:lnTo>
                    <a:pt x="948874" y="29399"/>
                  </a:lnTo>
                  <a:lnTo>
                    <a:pt x="951291" y="35234"/>
                  </a:lnTo>
                  <a:lnTo>
                    <a:pt x="952499" y="41309"/>
                  </a:lnTo>
                  <a:lnTo>
                    <a:pt x="952500" y="47624"/>
                  </a:lnTo>
                  <a:lnTo>
                    <a:pt x="952500" y="142874"/>
                  </a:lnTo>
                  <a:lnTo>
                    <a:pt x="952499" y="149190"/>
                  </a:lnTo>
                  <a:lnTo>
                    <a:pt x="951291" y="155265"/>
                  </a:lnTo>
                  <a:lnTo>
                    <a:pt x="948874" y="161100"/>
                  </a:lnTo>
                  <a:lnTo>
                    <a:pt x="946457" y="166934"/>
                  </a:lnTo>
                  <a:lnTo>
                    <a:pt x="911190" y="190499"/>
                  </a:lnTo>
                  <a:lnTo>
                    <a:pt x="904875" y="190499"/>
                  </a:lnTo>
                  <a:lnTo>
                    <a:pt x="47625" y="190499"/>
                  </a:lnTo>
                  <a:lnTo>
                    <a:pt x="41309" y="190499"/>
                  </a:lnTo>
                  <a:lnTo>
                    <a:pt x="35234" y="189291"/>
                  </a:lnTo>
                  <a:lnTo>
                    <a:pt x="29399" y="186874"/>
                  </a:lnTo>
                  <a:lnTo>
                    <a:pt x="23564" y="184457"/>
                  </a:lnTo>
                  <a:lnTo>
                    <a:pt x="0" y="149190"/>
                  </a:lnTo>
                  <a:lnTo>
                    <a:pt x="0" y="142874"/>
                  </a:lnTo>
                  <a:lnTo>
                    <a:pt x="0" y="47624"/>
                  </a:lnTo>
                  <a:lnTo>
                    <a:pt x="13949" y="13948"/>
                  </a:lnTo>
                  <a:lnTo>
                    <a:pt x="18414" y="9483"/>
                  </a:lnTo>
                  <a:lnTo>
                    <a:pt x="23564" y="6041"/>
                  </a:lnTo>
                  <a:lnTo>
                    <a:pt x="29399" y="3625"/>
                  </a:lnTo>
                  <a:lnTo>
                    <a:pt x="35234" y="1208"/>
                  </a:lnTo>
                  <a:lnTo>
                    <a:pt x="41309" y="0"/>
                  </a:lnTo>
                  <a:lnTo>
                    <a:pt x="47625" y="0"/>
                  </a:lnTo>
                  <a:close/>
                </a:path>
              </a:pathLst>
            </a:custGeom>
            <a:ln w="9524">
              <a:solidFill>
                <a:srgbClr val="0045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 descr=""/>
          <p:cNvSpPr/>
          <p:nvPr/>
        </p:nvSpPr>
        <p:spPr>
          <a:xfrm>
            <a:off x="8562974" y="4686299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299" y="114299"/>
                </a:moveTo>
                <a:lnTo>
                  <a:pt x="0" y="114299"/>
                </a:lnTo>
                <a:lnTo>
                  <a:pt x="0" y="0"/>
                </a:lnTo>
                <a:lnTo>
                  <a:pt x="114299" y="0"/>
                </a:lnTo>
                <a:lnTo>
                  <a:pt x="114299" y="114299"/>
                </a:lnTo>
                <a:close/>
              </a:path>
            </a:pathLst>
          </a:custGeom>
          <a:solidFill>
            <a:srgbClr val="0045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 txBox="1"/>
          <p:nvPr/>
        </p:nvSpPr>
        <p:spPr>
          <a:xfrm>
            <a:off x="8712200" y="4633993"/>
            <a:ext cx="63754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1000" spc="-60">
                <a:solidFill>
                  <a:srgbClr val="333333"/>
                </a:solidFill>
                <a:latin typeface="Roboto"/>
                <a:cs typeface="Roboto"/>
              </a:rPr>
              <a:t>Wind</a:t>
            </a:r>
            <a:r>
              <a:rPr dirty="0" sz="1000" spc="-2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000" spc="-60">
                <a:solidFill>
                  <a:srgbClr val="333333"/>
                </a:solidFill>
                <a:latin typeface="Roboto"/>
                <a:cs typeface="Roboto"/>
              </a:rPr>
              <a:t>Power</a:t>
            </a:r>
            <a:r>
              <a:rPr dirty="0" sz="1000" spc="5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333333"/>
                </a:solidFill>
                <a:latin typeface="Roboto"/>
                <a:cs typeface="Roboto"/>
              </a:rPr>
              <a:t>Solar</a:t>
            </a:r>
            <a:r>
              <a:rPr dirty="0" sz="1000" spc="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000" spc="-70">
                <a:solidFill>
                  <a:srgbClr val="333333"/>
                </a:solidFill>
                <a:latin typeface="Roboto"/>
                <a:cs typeface="Roboto"/>
              </a:rPr>
              <a:t>Power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48" name="object 48" descr=""/>
          <p:cNvSpPr/>
          <p:nvPr/>
        </p:nvSpPr>
        <p:spPr>
          <a:xfrm>
            <a:off x="8562974" y="4876799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299" y="114299"/>
                </a:moveTo>
                <a:lnTo>
                  <a:pt x="0" y="114299"/>
                </a:lnTo>
                <a:lnTo>
                  <a:pt x="0" y="0"/>
                </a:lnTo>
                <a:lnTo>
                  <a:pt x="114299" y="0"/>
                </a:lnTo>
                <a:lnTo>
                  <a:pt x="114299" y="114299"/>
                </a:lnTo>
                <a:close/>
              </a:path>
            </a:pathLst>
          </a:custGeom>
          <a:solidFill>
            <a:srgbClr val="E11C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 descr=""/>
          <p:cNvSpPr/>
          <p:nvPr/>
        </p:nvSpPr>
        <p:spPr>
          <a:xfrm>
            <a:off x="9515474" y="4686299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299" y="114299"/>
                </a:moveTo>
                <a:lnTo>
                  <a:pt x="0" y="114299"/>
                </a:lnTo>
                <a:lnTo>
                  <a:pt x="0" y="0"/>
                </a:lnTo>
                <a:lnTo>
                  <a:pt x="114299" y="0"/>
                </a:lnTo>
                <a:lnTo>
                  <a:pt x="114299" y="114299"/>
                </a:lnTo>
                <a:close/>
              </a:path>
            </a:pathLst>
          </a:custGeom>
          <a:solidFill>
            <a:srgbClr val="FABE2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 txBox="1"/>
          <p:nvPr/>
        </p:nvSpPr>
        <p:spPr>
          <a:xfrm>
            <a:off x="9664699" y="4671903"/>
            <a:ext cx="75692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60">
                <a:solidFill>
                  <a:srgbClr val="333333"/>
                </a:solidFill>
                <a:latin typeface="Roboto"/>
                <a:cs typeface="Roboto"/>
              </a:rPr>
              <a:t>System</a:t>
            </a:r>
            <a:r>
              <a:rPr dirty="0" sz="10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000" spc="-30">
                <a:solidFill>
                  <a:srgbClr val="333333"/>
                </a:solidFill>
                <a:latin typeface="Roboto"/>
                <a:cs typeface="Roboto"/>
              </a:rPr>
              <a:t>Inertia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9836744" y="2615009"/>
            <a:ext cx="881380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-30">
                <a:solidFill>
                  <a:srgbClr val="0045A5"/>
                </a:solidFill>
                <a:latin typeface="Roboto"/>
                <a:cs typeface="Roboto"/>
              </a:rPr>
              <a:t>Increased</a:t>
            </a:r>
            <a:r>
              <a:rPr dirty="0" sz="800" spc="10">
                <a:solidFill>
                  <a:srgbClr val="0045A5"/>
                </a:solidFill>
                <a:latin typeface="Roboto"/>
                <a:cs typeface="Roboto"/>
              </a:rPr>
              <a:t> </a:t>
            </a:r>
            <a:r>
              <a:rPr dirty="0" sz="800" spc="-25">
                <a:solidFill>
                  <a:srgbClr val="0045A5"/>
                </a:solidFill>
                <a:latin typeface="Roboto"/>
                <a:cs typeface="Roboto"/>
              </a:rPr>
              <a:t>Variability</a:t>
            </a:r>
            <a:endParaRPr sz="800">
              <a:latin typeface="Roboto"/>
              <a:cs typeface="Roboto"/>
            </a:endParaRPr>
          </a:p>
        </p:txBody>
      </p:sp>
      <p:grpSp>
        <p:nvGrpSpPr>
          <p:cNvPr id="52" name="object 52" descr=""/>
          <p:cNvGrpSpPr/>
          <p:nvPr/>
        </p:nvGrpSpPr>
        <p:grpSpPr>
          <a:xfrm>
            <a:off x="9796461" y="3729037"/>
            <a:ext cx="962025" cy="200025"/>
            <a:chOff x="9796461" y="3729037"/>
            <a:chExt cx="962025" cy="200025"/>
          </a:xfrm>
        </p:grpSpPr>
        <p:sp>
          <p:nvSpPr>
            <p:cNvPr id="53" name="object 53" descr=""/>
            <p:cNvSpPr/>
            <p:nvPr/>
          </p:nvSpPr>
          <p:spPr>
            <a:xfrm>
              <a:off x="9801224" y="3733799"/>
              <a:ext cx="952500" cy="190500"/>
            </a:xfrm>
            <a:custGeom>
              <a:avLst/>
              <a:gdLst/>
              <a:ahLst/>
              <a:cxnLst/>
              <a:rect l="l" t="t" r="r" b="b"/>
              <a:pathLst>
                <a:path w="952500" h="190500">
                  <a:moveTo>
                    <a:pt x="911190" y="190499"/>
                  </a:moveTo>
                  <a:lnTo>
                    <a:pt x="41309" y="190499"/>
                  </a:lnTo>
                  <a:lnTo>
                    <a:pt x="35234" y="189291"/>
                  </a:lnTo>
                  <a:lnTo>
                    <a:pt x="1208" y="155265"/>
                  </a:lnTo>
                  <a:lnTo>
                    <a:pt x="0" y="149190"/>
                  </a:lnTo>
                  <a:lnTo>
                    <a:pt x="0" y="41309"/>
                  </a:lnTo>
                  <a:lnTo>
                    <a:pt x="23564" y="6041"/>
                  </a:lnTo>
                  <a:lnTo>
                    <a:pt x="41309" y="0"/>
                  </a:lnTo>
                  <a:lnTo>
                    <a:pt x="47625" y="0"/>
                  </a:lnTo>
                  <a:lnTo>
                    <a:pt x="911190" y="0"/>
                  </a:lnTo>
                  <a:lnTo>
                    <a:pt x="946457" y="23564"/>
                  </a:lnTo>
                  <a:lnTo>
                    <a:pt x="952499" y="41309"/>
                  </a:lnTo>
                  <a:lnTo>
                    <a:pt x="952499" y="149190"/>
                  </a:lnTo>
                  <a:lnTo>
                    <a:pt x="928934" y="184457"/>
                  </a:lnTo>
                  <a:lnTo>
                    <a:pt x="917265" y="189291"/>
                  </a:lnTo>
                  <a:lnTo>
                    <a:pt x="911190" y="190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9801224" y="3733799"/>
              <a:ext cx="952500" cy="190500"/>
            </a:xfrm>
            <a:custGeom>
              <a:avLst/>
              <a:gdLst/>
              <a:ahLst/>
              <a:cxnLst/>
              <a:rect l="l" t="t" r="r" b="b"/>
              <a:pathLst>
                <a:path w="952500" h="190500">
                  <a:moveTo>
                    <a:pt x="47625" y="0"/>
                  </a:moveTo>
                  <a:lnTo>
                    <a:pt x="904875" y="0"/>
                  </a:lnTo>
                  <a:lnTo>
                    <a:pt x="911190" y="0"/>
                  </a:lnTo>
                  <a:lnTo>
                    <a:pt x="917265" y="1208"/>
                  </a:lnTo>
                  <a:lnTo>
                    <a:pt x="948874" y="29399"/>
                  </a:lnTo>
                  <a:lnTo>
                    <a:pt x="951291" y="35234"/>
                  </a:lnTo>
                  <a:lnTo>
                    <a:pt x="952499" y="41309"/>
                  </a:lnTo>
                  <a:lnTo>
                    <a:pt x="952500" y="47624"/>
                  </a:lnTo>
                  <a:lnTo>
                    <a:pt x="952500" y="142874"/>
                  </a:lnTo>
                  <a:lnTo>
                    <a:pt x="952499" y="149190"/>
                  </a:lnTo>
                  <a:lnTo>
                    <a:pt x="951291" y="155265"/>
                  </a:lnTo>
                  <a:lnTo>
                    <a:pt x="948874" y="161100"/>
                  </a:lnTo>
                  <a:lnTo>
                    <a:pt x="946457" y="166934"/>
                  </a:lnTo>
                  <a:lnTo>
                    <a:pt x="911190" y="190499"/>
                  </a:lnTo>
                  <a:lnTo>
                    <a:pt x="904875" y="190499"/>
                  </a:lnTo>
                  <a:lnTo>
                    <a:pt x="47625" y="190499"/>
                  </a:lnTo>
                  <a:lnTo>
                    <a:pt x="9483" y="172085"/>
                  </a:lnTo>
                  <a:lnTo>
                    <a:pt x="0" y="149190"/>
                  </a:lnTo>
                  <a:lnTo>
                    <a:pt x="0" y="142874"/>
                  </a:lnTo>
                  <a:lnTo>
                    <a:pt x="0" y="47624"/>
                  </a:lnTo>
                  <a:lnTo>
                    <a:pt x="13949" y="13948"/>
                  </a:lnTo>
                  <a:lnTo>
                    <a:pt x="18414" y="9483"/>
                  </a:lnTo>
                  <a:lnTo>
                    <a:pt x="23564" y="6041"/>
                  </a:lnTo>
                  <a:lnTo>
                    <a:pt x="29399" y="3625"/>
                  </a:lnTo>
                  <a:lnTo>
                    <a:pt x="35234" y="1208"/>
                  </a:lnTo>
                  <a:lnTo>
                    <a:pt x="41309" y="0"/>
                  </a:lnTo>
                  <a:lnTo>
                    <a:pt x="47625" y="0"/>
                  </a:lnTo>
                  <a:close/>
                </a:path>
              </a:pathLst>
            </a:custGeom>
            <a:ln w="9524">
              <a:solidFill>
                <a:srgbClr val="FABE2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 descr=""/>
          <p:cNvSpPr txBox="1"/>
          <p:nvPr/>
        </p:nvSpPr>
        <p:spPr>
          <a:xfrm>
            <a:off x="9933185" y="3758009"/>
            <a:ext cx="688340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-35">
                <a:solidFill>
                  <a:srgbClr val="FABE24"/>
                </a:solidFill>
                <a:latin typeface="Roboto"/>
                <a:cs typeface="Roboto"/>
              </a:rPr>
              <a:t>Reduced</a:t>
            </a:r>
            <a:r>
              <a:rPr dirty="0" sz="800" spc="15">
                <a:solidFill>
                  <a:srgbClr val="FABE24"/>
                </a:solidFill>
                <a:latin typeface="Roboto"/>
                <a:cs typeface="Roboto"/>
              </a:rPr>
              <a:t> </a:t>
            </a:r>
            <a:r>
              <a:rPr dirty="0" sz="800" spc="-10">
                <a:solidFill>
                  <a:srgbClr val="FABE24"/>
                </a:solidFill>
                <a:latin typeface="Roboto"/>
                <a:cs typeface="Roboto"/>
              </a:rPr>
              <a:t>Inertia</a:t>
            </a:r>
            <a:endParaRPr sz="800">
              <a:latin typeface="Roboto"/>
              <a:cs typeface="Roboto"/>
            </a:endParaRPr>
          </a:p>
        </p:txBody>
      </p:sp>
      <p:grpSp>
        <p:nvGrpSpPr>
          <p:cNvPr id="56" name="object 56" descr=""/>
          <p:cNvGrpSpPr/>
          <p:nvPr/>
        </p:nvGrpSpPr>
        <p:grpSpPr>
          <a:xfrm>
            <a:off x="7796211" y="1919287"/>
            <a:ext cx="2676525" cy="295275"/>
            <a:chOff x="7796211" y="1919287"/>
            <a:chExt cx="2676525" cy="295275"/>
          </a:xfrm>
        </p:grpSpPr>
        <p:sp>
          <p:nvSpPr>
            <p:cNvPr id="57" name="object 57" descr=""/>
            <p:cNvSpPr/>
            <p:nvPr/>
          </p:nvSpPr>
          <p:spPr>
            <a:xfrm>
              <a:off x="7800974" y="1924049"/>
              <a:ext cx="2667000" cy="285750"/>
            </a:xfrm>
            <a:custGeom>
              <a:avLst/>
              <a:gdLst/>
              <a:ahLst/>
              <a:cxnLst/>
              <a:rect l="l" t="t" r="r" b="b"/>
              <a:pathLst>
                <a:path w="2667000" h="285750">
                  <a:moveTo>
                    <a:pt x="2625690" y="285749"/>
                  </a:moveTo>
                  <a:lnTo>
                    <a:pt x="41309" y="285749"/>
                  </a:lnTo>
                  <a:lnTo>
                    <a:pt x="35234" y="284541"/>
                  </a:lnTo>
                  <a:lnTo>
                    <a:pt x="1208" y="250515"/>
                  </a:lnTo>
                  <a:lnTo>
                    <a:pt x="0" y="244440"/>
                  </a:lnTo>
                  <a:lnTo>
                    <a:pt x="0" y="41309"/>
                  </a:lnTo>
                  <a:lnTo>
                    <a:pt x="23564" y="6042"/>
                  </a:lnTo>
                  <a:lnTo>
                    <a:pt x="41309" y="0"/>
                  </a:lnTo>
                  <a:lnTo>
                    <a:pt x="47625" y="0"/>
                  </a:lnTo>
                  <a:lnTo>
                    <a:pt x="2625690" y="0"/>
                  </a:lnTo>
                  <a:lnTo>
                    <a:pt x="2660957" y="23564"/>
                  </a:lnTo>
                  <a:lnTo>
                    <a:pt x="2666999" y="41309"/>
                  </a:lnTo>
                  <a:lnTo>
                    <a:pt x="2666999" y="244440"/>
                  </a:lnTo>
                  <a:lnTo>
                    <a:pt x="2643434" y="279707"/>
                  </a:lnTo>
                  <a:lnTo>
                    <a:pt x="2631765" y="284541"/>
                  </a:lnTo>
                  <a:lnTo>
                    <a:pt x="2625690" y="285749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7800974" y="1924049"/>
              <a:ext cx="2667000" cy="285750"/>
            </a:xfrm>
            <a:custGeom>
              <a:avLst/>
              <a:gdLst/>
              <a:ahLst/>
              <a:cxnLst/>
              <a:rect l="l" t="t" r="r" b="b"/>
              <a:pathLst>
                <a:path w="2667000" h="285750">
                  <a:moveTo>
                    <a:pt x="47625" y="0"/>
                  </a:moveTo>
                  <a:lnTo>
                    <a:pt x="2619374" y="0"/>
                  </a:lnTo>
                  <a:lnTo>
                    <a:pt x="2625690" y="0"/>
                  </a:lnTo>
                  <a:lnTo>
                    <a:pt x="2631765" y="1208"/>
                  </a:lnTo>
                  <a:lnTo>
                    <a:pt x="2663374" y="29399"/>
                  </a:lnTo>
                  <a:lnTo>
                    <a:pt x="2666999" y="47624"/>
                  </a:lnTo>
                  <a:lnTo>
                    <a:pt x="2666999" y="238124"/>
                  </a:lnTo>
                  <a:lnTo>
                    <a:pt x="2648584" y="276266"/>
                  </a:lnTo>
                  <a:lnTo>
                    <a:pt x="2637599" y="282124"/>
                  </a:lnTo>
                  <a:lnTo>
                    <a:pt x="2631765" y="284541"/>
                  </a:lnTo>
                  <a:lnTo>
                    <a:pt x="2625690" y="285749"/>
                  </a:lnTo>
                  <a:lnTo>
                    <a:pt x="2619374" y="285749"/>
                  </a:lnTo>
                  <a:lnTo>
                    <a:pt x="47625" y="285749"/>
                  </a:lnTo>
                  <a:lnTo>
                    <a:pt x="13949" y="271800"/>
                  </a:lnTo>
                  <a:lnTo>
                    <a:pt x="9483" y="267335"/>
                  </a:lnTo>
                  <a:lnTo>
                    <a:pt x="6042" y="262184"/>
                  </a:lnTo>
                  <a:lnTo>
                    <a:pt x="3625" y="256350"/>
                  </a:lnTo>
                  <a:lnTo>
                    <a:pt x="1208" y="250515"/>
                  </a:lnTo>
                  <a:lnTo>
                    <a:pt x="0" y="244440"/>
                  </a:lnTo>
                  <a:lnTo>
                    <a:pt x="0" y="238124"/>
                  </a:lnTo>
                  <a:lnTo>
                    <a:pt x="0" y="47624"/>
                  </a:lnTo>
                  <a:lnTo>
                    <a:pt x="13949" y="13949"/>
                  </a:lnTo>
                  <a:lnTo>
                    <a:pt x="18414" y="9483"/>
                  </a:lnTo>
                  <a:lnTo>
                    <a:pt x="23564" y="6042"/>
                  </a:lnTo>
                  <a:lnTo>
                    <a:pt x="29399" y="3625"/>
                  </a:lnTo>
                  <a:lnTo>
                    <a:pt x="35234" y="1208"/>
                  </a:lnTo>
                  <a:lnTo>
                    <a:pt x="41309" y="0"/>
                  </a:lnTo>
                  <a:lnTo>
                    <a:pt x="47625" y="0"/>
                  </a:lnTo>
                  <a:close/>
                </a:path>
              </a:pathLst>
            </a:custGeom>
            <a:ln w="952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 descr=""/>
          <p:cNvSpPr txBox="1"/>
          <p:nvPr/>
        </p:nvSpPr>
        <p:spPr>
          <a:xfrm>
            <a:off x="8144420" y="1974691"/>
            <a:ext cx="1980564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5">
                <a:solidFill>
                  <a:srgbClr val="333333"/>
                </a:solidFill>
                <a:latin typeface="Roboto"/>
                <a:cs typeface="Roboto"/>
              </a:rPr>
              <a:t>Conventional</a:t>
            </a:r>
            <a:r>
              <a:rPr dirty="0" sz="10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333333"/>
                </a:solidFill>
                <a:latin typeface="Roboto"/>
                <a:cs typeface="Roboto"/>
              </a:rPr>
              <a:t>vs.</a:t>
            </a:r>
            <a:r>
              <a:rPr dirty="0" sz="10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000" spc="-65">
                <a:solidFill>
                  <a:srgbClr val="333333"/>
                </a:solidFill>
                <a:latin typeface="Roboto"/>
                <a:cs typeface="Roboto"/>
              </a:rPr>
              <a:t>Advanced</a:t>
            </a:r>
            <a:r>
              <a:rPr dirty="0" sz="1000" spc="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000" spc="-40">
                <a:solidFill>
                  <a:srgbClr val="333333"/>
                </a:solidFill>
                <a:latin typeface="Roboto"/>
                <a:cs typeface="Roboto"/>
              </a:rPr>
              <a:t>Controllers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60" name="object 60" descr=""/>
          <p:cNvSpPr/>
          <p:nvPr/>
        </p:nvSpPr>
        <p:spPr>
          <a:xfrm>
            <a:off x="11125187" y="552779"/>
            <a:ext cx="242570" cy="100330"/>
          </a:xfrm>
          <a:custGeom>
            <a:avLst/>
            <a:gdLst/>
            <a:ahLst/>
            <a:cxnLst/>
            <a:rect l="l" t="t" r="r" b="b"/>
            <a:pathLst>
              <a:path w="242570" h="100329">
                <a:moveTo>
                  <a:pt x="48107" y="393"/>
                </a:moveTo>
                <a:lnTo>
                  <a:pt x="0" y="393"/>
                </a:lnTo>
                <a:lnTo>
                  <a:pt x="0" y="13093"/>
                </a:lnTo>
                <a:lnTo>
                  <a:pt x="0" y="43573"/>
                </a:lnTo>
                <a:lnTo>
                  <a:pt x="0" y="56273"/>
                </a:lnTo>
                <a:lnTo>
                  <a:pt x="0" y="99453"/>
                </a:lnTo>
                <a:lnTo>
                  <a:pt x="15989" y="99453"/>
                </a:lnTo>
                <a:lnTo>
                  <a:pt x="15989" y="56273"/>
                </a:lnTo>
                <a:lnTo>
                  <a:pt x="44869" y="56273"/>
                </a:lnTo>
                <a:lnTo>
                  <a:pt x="44869" y="43573"/>
                </a:lnTo>
                <a:lnTo>
                  <a:pt x="15989" y="43573"/>
                </a:lnTo>
                <a:lnTo>
                  <a:pt x="15989" y="13093"/>
                </a:lnTo>
                <a:lnTo>
                  <a:pt x="48107" y="13093"/>
                </a:lnTo>
                <a:lnTo>
                  <a:pt x="48107" y="393"/>
                </a:lnTo>
                <a:close/>
              </a:path>
              <a:path w="242570" h="100329">
                <a:moveTo>
                  <a:pt x="77597" y="0"/>
                </a:moveTo>
                <a:lnTo>
                  <a:pt x="61620" y="0"/>
                </a:lnTo>
                <a:lnTo>
                  <a:pt x="61620" y="99847"/>
                </a:lnTo>
                <a:lnTo>
                  <a:pt x="77597" y="99847"/>
                </a:lnTo>
                <a:lnTo>
                  <a:pt x="77597" y="0"/>
                </a:lnTo>
                <a:close/>
              </a:path>
              <a:path w="242570" h="100329">
                <a:moveTo>
                  <a:pt x="144843" y="393"/>
                </a:moveTo>
                <a:lnTo>
                  <a:pt x="96748" y="393"/>
                </a:lnTo>
                <a:lnTo>
                  <a:pt x="96748" y="13093"/>
                </a:lnTo>
                <a:lnTo>
                  <a:pt x="96748" y="43573"/>
                </a:lnTo>
                <a:lnTo>
                  <a:pt x="96748" y="56273"/>
                </a:lnTo>
                <a:lnTo>
                  <a:pt x="96748" y="86753"/>
                </a:lnTo>
                <a:lnTo>
                  <a:pt x="96748" y="99453"/>
                </a:lnTo>
                <a:lnTo>
                  <a:pt x="144843" y="99453"/>
                </a:lnTo>
                <a:lnTo>
                  <a:pt x="144843" y="86753"/>
                </a:lnTo>
                <a:lnTo>
                  <a:pt x="112725" y="86753"/>
                </a:lnTo>
                <a:lnTo>
                  <a:pt x="112725" y="56273"/>
                </a:lnTo>
                <a:lnTo>
                  <a:pt x="141605" y="56273"/>
                </a:lnTo>
                <a:lnTo>
                  <a:pt x="141605" y="43573"/>
                </a:lnTo>
                <a:lnTo>
                  <a:pt x="112725" y="43573"/>
                </a:lnTo>
                <a:lnTo>
                  <a:pt x="112725" y="13093"/>
                </a:lnTo>
                <a:lnTo>
                  <a:pt x="144843" y="13093"/>
                </a:lnTo>
                <a:lnTo>
                  <a:pt x="144843" y="393"/>
                </a:lnTo>
                <a:close/>
              </a:path>
              <a:path w="242570" h="100329">
                <a:moveTo>
                  <a:pt x="208483" y="393"/>
                </a:moveTo>
                <a:lnTo>
                  <a:pt x="160375" y="393"/>
                </a:lnTo>
                <a:lnTo>
                  <a:pt x="160375" y="13093"/>
                </a:lnTo>
                <a:lnTo>
                  <a:pt x="160375" y="43573"/>
                </a:lnTo>
                <a:lnTo>
                  <a:pt x="160375" y="56273"/>
                </a:lnTo>
                <a:lnTo>
                  <a:pt x="160375" y="86753"/>
                </a:lnTo>
                <a:lnTo>
                  <a:pt x="160375" y="99453"/>
                </a:lnTo>
                <a:lnTo>
                  <a:pt x="208483" y="99453"/>
                </a:lnTo>
                <a:lnTo>
                  <a:pt x="208483" y="86753"/>
                </a:lnTo>
                <a:lnTo>
                  <a:pt x="176364" y="86753"/>
                </a:lnTo>
                <a:lnTo>
                  <a:pt x="176364" y="56273"/>
                </a:lnTo>
                <a:lnTo>
                  <a:pt x="205244" y="56273"/>
                </a:lnTo>
                <a:lnTo>
                  <a:pt x="205244" y="43573"/>
                </a:lnTo>
                <a:lnTo>
                  <a:pt x="176364" y="43573"/>
                </a:lnTo>
                <a:lnTo>
                  <a:pt x="176364" y="13093"/>
                </a:lnTo>
                <a:lnTo>
                  <a:pt x="208483" y="13093"/>
                </a:lnTo>
                <a:lnTo>
                  <a:pt x="208483" y="393"/>
                </a:lnTo>
                <a:close/>
              </a:path>
              <a:path w="242570" h="100329">
                <a:moveTo>
                  <a:pt x="242557" y="0"/>
                </a:moveTo>
                <a:lnTo>
                  <a:pt x="226580" y="0"/>
                </a:lnTo>
                <a:lnTo>
                  <a:pt x="226580" y="99847"/>
                </a:lnTo>
                <a:lnTo>
                  <a:pt x="242557" y="99847"/>
                </a:lnTo>
                <a:lnTo>
                  <a:pt x="242557" y="0"/>
                </a:lnTo>
                <a:close/>
              </a:path>
            </a:pathLst>
          </a:custGeom>
          <a:solidFill>
            <a:srgbClr val="0045A5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1" name="object 61" descr=""/>
          <p:cNvGrpSpPr/>
          <p:nvPr/>
        </p:nvGrpSpPr>
        <p:grpSpPr>
          <a:xfrm>
            <a:off x="10544174" y="6343649"/>
            <a:ext cx="1457325" cy="323850"/>
            <a:chOff x="10544174" y="6343649"/>
            <a:chExt cx="1457325" cy="323850"/>
          </a:xfrm>
        </p:grpSpPr>
        <p:sp>
          <p:nvSpPr>
            <p:cNvPr id="62" name="object 62" descr=""/>
            <p:cNvSpPr/>
            <p:nvPr/>
          </p:nvSpPr>
          <p:spPr>
            <a:xfrm>
              <a:off x="10544174" y="634364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6584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64" name="object 6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75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50"/>
              <a:t>Genspark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7010399"/>
            <a:ext cx="12192000" cy="114300"/>
          </a:xfrm>
          <a:custGeom>
            <a:avLst/>
            <a:gdLst/>
            <a:ahLst/>
            <a:cxnLst/>
            <a:rect l="l" t="t" r="r" b="b"/>
            <a:pathLst>
              <a:path w="12192000" h="114300">
                <a:moveTo>
                  <a:pt x="12191999" y="114299"/>
                </a:moveTo>
                <a:lnTo>
                  <a:pt x="0" y="1142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114299"/>
                </a:lnTo>
                <a:close/>
              </a:path>
            </a:pathLst>
          </a:custGeom>
          <a:solidFill>
            <a:srgbClr val="0045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1700" y="682720"/>
            <a:ext cx="3823335" cy="156845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100"/>
              </a:spcBef>
            </a:pPr>
            <a:r>
              <a:rPr dirty="0" spc="-210"/>
              <a:t>Two-</a:t>
            </a:r>
            <a:r>
              <a:rPr dirty="0" spc="-180"/>
              <a:t>Area</a:t>
            </a:r>
            <a:r>
              <a:rPr dirty="0" spc="-30"/>
              <a:t> </a:t>
            </a:r>
            <a:r>
              <a:rPr dirty="0" spc="-185"/>
              <a:t>System</a:t>
            </a:r>
            <a:r>
              <a:rPr dirty="0" spc="-25"/>
              <a:t> </a:t>
            </a:r>
            <a:r>
              <a:rPr dirty="0" spc="-155"/>
              <a:t>Model </a:t>
            </a:r>
            <a:r>
              <a:rPr dirty="0" spc="-160"/>
              <a:t>with</a:t>
            </a:r>
            <a:r>
              <a:rPr dirty="0" spc="-40"/>
              <a:t> </a:t>
            </a:r>
            <a:r>
              <a:rPr dirty="0" spc="-180"/>
              <a:t>Renewables</a:t>
            </a:r>
            <a:r>
              <a:rPr dirty="0" spc="-40"/>
              <a:t> </a:t>
            </a:r>
            <a:r>
              <a:rPr dirty="0" spc="-50"/>
              <a:t>&amp; </a:t>
            </a:r>
            <a:r>
              <a:rPr dirty="0" spc="-20"/>
              <a:t>SMES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2832794"/>
            <a:ext cx="186481" cy="1864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240581" y="2549372"/>
            <a:ext cx="3441065" cy="6731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4900"/>
              </a:lnSpc>
              <a:spcBef>
                <a:spcPts val="95"/>
              </a:spcBef>
            </a:pPr>
            <a:r>
              <a:rPr dirty="0" sz="1850" spc="-105">
                <a:latin typeface="Roboto"/>
                <a:cs typeface="Roboto"/>
              </a:rPr>
              <a:t>Each</a:t>
            </a:r>
            <a:r>
              <a:rPr dirty="0" sz="1850" spc="-10">
                <a:latin typeface="Roboto"/>
                <a:cs typeface="Roboto"/>
              </a:rPr>
              <a:t> </a:t>
            </a:r>
            <a:r>
              <a:rPr dirty="0" sz="1850" spc="-95">
                <a:latin typeface="Roboto"/>
                <a:cs typeface="Roboto"/>
              </a:rPr>
              <a:t>area:</a:t>
            </a:r>
            <a:r>
              <a:rPr dirty="0" sz="1850" spc="-5">
                <a:latin typeface="Roboto"/>
                <a:cs typeface="Roboto"/>
              </a:rPr>
              <a:t> </a:t>
            </a:r>
            <a:r>
              <a:rPr dirty="0" sz="1850" spc="-95">
                <a:latin typeface="Roboto"/>
                <a:cs typeface="Roboto"/>
              </a:rPr>
              <a:t>Conventional</a:t>
            </a:r>
            <a:r>
              <a:rPr dirty="0" sz="1850" spc="-10">
                <a:latin typeface="Roboto"/>
                <a:cs typeface="Roboto"/>
              </a:rPr>
              <a:t> </a:t>
            </a:r>
            <a:r>
              <a:rPr dirty="0" sz="1850" spc="-105">
                <a:latin typeface="Roboto"/>
                <a:cs typeface="Roboto"/>
              </a:rPr>
              <a:t>generator</a:t>
            </a:r>
            <a:r>
              <a:rPr dirty="0" sz="1850" spc="-5">
                <a:latin typeface="Roboto"/>
                <a:cs typeface="Roboto"/>
              </a:rPr>
              <a:t> </a:t>
            </a:r>
            <a:r>
              <a:rPr dirty="0" sz="1850" spc="-50">
                <a:latin typeface="Roboto"/>
                <a:cs typeface="Roboto"/>
              </a:rPr>
              <a:t>+ </a:t>
            </a:r>
            <a:r>
              <a:rPr dirty="0" sz="1850" spc="-105">
                <a:latin typeface="Roboto"/>
                <a:cs typeface="Roboto"/>
              </a:rPr>
              <a:t>wind</a:t>
            </a:r>
            <a:r>
              <a:rPr dirty="0" sz="1850" spc="-20">
                <a:latin typeface="Roboto"/>
                <a:cs typeface="Roboto"/>
              </a:rPr>
              <a:t> farm</a:t>
            </a:r>
            <a:endParaRPr sz="1850">
              <a:latin typeface="Roboto"/>
              <a:cs typeface="Roboto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3546935"/>
            <a:ext cx="183228" cy="183228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240581" y="3455161"/>
            <a:ext cx="3111500" cy="3105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850" spc="-85">
                <a:latin typeface="Roboto"/>
                <a:cs typeface="Roboto"/>
              </a:rPr>
              <a:t>Tie-</a:t>
            </a:r>
            <a:r>
              <a:rPr dirty="0" sz="1850" spc="-80">
                <a:latin typeface="Roboto"/>
                <a:cs typeface="Roboto"/>
              </a:rPr>
              <a:t>line</a:t>
            </a:r>
            <a:r>
              <a:rPr dirty="0" sz="1850" spc="-5">
                <a:latin typeface="Roboto"/>
                <a:cs typeface="Roboto"/>
              </a:rPr>
              <a:t> </a:t>
            </a:r>
            <a:r>
              <a:rPr dirty="0" sz="1850" spc="-105">
                <a:latin typeface="Roboto"/>
                <a:cs typeface="Roboto"/>
              </a:rPr>
              <a:t>enables</a:t>
            </a:r>
            <a:r>
              <a:rPr dirty="0" sz="1850" spc="5">
                <a:latin typeface="Roboto"/>
                <a:cs typeface="Roboto"/>
              </a:rPr>
              <a:t> </a:t>
            </a:r>
            <a:r>
              <a:rPr dirty="0" sz="1850" spc="-110">
                <a:latin typeface="Roboto"/>
                <a:cs typeface="Roboto"/>
              </a:rPr>
              <a:t>power</a:t>
            </a:r>
            <a:r>
              <a:rPr dirty="0" sz="1850" spc="10">
                <a:latin typeface="Roboto"/>
                <a:cs typeface="Roboto"/>
              </a:rPr>
              <a:t> </a:t>
            </a:r>
            <a:r>
              <a:rPr dirty="0" sz="1850" spc="-65">
                <a:latin typeface="Roboto"/>
                <a:cs typeface="Roboto"/>
              </a:rPr>
              <a:t>exchange</a:t>
            </a:r>
            <a:endParaRPr sz="1850">
              <a:latin typeface="Roboto"/>
              <a:cs typeface="Roboto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4413710"/>
            <a:ext cx="183228" cy="183228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240581" y="3978122"/>
            <a:ext cx="3420745" cy="9779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13199"/>
              </a:lnSpc>
              <a:spcBef>
                <a:spcPts val="55"/>
              </a:spcBef>
            </a:pPr>
            <a:r>
              <a:rPr dirty="0" sz="1850" spc="-100">
                <a:latin typeface="Roboto"/>
                <a:cs typeface="Roboto"/>
              </a:rPr>
              <a:t>Mathematical</a:t>
            </a:r>
            <a:r>
              <a:rPr dirty="0" sz="1850" spc="10">
                <a:latin typeface="Roboto"/>
                <a:cs typeface="Roboto"/>
              </a:rPr>
              <a:t> </a:t>
            </a:r>
            <a:r>
              <a:rPr dirty="0" sz="1850" spc="-95">
                <a:latin typeface="Roboto"/>
                <a:cs typeface="Roboto"/>
              </a:rPr>
              <a:t>blocks:</a:t>
            </a:r>
            <a:r>
              <a:rPr dirty="0" sz="1850" spc="10">
                <a:latin typeface="Roboto"/>
                <a:cs typeface="Roboto"/>
              </a:rPr>
              <a:t> </a:t>
            </a:r>
            <a:r>
              <a:rPr dirty="0" sz="1850" spc="-10">
                <a:latin typeface="Roboto"/>
                <a:cs typeface="Roboto"/>
              </a:rPr>
              <a:t>Governor, </a:t>
            </a:r>
            <a:r>
              <a:rPr dirty="0" sz="1850" spc="-80">
                <a:latin typeface="Roboto"/>
                <a:cs typeface="Roboto"/>
              </a:rPr>
              <a:t>turbine,</a:t>
            </a:r>
            <a:r>
              <a:rPr dirty="0" sz="1850" spc="5">
                <a:latin typeface="Roboto"/>
                <a:cs typeface="Roboto"/>
              </a:rPr>
              <a:t> </a:t>
            </a:r>
            <a:r>
              <a:rPr dirty="0" sz="1850" spc="-100">
                <a:latin typeface="Roboto"/>
                <a:cs typeface="Roboto"/>
              </a:rPr>
              <a:t>generator-</a:t>
            </a:r>
            <a:r>
              <a:rPr dirty="0" sz="1850" spc="-85">
                <a:latin typeface="Roboto"/>
                <a:cs typeface="Roboto"/>
              </a:rPr>
              <a:t>load,</a:t>
            </a:r>
            <a:r>
              <a:rPr dirty="0" sz="1850" spc="10">
                <a:latin typeface="Roboto"/>
                <a:cs typeface="Roboto"/>
              </a:rPr>
              <a:t> </a:t>
            </a:r>
            <a:r>
              <a:rPr dirty="0" sz="1850" spc="-105">
                <a:latin typeface="Roboto"/>
                <a:cs typeface="Roboto"/>
              </a:rPr>
              <a:t>wind</a:t>
            </a:r>
            <a:r>
              <a:rPr dirty="0" sz="1850" spc="10">
                <a:latin typeface="Roboto"/>
                <a:cs typeface="Roboto"/>
              </a:rPr>
              <a:t> </a:t>
            </a:r>
            <a:r>
              <a:rPr dirty="0" sz="1850" spc="-55">
                <a:latin typeface="Roboto"/>
                <a:cs typeface="Roboto"/>
              </a:rPr>
              <a:t>turbine </a:t>
            </a:r>
            <a:r>
              <a:rPr dirty="0" sz="1850" spc="-95">
                <a:latin typeface="Roboto"/>
                <a:cs typeface="Roboto"/>
              </a:rPr>
              <a:t>with</a:t>
            </a:r>
            <a:r>
              <a:rPr dirty="0" sz="1850" spc="-15">
                <a:latin typeface="Roboto"/>
                <a:cs typeface="Roboto"/>
              </a:rPr>
              <a:t> </a:t>
            </a:r>
            <a:r>
              <a:rPr dirty="0" sz="1850" spc="-90">
                <a:latin typeface="Roboto"/>
                <a:cs typeface="Roboto"/>
              </a:rPr>
              <a:t>pitch</a:t>
            </a:r>
            <a:r>
              <a:rPr dirty="0" sz="1850" spc="-15">
                <a:latin typeface="Roboto"/>
                <a:cs typeface="Roboto"/>
              </a:rPr>
              <a:t> </a:t>
            </a:r>
            <a:r>
              <a:rPr dirty="0" sz="1850" spc="-10">
                <a:latin typeface="Roboto"/>
                <a:cs typeface="Roboto"/>
              </a:rPr>
              <a:t>control</a:t>
            </a:r>
            <a:endParaRPr sz="1850">
              <a:latin typeface="Roboto"/>
              <a:cs typeface="Roboto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5604335"/>
            <a:ext cx="183228" cy="183228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1240581" y="5168747"/>
            <a:ext cx="3258185" cy="9779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13199"/>
              </a:lnSpc>
              <a:spcBef>
                <a:spcPts val="55"/>
              </a:spcBef>
            </a:pPr>
            <a:r>
              <a:rPr dirty="0" sz="1850" spc="-125">
                <a:latin typeface="Roboto"/>
                <a:cs typeface="Roboto"/>
              </a:rPr>
              <a:t>SMES</a:t>
            </a:r>
            <a:r>
              <a:rPr dirty="0" sz="1850" spc="-20">
                <a:latin typeface="Roboto"/>
                <a:cs typeface="Roboto"/>
              </a:rPr>
              <a:t> </a:t>
            </a:r>
            <a:r>
              <a:rPr dirty="0" sz="1850" spc="-95">
                <a:latin typeface="Roboto"/>
                <a:cs typeface="Roboto"/>
              </a:rPr>
              <a:t>(Superconducting</a:t>
            </a:r>
            <a:r>
              <a:rPr dirty="0" sz="1850" spc="-15">
                <a:latin typeface="Roboto"/>
                <a:cs typeface="Roboto"/>
              </a:rPr>
              <a:t> </a:t>
            </a:r>
            <a:r>
              <a:rPr dirty="0" sz="1850" spc="-80">
                <a:latin typeface="Roboto"/>
                <a:cs typeface="Roboto"/>
              </a:rPr>
              <a:t>Magnetic </a:t>
            </a:r>
            <a:r>
              <a:rPr dirty="0" sz="1850" spc="-105">
                <a:latin typeface="Roboto"/>
                <a:cs typeface="Roboto"/>
              </a:rPr>
              <a:t>Energy</a:t>
            </a:r>
            <a:r>
              <a:rPr dirty="0" sz="1850" spc="-30">
                <a:latin typeface="Roboto"/>
                <a:cs typeface="Roboto"/>
              </a:rPr>
              <a:t> </a:t>
            </a:r>
            <a:r>
              <a:rPr dirty="0" sz="1850" spc="-95">
                <a:latin typeface="Roboto"/>
                <a:cs typeface="Roboto"/>
              </a:rPr>
              <a:t>Storage)</a:t>
            </a:r>
            <a:r>
              <a:rPr dirty="0" sz="1850" spc="-25">
                <a:latin typeface="Roboto"/>
                <a:cs typeface="Roboto"/>
              </a:rPr>
              <a:t> </a:t>
            </a:r>
            <a:r>
              <a:rPr dirty="0" sz="1850" spc="-80">
                <a:latin typeface="Roboto"/>
                <a:cs typeface="Roboto"/>
              </a:rPr>
              <a:t>for</a:t>
            </a:r>
            <a:r>
              <a:rPr dirty="0" sz="1850" spc="-30">
                <a:latin typeface="Roboto"/>
                <a:cs typeface="Roboto"/>
              </a:rPr>
              <a:t> </a:t>
            </a:r>
            <a:r>
              <a:rPr dirty="0" sz="1850" spc="-10">
                <a:latin typeface="Roboto"/>
                <a:cs typeface="Roboto"/>
              </a:rPr>
              <a:t>improved </a:t>
            </a:r>
            <a:r>
              <a:rPr dirty="0" sz="1850" spc="-105">
                <a:latin typeface="Roboto"/>
                <a:cs typeface="Roboto"/>
              </a:rPr>
              <a:t>frequency</a:t>
            </a:r>
            <a:r>
              <a:rPr dirty="0" sz="1850" spc="35">
                <a:latin typeface="Roboto"/>
                <a:cs typeface="Roboto"/>
              </a:rPr>
              <a:t> </a:t>
            </a:r>
            <a:r>
              <a:rPr dirty="0" sz="1850" spc="-10">
                <a:latin typeface="Roboto"/>
                <a:cs typeface="Roboto"/>
              </a:rPr>
              <a:t>regulation</a:t>
            </a:r>
            <a:endParaRPr sz="1850">
              <a:latin typeface="Roboto"/>
              <a:cs typeface="Roboto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86424" y="2528887"/>
            <a:ext cx="4972049" cy="2490787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6412656" y="2356482"/>
            <a:ext cx="471805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65" b="1">
                <a:solidFill>
                  <a:srgbClr val="0045A5"/>
                </a:solidFill>
                <a:latin typeface="Roboto"/>
                <a:cs typeface="Roboto"/>
              </a:rPr>
              <a:t>Area</a:t>
            </a:r>
            <a:r>
              <a:rPr dirty="0" sz="1300" spc="-15" b="1">
                <a:solidFill>
                  <a:srgbClr val="0045A5"/>
                </a:solidFill>
                <a:latin typeface="Roboto"/>
                <a:cs typeface="Roboto"/>
              </a:rPr>
              <a:t> </a:t>
            </a:r>
            <a:r>
              <a:rPr dirty="0" sz="1300" spc="-50" b="1">
                <a:solidFill>
                  <a:srgbClr val="0045A5"/>
                </a:solidFill>
                <a:latin typeface="Roboto"/>
                <a:cs typeface="Roboto"/>
              </a:rPr>
              <a:t>1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9460656" y="2356482"/>
            <a:ext cx="471805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65" b="1">
                <a:solidFill>
                  <a:srgbClr val="0045A5"/>
                </a:solidFill>
                <a:latin typeface="Roboto"/>
                <a:cs typeface="Roboto"/>
              </a:rPr>
              <a:t>Area</a:t>
            </a:r>
            <a:r>
              <a:rPr dirty="0" sz="1300" spc="-15" b="1">
                <a:solidFill>
                  <a:srgbClr val="0045A5"/>
                </a:solidFill>
                <a:latin typeface="Roboto"/>
                <a:cs typeface="Roboto"/>
              </a:rPr>
              <a:t> </a:t>
            </a:r>
            <a:r>
              <a:rPr dirty="0" sz="1300" spc="-50" b="1">
                <a:solidFill>
                  <a:srgbClr val="0045A5"/>
                </a:solidFill>
                <a:latin typeface="Roboto"/>
                <a:cs typeface="Roboto"/>
              </a:rPr>
              <a:t>2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7945288" y="3325098"/>
            <a:ext cx="454659" cy="2038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50" spc="-50">
                <a:solidFill>
                  <a:srgbClr val="333333"/>
                </a:solidFill>
                <a:latin typeface="Roboto"/>
                <a:cs typeface="Roboto"/>
              </a:rPr>
              <a:t>Tie-</a:t>
            </a:r>
            <a:r>
              <a:rPr dirty="0" sz="1150" spc="-30">
                <a:solidFill>
                  <a:srgbClr val="333333"/>
                </a:solidFill>
                <a:latin typeface="Roboto"/>
                <a:cs typeface="Roboto"/>
              </a:rPr>
              <a:t>line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7994699" y="3536791"/>
            <a:ext cx="35560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45454"/>
                </a:solidFill>
                <a:latin typeface="Calibri"/>
                <a:cs typeface="Calibri"/>
              </a:rPr>
              <a:t>Δ</a:t>
            </a:r>
            <a:r>
              <a:rPr dirty="0" sz="1000" spc="-10">
                <a:solidFill>
                  <a:srgbClr val="545454"/>
                </a:solidFill>
                <a:latin typeface="Roboto"/>
                <a:cs typeface="Roboto"/>
              </a:rPr>
              <a:t>P_tie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918844" y="2986484"/>
            <a:ext cx="411480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-30">
                <a:solidFill>
                  <a:srgbClr val="545454"/>
                </a:solidFill>
                <a:latin typeface="Roboto"/>
                <a:cs typeface="Roboto"/>
              </a:rPr>
              <a:t>Governor</a:t>
            </a:r>
            <a:endParaRPr sz="800">
              <a:latin typeface="Roboto"/>
              <a:cs typeface="Roboto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6620123" y="2986484"/>
            <a:ext cx="342900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-30">
                <a:solidFill>
                  <a:srgbClr val="545454"/>
                </a:solidFill>
                <a:latin typeface="Roboto"/>
                <a:cs typeface="Roboto"/>
              </a:rPr>
              <a:t>Turbine</a:t>
            </a:r>
            <a:endParaRPr sz="800">
              <a:latin typeface="Roboto"/>
              <a:cs typeface="Roboto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641554" y="3462734"/>
            <a:ext cx="680720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-35">
                <a:solidFill>
                  <a:srgbClr val="545454"/>
                </a:solidFill>
                <a:latin typeface="Roboto"/>
                <a:cs typeface="Roboto"/>
              </a:rPr>
              <a:t>Generator-</a:t>
            </a:r>
            <a:r>
              <a:rPr dirty="0" sz="800" spc="-20">
                <a:solidFill>
                  <a:srgbClr val="545454"/>
                </a:solidFill>
                <a:latin typeface="Roboto"/>
                <a:cs typeface="Roboto"/>
              </a:rPr>
              <a:t>Load</a:t>
            </a:r>
            <a:endParaRPr sz="800">
              <a:latin typeface="Roboto"/>
              <a:cs typeface="Roboto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8966844" y="2986484"/>
            <a:ext cx="411480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-30">
                <a:solidFill>
                  <a:srgbClr val="545454"/>
                </a:solidFill>
                <a:latin typeface="Roboto"/>
                <a:cs typeface="Roboto"/>
              </a:rPr>
              <a:t>Governor</a:t>
            </a:r>
            <a:endParaRPr sz="800">
              <a:latin typeface="Roboto"/>
              <a:cs typeface="Roboto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9668123" y="2986484"/>
            <a:ext cx="342900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-30">
                <a:solidFill>
                  <a:srgbClr val="545454"/>
                </a:solidFill>
                <a:latin typeface="Roboto"/>
                <a:cs typeface="Roboto"/>
              </a:rPr>
              <a:t>Turbine</a:t>
            </a:r>
            <a:endParaRPr sz="800">
              <a:latin typeface="Roboto"/>
              <a:cs typeface="Roboto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9689554" y="3462734"/>
            <a:ext cx="680720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-35">
                <a:solidFill>
                  <a:srgbClr val="545454"/>
                </a:solidFill>
                <a:latin typeface="Roboto"/>
                <a:cs typeface="Roboto"/>
              </a:rPr>
              <a:t>Generator-</a:t>
            </a:r>
            <a:r>
              <a:rPr dirty="0" sz="800" spc="-20">
                <a:solidFill>
                  <a:srgbClr val="545454"/>
                </a:solidFill>
                <a:latin typeface="Roboto"/>
                <a:cs typeface="Roboto"/>
              </a:rPr>
              <a:t>Load</a:t>
            </a:r>
            <a:endParaRPr sz="800">
              <a:latin typeface="Roboto"/>
              <a:cs typeface="Roboto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6258619" y="4778892"/>
            <a:ext cx="779780" cy="1739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50" spc="-40">
                <a:solidFill>
                  <a:srgbClr val="0045A5"/>
                </a:solidFill>
                <a:latin typeface="Roboto"/>
                <a:cs typeface="Roboto"/>
              </a:rPr>
              <a:t>ABC-</a:t>
            </a:r>
            <a:r>
              <a:rPr dirty="0" sz="950" spc="-35">
                <a:solidFill>
                  <a:srgbClr val="0045A5"/>
                </a:solidFill>
                <a:latin typeface="Roboto"/>
                <a:cs typeface="Roboto"/>
              </a:rPr>
              <a:t>Fuzzy-</a:t>
            </a:r>
            <a:r>
              <a:rPr dirty="0" sz="950" spc="-25">
                <a:solidFill>
                  <a:srgbClr val="0045A5"/>
                </a:solidFill>
                <a:latin typeface="Roboto"/>
                <a:cs typeface="Roboto"/>
              </a:rPr>
              <a:t>PID</a:t>
            </a:r>
            <a:endParaRPr sz="950">
              <a:latin typeface="Roboto"/>
              <a:cs typeface="Roboto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9306618" y="4778892"/>
            <a:ext cx="779780" cy="1739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50" spc="-40">
                <a:solidFill>
                  <a:srgbClr val="0045A5"/>
                </a:solidFill>
                <a:latin typeface="Roboto"/>
                <a:cs typeface="Roboto"/>
              </a:rPr>
              <a:t>ABC-</a:t>
            </a:r>
            <a:r>
              <a:rPr dirty="0" sz="950" spc="-35">
                <a:solidFill>
                  <a:srgbClr val="0045A5"/>
                </a:solidFill>
                <a:latin typeface="Roboto"/>
                <a:cs typeface="Roboto"/>
              </a:rPr>
              <a:t>Fuzzy-</a:t>
            </a:r>
            <a:r>
              <a:rPr dirty="0" sz="950" spc="-25">
                <a:solidFill>
                  <a:srgbClr val="0045A5"/>
                </a:solidFill>
                <a:latin typeface="Roboto"/>
                <a:cs typeface="Roboto"/>
              </a:rPr>
              <a:t>PID</a:t>
            </a:r>
            <a:endParaRPr sz="950">
              <a:latin typeface="Roboto"/>
              <a:cs typeface="Roboto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6159499" y="3198177"/>
            <a:ext cx="374015" cy="1276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50" spc="-25">
                <a:solidFill>
                  <a:srgbClr val="545454"/>
                </a:solidFill>
                <a:latin typeface="Roboto"/>
                <a:cs typeface="Roboto"/>
              </a:rPr>
              <a:t>1/(1+sTG)</a:t>
            </a:r>
            <a:endParaRPr sz="650">
              <a:latin typeface="Roboto"/>
              <a:cs typeface="Roboto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6778625" y="3198177"/>
            <a:ext cx="369570" cy="1276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50" spc="-25">
                <a:solidFill>
                  <a:srgbClr val="545454"/>
                </a:solidFill>
                <a:latin typeface="Roboto"/>
                <a:cs typeface="Roboto"/>
              </a:rPr>
              <a:t>1/(1+sTT)</a:t>
            </a:r>
            <a:endParaRPr sz="650">
              <a:latin typeface="Roboto"/>
              <a:cs typeface="Roboto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6969125" y="3674427"/>
            <a:ext cx="382270" cy="1276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50" spc="-25">
                <a:solidFill>
                  <a:srgbClr val="545454"/>
                </a:solidFill>
                <a:latin typeface="Roboto"/>
                <a:cs typeface="Roboto"/>
              </a:rPr>
              <a:t>1/(2Hs+D)</a:t>
            </a:r>
            <a:endParaRPr sz="650">
              <a:latin typeface="Roboto"/>
              <a:cs typeface="Roboto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5952975" y="3903860"/>
            <a:ext cx="1559560" cy="382905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9"/>
              </a:spcBef>
              <a:tabLst>
                <a:tab pos="1045844" algn="l"/>
              </a:tabLst>
            </a:pPr>
            <a:r>
              <a:rPr dirty="0" sz="800" spc="-30">
                <a:solidFill>
                  <a:srgbClr val="545454"/>
                </a:solidFill>
                <a:latin typeface="Roboto"/>
                <a:cs typeface="Roboto"/>
              </a:rPr>
              <a:t>Wind </a:t>
            </a:r>
            <a:r>
              <a:rPr dirty="0" sz="800" spc="-10">
                <a:solidFill>
                  <a:srgbClr val="545454"/>
                </a:solidFill>
                <a:latin typeface="Roboto"/>
                <a:cs typeface="Roboto"/>
              </a:rPr>
              <a:t>Turbine</a:t>
            </a:r>
            <a:r>
              <a:rPr dirty="0" sz="800">
                <a:solidFill>
                  <a:srgbClr val="545454"/>
                </a:solidFill>
                <a:latin typeface="Roboto"/>
                <a:cs typeface="Roboto"/>
              </a:rPr>
              <a:t>	</a:t>
            </a:r>
            <a:r>
              <a:rPr dirty="0" sz="800" spc="-20">
                <a:solidFill>
                  <a:srgbClr val="0045A5"/>
                </a:solidFill>
                <a:latin typeface="Roboto"/>
                <a:cs typeface="Roboto"/>
              </a:rPr>
              <a:t>SMES</a:t>
            </a:r>
            <a:endParaRPr sz="800">
              <a:latin typeface="Roboto"/>
              <a:cs typeface="Roboto"/>
            </a:endParaRPr>
          </a:p>
          <a:p>
            <a:pPr marL="314325">
              <a:lnSpc>
                <a:spcPct val="100000"/>
              </a:lnSpc>
              <a:spcBef>
                <a:spcPts val="340"/>
              </a:spcBef>
            </a:pPr>
            <a:r>
              <a:rPr dirty="0" sz="650" spc="-10">
                <a:solidFill>
                  <a:srgbClr val="545454"/>
                </a:solidFill>
                <a:latin typeface="Roboto"/>
                <a:cs typeface="Roboto"/>
              </a:rPr>
              <a:t>P=0.5</a:t>
            </a:r>
            <a:r>
              <a:rPr dirty="0" sz="600" spc="-10">
                <a:solidFill>
                  <a:srgbClr val="545454"/>
                </a:solidFill>
                <a:latin typeface="Calibri"/>
                <a:cs typeface="Calibri"/>
              </a:rPr>
              <a:t>ρ</a:t>
            </a:r>
            <a:r>
              <a:rPr dirty="0" sz="650" spc="-10">
                <a:solidFill>
                  <a:srgbClr val="545454"/>
                </a:solidFill>
                <a:latin typeface="Roboto"/>
                <a:cs typeface="Roboto"/>
              </a:rPr>
              <a:t>Av³Cp(</a:t>
            </a:r>
            <a:r>
              <a:rPr dirty="0" sz="600" spc="-10">
                <a:solidFill>
                  <a:srgbClr val="545454"/>
                </a:solidFill>
                <a:latin typeface="Calibri"/>
                <a:cs typeface="Calibri"/>
              </a:rPr>
              <a:t>λ</a:t>
            </a:r>
            <a:r>
              <a:rPr dirty="0" sz="650" spc="-10">
                <a:solidFill>
                  <a:srgbClr val="545454"/>
                </a:solidFill>
                <a:latin typeface="Roboto"/>
                <a:cs typeface="Roboto"/>
              </a:rPr>
              <a:t>,</a:t>
            </a:r>
            <a:r>
              <a:rPr dirty="0" sz="600" spc="-10">
                <a:solidFill>
                  <a:srgbClr val="545454"/>
                </a:solidFill>
                <a:latin typeface="Calibri"/>
                <a:cs typeface="Calibri"/>
              </a:rPr>
              <a:t>β</a:t>
            </a:r>
            <a:r>
              <a:rPr dirty="0" sz="650" spc="-10">
                <a:solidFill>
                  <a:srgbClr val="545454"/>
                </a:solidFill>
                <a:latin typeface="Roboto"/>
                <a:cs typeface="Roboto"/>
              </a:rPr>
              <a:t>)</a:t>
            </a:r>
            <a:r>
              <a:rPr dirty="0" sz="650" spc="9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baseline="-24691" sz="1350" spc="89">
                <a:solidFill>
                  <a:srgbClr val="545454"/>
                </a:solidFill>
                <a:latin typeface="Calibri"/>
                <a:cs typeface="Calibri"/>
              </a:rPr>
              <a:t>Δ</a:t>
            </a:r>
            <a:r>
              <a:rPr dirty="0" baseline="-22222" sz="1500" spc="89">
                <a:solidFill>
                  <a:srgbClr val="545454"/>
                </a:solidFill>
                <a:latin typeface="Roboto"/>
                <a:cs typeface="Roboto"/>
              </a:rPr>
              <a:t>f</a:t>
            </a:r>
            <a:r>
              <a:rPr dirty="0" baseline="-24691" sz="1350" spc="89">
                <a:solidFill>
                  <a:srgbClr val="545454"/>
                </a:solidFill>
                <a:latin typeface="Calibri"/>
                <a:cs typeface="Calibri"/>
              </a:rPr>
              <a:t>₁</a:t>
            </a:r>
            <a:r>
              <a:rPr dirty="0" baseline="-24691" sz="1350" spc="39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550" spc="-10">
                <a:solidFill>
                  <a:srgbClr val="0045A5"/>
                </a:solidFill>
                <a:latin typeface="Arial"/>
                <a:cs typeface="Arial"/>
              </a:rPr>
              <a:t>Δ</a:t>
            </a:r>
            <a:r>
              <a:rPr dirty="0" sz="650" spc="-10">
                <a:solidFill>
                  <a:srgbClr val="0045A5"/>
                </a:solidFill>
                <a:latin typeface="Roboto"/>
                <a:cs typeface="Roboto"/>
              </a:rPr>
              <a:t>P_SMES</a:t>
            </a:r>
            <a:endParaRPr sz="650">
              <a:latin typeface="Roboto"/>
              <a:cs typeface="Roboto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9207500" y="3198177"/>
            <a:ext cx="374015" cy="1276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50" spc="-25">
                <a:solidFill>
                  <a:srgbClr val="545454"/>
                </a:solidFill>
                <a:latin typeface="Roboto"/>
                <a:cs typeface="Roboto"/>
              </a:rPr>
              <a:t>1/(1+sTG)</a:t>
            </a:r>
            <a:endParaRPr sz="650">
              <a:latin typeface="Roboto"/>
              <a:cs typeface="Roboto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9826624" y="3198177"/>
            <a:ext cx="369570" cy="1276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50" spc="-25">
                <a:solidFill>
                  <a:srgbClr val="545454"/>
                </a:solidFill>
                <a:latin typeface="Roboto"/>
                <a:cs typeface="Roboto"/>
              </a:rPr>
              <a:t>1/(1+sTT)</a:t>
            </a:r>
            <a:endParaRPr sz="650">
              <a:latin typeface="Roboto"/>
              <a:cs typeface="Roboto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9000976" y="3674427"/>
            <a:ext cx="1559560" cy="6121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028700">
              <a:lnSpc>
                <a:spcPct val="100000"/>
              </a:lnSpc>
              <a:spcBef>
                <a:spcPts val="114"/>
              </a:spcBef>
            </a:pPr>
            <a:r>
              <a:rPr dirty="0" sz="650" spc="-10">
                <a:solidFill>
                  <a:srgbClr val="545454"/>
                </a:solidFill>
                <a:latin typeface="Roboto"/>
                <a:cs typeface="Roboto"/>
              </a:rPr>
              <a:t>1/(2Hs+D)</a:t>
            </a:r>
            <a:endParaRPr sz="6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600">
              <a:latin typeface="Roboto"/>
              <a:cs typeface="Roboto"/>
            </a:endParaRPr>
          </a:p>
          <a:p>
            <a:pPr marL="38100">
              <a:lnSpc>
                <a:spcPct val="100000"/>
              </a:lnSpc>
              <a:tabLst>
                <a:tab pos="1045844" algn="l"/>
              </a:tabLst>
            </a:pPr>
            <a:r>
              <a:rPr dirty="0" sz="800" spc="-30">
                <a:solidFill>
                  <a:srgbClr val="545454"/>
                </a:solidFill>
                <a:latin typeface="Roboto"/>
                <a:cs typeface="Roboto"/>
              </a:rPr>
              <a:t>Wind </a:t>
            </a:r>
            <a:r>
              <a:rPr dirty="0" sz="800" spc="-10">
                <a:solidFill>
                  <a:srgbClr val="545454"/>
                </a:solidFill>
                <a:latin typeface="Roboto"/>
                <a:cs typeface="Roboto"/>
              </a:rPr>
              <a:t>Turbine</a:t>
            </a:r>
            <a:r>
              <a:rPr dirty="0" sz="800">
                <a:solidFill>
                  <a:srgbClr val="545454"/>
                </a:solidFill>
                <a:latin typeface="Roboto"/>
                <a:cs typeface="Roboto"/>
              </a:rPr>
              <a:t>	</a:t>
            </a:r>
            <a:r>
              <a:rPr dirty="0" sz="800" spc="-20">
                <a:solidFill>
                  <a:srgbClr val="0045A5"/>
                </a:solidFill>
                <a:latin typeface="Roboto"/>
                <a:cs typeface="Roboto"/>
              </a:rPr>
              <a:t>SMES</a:t>
            </a:r>
            <a:endParaRPr sz="800">
              <a:latin typeface="Roboto"/>
              <a:cs typeface="Roboto"/>
            </a:endParaRPr>
          </a:p>
          <a:p>
            <a:pPr marL="314325">
              <a:lnSpc>
                <a:spcPct val="100000"/>
              </a:lnSpc>
              <a:spcBef>
                <a:spcPts val="340"/>
              </a:spcBef>
            </a:pPr>
            <a:r>
              <a:rPr dirty="0" sz="650" spc="-10">
                <a:solidFill>
                  <a:srgbClr val="545454"/>
                </a:solidFill>
                <a:latin typeface="Roboto"/>
                <a:cs typeface="Roboto"/>
              </a:rPr>
              <a:t>P=0.5</a:t>
            </a:r>
            <a:r>
              <a:rPr dirty="0" sz="600" spc="-10">
                <a:solidFill>
                  <a:srgbClr val="545454"/>
                </a:solidFill>
                <a:latin typeface="Calibri"/>
                <a:cs typeface="Calibri"/>
              </a:rPr>
              <a:t>ρ</a:t>
            </a:r>
            <a:r>
              <a:rPr dirty="0" sz="650" spc="-10">
                <a:solidFill>
                  <a:srgbClr val="545454"/>
                </a:solidFill>
                <a:latin typeface="Roboto"/>
                <a:cs typeface="Roboto"/>
              </a:rPr>
              <a:t>Av³Cp(</a:t>
            </a:r>
            <a:r>
              <a:rPr dirty="0" sz="600" spc="-10">
                <a:solidFill>
                  <a:srgbClr val="545454"/>
                </a:solidFill>
                <a:latin typeface="Calibri"/>
                <a:cs typeface="Calibri"/>
              </a:rPr>
              <a:t>λ</a:t>
            </a:r>
            <a:r>
              <a:rPr dirty="0" sz="650" spc="-10">
                <a:solidFill>
                  <a:srgbClr val="545454"/>
                </a:solidFill>
                <a:latin typeface="Roboto"/>
                <a:cs typeface="Roboto"/>
              </a:rPr>
              <a:t>,</a:t>
            </a:r>
            <a:r>
              <a:rPr dirty="0" sz="600" spc="-10">
                <a:solidFill>
                  <a:srgbClr val="545454"/>
                </a:solidFill>
                <a:latin typeface="Calibri"/>
                <a:cs typeface="Calibri"/>
              </a:rPr>
              <a:t>β</a:t>
            </a:r>
            <a:r>
              <a:rPr dirty="0" sz="650" spc="-10">
                <a:solidFill>
                  <a:srgbClr val="545454"/>
                </a:solidFill>
                <a:latin typeface="Roboto"/>
                <a:cs typeface="Roboto"/>
              </a:rPr>
              <a:t>)</a:t>
            </a:r>
            <a:r>
              <a:rPr dirty="0" sz="650" spc="13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baseline="-24691" sz="1350">
                <a:solidFill>
                  <a:srgbClr val="545454"/>
                </a:solidFill>
                <a:latin typeface="Calibri"/>
                <a:cs typeface="Calibri"/>
              </a:rPr>
              <a:t>Δ</a:t>
            </a:r>
            <a:r>
              <a:rPr dirty="0" baseline="-22222" sz="1500">
                <a:solidFill>
                  <a:srgbClr val="545454"/>
                </a:solidFill>
                <a:latin typeface="Roboto"/>
                <a:cs typeface="Roboto"/>
              </a:rPr>
              <a:t>f</a:t>
            </a:r>
            <a:r>
              <a:rPr dirty="0" baseline="-24691" sz="1350">
                <a:solidFill>
                  <a:srgbClr val="545454"/>
                </a:solidFill>
                <a:latin typeface="Calibri"/>
                <a:cs typeface="Calibri"/>
              </a:rPr>
              <a:t>₂</a:t>
            </a:r>
            <a:r>
              <a:rPr dirty="0" baseline="-24691" sz="1350" spc="487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550" spc="-10">
                <a:solidFill>
                  <a:srgbClr val="0045A5"/>
                </a:solidFill>
                <a:latin typeface="Arial"/>
                <a:cs typeface="Arial"/>
              </a:rPr>
              <a:t>Δ</a:t>
            </a:r>
            <a:r>
              <a:rPr dirty="0" sz="650" spc="-10">
                <a:solidFill>
                  <a:srgbClr val="0045A5"/>
                </a:solidFill>
                <a:latin typeface="Roboto"/>
                <a:cs typeface="Roboto"/>
              </a:rPr>
              <a:t>P_SMES</a:t>
            </a:r>
            <a:endParaRPr sz="650">
              <a:latin typeface="Roboto"/>
              <a:cs typeface="Roboto"/>
            </a:endParaRPr>
          </a:p>
        </p:txBody>
      </p:sp>
      <p:sp>
        <p:nvSpPr>
          <p:cNvPr id="32" name="object 32" descr=""/>
          <p:cNvSpPr/>
          <p:nvPr/>
        </p:nvSpPr>
        <p:spPr>
          <a:xfrm>
            <a:off x="11125187" y="552780"/>
            <a:ext cx="242570" cy="100330"/>
          </a:xfrm>
          <a:custGeom>
            <a:avLst/>
            <a:gdLst/>
            <a:ahLst/>
            <a:cxnLst/>
            <a:rect l="l" t="t" r="r" b="b"/>
            <a:pathLst>
              <a:path w="242570" h="100329">
                <a:moveTo>
                  <a:pt x="48107" y="393"/>
                </a:moveTo>
                <a:lnTo>
                  <a:pt x="0" y="393"/>
                </a:lnTo>
                <a:lnTo>
                  <a:pt x="0" y="13093"/>
                </a:lnTo>
                <a:lnTo>
                  <a:pt x="0" y="43573"/>
                </a:lnTo>
                <a:lnTo>
                  <a:pt x="0" y="56273"/>
                </a:lnTo>
                <a:lnTo>
                  <a:pt x="0" y="99453"/>
                </a:lnTo>
                <a:lnTo>
                  <a:pt x="15989" y="99453"/>
                </a:lnTo>
                <a:lnTo>
                  <a:pt x="15989" y="56273"/>
                </a:lnTo>
                <a:lnTo>
                  <a:pt x="44869" y="56273"/>
                </a:lnTo>
                <a:lnTo>
                  <a:pt x="44869" y="43573"/>
                </a:lnTo>
                <a:lnTo>
                  <a:pt x="15989" y="43573"/>
                </a:lnTo>
                <a:lnTo>
                  <a:pt x="15989" y="13093"/>
                </a:lnTo>
                <a:lnTo>
                  <a:pt x="48107" y="13093"/>
                </a:lnTo>
                <a:lnTo>
                  <a:pt x="48107" y="393"/>
                </a:lnTo>
                <a:close/>
              </a:path>
              <a:path w="242570" h="100329">
                <a:moveTo>
                  <a:pt x="77597" y="0"/>
                </a:moveTo>
                <a:lnTo>
                  <a:pt x="61620" y="0"/>
                </a:lnTo>
                <a:lnTo>
                  <a:pt x="61620" y="99847"/>
                </a:lnTo>
                <a:lnTo>
                  <a:pt x="77597" y="99847"/>
                </a:lnTo>
                <a:lnTo>
                  <a:pt x="77597" y="0"/>
                </a:lnTo>
                <a:close/>
              </a:path>
              <a:path w="242570" h="100329">
                <a:moveTo>
                  <a:pt x="144843" y="393"/>
                </a:moveTo>
                <a:lnTo>
                  <a:pt x="96748" y="393"/>
                </a:lnTo>
                <a:lnTo>
                  <a:pt x="96748" y="13093"/>
                </a:lnTo>
                <a:lnTo>
                  <a:pt x="96748" y="43573"/>
                </a:lnTo>
                <a:lnTo>
                  <a:pt x="96748" y="56273"/>
                </a:lnTo>
                <a:lnTo>
                  <a:pt x="96748" y="86753"/>
                </a:lnTo>
                <a:lnTo>
                  <a:pt x="96748" y="99453"/>
                </a:lnTo>
                <a:lnTo>
                  <a:pt x="144843" y="99453"/>
                </a:lnTo>
                <a:lnTo>
                  <a:pt x="144843" y="86753"/>
                </a:lnTo>
                <a:lnTo>
                  <a:pt x="112725" y="86753"/>
                </a:lnTo>
                <a:lnTo>
                  <a:pt x="112725" y="56273"/>
                </a:lnTo>
                <a:lnTo>
                  <a:pt x="141605" y="56273"/>
                </a:lnTo>
                <a:lnTo>
                  <a:pt x="141605" y="43573"/>
                </a:lnTo>
                <a:lnTo>
                  <a:pt x="112725" y="43573"/>
                </a:lnTo>
                <a:lnTo>
                  <a:pt x="112725" y="13093"/>
                </a:lnTo>
                <a:lnTo>
                  <a:pt x="144843" y="13093"/>
                </a:lnTo>
                <a:lnTo>
                  <a:pt x="144843" y="393"/>
                </a:lnTo>
                <a:close/>
              </a:path>
              <a:path w="242570" h="100329">
                <a:moveTo>
                  <a:pt x="208483" y="393"/>
                </a:moveTo>
                <a:lnTo>
                  <a:pt x="160375" y="393"/>
                </a:lnTo>
                <a:lnTo>
                  <a:pt x="160375" y="13093"/>
                </a:lnTo>
                <a:lnTo>
                  <a:pt x="160375" y="43573"/>
                </a:lnTo>
                <a:lnTo>
                  <a:pt x="160375" y="56273"/>
                </a:lnTo>
                <a:lnTo>
                  <a:pt x="160375" y="86753"/>
                </a:lnTo>
                <a:lnTo>
                  <a:pt x="160375" y="99453"/>
                </a:lnTo>
                <a:lnTo>
                  <a:pt x="208483" y="99453"/>
                </a:lnTo>
                <a:lnTo>
                  <a:pt x="208483" y="86753"/>
                </a:lnTo>
                <a:lnTo>
                  <a:pt x="176364" y="86753"/>
                </a:lnTo>
                <a:lnTo>
                  <a:pt x="176364" y="56273"/>
                </a:lnTo>
                <a:lnTo>
                  <a:pt x="205244" y="56273"/>
                </a:lnTo>
                <a:lnTo>
                  <a:pt x="205244" y="43573"/>
                </a:lnTo>
                <a:lnTo>
                  <a:pt x="176364" y="43573"/>
                </a:lnTo>
                <a:lnTo>
                  <a:pt x="176364" y="13093"/>
                </a:lnTo>
                <a:lnTo>
                  <a:pt x="208483" y="13093"/>
                </a:lnTo>
                <a:lnTo>
                  <a:pt x="208483" y="393"/>
                </a:lnTo>
                <a:close/>
              </a:path>
              <a:path w="242570" h="100329">
                <a:moveTo>
                  <a:pt x="242557" y="0"/>
                </a:moveTo>
                <a:lnTo>
                  <a:pt x="226580" y="0"/>
                </a:lnTo>
                <a:lnTo>
                  <a:pt x="226580" y="99847"/>
                </a:lnTo>
                <a:lnTo>
                  <a:pt x="242557" y="99847"/>
                </a:lnTo>
                <a:lnTo>
                  <a:pt x="242557" y="0"/>
                </a:lnTo>
                <a:close/>
              </a:path>
            </a:pathLst>
          </a:custGeom>
          <a:solidFill>
            <a:srgbClr val="0045A5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3" name="object 33" descr=""/>
          <p:cNvGrpSpPr/>
          <p:nvPr/>
        </p:nvGrpSpPr>
        <p:grpSpPr>
          <a:xfrm>
            <a:off x="10544174" y="6619875"/>
            <a:ext cx="1457325" cy="323850"/>
            <a:chOff x="10544174" y="6619875"/>
            <a:chExt cx="1457325" cy="323850"/>
          </a:xfrm>
        </p:grpSpPr>
        <p:sp>
          <p:nvSpPr>
            <p:cNvPr id="34" name="object 34" descr=""/>
            <p:cNvSpPr/>
            <p:nvPr/>
          </p:nvSpPr>
          <p:spPr>
            <a:xfrm>
              <a:off x="10544174" y="6619875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658474" y="6715124"/>
              <a:ext cx="133349" cy="133349"/>
            </a:xfrm>
            <a:prstGeom prst="rect">
              <a:avLst/>
            </a:prstGeom>
          </p:spPr>
        </p:pic>
      </p:grpSp>
      <p:sp>
        <p:nvSpPr>
          <p:cNvPr id="36" name="object 36" descr=""/>
          <p:cNvSpPr txBox="1"/>
          <p:nvPr/>
        </p:nvSpPr>
        <p:spPr>
          <a:xfrm>
            <a:off x="10833000" y="6721475"/>
            <a:ext cx="1066800" cy="1346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75"/>
              </a:lnSpc>
            </a:pPr>
            <a:r>
              <a:rPr dirty="0" sz="1000" spc="-75">
                <a:solidFill>
                  <a:srgbClr val="FFFFFF"/>
                </a:solidFill>
                <a:latin typeface="Roboto"/>
                <a:cs typeface="Roboto"/>
              </a:rPr>
              <a:t>Made</a:t>
            </a:r>
            <a:r>
              <a:rPr dirty="0" sz="10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FFFFFF"/>
                </a:solidFill>
                <a:latin typeface="Roboto"/>
                <a:cs typeface="Roboto"/>
              </a:rPr>
              <a:t>with</a:t>
            </a:r>
            <a:r>
              <a:rPr dirty="0" sz="10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FFFFFF"/>
                </a:solidFill>
                <a:latin typeface="Roboto"/>
                <a:cs typeface="Roboto"/>
              </a:rPr>
              <a:t>Genspark</a:t>
            </a:r>
            <a:endParaRPr sz="10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6743699"/>
            <a:ext cx="12192000" cy="114300"/>
          </a:xfrm>
          <a:custGeom>
            <a:avLst/>
            <a:gdLst/>
            <a:ahLst/>
            <a:cxnLst/>
            <a:rect l="l" t="t" r="r" b="b"/>
            <a:pathLst>
              <a:path w="12192000" h="114300">
                <a:moveTo>
                  <a:pt x="12191999" y="114299"/>
                </a:moveTo>
                <a:lnTo>
                  <a:pt x="0" y="1142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114299"/>
                </a:lnTo>
                <a:close/>
              </a:path>
            </a:pathLst>
          </a:custGeom>
          <a:solidFill>
            <a:srgbClr val="0045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70"/>
              <a:t>Fuzzy-</a:t>
            </a:r>
            <a:r>
              <a:rPr dirty="0" spc="-165"/>
              <a:t>PID</a:t>
            </a:r>
            <a:r>
              <a:rPr dirty="0" spc="-25"/>
              <a:t> </a:t>
            </a:r>
            <a:r>
              <a:rPr dirty="0" spc="-150"/>
              <a:t>Controller</a:t>
            </a:r>
            <a:r>
              <a:rPr dirty="0" spc="-25"/>
              <a:t> </a:t>
            </a:r>
            <a:r>
              <a:rPr dirty="0" spc="-204"/>
              <a:t>&amp;</a:t>
            </a:r>
            <a:r>
              <a:rPr dirty="0" spc="-25"/>
              <a:t> </a:t>
            </a:r>
            <a:r>
              <a:rPr dirty="0" spc="-125"/>
              <a:t>Artificial</a:t>
            </a:r>
            <a:r>
              <a:rPr dirty="0" spc="-25"/>
              <a:t> </a:t>
            </a:r>
            <a:r>
              <a:rPr dirty="0" spc="-125"/>
              <a:t>Bee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901700" y="1253648"/>
            <a:ext cx="3152140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70" b="1">
                <a:solidFill>
                  <a:srgbClr val="0045A5"/>
                </a:solidFill>
                <a:latin typeface="Roboto"/>
                <a:cs typeface="Roboto"/>
              </a:rPr>
              <a:t>Colony</a:t>
            </a:r>
            <a:r>
              <a:rPr dirty="0" sz="3000" spc="-30" b="1">
                <a:solidFill>
                  <a:srgbClr val="0045A5"/>
                </a:solidFill>
                <a:latin typeface="Roboto"/>
                <a:cs typeface="Roboto"/>
              </a:rPr>
              <a:t> </a:t>
            </a:r>
            <a:r>
              <a:rPr dirty="0" sz="3000" spc="-145" b="1">
                <a:solidFill>
                  <a:srgbClr val="0045A5"/>
                </a:solidFill>
                <a:latin typeface="Roboto"/>
                <a:cs typeface="Roboto"/>
              </a:rPr>
              <a:t>Optimization</a:t>
            </a:r>
            <a:endParaRPr sz="3000">
              <a:latin typeface="Roboto"/>
              <a:cs typeface="Roboto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2184860"/>
            <a:ext cx="183228" cy="183228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83788" y="2479198"/>
            <a:ext cx="82153" cy="139264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240581" y="2033409"/>
            <a:ext cx="5099050" cy="896619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850" spc="-100" b="1">
                <a:latin typeface="Roboto"/>
                <a:cs typeface="Roboto"/>
              </a:rPr>
              <a:t>Fuzzy-</a:t>
            </a:r>
            <a:r>
              <a:rPr dirty="0" sz="1850" spc="-105" b="1">
                <a:latin typeface="Roboto"/>
                <a:cs typeface="Roboto"/>
              </a:rPr>
              <a:t>PID</a:t>
            </a:r>
            <a:r>
              <a:rPr dirty="0" sz="1850" spc="25" b="1">
                <a:latin typeface="Roboto"/>
                <a:cs typeface="Roboto"/>
              </a:rPr>
              <a:t> </a:t>
            </a:r>
            <a:r>
              <a:rPr dirty="0" sz="1850" spc="-10" b="1">
                <a:latin typeface="Roboto"/>
                <a:cs typeface="Roboto"/>
              </a:rPr>
              <a:t>Controller:</a:t>
            </a:r>
            <a:endParaRPr sz="1850">
              <a:latin typeface="Roboto"/>
              <a:cs typeface="Roboto"/>
            </a:endParaRPr>
          </a:p>
          <a:p>
            <a:pPr marL="537845" marR="5080">
              <a:lnSpc>
                <a:spcPct val="109400"/>
              </a:lnSpc>
              <a:spcBef>
                <a:spcPts val="100"/>
              </a:spcBef>
            </a:pPr>
            <a:r>
              <a:rPr dirty="0" sz="1600" spc="-100">
                <a:latin typeface="Roboto"/>
                <a:cs typeface="Roboto"/>
              </a:rPr>
              <a:t>Combines</a:t>
            </a:r>
            <a:r>
              <a:rPr dirty="0" sz="1600" spc="-10">
                <a:latin typeface="Roboto"/>
                <a:cs typeface="Roboto"/>
              </a:rPr>
              <a:t> </a:t>
            </a:r>
            <a:r>
              <a:rPr dirty="0" sz="1600" spc="-80">
                <a:latin typeface="Roboto"/>
                <a:cs typeface="Roboto"/>
              </a:rPr>
              <a:t>adaptability</a:t>
            </a:r>
            <a:r>
              <a:rPr dirty="0" sz="1600" spc="-5">
                <a:latin typeface="Roboto"/>
                <a:cs typeface="Roboto"/>
              </a:rPr>
              <a:t> </a:t>
            </a:r>
            <a:r>
              <a:rPr dirty="0" sz="1600" spc="-85">
                <a:latin typeface="Roboto"/>
                <a:cs typeface="Roboto"/>
              </a:rPr>
              <a:t>of</a:t>
            </a:r>
            <a:r>
              <a:rPr dirty="0" sz="1600" spc="-5">
                <a:latin typeface="Roboto"/>
                <a:cs typeface="Roboto"/>
              </a:rPr>
              <a:t> </a:t>
            </a:r>
            <a:r>
              <a:rPr dirty="0" sz="1600" spc="-90">
                <a:latin typeface="Roboto"/>
                <a:cs typeface="Roboto"/>
              </a:rPr>
              <a:t>fuzzy</a:t>
            </a:r>
            <a:r>
              <a:rPr dirty="0" sz="1600" spc="-10">
                <a:latin typeface="Roboto"/>
                <a:cs typeface="Roboto"/>
              </a:rPr>
              <a:t> </a:t>
            </a:r>
            <a:r>
              <a:rPr dirty="0" sz="1600" spc="-80">
                <a:latin typeface="Roboto"/>
                <a:cs typeface="Roboto"/>
              </a:rPr>
              <a:t>logic</a:t>
            </a:r>
            <a:r>
              <a:rPr dirty="0" sz="1600" spc="-5">
                <a:latin typeface="Roboto"/>
                <a:cs typeface="Roboto"/>
              </a:rPr>
              <a:t> </a:t>
            </a:r>
            <a:r>
              <a:rPr dirty="0" sz="1600" spc="-90">
                <a:latin typeface="Roboto"/>
                <a:cs typeface="Roboto"/>
              </a:rPr>
              <a:t>with</a:t>
            </a:r>
            <a:r>
              <a:rPr dirty="0" sz="1600" spc="-5">
                <a:latin typeface="Roboto"/>
                <a:cs typeface="Roboto"/>
              </a:rPr>
              <a:t> </a:t>
            </a:r>
            <a:r>
              <a:rPr dirty="0" sz="1600" spc="-100">
                <a:latin typeface="Roboto"/>
                <a:cs typeface="Roboto"/>
              </a:rPr>
              <a:t>efficacy</a:t>
            </a:r>
            <a:r>
              <a:rPr dirty="0" sz="1600" spc="-5">
                <a:latin typeface="Roboto"/>
                <a:cs typeface="Roboto"/>
              </a:rPr>
              <a:t> </a:t>
            </a:r>
            <a:r>
              <a:rPr dirty="0" sz="1600" spc="-85">
                <a:latin typeface="Roboto"/>
                <a:cs typeface="Roboto"/>
              </a:rPr>
              <a:t>of</a:t>
            </a:r>
            <a:r>
              <a:rPr dirty="0" sz="1600" spc="-10">
                <a:latin typeface="Roboto"/>
                <a:cs typeface="Roboto"/>
              </a:rPr>
              <a:t> </a:t>
            </a:r>
            <a:r>
              <a:rPr dirty="0" sz="1600" spc="-25">
                <a:latin typeface="Roboto"/>
                <a:cs typeface="Roboto"/>
              </a:rPr>
              <a:t>PID </a:t>
            </a:r>
            <a:r>
              <a:rPr dirty="0" sz="1600" spc="-10">
                <a:latin typeface="Roboto"/>
                <a:cs typeface="Roboto"/>
              </a:rPr>
              <a:t>control</a:t>
            </a:r>
            <a:endParaRPr sz="1600">
              <a:latin typeface="Roboto"/>
              <a:cs typeface="Roboto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83576" y="3155260"/>
            <a:ext cx="81350" cy="137903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766093" y="3060445"/>
            <a:ext cx="4989195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85">
                <a:latin typeface="Roboto"/>
                <a:cs typeface="Roboto"/>
              </a:rPr>
              <a:t>Triangular</a:t>
            </a:r>
            <a:r>
              <a:rPr dirty="0" sz="1600" spc="-20">
                <a:latin typeface="Roboto"/>
                <a:cs typeface="Roboto"/>
              </a:rPr>
              <a:t> </a:t>
            </a:r>
            <a:r>
              <a:rPr dirty="0" sz="1600" spc="-100">
                <a:latin typeface="Roboto"/>
                <a:cs typeface="Roboto"/>
              </a:rPr>
              <a:t>membership</a:t>
            </a:r>
            <a:r>
              <a:rPr dirty="0" sz="1600" spc="-15">
                <a:latin typeface="Roboto"/>
                <a:cs typeface="Roboto"/>
              </a:rPr>
              <a:t> </a:t>
            </a:r>
            <a:r>
              <a:rPr dirty="0" sz="1600" spc="-85">
                <a:latin typeface="Roboto"/>
                <a:cs typeface="Roboto"/>
              </a:rPr>
              <a:t>functions</a:t>
            </a:r>
            <a:r>
              <a:rPr dirty="0" sz="1600" spc="-15">
                <a:latin typeface="Roboto"/>
                <a:cs typeface="Roboto"/>
              </a:rPr>
              <a:t> </a:t>
            </a:r>
            <a:r>
              <a:rPr dirty="0" sz="1600" spc="-75">
                <a:latin typeface="Roboto"/>
                <a:cs typeface="Roboto"/>
              </a:rPr>
              <a:t>for</a:t>
            </a:r>
            <a:r>
              <a:rPr dirty="0" sz="1600" spc="-15">
                <a:latin typeface="Roboto"/>
                <a:cs typeface="Roboto"/>
              </a:rPr>
              <a:t> </a:t>
            </a:r>
            <a:r>
              <a:rPr dirty="0" sz="1600" spc="-80">
                <a:latin typeface="Roboto"/>
                <a:cs typeface="Roboto"/>
              </a:rPr>
              <a:t>error</a:t>
            </a:r>
            <a:r>
              <a:rPr dirty="0" sz="1600" spc="-20">
                <a:latin typeface="Roboto"/>
                <a:cs typeface="Roboto"/>
              </a:rPr>
              <a:t> </a:t>
            </a:r>
            <a:r>
              <a:rPr dirty="0" sz="1600" spc="-100">
                <a:latin typeface="Roboto"/>
                <a:cs typeface="Roboto"/>
              </a:rPr>
              <a:t>and</a:t>
            </a:r>
            <a:r>
              <a:rPr dirty="0" sz="1600" spc="-15">
                <a:latin typeface="Roboto"/>
                <a:cs typeface="Roboto"/>
              </a:rPr>
              <a:t> </a:t>
            </a:r>
            <a:r>
              <a:rPr dirty="0" sz="1600" spc="-90">
                <a:latin typeface="Roboto"/>
                <a:cs typeface="Roboto"/>
              </a:rPr>
              <a:t>rate</a:t>
            </a:r>
            <a:r>
              <a:rPr dirty="0" sz="1600" spc="-15">
                <a:latin typeface="Roboto"/>
                <a:cs typeface="Roboto"/>
              </a:rPr>
              <a:t> </a:t>
            </a:r>
            <a:r>
              <a:rPr dirty="0" sz="1600" spc="-85">
                <a:latin typeface="Roboto"/>
                <a:cs typeface="Roboto"/>
              </a:rPr>
              <a:t>of</a:t>
            </a:r>
            <a:r>
              <a:rPr dirty="0" sz="1600" spc="-15">
                <a:latin typeface="Roboto"/>
                <a:cs typeface="Roboto"/>
              </a:rPr>
              <a:t> </a:t>
            </a:r>
            <a:r>
              <a:rPr dirty="0" sz="1600" spc="-50">
                <a:latin typeface="Roboto"/>
                <a:cs typeface="Roboto"/>
              </a:rPr>
              <a:t>change</a:t>
            </a:r>
            <a:endParaRPr sz="1600">
              <a:latin typeface="Roboto"/>
              <a:cs typeface="Roboto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83788" y="3545998"/>
            <a:ext cx="82153" cy="139264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1766093" y="3460495"/>
            <a:ext cx="4396105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85">
                <a:latin typeface="Roboto"/>
                <a:cs typeface="Roboto"/>
              </a:rPr>
              <a:t>Rule-</a:t>
            </a:r>
            <a:r>
              <a:rPr dirty="0" sz="1600" spc="-100">
                <a:latin typeface="Roboto"/>
                <a:cs typeface="Roboto"/>
              </a:rPr>
              <a:t>based</a:t>
            </a:r>
            <a:r>
              <a:rPr dirty="0" sz="1600" spc="10">
                <a:latin typeface="Roboto"/>
                <a:cs typeface="Roboto"/>
              </a:rPr>
              <a:t> </a:t>
            </a:r>
            <a:r>
              <a:rPr dirty="0" sz="1600" spc="-85">
                <a:latin typeface="Roboto"/>
                <a:cs typeface="Roboto"/>
              </a:rPr>
              <a:t>decision-</a:t>
            </a:r>
            <a:r>
              <a:rPr dirty="0" sz="1600" spc="-105">
                <a:latin typeface="Roboto"/>
                <a:cs typeface="Roboto"/>
              </a:rPr>
              <a:t>making</a:t>
            </a:r>
            <a:r>
              <a:rPr dirty="0" sz="1600" spc="10">
                <a:latin typeface="Roboto"/>
                <a:cs typeface="Roboto"/>
              </a:rPr>
              <a:t> </a:t>
            </a:r>
            <a:r>
              <a:rPr dirty="0" sz="1600" spc="-90">
                <a:latin typeface="Roboto"/>
                <a:cs typeface="Roboto"/>
              </a:rPr>
              <a:t>with</a:t>
            </a:r>
            <a:r>
              <a:rPr dirty="0" sz="1600" spc="10">
                <a:latin typeface="Roboto"/>
                <a:cs typeface="Roboto"/>
              </a:rPr>
              <a:t> </a:t>
            </a:r>
            <a:r>
              <a:rPr dirty="0" sz="1600" spc="-90">
                <a:latin typeface="Roboto"/>
                <a:cs typeface="Roboto"/>
              </a:rPr>
              <a:t>7</a:t>
            </a:r>
            <a:r>
              <a:rPr dirty="0" sz="1600" spc="10">
                <a:latin typeface="Roboto"/>
                <a:cs typeface="Roboto"/>
              </a:rPr>
              <a:t> </a:t>
            </a:r>
            <a:r>
              <a:rPr dirty="0" sz="1600" spc="-75">
                <a:latin typeface="Roboto"/>
                <a:cs typeface="Roboto"/>
              </a:rPr>
              <a:t>linguistic</a:t>
            </a:r>
            <a:r>
              <a:rPr dirty="0" sz="1600" spc="10">
                <a:latin typeface="Roboto"/>
                <a:cs typeface="Roboto"/>
              </a:rPr>
              <a:t> </a:t>
            </a:r>
            <a:r>
              <a:rPr dirty="0" sz="1600" spc="-50">
                <a:latin typeface="Roboto"/>
                <a:cs typeface="Roboto"/>
              </a:rPr>
              <a:t>variables</a:t>
            </a:r>
            <a:endParaRPr sz="1600">
              <a:latin typeface="Roboto"/>
              <a:cs typeface="Roboto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4400" y="4147244"/>
            <a:ext cx="186481" cy="186481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83576" y="4450660"/>
            <a:ext cx="81350" cy="137903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1240581" y="3995559"/>
            <a:ext cx="5348605" cy="62992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850" spc="-80" b="1">
                <a:latin typeface="Roboto"/>
                <a:cs typeface="Roboto"/>
              </a:rPr>
              <a:t>Artificial</a:t>
            </a:r>
            <a:r>
              <a:rPr dirty="0" sz="1850" b="1">
                <a:latin typeface="Roboto"/>
                <a:cs typeface="Roboto"/>
              </a:rPr>
              <a:t> </a:t>
            </a:r>
            <a:r>
              <a:rPr dirty="0" sz="1850" spc="-105" b="1">
                <a:latin typeface="Roboto"/>
                <a:cs typeface="Roboto"/>
              </a:rPr>
              <a:t>Bee</a:t>
            </a:r>
            <a:r>
              <a:rPr dirty="0" sz="1850" spc="5" b="1">
                <a:latin typeface="Roboto"/>
                <a:cs typeface="Roboto"/>
              </a:rPr>
              <a:t> </a:t>
            </a:r>
            <a:r>
              <a:rPr dirty="0" sz="1850" spc="-105" b="1">
                <a:latin typeface="Roboto"/>
                <a:cs typeface="Roboto"/>
              </a:rPr>
              <a:t>Colony</a:t>
            </a:r>
            <a:r>
              <a:rPr dirty="0" sz="1850" spc="5" b="1">
                <a:latin typeface="Roboto"/>
                <a:cs typeface="Roboto"/>
              </a:rPr>
              <a:t> </a:t>
            </a:r>
            <a:r>
              <a:rPr dirty="0" sz="1850" spc="-110" b="1">
                <a:latin typeface="Roboto"/>
                <a:cs typeface="Roboto"/>
              </a:rPr>
              <a:t>(ABC)</a:t>
            </a:r>
            <a:r>
              <a:rPr dirty="0" sz="1850" spc="5" b="1">
                <a:latin typeface="Roboto"/>
                <a:cs typeface="Roboto"/>
              </a:rPr>
              <a:t> </a:t>
            </a:r>
            <a:r>
              <a:rPr dirty="0" sz="1850" spc="-10" b="1">
                <a:latin typeface="Roboto"/>
                <a:cs typeface="Roboto"/>
              </a:rPr>
              <a:t>Algorithm:</a:t>
            </a:r>
            <a:endParaRPr sz="1850">
              <a:latin typeface="Roboto"/>
              <a:cs typeface="Roboto"/>
            </a:endParaRPr>
          </a:p>
          <a:p>
            <a:pPr marL="537845">
              <a:lnSpc>
                <a:spcPct val="100000"/>
              </a:lnSpc>
              <a:spcBef>
                <a:spcPts val="280"/>
              </a:spcBef>
            </a:pPr>
            <a:r>
              <a:rPr dirty="0" sz="1600" spc="-105">
                <a:latin typeface="Roboto"/>
                <a:cs typeface="Roboto"/>
              </a:rPr>
              <a:t>Swarm-</a:t>
            </a:r>
            <a:r>
              <a:rPr dirty="0" sz="1600" spc="-100">
                <a:latin typeface="Roboto"/>
                <a:cs typeface="Roboto"/>
              </a:rPr>
              <a:t>based</a:t>
            </a:r>
            <a:r>
              <a:rPr dirty="0" sz="1600" spc="-20">
                <a:latin typeface="Roboto"/>
                <a:cs typeface="Roboto"/>
              </a:rPr>
              <a:t> </a:t>
            </a:r>
            <a:r>
              <a:rPr dirty="0" sz="1600" spc="-85">
                <a:latin typeface="Roboto"/>
                <a:cs typeface="Roboto"/>
              </a:rPr>
              <a:t>metaheuristic</a:t>
            </a:r>
            <a:r>
              <a:rPr dirty="0" sz="1600" spc="-15">
                <a:latin typeface="Roboto"/>
                <a:cs typeface="Roboto"/>
              </a:rPr>
              <a:t> </a:t>
            </a:r>
            <a:r>
              <a:rPr dirty="0" sz="1600" spc="-80">
                <a:latin typeface="Roboto"/>
                <a:cs typeface="Roboto"/>
              </a:rPr>
              <a:t>inspired</a:t>
            </a:r>
            <a:r>
              <a:rPr dirty="0" sz="1600" spc="-15">
                <a:latin typeface="Roboto"/>
                <a:cs typeface="Roboto"/>
              </a:rPr>
              <a:t> </a:t>
            </a:r>
            <a:r>
              <a:rPr dirty="0" sz="1600" spc="-100">
                <a:latin typeface="Roboto"/>
                <a:cs typeface="Roboto"/>
              </a:rPr>
              <a:t>by</a:t>
            </a:r>
            <a:r>
              <a:rPr dirty="0" sz="1600" spc="-15">
                <a:latin typeface="Roboto"/>
                <a:cs typeface="Roboto"/>
              </a:rPr>
              <a:t> </a:t>
            </a:r>
            <a:r>
              <a:rPr dirty="0" sz="1600" spc="-100">
                <a:latin typeface="Roboto"/>
                <a:cs typeface="Roboto"/>
              </a:rPr>
              <a:t>honey</a:t>
            </a:r>
            <a:r>
              <a:rPr dirty="0" sz="1600" spc="-15">
                <a:latin typeface="Roboto"/>
                <a:cs typeface="Roboto"/>
              </a:rPr>
              <a:t> </a:t>
            </a:r>
            <a:r>
              <a:rPr dirty="0" sz="1600" spc="-90">
                <a:latin typeface="Roboto"/>
                <a:cs typeface="Roboto"/>
              </a:rPr>
              <a:t>bee</a:t>
            </a:r>
            <a:r>
              <a:rPr dirty="0" sz="1600" spc="-15">
                <a:latin typeface="Roboto"/>
                <a:cs typeface="Roboto"/>
              </a:rPr>
              <a:t> </a:t>
            </a:r>
            <a:r>
              <a:rPr dirty="0" sz="1600" spc="-50">
                <a:latin typeface="Roboto"/>
                <a:cs typeface="Roboto"/>
              </a:rPr>
              <a:t>foraging</a:t>
            </a:r>
            <a:endParaRPr sz="1600">
              <a:latin typeface="Roboto"/>
              <a:cs typeface="Roboto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83788" y="4841397"/>
            <a:ext cx="82153" cy="139264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1766093" y="4733340"/>
            <a:ext cx="4437380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9400"/>
              </a:lnSpc>
              <a:spcBef>
                <a:spcPts val="100"/>
              </a:spcBef>
            </a:pPr>
            <a:r>
              <a:rPr dirty="0" sz="1600" spc="-100">
                <a:latin typeface="Roboto"/>
                <a:cs typeface="Roboto"/>
              </a:rPr>
              <a:t>Employed,</a:t>
            </a:r>
            <a:r>
              <a:rPr dirty="0" sz="1600" spc="-10">
                <a:latin typeface="Roboto"/>
                <a:cs typeface="Roboto"/>
              </a:rPr>
              <a:t> </a:t>
            </a:r>
            <a:r>
              <a:rPr dirty="0" sz="1600" spc="-90">
                <a:latin typeface="Roboto"/>
                <a:cs typeface="Roboto"/>
              </a:rPr>
              <a:t>onlooker,</a:t>
            </a:r>
            <a:r>
              <a:rPr dirty="0" sz="1600" spc="-10">
                <a:latin typeface="Roboto"/>
                <a:cs typeface="Roboto"/>
              </a:rPr>
              <a:t> </a:t>
            </a:r>
            <a:r>
              <a:rPr dirty="0" sz="1600" spc="-100">
                <a:latin typeface="Roboto"/>
                <a:cs typeface="Roboto"/>
              </a:rPr>
              <a:t>and</a:t>
            </a:r>
            <a:r>
              <a:rPr dirty="0" sz="1600" spc="-5">
                <a:latin typeface="Roboto"/>
                <a:cs typeface="Roboto"/>
              </a:rPr>
              <a:t> </a:t>
            </a:r>
            <a:r>
              <a:rPr dirty="0" sz="1600" spc="-95">
                <a:latin typeface="Roboto"/>
                <a:cs typeface="Roboto"/>
              </a:rPr>
              <a:t>scout</a:t>
            </a:r>
            <a:r>
              <a:rPr dirty="0" sz="1600" spc="-10">
                <a:latin typeface="Roboto"/>
                <a:cs typeface="Roboto"/>
              </a:rPr>
              <a:t> </a:t>
            </a:r>
            <a:r>
              <a:rPr dirty="0" sz="1600" spc="-100">
                <a:latin typeface="Roboto"/>
                <a:cs typeface="Roboto"/>
              </a:rPr>
              <a:t>bees</a:t>
            </a:r>
            <a:r>
              <a:rPr dirty="0" sz="1600" spc="-5">
                <a:latin typeface="Roboto"/>
                <a:cs typeface="Roboto"/>
              </a:rPr>
              <a:t> </a:t>
            </a:r>
            <a:r>
              <a:rPr dirty="0" sz="1600" spc="-85">
                <a:latin typeface="Roboto"/>
                <a:cs typeface="Roboto"/>
              </a:rPr>
              <a:t>collaborate</a:t>
            </a:r>
            <a:r>
              <a:rPr dirty="0" sz="1600" spc="-10">
                <a:latin typeface="Roboto"/>
                <a:cs typeface="Roboto"/>
              </a:rPr>
              <a:t> </a:t>
            </a:r>
            <a:r>
              <a:rPr dirty="0" sz="1600" spc="-85">
                <a:latin typeface="Roboto"/>
                <a:cs typeface="Roboto"/>
              </a:rPr>
              <a:t>to</a:t>
            </a:r>
            <a:r>
              <a:rPr dirty="0" sz="1600" spc="-10">
                <a:latin typeface="Roboto"/>
                <a:cs typeface="Roboto"/>
              </a:rPr>
              <a:t> </a:t>
            </a:r>
            <a:r>
              <a:rPr dirty="0" sz="1600" spc="-45">
                <a:latin typeface="Roboto"/>
                <a:cs typeface="Roboto"/>
              </a:rPr>
              <a:t>find </a:t>
            </a:r>
            <a:r>
              <a:rPr dirty="0" sz="1600" spc="-85">
                <a:latin typeface="Roboto"/>
                <a:cs typeface="Roboto"/>
              </a:rPr>
              <a:t>optimal</a:t>
            </a:r>
            <a:r>
              <a:rPr dirty="0" sz="1600" spc="-35">
                <a:latin typeface="Roboto"/>
                <a:cs typeface="Roboto"/>
              </a:rPr>
              <a:t> </a:t>
            </a:r>
            <a:r>
              <a:rPr dirty="0" sz="1600" spc="-10">
                <a:latin typeface="Roboto"/>
                <a:cs typeface="Roboto"/>
              </a:rPr>
              <a:t>solution</a:t>
            </a:r>
            <a:endParaRPr sz="1600">
              <a:latin typeface="Roboto"/>
              <a:cs typeface="Roboto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83576" y="5517460"/>
            <a:ext cx="81350" cy="137903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1740693" y="5422645"/>
            <a:ext cx="4640580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600" spc="-114">
                <a:latin typeface="Roboto"/>
                <a:cs typeface="Roboto"/>
              </a:rPr>
              <a:t>Tunes</a:t>
            </a:r>
            <a:r>
              <a:rPr dirty="0" sz="1600" spc="-15">
                <a:latin typeface="Roboto"/>
                <a:cs typeface="Roboto"/>
              </a:rPr>
              <a:t> </a:t>
            </a:r>
            <a:r>
              <a:rPr dirty="0" sz="1600" spc="-75">
                <a:latin typeface="Roboto"/>
                <a:cs typeface="Roboto"/>
              </a:rPr>
              <a:t>controller</a:t>
            </a:r>
            <a:r>
              <a:rPr dirty="0" sz="1600" spc="-15">
                <a:latin typeface="Roboto"/>
                <a:cs typeface="Roboto"/>
              </a:rPr>
              <a:t> </a:t>
            </a:r>
            <a:r>
              <a:rPr dirty="0" sz="1600" spc="-95">
                <a:latin typeface="Roboto"/>
                <a:cs typeface="Roboto"/>
              </a:rPr>
              <a:t>parameters</a:t>
            </a:r>
            <a:r>
              <a:rPr dirty="0" sz="1600" spc="-10">
                <a:latin typeface="Roboto"/>
                <a:cs typeface="Roboto"/>
              </a:rPr>
              <a:t> </a:t>
            </a:r>
            <a:r>
              <a:rPr dirty="0" sz="1600" spc="-75">
                <a:latin typeface="Roboto"/>
                <a:cs typeface="Roboto"/>
              </a:rPr>
              <a:t>(K</a:t>
            </a:r>
            <a:r>
              <a:rPr dirty="0" baseline="-13888" sz="1800" spc="-112">
                <a:latin typeface="Roboto"/>
                <a:cs typeface="Roboto"/>
              </a:rPr>
              <a:t>p</a:t>
            </a:r>
            <a:r>
              <a:rPr dirty="0" sz="1600" spc="-75">
                <a:latin typeface="Roboto"/>
                <a:cs typeface="Roboto"/>
              </a:rPr>
              <a:t>,</a:t>
            </a:r>
            <a:r>
              <a:rPr dirty="0" sz="1600" spc="-15">
                <a:latin typeface="Roboto"/>
                <a:cs typeface="Roboto"/>
              </a:rPr>
              <a:t> </a:t>
            </a:r>
            <a:r>
              <a:rPr dirty="0" sz="1600" spc="-70">
                <a:latin typeface="Roboto"/>
                <a:cs typeface="Roboto"/>
              </a:rPr>
              <a:t>K</a:t>
            </a:r>
            <a:r>
              <a:rPr dirty="0" baseline="-13888" sz="1800" spc="-104">
                <a:latin typeface="Roboto"/>
                <a:cs typeface="Roboto"/>
              </a:rPr>
              <a:t>i</a:t>
            </a:r>
            <a:r>
              <a:rPr dirty="0" sz="1600" spc="-70">
                <a:latin typeface="Roboto"/>
                <a:cs typeface="Roboto"/>
              </a:rPr>
              <a:t>,</a:t>
            </a:r>
            <a:r>
              <a:rPr dirty="0" sz="1600" spc="-10">
                <a:latin typeface="Roboto"/>
                <a:cs typeface="Roboto"/>
              </a:rPr>
              <a:t> </a:t>
            </a:r>
            <a:r>
              <a:rPr dirty="0" sz="1600" spc="-85">
                <a:latin typeface="Roboto"/>
                <a:cs typeface="Roboto"/>
              </a:rPr>
              <a:t>K</a:t>
            </a:r>
            <a:r>
              <a:rPr dirty="0" baseline="-13888" sz="1800" spc="-127">
                <a:latin typeface="Roboto"/>
                <a:cs typeface="Roboto"/>
              </a:rPr>
              <a:t>d</a:t>
            </a:r>
            <a:r>
              <a:rPr dirty="0" sz="1600" spc="-85">
                <a:latin typeface="Roboto"/>
                <a:cs typeface="Roboto"/>
              </a:rPr>
              <a:t>)</a:t>
            </a:r>
            <a:r>
              <a:rPr dirty="0" sz="1600" spc="-15">
                <a:latin typeface="Roboto"/>
                <a:cs typeface="Roboto"/>
              </a:rPr>
              <a:t> </a:t>
            </a:r>
            <a:r>
              <a:rPr dirty="0" sz="1600" spc="-85">
                <a:latin typeface="Roboto"/>
                <a:cs typeface="Roboto"/>
              </a:rPr>
              <a:t>to</a:t>
            </a:r>
            <a:r>
              <a:rPr dirty="0" sz="1600" spc="-10">
                <a:latin typeface="Roboto"/>
                <a:cs typeface="Roboto"/>
              </a:rPr>
              <a:t> </a:t>
            </a:r>
            <a:r>
              <a:rPr dirty="0" sz="1600" spc="-100">
                <a:latin typeface="Roboto"/>
                <a:cs typeface="Roboto"/>
              </a:rPr>
              <a:t>minimize</a:t>
            </a:r>
            <a:r>
              <a:rPr dirty="0" sz="1600" spc="-15">
                <a:latin typeface="Roboto"/>
                <a:cs typeface="Roboto"/>
              </a:rPr>
              <a:t> </a:t>
            </a:r>
            <a:r>
              <a:rPr dirty="0" sz="1600" spc="-20">
                <a:latin typeface="Roboto"/>
                <a:cs typeface="Roboto"/>
              </a:rPr>
              <a:t>ITAE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8317954" y="1505823"/>
            <a:ext cx="1774189" cy="2038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50" spc="-65" b="0">
                <a:solidFill>
                  <a:srgbClr val="374050"/>
                </a:solidFill>
                <a:latin typeface="Roboto Medium"/>
                <a:cs typeface="Roboto Medium"/>
              </a:rPr>
              <a:t>Fuzzy</a:t>
            </a:r>
            <a:r>
              <a:rPr dirty="0" sz="1150" spc="10" b="0">
                <a:solidFill>
                  <a:srgbClr val="374050"/>
                </a:solidFill>
                <a:latin typeface="Roboto Medium"/>
                <a:cs typeface="Roboto Medium"/>
              </a:rPr>
              <a:t> </a:t>
            </a:r>
            <a:r>
              <a:rPr dirty="0" sz="1150" spc="-65" b="0">
                <a:solidFill>
                  <a:srgbClr val="374050"/>
                </a:solidFill>
                <a:latin typeface="Roboto Medium"/>
                <a:cs typeface="Roboto Medium"/>
              </a:rPr>
              <a:t>Membership</a:t>
            </a:r>
            <a:r>
              <a:rPr dirty="0" sz="1150" spc="15" b="0">
                <a:solidFill>
                  <a:srgbClr val="374050"/>
                </a:solidFill>
                <a:latin typeface="Roboto Medium"/>
                <a:cs typeface="Roboto Medium"/>
              </a:rPr>
              <a:t> </a:t>
            </a:r>
            <a:r>
              <a:rPr dirty="0" sz="1150" spc="-40" b="0">
                <a:solidFill>
                  <a:srgbClr val="374050"/>
                </a:solidFill>
                <a:latin typeface="Roboto Medium"/>
                <a:cs typeface="Roboto Medium"/>
              </a:rPr>
              <a:t>Functions</a:t>
            </a:r>
            <a:endParaRPr sz="1150">
              <a:latin typeface="Roboto Medium"/>
              <a:cs typeface="Roboto Medium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7412831" y="1943100"/>
            <a:ext cx="3246120" cy="769620"/>
            <a:chOff x="7412831" y="1943100"/>
            <a:chExt cx="3246120" cy="769620"/>
          </a:xfrm>
        </p:grpSpPr>
        <p:sp>
          <p:nvSpPr>
            <p:cNvPr id="21" name="object 21" descr=""/>
            <p:cNvSpPr/>
            <p:nvPr/>
          </p:nvSpPr>
          <p:spPr>
            <a:xfrm>
              <a:off x="7419974" y="1943100"/>
              <a:ext cx="3238500" cy="762000"/>
            </a:xfrm>
            <a:custGeom>
              <a:avLst/>
              <a:gdLst/>
              <a:ahLst/>
              <a:cxnLst/>
              <a:rect l="l" t="t" r="r" b="b"/>
              <a:pathLst>
                <a:path w="3238500" h="762000">
                  <a:moveTo>
                    <a:pt x="0" y="761999"/>
                  </a:moveTo>
                  <a:lnTo>
                    <a:pt x="3238499" y="761999"/>
                  </a:lnTo>
                </a:path>
                <a:path w="3238500" h="762000">
                  <a:moveTo>
                    <a:pt x="0" y="0"/>
                  </a:moveTo>
                  <a:lnTo>
                    <a:pt x="0" y="761999"/>
                  </a:lnTo>
                </a:path>
              </a:pathLst>
            </a:custGeom>
            <a:ln w="14287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7419974" y="2038349"/>
              <a:ext cx="762000" cy="666750"/>
            </a:xfrm>
            <a:custGeom>
              <a:avLst/>
              <a:gdLst/>
              <a:ahLst/>
              <a:cxnLst/>
              <a:rect l="l" t="t" r="r" b="b"/>
              <a:pathLst>
                <a:path w="762000" h="666750">
                  <a:moveTo>
                    <a:pt x="761999" y="666749"/>
                  </a:moveTo>
                  <a:lnTo>
                    <a:pt x="0" y="666749"/>
                  </a:lnTo>
                  <a:lnTo>
                    <a:pt x="380999" y="0"/>
                  </a:lnTo>
                  <a:lnTo>
                    <a:pt x="761999" y="666749"/>
                  </a:lnTo>
                  <a:close/>
                </a:path>
              </a:pathLst>
            </a:custGeom>
            <a:solidFill>
              <a:srgbClr val="0045A5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7419974" y="2038349"/>
              <a:ext cx="762000" cy="666750"/>
            </a:xfrm>
            <a:custGeom>
              <a:avLst/>
              <a:gdLst/>
              <a:ahLst/>
              <a:cxnLst/>
              <a:rect l="l" t="t" r="r" b="b"/>
              <a:pathLst>
                <a:path w="762000" h="666750">
                  <a:moveTo>
                    <a:pt x="0" y="666749"/>
                  </a:moveTo>
                  <a:lnTo>
                    <a:pt x="380999" y="0"/>
                  </a:lnTo>
                  <a:lnTo>
                    <a:pt x="761999" y="666749"/>
                  </a:lnTo>
                  <a:lnTo>
                    <a:pt x="0" y="666749"/>
                  </a:lnTo>
                  <a:close/>
                </a:path>
              </a:pathLst>
            </a:custGeom>
            <a:ln w="14287">
              <a:solidFill>
                <a:srgbClr val="0045A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7991474" y="2038349"/>
              <a:ext cx="762000" cy="666750"/>
            </a:xfrm>
            <a:custGeom>
              <a:avLst/>
              <a:gdLst/>
              <a:ahLst/>
              <a:cxnLst/>
              <a:rect l="l" t="t" r="r" b="b"/>
              <a:pathLst>
                <a:path w="762000" h="666750">
                  <a:moveTo>
                    <a:pt x="761999" y="666749"/>
                  </a:moveTo>
                  <a:lnTo>
                    <a:pt x="0" y="666749"/>
                  </a:lnTo>
                  <a:lnTo>
                    <a:pt x="380999" y="0"/>
                  </a:lnTo>
                  <a:lnTo>
                    <a:pt x="761999" y="666749"/>
                  </a:lnTo>
                  <a:close/>
                </a:path>
              </a:pathLst>
            </a:custGeom>
            <a:solidFill>
              <a:srgbClr val="0045A5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7991474" y="2038349"/>
              <a:ext cx="762000" cy="666750"/>
            </a:xfrm>
            <a:custGeom>
              <a:avLst/>
              <a:gdLst/>
              <a:ahLst/>
              <a:cxnLst/>
              <a:rect l="l" t="t" r="r" b="b"/>
              <a:pathLst>
                <a:path w="762000" h="666750">
                  <a:moveTo>
                    <a:pt x="0" y="666749"/>
                  </a:moveTo>
                  <a:lnTo>
                    <a:pt x="380999" y="0"/>
                  </a:lnTo>
                  <a:lnTo>
                    <a:pt x="761999" y="666749"/>
                  </a:lnTo>
                  <a:lnTo>
                    <a:pt x="0" y="666749"/>
                  </a:lnTo>
                  <a:close/>
                </a:path>
              </a:pathLst>
            </a:custGeom>
            <a:ln w="14287">
              <a:solidFill>
                <a:srgbClr val="0045A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8562974" y="2038349"/>
              <a:ext cx="762000" cy="666750"/>
            </a:xfrm>
            <a:custGeom>
              <a:avLst/>
              <a:gdLst/>
              <a:ahLst/>
              <a:cxnLst/>
              <a:rect l="l" t="t" r="r" b="b"/>
              <a:pathLst>
                <a:path w="762000" h="666750">
                  <a:moveTo>
                    <a:pt x="761999" y="666749"/>
                  </a:moveTo>
                  <a:lnTo>
                    <a:pt x="0" y="666749"/>
                  </a:lnTo>
                  <a:lnTo>
                    <a:pt x="380999" y="0"/>
                  </a:lnTo>
                  <a:lnTo>
                    <a:pt x="761999" y="666749"/>
                  </a:lnTo>
                  <a:close/>
                </a:path>
              </a:pathLst>
            </a:custGeom>
            <a:solidFill>
              <a:srgbClr val="0045A5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8562974" y="2038349"/>
              <a:ext cx="762000" cy="666750"/>
            </a:xfrm>
            <a:custGeom>
              <a:avLst/>
              <a:gdLst/>
              <a:ahLst/>
              <a:cxnLst/>
              <a:rect l="l" t="t" r="r" b="b"/>
              <a:pathLst>
                <a:path w="762000" h="666750">
                  <a:moveTo>
                    <a:pt x="0" y="666749"/>
                  </a:moveTo>
                  <a:lnTo>
                    <a:pt x="380999" y="0"/>
                  </a:lnTo>
                  <a:lnTo>
                    <a:pt x="761999" y="666749"/>
                  </a:lnTo>
                  <a:lnTo>
                    <a:pt x="0" y="666749"/>
                  </a:lnTo>
                  <a:close/>
                </a:path>
              </a:pathLst>
            </a:custGeom>
            <a:ln w="14287">
              <a:solidFill>
                <a:srgbClr val="0045A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9134474" y="2038349"/>
              <a:ext cx="762000" cy="666750"/>
            </a:xfrm>
            <a:custGeom>
              <a:avLst/>
              <a:gdLst/>
              <a:ahLst/>
              <a:cxnLst/>
              <a:rect l="l" t="t" r="r" b="b"/>
              <a:pathLst>
                <a:path w="762000" h="666750">
                  <a:moveTo>
                    <a:pt x="761999" y="666749"/>
                  </a:moveTo>
                  <a:lnTo>
                    <a:pt x="0" y="666749"/>
                  </a:lnTo>
                  <a:lnTo>
                    <a:pt x="380999" y="0"/>
                  </a:lnTo>
                  <a:lnTo>
                    <a:pt x="761999" y="666749"/>
                  </a:lnTo>
                  <a:close/>
                </a:path>
              </a:pathLst>
            </a:custGeom>
            <a:solidFill>
              <a:srgbClr val="0045A5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9134474" y="2038349"/>
              <a:ext cx="762000" cy="666750"/>
            </a:xfrm>
            <a:custGeom>
              <a:avLst/>
              <a:gdLst/>
              <a:ahLst/>
              <a:cxnLst/>
              <a:rect l="l" t="t" r="r" b="b"/>
              <a:pathLst>
                <a:path w="762000" h="666750">
                  <a:moveTo>
                    <a:pt x="0" y="666749"/>
                  </a:moveTo>
                  <a:lnTo>
                    <a:pt x="380999" y="0"/>
                  </a:lnTo>
                  <a:lnTo>
                    <a:pt x="761999" y="666749"/>
                  </a:lnTo>
                  <a:lnTo>
                    <a:pt x="0" y="666749"/>
                  </a:lnTo>
                  <a:close/>
                </a:path>
              </a:pathLst>
            </a:custGeom>
            <a:ln w="14287">
              <a:solidFill>
                <a:srgbClr val="0045A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9705974" y="2038349"/>
              <a:ext cx="762000" cy="666750"/>
            </a:xfrm>
            <a:custGeom>
              <a:avLst/>
              <a:gdLst/>
              <a:ahLst/>
              <a:cxnLst/>
              <a:rect l="l" t="t" r="r" b="b"/>
              <a:pathLst>
                <a:path w="762000" h="666750">
                  <a:moveTo>
                    <a:pt x="761999" y="666749"/>
                  </a:moveTo>
                  <a:lnTo>
                    <a:pt x="0" y="666749"/>
                  </a:lnTo>
                  <a:lnTo>
                    <a:pt x="380999" y="0"/>
                  </a:lnTo>
                  <a:lnTo>
                    <a:pt x="761999" y="666749"/>
                  </a:lnTo>
                  <a:close/>
                </a:path>
              </a:pathLst>
            </a:custGeom>
            <a:solidFill>
              <a:srgbClr val="0045A5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9705974" y="2038349"/>
              <a:ext cx="762000" cy="666750"/>
            </a:xfrm>
            <a:custGeom>
              <a:avLst/>
              <a:gdLst/>
              <a:ahLst/>
              <a:cxnLst/>
              <a:rect l="l" t="t" r="r" b="b"/>
              <a:pathLst>
                <a:path w="762000" h="666750">
                  <a:moveTo>
                    <a:pt x="0" y="666749"/>
                  </a:moveTo>
                  <a:lnTo>
                    <a:pt x="380999" y="0"/>
                  </a:lnTo>
                  <a:lnTo>
                    <a:pt x="761999" y="666749"/>
                  </a:lnTo>
                  <a:lnTo>
                    <a:pt x="0" y="666749"/>
                  </a:lnTo>
                  <a:close/>
                </a:path>
              </a:pathLst>
            </a:custGeom>
            <a:ln w="14287">
              <a:solidFill>
                <a:srgbClr val="0045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7724576" y="2700734"/>
            <a:ext cx="153035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-25">
                <a:solidFill>
                  <a:srgbClr val="333333"/>
                </a:solidFill>
                <a:latin typeface="Roboto"/>
                <a:cs typeface="Roboto"/>
              </a:rPr>
              <a:t>NB</a:t>
            </a:r>
            <a:endParaRPr sz="800">
              <a:latin typeface="Roboto"/>
              <a:cs typeface="Roboto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8094265" y="2700734"/>
            <a:ext cx="2221230" cy="5327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46990">
              <a:lnSpc>
                <a:spcPct val="100000"/>
              </a:lnSpc>
              <a:spcBef>
                <a:spcPts val="135"/>
              </a:spcBef>
              <a:tabLst>
                <a:tab pos="619760" algn="l"/>
                <a:tab pos="1193800" algn="l"/>
                <a:tab pos="1764030" algn="l"/>
              </a:tabLst>
            </a:pPr>
            <a:r>
              <a:rPr dirty="0" sz="800" spc="-25">
                <a:solidFill>
                  <a:srgbClr val="333333"/>
                </a:solidFill>
                <a:latin typeface="Roboto"/>
                <a:cs typeface="Roboto"/>
              </a:rPr>
              <a:t>NS</a:t>
            </a:r>
            <a:r>
              <a:rPr dirty="0" sz="800">
                <a:solidFill>
                  <a:srgbClr val="333333"/>
                </a:solidFill>
                <a:latin typeface="Roboto"/>
                <a:cs typeface="Roboto"/>
              </a:rPr>
              <a:t>	</a:t>
            </a:r>
            <a:r>
              <a:rPr dirty="0" sz="800" spc="-25">
                <a:solidFill>
                  <a:srgbClr val="333333"/>
                </a:solidFill>
                <a:latin typeface="Roboto"/>
                <a:cs typeface="Roboto"/>
              </a:rPr>
              <a:t>ZO</a:t>
            </a:r>
            <a:r>
              <a:rPr dirty="0" sz="800">
                <a:solidFill>
                  <a:srgbClr val="333333"/>
                </a:solidFill>
                <a:latin typeface="Roboto"/>
                <a:cs typeface="Roboto"/>
              </a:rPr>
              <a:t>	</a:t>
            </a:r>
            <a:r>
              <a:rPr dirty="0" sz="800" spc="-25">
                <a:solidFill>
                  <a:srgbClr val="333333"/>
                </a:solidFill>
                <a:latin typeface="Roboto"/>
                <a:cs typeface="Roboto"/>
              </a:rPr>
              <a:t>PS</a:t>
            </a:r>
            <a:r>
              <a:rPr dirty="0" sz="800">
                <a:solidFill>
                  <a:srgbClr val="333333"/>
                </a:solidFill>
                <a:latin typeface="Roboto"/>
                <a:cs typeface="Roboto"/>
              </a:rPr>
              <a:t>	</a:t>
            </a:r>
            <a:r>
              <a:rPr dirty="0" sz="800" spc="-25">
                <a:solidFill>
                  <a:srgbClr val="333333"/>
                </a:solidFill>
                <a:latin typeface="Roboto"/>
                <a:cs typeface="Roboto"/>
              </a:rPr>
              <a:t>PB</a:t>
            </a:r>
            <a:endParaRPr sz="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75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150" spc="-75" b="0">
                <a:solidFill>
                  <a:srgbClr val="374050"/>
                </a:solidFill>
                <a:latin typeface="Roboto Medium"/>
                <a:cs typeface="Roboto Medium"/>
              </a:rPr>
              <a:t>ABC</a:t>
            </a:r>
            <a:r>
              <a:rPr dirty="0" sz="1150" spc="5" b="0">
                <a:solidFill>
                  <a:srgbClr val="374050"/>
                </a:solidFill>
                <a:latin typeface="Roboto Medium"/>
                <a:cs typeface="Roboto Medium"/>
              </a:rPr>
              <a:t> </a:t>
            </a:r>
            <a:r>
              <a:rPr dirty="0" sz="1150" spc="-55" b="0">
                <a:solidFill>
                  <a:srgbClr val="374050"/>
                </a:solidFill>
                <a:latin typeface="Roboto Medium"/>
                <a:cs typeface="Roboto Medium"/>
              </a:rPr>
              <a:t>Algorithm</a:t>
            </a:r>
            <a:r>
              <a:rPr dirty="0" sz="1150" spc="5" b="0">
                <a:solidFill>
                  <a:srgbClr val="374050"/>
                </a:solidFill>
                <a:latin typeface="Roboto Medium"/>
                <a:cs typeface="Roboto Medium"/>
              </a:rPr>
              <a:t> </a:t>
            </a:r>
            <a:r>
              <a:rPr dirty="0" sz="1150" spc="-55" b="0">
                <a:solidFill>
                  <a:srgbClr val="374050"/>
                </a:solidFill>
                <a:latin typeface="Roboto Medium"/>
                <a:cs typeface="Roboto Medium"/>
              </a:rPr>
              <a:t>Optimization</a:t>
            </a:r>
            <a:r>
              <a:rPr dirty="0" sz="1150" spc="5" b="0">
                <a:solidFill>
                  <a:srgbClr val="374050"/>
                </a:solidFill>
                <a:latin typeface="Roboto Medium"/>
                <a:cs typeface="Roboto Medium"/>
              </a:rPr>
              <a:t> </a:t>
            </a:r>
            <a:r>
              <a:rPr dirty="0" sz="1150" spc="-25" b="0">
                <a:solidFill>
                  <a:srgbClr val="374050"/>
                </a:solidFill>
                <a:latin typeface="Roboto Medium"/>
                <a:cs typeface="Roboto Medium"/>
              </a:rPr>
              <a:t>Process</a:t>
            </a:r>
            <a:endParaRPr sz="1150">
              <a:latin typeface="Roboto Medium"/>
              <a:cs typeface="Roboto Medium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7179716" y="1944836"/>
            <a:ext cx="158115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-25">
                <a:solidFill>
                  <a:srgbClr val="333333"/>
                </a:solidFill>
                <a:latin typeface="Roboto"/>
                <a:cs typeface="Roboto"/>
              </a:rPr>
              <a:t>1.0</a:t>
            </a:r>
            <a:endParaRPr sz="800">
              <a:latin typeface="Roboto"/>
              <a:cs typeface="Roboto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7258446" y="2611586"/>
            <a:ext cx="79375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-50">
                <a:solidFill>
                  <a:srgbClr val="333333"/>
                </a:solidFill>
                <a:latin typeface="Roboto"/>
                <a:cs typeface="Roboto"/>
              </a:rPr>
              <a:t>0</a:t>
            </a:r>
            <a:endParaRPr sz="800">
              <a:latin typeface="Roboto"/>
              <a:cs typeface="Roboto"/>
            </a:endParaRPr>
          </a:p>
        </p:txBody>
      </p:sp>
      <p:sp>
        <p:nvSpPr>
          <p:cNvPr id="36" name="object 36" descr=""/>
          <p:cNvSpPr/>
          <p:nvPr/>
        </p:nvSpPr>
        <p:spPr>
          <a:xfrm>
            <a:off x="8562974" y="3371850"/>
            <a:ext cx="952500" cy="285750"/>
          </a:xfrm>
          <a:custGeom>
            <a:avLst/>
            <a:gdLst/>
            <a:ahLst/>
            <a:cxnLst/>
            <a:rect l="l" t="t" r="r" b="b"/>
            <a:pathLst>
              <a:path w="952500" h="285750">
                <a:moveTo>
                  <a:pt x="809624" y="285749"/>
                </a:moveTo>
                <a:lnTo>
                  <a:pt x="142874" y="285749"/>
                </a:lnTo>
                <a:lnTo>
                  <a:pt x="135855" y="285578"/>
                </a:lnTo>
                <a:lnTo>
                  <a:pt x="94749" y="277401"/>
                </a:lnTo>
                <a:lnTo>
                  <a:pt x="57756" y="257628"/>
                </a:lnTo>
                <a:lnTo>
                  <a:pt x="28120" y="227992"/>
                </a:lnTo>
                <a:lnTo>
                  <a:pt x="8347" y="191000"/>
                </a:lnTo>
                <a:lnTo>
                  <a:pt x="171" y="149894"/>
                </a:lnTo>
                <a:lnTo>
                  <a:pt x="0" y="142874"/>
                </a:lnTo>
                <a:lnTo>
                  <a:pt x="171" y="135855"/>
                </a:lnTo>
                <a:lnTo>
                  <a:pt x="8347" y="94749"/>
                </a:lnTo>
                <a:lnTo>
                  <a:pt x="28120" y="57757"/>
                </a:lnTo>
                <a:lnTo>
                  <a:pt x="57756" y="28121"/>
                </a:lnTo>
                <a:lnTo>
                  <a:pt x="94749" y="8348"/>
                </a:lnTo>
                <a:lnTo>
                  <a:pt x="135855" y="171"/>
                </a:lnTo>
                <a:lnTo>
                  <a:pt x="142874" y="0"/>
                </a:lnTo>
                <a:lnTo>
                  <a:pt x="809624" y="0"/>
                </a:lnTo>
                <a:lnTo>
                  <a:pt x="851099" y="6150"/>
                </a:lnTo>
                <a:lnTo>
                  <a:pt x="889001" y="24078"/>
                </a:lnTo>
                <a:lnTo>
                  <a:pt x="920069" y="52234"/>
                </a:lnTo>
                <a:lnTo>
                  <a:pt x="941623" y="88199"/>
                </a:lnTo>
                <a:lnTo>
                  <a:pt x="951813" y="128870"/>
                </a:lnTo>
                <a:lnTo>
                  <a:pt x="952499" y="142874"/>
                </a:lnTo>
                <a:lnTo>
                  <a:pt x="952328" y="149894"/>
                </a:lnTo>
                <a:lnTo>
                  <a:pt x="944151" y="191000"/>
                </a:lnTo>
                <a:lnTo>
                  <a:pt x="924378" y="227992"/>
                </a:lnTo>
                <a:lnTo>
                  <a:pt x="894742" y="257628"/>
                </a:lnTo>
                <a:lnTo>
                  <a:pt x="857750" y="277401"/>
                </a:lnTo>
                <a:lnTo>
                  <a:pt x="816643" y="285578"/>
                </a:lnTo>
                <a:lnTo>
                  <a:pt x="809624" y="285749"/>
                </a:lnTo>
                <a:close/>
              </a:path>
            </a:pathLst>
          </a:custGeom>
          <a:solidFill>
            <a:srgbClr val="0045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 txBox="1"/>
          <p:nvPr/>
        </p:nvSpPr>
        <p:spPr>
          <a:xfrm>
            <a:off x="8527950" y="3452703"/>
            <a:ext cx="102235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40">
                <a:solidFill>
                  <a:srgbClr val="FFFFFF"/>
                </a:solidFill>
                <a:latin typeface="Roboto"/>
                <a:cs typeface="Roboto"/>
              </a:rPr>
              <a:t>Initialize</a:t>
            </a:r>
            <a:r>
              <a:rPr dirty="0" sz="1000" spc="-1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FFFFFF"/>
                </a:solidFill>
                <a:latin typeface="Roboto"/>
                <a:cs typeface="Roboto"/>
              </a:rPr>
              <a:t>Population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38" name="object 38" descr=""/>
          <p:cNvSpPr/>
          <p:nvPr/>
        </p:nvSpPr>
        <p:spPr>
          <a:xfrm>
            <a:off x="8562974" y="3848100"/>
            <a:ext cx="952500" cy="285750"/>
          </a:xfrm>
          <a:custGeom>
            <a:avLst/>
            <a:gdLst/>
            <a:ahLst/>
            <a:cxnLst/>
            <a:rect l="l" t="t" r="r" b="b"/>
            <a:pathLst>
              <a:path w="952500" h="285750">
                <a:moveTo>
                  <a:pt x="38100" y="0"/>
                </a:moveTo>
                <a:lnTo>
                  <a:pt x="914400" y="0"/>
                </a:lnTo>
                <a:lnTo>
                  <a:pt x="919452" y="0"/>
                </a:lnTo>
                <a:lnTo>
                  <a:pt x="924312" y="966"/>
                </a:lnTo>
                <a:lnTo>
                  <a:pt x="949599" y="23519"/>
                </a:lnTo>
                <a:lnTo>
                  <a:pt x="951532" y="28187"/>
                </a:lnTo>
                <a:lnTo>
                  <a:pt x="952499" y="33047"/>
                </a:lnTo>
                <a:lnTo>
                  <a:pt x="952500" y="38099"/>
                </a:lnTo>
                <a:lnTo>
                  <a:pt x="952500" y="247649"/>
                </a:lnTo>
                <a:lnTo>
                  <a:pt x="933647" y="280916"/>
                </a:lnTo>
                <a:lnTo>
                  <a:pt x="928979" y="282849"/>
                </a:lnTo>
                <a:lnTo>
                  <a:pt x="924312" y="284783"/>
                </a:lnTo>
                <a:lnTo>
                  <a:pt x="919452" y="285749"/>
                </a:lnTo>
                <a:lnTo>
                  <a:pt x="914400" y="285749"/>
                </a:lnTo>
                <a:lnTo>
                  <a:pt x="38100" y="285749"/>
                </a:lnTo>
                <a:lnTo>
                  <a:pt x="33047" y="285749"/>
                </a:lnTo>
                <a:lnTo>
                  <a:pt x="28187" y="284783"/>
                </a:lnTo>
                <a:lnTo>
                  <a:pt x="2900" y="262230"/>
                </a:lnTo>
                <a:lnTo>
                  <a:pt x="966" y="257562"/>
                </a:lnTo>
                <a:lnTo>
                  <a:pt x="0" y="252702"/>
                </a:lnTo>
                <a:lnTo>
                  <a:pt x="0" y="247649"/>
                </a:lnTo>
                <a:lnTo>
                  <a:pt x="0" y="38099"/>
                </a:lnTo>
                <a:lnTo>
                  <a:pt x="0" y="33047"/>
                </a:lnTo>
                <a:lnTo>
                  <a:pt x="966" y="28187"/>
                </a:lnTo>
                <a:lnTo>
                  <a:pt x="2900" y="23519"/>
                </a:lnTo>
                <a:lnTo>
                  <a:pt x="4833" y="18851"/>
                </a:lnTo>
                <a:lnTo>
                  <a:pt x="7586" y="14731"/>
                </a:lnTo>
                <a:lnTo>
                  <a:pt x="11159" y="11159"/>
                </a:lnTo>
                <a:lnTo>
                  <a:pt x="14731" y="7586"/>
                </a:lnTo>
                <a:lnTo>
                  <a:pt x="18851" y="4833"/>
                </a:lnTo>
                <a:lnTo>
                  <a:pt x="23519" y="2900"/>
                </a:lnTo>
                <a:lnTo>
                  <a:pt x="28187" y="966"/>
                </a:lnTo>
                <a:lnTo>
                  <a:pt x="33047" y="0"/>
                </a:lnTo>
                <a:lnTo>
                  <a:pt x="38100" y="0"/>
                </a:lnTo>
                <a:close/>
              </a:path>
            </a:pathLst>
          </a:custGeom>
          <a:ln w="14287">
            <a:solidFill>
              <a:srgbClr val="0045A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 txBox="1"/>
          <p:nvPr/>
        </p:nvSpPr>
        <p:spPr>
          <a:xfrm>
            <a:off x="8636595" y="3928953"/>
            <a:ext cx="80518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60">
                <a:solidFill>
                  <a:srgbClr val="0045A5"/>
                </a:solidFill>
                <a:latin typeface="Roboto"/>
                <a:cs typeface="Roboto"/>
              </a:rPr>
              <a:t>Employed</a:t>
            </a:r>
            <a:r>
              <a:rPr dirty="0" sz="1000" spc="-10">
                <a:solidFill>
                  <a:srgbClr val="0045A5"/>
                </a:solidFill>
                <a:latin typeface="Roboto"/>
                <a:cs typeface="Roboto"/>
              </a:rPr>
              <a:t> </a:t>
            </a:r>
            <a:r>
              <a:rPr dirty="0" sz="1000" spc="-40">
                <a:solidFill>
                  <a:srgbClr val="0045A5"/>
                </a:solidFill>
                <a:latin typeface="Roboto"/>
                <a:cs typeface="Roboto"/>
              </a:rPr>
              <a:t>Bees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40" name="object 40" descr=""/>
          <p:cNvSpPr/>
          <p:nvPr/>
        </p:nvSpPr>
        <p:spPr>
          <a:xfrm>
            <a:off x="8562974" y="4324349"/>
            <a:ext cx="952500" cy="285750"/>
          </a:xfrm>
          <a:custGeom>
            <a:avLst/>
            <a:gdLst/>
            <a:ahLst/>
            <a:cxnLst/>
            <a:rect l="l" t="t" r="r" b="b"/>
            <a:pathLst>
              <a:path w="952500" h="285750">
                <a:moveTo>
                  <a:pt x="38100" y="0"/>
                </a:moveTo>
                <a:lnTo>
                  <a:pt x="914400" y="0"/>
                </a:lnTo>
                <a:lnTo>
                  <a:pt x="919452" y="0"/>
                </a:lnTo>
                <a:lnTo>
                  <a:pt x="924312" y="966"/>
                </a:lnTo>
                <a:lnTo>
                  <a:pt x="949599" y="23519"/>
                </a:lnTo>
                <a:lnTo>
                  <a:pt x="951532" y="28187"/>
                </a:lnTo>
                <a:lnTo>
                  <a:pt x="952499" y="33047"/>
                </a:lnTo>
                <a:lnTo>
                  <a:pt x="952500" y="38099"/>
                </a:lnTo>
                <a:lnTo>
                  <a:pt x="952500" y="247649"/>
                </a:lnTo>
                <a:lnTo>
                  <a:pt x="933647" y="280916"/>
                </a:lnTo>
                <a:lnTo>
                  <a:pt x="914400" y="285749"/>
                </a:lnTo>
                <a:lnTo>
                  <a:pt x="38100" y="285749"/>
                </a:lnTo>
                <a:lnTo>
                  <a:pt x="33047" y="285749"/>
                </a:lnTo>
                <a:lnTo>
                  <a:pt x="28187" y="284783"/>
                </a:lnTo>
                <a:lnTo>
                  <a:pt x="23519" y="282849"/>
                </a:lnTo>
                <a:lnTo>
                  <a:pt x="18851" y="280916"/>
                </a:lnTo>
                <a:lnTo>
                  <a:pt x="2900" y="262230"/>
                </a:lnTo>
                <a:lnTo>
                  <a:pt x="966" y="257562"/>
                </a:lnTo>
                <a:lnTo>
                  <a:pt x="0" y="252702"/>
                </a:lnTo>
                <a:lnTo>
                  <a:pt x="0" y="247649"/>
                </a:lnTo>
                <a:lnTo>
                  <a:pt x="0" y="38099"/>
                </a:lnTo>
                <a:lnTo>
                  <a:pt x="0" y="33047"/>
                </a:lnTo>
                <a:lnTo>
                  <a:pt x="966" y="28187"/>
                </a:lnTo>
                <a:lnTo>
                  <a:pt x="2900" y="23519"/>
                </a:lnTo>
                <a:lnTo>
                  <a:pt x="4833" y="18851"/>
                </a:lnTo>
                <a:lnTo>
                  <a:pt x="7586" y="14731"/>
                </a:lnTo>
                <a:lnTo>
                  <a:pt x="11159" y="11159"/>
                </a:lnTo>
                <a:lnTo>
                  <a:pt x="14731" y="7586"/>
                </a:lnTo>
                <a:lnTo>
                  <a:pt x="18851" y="4833"/>
                </a:lnTo>
                <a:lnTo>
                  <a:pt x="23519" y="2900"/>
                </a:lnTo>
                <a:lnTo>
                  <a:pt x="28187" y="966"/>
                </a:lnTo>
                <a:lnTo>
                  <a:pt x="33047" y="0"/>
                </a:lnTo>
                <a:lnTo>
                  <a:pt x="38100" y="0"/>
                </a:lnTo>
                <a:close/>
              </a:path>
            </a:pathLst>
          </a:custGeom>
          <a:ln w="14287">
            <a:solidFill>
              <a:srgbClr val="0045A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 txBox="1"/>
          <p:nvPr/>
        </p:nvSpPr>
        <p:spPr>
          <a:xfrm>
            <a:off x="8658473" y="4405203"/>
            <a:ext cx="76136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5">
                <a:solidFill>
                  <a:srgbClr val="0045A5"/>
                </a:solidFill>
                <a:latin typeface="Roboto"/>
                <a:cs typeface="Roboto"/>
              </a:rPr>
              <a:t>Onlooker</a:t>
            </a:r>
            <a:r>
              <a:rPr dirty="0" sz="1000" spc="5">
                <a:solidFill>
                  <a:srgbClr val="0045A5"/>
                </a:solidFill>
                <a:latin typeface="Roboto"/>
                <a:cs typeface="Roboto"/>
              </a:rPr>
              <a:t> </a:t>
            </a:r>
            <a:r>
              <a:rPr dirty="0" sz="1000" spc="-45">
                <a:solidFill>
                  <a:srgbClr val="0045A5"/>
                </a:solidFill>
                <a:latin typeface="Roboto"/>
                <a:cs typeface="Roboto"/>
              </a:rPr>
              <a:t>Bees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42" name="object 42" descr=""/>
          <p:cNvSpPr/>
          <p:nvPr/>
        </p:nvSpPr>
        <p:spPr>
          <a:xfrm>
            <a:off x="8562974" y="4800599"/>
            <a:ext cx="952500" cy="285750"/>
          </a:xfrm>
          <a:custGeom>
            <a:avLst/>
            <a:gdLst/>
            <a:ahLst/>
            <a:cxnLst/>
            <a:rect l="l" t="t" r="r" b="b"/>
            <a:pathLst>
              <a:path w="952500" h="285750">
                <a:moveTo>
                  <a:pt x="38100" y="0"/>
                </a:moveTo>
                <a:lnTo>
                  <a:pt x="914400" y="0"/>
                </a:lnTo>
                <a:lnTo>
                  <a:pt x="919452" y="0"/>
                </a:lnTo>
                <a:lnTo>
                  <a:pt x="924312" y="966"/>
                </a:lnTo>
                <a:lnTo>
                  <a:pt x="949599" y="23519"/>
                </a:lnTo>
                <a:lnTo>
                  <a:pt x="951532" y="28187"/>
                </a:lnTo>
                <a:lnTo>
                  <a:pt x="952499" y="33047"/>
                </a:lnTo>
                <a:lnTo>
                  <a:pt x="952500" y="38099"/>
                </a:lnTo>
                <a:lnTo>
                  <a:pt x="952500" y="247649"/>
                </a:lnTo>
                <a:lnTo>
                  <a:pt x="933647" y="280916"/>
                </a:lnTo>
                <a:lnTo>
                  <a:pt x="914400" y="285749"/>
                </a:lnTo>
                <a:lnTo>
                  <a:pt x="38100" y="285749"/>
                </a:lnTo>
                <a:lnTo>
                  <a:pt x="11159" y="274590"/>
                </a:lnTo>
                <a:lnTo>
                  <a:pt x="7586" y="271018"/>
                </a:lnTo>
                <a:lnTo>
                  <a:pt x="4833" y="266897"/>
                </a:lnTo>
                <a:lnTo>
                  <a:pt x="2900" y="262230"/>
                </a:lnTo>
                <a:lnTo>
                  <a:pt x="966" y="257562"/>
                </a:lnTo>
                <a:lnTo>
                  <a:pt x="0" y="252702"/>
                </a:lnTo>
                <a:lnTo>
                  <a:pt x="0" y="247649"/>
                </a:lnTo>
                <a:lnTo>
                  <a:pt x="0" y="38099"/>
                </a:lnTo>
                <a:lnTo>
                  <a:pt x="0" y="33047"/>
                </a:lnTo>
                <a:lnTo>
                  <a:pt x="966" y="28187"/>
                </a:lnTo>
                <a:lnTo>
                  <a:pt x="2900" y="23519"/>
                </a:lnTo>
                <a:lnTo>
                  <a:pt x="4833" y="18851"/>
                </a:lnTo>
                <a:lnTo>
                  <a:pt x="7586" y="14731"/>
                </a:lnTo>
                <a:lnTo>
                  <a:pt x="11159" y="11159"/>
                </a:lnTo>
                <a:lnTo>
                  <a:pt x="14731" y="7586"/>
                </a:lnTo>
                <a:lnTo>
                  <a:pt x="18851" y="4833"/>
                </a:lnTo>
                <a:lnTo>
                  <a:pt x="23519" y="2899"/>
                </a:lnTo>
                <a:lnTo>
                  <a:pt x="28187" y="966"/>
                </a:lnTo>
                <a:lnTo>
                  <a:pt x="33047" y="0"/>
                </a:lnTo>
                <a:lnTo>
                  <a:pt x="38100" y="0"/>
                </a:lnTo>
                <a:close/>
              </a:path>
            </a:pathLst>
          </a:custGeom>
          <a:ln w="14287">
            <a:solidFill>
              <a:srgbClr val="0045A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 txBox="1"/>
          <p:nvPr/>
        </p:nvSpPr>
        <p:spPr>
          <a:xfrm>
            <a:off x="8739882" y="4881453"/>
            <a:ext cx="59880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65">
                <a:solidFill>
                  <a:srgbClr val="0045A5"/>
                </a:solidFill>
                <a:latin typeface="Roboto"/>
                <a:cs typeface="Roboto"/>
              </a:rPr>
              <a:t>Scout</a:t>
            </a:r>
            <a:r>
              <a:rPr dirty="0" sz="1000" spc="20">
                <a:solidFill>
                  <a:srgbClr val="0045A5"/>
                </a:solidFill>
                <a:latin typeface="Roboto"/>
                <a:cs typeface="Roboto"/>
              </a:rPr>
              <a:t> </a:t>
            </a:r>
            <a:r>
              <a:rPr dirty="0" sz="1000" spc="-40">
                <a:solidFill>
                  <a:srgbClr val="0045A5"/>
                </a:solidFill>
                <a:latin typeface="Roboto"/>
                <a:cs typeface="Roboto"/>
              </a:rPr>
              <a:t>Bees</a:t>
            </a:r>
            <a:endParaRPr sz="1000">
              <a:latin typeface="Roboto"/>
              <a:cs typeface="Roboto"/>
            </a:endParaRPr>
          </a:p>
        </p:txBody>
      </p:sp>
      <p:grpSp>
        <p:nvGrpSpPr>
          <p:cNvPr id="44" name="object 44" descr=""/>
          <p:cNvGrpSpPr/>
          <p:nvPr/>
        </p:nvGrpSpPr>
        <p:grpSpPr>
          <a:xfrm>
            <a:off x="10079672" y="4317047"/>
            <a:ext cx="776605" cy="395605"/>
            <a:chOff x="10079672" y="4317047"/>
            <a:chExt cx="776605" cy="395605"/>
          </a:xfrm>
        </p:grpSpPr>
        <p:sp>
          <p:nvSpPr>
            <p:cNvPr id="45" name="object 45" descr=""/>
            <p:cNvSpPr/>
            <p:nvPr/>
          </p:nvSpPr>
          <p:spPr>
            <a:xfrm>
              <a:off x="10086974" y="4324349"/>
              <a:ext cx="762000" cy="381000"/>
            </a:xfrm>
            <a:custGeom>
              <a:avLst/>
              <a:gdLst/>
              <a:ahLst/>
              <a:cxnLst/>
              <a:rect l="l" t="t" r="r" b="b"/>
              <a:pathLst>
                <a:path w="762000" h="381000">
                  <a:moveTo>
                    <a:pt x="728952" y="380999"/>
                  </a:moveTo>
                  <a:lnTo>
                    <a:pt x="33047" y="380999"/>
                  </a:lnTo>
                  <a:lnTo>
                    <a:pt x="28187" y="380033"/>
                  </a:lnTo>
                  <a:lnTo>
                    <a:pt x="966" y="352812"/>
                  </a:lnTo>
                  <a:lnTo>
                    <a:pt x="0" y="34795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099" y="0"/>
                  </a:lnTo>
                  <a:lnTo>
                    <a:pt x="728952" y="0"/>
                  </a:lnTo>
                  <a:lnTo>
                    <a:pt x="761032" y="28187"/>
                  </a:lnTo>
                  <a:lnTo>
                    <a:pt x="761999" y="33047"/>
                  </a:lnTo>
                  <a:lnTo>
                    <a:pt x="761999" y="347952"/>
                  </a:lnTo>
                  <a:lnTo>
                    <a:pt x="733811" y="380033"/>
                  </a:lnTo>
                  <a:lnTo>
                    <a:pt x="728952" y="380999"/>
                  </a:lnTo>
                  <a:close/>
                </a:path>
              </a:pathLst>
            </a:custGeom>
            <a:solidFill>
              <a:srgbClr val="F0F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0086974" y="4324349"/>
              <a:ext cx="762000" cy="381000"/>
            </a:xfrm>
            <a:custGeom>
              <a:avLst/>
              <a:gdLst/>
              <a:ahLst/>
              <a:cxnLst/>
              <a:rect l="l" t="t" r="r" b="b"/>
              <a:pathLst>
                <a:path w="762000" h="381000">
                  <a:moveTo>
                    <a:pt x="38099" y="0"/>
                  </a:moveTo>
                  <a:lnTo>
                    <a:pt x="723899" y="0"/>
                  </a:lnTo>
                  <a:lnTo>
                    <a:pt x="728952" y="0"/>
                  </a:lnTo>
                  <a:lnTo>
                    <a:pt x="733811" y="966"/>
                  </a:lnTo>
                  <a:lnTo>
                    <a:pt x="738479" y="2900"/>
                  </a:lnTo>
                  <a:lnTo>
                    <a:pt x="743147" y="4833"/>
                  </a:lnTo>
                  <a:lnTo>
                    <a:pt x="747267" y="7586"/>
                  </a:lnTo>
                  <a:lnTo>
                    <a:pt x="761999" y="38099"/>
                  </a:lnTo>
                  <a:lnTo>
                    <a:pt x="761999" y="342899"/>
                  </a:lnTo>
                  <a:lnTo>
                    <a:pt x="743147" y="376166"/>
                  </a:lnTo>
                  <a:lnTo>
                    <a:pt x="723899" y="380999"/>
                  </a:lnTo>
                  <a:lnTo>
                    <a:pt x="38099" y="380999"/>
                  </a:lnTo>
                  <a:lnTo>
                    <a:pt x="11159" y="369840"/>
                  </a:lnTo>
                  <a:lnTo>
                    <a:pt x="7586" y="366268"/>
                  </a:lnTo>
                  <a:lnTo>
                    <a:pt x="4833" y="362147"/>
                  </a:lnTo>
                  <a:lnTo>
                    <a:pt x="2900" y="357480"/>
                  </a:lnTo>
                  <a:lnTo>
                    <a:pt x="966" y="352812"/>
                  </a:lnTo>
                  <a:lnTo>
                    <a:pt x="0" y="347952"/>
                  </a:lnTo>
                  <a:lnTo>
                    <a:pt x="0" y="342899"/>
                  </a:lnTo>
                  <a:lnTo>
                    <a:pt x="0" y="38099"/>
                  </a:lnTo>
                  <a:lnTo>
                    <a:pt x="0" y="33047"/>
                  </a:lnTo>
                  <a:lnTo>
                    <a:pt x="966" y="28187"/>
                  </a:lnTo>
                  <a:lnTo>
                    <a:pt x="2900" y="23519"/>
                  </a:lnTo>
                  <a:lnTo>
                    <a:pt x="4833" y="18851"/>
                  </a:lnTo>
                  <a:lnTo>
                    <a:pt x="7586" y="14731"/>
                  </a:lnTo>
                  <a:lnTo>
                    <a:pt x="11159" y="11159"/>
                  </a:lnTo>
                  <a:lnTo>
                    <a:pt x="14731" y="7586"/>
                  </a:lnTo>
                  <a:lnTo>
                    <a:pt x="18851" y="4833"/>
                  </a:lnTo>
                  <a:lnTo>
                    <a:pt x="23519" y="2900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099" y="0"/>
                  </a:lnTo>
                  <a:close/>
                </a:path>
              </a:pathLst>
            </a:custGeom>
            <a:ln w="14287">
              <a:solidFill>
                <a:srgbClr val="0045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 descr=""/>
          <p:cNvSpPr txBox="1"/>
          <p:nvPr/>
        </p:nvSpPr>
        <p:spPr>
          <a:xfrm>
            <a:off x="10257184" y="4357994"/>
            <a:ext cx="421640" cy="3111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13664" marR="5080" indent="-101600">
              <a:lnSpc>
                <a:spcPct val="117200"/>
              </a:lnSpc>
              <a:spcBef>
                <a:spcPts val="90"/>
              </a:spcBef>
            </a:pPr>
            <a:r>
              <a:rPr dirty="0" sz="800" spc="-35">
                <a:solidFill>
                  <a:srgbClr val="0045A5"/>
                </a:solidFill>
                <a:latin typeface="Roboto"/>
                <a:cs typeface="Roboto"/>
              </a:rPr>
              <a:t>Calculate</a:t>
            </a:r>
            <a:r>
              <a:rPr dirty="0" sz="800" spc="500">
                <a:solidFill>
                  <a:srgbClr val="0045A5"/>
                </a:solidFill>
                <a:latin typeface="Roboto"/>
                <a:cs typeface="Roboto"/>
              </a:rPr>
              <a:t> </a:t>
            </a:r>
            <a:r>
              <a:rPr dirty="0" sz="800" spc="-20">
                <a:solidFill>
                  <a:srgbClr val="0045A5"/>
                </a:solidFill>
                <a:latin typeface="Roboto"/>
                <a:cs typeface="Roboto"/>
              </a:rPr>
              <a:t>ITAE</a:t>
            </a:r>
            <a:endParaRPr sz="800">
              <a:latin typeface="Roboto"/>
              <a:cs typeface="Roboto"/>
            </a:endParaRPr>
          </a:p>
        </p:txBody>
      </p:sp>
      <p:grpSp>
        <p:nvGrpSpPr>
          <p:cNvPr id="48" name="object 48" descr=""/>
          <p:cNvGrpSpPr/>
          <p:nvPr/>
        </p:nvGrpSpPr>
        <p:grpSpPr>
          <a:xfrm>
            <a:off x="7222172" y="4317047"/>
            <a:ext cx="776605" cy="395605"/>
            <a:chOff x="7222172" y="4317047"/>
            <a:chExt cx="776605" cy="395605"/>
          </a:xfrm>
        </p:grpSpPr>
        <p:sp>
          <p:nvSpPr>
            <p:cNvPr id="49" name="object 49" descr=""/>
            <p:cNvSpPr/>
            <p:nvPr/>
          </p:nvSpPr>
          <p:spPr>
            <a:xfrm>
              <a:off x="7229474" y="4324349"/>
              <a:ext cx="762000" cy="381000"/>
            </a:xfrm>
            <a:custGeom>
              <a:avLst/>
              <a:gdLst/>
              <a:ahLst/>
              <a:cxnLst/>
              <a:rect l="l" t="t" r="r" b="b"/>
              <a:pathLst>
                <a:path w="762000" h="381000">
                  <a:moveTo>
                    <a:pt x="728952" y="380999"/>
                  </a:moveTo>
                  <a:lnTo>
                    <a:pt x="33047" y="380999"/>
                  </a:lnTo>
                  <a:lnTo>
                    <a:pt x="28187" y="380033"/>
                  </a:lnTo>
                  <a:lnTo>
                    <a:pt x="966" y="352812"/>
                  </a:lnTo>
                  <a:lnTo>
                    <a:pt x="0" y="34795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100" y="0"/>
                  </a:lnTo>
                  <a:lnTo>
                    <a:pt x="728952" y="0"/>
                  </a:lnTo>
                  <a:lnTo>
                    <a:pt x="761033" y="28187"/>
                  </a:lnTo>
                  <a:lnTo>
                    <a:pt x="761999" y="33047"/>
                  </a:lnTo>
                  <a:lnTo>
                    <a:pt x="761999" y="347952"/>
                  </a:lnTo>
                  <a:lnTo>
                    <a:pt x="733812" y="380033"/>
                  </a:lnTo>
                  <a:lnTo>
                    <a:pt x="728952" y="380999"/>
                  </a:lnTo>
                  <a:close/>
                </a:path>
              </a:pathLst>
            </a:custGeom>
            <a:solidFill>
              <a:srgbClr val="F0F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7229474" y="4324349"/>
              <a:ext cx="762000" cy="381000"/>
            </a:xfrm>
            <a:custGeom>
              <a:avLst/>
              <a:gdLst/>
              <a:ahLst/>
              <a:cxnLst/>
              <a:rect l="l" t="t" r="r" b="b"/>
              <a:pathLst>
                <a:path w="762000" h="381000">
                  <a:moveTo>
                    <a:pt x="38100" y="0"/>
                  </a:moveTo>
                  <a:lnTo>
                    <a:pt x="723899" y="0"/>
                  </a:lnTo>
                  <a:lnTo>
                    <a:pt x="728952" y="0"/>
                  </a:lnTo>
                  <a:lnTo>
                    <a:pt x="733812" y="966"/>
                  </a:lnTo>
                  <a:lnTo>
                    <a:pt x="738480" y="2900"/>
                  </a:lnTo>
                  <a:lnTo>
                    <a:pt x="743147" y="4833"/>
                  </a:lnTo>
                  <a:lnTo>
                    <a:pt x="747268" y="7586"/>
                  </a:lnTo>
                  <a:lnTo>
                    <a:pt x="750840" y="11159"/>
                  </a:lnTo>
                  <a:lnTo>
                    <a:pt x="754413" y="14731"/>
                  </a:lnTo>
                  <a:lnTo>
                    <a:pt x="757166" y="18851"/>
                  </a:lnTo>
                  <a:lnTo>
                    <a:pt x="759099" y="23519"/>
                  </a:lnTo>
                  <a:lnTo>
                    <a:pt x="761033" y="28187"/>
                  </a:lnTo>
                  <a:lnTo>
                    <a:pt x="761999" y="33047"/>
                  </a:lnTo>
                  <a:lnTo>
                    <a:pt x="761999" y="38099"/>
                  </a:lnTo>
                  <a:lnTo>
                    <a:pt x="761999" y="342899"/>
                  </a:lnTo>
                  <a:lnTo>
                    <a:pt x="761999" y="347952"/>
                  </a:lnTo>
                  <a:lnTo>
                    <a:pt x="761033" y="352812"/>
                  </a:lnTo>
                  <a:lnTo>
                    <a:pt x="733812" y="380033"/>
                  </a:lnTo>
                  <a:lnTo>
                    <a:pt x="723899" y="380999"/>
                  </a:lnTo>
                  <a:lnTo>
                    <a:pt x="38100" y="380999"/>
                  </a:lnTo>
                  <a:lnTo>
                    <a:pt x="11159" y="369840"/>
                  </a:lnTo>
                  <a:lnTo>
                    <a:pt x="7586" y="366268"/>
                  </a:lnTo>
                  <a:lnTo>
                    <a:pt x="4833" y="362147"/>
                  </a:lnTo>
                  <a:lnTo>
                    <a:pt x="2900" y="357480"/>
                  </a:lnTo>
                  <a:lnTo>
                    <a:pt x="966" y="352812"/>
                  </a:lnTo>
                  <a:lnTo>
                    <a:pt x="0" y="347952"/>
                  </a:lnTo>
                  <a:lnTo>
                    <a:pt x="0" y="342899"/>
                  </a:lnTo>
                  <a:lnTo>
                    <a:pt x="0" y="38099"/>
                  </a:lnTo>
                  <a:lnTo>
                    <a:pt x="0" y="33047"/>
                  </a:lnTo>
                  <a:lnTo>
                    <a:pt x="966" y="28187"/>
                  </a:lnTo>
                  <a:lnTo>
                    <a:pt x="2900" y="23519"/>
                  </a:lnTo>
                  <a:lnTo>
                    <a:pt x="4833" y="18851"/>
                  </a:lnTo>
                  <a:lnTo>
                    <a:pt x="7586" y="14731"/>
                  </a:lnTo>
                  <a:lnTo>
                    <a:pt x="11159" y="11159"/>
                  </a:lnTo>
                  <a:lnTo>
                    <a:pt x="14731" y="7586"/>
                  </a:lnTo>
                  <a:lnTo>
                    <a:pt x="18851" y="4833"/>
                  </a:lnTo>
                  <a:lnTo>
                    <a:pt x="23519" y="2900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100" y="0"/>
                  </a:lnTo>
                  <a:close/>
                </a:path>
              </a:pathLst>
            </a:custGeom>
            <a:ln w="14287">
              <a:solidFill>
                <a:srgbClr val="0045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 descr=""/>
          <p:cNvSpPr txBox="1"/>
          <p:nvPr/>
        </p:nvSpPr>
        <p:spPr>
          <a:xfrm>
            <a:off x="7388373" y="4421336"/>
            <a:ext cx="444500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-35">
                <a:solidFill>
                  <a:srgbClr val="0045A5"/>
                </a:solidFill>
                <a:latin typeface="Roboto"/>
                <a:cs typeface="Roboto"/>
              </a:rPr>
              <a:t>Fuzzy-</a:t>
            </a:r>
            <a:r>
              <a:rPr dirty="0" sz="800" spc="-25">
                <a:solidFill>
                  <a:srgbClr val="0045A5"/>
                </a:solidFill>
                <a:latin typeface="Roboto"/>
                <a:cs typeface="Roboto"/>
              </a:rPr>
              <a:t>PID</a:t>
            </a:r>
            <a:endParaRPr sz="800">
              <a:latin typeface="Roboto"/>
              <a:cs typeface="Roboto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7440761" y="4580344"/>
            <a:ext cx="297815" cy="1276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50">
                <a:solidFill>
                  <a:srgbClr val="0045A5"/>
                </a:solidFill>
                <a:latin typeface="Roboto"/>
                <a:cs typeface="Roboto"/>
              </a:rPr>
              <a:t>K</a:t>
            </a:r>
            <a:r>
              <a:rPr dirty="0" sz="650" spc="140">
                <a:solidFill>
                  <a:srgbClr val="0045A5"/>
                </a:solidFill>
                <a:latin typeface="Roboto"/>
                <a:cs typeface="Roboto"/>
              </a:rPr>
              <a:t> </a:t>
            </a:r>
            <a:r>
              <a:rPr dirty="0" sz="650">
                <a:solidFill>
                  <a:srgbClr val="0045A5"/>
                </a:solidFill>
                <a:latin typeface="Roboto"/>
                <a:cs typeface="Roboto"/>
              </a:rPr>
              <a:t>,</a:t>
            </a:r>
            <a:r>
              <a:rPr dirty="0" sz="650" spc="-20">
                <a:solidFill>
                  <a:srgbClr val="0045A5"/>
                </a:solidFill>
                <a:latin typeface="Roboto"/>
                <a:cs typeface="Roboto"/>
              </a:rPr>
              <a:t> </a:t>
            </a:r>
            <a:r>
              <a:rPr dirty="0" sz="650" spc="-40">
                <a:solidFill>
                  <a:srgbClr val="0045A5"/>
                </a:solidFill>
                <a:latin typeface="Roboto"/>
                <a:cs typeface="Roboto"/>
              </a:rPr>
              <a:t>K</a:t>
            </a:r>
            <a:r>
              <a:rPr dirty="0" sz="650" spc="-15">
                <a:solidFill>
                  <a:srgbClr val="0045A5"/>
                </a:solidFill>
                <a:latin typeface="Roboto"/>
                <a:cs typeface="Roboto"/>
              </a:rPr>
              <a:t> </a:t>
            </a:r>
            <a:r>
              <a:rPr dirty="0" sz="650">
                <a:solidFill>
                  <a:srgbClr val="0045A5"/>
                </a:solidFill>
                <a:latin typeface="Roboto"/>
                <a:cs typeface="Roboto"/>
              </a:rPr>
              <a:t>,</a:t>
            </a:r>
            <a:r>
              <a:rPr dirty="0" sz="650" spc="-25">
                <a:solidFill>
                  <a:srgbClr val="0045A5"/>
                </a:solidFill>
                <a:latin typeface="Roboto"/>
                <a:cs typeface="Roboto"/>
              </a:rPr>
              <a:t> </a:t>
            </a:r>
            <a:r>
              <a:rPr dirty="0" sz="650" spc="-50">
                <a:solidFill>
                  <a:srgbClr val="0045A5"/>
                </a:solidFill>
                <a:latin typeface="Roboto"/>
                <a:cs typeface="Roboto"/>
              </a:rPr>
              <a:t>K</a:t>
            </a:r>
            <a:endParaRPr sz="650">
              <a:latin typeface="Roboto"/>
              <a:cs typeface="Roboto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7487791" y="4626927"/>
            <a:ext cx="292735" cy="1276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50">
                <a:solidFill>
                  <a:srgbClr val="0045A5"/>
                </a:solidFill>
                <a:latin typeface="Roboto"/>
                <a:cs typeface="Roboto"/>
              </a:rPr>
              <a:t>p</a:t>
            </a:r>
            <a:r>
              <a:rPr dirty="0" sz="650" spc="459">
                <a:solidFill>
                  <a:srgbClr val="0045A5"/>
                </a:solidFill>
                <a:latin typeface="Roboto"/>
                <a:cs typeface="Roboto"/>
              </a:rPr>
              <a:t> </a:t>
            </a:r>
            <a:r>
              <a:rPr dirty="0" sz="650">
                <a:solidFill>
                  <a:srgbClr val="0045A5"/>
                </a:solidFill>
                <a:latin typeface="Roboto"/>
                <a:cs typeface="Roboto"/>
              </a:rPr>
              <a:t>i</a:t>
            </a:r>
            <a:r>
              <a:rPr dirty="0" sz="650" spc="455">
                <a:solidFill>
                  <a:srgbClr val="0045A5"/>
                </a:solidFill>
                <a:latin typeface="Roboto"/>
                <a:cs typeface="Roboto"/>
              </a:rPr>
              <a:t> </a:t>
            </a:r>
            <a:r>
              <a:rPr dirty="0" sz="650" spc="-50">
                <a:solidFill>
                  <a:srgbClr val="0045A5"/>
                </a:solidFill>
                <a:latin typeface="Roboto"/>
                <a:cs typeface="Roboto"/>
              </a:rPr>
              <a:t>d</a:t>
            </a:r>
            <a:endParaRPr sz="650">
              <a:latin typeface="Roboto"/>
              <a:cs typeface="Roboto"/>
            </a:endParaRPr>
          </a:p>
        </p:txBody>
      </p:sp>
      <p:grpSp>
        <p:nvGrpSpPr>
          <p:cNvPr id="54" name="object 54" descr=""/>
          <p:cNvGrpSpPr/>
          <p:nvPr/>
        </p:nvGrpSpPr>
        <p:grpSpPr>
          <a:xfrm>
            <a:off x="7984172" y="3650297"/>
            <a:ext cx="2491105" cy="1729105"/>
            <a:chOff x="7984172" y="3650297"/>
            <a:chExt cx="2491105" cy="1729105"/>
          </a:xfrm>
        </p:grpSpPr>
        <p:sp>
          <p:nvSpPr>
            <p:cNvPr id="55" name="object 55" descr=""/>
            <p:cNvSpPr/>
            <p:nvPr/>
          </p:nvSpPr>
          <p:spPr>
            <a:xfrm>
              <a:off x="9039224" y="3657599"/>
              <a:ext cx="0" cy="190500"/>
            </a:xfrm>
            <a:custGeom>
              <a:avLst/>
              <a:gdLst/>
              <a:ahLst/>
              <a:cxnLst/>
              <a:rect l="l" t="t" r="r" b="b"/>
              <a:pathLst>
                <a:path w="0" h="190500">
                  <a:moveTo>
                    <a:pt x="0" y="0"/>
                  </a:moveTo>
                  <a:lnTo>
                    <a:pt x="0" y="190499"/>
                  </a:lnTo>
                </a:path>
              </a:pathLst>
            </a:custGeom>
            <a:ln w="14287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8989218" y="3719512"/>
              <a:ext cx="100330" cy="142875"/>
            </a:xfrm>
            <a:custGeom>
              <a:avLst/>
              <a:gdLst/>
              <a:ahLst/>
              <a:cxnLst/>
              <a:rect l="l" t="t" r="r" b="b"/>
              <a:pathLst>
                <a:path w="100329" h="142875">
                  <a:moveTo>
                    <a:pt x="0" y="0"/>
                  </a:moveTo>
                  <a:lnTo>
                    <a:pt x="100012" y="0"/>
                  </a:lnTo>
                  <a:lnTo>
                    <a:pt x="50006" y="1428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9039224" y="4133849"/>
              <a:ext cx="0" cy="190500"/>
            </a:xfrm>
            <a:custGeom>
              <a:avLst/>
              <a:gdLst/>
              <a:ahLst/>
              <a:cxnLst/>
              <a:rect l="l" t="t" r="r" b="b"/>
              <a:pathLst>
                <a:path w="0" h="190500">
                  <a:moveTo>
                    <a:pt x="0" y="0"/>
                  </a:moveTo>
                  <a:lnTo>
                    <a:pt x="0" y="190499"/>
                  </a:lnTo>
                </a:path>
              </a:pathLst>
            </a:custGeom>
            <a:ln w="14287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8989218" y="4195762"/>
              <a:ext cx="100330" cy="142875"/>
            </a:xfrm>
            <a:custGeom>
              <a:avLst/>
              <a:gdLst/>
              <a:ahLst/>
              <a:cxnLst/>
              <a:rect l="l" t="t" r="r" b="b"/>
              <a:pathLst>
                <a:path w="100329" h="142875">
                  <a:moveTo>
                    <a:pt x="0" y="0"/>
                  </a:moveTo>
                  <a:lnTo>
                    <a:pt x="100012" y="0"/>
                  </a:lnTo>
                  <a:lnTo>
                    <a:pt x="50006" y="1428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9039224" y="4610099"/>
              <a:ext cx="0" cy="190500"/>
            </a:xfrm>
            <a:custGeom>
              <a:avLst/>
              <a:gdLst/>
              <a:ahLst/>
              <a:cxnLst/>
              <a:rect l="l" t="t" r="r" b="b"/>
              <a:pathLst>
                <a:path w="0" h="190500">
                  <a:moveTo>
                    <a:pt x="0" y="0"/>
                  </a:moveTo>
                  <a:lnTo>
                    <a:pt x="0" y="190499"/>
                  </a:lnTo>
                </a:path>
              </a:pathLst>
            </a:custGeom>
            <a:ln w="14287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8989218" y="4672012"/>
              <a:ext cx="100330" cy="142875"/>
            </a:xfrm>
            <a:custGeom>
              <a:avLst/>
              <a:gdLst/>
              <a:ahLst/>
              <a:cxnLst/>
              <a:rect l="l" t="t" r="r" b="b"/>
              <a:pathLst>
                <a:path w="100329" h="142875">
                  <a:moveTo>
                    <a:pt x="0" y="0"/>
                  </a:moveTo>
                  <a:lnTo>
                    <a:pt x="100012" y="0"/>
                  </a:lnTo>
                  <a:lnTo>
                    <a:pt x="50006" y="1428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9515474" y="4467224"/>
              <a:ext cx="571500" cy="0"/>
            </a:xfrm>
            <a:custGeom>
              <a:avLst/>
              <a:gdLst/>
              <a:ahLst/>
              <a:cxnLst/>
              <a:rect l="l" t="t" r="r" b="b"/>
              <a:pathLst>
                <a:path w="571500" h="0">
                  <a:moveTo>
                    <a:pt x="0" y="0"/>
                  </a:moveTo>
                  <a:lnTo>
                    <a:pt x="571499" y="0"/>
                  </a:lnTo>
                </a:path>
              </a:pathLst>
            </a:custGeom>
            <a:ln w="14287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9958387" y="4417218"/>
              <a:ext cx="142875" cy="100330"/>
            </a:xfrm>
            <a:custGeom>
              <a:avLst/>
              <a:gdLst/>
              <a:ahLst/>
              <a:cxnLst/>
              <a:rect l="l" t="t" r="r" b="b"/>
              <a:pathLst>
                <a:path w="142875" h="100329">
                  <a:moveTo>
                    <a:pt x="0" y="100012"/>
                  </a:moveTo>
                  <a:lnTo>
                    <a:pt x="0" y="0"/>
                  </a:lnTo>
                  <a:lnTo>
                    <a:pt x="142875" y="50006"/>
                  </a:lnTo>
                  <a:lnTo>
                    <a:pt x="0" y="100012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7991474" y="4467224"/>
              <a:ext cx="571500" cy="0"/>
            </a:xfrm>
            <a:custGeom>
              <a:avLst/>
              <a:gdLst/>
              <a:ahLst/>
              <a:cxnLst/>
              <a:rect l="l" t="t" r="r" b="b"/>
              <a:pathLst>
                <a:path w="571500" h="0">
                  <a:moveTo>
                    <a:pt x="0" y="0"/>
                  </a:moveTo>
                  <a:lnTo>
                    <a:pt x="571499" y="0"/>
                  </a:lnTo>
                </a:path>
              </a:pathLst>
            </a:custGeom>
            <a:ln w="14287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8434387" y="4417218"/>
              <a:ext cx="142875" cy="100330"/>
            </a:xfrm>
            <a:custGeom>
              <a:avLst/>
              <a:gdLst/>
              <a:ahLst/>
              <a:cxnLst/>
              <a:rect l="l" t="t" r="r" b="b"/>
              <a:pathLst>
                <a:path w="142875" h="100329">
                  <a:moveTo>
                    <a:pt x="0" y="100012"/>
                  </a:moveTo>
                  <a:lnTo>
                    <a:pt x="0" y="0"/>
                  </a:lnTo>
                  <a:lnTo>
                    <a:pt x="142875" y="50006"/>
                  </a:lnTo>
                  <a:lnTo>
                    <a:pt x="0" y="100012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9039224" y="4705349"/>
              <a:ext cx="1428750" cy="381000"/>
            </a:xfrm>
            <a:custGeom>
              <a:avLst/>
              <a:gdLst/>
              <a:ahLst/>
              <a:cxnLst/>
              <a:rect l="l" t="t" r="r" b="b"/>
              <a:pathLst>
                <a:path w="1428750" h="381000">
                  <a:moveTo>
                    <a:pt x="1428749" y="0"/>
                  </a:moveTo>
                  <a:lnTo>
                    <a:pt x="1428749" y="380999"/>
                  </a:lnTo>
                  <a:lnTo>
                    <a:pt x="0" y="380999"/>
                  </a:lnTo>
                </a:path>
              </a:pathLst>
            </a:custGeom>
            <a:ln w="14287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9024937" y="5036343"/>
              <a:ext cx="142875" cy="100330"/>
            </a:xfrm>
            <a:custGeom>
              <a:avLst/>
              <a:gdLst/>
              <a:ahLst/>
              <a:cxnLst/>
              <a:rect l="l" t="t" r="r" b="b"/>
              <a:pathLst>
                <a:path w="142875" h="100329">
                  <a:moveTo>
                    <a:pt x="142874" y="0"/>
                  </a:moveTo>
                  <a:lnTo>
                    <a:pt x="142875" y="100012"/>
                  </a:lnTo>
                  <a:lnTo>
                    <a:pt x="0" y="50006"/>
                  </a:lnTo>
                  <a:lnTo>
                    <a:pt x="142874" y="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8562974" y="5181599"/>
              <a:ext cx="952500" cy="190500"/>
            </a:xfrm>
            <a:custGeom>
              <a:avLst/>
              <a:gdLst/>
              <a:ahLst/>
              <a:cxnLst/>
              <a:rect l="l" t="t" r="r" b="b"/>
              <a:pathLst>
                <a:path w="952500" h="190500">
                  <a:moveTo>
                    <a:pt x="919452" y="190499"/>
                  </a:moveTo>
                  <a:lnTo>
                    <a:pt x="33047" y="190499"/>
                  </a:lnTo>
                  <a:lnTo>
                    <a:pt x="28187" y="189532"/>
                  </a:lnTo>
                  <a:lnTo>
                    <a:pt x="966" y="162311"/>
                  </a:lnTo>
                  <a:lnTo>
                    <a:pt x="0" y="15745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100" y="0"/>
                  </a:lnTo>
                  <a:lnTo>
                    <a:pt x="919452" y="0"/>
                  </a:lnTo>
                  <a:lnTo>
                    <a:pt x="951532" y="28187"/>
                  </a:lnTo>
                  <a:lnTo>
                    <a:pt x="952499" y="33047"/>
                  </a:lnTo>
                  <a:lnTo>
                    <a:pt x="952499" y="157452"/>
                  </a:lnTo>
                  <a:lnTo>
                    <a:pt x="924312" y="189533"/>
                  </a:lnTo>
                  <a:lnTo>
                    <a:pt x="919452" y="190499"/>
                  </a:lnTo>
                  <a:close/>
                </a:path>
              </a:pathLst>
            </a:custGeom>
            <a:solidFill>
              <a:srgbClr val="FAF4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8562974" y="5181599"/>
              <a:ext cx="952500" cy="190500"/>
            </a:xfrm>
            <a:custGeom>
              <a:avLst/>
              <a:gdLst/>
              <a:ahLst/>
              <a:cxnLst/>
              <a:rect l="l" t="t" r="r" b="b"/>
              <a:pathLst>
                <a:path w="952500" h="190500">
                  <a:moveTo>
                    <a:pt x="38100" y="0"/>
                  </a:moveTo>
                  <a:lnTo>
                    <a:pt x="914400" y="0"/>
                  </a:lnTo>
                  <a:lnTo>
                    <a:pt x="919452" y="0"/>
                  </a:lnTo>
                  <a:lnTo>
                    <a:pt x="924312" y="966"/>
                  </a:lnTo>
                  <a:lnTo>
                    <a:pt x="951532" y="28187"/>
                  </a:lnTo>
                  <a:lnTo>
                    <a:pt x="952500" y="38099"/>
                  </a:lnTo>
                  <a:lnTo>
                    <a:pt x="952500" y="152399"/>
                  </a:lnTo>
                  <a:lnTo>
                    <a:pt x="933647" y="185666"/>
                  </a:lnTo>
                  <a:lnTo>
                    <a:pt x="914400" y="190499"/>
                  </a:lnTo>
                  <a:lnTo>
                    <a:pt x="38100" y="190499"/>
                  </a:lnTo>
                  <a:lnTo>
                    <a:pt x="33047" y="190499"/>
                  </a:lnTo>
                  <a:lnTo>
                    <a:pt x="28187" y="189532"/>
                  </a:lnTo>
                  <a:lnTo>
                    <a:pt x="23519" y="187599"/>
                  </a:lnTo>
                  <a:lnTo>
                    <a:pt x="18851" y="185665"/>
                  </a:lnTo>
                  <a:lnTo>
                    <a:pt x="14731" y="182913"/>
                  </a:lnTo>
                  <a:lnTo>
                    <a:pt x="11159" y="179340"/>
                  </a:lnTo>
                  <a:lnTo>
                    <a:pt x="7586" y="175767"/>
                  </a:lnTo>
                  <a:lnTo>
                    <a:pt x="4833" y="171647"/>
                  </a:lnTo>
                  <a:lnTo>
                    <a:pt x="2900" y="166979"/>
                  </a:lnTo>
                  <a:lnTo>
                    <a:pt x="966" y="162311"/>
                  </a:lnTo>
                  <a:lnTo>
                    <a:pt x="0" y="157452"/>
                  </a:lnTo>
                  <a:lnTo>
                    <a:pt x="0" y="152399"/>
                  </a:lnTo>
                  <a:lnTo>
                    <a:pt x="0" y="38099"/>
                  </a:lnTo>
                  <a:lnTo>
                    <a:pt x="18851" y="4833"/>
                  </a:lnTo>
                  <a:lnTo>
                    <a:pt x="33047" y="0"/>
                  </a:lnTo>
                  <a:lnTo>
                    <a:pt x="38100" y="0"/>
                  </a:lnTo>
                  <a:close/>
                </a:path>
              </a:pathLst>
            </a:custGeom>
            <a:ln w="14287">
              <a:solidFill>
                <a:srgbClr val="F59D0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9" name="object 69" descr=""/>
          <p:cNvSpPr txBox="1"/>
          <p:nvPr/>
        </p:nvSpPr>
        <p:spPr>
          <a:xfrm>
            <a:off x="8603406" y="5230961"/>
            <a:ext cx="871855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-35">
                <a:solidFill>
                  <a:srgbClr val="333333"/>
                </a:solidFill>
                <a:latin typeface="Roboto"/>
                <a:cs typeface="Roboto"/>
              </a:rPr>
              <a:t>Optimal</a:t>
            </a:r>
            <a:r>
              <a:rPr dirty="0" sz="800" spc="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800" spc="-30">
                <a:solidFill>
                  <a:srgbClr val="333333"/>
                </a:solidFill>
                <a:latin typeface="Roboto"/>
                <a:cs typeface="Roboto"/>
              </a:rPr>
              <a:t>Parameters</a:t>
            </a:r>
            <a:endParaRPr sz="800">
              <a:latin typeface="Roboto"/>
              <a:cs typeface="Roboto"/>
            </a:endParaRPr>
          </a:p>
        </p:txBody>
      </p:sp>
      <p:grpSp>
        <p:nvGrpSpPr>
          <p:cNvPr id="70" name="object 70" descr=""/>
          <p:cNvGrpSpPr/>
          <p:nvPr/>
        </p:nvGrpSpPr>
        <p:grpSpPr>
          <a:xfrm>
            <a:off x="8989218" y="5053012"/>
            <a:ext cx="100330" cy="142875"/>
            <a:chOff x="8989218" y="5053012"/>
            <a:chExt cx="100330" cy="142875"/>
          </a:xfrm>
        </p:grpSpPr>
        <p:sp>
          <p:nvSpPr>
            <p:cNvPr id="71" name="object 71" descr=""/>
            <p:cNvSpPr/>
            <p:nvPr/>
          </p:nvSpPr>
          <p:spPr>
            <a:xfrm>
              <a:off x="9039224" y="5086349"/>
              <a:ext cx="0" cy="95250"/>
            </a:xfrm>
            <a:custGeom>
              <a:avLst/>
              <a:gdLst/>
              <a:ahLst/>
              <a:cxnLst/>
              <a:rect l="l" t="t" r="r" b="b"/>
              <a:pathLst>
                <a:path w="0" h="95250">
                  <a:moveTo>
                    <a:pt x="0" y="0"/>
                  </a:moveTo>
                  <a:lnTo>
                    <a:pt x="0" y="95249"/>
                  </a:lnTo>
                </a:path>
              </a:pathLst>
            </a:custGeom>
            <a:ln w="14287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8989218" y="5053012"/>
              <a:ext cx="100330" cy="142875"/>
            </a:xfrm>
            <a:custGeom>
              <a:avLst/>
              <a:gdLst/>
              <a:ahLst/>
              <a:cxnLst/>
              <a:rect l="l" t="t" r="r" b="b"/>
              <a:pathLst>
                <a:path w="100329" h="142875">
                  <a:moveTo>
                    <a:pt x="0" y="0"/>
                  </a:moveTo>
                  <a:lnTo>
                    <a:pt x="100012" y="0"/>
                  </a:lnTo>
                  <a:lnTo>
                    <a:pt x="50006" y="1428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3" name="object 73" descr=""/>
          <p:cNvSpPr/>
          <p:nvPr/>
        </p:nvSpPr>
        <p:spPr>
          <a:xfrm>
            <a:off x="11125187" y="552779"/>
            <a:ext cx="242570" cy="100330"/>
          </a:xfrm>
          <a:custGeom>
            <a:avLst/>
            <a:gdLst/>
            <a:ahLst/>
            <a:cxnLst/>
            <a:rect l="l" t="t" r="r" b="b"/>
            <a:pathLst>
              <a:path w="242570" h="100329">
                <a:moveTo>
                  <a:pt x="48107" y="393"/>
                </a:moveTo>
                <a:lnTo>
                  <a:pt x="0" y="393"/>
                </a:lnTo>
                <a:lnTo>
                  <a:pt x="0" y="13093"/>
                </a:lnTo>
                <a:lnTo>
                  <a:pt x="0" y="43573"/>
                </a:lnTo>
                <a:lnTo>
                  <a:pt x="0" y="56273"/>
                </a:lnTo>
                <a:lnTo>
                  <a:pt x="0" y="99453"/>
                </a:lnTo>
                <a:lnTo>
                  <a:pt x="15989" y="99453"/>
                </a:lnTo>
                <a:lnTo>
                  <a:pt x="15989" y="56273"/>
                </a:lnTo>
                <a:lnTo>
                  <a:pt x="44869" y="56273"/>
                </a:lnTo>
                <a:lnTo>
                  <a:pt x="44869" y="43573"/>
                </a:lnTo>
                <a:lnTo>
                  <a:pt x="15989" y="43573"/>
                </a:lnTo>
                <a:lnTo>
                  <a:pt x="15989" y="13093"/>
                </a:lnTo>
                <a:lnTo>
                  <a:pt x="48107" y="13093"/>
                </a:lnTo>
                <a:lnTo>
                  <a:pt x="48107" y="393"/>
                </a:lnTo>
                <a:close/>
              </a:path>
              <a:path w="242570" h="100329">
                <a:moveTo>
                  <a:pt x="77597" y="0"/>
                </a:moveTo>
                <a:lnTo>
                  <a:pt x="61620" y="0"/>
                </a:lnTo>
                <a:lnTo>
                  <a:pt x="61620" y="99847"/>
                </a:lnTo>
                <a:lnTo>
                  <a:pt x="77597" y="99847"/>
                </a:lnTo>
                <a:lnTo>
                  <a:pt x="77597" y="0"/>
                </a:lnTo>
                <a:close/>
              </a:path>
              <a:path w="242570" h="100329">
                <a:moveTo>
                  <a:pt x="144843" y="393"/>
                </a:moveTo>
                <a:lnTo>
                  <a:pt x="96748" y="393"/>
                </a:lnTo>
                <a:lnTo>
                  <a:pt x="96748" y="13093"/>
                </a:lnTo>
                <a:lnTo>
                  <a:pt x="96748" y="43573"/>
                </a:lnTo>
                <a:lnTo>
                  <a:pt x="96748" y="56273"/>
                </a:lnTo>
                <a:lnTo>
                  <a:pt x="96748" y="86753"/>
                </a:lnTo>
                <a:lnTo>
                  <a:pt x="96748" y="99453"/>
                </a:lnTo>
                <a:lnTo>
                  <a:pt x="144843" y="99453"/>
                </a:lnTo>
                <a:lnTo>
                  <a:pt x="144843" y="86753"/>
                </a:lnTo>
                <a:lnTo>
                  <a:pt x="112725" y="86753"/>
                </a:lnTo>
                <a:lnTo>
                  <a:pt x="112725" y="56273"/>
                </a:lnTo>
                <a:lnTo>
                  <a:pt x="141605" y="56273"/>
                </a:lnTo>
                <a:lnTo>
                  <a:pt x="141605" y="43573"/>
                </a:lnTo>
                <a:lnTo>
                  <a:pt x="112725" y="43573"/>
                </a:lnTo>
                <a:lnTo>
                  <a:pt x="112725" y="13093"/>
                </a:lnTo>
                <a:lnTo>
                  <a:pt x="144843" y="13093"/>
                </a:lnTo>
                <a:lnTo>
                  <a:pt x="144843" y="393"/>
                </a:lnTo>
                <a:close/>
              </a:path>
              <a:path w="242570" h="100329">
                <a:moveTo>
                  <a:pt x="208483" y="393"/>
                </a:moveTo>
                <a:lnTo>
                  <a:pt x="160375" y="393"/>
                </a:lnTo>
                <a:lnTo>
                  <a:pt x="160375" y="13093"/>
                </a:lnTo>
                <a:lnTo>
                  <a:pt x="160375" y="43573"/>
                </a:lnTo>
                <a:lnTo>
                  <a:pt x="160375" y="56273"/>
                </a:lnTo>
                <a:lnTo>
                  <a:pt x="160375" y="86753"/>
                </a:lnTo>
                <a:lnTo>
                  <a:pt x="160375" y="99453"/>
                </a:lnTo>
                <a:lnTo>
                  <a:pt x="208483" y="99453"/>
                </a:lnTo>
                <a:lnTo>
                  <a:pt x="208483" y="86753"/>
                </a:lnTo>
                <a:lnTo>
                  <a:pt x="176364" y="86753"/>
                </a:lnTo>
                <a:lnTo>
                  <a:pt x="176364" y="56273"/>
                </a:lnTo>
                <a:lnTo>
                  <a:pt x="205244" y="56273"/>
                </a:lnTo>
                <a:lnTo>
                  <a:pt x="205244" y="43573"/>
                </a:lnTo>
                <a:lnTo>
                  <a:pt x="176364" y="43573"/>
                </a:lnTo>
                <a:lnTo>
                  <a:pt x="176364" y="13093"/>
                </a:lnTo>
                <a:lnTo>
                  <a:pt x="208483" y="13093"/>
                </a:lnTo>
                <a:lnTo>
                  <a:pt x="208483" y="393"/>
                </a:lnTo>
                <a:close/>
              </a:path>
              <a:path w="242570" h="100329">
                <a:moveTo>
                  <a:pt x="242557" y="0"/>
                </a:moveTo>
                <a:lnTo>
                  <a:pt x="226580" y="0"/>
                </a:lnTo>
                <a:lnTo>
                  <a:pt x="226580" y="99847"/>
                </a:lnTo>
                <a:lnTo>
                  <a:pt x="242557" y="99847"/>
                </a:lnTo>
                <a:lnTo>
                  <a:pt x="242557" y="0"/>
                </a:lnTo>
                <a:close/>
              </a:path>
            </a:pathLst>
          </a:custGeom>
          <a:solidFill>
            <a:srgbClr val="0045A5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4" name="object 74" descr=""/>
          <p:cNvGrpSpPr/>
          <p:nvPr/>
        </p:nvGrpSpPr>
        <p:grpSpPr>
          <a:xfrm>
            <a:off x="10544174" y="6343649"/>
            <a:ext cx="1457325" cy="323850"/>
            <a:chOff x="10544174" y="6343649"/>
            <a:chExt cx="1457325" cy="323850"/>
          </a:xfrm>
        </p:grpSpPr>
        <p:sp>
          <p:nvSpPr>
            <p:cNvPr id="75" name="object 75" descr=""/>
            <p:cNvSpPr/>
            <p:nvPr/>
          </p:nvSpPr>
          <p:spPr>
            <a:xfrm>
              <a:off x="10544174" y="634364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6" name="object 7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6584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77" name="object 7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75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50"/>
              <a:t>Genspark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7905749"/>
            <a:ext cx="12192000" cy="114300"/>
          </a:xfrm>
          <a:custGeom>
            <a:avLst/>
            <a:gdLst/>
            <a:ahLst/>
            <a:cxnLst/>
            <a:rect l="l" t="t" r="r" b="b"/>
            <a:pathLst>
              <a:path w="12192000" h="114300">
                <a:moveTo>
                  <a:pt x="12191999" y="114299"/>
                </a:moveTo>
                <a:lnTo>
                  <a:pt x="0" y="1142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114299"/>
                </a:lnTo>
                <a:close/>
              </a:path>
            </a:pathLst>
          </a:custGeom>
          <a:solidFill>
            <a:srgbClr val="0045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1700" y="530346"/>
            <a:ext cx="4837430" cy="10541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100"/>
              </a:spcBef>
            </a:pPr>
            <a:r>
              <a:rPr dirty="0" spc="-190"/>
              <a:t>Proposed</a:t>
            </a:r>
            <a:r>
              <a:rPr dirty="0" spc="-10"/>
              <a:t> </a:t>
            </a:r>
            <a:r>
              <a:rPr dirty="0" spc="-160"/>
              <a:t>Control</a:t>
            </a:r>
            <a:r>
              <a:rPr dirty="0" spc="-10"/>
              <a:t> </a:t>
            </a:r>
            <a:r>
              <a:rPr dirty="0" spc="-195"/>
              <a:t>Framework</a:t>
            </a:r>
            <a:r>
              <a:rPr dirty="0" spc="-10"/>
              <a:t> </a:t>
            </a:r>
            <a:r>
              <a:rPr dirty="0" spc="-310"/>
              <a:t>&amp; </a:t>
            </a:r>
            <a:r>
              <a:rPr dirty="0" spc="-160"/>
              <a:t>Simulation</a:t>
            </a:r>
            <a:r>
              <a:rPr dirty="0" spc="-5"/>
              <a:t> </a:t>
            </a:r>
            <a:r>
              <a:rPr dirty="0" spc="-20"/>
              <a:t>Setup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175" y="1939822"/>
            <a:ext cx="72628" cy="120997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153070" y="1812556"/>
            <a:ext cx="4576445" cy="24733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174625">
              <a:lnSpc>
                <a:spcPct val="113999"/>
              </a:lnSpc>
              <a:spcBef>
                <a:spcPts val="90"/>
              </a:spcBef>
            </a:pPr>
            <a:r>
              <a:rPr dirty="0" sz="1700" spc="-75">
                <a:latin typeface="Roboto"/>
                <a:cs typeface="Roboto"/>
              </a:rPr>
              <a:t>Integration</a:t>
            </a:r>
            <a:r>
              <a:rPr dirty="0" sz="1700" spc="20">
                <a:latin typeface="Roboto"/>
                <a:cs typeface="Roboto"/>
              </a:rPr>
              <a:t> </a:t>
            </a:r>
            <a:r>
              <a:rPr dirty="0" sz="1700" spc="-80">
                <a:latin typeface="Roboto"/>
                <a:cs typeface="Roboto"/>
              </a:rPr>
              <a:t>of</a:t>
            </a:r>
            <a:r>
              <a:rPr dirty="0" sz="1700" spc="25">
                <a:latin typeface="Roboto"/>
                <a:cs typeface="Roboto"/>
              </a:rPr>
              <a:t> </a:t>
            </a:r>
            <a:r>
              <a:rPr dirty="0" sz="1700" spc="-75">
                <a:latin typeface="Roboto"/>
                <a:cs typeface="Roboto"/>
              </a:rPr>
              <a:t>fuzzy-</a:t>
            </a:r>
            <a:r>
              <a:rPr dirty="0" sz="1700" spc="-85">
                <a:latin typeface="Roboto"/>
                <a:cs typeface="Roboto"/>
              </a:rPr>
              <a:t>PID</a:t>
            </a:r>
            <a:r>
              <a:rPr dirty="0" sz="1700" spc="20">
                <a:latin typeface="Roboto"/>
                <a:cs typeface="Roboto"/>
              </a:rPr>
              <a:t> </a:t>
            </a:r>
            <a:r>
              <a:rPr dirty="0" sz="1700" spc="-80">
                <a:latin typeface="Roboto"/>
                <a:cs typeface="Roboto"/>
              </a:rPr>
              <a:t>controllers</a:t>
            </a:r>
            <a:r>
              <a:rPr dirty="0" sz="1700" spc="25">
                <a:latin typeface="Roboto"/>
                <a:cs typeface="Roboto"/>
              </a:rPr>
              <a:t> </a:t>
            </a:r>
            <a:r>
              <a:rPr dirty="0" sz="1700" spc="-85">
                <a:latin typeface="Roboto"/>
                <a:cs typeface="Roboto"/>
              </a:rPr>
              <a:t>(ABC-</a:t>
            </a:r>
            <a:r>
              <a:rPr dirty="0" sz="1700" spc="-80">
                <a:latin typeface="Roboto"/>
                <a:cs typeface="Roboto"/>
              </a:rPr>
              <a:t>tuned)</a:t>
            </a:r>
            <a:r>
              <a:rPr dirty="0" sz="1700" spc="20">
                <a:latin typeface="Roboto"/>
                <a:cs typeface="Roboto"/>
              </a:rPr>
              <a:t> </a:t>
            </a:r>
            <a:r>
              <a:rPr dirty="0" sz="1700" spc="-25">
                <a:latin typeface="Roboto"/>
                <a:cs typeface="Roboto"/>
              </a:rPr>
              <a:t>in </a:t>
            </a:r>
            <a:r>
              <a:rPr dirty="0" sz="1700" spc="-85">
                <a:latin typeface="Roboto"/>
                <a:cs typeface="Roboto"/>
              </a:rPr>
              <a:t>both</a:t>
            </a:r>
            <a:r>
              <a:rPr dirty="0" sz="1700" spc="-15">
                <a:latin typeface="Roboto"/>
                <a:cs typeface="Roboto"/>
              </a:rPr>
              <a:t> </a:t>
            </a:r>
            <a:r>
              <a:rPr dirty="0" sz="1700" spc="-10">
                <a:latin typeface="Roboto"/>
                <a:cs typeface="Roboto"/>
              </a:rPr>
              <a:t>areas</a:t>
            </a:r>
            <a:endParaRPr sz="17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dirty="0" sz="1700" spc="-90">
                <a:latin typeface="Roboto"/>
                <a:cs typeface="Roboto"/>
              </a:rPr>
              <a:t>Wind</a:t>
            </a:r>
            <a:r>
              <a:rPr dirty="0" sz="1700" spc="-15">
                <a:latin typeface="Roboto"/>
                <a:cs typeface="Roboto"/>
              </a:rPr>
              <a:t> </a:t>
            </a:r>
            <a:r>
              <a:rPr dirty="0" sz="1700" spc="-95">
                <a:latin typeface="Roboto"/>
                <a:cs typeface="Roboto"/>
              </a:rPr>
              <a:t>power</a:t>
            </a:r>
            <a:r>
              <a:rPr dirty="0" sz="1700" spc="-10">
                <a:latin typeface="Roboto"/>
                <a:cs typeface="Roboto"/>
              </a:rPr>
              <a:t> </a:t>
            </a:r>
            <a:r>
              <a:rPr dirty="0" sz="1700" spc="-95">
                <a:latin typeface="Roboto"/>
                <a:cs typeface="Roboto"/>
              </a:rPr>
              <a:t>modeled</a:t>
            </a:r>
            <a:r>
              <a:rPr dirty="0" sz="1700" spc="-10">
                <a:latin typeface="Roboto"/>
                <a:cs typeface="Roboto"/>
              </a:rPr>
              <a:t> </a:t>
            </a:r>
            <a:r>
              <a:rPr dirty="0" sz="1700" spc="-75">
                <a:latin typeface="Roboto"/>
                <a:cs typeface="Roboto"/>
              </a:rPr>
              <a:t>with</a:t>
            </a:r>
            <a:r>
              <a:rPr dirty="0" sz="1700" spc="-10">
                <a:latin typeface="Roboto"/>
                <a:cs typeface="Roboto"/>
              </a:rPr>
              <a:t> </a:t>
            </a:r>
            <a:r>
              <a:rPr dirty="0" sz="1700" spc="-65">
                <a:latin typeface="Roboto"/>
                <a:cs typeface="Roboto"/>
              </a:rPr>
              <a:t>realistic</a:t>
            </a:r>
            <a:r>
              <a:rPr dirty="0" sz="1700" spc="-15">
                <a:latin typeface="Roboto"/>
                <a:cs typeface="Roboto"/>
              </a:rPr>
              <a:t> </a:t>
            </a:r>
            <a:r>
              <a:rPr dirty="0" sz="1700" spc="-75">
                <a:latin typeface="Roboto"/>
                <a:cs typeface="Roboto"/>
              </a:rPr>
              <a:t>pitch</a:t>
            </a:r>
            <a:r>
              <a:rPr dirty="0" sz="1700" spc="-10">
                <a:latin typeface="Roboto"/>
                <a:cs typeface="Roboto"/>
              </a:rPr>
              <a:t> mechanics</a:t>
            </a:r>
            <a:endParaRPr sz="1700">
              <a:latin typeface="Roboto"/>
              <a:cs typeface="Roboto"/>
            </a:endParaRPr>
          </a:p>
          <a:p>
            <a:pPr marL="12700" marR="247015">
              <a:lnSpc>
                <a:spcPct val="113999"/>
              </a:lnSpc>
              <a:spcBef>
                <a:spcPts val="975"/>
              </a:spcBef>
            </a:pPr>
            <a:r>
              <a:rPr dirty="0" sz="1700" spc="-80">
                <a:latin typeface="Roboto"/>
                <a:cs typeface="Roboto"/>
              </a:rPr>
              <a:t>Disturbances</a:t>
            </a:r>
            <a:r>
              <a:rPr dirty="0" sz="1700" spc="-15">
                <a:latin typeface="Roboto"/>
                <a:cs typeface="Roboto"/>
              </a:rPr>
              <a:t> </a:t>
            </a:r>
            <a:r>
              <a:rPr dirty="0" sz="1700" spc="-75">
                <a:latin typeface="Roboto"/>
                <a:cs typeface="Roboto"/>
              </a:rPr>
              <a:t>simulated:</a:t>
            </a:r>
            <a:r>
              <a:rPr dirty="0" sz="1700" spc="-10">
                <a:latin typeface="Roboto"/>
                <a:cs typeface="Roboto"/>
              </a:rPr>
              <a:t> </a:t>
            </a:r>
            <a:r>
              <a:rPr dirty="0" sz="1700" spc="-85">
                <a:latin typeface="Roboto"/>
                <a:cs typeface="Roboto"/>
              </a:rPr>
              <a:t>Step</a:t>
            </a:r>
            <a:r>
              <a:rPr dirty="0" sz="1700" spc="-15">
                <a:latin typeface="Roboto"/>
                <a:cs typeface="Roboto"/>
              </a:rPr>
              <a:t> </a:t>
            </a:r>
            <a:r>
              <a:rPr dirty="0" sz="1700" spc="-90">
                <a:latin typeface="Roboto"/>
                <a:cs typeface="Roboto"/>
              </a:rPr>
              <a:t>changes</a:t>
            </a:r>
            <a:r>
              <a:rPr dirty="0" sz="1700" spc="-10">
                <a:latin typeface="Roboto"/>
                <a:cs typeface="Roboto"/>
              </a:rPr>
              <a:t> </a:t>
            </a:r>
            <a:r>
              <a:rPr dirty="0" sz="1700" spc="-50">
                <a:latin typeface="Roboto"/>
                <a:cs typeface="Roboto"/>
              </a:rPr>
              <a:t>in</a:t>
            </a:r>
            <a:r>
              <a:rPr dirty="0" sz="1700" spc="-10">
                <a:latin typeface="Roboto"/>
                <a:cs typeface="Roboto"/>
              </a:rPr>
              <a:t> </a:t>
            </a:r>
            <a:r>
              <a:rPr dirty="0" sz="1700" spc="-80">
                <a:latin typeface="Roboto"/>
                <a:cs typeface="Roboto"/>
              </a:rPr>
              <a:t>load</a:t>
            </a:r>
            <a:r>
              <a:rPr dirty="0" sz="1700" spc="-15">
                <a:latin typeface="Roboto"/>
                <a:cs typeface="Roboto"/>
              </a:rPr>
              <a:t> </a:t>
            </a:r>
            <a:r>
              <a:rPr dirty="0" sz="1700" spc="-25">
                <a:latin typeface="Roboto"/>
                <a:cs typeface="Roboto"/>
              </a:rPr>
              <a:t>for </a:t>
            </a:r>
            <a:r>
              <a:rPr dirty="0" sz="1700" spc="-90">
                <a:latin typeface="Roboto"/>
                <a:cs typeface="Roboto"/>
              </a:rPr>
              <a:t>Area</a:t>
            </a:r>
            <a:r>
              <a:rPr dirty="0" sz="1700" spc="-30">
                <a:latin typeface="Roboto"/>
                <a:cs typeface="Roboto"/>
              </a:rPr>
              <a:t> </a:t>
            </a:r>
            <a:r>
              <a:rPr dirty="0" sz="1700" spc="-50">
                <a:latin typeface="Roboto"/>
                <a:cs typeface="Roboto"/>
              </a:rPr>
              <a:t>1,</a:t>
            </a:r>
            <a:r>
              <a:rPr dirty="0" sz="1700" spc="-30">
                <a:latin typeface="Roboto"/>
                <a:cs typeface="Roboto"/>
              </a:rPr>
              <a:t> </a:t>
            </a:r>
            <a:r>
              <a:rPr dirty="0" sz="1700" spc="-90">
                <a:latin typeface="Roboto"/>
                <a:cs typeface="Roboto"/>
              </a:rPr>
              <a:t>Area</a:t>
            </a:r>
            <a:r>
              <a:rPr dirty="0" sz="1700" spc="-25">
                <a:latin typeface="Roboto"/>
                <a:cs typeface="Roboto"/>
              </a:rPr>
              <a:t> </a:t>
            </a:r>
            <a:r>
              <a:rPr dirty="0" sz="1700" spc="-50">
                <a:latin typeface="Roboto"/>
                <a:cs typeface="Roboto"/>
              </a:rPr>
              <a:t>2,</a:t>
            </a:r>
            <a:r>
              <a:rPr dirty="0" sz="1700" spc="-30">
                <a:latin typeface="Roboto"/>
                <a:cs typeface="Roboto"/>
              </a:rPr>
              <a:t> </a:t>
            </a:r>
            <a:r>
              <a:rPr dirty="0" sz="1700" spc="-20">
                <a:latin typeface="Roboto"/>
                <a:cs typeface="Roboto"/>
              </a:rPr>
              <a:t>both</a:t>
            </a:r>
            <a:endParaRPr sz="1700">
              <a:latin typeface="Roboto"/>
              <a:cs typeface="Roboto"/>
            </a:endParaRPr>
          </a:p>
          <a:p>
            <a:pPr marL="12700" marR="5080">
              <a:lnSpc>
                <a:spcPct val="117600"/>
              </a:lnSpc>
              <a:spcBef>
                <a:spcPts val="900"/>
              </a:spcBef>
            </a:pPr>
            <a:r>
              <a:rPr dirty="0" sz="1700" spc="-85">
                <a:latin typeface="Roboto"/>
                <a:cs typeface="Roboto"/>
              </a:rPr>
              <a:t>Performance</a:t>
            </a:r>
            <a:r>
              <a:rPr dirty="0" sz="1700" spc="20">
                <a:latin typeface="Roboto"/>
                <a:cs typeface="Roboto"/>
              </a:rPr>
              <a:t> </a:t>
            </a:r>
            <a:r>
              <a:rPr dirty="0" sz="1700" spc="-80">
                <a:latin typeface="Roboto"/>
                <a:cs typeface="Roboto"/>
              </a:rPr>
              <a:t>metrics:</a:t>
            </a:r>
            <a:r>
              <a:rPr dirty="0" sz="1700" spc="20">
                <a:latin typeface="Roboto"/>
                <a:cs typeface="Roboto"/>
              </a:rPr>
              <a:t> </a:t>
            </a:r>
            <a:r>
              <a:rPr dirty="0" sz="1700" spc="-95">
                <a:latin typeface="Roboto"/>
                <a:cs typeface="Roboto"/>
              </a:rPr>
              <a:t>ITAE,</a:t>
            </a:r>
            <a:r>
              <a:rPr dirty="0" sz="1700" spc="25">
                <a:latin typeface="Roboto"/>
                <a:cs typeface="Roboto"/>
              </a:rPr>
              <a:t> </a:t>
            </a:r>
            <a:r>
              <a:rPr dirty="0" sz="1700" spc="-85">
                <a:latin typeface="Roboto"/>
                <a:cs typeface="Roboto"/>
              </a:rPr>
              <a:t>overshoot,</a:t>
            </a:r>
            <a:r>
              <a:rPr dirty="0" sz="1700" spc="20">
                <a:latin typeface="Roboto"/>
                <a:cs typeface="Roboto"/>
              </a:rPr>
              <a:t> </a:t>
            </a:r>
            <a:r>
              <a:rPr dirty="0" sz="1700" spc="-75">
                <a:latin typeface="Roboto"/>
                <a:cs typeface="Roboto"/>
              </a:rPr>
              <a:t>settling</a:t>
            </a:r>
            <a:r>
              <a:rPr dirty="0" sz="1700" spc="25">
                <a:latin typeface="Roboto"/>
                <a:cs typeface="Roboto"/>
              </a:rPr>
              <a:t> </a:t>
            </a:r>
            <a:r>
              <a:rPr dirty="0" sz="1700" spc="-10">
                <a:latin typeface="Roboto"/>
                <a:cs typeface="Roboto"/>
              </a:rPr>
              <a:t>time, </a:t>
            </a:r>
            <a:r>
              <a:rPr dirty="0" sz="1700" spc="-80">
                <a:latin typeface="Roboto"/>
                <a:cs typeface="Roboto"/>
              </a:rPr>
              <a:t>steady-</a:t>
            </a:r>
            <a:r>
              <a:rPr dirty="0" sz="1700" spc="-75">
                <a:latin typeface="Roboto"/>
                <a:cs typeface="Roboto"/>
              </a:rPr>
              <a:t>state</a:t>
            </a:r>
            <a:r>
              <a:rPr dirty="0" sz="1700" spc="15">
                <a:latin typeface="Roboto"/>
                <a:cs typeface="Roboto"/>
              </a:rPr>
              <a:t> </a:t>
            </a:r>
            <a:r>
              <a:rPr dirty="0" sz="1700" spc="-20">
                <a:latin typeface="Roboto"/>
                <a:cs typeface="Roboto"/>
              </a:rPr>
              <a:t>error</a:t>
            </a:r>
            <a:endParaRPr sz="1700">
              <a:latin typeface="Roboto"/>
              <a:cs typeface="Roboto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175" y="2654197"/>
            <a:ext cx="72628" cy="120997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175" y="3073297"/>
            <a:ext cx="72628" cy="120997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175" y="3787672"/>
            <a:ext cx="72628" cy="120997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876300" y="4436580"/>
            <a:ext cx="4284345" cy="558800"/>
          </a:xfrm>
          <a:prstGeom prst="rect">
            <a:avLst/>
          </a:prstGeom>
        </p:spPr>
        <p:txBody>
          <a:bodyPr wrap="square" lIns="0" tIns="1035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815"/>
              </a:spcBef>
            </a:pPr>
            <a:r>
              <a:rPr dirty="0" sz="1150" spc="-80" b="1">
                <a:latin typeface="Roboto"/>
                <a:cs typeface="Roboto"/>
              </a:rPr>
              <a:t>ITAE</a:t>
            </a:r>
            <a:r>
              <a:rPr dirty="0" sz="1150" spc="-10" b="1">
                <a:latin typeface="Roboto"/>
                <a:cs typeface="Roboto"/>
              </a:rPr>
              <a:t> </a:t>
            </a:r>
            <a:r>
              <a:rPr dirty="0" sz="1150" spc="-60">
                <a:latin typeface="Roboto"/>
                <a:cs typeface="Roboto"/>
              </a:rPr>
              <a:t>=</a:t>
            </a:r>
            <a:r>
              <a:rPr dirty="0" sz="1150" spc="-5">
                <a:latin typeface="Roboto"/>
                <a:cs typeface="Roboto"/>
              </a:rPr>
              <a:t> </a:t>
            </a:r>
            <a:r>
              <a:rPr dirty="0" sz="1050" spc="-10">
                <a:latin typeface="Arial"/>
                <a:cs typeface="Arial"/>
              </a:rPr>
              <a:t>∫</a:t>
            </a:r>
            <a:r>
              <a:rPr dirty="0" baseline="-9803" sz="1275" spc="-15">
                <a:latin typeface="Roboto"/>
                <a:cs typeface="Roboto"/>
              </a:rPr>
              <a:t>0</a:t>
            </a:r>
            <a:r>
              <a:rPr dirty="0" baseline="29411" sz="1275" spc="-15">
                <a:latin typeface="Roboto"/>
                <a:cs typeface="Roboto"/>
              </a:rPr>
              <a:t>T</a:t>
            </a:r>
            <a:r>
              <a:rPr dirty="0" baseline="29411" sz="1275" spc="104">
                <a:latin typeface="Roboto"/>
                <a:cs typeface="Roboto"/>
              </a:rPr>
              <a:t> </a:t>
            </a:r>
            <a:r>
              <a:rPr dirty="0" sz="1150" spc="-30">
                <a:latin typeface="Roboto"/>
                <a:cs typeface="Roboto"/>
              </a:rPr>
              <a:t>t·|</a:t>
            </a:r>
            <a:r>
              <a:rPr dirty="0" sz="1050" spc="-30">
                <a:latin typeface="Arial"/>
                <a:cs typeface="Arial"/>
              </a:rPr>
              <a:t>Δ</a:t>
            </a:r>
            <a:r>
              <a:rPr dirty="0" sz="1150" spc="-30">
                <a:latin typeface="Roboto"/>
                <a:cs typeface="Roboto"/>
              </a:rPr>
              <a:t>f</a:t>
            </a:r>
            <a:r>
              <a:rPr dirty="0" baseline="-9803" sz="1275" spc="-44">
                <a:latin typeface="Roboto"/>
                <a:cs typeface="Roboto"/>
              </a:rPr>
              <a:t>1</a:t>
            </a:r>
            <a:r>
              <a:rPr dirty="0" sz="1150" spc="-30">
                <a:latin typeface="Roboto"/>
                <a:cs typeface="Roboto"/>
              </a:rPr>
              <a:t>|+|</a:t>
            </a:r>
            <a:r>
              <a:rPr dirty="0" sz="1050" spc="-30">
                <a:latin typeface="Arial"/>
                <a:cs typeface="Arial"/>
              </a:rPr>
              <a:t>Δ</a:t>
            </a:r>
            <a:r>
              <a:rPr dirty="0" sz="1150" spc="-30">
                <a:latin typeface="Roboto"/>
                <a:cs typeface="Roboto"/>
              </a:rPr>
              <a:t>f</a:t>
            </a:r>
            <a:r>
              <a:rPr dirty="0" baseline="-9803" sz="1275" spc="-44">
                <a:latin typeface="Roboto"/>
                <a:cs typeface="Roboto"/>
              </a:rPr>
              <a:t>2</a:t>
            </a:r>
            <a:r>
              <a:rPr dirty="0" sz="1150" spc="-30">
                <a:latin typeface="Roboto"/>
                <a:cs typeface="Roboto"/>
              </a:rPr>
              <a:t>|+|</a:t>
            </a:r>
            <a:r>
              <a:rPr dirty="0" sz="1050" spc="-30">
                <a:latin typeface="Arial"/>
                <a:cs typeface="Arial"/>
              </a:rPr>
              <a:t>Δ</a:t>
            </a:r>
            <a:r>
              <a:rPr dirty="0" sz="1150" spc="-30">
                <a:latin typeface="Roboto"/>
                <a:cs typeface="Roboto"/>
              </a:rPr>
              <a:t>P</a:t>
            </a:r>
            <a:r>
              <a:rPr dirty="0" baseline="-9803" sz="1275" spc="-44">
                <a:latin typeface="Roboto"/>
                <a:cs typeface="Roboto"/>
              </a:rPr>
              <a:t>tie</a:t>
            </a:r>
            <a:r>
              <a:rPr dirty="0" sz="1150" spc="-30">
                <a:latin typeface="Roboto"/>
                <a:cs typeface="Roboto"/>
              </a:rPr>
              <a:t>|</a:t>
            </a:r>
            <a:r>
              <a:rPr dirty="0" sz="1150" spc="-5">
                <a:latin typeface="Roboto"/>
                <a:cs typeface="Roboto"/>
              </a:rPr>
              <a:t> </a:t>
            </a:r>
            <a:r>
              <a:rPr dirty="0" sz="1150" spc="-25">
                <a:latin typeface="Roboto"/>
                <a:cs typeface="Roboto"/>
              </a:rPr>
              <a:t>dt</a:t>
            </a:r>
            <a:endParaRPr sz="1150">
              <a:latin typeface="Roboto"/>
              <a:cs typeface="Roboto"/>
            </a:endParaRPr>
          </a:p>
          <a:p>
            <a:pPr marL="38100">
              <a:lnSpc>
                <a:spcPct val="100000"/>
              </a:lnSpc>
              <a:spcBef>
                <a:spcPts val="720"/>
              </a:spcBef>
            </a:pPr>
            <a:r>
              <a:rPr dirty="0" sz="1150" spc="-65" b="1">
                <a:latin typeface="Roboto"/>
                <a:cs typeface="Roboto"/>
              </a:rPr>
              <a:t>Peak</a:t>
            </a:r>
            <a:r>
              <a:rPr dirty="0" sz="1150" spc="-15" b="1">
                <a:latin typeface="Roboto"/>
                <a:cs typeface="Roboto"/>
              </a:rPr>
              <a:t> </a:t>
            </a:r>
            <a:r>
              <a:rPr dirty="0" sz="1150" spc="-55" b="1">
                <a:latin typeface="Roboto"/>
                <a:cs typeface="Roboto"/>
              </a:rPr>
              <a:t>Overshoot</a:t>
            </a:r>
            <a:r>
              <a:rPr dirty="0" sz="1150" spc="-10" b="1">
                <a:latin typeface="Roboto"/>
                <a:cs typeface="Roboto"/>
              </a:rPr>
              <a:t> </a:t>
            </a:r>
            <a:r>
              <a:rPr dirty="0" sz="1150" spc="-60">
                <a:latin typeface="Roboto"/>
                <a:cs typeface="Roboto"/>
              </a:rPr>
              <a:t>=</a:t>
            </a:r>
            <a:r>
              <a:rPr dirty="0" sz="1150" spc="-5">
                <a:latin typeface="Roboto"/>
                <a:cs typeface="Roboto"/>
              </a:rPr>
              <a:t> </a:t>
            </a:r>
            <a:r>
              <a:rPr dirty="0" sz="1150" spc="-70">
                <a:latin typeface="Roboto"/>
                <a:cs typeface="Roboto"/>
              </a:rPr>
              <a:t>Maximum</a:t>
            </a:r>
            <a:r>
              <a:rPr dirty="0" sz="1150" spc="-10">
                <a:latin typeface="Roboto"/>
                <a:cs typeface="Roboto"/>
              </a:rPr>
              <a:t> </a:t>
            </a:r>
            <a:r>
              <a:rPr dirty="0" sz="1150" spc="-50">
                <a:latin typeface="Roboto"/>
                <a:cs typeface="Roboto"/>
              </a:rPr>
              <a:t>deviation</a:t>
            </a:r>
            <a:r>
              <a:rPr dirty="0" sz="1150" spc="-5">
                <a:latin typeface="Roboto"/>
                <a:cs typeface="Roboto"/>
              </a:rPr>
              <a:t> </a:t>
            </a:r>
            <a:r>
              <a:rPr dirty="0" sz="1150" spc="-50">
                <a:latin typeface="Roboto"/>
                <a:cs typeface="Roboto"/>
              </a:rPr>
              <a:t>of</a:t>
            </a:r>
            <a:r>
              <a:rPr dirty="0" sz="1150" spc="-5">
                <a:latin typeface="Roboto"/>
                <a:cs typeface="Roboto"/>
              </a:rPr>
              <a:t> </a:t>
            </a:r>
            <a:r>
              <a:rPr dirty="0" sz="1150" spc="-55">
                <a:latin typeface="Roboto"/>
                <a:cs typeface="Roboto"/>
              </a:rPr>
              <a:t>frequency</a:t>
            </a:r>
            <a:r>
              <a:rPr dirty="0" sz="1150" spc="-10">
                <a:latin typeface="Roboto"/>
                <a:cs typeface="Roboto"/>
              </a:rPr>
              <a:t> </a:t>
            </a:r>
            <a:r>
              <a:rPr dirty="0" sz="1150" spc="-70">
                <a:latin typeface="Roboto"/>
                <a:cs typeface="Roboto"/>
              </a:rPr>
              <a:t>from</a:t>
            </a:r>
            <a:r>
              <a:rPr dirty="0" sz="1150" spc="-5">
                <a:latin typeface="Roboto"/>
                <a:cs typeface="Roboto"/>
              </a:rPr>
              <a:t> </a:t>
            </a:r>
            <a:r>
              <a:rPr dirty="0" sz="1150" spc="-55">
                <a:latin typeface="Roboto"/>
                <a:cs typeface="Roboto"/>
              </a:rPr>
              <a:t>nominal</a:t>
            </a:r>
            <a:r>
              <a:rPr dirty="0" sz="1150" spc="-5">
                <a:latin typeface="Roboto"/>
                <a:cs typeface="Roboto"/>
              </a:rPr>
              <a:t> </a:t>
            </a:r>
            <a:r>
              <a:rPr dirty="0" sz="1150" spc="-10">
                <a:latin typeface="Roboto"/>
                <a:cs typeface="Roboto"/>
              </a:rPr>
              <a:t>value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01700" y="5058597"/>
            <a:ext cx="3765550" cy="2038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50" spc="-50" b="1">
                <a:latin typeface="Roboto"/>
                <a:cs typeface="Roboto"/>
              </a:rPr>
              <a:t>Settling</a:t>
            </a:r>
            <a:r>
              <a:rPr dirty="0" sz="1150" spc="-30" b="1">
                <a:latin typeface="Roboto"/>
                <a:cs typeface="Roboto"/>
              </a:rPr>
              <a:t> </a:t>
            </a:r>
            <a:r>
              <a:rPr dirty="0" sz="1150" spc="-65" b="1">
                <a:latin typeface="Roboto"/>
                <a:cs typeface="Roboto"/>
              </a:rPr>
              <a:t>Time</a:t>
            </a:r>
            <a:r>
              <a:rPr dirty="0" sz="1150" spc="-5" b="1">
                <a:latin typeface="Roboto"/>
                <a:cs typeface="Roboto"/>
              </a:rPr>
              <a:t> </a:t>
            </a:r>
            <a:r>
              <a:rPr dirty="0" sz="1150" spc="-60">
                <a:latin typeface="Roboto"/>
                <a:cs typeface="Roboto"/>
              </a:rPr>
              <a:t>=</a:t>
            </a:r>
            <a:r>
              <a:rPr dirty="0" sz="1150" spc="-15">
                <a:latin typeface="Roboto"/>
                <a:cs typeface="Roboto"/>
              </a:rPr>
              <a:t> </a:t>
            </a:r>
            <a:r>
              <a:rPr dirty="0" sz="1150" spc="-70">
                <a:latin typeface="Roboto"/>
                <a:cs typeface="Roboto"/>
              </a:rPr>
              <a:t>Time</a:t>
            </a:r>
            <a:r>
              <a:rPr dirty="0" sz="1150" spc="5">
                <a:latin typeface="Roboto"/>
                <a:cs typeface="Roboto"/>
              </a:rPr>
              <a:t> </a:t>
            </a:r>
            <a:r>
              <a:rPr dirty="0" sz="1150" spc="-60">
                <a:latin typeface="Roboto"/>
                <a:cs typeface="Roboto"/>
              </a:rPr>
              <a:t>to</a:t>
            </a:r>
            <a:r>
              <a:rPr dirty="0" sz="1150">
                <a:latin typeface="Roboto"/>
                <a:cs typeface="Roboto"/>
              </a:rPr>
              <a:t> </a:t>
            </a:r>
            <a:r>
              <a:rPr dirty="0" sz="1150" spc="-65">
                <a:latin typeface="Roboto"/>
                <a:cs typeface="Roboto"/>
              </a:rPr>
              <a:t>reach</a:t>
            </a:r>
            <a:r>
              <a:rPr dirty="0" sz="1150" spc="5">
                <a:latin typeface="Roboto"/>
                <a:cs typeface="Roboto"/>
              </a:rPr>
              <a:t> </a:t>
            </a:r>
            <a:r>
              <a:rPr dirty="0" sz="1150" spc="-60">
                <a:latin typeface="Roboto"/>
                <a:cs typeface="Roboto"/>
              </a:rPr>
              <a:t>and</a:t>
            </a:r>
            <a:r>
              <a:rPr dirty="0" sz="1150" spc="5">
                <a:latin typeface="Roboto"/>
                <a:cs typeface="Roboto"/>
              </a:rPr>
              <a:t> </a:t>
            </a:r>
            <a:r>
              <a:rPr dirty="0" sz="1150" spc="-55">
                <a:latin typeface="Roboto"/>
                <a:cs typeface="Roboto"/>
              </a:rPr>
              <a:t>stay</a:t>
            </a:r>
            <a:r>
              <a:rPr dirty="0" sz="1150" spc="5">
                <a:latin typeface="Roboto"/>
                <a:cs typeface="Roboto"/>
              </a:rPr>
              <a:t> </a:t>
            </a:r>
            <a:r>
              <a:rPr dirty="0" sz="1150" spc="-50">
                <a:latin typeface="Roboto"/>
                <a:cs typeface="Roboto"/>
              </a:rPr>
              <a:t>within</a:t>
            </a:r>
            <a:r>
              <a:rPr dirty="0" sz="1150" spc="5">
                <a:latin typeface="Roboto"/>
                <a:cs typeface="Roboto"/>
              </a:rPr>
              <a:t> </a:t>
            </a:r>
            <a:r>
              <a:rPr dirty="0" sz="1150" spc="-75">
                <a:latin typeface="Roboto"/>
                <a:cs typeface="Roboto"/>
              </a:rPr>
              <a:t>±2%</a:t>
            </a:r>
            <a:r>
              <a:rPr dirty="0" sz="1150" spc="5">
                <a:latin typeface="Roboto"/>
                <a:cs typeface="Roboto"/>
              </a:rPr>
              <a:t> </a:t>
            </a:r>
            <a:r>
              <a:rPr dirty="0" sz="1150" spc="-50">
                <a:latin typeface="Roboto"/>
                <a:cs typeface="Roboto"/>
              </a:rPr>
              <a:t>of</a:t>
            </a:r>
            <a:r>
              <a:rPr dirty="0" sz="1150" spc="5">
                <a:latin typeface="Roboto"/>
                <a:cs typeface="Roboto"/>
              </a:rPr>
              <a:t> </a:t>
            </a:r>
            <a:r>
              <a:rPr dirty="0" sz="1150" spc="-55">
                <a:latin typeface="Roboto"/>
                <a:cs typeface="Roboto"/>
              </a:rPr>
              <a:t>final</a:t>
            </a:r>
            <a:r>
              <a:rPr dirty="0" sz="1150">
                <a:latin typeface="Roboto"/>
                <a:cs typeface="Roboto"/>
              </a:rPr>
              <a:t> </a:t>
            </a:r>
            <a:r>
              <a:rPr dirty="0" sz="1150" spc="-35">
                <a:latin typeface="Roboto"/>
                <a:cs typeface="Roboto"/>
              </a:rPr>
              <a:t>value</a:t>
            </a:r>
            <a:endParaRPr sz="1150">
              <a:latin typeface="Roboto"/>
              <a:cs typeface="Roboto"/>
            </a:endParaRPr>
          </a:p>
        </p:txBody>
      </p:sp>
      <p:graphicFrame>
        <p:nvGraphicFramePr>
          <p:cNvPr id="11" name="object 11" descr=""/>
          <p:cNvGraphicFramePr>
            <a:graphicFrameLocks noGrp="1"/>
          </p:cNvGraphicFramePr>
          <p:nvPr/>
        </p:nvGraphicFramePr>
        <p:xfrm>
          <a:off x="6095999" y="990600"/>
          <a:ext cx="5257800" cy="31661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86025"/>
                <a:gridCol w="1343025"/>
                <a:gridCol w="1343025"/>
              </a:tblGrid>
              <a:tr h="351790"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100" spc="-10" b="1">
                          <a:solidFill>
                            <a:srgbClr val="0045A5"/>
                          </a:solidFill>
                          <a:latin typeface="Roboto"/>
                          <a:cs typeface="Roboto"/>
                        </a:rPr>
                        <a:t>Parameter</a:t>
                      </a:r>
                      <a:endParaRPr sz="1100">
                        <a:latin typeface="Roboto"/>
                        <a:cs typeface="Roboto"/>
                      </a:endParaRPr>
                    </a:p>
                  </a:txBody>
                  <a:tcPr marL="0" marR="0" marB="0" marT="8382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100" spc="-35" b="1">
                          <a:solidFill>
                            <a:srgbClr val="0045A5"/>
                          </a:solidFill>
                          <a:latin typeface="Roboto"/>
                          <a:cs typeface="Roboto"/>
                        </a:rPr>
                        <a:t>Area</a:t>
                      </a:r>
                      <a:r>
                        <a:rPr dirty="0" sz="1100" spc="-10" b="1">
                          <a:solidFill>
                            <a:srgbClr val="0045A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00" spc="-50" b="1">
                          <a:solidFill>
                            <a:srgbClr val="0045A5"/>
                          </a:solidFill>
                          <a:latin typeface="Roboto"/>
                          <a:cs typeface="Roboto"/>
                        </a:rPr>
                        <a:t>1</a:t>
                      </a:r>
                      <a:endParaRPr sz="1100">
                        <a:latin typeface="Roboto"/>
                        <a:cs typeface="Roboto"/>
                      </a:endParaRPr>
                    </a:p>
                  </a:txBody>
                  <a:tcPr marL="0" marR="0" marB="0" marT="8382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100" spc="-35" b="1">
                          <a:solidFill>
                            <a:srgbClr val="0045A5"/>
                          </a:solidFill>
                          <a:latin typeface="Roboto"/>
                          <a:cs typeface="Roboto"/>
                        </a:rPr>
                        <a:t>Area</a:t>
                      </a:r>
                      <a:r>
                        <a:rPr dirty="0" sz="1100" spc="-10" b="1">
                          <a:solidFill>
                            <a:srgbClr val="0045A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00" spc="-50" b="1">
                          <a:solidFill>
                            <a:srgbClr val="0045A5"/>
                          </a:solidFill>
                          <a:latin typeface="Roboto"/>
                          <a:cs typeface="Roboto"/>
                        </a:rPr>
                        <a:t>2</a:t>
                      </a:r>
                      <a:endParaRPr sz="1100">
                        <a:latin typeface="Roboto"/>
                        <a:cs typeface="Roboto"/>
                      </a:endParaRPr>
                    </a:p>
                  </a:txBody>
                  <a:tcPr marL="0" marR="0" marB="0" marT="8382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0F6FF"/>
                    </a:solidFill>
                  </a:tcPr>
                </a:tc>
              </a:tr>
              <a:tr h="351790"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150" spc="-60">
                          <a:latin typeface="Roboto"/>
                          <a:cs typeface="Roboto"/>
                        </a:rPr>
                        <a:t>Governor</a:t>
                      </a:r>
                      <a:r>
                        <a:rPr dirty="0" sz="1150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70">
                          <a:latin typeface="Roboto"/>
                          <a:cs typeface="Roboto"/>
                        </a:rPr>
                        <a:t>Time</a:t>
                      </a:r>
                      <a:r>
                        <a:rPr dirty="0" sz="1150" spc="30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60">
                          <a:latin typeface="Roboto"/>
                          <a:cs typeface="Roboto"/>
                        </a:rPr>
                        <a:t>Constant</a:t>
                      </a:r>
                      <a:r>
                        <a:rPr dirty="0" sz="1150" spc="25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20">
                          <a:latin typeface="Roboto"/>
                          <a:cs typeface="Roboto"/>
                        </a:rPr>
                        <a:t>(T</a:t>
                      </a:r>
                      <a:r>
                        <a:rPr dirty="0" baseline="-16339" sz="1275" spc="-30">
                          <a:latin typeface="Roboto"/>
                          <a:cs typeface="Roboto"/>
                        </a:rPr>
                        <a:t>G</a:t>
                      </a:r>
                      <a:r>
                        <a:rPr dirty="0" sz="1150" spc="-20">
                          <a:latin typeface="Roboto"/>
                          <a:cs typeface="Roboto"/>
                        </a:rPr>
                        <a:t>)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150" spc="-10">
                          <a:latin typeface="Roboto"/>
                          <a:cs typeface="Roboto"/>
                        </a:rPr>
                        <a:t>0.08s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150" spc="-10">
                          <a:latin typeface="Roboto"/>
                          <a:cs typeface="Roboto"/>
                        </a:rPr>
                        <a:t>0.08s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51790"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150" spc="-60">
                          <a:latin typeface="Roboto"/>
                          <a:cs typeface="Roboto"/>
                        </a:rPr>
                        <a:t>Turbine</a:t>
                      </a:r>
                      <a:r>
                        <a:rPr dirty="0" sz="1150" spc="-5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70">
                          <a:latin typeface="Roboto"/>
                          <a:cs typeface="Roboto"/>
                        </a:rPr>
                        <a:t>Time</a:t>
                      </a:r>
                      <a:r>
                        <a:rPr dirty="0" sz="1150" spc="25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60">
                          <a:latin typeface="Roboto"/>
                          <a:cs typeface="Roboto"/>
                        </a:rPr>
                        <a:t>Constant</a:t>
                      </a:r>
                      <a:r>
                        <a:rPr dirty="0" sz="1150" spc="25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20">
                          <a:latin typeface="Roboto"/>
                          <a:cs typeface="Roboto"/>
                        </a:rPr>
                        <a:t>(T</a:t>
                      </a:r>
                      <a:r>
                        <a:rPr dirty="0" baseline="-16339" sz="1275" spc="-30">
                          <a:latin typeface="Roboto"/>
                          <a:cs typeface="Roboto"/>
                        </a:rPr>
                        <a:t>T</a:t>
                      </a:r>
                      <a:r>
                        <a:rPr dirty="0" sz="1150" spc="-20">
                          <a:latin typeface="Roboto"/>
                          <a:cs typeface="Roboto"/>
                        </a:rPr>
                        <a:t>)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150" spc="-20">
                          <a:latin typeface="Roboto"/>
                          <a:cs typeface="Roboto"/>
                        </a:rPr>
                        <a:t>0.3s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150" spc="-20">
                          <a:latin typeface="Roboto"/>
                          <a:cs typeface="Roboto"/>
                        </a:rPr>
                        <a:t>0.3s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351790"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150" spc="-65">
                          <a:latin typeface="Roboto"/>
                          <a:cs typeface="Roboto"/>
                        </a:rPr>
                        <a:t>Speed</a:t>
                      </a:r>
                      <a:r>
                        <a:rPr dirty="0" sz="1150" spc="-5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50">
                          <a:latin typeface="Roboto"/>
                          <a:cs typeface="Roboto"/>
                        </a:rPr>
                        <a:t>Regulation</a:t>
                      </a:r>
                      <a:r>
                        <a:rPr dirty="0" sz="1150" spc="-5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25">
                          <a:latin typeface="Roboto"/>
                          <a:cs typeface="Roboto"/>
                        </a:rPr>
                        <a:t>(R)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150" spc="-50">
                          <a:latin typeface="Roboto"/>
                          <a:cs typeface="Roboto"/>
                        </a:rPr>
                        <a:t>2.4</a:t>
                      </a:r>
                      <a:r>
                        <a:rPr dirty="0" sz="1150" spc="-10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65">
                          <a:latin typeface="Roboto"/>
                          <a:cs typeface="Roboto"/>
                        </a:rPr>
                        <a:t>Hz/pu</a:t>
                      </a:r>
                      <a:r>
                        <a:rPr dirty="0" sz="1150" spc="-5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25">
                          <a:latin typeface="Roboto"/>
                          <a:cs typeface="Roboto"/>
                        </a:rPr>
                        <a:t>MW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150" spc="-50">
                          <a:latin typeface="Roboto"/>
                          <a:cs typeface="Roboto"/>
                        </a:rPr>
                        <a:t>2.4</a:t>
                      </a:r>
                      <a:r>
                        <a:rPr dirty="0" sz="1150" spc="-10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65">
                          <a:latin typeface="Roboto"/>
                          <a:cs typeface="Roboto"/>
                        </a:rPr>
                        <a:t>Hz/pu</a:t>
                      </a:r>
                      <a:r>
                        <a:rPr dirty="0" sz="1150" spc="-5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25">
                          <a:latin typeface="Roboto"/>
                          <a:cs typeface="Roboto"/>
                        </a:rPr>
                        <a:t>MW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51790"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150" spc="-40">
                          <a:latin typeface="Roboto"/>
                          <a:cs typeface="Roboto"/>
                        </a:rPr>
                        <a:t>Inertia</a:t>
                      </a:r>
                      <a:r>
                        <a:rPr dirty="0" sz="1150" spc="20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60">
                          <a:latin typeface="Roboto"/>
                          <a:cs typeface="Roboto"/>
                        </a:rPr>
                        <a:t>Constant</a:t>
                      </a:r>
                      <a:r>
                        <a:rPr dirty="0" sz="1150" spc="20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25">
                          <a:latin typeface="Roboto"/>
                          <a:cs typeface="Roboto"/>
                        </a:rPr>
                        <a:t>(H)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150" spc="-20">
                          <a:latin typeface="Roboto"/>
                          <a:cs typeface="Roboto"/>
                        </a:rPr>
                        <a:t>5.0s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150" spc="-20">
                          <a:latin typeface="Roboto"/>
                          <a:cs typeface="Roboto"/>
                        </a:rPr>
                        <a:t>5.0s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351790"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150" spc="-60">
                          <a:latin typeface="Roboto"/>
                          <a:cs typeface="Roboto"/>
                        </a:rPr>
                        <a:t>Damping</a:t>
                      </a:r>
                      <a:r>
                        <a:rPr dirty="0" sz="1150" spc="-20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55">
                          <a:latin typeface="Roboto"/>
                          <a:cs typeface="Roboto"/>
                        </a:rPr>
                        <a:t>Coefficient</a:t>
                      </a:r>
                      <a:r>
                        <a:rPr dirty="0" sz="1150" spc="-20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25">
                          <a:latin typeface="Roboto"/>
                          <a:cs typeface="Roboto"/>
                        </a:rPr>
                        <a:t>(D)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150" spc="-50">
                          <a:latin typeface="Roboto"/>
                          <a:cs typeface="Roboto"/>
                        </a:rPr>
                        <a:t>0.8</a:t>
                      </a:r>
                      <a:r>
                        <a:rPr dirty="0" sz="1150" spc="-15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65">
                          <a:latin typeface="Roboto"/>
                          <a:cs typeface="Roboto"/>
                        </a:rPr>
                        <a:t>pu</a:t>
                      </a:r>
                      <a:r>
                        <a:rPr dirty="0" sz="1150" spc="-15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10">
                          <a:latin typeface="Roboto"/>
                          <a:cs typeface="Roboto"/>
                        </a:rPr>
                        <a:t>MW/Hz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150" spc="-50">
                          <a:latin typeface="Roboto"/>
                          <a:cs typeface="Roboto"/>
                        </a:rPr>
                        <a:t>0.8</a:t>
                      </a:r>
                      <a:r>
                        <a:rPr dirty="0" sz="1150" spc="-15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65">
                          <a:latin typeface="Roboto"/>
                          <a:cs typeface="Roboto"/>
                        </a:rPr>
                        <a:t>pu</a:t>
                      </a:r>
                      <a:r>
                        <a:rPr dirty="0" sz="1150" spc="-15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10">
                          <a:latin typeface="Roboto"/>
                          <a:cs typeface="Roboto"/>
                        </a:rPr>
                        <a:t>MW/Hz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51790"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150" spc="-50">
                          <a:latin typeface="Roboto"/>
                          <a:cs typeface="Roboto"/>
                        </a:rPr>
                        <a:t>Tie-</a:t>
                      </a:r>
                      <a:r>
                        <a:rPr dirty="0" sz="1150" spc="-55">
                          <a:latin typeface="Roboto"/>
                          <a:cs typeface="Roboto"/>
                        </a:rPr>
                        <a:t>Line</a:t>
                      </a:r>
                      <a:r>
                        <a:rPr dirty="0" sz="1150" spc="10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55">
                          <a:latin typeface="Roboto"/>
                          <a:cs typeface="Roboto"/>
                        </a:rPr>
                        <a:t>Coefficient</a:t>
                      </a:r>
                      <a:r>
                        <a:rPr dirty="0" sz="1150" spc="15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20">
                          <a:latin typeface="Roboto"/>
                          <a:cs typeface="Roboto"/>
                        </a:rPr>
                        <a:t>(T</a:t>
                      </a:r>
                      <a:r>
                        <a:rPr dirty="0" baseline="-16339" sz="1275" spc="-30">
                          <a:latin typeface="Roboto"/>
                          <a:cs typeface="Roboto"/>
                        </a:rPr>
                        <a:t>12</a:t>
                      </a:r>
                      <a:r>
                        <a:rPr dirty="0" sz="1150" spc="-20">
                          <a:latin typeface="Roboto"/>
                          <a:cs typeface="Roboto"/>
                        </a:rPr>
                        <a:t>)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3977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150" spc="-60">
                          <a:latin typeface="Roboto"/>
                          <a:cs typeface="Roboto"/>
                        </a:rPr>
                        <a:t>0.545</a:t>
                      </a:r>
                      <a:r>
                        <a:rPr dirty="0" sz="1150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65">
                          <a:latin typeface="Roboto"/>
                          <a:cs typeface="Roboto"/>
                        </a:rPr>
                        <a:t>pu</a:t>
                      </a:r>
                      <a:r>
                        <a:rPr dirty="0" sz="1150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10">
                          <a:latin typeface="Roboto"/>
                          <a:cs typeface="Roboto"/>
                        </a:rPr>
                        <a:t>MW/radian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51790"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150" spc="-70">
                          <a:latin typeface="Roboto"/>
                          <a:cs typeface="Roboto"/>
                        </a:rPr>
                        <a:t>SMES</a:t>
                      </a:r>
                      <a:r>
                        <a:rPr dirty="0" sz="1150" spc="-10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70">
                          <a:latin typeface="Roboto"/>
                          <a:cs typeface="Roboto"/>
                        </a:rPr>
                        <a:t>Time</a:t>
                      </a:r>
                      <a:r>
                        <a:rPr dirty="0" sz="1150" spc="10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60">
                          <a:latin typeface="Roboto"/>
                          <a:cs typeface="Roboto"/>
                        </a:rPr>
                        <a:t>Constant</a:t>
                      </a:r>
                      <a:r>
                        <a:rPr dirty="0" sz="1150" spc="15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20">
                          <a:latin typeface="Roboto"/>
                          <a:cs typeface="Roboto"/>
                        </a:rPr>
                        <a:t>(T</a:t>
                      </a:r>
                      <a:r>
                        <a:rPr dirty="0" baseline="-16339" sz="1275" spc="-30">
                          <a:latin typeface="Roboto"/>
                          <a:cs typeface="Roboto"/>
                        </a:rPr>
                        <a:t>DC</a:t>
                      </a:r>
                      <a:r>
                        <a:rPr dirty="0" sz="1150" spc="-20">
                          <a:latin typeface="Roboto"/>
                          <a:cs typeface="Roboto"/>
                        </a:rPr>
                        <a:t>)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150" spc="-10">
                          <a:latin typeface="Roboto"/>
                          <a:cs typeface="Roboto"/>
                        </a:rPr>
                        <a:t>0.03s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150" spc="-10">
                          <a:latin typeface="Roboto"/>
                          <a:cs typeface="Roboto"/>
                        </a:rPr>
                        <a:t>0.03s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51790"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150" spc="-65">
                          <a:latin typeface="Roboto"/>
                          <a:cs typeface="Roboto"/>
                        </a:rPr>
                        <a:t>Wind</a:t>
                      </a:r>
                      <a:r>
                        <a:rPr dirty="0" sz="1150" spc="-10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65">
                          <a:latin typeface="Roboto"/>
                          <a:cs typeface="Roboto"/>
                        </a:rPr>
                        <a:t>Turbine</a:t>
                      </a:r>
                      <a:r>
                        <a:rPr dirty="0" sz="1150" spc="15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55">
                          <a:latin typeface="Roboto"/>
                          <a:cs typeface="Roboto"/>
                        </a:rPr>
                        <a:t>Gain</a:t>
                      </a:r>
                      <a:r>
                        <a:rPr dirty="0" sz="1150" spc="15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20">
                          <a:latin typeface="Roboto"/>
                          <a:cs typeface="Roboto"/>
                        </a:rPr>
                        <a:t>(K</a:t>
                      </a:r>
                      <a:r>
                        <a:rPr dirty="0" baseline="-16339" sz="1275" spc="-30">
                          <a:latin typeface="Roboto"/>
                          <a:cs typeface="Roboto"/>
                        </a:rPr>
                        <a:t>WT</a:t>
                      </a:r>
                      <a:r>
                        <a:rPr dirty="0" sz="1150" spc="-20">
                          <a:latin typeface="Roboto"/>
                          <a:cs typeface="Roboto"/>
                        </a:rPr>
                        <a:t>)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150" spc="-50">
                          <a:latin typeface="Roboto"/>
                          <a:cs typeface="Roboto"/>
                        </a:rPr>
                        <a:t>1.0</a:t>
                      </a:r>
                      <a:r>
                        <a:rPr dirty="0" sz="1150" spc="-20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25">
                          <a:latin typeface="Roboto"/>
                          <a:cs typeface="Roboto"/>
                        </a:rPr>
                        <a:t>pu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150" spc="-50">
                          <a:latin typeface="Roboto"/>
                          <a:cs typeface="Roboto"/>
                        </a:rPr>
                        <a:t>1.0</a:t>
                      </a:r>
                      <a:r>
                        <a:rPr dirty="0" sz="1150" spc="-20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25">
                          <a:latin typeface="Roboto"/>
                          <a:cs typeface="Roboto"/>
                        </a:rPr>
                        <a:t>pu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</a:tbl>
          </a:graphicData>
        </a:graphic>
      </p:graphicFrame>
      <p:sp>
        <p:nvSpPr>
          <p:cNvPr id="12" name="object 12" descr=""/>
          <p:cNvSpPr txBox="1"/>
          <p:nvPr/>
        </p:nvSpPr>
        <p:spPr>
          <a:xfrm>
            <a:off x="6083299" y="596597"/>
            <a:ext cx="187007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5" b="1">
                <a:solidFill>
                  <a:srgbClr val="374050"/>
                </a:solidFill>
                <a:latin typeface="Roboto"/>
                <a:cs typeface="Roboto"/>
              </a:rPr>
              <a:t>Key</a:t>
            </a:r>
            <a:r>
              <a:rPr dirty="0" sz="1500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500" spc="-95" b="1">
                <a:solidFill>
                  <a:srgbClr val="374050"/>
                </a:solidFill>
                <a:latin typeface="Roboto"/>
                <a:cs typeface="Roboto"/>
              </a:rPr>
              <a:t>System</a:t>
            </a:r>
            <a:r>
              <a:rPr dirty="0" sz="1500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500" spc="-85" b="1">
                <a:solidFill>
                  <a:srgbClr val="374050"/>
                </a:solidFill>
                <a:latin typeface="Roboto"/>
                <a:cs typeface="Roboto"/>
              </a:rPr>
              <a:t>Parameters</a:t>
            </a:r>
            <a:endParaRPr sz="1500">
              <a:latin typeface="Roboto"/>
              <a:cs typeface="Roboto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6095998" y="4857749"/>
            <a:ext cx="5181600" cy="2590800"/>
            <a:chOff x="6095998" y="4857749"/>
            <a:chExt cx="5181600" cy="2590800"/>
          </a:xfrm>
        </p:grpSpPr>
        <p:sp>
          <p:nvSpPr>
            <p:cNvPr id="14" name="object 14" descr=""/>
            <p:cNvSpPr/>
            <p:nvPr/>
          </p:nvSpPr>
          <p:spPr>
            <a:xfrm>
              <a:off x="6095998" y="4857749"/>
              <a:ext cx="5181600" cy="2590800"/>
            </a:xfrm>
            <a:custGeom>
              <a:avLst/>
              <a:gdLst/>
              <a:ahLst/>
              <a:cxnLst/>
              <a:rect l="l" t="t" r="r" b="b"/>
              <a:pathLst>
                <a:path w="5181600" h="2590800">
                  <a:moveTo>
                    <a:pt x="5110403" y="2590799"/>
                  </a:moveTo>
                  <a:lnTo>
                    <a:pt x="71196" y="2590799"/>
                  </a:lnTo>
                  <a:lnTo>
                    <a:pt x="66241" y="2590311"/>
                  </a:lnTo>
                  <a:lnTo>
                    <a:pt x="29705" y="2575177"/>
                  </a:lnTo>
                  <a:lnTo>
                    <a:pt x="3885" y="2539137"/>
                  </a:lnTo>
                  <a:lnTo>
                    <a:pt x="0" y="2519602"/>
                  </a:lnTo>
                  <a:lnTo>
                    <a:pt x="0" y="25145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5110403" y="0"/>
                  </a:lnTo>
                  <a:lnTo>
                    <a:pt x="5151891" y="15621"/>
                  </a:lnTo>
                  <a:lnTo>
                    <a:pt x="5177713" y="51661"/>
                  </a:lnTo>
                  <a:lnTo>
                    <a:pt x="5181599" y="71196"/>
                  </a:lnTo>
                  <a:lnTo>
                    <a:pt x="5181599" y="2519602"/>
                  </a:lnTo>
                  <a:lnTo>
                    <a:pt x="5165976" y="2561093"/>
                  </a:lnTo>
                  <a:lnTo>
                    <a:pt x="5129937" y="2586913"/>
                  </a:lnTo>
                  <a:lnTo>
                    <a:pt x="5115357" y="2590311"/>
                  </a:lnTo>
                  <a:lnTo>
                    <a:pt x="5110403" y="259079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581774" y="5367337"/>
              <a:ext cx="857250" cy="500380"/>
            </a:xfrm>
            <a:custGeom>
              <a:avLst/>
              <a:gdLst/>
              <a:ahLst/>
              <a:cxnLst/>
              <a:rect l="l" t="t" r="r" b="b"/>
              <a:pathLst>
                <a:path w="857250" h="500379">
                  <a:moveTo>
                    <a:pt x="838660" y="500062"/>
                  </a:moveTo>
                  <a:lnTo>
                    <a:pt x="18589" y="500062"/>
                  </a:lnTo>
                  <a:lnTo>
                    <a:pt x="15855" y="499518"/>
                  </a:lnTo>
                  <a:lnTo>
                    <a:pt x="0" y="481473"/>
                  </a:lnTo>
                  <a:lnTo>
                    <a:pt x="0" y="18589"/>
                  </a:lnTo>
                  <a:lnTo>
                    <a:pt x="18589" y="0"/>
                  </a:lnTo>
                  <a:lnTo>
                    <a:pt x="21431" y="0"/>
                  </a:lnTo>
                  <a:lnTo>
                    <a:pt x="838660" y="0"/>
                  </a:lnTo>
                  <a:lnTo>
                    <a:pt x="857249" y="18589"/>
                  </a:lnTo>
                  <a:lnTo>
                    <a:pt x="857249" y="481473"/>
                  </a:lnTo>
                  <a:lnTo>
                    <a:pt x="841394" y="499518"/>
                  </a:lnTo>
                  <a:lnTo>
                    <a:pt x="838660" y="500062"/>
                  </a:lnTo>
                  <a:close/>
                </a:path>
              </a:pathLst>
            </a:custGeom>
            <a:solidFill>
              <a:srgbClr val="F0F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581774" y="5367337"/>
              <a:ext cx="857250" cy="500380"/>
            </a:xfrm>
            <a:custGeom>
              <a:avLst/>
              <a:gdLst/>
              <a:ahLst/>
              <a:cxnLst/>
              <a:rect l="l" t="t" r="r" b="b"/>
              <a:pathLst>
                <a:path w="857250" h="500379">
                  <a:moveTo>
                    <a:pt x="21431" y="0"/>
                  </a:moveTo>
                  <a:lnTo>
                    <a:pt x="835818" y="0"/>
                  </a:lnTo>
                  <a:lnTo>
                    <a:pt x="838660" y="0"/>
                  </a:lnTo>
                  <a:lnTo>
                    <a:pt x="841394" y="543"/>
                  </a:lnTo>
                  <a:lnTo>
                    <a:pt x="857250" y="21431"/>
                  </a:lnTo>
                  <a:lnTo>
                    <a:pt x="857250" y="478631"/>
                  </a:lnTo>
                  <a:lnTo>
                    <a:pt x="835818" y="500062"/>
                  </a:lnTo>
                  <a:lnTo>
                    <a:pt x="21431" y="500062"/>
                  </a:lnTo>
                  <a:lnTo>
                    <a:pt x="0" y="481473"/>
                  </a:lnTo>
                  <a:lnTo>
                    <a:pt x="0" y="478631"/>
                  </a:lnTo>
                  <a:lnTo>
                    <a:pt x="0" y="21431"/>
                  </a:lnTo>
                  <a:lnTo>
                    <a:pt x="6277" y="6277"/>
                  </a:lnTo>
                  <a:lnTo>
                    <a:pt x="8286" y="4267"/>
                  </a:lnTo>
                  <a:lnTo>
                    <a:pt x="10604" y="2718"/>
                  </a:lnTo>
                  <a:lnTo>
                    <a:pt x="13229" y="1631"/>
                  </a:lnTo>
                  <a:lnTo>
                    <a:pt x="15855" y="543"/>
                  </a:lnTo>
                  <a:lnTo>
                    <a:pt x="18589" y="0"/>
                  </a:lnTo>
                  <a:lnTo>
                    <a:pt x="21431" y="0"/>
                  </a:lnTo>
                  <a:close/>
                </a:path>
              </a:pathLst>
            </a:custGeom>
            <a:ln w="10715">
              <a:solidFill>
                <a:srgbClr val="0045A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8867774" y="5367337"/>
              <a:ext cx="857250" cy="500380"/>
            </a:xfrm>
            <a:custGeom>
              <a:avLst/>
              <a:gdLst/>
              <a:ahLst/>
              <a:cxnLst/>
              <a:rect l="l" t="t" r="r" b="b"/>
              <a:pathLst>
                <a:path w="857250" h="500379">
                  <a:moveTo>
                    <a:pt x="838660" y="500062"/>
                  </a:moveTo>
                  <a:lnTo>
                    <a:pt x="18589" y="500062"/>
                  </a:lnTo>
                  <a:lnTo>
                    <a:pt x="15855" y="499518"/>
                  </a:lnTo>
                  <a:lnTo>
                    <a:pt x="0" y="481473"/>
                  </a:lnTo>
                  <a:lnTo>
                    <a:pt x="0" y="18589"/>
                  </a:lnTo>
                  <a:lnTo>
                    <a:pt x="18589" y="0"/>
                  </a:lnTo>
                  <a:lnTo>
                    <a:pt x="21431" y="0"/>
                  </a:lnTo>
                  <a:lnTo>
                    <a:pt x="838660" y="0"/>
                  </a:lnTo>
                  <a:lnTo>
                    <a:pt x="857250" y="18589"/>
                  </a:lnTo>
                  <a:lnTo>
                    <a:pt x="857250" y="481473"/>
                  </a:lnTo>
                  <a:lnTo>
                    <a:pt x="841394" y="499518"/>
                  </a:lnTo>
                  <a:lnTo>
                    <a:pt x="838660" y="500062"/>
                  </a:lnTo>
                  <a:close/>
                </a:path>
              </a:pathLst>
            </a:custGeom>
            <a:solidFill>
              <a:srgbClr val="F0F6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6083299" y="4463747"/>
            <a:ext cx="149542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80" b="1">
                <a:solidFill>
                  <a:srgbClr val="374050"/>
                </a:solidFill>
                <a:latin typeface="Roboto"/>
                <a:cs typeface="Roboto"/>
              </a:rPr>
              <a:t>Control</a:t>
            </a:r>
            <a:r>
              <a:rPr dirty="0" sz="1500" spc="-30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500" spc="-90" b="1">
                <a:solidFill>
                  <a:srgbClr val="374050"/>
                </a:solidFill>
                <a:latin typeface="Roboto"/>
                <a:cs typeface="Roboto"/>
              </a:rPr>
              <a:t>Framework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7426325" y="5504656"/>
            <a:ext cx="147701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463675" algn="l"/>
              </a:tabLst>
            </a:pPr>
            <a:r>
              <a:rPr dirty="0" u="heavy" sz="750">
                <a:solidFill>
                  <a:srgbClr val="0045A5"/>
                </a:solidFill>
                <a:uFill>
                  <a:solidFill>
                    <a:srgbClr val="333333"/>
                  </a:solidFill>
                </a:uFill>
                <a:latin typeface="Times New Roman"/>
                <a:cs typeface="Times New Roman"/>
              </a:rPr>
              <a:t>	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8867774" y="5367337"/>
            <a:ext cx="857250" cy="500380"/>
          </a:xfrm>
          <a:custGeom>
            <a:avLst/>
            <a:gdLst/>
            <a:ahLst/>
            <a:cxnLst/>
            <a:rect l="l" t="t" r="r" b="b"/>
            <a:pathLst>
              <a:path w="857250" h="500379">
                <a:moveTo>
                  <a:pt x="21431" y="0"/>
                </a:moveTo>
                <a:lnTo>
                  <a:pt x="835818" y="0"/>
                </a:lnTo>
                <a:lnTo>
                  <a:pt x="838660" y="0"/>
                </a:lnTo>
                <a:lnTo>
                  <a:pt x="841394" y="543"/>
                </a:lnTo>
                <a:lnTo>
                  <a:pt x="857250" y="21431"/>
                </a:lnTo>
                <a:lnTo>
                  <a:pt x="857250" y="478631"/>
                </a:lnTo>
                <a:lnTo>
                  <a:pt x="835818" y="500062"/>
                </a:lnTo>
                <a:lnTo>
                  <a:pt x="21431" y="500062"/>
                </a:lnTo>
                <a:lnTo>
                  <a:pt x="18589" y="500062"/>
                </a:lnTo>
                <a:lnTo>
                  <a:pt x="15855" y="499518"/>
                </a:lnTo>
                <a:lnTo>
                  <a:pt x="13229" y="498431"/>
                </a:lnTo>
                <a:lnTo>
                  <a:pt x="10604" y="497343"/>
                </a:lnTo>
                <a:lnTo>
                  <a:pt x="8286" y="495794"/>
                </a:lnTo>
                <a:lnTo>
                  <a:pt x="6277" y="493785"/>
                </a:lnTo>
                <a:lnTo>
                  <a:pt x="4267" y="491775"/>
                </a:lnTo>
                <a:lnTo>
                  <a:pt x="2718" y="489458"/>
                </a:lnTo>
                <a:lnTo>
                  <a:pt x="1631" y="486832"/>
                </a:lnTo>
                <a:lnTo>
                  <a:pt x="543" y="484206"/>
                </a:lnTo>
                <a:lnTo>
                  <a:pt x="0" y="481473"/>
                </a:lnTo>
                <a:lnTo>
                  <a:pt x="0" y="478631"/>
                </a:lnTo>
                <a:lnTo>
                  <a:pt x="0" y="21431"/>
                </a:lnTo>
                <a:lnTo>
                  <a:pt x="6277" y="6277"/>
                </a:lnTo>
                <a:lnTo>
                  <a:pt x="8286" y="4267"/>
                </a:lnTo>
                <a:lnTo>
                  <a:pt x="10604" y="2718"/>
                </a:lnTo>
                <a:lnTo>
                  <a:pt x="13229" y="1631"/>
                </a:lnTo>
                <a:lnTo>
                  <a:pt x="15855" y="543"/>
                </a:lnTo>
                <a:lnTo>
                  <a:pt x="18589" y="0"/>
                </a:lnTo>
                <a:lnTo>
                  <a:pt x="21431" y="0"/>
                </a:lnTo>
                <a:close/>
              </a:path>
            </a:pathLst>
          </a:custGeom>
          <a:ln w="10715">
            <a:solidFill>
              <a:srgbClr val="0045A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9140229" y="5496774"/>
            <a:ext cx="31242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45">
                <a:solidFill>
                  <a:srgbClr val="0045A5"/>
                </a:solidFill>
                <a:latin typeface="Roboto"/>
                <a:cs typeface="Roboto"/>
              </a:rPr>
              <a:t>Area</a:t>
            </a:r>
            <a:r>
              <a:rPr dirty="0" sz="850" spc="15">
                <a:solidFill>
                  <a:srgbClr val="0045A5"/>
                </a:solidFill>
                <a:latin typeface="Roboto"/>
                <a:cs typeface="Roboto"/>
              </a:rPr>
              <a:t> </a:t>
            </a:r>
            <a:r>
              <a:rPr dirty="0" sz="850" spc="-50">
                <a:solidFill>
                  <a:srgbClr val="0045A5"/>
                </a:solidFill>
                <a:latin typeface="Roboto"/>
                <a:cs typeface="Roboto"/>
              </a:rPr>
              <a:t>2</a:t>
            </a:r>
            <a:endParaRPr sz="850">
              <a:latin typeface="Roboto"/>
              <a:cs typeface="Roboto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8002736" y="5437861"/>
            <a:ext cx="301625" cy="14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40">
                <a:solidFill>
                  <a:srgbClr val="333333"/>
                </a:solidFill>
                <a:latin typeface="Roboto"/>
                <a:cs typeface="Roboto"/>
              </a:rPr>
              <a:t>Tie-</a:t>
            </a:r>
            <a:r>
              <a:rPr dirty="0" sz="750" spc="-25">
                <a:solidFill>
                  <a:srgbClr val="333333"/>
                </a:solidFill>
                <a:latin typeface="Roboto"/>
                <a:cs typeface="Roboto"/>
              </a:rPr>
              <a:t>line</a:t>
            </a:r>
            <a:endParaRPr sz="750">
              <a:latin typeface="Roboto"/>
              <a:cs typeface="Roboto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6862126" y="6290627"/>
            <a:ext cx="582295" cy="368300"/>
            <a:chOff x="6862126" y="6290627"/>
            <a:chExt cx="582295" cy="368300"/>
          </a:xfrm>
        </p:grpSpPr>
        <p:sp>
          <p:nvSpPr>
            <p:cNvPr id="24" name="object 24" descr=""/>
            <p:cNvSpPr/>
            <p:nvPr/>
          </p:nvSpPr>
          <p:spPr>
            <a:xfrm>
              <a:off x="6867524" y="6296024"/>
              <a:ext cx="571500" cy="357505"/>
            </a:xfrm>
            <a:custGeom>
              <a:avLst/>
              <a:gdLst/>
              <a:ahLst/>
              <a:cxnLst/>
              <a:rect l="l" t="t" r="r" b="b"/>
              <a:pathLst>
                <a:path w="571500" h="357504">
                  <a:moveTo>
                    <a:pt x="552910" y="357187"/>
                  </a:moveTo>
                  <a:lnTo>
                    <a:pt x="18589" y="357187"/>
                  </a:lnTo>
                  <a:lnTo>
                    <a:pt x="15855" y="356643"/>
                  </a:lnTo>
                  <a:lnTo>
                    <a:pt x="0" y="338598"/>
                  </a:lnTo>
                  <a:lnTo>
                    <a:pt x="0" y="18589"/>
                  </a:lnTo>
                  <a:lnTo>
                    <a:pt x="18589" y="0"/>
                  </a:lnTo>
                  <a:lnTo>
                    <a:pt x="21431" y="0"/>
                  </a:lnTo>
                  <a:lnTo>
                    <a:pt x="552910" y="0"/>
                  </a:lnTo>
                  <a:lnTo>
                    <a:pt x="571499" y="18589"/>
                  </a:lnTo>
                  <a:lnTo>
                    <a:pt x="571499" y="338598"/>
                  </a:lnTo>
                  <a:lnTo>
                    <a:pt x="555644" y="356643"/>
                  </a:lnTo>
                  <a:lnTo>
                    <a:pt x="552910" y="3571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6867524" y="6296024"/>
              <a:ext cx="571500" cy="357505"/>
            </a:xfrm>
            <a:custGeom>
              <a:avLst/>
              <a:gdLst/>
              <a:ahLst/>
              <a:cxnLst/>
              <a:rect l="l" t="t" r="r" b="b"/>
              <a:pathLst>
                <a:path w="571500" h="357504">
                  <a:moveTo>
                    <a:pt x="21431" y="0"/>
                  </a:moveTo>
                  <a:lnTo>
                    <a:pt x="550068" y="0"/>
                  </a:lnTo>
                  <a:lnTo>
                    <a:pt x="552910" y="0"/>
                  </a:lnTo>
                  <a:lnTo>
                    <a:pt x="555644" y="543"/>
                  </a:lnTo>
                  <a:lnTo>
                    <a:pt x="558270" y="1631"/>
                  </a:lnTo>
                  <a:lnTo>
                    <a:pt x="560895" y="2718"/>
                  </a:lnTo>
                  <a:lnTo>
                    <a:pt x="563213" y="4267"/>
                  </a:lnTo>
                  <a:lnTo>
                    <a:pt x="565222" y="6277"/>
                  </a:lnTo>
                  <a:lnTo>
                    <a:pt x="567232" y="8286"/>
                  </a:lnTo>
                  <a:lnTo>
                    <a:pt x="568781" y="10604"/>
                  </a:lnTo>
                  <a:lnTo>
                    <a:pt x="569868" y="13229"/>
                  </a:lnTo>
                  <a:lnTo>
                    <a:pt x="570956" y="15855"/>
                  </a:lnTo>
                  <a:lnTo>
                    <a:pt x="571499" y="18589"/>
                  </a:lnTo>
                  <a:lnTo>
                    <a:pt x="571500" y="21431"/>
                  </a:lnTo>
                  <a:lnTo>
                    <a:pt x="571500" y="335756"/>
                  </a:lnTo>
                  <a:lnTo>
                    <a:pt x="550068" y="357187"/>
                  </a:lnTo>
                  <a:lnTo>
                    <a:pt x="21431" y="357187"/>
                  </a:lnTo>
                  <a:lnTo>
                    <a:pt x="1631" y="343957"/>
                  </a:lnTo>
                  <a:lnTo>
                    <a:pt x="543" y="341331"/>
                  </a:lnTo>
                  <a:lnTo>
                    <a:pt x="0" y="338598"/>
                  </a:lnTo>
                  <a:lnTo>
                    <a:pt x="0" y="335756"/>
                  </a:lnTo>
                  <a:lnTo>
                    <a:pt x="0" y="21431"/>
                  </a:lnTo>
                  <a:lnTo>
                    <a:pt x="0" y="18589"/>
                  </a:lnTo>
                  <a:lnTo>
                    <a:pt x="543" y="15855"/>
                  </a:lnTo>
                  <a:lnTo>
                    <a:pt x="1631" y="13229"/>
                  </a:lnTo>
                  <a:lnTo>
                    <a:pt x="2718" y="10604"/>
                  </a:lnTo>
                  <a:lnTo>
                    <a:pt x="4267" y="8286"/>
                  </a:lnTo>
                  <a:lnTo>
                    <a:pt x="6277" y="6277"/>
                  </a:lnTo>
                  <a:lnTo>
                    <a:pt x="8286" y="4267"/>
                  </a:lnTo>
                  <a:lnTo>
                    <a:pt x="10604" y="2718"/>
                  </a:lnTo>
                  <a:lnTo>
                    <a:pt x="13229" y="1631"/>
                  </a:lnTo>
                  <a:lnTo>
                    <a:pt x="15855" y="543"/>
                  </a:lnTo>
                  <a:lnTo>
                    <a:pt x="18589" y="0"/>
                  </a:lnTo>
                  <a:lnTo>
                    <a:pt x="21431" y="0"/>
                  </a:lnTo>
                  <a:close/>
                </a:path>
              </a:pathLst>
            </a:custGeom>
            <a:ln w="10715">
              <a:solidFill>
                <a:srgbClr val="0045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6952158" y="6405156"/>
            <a:ext cx="402590" cy="1365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700" spc="-25">
                <a:solidFill>
                  <a:srgbClr val="0045A5"/>
                </a:solidFill>
                <a:latin typeface="Roboto"/>
                <a:cs typeface="Roboto"/>
              </a:rPr>
              <a:t>Fuzzy-PID</a:t>
            </a:r>
            <a:endParaRPr sz="700">
              <a:latin typeface="Roboto"/>
              <a:cs typeface="Roboto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8862376" y="6290627"/>
            <a:ext cx="582295" cy="368300"/>
            <a:chOff x="8862376" y="6290627"/>
            <a:chExt cx="582295" cy="368300"/>
          </a:xfrm>
        </p:grpSpPr>
        <p:sp>
          <p:nvSpPr>
            <p:cNvPr id="28" name="object 28" descr=""/>
            <p:cNvSpPr/>
            <p:nvPr/>
          </p:nvSpPr>
          <p:spPr>
            <a:xfrm>
              <a:off x="8867774" y="6296024"/>
              <a:ext cx="571500" cy="357505"/>
            </a:xfrm>
            <a:custGeom>
              <a:avLst/>
              <a:gdLst/>
              <a:ahLst/>
              <a:cxnLst/>
              <a:rect l="l" t="t" r="r" b="b"/>
              <a:pathLst>
                <a:path w="571500" h="357504">
                  <a:moveTo>
                    <a:pt x="552910" y="357187"/>
                  </a:moveTo>
                  <a:lnTo>
                    <a:pt x="18589" y="357187"/>
                  </a:lnTo>
                  <a:lnTo>
                    <a:pt x="15855" y="356643"/>
                  </a:lnTo>
                  <a:lnTo>
                    <a:pt x="0" y="338598"/>
                  </a:lnTo>
                  <a:lnTo>
                    <a:pt x="0" y="18589"/>
                  </a:lnTo>
                  <a:lnTo>
                    <a:pt x="18589" y="0"/>
                  </a:lnTo>
                  <a:lnTo>
                    <a:pt x="21431" y="0"/>
                  </a:lnTo>
                  <a:lnTo>
                    <a:pt x="552910" y="0"/>
                  </a:lnTo>
                  <a:lnTo>
                    <a:pt x="571500" y="18589"/>
                  </a:lnTo>
                  <a:lnTo>
                    <a:pt x="571500" y="338598"/>
                  </a:lnTo>
                  <a:lnTo>
                    <a:pt x="555644" y="356643"/>
                  </a:lnTo>
                  <a:lnTo>
                    <a:pt x="552910" y="3571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8867774" y="6296024"/>
              <a:ext cx="571500" cy="357505"/>
            </a:xfrm>
            <a:custGeom>
              <a:avLst/>
              <a:gdLst/>
              <a:ahLst/>
              <a:cxnLst/>
              <a:rect l="l" t="t" r="r" b="b"/>
              <a:pathLst>
                <a:path w="571500" h="357504">
                  <a:moveTo>
                    <a:pt x="21431" y="0"/>
                  </a:moveTo>
                  <a:lnTo>
                    <a:pt x="550068" y="0"/>
                  </a:lnTo>
                  <a:lnTo>
                    <a:pt x="552910" y="0"/>
                  </a:lnTo>
                  <a:lnTo>
                    <a:pt x="555644" y="543"/>
                  </a:lnTo>
                  <a:lnTo>
                    <a:pt x="558269" y="1631"/>
                  </a:lnTo>
                  <a:lnTo>
                    <a:pt x="560895" y="2718"/>
                  </a:lnTo>
                  <a:lnTo>
                    <a:pt x="563213" y="4267"/>
                  </a:lnTo>
                  <a:lnTo>
                    <a:pt x="571500" y="21431"/>
                  </a:lnTo>
                  <a:lnTo>
                    <a:pt x="571500" y="335756"/>
                  </a:lnTo>
                  <a:lnTo>
                    <a:pt x="550068" y="357187"/>
                  </a:lnTo>
                  <a:lnTo>
                    <a:pt x="21431" y="357187"/>
                  </a:lnTo>
                  <a:lnTo>
                    <a:pt x="18589" y="357187"/>
                  </a:lnTo>
                  <a:lnTo>
                    <a:pt x="15855" y="356643"/>
                  </a:lnTo>
                  <a:lnTo>
                    <a:pt x="13229" y="355555"/>
                  </a:lnTo>
                  <a:lnTo>
                    <a:pt x="10604" y="354468"/>
                  </a:lnTo>
                  <a:lnTo>
                    <a:pt x="8286" y="352919"/>
                  </a:lnTo>
                  <a:lnTo>
                    <a:pt x="6277" y="350910"/>
                  </a:lnTo>
                  <a:lnTo>
                    <a:pt x="4267" y="348900"/>
                  </a:lnTo>
                  <a:lnTo>
                    <a:pt x="2718" y="346583"/>
                  </a:lnTo>
                  <a:lnTo>
                    <a:pt x="1631" y="343957"/>
                  </a:lnTo>
                  <a:lnTo>
                    <a:pt x="543" y="341331"/>
                  </a:lnTo>
                  <a:lnTo>
                    <a:pt x="0" y="338598"/>
                  </a:lnTo>
                  <a:lnTo>
                    <a:pt x="0" y="335756"/>
                  </a:lnTo>
                  <a:lnTo>
                    <a:pt x="0" y="21431"/>
                  </a:lnTo>
                  <a:lnTo>
                    <a:pt x="6277" y="6277"/>
                  </a:lnTo>
                  <a:lnTo>
                    <a:pt x="8286" y="4267"/>
                  </a:lnTo>
                  <a:lnTo>
                    <a:pt x="10604" y="2718"/>
                  </a:lnTo>
                  <a:lnTo>
                    <a:pt x="13229" y="1631"/>
                  </a:lnTo>
                  <a:lnTo>
                    <a:pt x="15855" y="543"/>
                  </a:lnTo>
                  <a:lnTo>
                    <a:pt x="18589" y="0"/>
                  </a:lnTo>
                  <a:lnTo>
                    <a:pt x="21431" y="0"/>
                  </a:lnTo>
                  <a:close/>
                </a:path>
              </a:pathLst>
            </a:custGeom>
            <a:ln w="10715">
              <a:solidFill>
                <a:srgbClr val="0045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8952408" y="6405156"/>
            <a:ext cx="402590" cy="1365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700" spc="-25">
                <a:solidFill>
                  <a:srgbClr val="0045A5"/>
                </a:solidFill>
                <a:latin typeface="Roboto"/>
                <a:cs typeface="Roboto"/>
              </a:rPr>
              <a:t>Fuzzy-PID</a:t>
            </a:r>
            <a:endParaRPr sz="700">
              <a:latin typeface="Roboto"/>
              <a:cs typeface="Roboto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7576501" y="6933565"/>
            <a:ext cx="1153795" cy="296545"/>
            <a:chOff x="7576501" y="6933565"/>
            <a:chExt cx="1153795" cy="296545"/>
          </a:xfrm>
        </p:grpSpPr>
        <p:sp>
          <p:nvSpPr>
            <p:cNvPr id="32" name="object 32" descr=""/>
            <p:cNvSpPr/>
            <p:nvPr/>
          </p:nvSpPr>
          <p:spPr>
            <a:xfrm>
              <a:off x="7581899" y="6938962"/>
              <a:ext cx="1143000" cy="285750"/>
            </a:xfrm>
            <a:custGeom>
              <a:avLst/>
              <a:gdLst/>
              <a:ahLst/>
              <a:cxnLst/>
              <a:rect l="l" t="t" r="r" b="b"/>
              <a:pathLst>
                <a:path w="1143000" h="285750">
                  <a:moveTo>
                    <a:pt x="1124410" y="285750"/>
                  </a:moveTo>
                  <a:lnTo>
                    <a:pt x="18589" y="285750"/>
                  </a:lnTo>
                  <a:lnTo>
                    <a:pt x="15855" y="285206"/>
                  </a:lnTo>
                  <a:lnTo>
                    <a:pt x="0" y="267160"/>
                  </a:lnTo>
                  <a:lnTo>
                    <a:pt x="0" y="18589"/>
                  </a:lnTo>
                  <a:lnTo>
                    <a:pt x="18589" y="0"/>
                  </a:lnTo>
                  <a:lnTo>
                    <a:pt x="21431" y="0"/>
                  </a:lnTo>
                  <a:lnTo>
                    <a:pt x="1124410" y="0"/>
                  </a:lnTo>
                  <a:lnTo>
                    <a:pt x="1142999" y="18589"/>
                  </a:lnTo>
                  <a:lnTo>
                    <a:pt x="1142999" y="267160"/>
                  </a:lnTo>
                  <a:lnTo>
                    <a:pt x="1127144" y="285206"/>
                  </a:lnTo>
                  <a:lnTo>
                    <a:pt x="1124410" y="28575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7581899" y="6938962"/>
              <a:ext cx="1143000" cy="285750"/>
            </a:xfrm>
            <a:custGeom>
              <a:avLst/>
              <a:gdLst/>
              <a:ahLst/>
              <a:cxnLst/>
              <a:rect l="l" t="t" r="r" b="b"/>
              <a:pathLst>
                <a:path w="1143000" h="285750">
                  <a:moveTo>
                    <a:pt x="21431" y="0"/>
                  </a:moveTo>
                  <a:lnTo>
                    <a:pt x="1121568" y="0"/>
                  </a:lnTo>
                  <a:lnTo>
                    <a:pt x="1124410" y="0"/>
                  </a:lnTo>
                  <a:lnTo>
                    <a:pt x="1127144" y="543"/>
                  </a:lnTo>
                  <a:lnTo>
                    <a:pt x="1129769" y="1631"/>
                  </a:lnTo>
                  <a:lnTo>
                    <a:pt x="1132395" y="2718"/>
                  </a:lnTo>
                  <a:lnTo>
                    <a:pt x="1134713" y="4267"/>
                  </a:lnTo>
                  <a:lnTo>
                    <a:pt x="1136722" y="6276"/>
                  </a:lnTo>
                  <a:lnTo>
                    <a:pt x="1138732" y="8286"/>
                  </a:lnTo>
                  <a:lnTo>
                    <a:pt x="1140280" y="10604"/>
                  </a:lnTo>
                  <a:lnTo>
                    <a:pt x="1141368" y="13229"/>
                  </a:lnTo>
                  <a:lnTo>
                    <a:pt x="1142456" y="15855"/>
                  </a:lnTo>
                  <a:lnTo>
                    <a:pt x="1142999" y="18589"/>
                  </a:lnTo>
                  <a:lnTo>
                    <a:pt x="1143000" y="21431"/>
                  </a:lnTo>
                  <a:lnTo>
                    <a:pt x="1143000" y="264318"/>
                  </a:lnTo>
                  <a:lnTo>
                    <a:pt x="1142999" y="267160"/>
                  </a:lnTo>
                  <a:lnTo>
                    <a:pt x="1142456" y="269894"/>
                  </a:lnTo>
                  <a:lnTo>
                    <a:pt x="1141368" y="272519"/>
                  </a:lnTo>
                  <a:lnTo>
                    <a:pt x="1140280" y="275145"/>
                  </a:lnTo>
                  <a:lnTo>
                    <a:pt x="1129769" y="284118"/>
                  </a:lnTo>
                  <a:lnTo>
                    <a:pt x="1127144" y="285206"/>
                  </a:lnTo>
                  <a:lnTo>
                    <a:pt x="1124410" y="285750"/>
                  </a:lnTo>
                  <a:lnTo>
                    <a:pt x="1121568" y="285750"/>
                  </a:lnTo>
                  <a:lnTo>
                    <a:pt x="21431" y="285750"/>
                  </a:lnTo>
                  <a:lnTo>
                    <a:pt x="18589" y="285750"/>
                  </a:lnTo>
                  <a:lnTo>
                    <a:pt x="15855" y="285206"/>
                  </a:lnTo>
                  <a:lnTo>
                    <a:pt x="1631" y="272519"/>
                  </a:lnTo>
                  <a:lnTo>
                    <a:pt x="543" y="269894"/>
                  </a:lnTo>
                  <a:lnTo>
                    <a:pt x="0" y="267160"/>
                  </a:lnTo>
                  <a:lnTo>
                    <a:pt x="0" y="264318"/>
                  </a:lnTo>
                  <a:lnTo>
                    <a:pt x="0" y="21431"/>
                  </a:lnTo>
                  <a:lnTo>
                    <a:pt x="6277" y="6276"/>
                  </a:lnTo>
                  <a:lnTo>
                    <a:pt x="8286" y="4267"/>
                  </a:lnTo>
                  <a:lnTo>
                    <a:pt x="10604" y="2718"/>
                  </a:lnTo>
                  <a:lnTo>
                    <a:pt x="13229" y="1631"/>
                  </a:lnTo>
                  <a:lnTo>
                    <a:pt x="15855" y="543"/>
                  </a:lnTo>
                  <a:lnTo>
                    <a:pt x="18589" y="0"/>
                  </a:lnTo>
                  <a:lnTo>
                    <a:pt x="21431" y="0"/>
                  </a:lnTo>
                  <a:close/>
                </a:path>
              </a:pathLst>
            </a:custGeom>
            <a:ln w="10715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7804348" y="7009486"/>
            <a:ext cx="698500" cy="14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50">
                <a:solidFill>
                  <a:srgbClr val="333333"/>
                </a:solidFill>
                <a:latin typeface="Roboto"/>
                <a:cs typeface="Roboto"/>
              </a:rPr>
              <a:t>ABC</a:t>
            </a:r>
            <a:r>
              <a:rPr dirty="0" sz="75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750" spc="-40">
                <a:solidFill>
                  <a:srgbClr val="333333"/>
                </a:solidFill>
                <a:latin typeface="Roboto"/>
                <a:cs typeface="Roboto"/>
              </a:rPr>
              <a:t>Optimization</a:t>
            </a:r>
            <a:endParaRPr sz="750">
              <a:latin typeface="Roboto"/>
              <a:cs typeface="Roboto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6972895" y="5862002"/>
            <a:ext cx="2361565" cy="1087120"/>
            <a:chOff x="6972895" y="5862002"/>
            <a:chExt cx="2361565" cy="1087120"/>
          </a:xfrm>
        </p:grpSpPr>
        <p:sp>
          <p:nvSpPr>
            <p:cNvPr id="36" name="object 36" descr=""/>
            <p:cNvSpPr/>
            <p:nvPr/>
          </p:nvSpPr>
          <p:spPr>
            <a:xfrm>
              <a:off x="7010399" y="5867399"/>
              <a:ext cx="0" cy="428625"/>
            </a:xfrm>
            <a:custGeom>
              <a:avLst/>
              <a:gdLst/>
              <a:ahLst/>
              <a:cxnLst/>
              <a:rect l="l" t="t" r="r" b="b"/>
              <a:pathLst>
                <a:path w="0" h="428625">
                  <a:moveTo>
                    <a:pt x="0" y="0"/>
                  </a:moveTo>
                  <a:lnTo>
                    <a:pt x="0" y="428625"/>
                  </a:lnTo>
                </a:path>
              </a:pathLst>
            </a:custGeom>
            <a:ln w="1071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6972895" y="6199584"/>
              <a:ext cx="75565" cy="107314"/>
            </a:xfrm>
            <a:custGeom>
              <a:avLst/>
              <a:gdLst/>
              <a:ahLst/>
              <a:cxnLst/>
              <a:rect l="l" t="t" r="r" b="b"/>
              <a:pathLst>
                <a:path w="75565" h="107314">
                  <a:moveTo>
                    <a:pt x="0" y="0"/>
                  </a:moveTo>
                  <a:lnTo>
                    <a:pt x="75009" y="0"/>
                  </a:lnTo>
                  <a:lnTo>
                    <a:pt x="37504" y="1071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9296400" y="5867399"/>
              <a:ext cx="0" cy="428625"/>
            </a:xfrm>
            <a:custGeom>
              <a:avLst/>
              <a:gdLst/>
              <a:ahLst/>
              <a:cxnLst/>
              <a:rect l="l" t="t" r="r" b="b"/>
              <a:pathLst>
                <a:path w="0" h="428625">
                  <a:moveTo>
                    <a:pt x="0" y="0"/>
                  </a:moveTo>
                  <a:lnTo>
                    <a:pt x="0" y="428625"/>
                  </a:lnTo>
                </a:path>
              </a:pathLst>
            </a:custGeom>
            <a:ln w="1071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9258895" y="6199584"/>
              <a:ext cx="75565" cy="107314"/>
            </a:xfrm>
            <a:custGeom>
              <a:avLst/>
              <a:gdLst/>
              <a:ahLst/>
              <a:cxnLst/>
              <a:rect l="l" t="t" r="r" b="b"/>
              <a:pathLst>
                <a:path w="75565" h="107314">
                  <a:moveTo>
                    <a:pt x="0" y="0"/>
                  </a:moveTo>
                  <a:lnTo>
                    <a:pt x="75009" y="0"/>
                  </a:lnTo>
                  <a:lnTo>
                    <a:pt x="37504" y="1071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7153274" y="6653212"/>
              <a:ext cx="1000125" cy="285750"/>
            </a:xfrm>
            <a:custGeom>
              <a:avLst/>
              <a:gdLst/>
              <a:ahLst/>
              <a:cxnLst/>
              <a:rect l="l" t="t" r="r" b="b"/>
              <a:pathLst>
                <a:path w="1000125" h="285750">
                  <a:moveTo>
                    <a:pt x="0" y="0"/>
                  </a:moveTo>
                  <a:lnTo>
                    <a:pt x="1000125" y="285750"/>
                  </a:lnTo>
                </a:path>
              </a:pathLst>
            </a:custGeom>
            <a:ln w="1071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8050365" y="6876405"/>
              <a:ext cx="113664" cy="72390"/>
            </a:xfrm>
            <a:custGeom>
              <a:avLst/>
              <a:gdLst/>
              <a:ahLst/>
              <a:cxnLst/>
              <a:rect l="l" t="t" r="r" b="b"/>
              <a:pathLst>
                <a:path w="113665" h="72390">
                  <a:moveTo>
                    <a:pt x="0" y="72123"/>
                  </a:moveTo>
                  <a:lnTo>
                    <a:pt x="20606" y="0"/>
                  </a:lnTo>
                  <a:lnTo>
                    <a:pt x="113336" y="65499"/>
                  </a:lnTo>
                  <a:lnTo>
                    <a:pt x="0" y="72123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8153400" y="6653212"/>
              <a:ext cx="1000125" cy="285750"/>
            </a:xfrm>
            <a:custGeom>
              <a:avLst/>
              <a:gdLst/>
              <a:ahLst/>
              <a:cxnLst/>
              <a:rect l="l" t="t" r="r" b="b"/>
              <a:pathLst>
                <a:path w="1000125" h="285750">
                  <a:moveTo>
                    <a:pt x="1000125" y="0"/>
                  </a:moveTo>
                  <a:lnTo>
                    <a:pt x="0" y="285750"/>
                  </a:lnTo>
                </a:path>
              </a:pathLst>
            </a:custGeom>
            <a:ln w="1071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8143098" y="6876405"/>
              <a:ext cx="113664" cy="72390"/>
            </a:xfrm>
            <a:custGeom>
              <a:avLst/>
              <a:gdLst/>
              <a:ahLst/>
              <a:cxnLst/>
              <a:rect l="l" t="t" r="r" b="b"/>
              <a:pathLst>
                <a:path w="113665" h="72390">
                  <a:moveTo>
                    <a:pt x="92729" y="0"/>
                  </a:moveTo>
                  <a:lnTo>
                    <a:pt x="113336" y="72123"/>
                  </a:lnTo>
                  <a:lnTo>
                    <a:pt x="0" y="65499"/>
                  </a:lnTo>
                  <a:lnTo>
                    <a:pt x="92729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 descr=""/>
          <p:cNvSpPr txBox="1"/>
          <p:nvPr/>
        </p:nvSpPr>
        <p:spPr>
          <a:xfrm>
            <a:off x="6461918" y="5330705"/>
            <a:ext cx="704850" cy="321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869"/>
              </a:lnSpc>
              <a:spcBef>
                <a:spcPts val="100"/>
              </a:spcBef>
            </a:pPr>
            <a:r>
              <a:rPr dirty="0" sz="750" spc="-20">
                <a:solidFill>
                  <a:srgbClr val="E11C48"/>
                </a:solidFill>
                <a:latin typeface="Roboto"/>
                <a:cs typeface="Roboto"/>
              </a:rPr>
              <a:t>Load</a:t>
            </a:r>
            <a:endParaRPr sz="750">
              <a:latin typeface="Roboto"/>
              <a:cs typeface="Roboto"/>
            </a:endParaRPr>
          </a:p>
          <a:p>
            <a:pPr marL="12700">
              <a:lnSpc>
                <a:spcPts val="655"/>
              </a:lnSpc>
            </a:pPr>
            <a:r>
              <a:rPr dirty="0" sz="750" spc="-10">
                <a:solidFill>
                  <a:srgbClr val="E11C48"/>
                </a:solidFill>
                <a:latin typeface="Roboto"/>
                <a:cs typeface="Roboto"/>
              </a:rPr>
              <a:t>Disturbance</a:t>
            </a:r>
            <a:endParaRPr sz="750">
              <a:latin typeface="Roboto"/>
              <a:cs typeface="Roboto"/>
            </a:endParaRPr>
          </a:p>
          <a:p>
            <a:pPr marL="404495">
              <a:lnSpc>
                <a:spcPts val="800"/>
              </a:lnSpc>
            </a:pPr>
            <a:r>
              <a:rPr dirty="0" sz="850" spc="-45">
                <a:solidFill>
                  <a:srgbClr val="0045A5"/>
                </a:solidFill>
                <a:latin typeface="Roboto"/>
                <a:cs typeface="Roboto"/>
              </a:rPr>
              <a:t>Area</a:t>
            </a:r>
            <a:r>
              <a:rPr dirty="0" sz="850" spc="15">
                <a:solidFill>
                  <a:srgbClr val="0045A5"/>
                </a:solidFill>
                <a:latin typeface="Roboto"/>
                <a:cs typeface="Roboto"/>
              </a:rPr>
              <a:t> </a:t>
            </a:r>
            <a:r>
              <a:rPr dirty="0" sz="850" spc="-50">
                <a:solidFill>
                  <a:srgbClr val="0045A5"/>
                </a:solidFill>
                <a:latin typeface="Roboto"/>
                <a:cs typeface="Roboto"/>
              </a:rPr>
              <a:t>1</a:t>
            </a:r>
            <a:endParaRPr sz="850">
              <a:latin typeface="Roboto"/>
              <a:cs typeface="Roboto"/>
            </a:endParaRPr>
          </a:p>
        </p:txBody>
      </p:sp>
      <p:grpSp>
        <p:nvGrpSpPr>
          <p:cNvPr id="45" name="object 45" descr=""/>
          <p:cNvGrpSpPr/>
          <p:nvPr/>
        </p:nvGrpSpPr>
        <p:grpSpPr>
          <a:xfrm>
            <a:off x="6653212" y="5436988"/>
            <a:ext cx="3072130" cy="75565"/>
            <a:chOff x="6653212" y="5436988"/>
            <a:chExt cx="3072130" cy="75565"/>
          </a:xfrm>
        </p:grpSpPr>
        <p:sp>
          <p:nvSpPr>
            <p:cNvPr id="46" name="object 46" descr=""/>
            <p:cNvSpPr/>
            <p:nvPr/>
          </p:nvSpPr>
          <p:spPr>
            <a:xfrm>
              <a:off x="6653212" y="5474493"/>
              <a:ext cx="214629" cy="0"/>
            </a:xfrm>
            <a:custGeom>
              <a:avLst/>
              <a:gdLst/>
              <a:ahLst/>
              <a:cxnLst/>
              <a:rect l="l" t="t" r="r" b="b"/>
              <a:pathLst>
                <a:path w="214629" h="0">
                  <a:moveTo>
                    <a:pt x="0" y="0"/>
                  </a:moveTo>
                  <a:lnTo>
                    <a:pt x="214312" y="0"/>
                  </a:lnTo>
                </a:path>
              </a:pathLst>
            </a:custGeom>
            <a:ln w="10715">
              <a:solidFill>
                <a:srgbClr val="E11C4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6771084" y="5436988"/>
              <a:ext cx="107314" cy="75565"/>
            </a:xfrm>
            <a:custGeom>
              <a:avLst/>
              <a:gdLst/>
              <a:ahLst/>
              <a:cxnLst/>
              <a:rect l="l" t="t" r="r" b="b"/>
              <a:pathLst>
                <a:path w="107315" h="75564">
                  <a:moveTo>
                    <a:pt x="0" y="75009"/>
                  </a:moveTo>
                  <a:lnTo>
                    <a:pt x="0" y="0"/>
                  </a:lnTo>
                  <a:lnTo>
                    <a:pt x="107156" y="37504"/>
                  </a:lnTo>
                  <a:lnTo>
                    <a:pt x="0" y="75009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9439275" y="5474493"/>
              <a:ext cx="285750" cy="0"/>
            </a:xfrm>
            <a:custGeom>
              <a:avLst/>
              <a:gdLst/>
              <a:ahLst/>
              <a:cxnLst/>
              <a:rect l="l" t="t" r="r" b="b"/>
              <a:pathLst>
                <a:path w="285750" h="0">
                  <a:moveTo>
                    <a:pt x="285750" y="0"/>
                  </a:moveTo>
                  <a:lnTo>
                    <a:pt x="0" y="0"/>
                  </a:lnTo>
                </a:path>
              </a:pathLst>
            </a:custGeom>
            <a:ln w="10715">
              <a:solidFill>
                <a:srgbClr val="E11C4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9428559" y="5436988"/>
              <a:ext cx="107314" cy="75565"/>
            </a:xfrm>
            <a:custGeom>
              <a:avLst/>
              <a:gdLst/>
              <a:ahLst/>
              <a:cxnLst/>
              <a:rect l="l" t="t" r="r" b="b"/>
              <a:pathLst>
                <a:path w="107315" h="75564">
                  <a:moveTo>
                    <a:pt x="107156" y="0"/>
                  </a:moveTo>
                  <a:lnTo>
                    <a:pt x="107156" y="75009"/>
                  </a:lnTo>
                  <a:lnTo>
                    <a:pt x="0" y="37504"/>
                  </a:lnTo>
                  <a:lnTo>
                    <a:pt x="107156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 descr=""/>
          <p:cNvSpPr txBox="1"/>
          <p:nvPr/>
        </p:nvSpPr>
        <p:spPr>
          <a:xfrm>
            <a:off x="9783761" y="5330705"/>
            <a:ext cx="299720" cy="24701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 marR="5080">
              <a:lnSpc>
                <a:spcPts val="840"/>
              </a:lnSpc>
              <a:spcBef>
                <a:spcPts val="175"/>
              </a:spcBef>
            </a:pPr>
            <a:r>
              <a:rPr dirty="0" sz="750" spc="-20">
                <a:solidFill>
                  <a:srgbClr val="E11C48"/>
                </a:solidFill>
                <a:latin typeface="Roboto"/>
                <a:cs typeface="Roboto"/>
              </a:rPr>
              <a:t>Load</a:t>
            </a:r>
            <a:r>
              <a:rPr dirty="0" sz="750" spc="500">
                <a:solidFill>
                  <a:srgbClr val="E11C48"/>
                </a:solidFill>
                <a:latin typeface="Roboto"/>
                <a:cs typeface="Roboto"/>
              </a:rPr>
              <a:t> </a:t>
            </a:r>
            <a:r>
              <a:rPr dirty="0" sz="750" spc="-40">
                <a:solidFill>
                  <a:srgbClr val="E11C48"/>
                </a:solidFill>
                <a:latin typeface="Roboto"/>
                <a:cs typeface="Roboto"/>
              </a:rPr>
              <a:t>Disturb</a:t>
            </a:r>
            <a:endParaRPr sz="750">
              <a:latin typeface="Roboto"/>
              <a:cs typeface="Roboto"/>
            </a:endParaRPr>
          </a:p>
        </p:txBody>
      </p:sp>
      <p:sp>
        <p:nvSpPr>
          <p:cNvPr id="51" name="object 51" descr=""/>
          <p:cNvSpPr/>
          <p:nvPr/>
        </p:nvSpPr>
        <p:spPr>
          <a:xfrm>
            <a:off x="11125187" y="552779"/>
            <a:ext cx="242570" cy="100330"/>
          </a:xfrm>
          <a:custGeom>
            <a:avLst/>
            <a:gdLst/>
            <a:ahLst/>
            <a:cxnLst/>
            <a:rect l="l" t="t" r="r" b="b"/>
            <a:pathLst>
              <a:path w="242570" h="100329">
                <a:moveTo>
                  <a:pt x="48107" y="393"/>
                </a:moveTo>
                <a:lnTo>
                  <a:pt x="0" y="393"/>
                </a:lnTo>
                <a:lnTo>
                  <a:pt x="0" y="13093"/>
                </a:lnTo>
                <a:lnTo>
                  <a:pt x="0" y="43573"/>
                </a:lnTo>
                <a:lnTo>
                  <a:pt x="0" y="56273"/>
                </a:lnTo>
                <a:lnTo>
                  <a:pt x="0" y="99453"/>
                </a:lnTo>
                <a:lnTo>
                  <a:pt x="15989" y="99453"/>
                </a:lnTo>
                <a:lnTo>
                  <a:pt x="15989" y="56273"/>
                </a:lnTo>
                <a:lnTo>
                  <a:pt x="44869" y="56273"/>
                </a:lnTo>
                <a:lnTo>
                  <a:pt x="44869" y="43573"/>
                </a:lnTo>
                <a:lnTo>
                  <a:pt x="15989" y="43573"/>
                </a:lnTo>
                <a:lnTo>
                  <a:pt x="15989" y="13093"/>
                </a:lnTo>
                <a:lnTo>
                  <a:pt x="48107" y="13093"/>
                </a:lnTo>
                <a:lnTo>
                  <a:pt x="48107" y="393"/>
                </a:lnTo>
                <a:close/>
              </a:path>
              <a:path w="242570" h="100329">
                <a:moveTo>
                  <a:pt x="77597" y="0"/>
                </a:moveTo>
                <a:lnTo>
                  <a:pt x="61620" y="0"/>
                </a:lnTo>
                <a:lnTo>
                  <a:pt x="61620" y="99847"/>
                </a:lnTo>
                <a:lnTo>
                  <a:pt x="77597" y="99847"/>
                </a:lnTo>
                <a:lnTo>
                  <a:pt x="77597" y="0"/>
                </a:lnTo>
                <a:close/>
              </a:path>
              <a:path w="242570" h="100329">
                <a:moveTo>
                  <a:pt x="144843" y="393"/>
                </a:moveTo>
                <a:lnTo>
                  <a:pt x="96748" y="393"/>
                </a:lnTo>
                <a:lnTo>
                  <a:pt x="96748" y="13093"/>
                </a:lnTo>
                <a:lnTo>
                  <a:pt x="96748" y="43573"/>
                </a:lnTo>
                <a:lnTo>
                  <a:pt x="96748" y="56273"/>
                </a:lnTo>
                <a:lnTo>
                  <a:pt x="96748" y="86753"/>
                </a:lnTo>
                <a:lnTo>
                  <a:pt x="96748" y="99453"/>
                </a:lnTo>
                <a:lnTo>
                  <a:pt x="144843" y="99453"/>
                </a:lnTo>
                <a:lnTo>
                  <a:pt x="144843" y="86753"/>
                </a:lnTo>
                <a:lnTo>
                  <a:pt x="112725" y="86753"/>
                </a:lnTo>
                <a:lnTo>
                  <a:pt x="112725" y="56273"/>
                </a:lnTo>
                <a:lnTo>
                  <a:pt x="141605" y="56273"/>
                </a:lnTo>
                <a:lnTo>
                  <a:pt x="141605" y="43573"/>
                </a:lnTo>
                <a:lnTo>
                  <a:pt x="112725" y="43573"/>
                </a:lnTo>
                <a:lnTo>
                  <a:pt x="112725" y="13093"/>
                </a:lnTo>
                <a:lnTo>
                  <a:pt x="144843" y="13093"/>
                </a:lnTo>
                <a:lnTo>
                  <a:pt x="144843" y="393"/>
                </a:lnTo>
                <a:close/>
              </a:path>
              <a:path w="242570" h="100329">
                <a:moveTo>
                  <a:pt x="208483" y="393"/>
                </a:moveTo>
                <a:lnTo>
                  <a:pt x="160375" y="393"/>
                </a:lnTo>
                <a:lnTo>
                  <a:pt x="160375" y="13093"/>
                </a:lnTo>
                <a:lnTo>
                  <a:pt x="160375" y="43573"/>
                </a:lnTo>
                <a:lnTo>
                  <a:pt x="160375" y="56273"/>
                </a:lnTo>
                <a:lnTo>
                  <a:pt x="160375" y="86753"/>
                </a:lnTo>
                <a:lnTo>
                  <a:pt x="160375" y="99453"/>
                </a:lnTo>
                <a:lnTo>
                  <a:pt x="208483" y="99453"/>
                </a:lnTo>
                <a:lnTo>
                  <a:pt x="208483" y="86753"/>
                </a:lnTo>
                <a:lnTo>
                  <a:pt x="176364" y="86753"/>
                </a:lnTo>
                <a:lnTo>
                  <a:pt x="176364" y="56273"/>
                </a:lnTo>
                <a:lnTo>
                  <a:pt x="205244" y="56273"/>
                </a:lnTo>
                <a:lnTo>
                  <a:pt x="205244" y="43573"/>
                </a:lnTo>
                <a:lnTo>
                  <a:pt x="176364" y="43573"/>
                </a:lnTo>
                <a:lnTo>
                  <a:pt x="176364" y="13093"/>
                </a:lnTo>
                <a:lnTo>
                  <a:pt x="208483" y="13093"/>
                </a:lnTo>
                <a:lnTo>
                  <a:pt x="208483" y="393"/>
                </a:lnTo>
                <a:close/>
              </a:path>
              <a:path w="242570" h="100329">
                <a:moveTo>
                  <a:pt x="242557" y="0"/>
                </a:moveTo>
                <a:lnTo>
                  <a:pt x="226580" y="0"/>
                </a:lnTo>
                <a:lnTo>
                  <a:pt x="226580" y="99847"/>
                </a:lnTo>
                <a:lnTo>
                  <a:pt x="242557" y="99847"/>
                </a:lnTo>
                <a:lnTo>
                  <a:pt x="242557" y="0"/>
                </a:lnTo>
                <a:close/>
              </a:path>
            </a:pathLst>
          </a:custGeom>
          <a:solidFill>
            <a:srgbClr val="0045A5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2" name="object 52" descr=""/>
          <p:cNvGrpSpPr/>
          <p:nvPr/>
        </p:nvGrpSpPr>
        <p:grpSpPr>
          <a:xfrm>
            <a:off x="10544174" y="7505700"/>
            <a:ext cx="1457325" cy="323850"/>
            <a:chOff x="10544174" y="7505700"/>
            <a:chExt cx="1457325" cy="323850"/>
          </a:xfrm>
        </p:grpSpPr>
        <p:sp>
          <p:nvSpPr>
            <p:cNvPr id="53" name="object 53" descr=""/>
            <p:cNvSpPr/>
            <p:nvPr/>
          </p:nvSpPr>
          <p:spPr>
            <a:xfrm>
              <a:off x="10544174" y="7505700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58474" y="7600949"/>
              <a:ext cx="133349" cy="133349"/>
            </a:xfrm>
            <a:prstGeom prst="rect">
              <a:avLst/>
            </a:prstGeom>
          </p:spPr>
        </p:pic>
      </p:grpSp>
      <p:sp>
        <p:nvSpPr>
          <p:cNvPr id="55" name="object 55" descr=""/>
          <p:cNvSpPr txBox="1"/>
          <p:nvPr/>
        </p:nvSpPr>
        <p:spPr>
          <a:xfrm>
            <a:off x="10833000" y="7607300"/>
            <a:ext cx="1066800" cy="1346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75"/>
              </a:lnSpc>
            </a:pPr>
            <a:r>
              <a:rPr dirty="0" sz="1000" spc="-75">
                <a:solidFill>
                  <a:srgbClr val="FFFFFF"/>
                </a:solidFill>
                <a:latin typeface="Roboto"/>
                <a:cs typeface="Roboto"/>
              </a:rPr>
              <a:t>Made</a:t>
            </a:r>
            <a:r>
              <a:rPr dirty="0" sz="10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FFFFFF"/>
                </a:solidFill>
                <a:latin typeface="Roboto"/>
                <a:cs typeface="Roboto"/>
              </a:rPr>
              <a:t>with</a:t>
            </a:r>
            <a:r>
              <a:rPr dirty="0" sz="10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FFFFFF"/>
                </a:solidFill>
                <a:latin typeface="Roboto"/>
                <a:cs typeface="Roboto"/>
              </a:rPr>
              <a:t>Genspark</a:t>
            </a:r>
            <a:endParaRPr sz="10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7610474"/>
            <a:ext cx="12192000" cy="114300"/>
          </a:xfrm>
          <a:custGeom>
            <a:avLst/>
            <a:gdLst/>
            <a:ahLst/>
            <a:cxnLst/>
            <a:rect l="l" t="t" r="r" b="b"/>
            <a:pathLst>
              <a:path w="12192000" h="114300">
                <a:moveTo>
                  <a:pt x="12191999" y="114299"/>
                </a:moveTo>
                <a:lnTo>
                  <a:pt x="0" y="1142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114299"/>
                </a:lnTo>
                <a:close/>
              </a:path>
            </a:pathLst>
          </a:custGeom>
          <a:solidFill>
            <a:srgbClr val="0045A5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914399" y="5019674"/>
            <a:ext cx="3838575" cy="1981200"/>
            <a:chOff x="914399" y="5019674"/>
            <a:chExt cx="3838575" cy="1981200"/>
          </a:xfrm>
        </p:grpSpPr>
        <p:sp>
          <p:nvSpPr>
            <p:cNvPr id="4" name="object 4" descr=""/>
            <p:cNvSpPr/>
            <p:nvPr/>
          </p:nvSpPr>
          <p:spPr>
            <a:xfrm>
              <a:off x="919162" y="5024437"/>
              <a:ext cx="3829050" cy="1971675"/>
            </a:xfrm>
            <a:custGeom>
              <a:avLst/>
              <a:gdLst/>
              <a:ahLst/>
              <a:cxnLst/>
              <a:rect l="l" t="t" r="r" b="b"/>
              <a:pathLst>
                <a:path w="3829050" h="1971675">
                  <a:moveTo>
                    <a:pt x="3762302" y="1971674"/>
                  </a:moveTo>
                  <a:lnTo>
                    <a:pt x="66746" y="1971674"/>
                  </a:lnTo>
                  <a:lnTo>
                    <a:pt x="62101" y="1971216"/>
                  </a:lnTo>
                  <a:lnTo>
                    <a:pt x="24240" y="1954067"/>
                  </a:lnTo>
                  <a:lnTo>
                    <a:pt x="2287" y="1918774"/>
                  </a:lnTo>
                  <a:lnTo>
                    <a:pt x="0" y="1904927"/>
                  </a:lnTo>
                  <a:lnTo>
                    <a:pt x="0" y="19002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2" y="3642"/>
                  </a:lnTo>
                  <a:lnTo>
                    <a:pt x="66746" y="0"/>
                  </a:lnTo>
                  <a:lnTo>
                    <a:pt x="3762302" y="0"/>
                  </a:lnTo>
                  <a:lnTo>
                    <a:pt x="3801200" y="14644"/>
                  </a:lnTo>
                  <a:lnTo>
                    <a:pt x="3825406" y="48432"/>
                  </a:lnTo>
                  <a:lnTo>
                    <a:pt x="3829049" y="66746"/>
                  </a:lnTo>
                  <a:lnTo>
                    <a:pt x="3829049" y="1904927"/>
                  </a:lnTo>
                  <a:lnTo>
                    <a:pt x="3814404" y="1943824"/>
                  </a:lnTo>
                  <a:lnTo>
                    <a:pt x="3780616" y="1968031"/>
                  </a:lnTo>
                  <a:lnTo>
                    <a:pt x="3766948" y="1971216"/>
                  </a:lnTo>
                  <a:lnTo>
                    <a:pt x="3762302" y="1971674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19162" y="5024437"/>
              <a:ext cx="3829050" cy="1971675"/>
            </a:xfrm>
            <a:custGeom>
              <a:avLst/>
              <a:gdLst/>
              <a:ahLst/>
              <a:cxnLst/>
              <a:rect l="l" t="t" r="r" b="b"/>
              <a:pathLst>
                <a:path w="3829050" h="1971675">
                  <a:moveTo>
                    <a:pt x="0" y="19002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499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4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39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44099" y="5437"/>
                  </a:lnTo>
                  <a:lnTo>
                    <a:pt x="48432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3757612" y="0"/>
                  </a:lnTo>
                  <a:lnTo>
                    <a:pt x="3762302" y="0"/>
                  </a:lnTo>
                  <a:lnTo>
                    <a:pt x="3766948" y="457"/>
                  </a:lnTo>
                  <a:lnTo>
                    <a:pt x="3771548" y="1372"/>
                  </a:lnTo>
                  <a:lnTo>
                    <a:pt x="3776149" y="2287"/>
                  </a:lnTo>
                  <a:lnTo>
                    <a:pt x="3780616" y="3642"/>
                  </a:lnTo>
                  <a:lnTo>
                    <a:pt x="3784949" y="5437"/>
                  </a:lnTo>
                  <a:lnTo>
                    <a:pt x="3789283" y="7232"/>
                  </a:lnTo>
                  <a:lnTo>
                    <a:pt x="3817010" y="31748"/>
                  </a:lnTo>
                  <a:lnTo>
                    <a:pt x="3819615" y="35648"/>
                  </a:lnTo>
                  <a:lnTo>
                    <a:pt x="3829049" y="71437"/>
                  </a:lnTo>
                  <a:lnTo>
                    <a:pt x="3829049" y="1900237"/>
                  </a:lnTo>
                  <a:lnTo>
                    <a:pt x="3817010" y="1939925"/>
                  </a:lnTo>
                  <a:lnTo>
                    <a:pt x="3797300" y="1959634"/>
                  </a:lnTo>
                  <a:lnTo>
                    <a:pt x="3793400" y="1962240"/>
                  </a:lnTo>
                  <a:lnTo>
                    <a:pt x="3757612" y="1971674"/>
                  </a:lnTo>
                  <a:lnTo>
                    <a:pt x="71437" y="1971674"/>
                  </a:lnTo>
                  <a:lnTo>
                    <a:pt x="66746" y="1971674"/>
                  </a:lnTo>
                  <a:lnTo>
                    <a:pt x="62101" y="1971216"/>
                  </a:lnTo>
                  <a:lnTo>
                    <a:pt x="57500" y="1970301"/>
                  </a:lnTo>
                  <a:lnTo>
                    <a:pt x="52900" y="1969386"/>
                  </a:lnTo>
                  <a:lnTo>
                    <a:pt x="31748" y="1959634"/>
                  </a:lnTo>
                  <a:lnTo>
                    <a:pt x="27848" y="1957028"/>
                  </a:lnTo>
                  <a:lnTo>
                    <a:pt x="3642" y="1923240"/>
                  </a:lnTo>
                  <a:lnTo>
                    <a:pt x="0" y="1904927"/>
                  </a:lnTo>
                  <a:lnTo>
                    <a:pt x="0" y="1900237"/>
                  </a:lnTo>
                  <a:close/>
                </a:path>
              </a:pathLst>
            </a:custGeom>
            <a:ln w="9524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0"/>
              <a:t>Key</a:t>
            </a:r>
            <a:r>
              <a:rPr dirty="0" spc="-35"/>
              <a:t> </a:t>
            </a:r>
            <a:r>
              <a:rPr dirty="0" spc="-155"/>
              <a:t>Results:</a:t>
            </a:r>
            <a:r>
              <a:rPr dirty="0" spc="-30"/>
              <a:t> </a:t>
            </a:r>
            <a:r>
              <a:rPr dirty="0" spc="-150"/>
              <a:t>Frequency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901700" y="1253648"/>
            <a:ext cx="3004185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85" b="1">
                <a:solidFill>
                  <a:srgbClr val="0045A5"/>
                </a:solidFill>
                <a:latin typeface="Roboto"/>
                <a:cs typeface="Roboto"/>
              </a:rPr>
              <a:t>and</a:t>
            </a:r>
            <a:r>
              <a:rPr dirty="0" sz="3000" spc="-50" b="1">
                <a:solidFill>
                  <a:srgbClr val="0045A5"/>
                </a:solidFill>
                <a:latin typeface="Roboto"/>
                <a:cs typeface="Roboto"/>
              </a:rPr>
              <a:t> </a:t>
            </a:r>
            <a:r>
              <a:rPr dirty="0" sz="3000" spc="-195" b="1">
                <a:solidFill>
                  <a:srgbClr val="0045A5"/>
                </a:solidFill>
                <a:latin typeface="Roboto"/>
                <a:cs typeface="Roboto"/>
              </a:rPr>
              <a:t>Power</a:t>
            </a:r>
            <a:r>
              <a:rPr dirty="0" sz="3000" spc="-45" b="1">
                <a:solidFill>
                  <a:srgbClr val="0045A5"/>
                </a:solidFill>
                <a:latin typeface="Roboto"/>
                <a:cs typeface="Roboto"/>
              </a:rPr>
              <a:t> </a:t>
            </a:r>
            <a:r>
              <a:rPr dirty="0" sz="3000" spc="-114" b="1">
                <a:solidFill>
                  <a:srgbClr val="0045A5"/>
                </a:solidFill>
                <a:latin typeface="Roboto"/>
                <a:cs typeface="Roboto"/>
              </a:rPr>
              <a:t>Stability</a:t>
            </a:r>
            <a:endParaRPr sz="3000">
              <a:latin typeface="Roboto"/>
              <a:cs typeface="Roboto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2480071"/>
            <a:ext cx="209550" cy="183356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267370" y="2035022"/>
            <a:ext cx="3364229" cy="98742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just" marL="12700" marR="5080">
              <a:lnSpc>
                <a:spcPct val="113199"/>
              </a:lnSpc>
              <a:spcBef>
                <a:spcPts val="130"/>
              </a:spcBef>
            </a:pPr>
            <a:r>
              <a:rPr dirty="0" sz="1850" spc="-110">
                <a:latin typeface="Roboto"/>
                <a:cs typeface="Roboto"/>
              </a:rPr>
              <a:t>ABC-</a:t>
            </a:r>
            <a:r>
              <a:rPr dirty="0" sz="1850" spc="-95">
                <a:latin typeface="Roboto"/>
                <a:cs typeface="Roboto"/>
              </a:rPr>
              <a:t>Fuzzy-</a:t>
            </a:r>
            <a:r>
              <a:rPr dirty="0" sz="1850" spc="-114">
                <a:latin typeface="Roboto"/>
                <a:cs typeface="Roboto"/>
              </a:rPr>
              <a:t>PID</a:t>
            </a:r>
            <a:r>
              <a:rPr dirty="0" sz="1850" spc="30">
                <a:latin typeface="Roboto"/>
                <a:cs typeface="Roboto"/>
              </a:rPr>
              <a:t> </a:t>
            </a:r>
            <a:r>
              <a:rPr dirty="0" sz="1850" spc="-85">
                <a:latin typeface="Roboto"/>
                <a:cs typeface="Roboto"/>
              </a:rPr>
              <a:t>yields</a:t>
            </a:r>
            <a:r>
              <a:rPr dirty="0" sz="1850" spc="35">
                <a:latin typeface="Roboto"/>
                <a:cs typeface="Roboto"/>
              </a:rPr>
              <a:t> </a:t>
            </a:r>
            <a:r>
              <a:rPr dirty="0" sz="1850" spc="-120">
                <a:latin typeface="Roboto"/>
                <a:cs typeface="Roboto"/>
              </a:rPr>
              <a:t>65–80%</a:t>
            </a:r>
            <a:r>
              <a:rPr dirty="0" sz="1850" spc="30">
                <a:latin typeface="Roboto"/>
                <a:cs typeface="Roboto"/>
              </a:rPr>
              <a:t> </a:t>
            </a:r>
            <a:r>
              <a:rPr dirty="0" sz="1850" spc="-50">
                <a:latin typeface="Roboto"/>
                <a:cs typeface="Roboto"/>
              </a:rPr>
              <a:t>ITAE </a:t>
            </a:r>
            <a:r>
              <a:rPr dirty="0" sz="1850" spc="-114">
                <a:latin typeface="Roboto"/>
                <a:cs typeface="Roboto"/>
              </a:rPr>
              <a:t>improvement</a:t>
            </a:r>
            <a:r>
              <a:rPr dirty="0" sz="1850" spc="5">
                <a:latin typeface="Roboto"/>
                <a:cs typeface="Roboto"/>
              </a:rPr>
              <a:t> </a:t>
            </a:r>
            <a:r>
              <a:rPr dirty="0" sz="1850" spc="-95">
                <a:latin typeface="Roboto"/>
                <a:cs typeface="Roboto"/>
              </a:rPr>
              <a:t>vs.</a:t>
            </a:r>
            <a:r>
              <a:rPr dirty="0" sz="1850" spc="5">
                <a:latin typeface="Roboto"/>
                <a:cs typeface="Roboto"/>
              </a:rPr>
              <a:t> </a:t>
            </a:r>
            <a:r>
              <a:rPr dirty="0" sz="1850" spc="-85">
                <a:latin typeface="Roboto"/>
                <a:cs typeface="Roboto"/>
              </a:rPr>
              <a:t>classical</a:t>
            </a:r>
            <a:r>
              <a:rPr dirty="0" sz="1850" spc="5">
                <a:latin typeface="Roboto"/>
                <a:cs typeface="Roboto"/>
              </a:rPr>
              <a:t> </a:t>
            </a:r>
            <a:r>
              <a:rPr dirty="0" sz="1850" spc="-114">
                <a:latin typeface="Roboto"/>
                <a:cs typeface="Roboto"/>
              </a:rPr>
              <a:t>PID</a:t>
            </a:r>
            <a:r>
              <a:rPr dirty="0" sz="1850" spc="5">
                <a:latin typeface="Roboto"/>
                <a:cs typeface="Roboto"/>
              </a:rPr>
              <a:t> </a:t>
            </a:r>
            <a:r>
              <a:rPr dirty="0" sz="1850" spc="-85">
                <a:latin typeface="Roboto"/>
                <a:cs typeface="Roboto"/>
              </a:rPr>
              <a:t>in</a:t>
            </a:r>
            <a:r>
              <a:rPr dirty="0" sz="1850" spc="5">
                <a:latin typeface="Roboto"/>
                <a:cs typeface="Roboto"/>
              </a:rPr>
              <a:t> </a:t>
            </a:r>
            <a:r>
              <a:rPr dirty="0" sz="1850" spc="-25">
                <a:latin typeface="Roboto"/>
                <a:cs typeface="Roboto"/>
              </a:rPr>
              <a:t>all </a:t>
            </a:r>
            <a:r>
              <a:rPr dirty="0" sz="1850" spc="-10">
                <a:latin typeface="Roboto"/>
                <a:cs typeface="Roboto"/>
              </a:rPr>
              <a:t>scenarios</a:t>
            </a:r>
            <a:endParaRPr sz="1850">
              <a:latin typeface="Roboto"/>
              <a:cs typeface="Roboto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3077" y="3534088"/>
            <a:ext cx="239447" cy="133573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1294010" y="3235172"/>
            <a:ext cx="3214370" cy="6540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1500"/>
              </a:lnSpc>
              <a:spcBef>
                <a:spcPts val="95"/>
              </a:spcBef>
            </a:pPr>
            <a:r>
              <a:rPr dirty="0" sz="1850" spc="-95">
                <a:latin typeface="Roboto"/>
                <a:cs typeface="Roboto"/>
              </a:rPr>
              <a:t>Significant</a:t>
            </a:r>
            <a:r>
              <a:rPr dirty="0" sz="1850" spc="-20">
                <a:latin typeface="Roboto"/>
                <a:cs typeface="Roboto"/>
              </a:rPr>
              <a:t> </a:t>
            </a:r>
            <a:r>
              <a:rPr dirty="0" sz="1850" spc="-90">
                <a:latin typeface="Roboto"/>
                <a:cs typeface="Roboto"/>
              </a:rPr>
              <a:t>reduction</a:t>
            </a:r>
            <a:r>
              <a:rPr dirty="0" sz="1850" spc="-10">
                <a:latin typeface="Roboto"/>
                <a:cs typeface="Roboto"/>
              </a:rPr>
              <a:t> </a:t>
            </a:r>
            <a:r>
              <a:rPr dirty="0" sz="1850" spc="-75">
                <a:latin typeface="Roboto"/>
                <a:cs typeface="Roboto"/>
              </a:rPr>
              <a:t>in</a:t>
            </a:r>
            <a:r>
              <a:rPr dirty="0" sz="1850" spc="-5">
                <a:latin typeface="Roboto"/>
                <a:cs typeface="Roboto"/>
              </a:rPr>
              <a:t> </a:t>
            </a:r>
            <a:r>
              <a:rPr dirty="0" sz="1850" spc="-55">
                <a:latin typeface="Roboto"/>
                <a:cs typeface="Roboto"/>
              </a:rPr>
              <a:t>frequency </a:t>
            </a:r>
            <a:r>
              <a:rPr dirty="0" sz="1850" spc="-100">
                <a:latin typeface="Roboto"/>
                <a:cs typeface="Roboto"/>
              </a:rPr>
              <a:t>nadir,</a:t>
            </a:r>
            <a:r>
              <a:rPr dirty="0" sz="1850" spc="-15">
                <a:latin typeface="Roboto"/>
                <a:cs typeface="Roboto"/>
              </a:rPr>
              <a:t> </a:t>
            </a:r>
            <a:r>
              <a:rPr dirty="0" sz="1850" spc="-90">
                <a:latin typeface="Roboto"/>
                <a:cs typeface="Roboto"/>
              </a:rPr>
              <a:t>overshoot,</a:t>
            </a:r>
            <a:r>
              <a:rPr dirty="0" sz="1850" spc="-10">
                <a:latin typeface="Roboto"/>
                <a:cs typeface="Roboto"/>
              </a:rPr>
              <a:t> </a:t>
            </a:r>
            <a:r>
              <a:rPr dirty="0" sz="1850" spc="-110">
                <a:latin typeface="Roboto"/>
                <a:cs typeface="Roboto"/>
              </a:rPr>
              <a:t>and</a:t>
            </a:r>
            <a:r>
              <a:rPr dirty="0" sz="1850" spc="-15">
                <a:latin typeface="Roboto"/>
                <a:cs typeface="Roboto"/>
              </a:rPr>
              <a:t> </a:t>
            </a:r>
            <a:r>
              <a:rPr dirty="0" sz="1850" spc="-85">
                <a:latin typeface="Roboto"/>
                <a:cs typeface="Roboto"/>
              </a:rPr>
              <a:t>settling</a:t>
            </a:r>
            <a:r>
              <a:rPr dirty="0" sz="1850" spc="-10">
                <a:latin typeface="Roboto"/>
                <a:cs typeface="Roboto"/>
              </a:rPr>
              <a:t> </a:t>
            </a:r>
            <a:r>
              <a:rPr dirty="0" sz="1850" spc="-40">
                <a:latin typeface="Roboto"/>
                <a:cs typeface="Roboto"/>
              </a:rPr>
              <a:t>time</a:t>
            </a:r>
            <a:endParaRPr sz="1850">
              <a:latin typeface="Roboto"/>
              <a:cs typeface="Roboto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4400" y="4402145"/>
            <a:ext cx="238125" cy="132291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1294010" y="4092421"/>
            <a:ext cx="2251075" cy="6731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4900"/>
              </a:lnSpc>
              <a:spcBef>
                <a:spcPts val="95"/>
              </a:spcBef>
            </a:pPr>
            <a:r>
              <a:rPr dirty="0" sz="1850" spc="-125">
                <a:latin typeface="Roboto"/>
                <a:cs typeface="Roboto"/>
              </a:rPr>
              <a:t>SMES</a:t>
            </a:r>
            <a:r>
              <a:rPr dirty="0" sz="1850" spc="5">
                <a:latin typeface="Roboto"/>
                <a:cs typeface="Roboto"/>
              </a:rPr>
              <a:t> </a:t>
            </a:r>
            <a:r>
              <a:rPr dirty="0" sz="1850" spc="-85">
                <a:latin typeface="Roboto"/>
                <a:cs typeface="Roboto"/>
              </a:rPr>
              <a:t>further</a:t>
            </a:r>
            <a:r>
              <a:rPr dirty="0" sz="1850" spc="5">
                <a:latin typeface="Roboto"/>
                <a:cs typeface="Roboto"/>
              </a:rPr>
              <a:t> </a:t>
            </a:r>
            <a:r>
              <a:rPr dirty="0" sz="1850" spc="-95">
                <a:latin typeface="Roboto"/>
                <a:cs typeface="Roboto"/>
              </a:rPr>
              <a:t>enhances </a:t>
            </a:r>
            <a:r>
              <a:rPr dirty="0" sz="1850" spc="-100">
                <a:latin typeface="Roboto"/>
                <a:cs typeface="Roboto"/>
              </a:rPr>
              <a:t>performance</a:t>
            </a:r>
            <a:r>
              <a:rPr dirty="0" sz="1850" spc="-25">
                <a:latin typeface="Roboto"/>
                <a:cs typeface="Roboto"/>
              </a:rPr>
              <a:t> </a:t>
            </a:r>
            <a:r>
              <a:rPr dirty="0" sz="1850" spc="-10">
                <a:latin typeface="Roboto"/>
                <a:cs typeface="Roboto"/>
              </a:rPr>
              <a:t>stability</a:t>
            </a:r>
            <a:endParaRPr sz="1850">
              <a:latin typeface="Roboto"/>
              <a:cs typeface="Roboto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063625" y="5168661"/>
            <a:ext cx="200850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85" b="1">
                <a:solidFill>
                  <a:srgbClr val="374050"/>
                </a:solidFill>
                <a:latin typeface="Roboto"/>
                <a:cs typeface="Roboto"/>
              </a:rPr>
              <a:t>Performance</a:t>
            </a:r>
            <a:r>
              <a:rPr dirty="0" sz="1500" spc="-10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500" spc="-85" b="1">
                <a:solidFill>
                  <a:srgbClr val="374050"/>
                </a:solidFill>
                <a:latin typeface="Roboto"/>
                <a:cs typeface="Roboto"/>
              </a:rPr>
              <a:t>Comparison</a:t>
            </a:r>
            <a:endParaRPr sz="1500">
              <a:latin typeface="Roboto"/>
              <a:cs typeface="Roboto"/>
            </a:endParaRPr>
          </a:p>
        </p:txBody>
      </p:sp>
      <p:graphicFrame>
        <p:nvGraphicFramePr>
          <p:cNvPr id="15" name="object 15" descr=""/>
          <p:cNvGraphicFramePr>
            <a:graphicFrameLocks noGrp="1"/>
          </p:cNvGraphicFramePr>
          <p:nvPr/>
        </p:nvGraphicFramePr>
        <p:xfrm>
          <a:off x="1076324" y="5539797"/>
          <a:ext cx="3590925" cy="1235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4755"/>
                <a:gridCol w="686434"/>
                <a:gridCol w="337819"/>
                <a:gridCol w="1277620"/>
              </a:tblGrid>
              <a:tr h="265430">
                <a:tc>
                  <a:txBody>
                    <a:bodyPr/>
                    <a:lstStyle/>
                    <a:p>
                      <a:pPr marL="408940">
                        <a:lnSpc>
                          <a:spcPts val="1310"/>
                        </a:lnSpc>
                      </a:pPr>
                      <a:r>
                        <a:rPr dirty="0" sz="1150" spc="-10" b="1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Controller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0">
                    <a:lnB w="9525">
                      <a:solidFill>
                        <a:srgbClr val="E4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5280">
                        <a:lnSpc>
                          <a:spcPts val="1310"/>
                        </a:lnSpc>
                      </a:pPr>
                      <a:r>
                        <a:rPr dirty="0" sz="1150" spc="-20" b="1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ITAE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0">
                    <a:lnB w="9525">
                      <a:solidFill>
                        <a:srgbClr val="E4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E4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>
                        <a:lnSpc>
                          <a:spcPts val="1310"/>
                        </a:lnSpc>
                      </a:pPr>
                      <a:r>
                        <a:rPr dirty="0" sz="1150" spc="-50" b="1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Settling</a:t>
                      </a:r>
                      <a:r>
                        <a:rPr dirty="0" sz="1150" spc="-20" b="1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65" b="1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Time</a:t>
                      </a:r>
                      <a:r>
                        <a:rPr dirty="0" sz="1150" spc="15" b="1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25" b="1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(s)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0">
                    <a:lnB w="9525">
                      <a:solidFill>
                        <a:srgbClr val="E4E7EB"/>
                      </a:solidFill>
                      <a:prstDash val="solid"/>
                    </a:lnB>
                  </a:tcPr>
                </a:tc>
              </a:tr>
              <a:tr h="358775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150" spc="-25">
                          <a:latin typeface="Roboto"/>
                          <a:cs typeface="Roboto"/>
                        </a:rPr>
                        <a:t>PID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T w="9525">
                      <a:solidFill>
                        <a:srgbClr val="E4E7E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150" spc="-20">
                          <a:latin typeface="Roboto"/>
                          <a:cs typeface="Roboto"/>
                        </a:rPr>
                        <a:t>1.415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T w="9525">
                      <a:solidFill>
                        <a:srgbClr val="E4E7E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150" spc="-60">
                          <a:latin typeface="Roboto"/>
                          <a:cs typeface="Roboto"/>
                        </a:rPr>
                        <a:t>15.8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T w="9525">
                      <a:solidFill>
                        <a:srgbClr val="E4E7E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E4E7EB"/>
                      </a:solidFill>
                      <a:prstDash val="solid"/>
                    </a:lnT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150" spc="-60">
                          <a:latin typeface="Roboto"/>
                          <a:cs typeface="Roboto"/>
                        </a:rPr>
                        <a:t>Fuzzy-</a:t>
                      </a:r>
                      <a:r>
                        <a:rPr dirty="0" sz="1150" spc="-25">
                          <a:latin typeface="Roboto"/>
                          <a:cs typeface="Roboto"/>
                        </a:rPr>
                        <a:t>PID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61594"/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150" spc="-20">
                          <a:latin typeface="Roboto"/>
                          <a:cs typeface="Roboto"/>
                        </a:rPr>
                        <a:t>0.972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61594"/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150" spc="-25">
                          <a:latin typeface="Roboto"/>
                          <a:cs typeface="Roboto"/>
                        </a:rPr>
                        <a:t>9.7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61594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65430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40" b="0">
                          <a:solidFill>
                            <a:srgbClr val="1D40AF"/>
                          </a:solidFill>
                          <a:latin typeface="Roboto Medium"/>
                          <a:cs typeface="Roboto Medium"/>
                        </a:rPr>
                        <a:t>ABC-</a:t>
                      </a:r>
                      <a:r>
                        <a:rPr dirty="0" sz="1100" spc="-35" b="0">
                          <a:solidFill>
                            <a:srgbClr val="1D40AF"/>
                          </a:solidFill>
                          <a:latin typeface="Roboto Medium"/>
                          <a:cs typeface="Roboto Medium"/>
                        </a:rPr>
                        <a:t>Fuzzy-</a:t>
                      </a:r>
                      <a:r>
                        <a:rPr dirty="0" sz="1100" spc="-25" b="0">
                          <a:solidFill>
                            <a:srgbClr val="1D40AF"/>
                          </a:solidFill>
                          <a:latin typeface="Roboto Medium"/>
                          <a:cs typeface="Roboto Medium"/>
                        </a:rPr>
                        <a:t>PID</a:t>
                      </a:r>
                      <a:endParaRPr sz="1100">
                        <a:latin typeface="Roboto Medium"/>
                        <a:cs typeface="Roboto Medium"/>
                      </a:endParaRPr>
                    </a:p>
                  </a:txBody>
                  <a:tcPr marL="0" marR="0" marB="0" marT="65405"/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20" b="0">
                          <a:solidFill>
                            <a:srgbClr val="1D40AF"/>
                          </a:solidFill>
                          <a:latin typeface="Roboto Medium"/>
                          <a:cs typeface="Roboto Medium"/>
                        </a:rPr>
                        <a:t>0.485</a:t>
                      </a:r>
                      <a:endParaRPr sz="1100">
                        <a:latin typeface="Roboto Medium"/>
                        <a:cs typeface="Roboto Medium"/>
                      </a:endParaRPr>
                    </a:p>
                  </a:txBody>
                  <a:tcPr marL="0" marR="0" marB="0" marT="65405"/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25" b="0">
                          <a:solidFill>
                            <a:srgbClr val="1D40AF"/>
                          </a:solidFill>
                          <a:latin typeface="Roboto Medium"/>
                          <a:cs typeface="Roboto Medium"/>
                        </a:rPr>
                        <a:t>5.2</a:t>
                      </a:r>
                      <a:endParaRPr sz="1100">
                        <a:latin typeface="Roboto Medium"/>
                        <a:cs typeface="Roboto Medium"/>
                      </a:endParaRPr>
                    </a:p>
                  </a:txBody>
                  <a:tcPr marL="0" marR="0" marB="0" marT="6540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6" name="object 16" descr=""/>
          <p:cNvSpPr txBox="1"/>
          <p:nvPr/>
        </p:nvSpPr>
        <p:spPr>
          <a:xfrm>
            <a:off x="6864052" y="1549161"/>
            <a:ext cx="260921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85" b="1">
                <a:solidFill>
                  <a:srgbClr val="374050"/>
                </a:solidFill>
                <a:latin typeface="Roboto"/>
                <a:cs typeface="Roboto"/>
              </a:rPr>
              <a:t>Frequency</a:t>
            </a:r>
            <a:r>
              <a:rPr dirty="0" sz="1500" spc="-20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500" spc="-90" b="1">
                <a:solidFill>
                  <a:srgbClr val="374050"/>
                </a:solidFill>
                <a:latin typeface="Roboto"/>
                <a:cs typeface="Roboto"/>
              </a:rPr>
              <a:t>Response</a:t>
            </a:r>
            <a:r>
              <a:rPr dirty="0" sz="1500" spc="-20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500" spc="-85" b="1">
                <a:solidFill>
                  <a:srgbClr val="374050"/>
                </a:solidFill>
                <a:latin typeface="Roboto"/>
                <a:cs typeface="Roboto"/>
              </a:rPr>
              <a:t>Comparison</a:t>
            </a:r>
            <a:endParaRPr sz="1500">
              <a:latin typeface="Roboto"/>
              <a:cs typeface="Roboto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5619749" y="2085974"/>
            <a:ext cx="4781550" cy="1586230"/>
            <a:chOff x="5619749" y="2085974"/>
            <a:chExt cx="4781550" cy="1586230"/>
          </a:xfrm>
        </p:grpSpPr>
        <p:sp>
          <p:nvSpPr>
            <p:cNvPr id="18" name="object 18" descr=""/>
            <p:cNvSpPr/>
            <p:nvPr/>
          </p:nvSpPr>
          <p:spPr>
            <a:xfrm>
              <a:off x="5705474" y="2095499"/>
              <a:ext cx="4686300" cy="0"/>
            </a:xfrm>
            <a:custGeom>
              <a:avLst/>
              <a:gdLst/>
              <a:ahLst/>
              <a:cxnLst/>
              <a:rect l="l" t="t" r="r" b="b"/>
              <a:pathLst>
                <a:path w="4686300" h="0">
                  <a:moveTo>
                    <a:pt x="0" y="0"/>
                  </a:moveTo>
                  <a:lnTo>
                    <a:pt x="4686299" y="0"/>
                  </a:lnTo>
                </a:path>
              </a:pathLst>
            </a:custGeom>
            <a:ln w="9524">
              <a:solidFill>
                <a:srgbClr val="DDDDDD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0391774" y="2133599"/>
              <a:ext cx="0" cy="1485900"/>
            </a:xfrm>
            <a:custGeom>
              <a:avLst/>
              <a:gdLst/>
              <a:ahLst/>
              <a:cxnLst/>
              <a:rect l="l" t="t" r="r" b="b"/>
              <a:pathLst>
                <a:path w="0" h="1485900">
                  <a:moveTo>
                    <a:pt x="0" y="0"/>
                  </a:moveTo>
                  <a:lnTo>
                    <a:pt x="0" y="1485899"/>
                  </a:lnTo>
                </a:path>
              </a:pathLst>
            </a:custGeom>
            <a:ln w="9524">
              <a:solidFill>
                <a:srgbClr val="DDDDDD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5667374" y="3619499"/>
              <a:ext cx="4686300" cy="0"/>
            </a:xfrm>
            <a:custGeom>
              <a:avLst/>
              <a:gdLst/>
              <a:ahLst/>
              <a:cxnLst/>
              <a:rect l="l" t="t" r="r" b="b"/>
              <a:pathLst>
                <a:path w="4686300" h="0">
                  <a:moveTo>
                    <a:pt x="0" y="0"/>
                  </a:moveTo>
                  <a:lnTo>
                    <a:pt x="4686299" y="0"/>
                  </a:lnTo>
                </a:path>
              </a:pathLst>
            </a:custGeom>
            <a:ln w="9524">
              <a:solidFill>
                <a:srgbClr val="DDDDDD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5629274" y="2133599"/>
              <a:ext cx="0" cy="1485900"/>
            </a:xfrm>
            <a:custGeom>
              <a:avLst/>
              <a:gdLst/>
              <a:ahLst/>
              <a:cxnLst/>
              <a:rect l="l" t="t" r="r" b="b"/>
              <a:pathLst>
                <a:path w="0" h="1485900">
                  <a:moveTo>
                    <a:pt x="0" y="0"/>
                  </a:moveTo>
                  <a:lnTo>
                    <a:pt x="0" y="1485899"/>
                  </a:lnTo>
                </a:path>
              </a:pathLst>
            </a:custGeom>
            <a:ln w="9524">
              <a:solidFill>
                <a:srgbClr val="DDDDDD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5629274" y="2090737"/>
              <a:ext cx="38100" cy="9525"/>
            </a:xfrm>
            <a:custGeom>
              <a:avLst/>
              <a:gdLst/>
              <a:ahLst/>
              <a:cxnLst/>
              <a:rect l="l" t="t" r="r" b="b"/>
              <a:pathLst>
                <a:path w="38100" h="9525">
                  <a:moveTo>
                    <a:pt x="380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9524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5629274" y="2095499"/>
              <a:ext cx="4762500" cy="1524000"/>
            </a:xfrm>
            <a:custGeom>
              <a:avLst/>
              <a:gdLst/>
              <a:ahLst/>
              <a:cxnLst/>
              <a:rect l="l" t="t" r="r" b="b"/>
              <a:pathLst>
                <a:path w="4762500" h="1524000">
                  <a:moveTo>
                    <a:pt x="0" y="1523999"/>
                  </a:moveTo>
                  <a:lnTo>
                    <a:pt x="4762499" y="1523999"/>
                  </a:lnTo>
                </a:path>
                <a:path w="4762500" h="1524000">
                  <a:moveTo>
                    <a:pt x="0" y="0"/>
                  </a:moveTo>
                  <a:lnTo>
                    <a:pt x="0" y="1523999"/>
                  </a:lnTo>
                </a:path>
              </a:pathLst>
            </a:custGeom>
            <a:ln w="1904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6105524" y="3619499"/>
              <a:ext cx="0" cy="47625"/>
            </a:xfrm>
            <a:custGeom>
              <a:avLst/>
              <a:gdLst/>
              <a:ahLst/>
              <a:cxnLst/>
              <a:rect l="l" t="t" r="r" b="b"/>
              <a:pathLst>
                <a:path w="0" h="47625">
                  <a:moveTo>
                    <a:pt x="0" y="0"/>
                  </a:moveTo>
                  <a:lnTo>
                    <a:pt x="0" y="47624"/>
                  </a:lnTo>
                </a:path>
              </a:pathLst>
            </a:custGeom>
            <a:ln w="952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5271470" y="2102045"/>
            <a:ext cx="163195" cy="151130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170"/>
              </a:lnSpc>
            </a:pPr>
            <a:r>
              <a:rPr dirty="0" sz="1150" spc="-60">
                <a:solidFill>
                  <a:srgbClr val="333333"/>
                </a:solidFill>
                <a:latin typeface="Roboto"/>
                <a:cs typeface="Roboto"/>
              </a:rPr>
              <a:t>Frequency</a:t>
            </a:r>
            <a:r>
              <a:rPr dirty="0" sz="115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333333"/>
                </a:solidFill>
                <a:latin typeface="Roboto"/>
                <a:cs typeface="Roboto"/>
              </a:rPr>
              <a:t>Deviation</a:t>
            </a:r>
            <a:r>
              <a:rPr dirty="0" sz="115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150" spc="-35">
                <a:solidFill>
                  <a:srgbClr val="333333"/>
                </a:solidFill>
                <a:latin typeface="Roboto"/>
                <a:cs typeface="Roboto"/>
              </a:rPr>
              <a:t>(Hz)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6066035" y="3643708"/>
            <a:ext cx="79375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-50">
                <a:solidFill>
                  <a:srgbClr val="333333"/>
                </a:solidFill>
                <a:latin typeface="Roboto"/>
                <a:cs typeface="Roboto"/>
              </a:rPr>
              <a:t>5</a:t>
            </a:r>
            <a:endParaRPr sz="800">
              <a:latin typeface="Roboto"/>
              <a:cs typeface="Roboto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7058025" y="3619499"/>
            <a:ext cx="0" cy="47625"/>
          </a:xfrm>
          <a:custGeom>
            <a:avLst/>
            <a:gdLst/>
            <a:ahLst/>
            <a:cxnLst/>
            <a:rect l="l" t="t" r="r" b="b"/>
            <a:pathLst>
              <a:path w="0" h="47625">
                <a:moveTo>
                  <a:pt x="0" y="0"/>
                </a:moveTo>
                <a:lnTo>
                  <a:pt x="0" y="47624"/>
                </a:lnTo>
              </a:path>
            </a:pathLst>
          </a:custGeom>
          <a:ln w="9524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6991746" y="3643708"/>
            <a:ext cx="132715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-25">
                <a:solidFill>
                  <a:srgbClr val="333333"/>
                </a:solidFill>
                <a:latin typeface="Roboto"/>
                <a:cs typeface="Roboto"/>
              </a:rPr>
              <a:t>10</a:t>
            </a:r>
            <a:endParaRPr sz="800">
              <a:latin typeface="Roboto"/>
              <a:cs typeface="Roboto"/>
            </a:endParaRPr>
          </a:p>
        </p:txBody>
      </p:sp>
      <p:sp>
        <p:nvSpPr>
          <p:cNvPr id="29" name="object 29" descr=""/>
          <p:cNvSpPr/>
          <p:nvPr/>
        </p:nvSpPr>
        <p:spPr>
          <a:xfrm>
            <a:off x="8010524" y="3619499"/>
            <a:ext cx="0" cy="47625"/>
          </a:xfrm>
          <a:custGeom>
            <a:avLst/>
            <a:gdLst/>
            <a:ahLst/>
            <a:cxnLst/>
            <a:rect l="l" t="t" r="r" b="b"/>
            <a:pathLst>
              <a:path w="0" h="47625">
                <a:moveTo>
                  <a:pt x="0" y="0"/>
                </a:moveTo>
                <a:lnTo>
                  <a:pt x="0" y="47624"/>
                </a:lnTo>
              </a:path>
            </a:pathLst>
          </a:custGeom>
          <a:ln w="9524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 txBox="1"/>
          <p:nvPr/>
        </p:nvSpPr>
        <p:spPr>
          <a:xfrm>
            <a:off x="7508378" y="3648947"/>
            <a:ext cx="1004569" cy="2038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150" spc="-70">
                <a:solidFill>
                  <a:srgbClr val="333333"/>
                </a:solidFill>
                <a:latin typeface="Roboto"/>
                <a:cs typeface="Roboto"/>
              </a:rPr>
              <a:t>Time</a:t>
            </a:r>
            <a:r>
              <a:rPr dirty="0" sz="1150" spc="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150" spc="-105">
                <a:solidFill>
                  <a:srgbClr val="333333"/>
                </a:solidFill>
                <a:latin typeface="Roboto"/>
                <a:cs typeface="Roboto"/>
              </a:rPr>
              <a:t>(s</a:t>
            </a:r>
            <a:r>
              <a:rPr dirty="0" baseline="24305" sz="1200" spc="-157">
                <a:solidFill>
                  <a:srgbClr val="333333"/>
                </a:solidFill>
                <a:latin typeface="Roboto"/>
                <a:cs typeface="Roboto"/>
              </a:rPr>
              <a:t>1</a:t>
            </a:r>
            <a:r>
              <a:rPr dirty="0" sz="1150" spc="-105">
                <a:solidFill>
                  <a:srgbClr val="333333"/>
                </a:solidFill>
                <a:latin typeface="Roboto"/>
                <a:cs typeface="Roboto"/>
              </a:rPr>
              <a:t>e</a:t>
            </a:r>
            <a:r>
              <a:rPr dirty="0" baseline="24305" sz="1200" spc="-157">
                <a:solidFill>
                  <a:srgbClr val="333333"/>
                </a:solidFill>
                <a:latin typeface="Roboto"/>
                <a:cs typeface="Roboto"/>
              </a:rPr>
              <a:t>5</a:t>
            </a:r>
            <a:r>
              <a:rPr dirty="0" sz="1150" spc="-105">
                <a:solidFill>
                  <a:srgbClr val="333333"/>
                </a:solidFill>
                <a:latin typeface="Roboto"/>
                <a:cs typeface="Roboto"/>
              </a:rPr>
              <a:t>conds)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31" name="object 31" descr=""/>
          <p:cNvSpPr/>
          <p:nvPr/>
        </p:nvSpPr>
        <p:spPr>
          <a:xfrm>
            <a:off x="8963024" y="3619499"/>
            <a:ext cx="0" cy="47625"/>
          </a:xfrm>
          <a:custGeom>
            <a:avLst/>
            <a:gdLst/>
            <a:ahLst/>
            <a:cxnLst/>
            <a:rect l="l" t="t" r="r" b="b"/>
            <a:pathLst>
              <a:path w="0" h="47625">
                <a:moveTo>
                  <a:pt x="0" y="0"/>
                </a:moveTo>
                <a:lnTo>
                  <a:pt x="0" y="47624"/>
                </a:lnTo>
              </a:path>
            </a:pathLst>
          </a:custGeom>
          <a:ln w="9524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 txBox="1"/>
          <p:nvPr/>
        </p:nvSpPr>
        <p:spPr>
          <a:xfrm>
            <a:off x="8896746" y="3643708"/>
            <a:ext cx="132715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-25">
                <a:solidFill>
                  <a:srgbClr val="333333"/>
                </a:solidFill>
                <a:latin typeface="Roboto"/>
                <a:cs typeface="Roboto"/>
              </a:rPr>
              <a:t>20</a:t>
            </a:r>
            <a:endParaRPr sz="800">
              <a:latin typeface="Roboto"/>
              <a:cs typeface="Roboto"/>
            </a:endParaRPr>
          </a:p>
        </p:txBody>
      </p:sp>
      <p:sp>
        <p:nvSpPr>
          <p:cNvPr id="33" name="object 33" descr=""/>
          <p:cNvSpPr/>
          <p:nvPr/>
        </p:nvSpPr>
        <p:spPr>
          <a:xfrm>
            <a:off x="9915524" y="3619499"/>
            <a:ext cx="0" cy="47625"/>
          </a:xfrm>
          <a:custGeom>
            <a:avLst/>
            <a:gdLst/>
            <a:ahLst/>
            <a:cxnLst/>
            <a:rect l="l" t="t" r="r" b="b"/>
            <a:pathLst>
              <a:path w="0" h="47625">
                <a:moveTo>
                  <a:pt x="0" y="0"/>
                </a:moveTo>
                <a:lnTo>
                  <a:pt x="0" y="47624"/>
                </a:lnTo>
              </a:path>
            </a:pathLst>
          </a:custGeom>
          <a:ln w="9524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 txBox="1"/>
          <p:nvPr/>
        </p:nvSpPr>
        <p:spPr>
          <a:xfrm>
            <a:off x="9849246" y="3643708"/>
            <a:ext cx="132715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-25">
                <a:solidFill>
                  <a:srgbClr val="333333"/>
                </a:solidFill>
                <a:latin typeface="Roboto"/>
                <a:cs typeface="Roboto"/>
              </a:rPr>
              <a:t>25</a:t>
            </a:r>
            <a:endParaRPr sz="800">
              <a:latin typeface="Roboto"/>
              <a:cs typeface="Roboto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5617368" y="2190749"/>
            <a:ext cx="4786630" cy="1118870"/>
            <a:chOff x="5617368" y="2190749"/>
            <a:chExt cx="4786630" cy="1118870"/>
          </a:xfrm>
        </p:grpSpPr>
        <p:sp>
          <p:nvSpPr>
            <p:cNvPr id="36" name="object 36" descr=""/>
            <p:cNvSpPr/>
            <p:nvPr/>
          </p:nvSpPr>
          <p:spPr>
            <a:xfrm>
              <a:off x="5629274" y="2852737"/>
              <a:ext cx="28575" cy="9525"/>
            </a:xfrm>
            <a:custGeom>
              <a:avLst/>
              <a:gdLst/>
              <a:ahLst/>
              <a:cxnLst/>
              <a:rect l="l" t="t" r="r" b="b"/>
              <a:pathLst>
                <a:path w="28575" h="9525">
                  <a:moveTo>
                    <a:pt x="28574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9524"/>
                  </a:lnTo>
                  <a:close/>
                </a:path>
              </a:pathLst>
            </a:custGeom>
            <a:solidFill>
              <a:srgbClr val="8787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5686424" y="2857499"/>
              <a:ext cx="4705350" cy="0"/>
            </a:xfrm>
            <a:custGeom>
              <a:avLst/>
              <a:gdLst/>
              <a:ahLst/>
              <a:cxnLst/>
              <a:rect l="l" t="t" r="r" b="b"/>
              <a:pathLst>
                <a:path w="4705350" h="0">
                  <a:moveTo>
                    <a:pt x="0" y="0"/>
                  </a:moveTo>
                  <a:lnTo>
                    <a:pt x="4705349" y="0"/>
                  </a:lnTo>
                </a:path>
              </a:pathLst>
            </a:custGeom>
            <a:ln w="9524">
              <a:solidFill>
                <a:srgbClr val="878787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5629274" y="2857499"/>
              <a:ext cx="4762500" cy="440055"/>
            </a:xfrm>
            <a:custGeom>
              <a:avLst/>
              <a:gdLst/>
              <a:ahLst/>
              <a:cxnLst/>
              <a:rect l="l" t="t" r="r" b="b"/>
              <a:pathLst>
                <a:path w="4762500" h="440054">
                  <a:moveTo>
                    <a:pt x="0" y="0"/>
                  </a:moveTo>
                  <a:lnTo>
                    <a:pt x="190499" y="0"/>
                  </a:lnTo>
                  <a:lnTo>
                    <a:pt x="202433" y="89379"/>
                  </a:lnTo>
                  <a:lnTo>
                    <a:pt x="214532" y="167348"/>
                  </a:lnTo>
                  <a:lnTo>
                    <a:pt x="226962" y="234404"/>
                  </a:lnTo>
                  <a:lnTo>
                    <a:pt x="239888" y="291041"/>
                  </a:lnTo>
                  <a:lnTo>
                    <a:pt x="253476" y="337757"/>
                  </a:lnTo>
                  <a:lnTo>
                    <a:pt x="267890" y="375046"/>
                  </a:lnTo>
                  <a:lnTo>
                    <a:pt x="299861" y="423333"/>
                  </a:lnTo>
                  <a:lnTo>
                    <a:pt x="337123" y="439869"/>
                  </a:lnTo>
                  <a:lnTo>
                    <a:pt x="358152" y="437471"/>
                  </a:lnTo>
                  <a:lnTo>
                    <a:pt x="412880" y="411051"/>
                  </a:lnTo>
                  <a:lnTo>
                    <a:pt x="445545" y="390342"/>
                  </a:lnTo>
                  <a:lnTo>
                    <a:pt x="479777" y="366888"/>
                  </a:lnTo>
                  <a:lnTo>
                    <a:pt x="516362" y="341083"/>
                  </a:lnTo>
                  <a:lnTo>
                    <a:pt x="556082" y="313318"/>
                  </a:lnTo>
                  <a:lnTo>
                    <a:pt x="599722" y="283986"/>
                  </a:lnTo>
                  <a:lnTo>
                    <a:pt x="648065" y="253477"/>
                  </a:lnTo>
                  <a:lnTo>
                    <a:pt x="701897" y="222184"/>
                  </a:lnTo>
                  <a:lnTo>
                    <a:pt x="761999" y="190499"/>
                  </a:lnTo>
                  <a:lnTo>
                    <a:pt x="875109" y="134689"/>
                  </a:lnTo>
                  <a:lnTo>
                    <a:pt x="952499" y="101203"/>
                  </a:lnTo>
                  <a:lnTo>
                    <a:pt x="1029890" y="76646"/>
                  </a:lnTo>
                  <a:lnTo>
                    <a:pt x="1142999" y="47624"/>
                  </a:lnTo>
                  <a:lnTo>
                    <a:pt x="1206251" y="32704"/>
                  </a:lnTo>
                  <a:lnTo>
                    <a:pt x="1256109" y="22919"/>
                  </a:lnTo>
                  <a:lnTo>
                    <a:pt x="1297037" y="17152"/>
                  </a:lnTo>
                  <a:lnTo>
                    <a:pt x="1369962" y="13208"/>
                  </a:lnTo>
                  <a:lnTo>
                    <a:pt x="1410890" y="12799"/>
                  </a:lnTo>
                  <a:lnTo>
                    <a:pt x="1460747" y="11943"/>
                  </a:lnTo>
                  <a:lnTo>
                    <a:pt x="1523999" y="9524"/>
                  </a:lnTo>
                  <a:lnTo>
                    <a:pt x="1587251" y="6576"/>
                  </a:lnTo>
                  <a:lnTo>
                    <a:pt x="1637109" y="4688"/>
                  </a:lnTo>
                  <a:lnTo>
                    <a:pt x="1678036" y="3581"/>
                  </a:lnTo>
                  <a:lnTo>
                    <a:pt x="1714499" y="2976"/>
                  </a:lnTo>
                  <a:lnTo>
                    <a:pt x="1750962" y="2595"/>
                  </a:lnTo>
                  <a:lnTo>
                    <a:pt x="1791890" y="2158"/>
                  </a:lnTo>
                  <a:lnTo>
                    <a:pt x="1841747" y="1385"/>
                  </a:lnTo>
                  <a:lnTo>
                    <a:pt x="1904999" y="0"/>
                  </a:lnTo>
                  <a:lnTo>
                    <a:pt x="4762499" y="0"/>
                  </a:lnTo>
                </a:path>
              </a:pathLst>
            </a:custGeom>
            <a:ln w="23812">
              <a:solidFill>
                <a:srgbClr val="E11C4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5629274" y="2857499"/>
              <a:ext cx="4762500" cy="283210"/>
            </a:xfrm>
            <a:custGeom>
              <a:avLst/>
              <a:gdLst/>
              <a:ahLst/>
              <a:cxnLst/>
              <a:rect l="l" t="t" r="r" b="b"/>
              <a:pathLst>
                <a:path w="4762500" h="283210">
                  <a:moveTo>
                    <a:pt x="0" y="0"/>
                  </a:moveTo>
                  <a:lnTo>
                    <a:pt x="190499" y="0"/>
                  </a:lnTo>
                  <a:lnTo>
                    <a:pt x="204835" y="78676"/>
                  </a:lnTo>
                  <a:lnTo>
                    <a:pt x="219455" y="143636"/>
                  </a:lnTo>
                  <a:lnTo>
                    <a:pt x="234648" y="195452"/>
                  </a:lnTo>
                  <a:lnTo>
                    <a:pt x="250697" y="234695"/>
                  </a:lnTo>
                  <a:lnTo>
                    <a:pt x="286511" y="277748"/>
                  </a:lnTo>
                  <a:lnTo>
                    <a:pt x="306847" y="282701"/>
                  </a:lnTo>
                  <a:lnTo>
                    <a:pt x="329183" y="277367"/>
                  </a:lnTo>
                  <a:lnTo>
                    <a:pt x="353806" y="262318"/>
                  </a:lnTo>
                  <a:lnTo>
                    <a:pt x="380999" y="238124"/>
                  </a:lnTo>
                  <a:lnTo>
                    <a:pt x="419322" y="200080"/>
                  </a:lnTo>
                  <a:lnTo>
                    <a:pt x="454311" y="167034"/>
                  </a:lnTo>
                  <a:lnTo>
                    <a:pt x="488468" y="138154"/>
                  </a:lnTo>
                  <a:lnTo>
                    <a:pt x="524291" y="112606"/>
                  </a:lnTo>
                  <a:lnTo>
                    <a:pt x="564279" y="89557"/>
                  </a:lnTo>
                  <a:lnTo>
                    <a:pt x="610932" y="68174"/>
                  </a:lnTo>
                  <a:lnTo>
                    <a:pt x="666749" y="47624"/>
                  </a:lnTo>
                  <a:lnTo>
                    <a:pt x="716328" y="32704"/>
                  </a:lnTo>
                  <a:lnTo>
                    <a:pt x="759767" y="22919"/>
                  </a:lnTo>
                  <a:lnTo>
                    <a:pt x="799858" y="17152"/>
                  </a:lnTo>
                  <a:lnTo>
                    <a:pt x="839390" y="14287"/>
                  </a:lnTo>
                  <a:lnTo>
                    <a:pt x="881155" y="13208"/>
                  </a:lnTo>
                  <a:lnTo>
                    <a:pt x="927943" y="12799"/>
                  </a:lnTo>
                  <a:lnTo>
                    <a:pt x="982544" y="11943"/>
                  </a:lnTo>
                  <a:lnTo>
                    <a:pt x="1047749" y="9524"/>
                  </a:lnTo>
                  <a:lnTo>
                    <a:pt x="1111001" y="6576"/>
                  </a:lnTo>
                  <a:lnTo>
                    <a:pt x="1160859" y="4688"/>
                  </a:lnTo>
                  <a:lnTo>
                    <a:pt x="1201787" y="3581"/>
                  </a:lnTo>
                  <a:lnTo>
                    <a:pt x="1238249" y="2976"/>
                  </a:lnTo>
                  <a:lnTo>
                    <a:pt x="1274712" y="2595"/>
                  </a:lnTo>
                  <a:lnTo>
                    <a:pt x="1315640" y="2158"/>
                  </a:lnTo>
                  <a:lnTo>
                    <a:pt x="1365497" y="1385"/>
                  </a:lnTo>
                  <a:lnTo>
                    <a:pt x="1428749" y="0"/>
                  </a:lnTo>
                  <a:lnTo>
                    <a:pt x="4762499" y="0"/>
                  </a:lnTo>
                </a:path>
              </a:pathLst>
            </a:custGeom>
            <a:ln w="23812">
              <a:solidFill>
                <a:srgbClr val="F9731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5629274" y="2857499"/>
              <a:ext cx="4762500" cy="143510"/>
            </a:xfrm>
            <a:custGeom>
              <a:avLst/>
              <a:gdLst/>
              <a:ahLst/>
              <a:cxnLst/>
              <a:rect l="l" t="t" r="r" b="b"/>
              <a:pathLst>
                <a:path w="4762500" h="143510">
                  <a:moveTo>
                    <a:pt x="0" y="0"/>
                  </a:moveTo>
                  <a:lnTo>
                    <a:pt x="190499" y="0"/>
                  </a:lnTo>
                  <a:lnTo>
                    <a:pt x="211049" y="55261"/>
                  </a:lnTo>
                  <a:lnTo>
                    <a:pt x="232432" y="98026"/>
                  </a:lnTo>
                  <a:lnTo>
                    <a:pt x="255481" y="127462"/>
                  </a:lnTo>
                  <a:lnTo>
                    <a:pt x="281029" y="142736"/>
                  </a:lnTo>
                  <a:lnTo>
                    <a:pt x="309909" y="143013"/>
                  </a:lnTo>
                  <a:lnTo>
                    <a:pt x="342955" y="127462"/>
                  </a:lnTo>
                  <a:lnTo>
                    <a:pt x="380999" y="95249"/>
                  </a:lnTo>
                  <a:lnTo>
                    <a:pt x="428243" y="50672"/>
                  </a:lnTo>
                  <a:lnTo>
                    <a:pt x="461771" y="26669"/>
                  </a:lnTo>
                  <a:lnTo>
                    <a:pt x="490727" y="16382"/>
                  </a:lnTo>
                  <a:lnTo>
                    <a:pt x="524255" y="12953"/>
                  </a:lnTo>
                  <a:lnTo>
                    <a:pt x="571499" y="9524"/>
                  </a:lnTo>
                  <a:lnTo>
                    <a:pt x="628054" y="4688"/>
                  </a:lnTo>
                  <a:lnTo>
                    <a:pt x="666749" y="2976"/>
                  </a:lnTo>
                  <a:lnTo>
                    <a:pt x="705445" y="2158"/>
                  </a:lnTo>
                  <a:lnTo>
                    <a:pt x="761999" y="0"/>
                  </a:lnTo>
                  <a:lnTo>
                    <a:pt x="4762499" y="0"/>
                  </a:lnTo>
                </a:path>
              </a:pathLst>
            </a:custGeom>
            <a:ln w="23812">
              <a:solidFill>
                <a:srgbClr val="0045A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8867774" y="2190749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299" y="114299"/>
                  </a:moveTo>
                  <a:lnTo>
                    <a:pt x="0" y="114299"/>
                  </a:lnTo>
                  <a:lnTo>
                    <a:pt x="0" y="0"/>
                  </a:lnTo>
                  <a:lnTo>
                    <a:pt x="114299" y="0"/>
                  </a:lnTo>
                  <a:lnTo>
                    <a:pt x="114299" y="114299"/>
                  </a:lnTo>
                  <a:close/>
                </a:path>
              </a:pathLst>
            </a:custGeom>
            <a:solidFill>
              <a:srgbClr val="E11C4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8867774" y="2381249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299" y="114299"/>
                  </a:moveTo>
                  <a:lnTo>
                    <a:pt x="0" y="114299"/>
                  </a:lnTo>
                  <a:lnTo>
                    <a:pt x="0" y="0"/>
                  </a:lnTo>
                  <a:lnTo>
                    <a:pt x="114299" y="0"/>
                  </a:lnTo>
                  <a:lnTo>
                    <a:pt x="114299" y="114299"/>
                  </a:lnTo>
                  <a:close/>
                </a:path>
              </a:pathLst>
            </a:custGeom>
            <a:solidFill>
              <a:srgbClr val="F973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8867774" y="2571749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299" y="114299"/>
                  </a:moveTo>
                  <a:lnTo>
                    <a:pt x="0" y="114299"/>
                  </a:lnTo>
                  <a:lnTo>
                    <a:pt x="0" y="0"/>
                  </a:lnTo>
                  <a:lnTo>
                    <a:pt x="114299" y="0"/>
                  </a:lnTo>
                  <a:lnTo>
                    <a:pt x="114299" y="114299"/>
                  </a:lnTo>
                  <a:close/>
                </a:path>
              </a:pathLst>
            </a:custGeom>
            <a:solidFill>
              <a:srgbClr val="0045A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 descr=""/>
          <p:cNvSpPr txBox="1"/>
          <p:nvPr/>
        </p:nvSpPr>
        <p:spPr>
          <a:xfrm>
            <a:off x="5467746" y="2763986"/>
            <a:ext cx="79375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-50">
                <a:solidFill>
                  <a:srgbClr val="333333"/>
                </a:solidFill>
                <a:latin typeface="Roboto"/>
                <a:cs typeface="Roboto"/>
              </a:rPr>
              <a:t>0</a:t>
            </a:r>
            <a:endParaRPr sz="800">
              <a:latin typeface="Roboto"/>
              <a:cs typeface="Roboto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5309244" y="3144985"/>
            <a:ext cx="237490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-30">
                <a:solidFill>
                  <a:srgbClr val="333333"/>
                </a:solidFill>
                <a:latin typeface="Roboto"/>
                <a:cs typeface="Roboto"/>
              </a:rPr>
              <a:t>-</a:t>
            </a:r>
            <a:r>
              <a:rPr dirty="0" sz="800" spc="-20">
                <a:solidFill>
                  <a:srgbClr val="333333"/>
                </a:solidFill>
                <a:latin typeface="Roboto"/>
                <a:cs typeface="Roboto"/>
              </a:rPr>
              <a:t>0.05</a:t>
            </a:r>
            <a:endParaRPr sz="800">
              <a:latin typeface="Roboto"/>
              <a:cs typeface="Roboto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5281562" y="2382986"/>
            <a:ext cx="265430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-20">
                <a:solidFill>
                  <a:srgbClr val="333333"/>
                </a:solidFill>
                <a:latin typeface="Roboto"/>
                <a:cs typeface="Roboto"/>
              </a:rPr>
              <a:t>+0.05</a:t>
            </a:r>
            <a:endParaRPr sz="800">
              <a:latin typeface="Roboto"/>
              <a:cs typeface="Roboto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9017000" y="2138443"/>
            <a:ext cx="779780" cy="59690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1000" spc="-25">
                <a:solidFill>
                  <a:srgbClr val="333333"/>
                </a:solidFill>
                <a:latin typeface="Roboto"/>
                <a:cs typeface="Roboto"/>
              </a:rPr>
              <a:t>PID</a:t>
            </a:r>
            <a:endParaRPr sz="10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000" spc="-60">
                <a:solidFill>
                  <a:srgbClr val="333333"/>
                </a:solidFill>
                <a:latin typeface="Roboto"/>
                <a:cs typeface="Roboto"/>
              </a:rPr>
              <a:t>Fuzzy-</a:t>
            </a:r>
            <a:r>
              <a:rPr dirty="0" sz="1000" spc="-25">
                <a:solidFill>
                  <a:srgbClr val="333333"/>
                </a:solidFill>
                <a:latin typeface="Roboto"/>
                <a:cs typeface="Roboto"/>
              </a:rPr>
              <a:t>PID</a:t>
            </a:r>
            <a:endParaRPr sz="10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000" spc="-70">
                <a:solidFill>
                  <a:srgbClr val="333333"/>
                </a:solidFill>
                <a:latin typeface="Roboto"/>
                <a:cs typeface="Roboto"/>
              </a:rPr>
              <a:t>ABC-</a:t>
            </a:r>
            <a:r>
              <a:rPr dirty="0" sz="1000" spc="-60">
                <a:solidFill>
                  <a:srgbClr val="333333"/>
                </a:solidFill>
                <a:latin typeface="Roboto"/>
                <a:cs typeface="Roboto"/>
              </a:rPr>
              <a:t>Fuzzy-</a:t>
            </a:r>
            <a:r>
              <a:rPr dirty="0" sz="1000" spc="-25">
                <a:solidFill>
                  <a:srgbClr val="333333"/>
                </a:solidFill>
                <a:latin typeface="Roboto"/>
                <a:cs typeface="Roboto"/>
              </a:rPr>
              <a:t>PID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7177186" y="4139961"/>
            <a:ext cx="198247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80" b="1">
                <a:solidFill>
                  <a:srgbClr val="374050"/>
                </a:solidFill>
                <a:latin typeface="Roboto"/>
                <a:cs typeface="Roboto"/>
              </a:rPr>
              <a:t>Tie-Line</a:t>
            </a:r>
            <a:r>
              <a:rPr dirty="0" sz="1500" spc="15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500" spc="-100" b="1">
                <a:solidFill>
                  <a:srgbClr val="374050"/>
                </a:solidFill>
                <a:latin typeface="Roboto"/>
                <a:cs typeface="Roboto"/>
              </a:rPr>
              <a:t>Power</a:t>
            </a:r>
            <a:r>
              <a:rPr dirty="0" sz="1500" spc="15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500" spc="-80" b="1">
                <a:solidFill>
                  <a:srgbClr val="374050"/>
                </a:solidFill>
                <a:latin typeface="Roboto"/>
                <a:cs typeface="Roboto"/>
              </a:rPr>
              <a:t>Exchange</a:t>
            </a:r>
            <a:endParaRPr sz="1500">
              <a:latin typeface="Roboto"/>
              <a:cs typeface="Roboto"/>
            </a:endParaRPr>
          </a:p>
        </p:txBody>
      </p:sp>
      <p:grpSp>
        <p:nvGrpSpPr>
          <p:cNvPr id="49" name="object 49" descr=""/>
          <p:cNvGrpSpPr/>
          <p:nvPr/>
        </p:nvGrpSpPr>
        <p:grpSpPr>
          <a:xfrm>
            <a:off x="5619749" y="4676774"/>
            <a:ext cx="4781550" cy="1205230"/>
            <a:chOff x="5619749" y="4676774"/>
            <a:chExt cx="4781550" cy="1205230"/>
          </a:xfrm>
        </p:grpSpPr>
        <p:sp>
          <p:nvSpPr>
            <p:cNvPr id="50" name="object 50" descr=""/>
            <p:cNvSpPr/>
            <p:nvPr/>
          </p:nvSpPr>
          <p:spPr>
            <a:xfrm>
              <a:off x="5705474" y="4686299"/>
              <a:ext cx="4686300" cy="0"/>
            </a:xfrm>
            <a:custGeom>
              <a:avLst/>
              <a:gdLst/>
              <a:ahLst/>
              <a:cxnLst/>
              <a:rect l="l" t="t" r="r" b="b"/>
              <a:pathLst>
                <a:path w="4686300" h="0">
                  <a:moveTo>
                    <a:pt x="0" y="0"/>
                  </a:moveTo>
                  <a:lnTo>
                    <a:pt x="4686299" y="0"/>
                  </a:lnTo>
                </a:path>
              </a:pathLst>
            </a:custGeom>
            <a:ln w="9524">
              <a:solidFill>
                <a:srgbClr val="DDDDDD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10391774" y="4724399"/>
              <a:ext cx="0" cy="1104900"/>
            </a:xfrm>
            <a:custGeom>
              <a:avLst/>
              <a:gdLst/>
              <a:ahLst/>
              <a:cxnLst/>
              <a:rect l="l" t="t" r="r" b="b"/>
              <a:pathLst>
                <a:path w="0" h="1104900">
                  <a:moveTo>
                    <a:pt x="0" y="0"/>
                  </a:moveTo>
                  <a:lnTo>
                    <a:pt x="0" y="1104899"/>
                  </a:lnTo>
                </a:path>
              </a:pathLst>
            </a:custGeom>
            <a:ln w="9524">
              <a:solidFill>
                <a:srgbClr val="DDDDDD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5667374" y="5829299"/>
              <a:ext cx="4686300" cy="0"/>
            </a:xfrm>
            <a:custGeom>
              <a:avLst/>
              <a:gdLst/>
              <a:ahLst/>
              <a:cxnLst/>
              <a:rect l="l" t="t" r="r" b="b"/>
              <a:pathLst>
                <a:path w="4686300" h="0">
                  <a:moveTo>
                    <a:pt x="0" y="0"/>
                  </a:moveTo>
                  <a:lnTo>
                    <a:pt x="4686299" y="0"/>
                  </a:lnTo>
                </a:path>
              </a:pathLst>
            </a:custGeom>
            <a:ln w="9524">
              <a:solidFill>
                <a:srgbClr val="DDDDDD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5629274" y="4724399"/>
              <a:ext cx="0" cy="1104900"/>
            </a:xfrm>
            <a:custGeom>
              <a:avLst/>
              <a:gdLst/>
              <a:ahLst/>
              <a:cxnLst/>
              <a:rect l="l" t="t" r="r" b="b"/>
              <a:pathLst>
                <a:path w="0" h="1104900">
                  <a:moveTo>
                    <a:pt x="0" y="0"/>
                  </a:moveTo>
                  <a:lnTo>
                    <a:pt x="0" y="1104899"/>
                  </a:lnTo>
                </a:path>
              </a:pathLst>
            </a:custGeom>
            <a:ln w="9524">
              <a:solidFill>
                <a:srgbClr val="DDDDDD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5629274" y="4681537"/>
              <a:ext cx="38100" cy="9525"/>
            </a:xfrm>
            <a:custGeom>
              <a:avLst/>
              <a:gdLst/>
              <a:ahLst/>
              <a:cxnLst/>
              <a:rect l="l" t="t" r="r" b="b"/>
              <a:pathLst>
                <a:path w="38100" h="9525">
                  <a:moveTo>
                    <a:pt x="380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9524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5629274" y="4686299"/>
              <a:ext cx="4762500" cy="1143000"/>
            </a:xfrm>
            <a:custGeom>
              <a:avLst/>
              <a:gdLst/>
              <a:ahLst/>
              <a:cxnLst/>
              <a:rect l="l" t="t" r="r" b="b"/>
              <a:pathLst>
                <a:path w="4762500" h="1143000">
                  <a:moveTo>
                    <a:pt x="0" y="1142999"/>
                  </a:moveTo>
                  <a:lnTo>
                    <a:pt x="4762499" y="1142999"/>
                  </a:lnTo>
                </a:path>
                <a:path w="4762500" h="1143000">
                  <a:moveTo>
                    <a:pt x="0" y="0"/>
                  </a:moveTo>
                  <a:lnTo>
                    <a:pt x="0" y="1142999"/>
                  </a:lnTo>
                </a:path>
              </a:pathLst>
            </a:custGeom>
            <a:ln w="1904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6105524" y="5829299"/>
              <a:ext cx="0" cy="47625"/>
            </a:xfrm>
            <a:custGeom>
              <a:avLst/>
              <a:gdLst/>
              <a:ahLst/>
              <a:cxnLst/>
              <a:rect l="l" t="t" r="r" b="b"/>
              <a:pathLst>
                <a:path w="0" h="47625">
                  <a:moveTo>
                    <a:pt x="0" y="0"/>
                  </a:moveTo>
                  <a:lnTo>
                    <a:pt x="0" y="47624"/>
                  </a:lnTo>
                </a:path>
              </a:pathLst>
            </a:custGeom>
            <a:ln w="952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 descr=""/>
          <p:cNvSpPr txBox="1"/>
          <p:nvPr/>
        </p:nvSpPr>
        <p:spPr>
          <a:xfrm>
            <a:off x="5271470" y="4885521"/>
            <a:ext cx="163195" cy="74485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170"/>
              </a:lnSpc>
            </a:pPr>
            <a:r>
              <a:rPr dirty="0" sz="1150" spc="-70">
                <a:solidFill>
                  <a:srgbClr val="333333"/>
                </a:solidFill>
                <a:latin typeface="Roboto"/>
                <a:cs typeface="Roboto"/>
              </a:rPr>
              <a:t>Power</a:t>
            </a:r>
            <a:r>
              <a:rPr dirty="0" sz="1150" spc="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150" spc="-35">
                <a:solidFill>
                  <a:srgbClr val="333333"/>
                </a:solidFill>
                <a:latin typeface="Roboto"/>
                <a:cs typeface="Roboto"/>
              </a:rPr>
              <a:t>(p.u.)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6066035" y="5853508"/>
            <a:ext cx="79375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-50">
                <a:solidFill>
                  <a:srgbClr val="333333"/>
                </a:solidFill>
                <a:latin typeface="Roboto"/>
                <a:cs typeface="Roboto"/>
              </a:rPr>
              <a:t>5</a:t>
            </a:r>
            <a:endParaRPr sz="800">
              <a:latin typeface="Roboto"/>
              <a:cs typeface="Roboto"/>
            </a:endParaRPr>
          </a:p>
        </p:txBody>
      </p:sp>
      <p:sp>
        <p:nvSpPr>
          <p:cNvPr id="59" name="object 59" descr=""/>
          <p:cNvSpPr/>
          <p:nvPr/>
        </p:nvSpPr>
        <p:spPr>
          <a:xfrm>
            <a:off x="7058025" y="5829299"/>
            <a:ext cx="0" cy="47625"/>
          </a:xfrm>
          <a:custGeom>
            <a:avLst/>
            <a:gdLst/>
            <a:ahLst/>
            <a:cxnLst/>
            <a:rect l="l" t="t" r="r" b="b"/>
            <a:pathLst>
              <a:path w="0" h="47625">
                <a:moveTo>
                  <a:pt x="0" y="0"/>
                </a:moveTo>
                <a:lnTo>
                  <a:pt x="0" y="47624"/>
                </a:lnTo>
              </a:path>
            </a:pathLst>
          </a:custGeom>
          <a:ln w="9524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 descr=""/>
          <p:cNvSpPr txBox="1"/>
          <p:nvPr/>
        </p:nvSpPr>
        <p:spPr>
          <a:xfrm>
            <a:off x="6991746" y="5853508"/>
            <a:ext cx="132715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-25">
                <a:solidFill>
                  <a:srgbClr val="333333"/>
                </a:solidFill>
                <a:latin typeface="Roboto"/>
                <a:cs typeface="Roboto"/>
              </a:rPr>
              <a:t>10</a:t>
            </a:r>
            <a:endParaRPr sz="800">
              <a:latin typeface="Roboto"/>
              <a:cs typeface="Roboto"/>
            </a:endParaRPr>
          </a:p>
        </p:txBody>
      </p:sp>
      <p:sp>
        <p:nvSpPr>
          <p:cNvPr id="61" name="object 61" descr=""/>
          <p:cNvSpPr/>
          <p:nvPr/>
        </p:nvSpPr>
        <p:spPr>
          <a:xfrm>
            <a:off x="8010524" y="5829299"/>
            <a:ext cx="0" cy="47625"/>
          </a:xfrm>
          <a:custGeom>
            <a:avLst/>
            <a:gdLst/>
            <a:ahLst/>
            <a:cxnLst/>
            <a:rect l="l" t="t" r="r" b="b"/>
            <a:pathLst>
              <a:path w="0" h="47625">
                <a:moveTo>
                  <a:pt x="0" y="0"/>
                </a:moveTo>
                <a:lnTo>
                  <a:pt x="0" y="47624"/>
                </a:lnTo>
              </a:path>
            </a:pathLst>
          </a:custGeom>
          <a:ln w="9524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 descr=""/>
          <p:cNvSpPr txBox="1"/>
          <p:nvPr/>
        </p:nvSpPr>
        <p:spPr>
          <a:xfrm>
            <a:off x="7508378" y="5858747"/>
            <a:ext cx="1004569" cy="2038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150" spc="-70">
                <a:solidFill>
                  <a:srgbClr val="333333"/>
                </a:solidFill>
                <a:latin typeface="Roboto"/>
                <a:cs typeface="Roboto"/>
              </a:rPr>
              <a:t>Time</a:t>
            </a:r>
            <a:r>
              <a:rPr dirty="0" sz="1150" spc="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150" spc="-105">
                <a:solidFill>
                  <a:srgbClr val="333333"/>
                </a:solidFill>
                <a:latin typeface="Roboto"/>
                <a:cs typeface="Roboto"/>
              </a:rPr>
              <a:t>(s</a:t>
            </a:r>
            <a:r>
              <a:rPr dirty="0" baseline="24305" sz="1200" spc="-157">
                <a:solidFill>
                  <a:srgbClr val="333333"/>
                </a:solidFill>
                <a:latin typeface="Roboto"/>
                <a:cs typeface="Roboto"/>
              </a:rPr>
              <a:t>1</a:t>
            </a:r>
            <a:r>
              <a:rPr dirty="0" sz="1150" spc="-105">
                <a:solidFill>
                  <a:srgbClr val="333333"/>
                </a:solidFill>
                <a:latin typeface="Roboto"/>
                <a:cs typeface="Roboto"/>
              </a:rPr>
              <a:t>e</a:t>
            </a:r>
            <a:r>
              <a:rPr dirty="0" baseline="24305" sz="1200" spc="-157">
                <a:solidFill>
                  <a:srgbClr val="333333"/>
                </a:solidFill>
                <a:latin typeface="Roboto"/>
                <a:cs typeface="Roboto"/>
              </a:rPr>
              <a:t>5</a:t>
            </a:r>
            <a:r>
              <a:rPr dirty="0" sz="1150" spc="-105">
                <a:solidFill>
                  <a:srgbClr val="333333"/>
                </a:solidFill>
                <a:latin typeface="Roboto"/>
                <a:cs typeface="Roboto"/>
              </a:rPr>
              <a:t>conds)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63" name="object 63" descr=""/>
          <p:cNvSpPr/>
          <p:nvPr/>
        </p:nvSpPr>
        <p:spPr>
          <a:xfrm>
            <a:off x="8963024" y="5829299"/>
            <a:ext cx="0" cy="47625"/>
          </a:xfrm>
          <a:custGeom>
            <a:avLst/>
            <a:gdLst/>
            <a:ahLst/>
            <a:cxnLst/>
            <a:rect l="l" t="t" r="r" b="b"/>
            <a:pathLst>
              <a:path w="0" h="47625">
                <a:moveTo>
                  <a:pt x="0" y="0"/>
                </a:moveTo>
                <a:lnTo>
                  <a:pt x="0" y="47624"/>
                </a:lnTo>
              </a:path>
            </a:pathLst>
          </a:custGeom>
          <a:ln w="9524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 descr=""/>
          <p:cNvSpPr txBox="1"/>
          <p:nvPr/>
        </p:nvSpPr>
        <p:spPr>
          <a:xfrm>
            <a:off x="8896746" y="5853508"/>
            <a:ext cx="132715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-25">
                <a:solidFill>
                  <a:srgbClr val="333333"/>
                </a:solidFill>
                <a:latin typeface="Roboto"/>
                <a:cs typeface="Roboto"/>
              </a:rPr>
              <a:t>20</a:t>
            </a:r>
            <a:endParaRPr sz="800">
              <a:latin typeface="Roboto"/>
              <a:cs typeface="Roboto"/>
            </a:endParaRPr>
          </a:p>
        </p:txBody>
      </p:sp>
      <p:sp>
        <p:nvSpPr>
          <p:cNvPr id="65" name="object 65" descr=""/>
          <p:cNvSpPr/>
          <p:nvPr/>
        </p:nvSpPr>
        <p:spPr>
          <a:xfrm>
            <a:off x="9915524" y="5829299"/>
            <a:ext cx="0" cy="47625"/>
          </a:xfrm>
          <a:custGeom>
            <a:avLst/>
            <a:gdLst/>
            <a:ahLst/>
            <a:cxnLst/>
            <a:rect l="l" t="t" r="r" b="b"/>
            <a:pathLst>
              <a:path w="0" h="47625">
                <a:moveTo>
                  <a:pt x="0" y="0"/>
                </a:moveTo>
                <a:lnTo>
                  <a:pt x="0" y="47624"/>
                </a:lnTo>
              </a:path>
            </a:pathLst>
          </a:custGeom>
          <a:ln w="9524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 descr=""/>
          <p:cNvSpPr txBox="1"/>
          <p:nvPr/>
        </p:nvSpPr>
        <p:spPr>
          <a:xfrm>
            <a:off x="9849246" y="5853508"/>
            <a:ext cx="132715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-25">
                <a:solidFill>
                  <a:srgbClr val="333333"/>
                </a:solidFill>
                <a:latin typeface="Roboto"/>
                <a:cs typeface="Roboto"/>
              </a:rPr>
              <a:t>25</a:t>
            </a:r>
            <a:endParaRPr sz="800">
              <a:latin typeface="Roboto"/>
              <a:cs typeface="Roboto"/>
            </a:endParaRPr>
          </a:p>
        </p:txBody>
      </p:sp>
      <p:grpSp>
        <p:nvGrpSpPr>
          <p:cNvPr id="67" name="object 67" descr=""/>
          <p:cNvGrpSpPr/>
          <p:nvPr/>
        </p:nvGrpSpPr>
        <p:grpSpPr>
          <a:xfrm>
            <a:off x="5617368" y="4781549"/>
            <a:ext cx="4786630" cy="495300"/>
            <a:chOff x="5617368" y="4781549"/>
            <a:chExt cx="4786630" cy="495300"/>
          </a:xfrm>
        </p:grpSpPr>
        <p:sp>
          <p:nvSpPr>
            <p:cNvPr id="68" name="object 68" descr=""/>
            <p:cNvSpPr/>
            <p:nvPr/>
          </p:nvSpPr>
          <p:spPr>
            <a:xfrm>
              <a:off x="5629274" y="5253037"/>
              <a:ext cx="28575" cy="9525"/>
            </a:xfrm>
            <a:custGeom>
              <a:avLst/>
              <a:gdLst/>
              <a:ahLst/>
              <a:cxnLst/>
              <a:rect l="l" t="t" r="r" b="b"/>
              <a:pathLst>
                <a:path w="28575" h="9525">
                  <a:moveTo>
                    <a:pt x="28574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9524"/>
                  </a:lnTo>
                  <a:close/>
                </a:path>
              </a:pathLst>
            </a:custGeom>
            <a:solidFill>
              <a:srgbClr val="8787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5686424" y="5257799"/>
              <a:ext cx="4705350" cy="0"/>
            </a:xfrm>
            <a:custGeom>
              <a:avLst/>
              <a:gdLst/>
              <a:ahLst/>
              <a:cxnLst/>
              <a:rect l="l" t="t" r="r" b="b"/>
              <a:pathLst>
                <a:path w="4705350" h="0">
                  <a:moveTo>
                    <a:pt x="0" y="0"/>
                  </a:moveTo>
                  <a:lnTo>
                    <a:pt x="3171824" y="0"/>
                  </a:lnTo>
                </a:path>
                <a:path w="4705350" h="0">
                  <a:moveTo>
                    <a:pt x="3314699" y="0"/>
                  </a:moveTo>
                  <a:lnTo>
                    <a:pt x="4705349" y="0"/>
                  </a:lnTo>
                </a:path>
              </a:pathLst>
            </a:custGeom>
            <a:ln w="9524">
              <a:solidFill>
                <a:srgbClr val="878787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5629274" y="4955978"/>
              <a:ext cx="4762500" cy="302260"/>
            </a:xfrm>
            <a:custGeom>
              <a:avLst/>
              <a:gdLst/>
              <a:ahLst/>
              <a:cxnLst/>
              <a:rect l="l" t="t" r="r" b="b"/>
              <a:pathLst>
                <a:path w="4762500" h="302260">
                  <a:moveTo>
                    <a:pt x="0" y="301820"/>
                  </a:moveTo>
                  <a:lnTo>
                    <a:pt x="190499" y="301820"/>
                  </a:lnTo>
                  <a:lnTo>
                    <a:pt x="206440" y="215194"/>
                  </a:lnTo>
                  <a:lnTo>
                    <a:pt x="222772" y="145030"/>
                  </a:lnTo>
                  <a:lnTo>
                    <a:pt x="239888" y="90154"/>
                  </a:lnTo>
                  <a:lnTo>
                    <a:pt x="258181" y="49388"/>
                  </a:lnTo>
                  <a:lnTo>
                    <a:pt x="299861" y="5487"/>
                  </a:lnTo>
                  <a:lnTo>
                    <a:pt x="324032" y="0"/>
                  </a:lnTo>
                  <a:lnTo>
                    <a:pt x="350948" y="3919"/>
                  </a:lnTo>
                  <a:lnTo>
                    <a:pt x="380999" y="16070"/>
                  </a:lnTo>
                  <a:lnTo>
                    <a:pt x="416904" y="33930"/>
                  </a:lnTo>
                  <a:lnTo>
                    <a:pt x="453925" y="51789"/>
                  </a:lnTo>
                  <a:lnTo>
                    <a:pt x="493179" y="69649"/>
                  </a:lnTo>
                  <a:lnTo>
                    <a:pt x="535781" y="87508"/>
                  </a:lnTo>
                  <a:lnTo>
                    <a:pt x="582848" y="105367"/>
                  </a:lnTo>
                  <a:lnTo>
                    <a:pt x="635496" y="123227"/>
                  </a:lnTo>
                  <a:lnTo>
                    <a:pt x="694841" y="141086"/>
                  </a:lnTo>
                  <a:lnTo>
                    <a:pt x="761999" y="158945"/>
                  </a:lnTo>
                  <a:lnTo>
                    <a:pt x="875109" y="187223"/>
                  </a:lnTo>
                  <a:lnTo>
                    <a:pt x="952499" y="206570"/>
                  </a:lnTo>
                  <a:lnTo>
                    <a:pt x="1029890" y="225918"/>
                  </a:lnTo>
                  <a:lnTo>
                    <a:pt x="1142999" y="254195"/>
                  </a:lnTo>
                  <a:lnTo>
                    <a:pt x="1206251" y="269115"/>
                  </a:lnTo>
                  <a:lnTo>
                    <a:pt x="1256109" y="278901"/>
                  </a:lnTo>
                  <a:lnTo>
                    <a:pt x="1297037" y="284668"/>
                  </a:lnTo>
                  <a:lnTo>
                    <a:pt x="1369962" y="288612"/>
                  </a:lnTo>
                  <a:lnTo>
                    <a:pt x="1410890" y="289021"/>
                  </a:lnTo>
                  <a:lnTo>
                    <a:pt x="1460747" y="289877"/>
                  </a:lnTo>
                  <a:lnTo>
                    <a:pt x="1523999" y="292295"/>
                  </a:lnTo>
                  <a:lnTo>
                    <a:pt x="1587251" y="295244"/>
                  </a:lnTo>
                  <a:lnTo>
                    <a:pt x="1637109" y="297132"/>
                  </a:lnTo>
                  <a:lnTo>
                    <a:pt x="1678036" y="298239"/>
                  </a:lnTo>
                  <a:lnTo>
                    <a:pt x="1714499" y="298844"/>
                  </a:lnTo>
                  <a:lnTo>
                    <a:pt x="1750962" y="299225"/>
                  </a:lnTo>
                  <a:lnTo>
                    <a:pt x="1791890" y="299662"/>
                  </a:lnTo>
                  <a:lnTo>
                    <a:pt x="1841747" y="300435"/>
                  </a:lnTo>
                  <a:lnTo>
                    <a:pt x="1904999" y="301820"/>
                  </a:lnTo>
                  <a:lnTo>
                    <a:pt x="4762499" y="301820"/>
                  </a:lnTo>
                </a:path>
              </a:pathLst>
            </a:custGeom>
            <a:ln w="23812">
              <a:solidFill>
                <a:srgbClr val="E11C4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5629274" y="5021438"/>
              <a:ext cx="4762500" cy="236854"/>
            </a:xfrm>
            <a:custGeom>
              <a:avLst/>
              <a:gdLst/>
              <a:ahLst/>
              <a:cxnLst/>
              <a:rect l="l" t="t" r="r" b="b"/>
              <a:pathLst>
                <a:path w="4762500" h="236854">
                  <a:moveTo>
                    <a:pt x="0" y="236361"/>
                  </a:moveTo>
                  <a:lnTo>
                    <a:pt x="190499" y="236361"/>
                  </a:lnTo>
                  <a:lnTo>
                    <a:pt x="206440" y="163976"/>
                  </a:lnTo>
                  <a:lnTo>
                    <a:pt x="222772" y="105310"/>
                  </a:lnTo>
                  <a:lnTo>
                    <a:pt x="239888" y="59972"/>
                  </a:lnTo>
                  <a:lnTo>
                    <a:pt x="258181" y="27568"/>
                  </a:lnTo>
                  <a:lnTo>
                    <a:pt x="278041" y="7708"/>
                  </a:lnTo>
                  <a:lnTo>
                    <a:pt x="299861" y="0"/>
                  </a:lnTo>
                  <a:lnTo>
                    <a:pt x="324032" y="4050"/>
                  </a:lnTo>
                  <a:lnTo>
                    <a:pt x="350948" y="19468"/>
                  </a:lnTo>
                  <a:lnTo>
                    <a:pt x="380999" y="45861"/>
                  </a:lnTo>
                  <a:lnTo>
                    <a:pt x="419322" y="81267"/>
                  </a:lnTo>
                  <a:lnTo>
                    <a:pt x="454311" y="107509"/>
                  </a:lnTo>
                  <a:lnTo>
                    <a:pt x="488468" y="127087"/>
                  </a:lnTo>
                  <a:lnTo>
                    <a:pt x="524291" y="142499"/>
                  </a:lnTo>
                  <a:lnTo>
                    <a:pt x="564279" y="156245"/>
                  </a:lnTo>
                  <a:lnTo>
                    <a:pt x="610932" y="170824"/>
                  </a:lnTo>
                  <a:lnTo>
                    <a:pt x="666749" y="188736"/>
                  </a:lnTo>
                  <a:lnTo>
                    <a:pt x="716328" y="203656"/>
                  </a:lnTo>
                  <a:lnTo>
                    <a:pt x="759767" y="213441"/>
                  </a:lnTo>
                  <a:lnTo>
                    <a:pt x="799858" y="219208"/>
                  </a:lnTo>
                  <a:lnTo>
                    <a:pt x="839390" y="222073"/>
                  </a:lnTo>
                  <a:lnTo>
                    <a:pt x="881155" y="223152"/>
                  </a:lnTo>
                  <a:lnTo>
                    <a:pt x="927943" y="223561"/>
                  </a:lnTo>
                  <a:lnTo>
                    <a:pt x="982544" y="224417"/>
                  </a:lnTo>
                  <a:lnTo>
                    <a:pt x="1047749" y="226836"/>
                  </a:lnTo>
                  <a:lnTo>
                    <a:pt x="1111001" y="229784"/>
                  </a:lnTo>
                  <a:lnTo>
                    <a:pt x="1160859" y="231673"/>
                  </a:lnTo>
                  <a:lnTo>
                    <a:pt x="1201787" y="232779"/>
                  </a:lnTo>
                  <a:lnTo>
                    <a:pt x="1238249" y="233384"/>
                  </a:lnTo>
                  <a:lnTo>
                    <a:pt x="1274712" y="233765"/>
                  </a:lnTo>
                  <a:lnTo>
                    <a:pt x="1315640" y="234203"/>
                  </a:lnTo>
                  <a:lnTo>
                    <a:pt x="1365497" y="234975"/>
                  </a:lnTo>
                  <a:lnTo>
                    <a:pt x="1428749" y="236361"/>
                  </a:lnTo>
                  <a:lnTo>
                    <a:pt x="4762499" y="236361"/>
                  </a:lnTo>
                </a:path>
              </a:pathLst>
            </a:custGeom>
            <a:ln w="23812">
              <a:solidFill>
                <a:srgbClr val="F9731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5629274" y="5114785"/>
              <a:ext cx="4762500" cy="143510"/>
            </a:xfrm>
            <a:custGeom>
              <a:avLst/>
              <a:gdLst/>
              <a:ahLst/>
              <a:cxnLst/>
              <a:rect l="l" t="t" r="r" b="b"/>
              <a:pathLst>
                <a:path w="4762500" h="143510">
                  <a:moveTo>
                    <a:pt x="0" y="143013"/>
                  </a:moveTo>
                  <a:lnTo>
                    <a:pt x="190499" y="143013"/>
                  </a:lnTo>
                  <a:lnTo>
                    <a:pt x="211049" y="87752"/>
                  </a:lnTo>
                  <a:lnTo>
                    <a:pt x="232432" y="44986"/>
                  </a:lnTo>
                  <a:lnTo>
                    <a:pt x="255481" y="15551"/>
                  </a:lnTo>
                  <a:lnTo>
                    <a:pt x="281029" y="277"/>
                  </a:lnTo>
                  <a:lnTo>
                    <a:pt x="309909" y="0"/>
                  </a:lnTo>
                  <a:lnTo>
                    <a:pt x="342955" y="15551"/>
                  </a:lnTo>
                  <a:lnTo>
                    <a:pt x="380999" y="47763"/>
                  </a:lnTo>
                  <a:lnTo>
                    <a:pt x="428243" y="92340"/>
                  </a:lnTo>
                  <a:lnTo>
                    <a:pt x="461771" y="116343"/>
                  </a:lnTo>
                  <a:lnTo>
                    <a:pt x="490727" y="126630"/>
                  </a:lnTo>
                  <a:lnTo>
                    <a:pt x="524255" y="130059"/>
                  </a:lnTo>
                  <a:lnTo>
                    <a:pt x="571499" y="133488"/>
                  </a:lnTo>
                  <a:lnTo>
                    <a:pt x="628054" y="138325"/>
                  </a:lnTo>
                  <a:lnTo>
                    <a:pt x="666749" y="140037"/>
                  </a:lnTo>
                  <a:lnTo>
                    <a:pt x="705445" y="140855"/>
                  </a:lnTo>
                  <a:lnTo>
                    <a:pt x="761999" y="143013"/>
                  </a:lnTo>
                  <a:lnTo>
                    <a:pt x="4762499" y="143013"/>
                  </a:lnTo>
                </a:path>
              </a:pathLst>
            </a:custGeom>
            <a:ln w="23812">
              <a:solidFill>
                <a:srgbClr val="0045A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8867774" y="4781549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299" y="114299"/>
                  </a:moveTo>
                  <a:lnTo>
                    <a:pt x="0" y="114299"/>
                  </a:lnTo>
                  <a:lnTo>
                    <a:pt x="0" y="0"/>
                  </a:lnTo>
                  <a:lnTo>
                    <a:pt x="114299" y="0"/>
                  </a:lnTo>
                  <a:lnTo>
                    <a:pt x="114299" y="114299"/>
                  </a:lnTo>
                  <a:close/>
                </a:path>
              </a:pathLst>
            </a:custGeom>
            <a:solidFill>
              <a:srgbClr val="E11C4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8867774" y="4972049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299" y="114299"/>
                  </a:moveTo>
                  <a:lnTo>
                    <a:pt x="0" y="114299"/>
                  </a:lnTo>
                  <a:lnTo>
                    <a:pt x="0" y="0"/>
                  </a:lnTo>
                  <a:lnTo>
                    <a:pt x="114299" y="0"/>
                  </a:lnTo>
                  <a:lnTo>
                    <a:pt x="114299" y="114299"/>
                  </a:lnTo>
                  <a:close/>
                </a:path>
              </a:pathLst>
            </a:custGeom>
            <a:solidFill>
              <a:srgbClr val="F973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8867774" y="5162549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299" y="114299"/>
                  </a:moveTo>
                  <a:lnTo>
                    <a:pt x="0" y="114299"/>
                  </a:lnTo>
                  <a:lnTo>
                    <a:pt x="0" y="0"/>
                  </a:lnTo>
                  <a:lnTo>
                    <a:pt x="114299" y="0"/>
                  </a:lnTo>
                  <a:lnTo>
                    <a:pt x="114299" y="114299"/>
                  </a:lnTo>
                  <a:close/>
                </a:path>
              </a:pathLst>
            </a:custGeom>
            <a:solidFill>
              <a:srgbClr val="0045A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6" name="object 76" descr=""/>
          <p:cNvSpPr txBox="1"/>
          <p:nvPr/>
        </p:nvSpPr>
        <p:spPr>
          <a:xfrm>
            <a:off x="5467746" y="5164286"/>
            <a:ext cx="79375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-50">
                <a:solidFill>
                  <a:srgbClr val="333333"/>
                </a:solidFill>
                <a:latin typeface="Roboto"/>
                <a:cs typeface="Roboto"/>
              </a:rPr>
              <a:t>0</a:t>
            </a:r>
            <a:endParaRPr sz="800">
              <a:latin typeface="Roboto"/>
              <a:cs typeface="Roboto"/>
            </a:endParaRPr>
          </a:p>
        </p:txBody>
      </p:sp>
      <p:sp>
        <p:nvSpPr>
          <p:cNvPr id="77" name="object 77" descr=""/>
          <p:cNvSpPr txBox="1"/>
          <p:nvPr/>
        </p:nvSpPr>
        <p:spPr>
          <a:xfrm>
            <a:off x="5309244" y="5450035"/>
            <a:ext cx="237490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-30">
                <a:solidFill>
                  <a:srgbClr val="333333"/>
                </a:solidFill>
                <a:latin typeface="Roboto"/>
                <a:cs typeface="Roboto"/>
              </a:rPr>
              <a:t>-</a:t>
            </a:r>
            <a:r>
              <a:rPr dirty="0" sz="800" spc="-20">
                <a:solidFill>
                  <a:srgbClr val="333333"/>
                </a:solidFill>
                <a:latin typeface="Roboto"/>
                <a:cs typeface="Roboto"/>
              </a:rPr>
              <a:t>0.03</a:t>
            </a:r>
            <a:endParaRPr sz="800">
              <a:latin typeface="Roboto"/>
              <a:cs typeface="Roboto"/>
            </a:endParaRPr>
          </a:p>
        </p:txBody>
      </p:sp>
      <p:sp>
        <p:nvSpPr>
          <p:cNvPr id="78" name="object 78" descr=""/>
          <p:cNvSpPr txBox="1"/>
          <p:nvPr/>
        </p:nvSpPr>
        <p:spPr>
          <a:xfrm>
            <a:off x="5281562" y="4878536"/>
            <a:ext cx="265430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-20">
                <a:solidFill>
                  <a:srgbClr val="333333"/>
                </a:solidFill>
                <a:latin typeface="Roboto"/>
                <a:cs typeface="Roboto"/>
              </a:rPr>
              <a:t>+0.03</a:t>
            </a:r>
            <a:endParaRPr sz="800">
              <a:latin typeface="Roboto"/>
              <a:cs typeface="Roboto"/>
            </a:endParaRPr>
          </a:p>
        </p:txBody>
      </p:sp>
      <p:sp>
        <p:nvSpPr>
          <p:cNvPr id="79" name="object 79" descr=""/>
          <p:cNvSpPr txBox="1"/>
          <p:nvPr/>
        </p:nvSpPr>
        <p:spPr>
          <a:xfrm>
            <a:off x="9017000" y="4729243"/>
            <a:ext cx="779780" cy="59690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1000" spc="-25">
                <a:solidFill>
                  <a:srgbClr val="333333"/>
                </a:solidFill>
                <a:latin typeface="Roboto"/>
                <a:cs typeface="Roboto"/>
              </a:rPr>
              <a:t>PID</a:t>
            </a:r>
            <a:endParaRPr sz="10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000" spc="-60">
                <a:solidFill>
                  <a:srgbClr val="333333"/>
                </a:solidFill>
                <a:latin typeface="Roboto"/>
                <a:cs typeface="Roboto"/>
              </a:rPr>
              <a:t>Fuzzy-</a:t>
            </a:r>
            <a:r>
              <a:rPr dirty="0" sz="1000" spc="-25">
                <a:solidFill>
                  <a:srgbClr val="333333"/>
                </a:solidFill>
                <a:latin typeface="Roboto"/>
                <a:cs typeface="Roboto"/>
              </a:rPr>
              <a:t>PID</a:t>
            </a:r>
            <a:endParaRPr sz="10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000" spc="-70">
                <a:solidFill>
                  <a:srgbClr val="333333"/>
                </a:solidFill>
                <a:latin typeface="Roboto"/>
                <a:cs typeface="Roboto"/>
              </a:rPr>
              <a:t>ABC-</a:t>
            </a:r>
            <a:r>
              <a:rPr dirty="0" sz="1000" spc="-60">
                <a:solidFill>
                  <a:srgbClr val="333333"/>
                </a:solidFill>
                <a:latin typeface="Roboto"/>
                <a:cs typeface="Roboto"/>
              </a:rPr>
              <a:t>Fuzzy-</a:t>
            </a:r>
            <a:r>
              <a:rPr dirty="0" sz="1000" spc="-25">
                <a:solidFill>
                  <a:srgbClr val="333333"/>
                </a:solidFill>
                <a:latin typeface="Roboto"/>
                <a:cs typeface="Roboto"/>
              </a:rPr>
              <a:t>PID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80" name="object 80" descr=""/>
          <p:cNvSpPr/>
          <p:nvPr/>
        </p:nvSpPr>
        <p:spPr>
          <a:xfrm>
            <a:off x="11125187" y="552779"/>
            <a:ext cx="242570" cy="100330"/>
          </a:xfrm>
          <a:custGeom>
            <a:avLst/>
            <a:gdLst/>
            <a:ahLst/>
            <a:cxnLst/>
            <a:rect l="l" t="t" r="r" b="b"/>
            <a:pathLst>
              <a:path w="242570" h="100329">
                <a:moveTo>
                  <a:pt x="48107" y="393"/>
                </a:moveTo>
                <a:lnTo>
                  <a:pt x="0" y="393"/>
                </a:lnTo>
                <a:lnTo>
                  <a:pt x="0" y="13093"/>
                </a:lnTo>
                <a:lnTo>
                  <a:pt x="0" y="43573"/>
                </a:lnTo>
                <a:lnTo>
                  <a:pt x="0" y="56273"/>
                </a:lnTo>
                <a:lnTo>
                  <a:pt x="0" y="99453"/>
                </a:lnTo>
                <a:lnTo>
                  <a:pt x="15989" y="99453"/>
                </a:lnTo>
                <a:lnTo>
                  <a:pt x="15989" y="56273"/>
                </a:lnTo>
                <a:lnTo>
                  <a:pt x="44869" y="56273"/>
                </a:lnTo>
                <a:lnTo>
                  <a:pt x="44869" y="43573"/>
                </a:lnTo>
                <a:lnTo>
                  <a:pt x="15989" y="43573"/>
                </a:lnTo>
                <a:lnTo>
                  <a:pt x="15989" y="13093"/>
                </a:lnTo>
                <a:lnTo>
                  <a:pt x="48107" y="13093"/>
                </a:lnTo>
                <a:lnTo>
                  <a:pt x="48107" y="393"/>
                </a:lnTo>
                <a:close/>
              </a:path>
              <a:path w="242570" h="100329">
                <a:moveTo>
                  <a:pt x="77597" y="0"/>
                </a:moveTo>
                <a:lnTo>
                  <a:pt x="61620" y="0"/>
                </a:lnTo>
                <a:lnTo>
                  <a:pt x="61620" y="99847"/>
                </a:lnTo>
                <a:lnTo>
                  <a:pt x="77597" y="99847"/>
                </a:lnTo>
                <a:lnTo>
                  <a:pt x="77597" y="0"/>
                </a:lnTo>
                <a:close/>
              </a:path>
              <a:path w="242570" h="100329">
                <a:moveTo>
                  <a:pt x="144843" y="393"/>
                </a:moveTo>
                <a:lnTo>
                  <a:pt x="96748" y="393"/>
                </a:lnTo>
                <a:lnTo>
                  <a:pt x="96748" y="13093"/>
                </a:lnTo>
                <a:lnTo>
                  <a:pt x="96748" y="43573"/>
                </a:lnTo>
                <a:lnTo>
                  <a:pt x="96748" y="56273"/>
                </a:lnTo>
                <a:lnTo>
                  <a:pt x="96748" y="86753"/>
                </a:lnTo>
                <a:lnTo>
                  <a:pt x="96748" y="99453"/>
                </a:lnTo>
                <a:lnTo>
                  <a:pt x="144843" y="99453"/>
                </a:lnTo>
                <a:lnTo>
                  <a:pt x="144843" y="86753"/>
                </a:lnTo>
                <a:lnTo>
                  <a:pt x="112725" y="86753"/>
                </a:lnTo>
                <a:lnTo>
                  <a:pt x="112725" y="56273"/>
                </a:lnTo>
                <a:lnTo>
                  <a:pt x="141605" y="56273"/>
                </a:lnTo>
                <a:lnTo>
                  <a:pt x="141605" y="43573"/>
                </a:lnTo>
                <a:lnTo>
                  <a:pt x="112725" y="43573"/>
                </a:lnTo>
                <a:lnTo>
                  <a:pt x="112725" y="13093"/>
                </a:lnTo>
                <a:lnTo>
                  <a:pt x="144843" y="13093"/>
                </a:lnTo>
                <a:lnTo>
                  <a:pt x="144843" y="393"/>
                </a:lnTo>
                <a:close/>
              </a:path>
              <a:path w="242570" h="100329">
                <a:moveTo>
                  <a:pt x="208483" y="393"/>
                </a:moveTo>
                <a:lnTo>
                  <a:pt x="160375" y="393"/>
                </a:lnTo>
                <a:lnTo>
                  <a:pt x="160375" y="13093"/>
                </a:lnTo>
                <a:lnTo>
                  <a:pt x="160375" y="43573"/>
                </a:lnTo>
                <a:lnTo>
                  <a:pt x="160375" y="56273"/>
                </a:lnTo>
                <a:lnTo>
                  <a:pt x="160375" y="86753"/>
                </a:lnTo>
                <a:lnTo>
                  <a:pt x="160375" y="99453"/>
                </a:lnTo>
                <a:lnTo>
                  <a:pt x="208483" y="99453"/>
                </a:lnTo>
                <a:lnTo>
                  <a:pt x="208483" y="86753"/>
                </a:lnTo>
                <a:lnTo>
                  <a:pt x="176364" y="86753"/>
                </a:lnTo>
                <a:lnTo>
                  <a:pt x="176364" y="56273"/>
                </a:lnTo>
                <a:lnTo>
                  <a:pt x="205244" y="56273"/>
                </a:lnTo>
                <a:lnTo>
                  <a:pt x="205244" y="43573"/>
                </a:lnTo>
                <a:lnTo>
                  <a:pt x="176364" y="43573"/>
                </a:lnTo>
                <a:lnTo>
                  <a:pt x="176364" y="13093"/>
                </a:lnTo>
                <a:lnTo>
                  <a:pt x="208483" y="13093"/>
                </a:lnTo>
                <a:lnTo>
                  <a:pt x="208483" y="393"/>
                </a:lnTo>
                <a:close/>
              </a:path>
              <a:path w="242570" h="100329">
                <a:moveTo>
                  <a:pt x="242557" y="0"/>
                </a:moveTo>
                <a:lnTo>
                  <a:pt x="226580" y="0"/>
                </a:lnTo>
                <a:lnTo>
                  <a:pt x="226580" y="99847"/>
                </a:lnTo>
                <a:lnTo>
                  <a:pt x="242557" y="99847"/>
                </a:lnTo>
                <a:lnTo>
                  <a:pt x="242557" y="0"/>
                </a:lnTo>
                <a:close/>
              </a:path>
            </a:pathLst>
          </a:custGeom>
          <a:solidFill>
            <a:srgbClr val="0045A5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1" name="object 81" descr=""/>
          <p:cNvGrpSpPr/>
          <p:nvPr/>
        </p:nvGrpSpPr>
        <p:grpSpPr>
          <a:xfrm>
            <a:off x="10544174" y="7219950"/>
            <a:ext cx="1457325" cy="323850"/>
            <a:chOff x="10544174" y="7219950"/>
            <a:chExt cx="1457325" cy="323850"/>
          </a:xfrm>
        </p:grpSpPr>
        <p:sp>
          <p:nvSpPr>
            <p:cNvPr id="82" name="object 82" descr=""/>
            <p:cNvSpPr/>
            <p:nvPr/>
          </p:nvSpPr>
          <p:spPr>
            <a:xfrm>
              <a:off x="10544174" y="7219950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3" name="object 8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658474" y="7315199"/>
              <a:ext cx="133349" cy="133349"/>
            </a:xfrm>
            <a:prstGeom prst="rect">
              <a:avLst/>
            </a:prstGeom>
          </p:spPr>
        </p:pic>
      </p:grpSp>
      <p:sp>
        <p:nvSpPr>
          <p:cNvPr id="84" name="object 84" descr=""/>
          <p:cNvSpPr txBox="1"/>
          <p:nvPr/>
        </p:nvSpPr>
        <p:spPr>
          <a:xfrm>
            <a:off x="10833000" y="7321550"/>
            <a:ext cx="1066800" cy="1346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75"/>
              </a:lnSpc>
            </a:pPr>
            <a:r>
              <a:rPr dirty="0" sz="1000" spc="-75">
                <a:solidFill>
                  <a:srgbClr val="FFFFFF"/>
                </a:solidFill>
                <a:latin typeface="Roboto"/>
                <a:cs typeface="Roboto"/>
              </a:rPr>
              <a:t>Made</a:t>
            </a:r>
            <a:r>
              <a:rPr dirty="0" sz="10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FFFFFF"/>
                </a:solidFill>
                <a:latin typeface="Roboto"/>
                <a:cs typeface="Roboto"/>
              </a:rPr>
              <a:t>with</a:t>
            </a:r>
            <a:r>
              <a:rPr dirty="0" sz="10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FFFFFF"/>
                </a:solidFill>
                <a:latin typeface="Roboto"/>
                <a:cs typeface="Roboto"/>
              </a:rPr>
              <a:t>Genspark</a:t>
            </a:r>
            <a:endParaRPr sz="10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6743699"/>
            <a:ext cx="12192000" cy="114300"/>
          </a:xfrm>
          <a:custGeom>
            <a:avLst/>
            <a:gdLst/>
            <a:ahLst/>
            <a:cxnLst/>
            <a:rect l="l" t="t" r="r" b="b"/>
            <a:pathLst>
              <a:path w="12192000" h="114300">
                <a:moveTo>
                  <a:pt x="12191999" y="114299"/>
                </a:moveTo>
                <a:lnTo>
                  <a:pt x="0" y="1142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114299"/>
                </a:lnTo>
                <a:close/>
              </a:path>
            </a:pathLst>
          </a:custGeom>
          <a:solidFill>
            <a:srgbClr val="0045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65"/>
              <a:t>Discussion</a:t>
            </a:r>
            <a:r>
              <a:rPr dirty="0" spc="-40"/>
              <a:t> </a:t>
            </a:r>
            <a:r>
              <a:rPr dirty="0" spc="-204"/>
              <a:t>&amp;</a:t>
            </a:r>
            <a:r>
              <a:rPr dirty="0" spc="-40"/>
              <a:t> </a:t>
            </a:r>
            <a:r>
              <a:rPr dirty="0" spc="-135"/>
              <a:t>Implications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804094"/>
            <a:ext cx="186481" cy="1864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240581" y="1520672"/>
            <a:ext cx="4117975" cy="6731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4900"/>
              </a:lnSpc>
              <a:spcBef>
                <a:spcPts val="95"/>
              </a:spcBef>
            </a:pPr>
            <a:r>
              <a:rPr dirty="0" sz="1850" spc="-105">
                <a:latin typeface="Roboto"/>
                <a:cs typeface="Roboto"/>
              </a:rPr>
              <a:t>Robust</a:t>
            </a:r>
            <a:r>
              <a:rPr dirty="0" sz="1850" spc="-10">
                <a:latin typeface="Roboto"/>
                <a:cs typeface="Roboto"/>
              </a:rPr>
              <a:t> </a:t>
            </a:r>
            <a:r>
              <a:rPr dirty="0" sz="1850" spc="-100">
                <a:latin typeface="Roboto"/>
                <a:cs typeface="Roboto"/>
              </a:rPr>
              <a:t>adaptive</a:t>
            </a:r>
            <a:r>
              <a:rPr dirty="0" sz="1850" spc="-10">
                <a:latin typeface="Roboto"/>
                <a:cs typeface="Roboto"/>
              </a:rPr>
              <a:t> </a:t>
            </a:r>
            <a:r>
              <a:rPr dirty="0" sz="1850" spc="-90">
                <a:latin typeface="Roboto"/>
                <a:cs typeface="Roboto"/>
              </a:rPr>
              <a:t>control</a:t>
            </a:r>
            <a:r>
              <a:rPr dirty="0" sz="1850" spc="-10">
                <a:latin typeface="Roboto"/>
                <a:cs typeface="Roboto"/>
              </a:rPr>
              <a:t> </a:t>
            </a:r>
            <a:r>
              <a:rPr dirty="0" sz="1850" spc="-85">
                <a:latin typeface="Roboto"/>
                <a:cs typeface="Roboto"/>
              </a:rPr>
              <a:t>essential</a:t>
            </a:r>
            <a:r>
              <a:rPr dirty="0" sz="1850" spc="-10">
                <a:latin typeface="Roboto"/>
                <a:cs typeface="Roboto"/>
              </a:rPr>
              <a:t> </a:t>
            </a:r>
            <a:r>
              <a:rPr dirty="0" sz="1850" spc="-80">
                <a:latin typeface="Roboto"/>
                <a:cs typeface="Roboto"/>
              </a:rPr>
              <a:t>for</a:t>
            </a:r>
            <a:r>
              <a:rPr dirty="0" sz="1850" spc="-10">
                <a:latin typeface="Roboto"/>
                <a:cs typeface="Roboto"/>
              </a:rPr>
              <a:t> </a:t>
            </a:r>
            <a:r>
              <a:rPr dirty="0" sz="1850" spc="-40">
                <a:latin typeface="Roboto"/>
                <a:cs typeface="Roboto"/>
              </a:rPr>
              <a:t>future </a:t>
            </a:r>
            <a:r>
              <a:rPr dirty="0" sz="1850" spc="-10">
                <a:latin typeface="Roboto"/>
                <a:cs typeface="Roboto"/>
              </a:rPr>
              <a:t>grids</a:t>
            </a:r>
            <a:endParaRPr sz="1850">
              <a:latin typeface="Roboto"/>
              <a:cs typeface="Roboto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2680161"/>
            <a:ext cx="183228" cy="183228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240581" y="2387447"/>
            <a:ext cx="4185285" cy="6731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4900"/>
              </a:lnSpc>
              <a:spcBef>
                <a:spcPts val="95"/>
              </a:spcBef>
            </a:pPr>
            <a:r>
              <a:rPr dirty="0" sz="1850" spc="-95">
                <a:latin typeface="Roboto"/>
                <a:cs typeface="Roboto"/>
              </a:rPr>
              <a:t>Fuzzy-</a:t>
            </a:r>
            <a:r>
              <a:rPr dirty="0" sz="1850" spc="-125">
                <a:latin typeface="Roboto"/>
                <a:cs typeface="Roboto"/>
              </a:rPr>
              <a:t>ABC</a:t>
            </a:r>
            <a:r>
              <a:rPr dirty="0" sz="1850">
                <a:latin typeface="Roboto"/>
                <a:cs typeface="Roboto"/>
              </a:rPr>
              <a:t> </a:t>
            </a:r>
            <a:r>
              <a:rPr dirty="0" sz="1850" spc="-110">
                <a:latin typeface="Roboto"/>
                <a:cs typeface="Roboto"/>
              </a:rPr>
              <a:t>methods</a:t>
            </a:r>
            <a:r>
              <a:rPr dirty="0" sz="1850">
                <a:latin typeface="Roboto"/>
                <a:cs typeface="Roboto"/>
              </a:rPr>
              <a:t> </a:t>
            </a:r>
            <a:r>
              <a:rPr dirty="0" sz="1850" spc="-100">
                <a:latin typeface="Roboto"/>
                <a:cs typeface="Roboto"/>
              </a:rPr>
              <a:t>handle</a:t>
            </a:r>
            <a:r>
              <a:rPr dirty="0" sz="1850">
                <a:latin typeface="Roboto"/>
                <a:cs typeface="Roboto"/>
              </a:rPr>
              <a:t> </a:t>
            </a:r>
            <a:r>
              <a:rPr dirty="0" sz="1850" spc="-85">
                <a:latin typeface="Roboto"/>
                <a:cs typeface="Roboto"/>
              </a:rPr>
              <a:t>nonlinearity</a:t>
            </a:r>
            <a:r>
              <a:rPr dirty="0" sz="1850">
                <a:latin typeface="Roboto"/>
                <a:cs typeface="Roboto"/>
              </a:rPr>
              <a:t> </a:t>
            </a:r>
            <a:r>
              <a:rPr dirty="0" sz="1850" spc="-25">
                <a:latin typeface="Roboto"/>
                <a:cs typeface="Roboto"/>
              </a:rPr>
              <a:t>and </a:t>
            </a:r>
            <a:r>
              <a:rPr dirty="0" sz="1850" spc="-85">
                <a:latin typeface="Roboto"/>
                <a:cs typeface="Roboto"/>
              </a:rPr>
              <a:t>uncertainty</a:t>
            </a:r>
            <a:r>
              <a:rPr dirty="0" sz="1850" spc="-10">
                <a:latin typeface="Roboto"/>
                <a:cs typeface="Roboto"/>
              </a:rPr>
              <a:t> better</a:t>
            </a:r>
            <a:endParaRPr sz="1850">
              <a:latin typeface="Roboto"/>
              <a:cs typeface="Roboto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3546935"/>
            <a:ext cx="183228" cy="183228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240581" y="3254222"/>
            <a:ext cx="4220845" cy="6731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4900"/>
              </a:lnSpc>
              <a:spcBef>
                <a:spcPts val="95"/>
              </a:spcBef>
            </a:pPr>
            <a:r>
              <a:rPr dirty="0" sz="1850" spc="-110">
                <a:latin typeface="Roboto"/>
                <a:cs typeface="Roboto"/>
              </a:rPr>
              <a:t>Improved</a:t>
            </a:r>
            <a:r>
              <a:rPr dirty="0" sz="1850" spc="5">
                <a:latin typeface="Roboto"/>
                <a:cs typeface="Roboto"/>
              </a:rPr>
              <a:t> </a:t>
            </a:r>
            <a:r>
              <a:rPr dirty="0" sz="1850" spc="-105">
                <a:latin typeface="Roboto"/>
                <a:cs typeface="Roboto"/>
              </a:rPr>
              <a:t>frequency</a:t>
            </a:r>
            <a:r>
              <a:rPr dirty="0" sz="1850" spc="5">
                <a:latin typeface="Roboto"/>
                <a:cs typeface="Roboto"/>
              </a:rPr>
              <a:t> </a:t>
            </a:r>
            <a:r>
              <a:rPr dirty="0" sz="1850" spc="-80">
                <a:latin typeface="Roboto"/>
                <a:cs typeface="Roboto"/>
              </a:rPr>
              <a:t>stability</a:t>
            </a:r>
            <a:r>
              <a:rPr dirty="0" sz="1850" spc="5">
                <a:latin typeface="Roboto"/>
                <a:cs typeface="Roboto"/>
              </a:rPr>
              <a:t> </a:t>
            </a:r>
            <a:r>
              <a:rPr dirty="0" sz="1850" spc="-100">
                <a:latin typeface="Roboto"/>
                <a:cs typeface="Roboto"/>
              </a:rPr>
              <a:t>=</a:t>
            </a:r>
            <a:r>
              <a:rPr dirty="0" sz="1850" spc="5">
                <a:latin typeface="Roboto"/>
                <a:cs typeface="Roboto"/>
              </a:rPr>
              <a:t> </a:t>
            </a:r>
            <a:r>
              <a:rPr dirty="0" sz="1850" spc="-120">
                <a:latin typeface="Roboto"/>
                <a:cs typeface="Roboto"/>
              </a:rPr>
              <a:t>more</a:t>
            </a:r>
            <a:r>
              <a:rPr dirty="0" sz="1850" spc="5">
                <a:latin typeface="Roboto"/>
                <a:cs typeface="Roboto"/>
              </a:rPr>
              <a:t> </a:t>
            </a:r>
            <a:r>
              <a:rPr dirty="0" sz="1850" spc="-45">
                <a:latin typeface="Roboto"/>
                <a:cs typeface="Roboto"/>
              </a:rPr>
              <a:t>resilient </a:t>
            </a:r>
            <a:r>
              <a:rPr dirty="0" sz="1850" spc="-100">
                <a:latin typeface="Roboto"/>
                <a:cs typeface="Roboto"/>
              </a:rPr>
              <a:t>renewable</a:t>
            </a:r>
            <a:r>
              <a:rPr dirty="0" sz="1850" spc="-45">
                <a:latin typeface="Roboto"/>
                <a:cs typeface="Roboto"/>
              </a:rPr>
              <a:t> </a:t>
            </a:r>
            <a:r>
              <a:rPr dirty="0" sz="1850" spc="-10">
                <a:latin typeface="Roboto"/>
                <a:cs typeface="Roboto"/>
              </a:rPr>
              <a:t>integration</a:t>
            </a:r>
            <a:endParaRPr sz="1850">
              <a:latin typeface="Roboto"/>
              <a:cs typeface="Roboto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4413710"/>
            <a:ext cx="183228" cy="183228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1240581" y="4140047"/>
            <a:ext cx="3727450" cy="6540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1500"/>
              </a:lnSpc>
              <a:spcBef>
                <a:spcPts val="95"/>
              </a:spcBef>
            </a:pPr>
            <a:r>
              <a:rPr dirty="0" sz="1850" spc="-95">
                <a:latin typeface="Roboto"/>
                <a:cs typeface="Roboto"/>
              </a:rPr>
              <a:t>Practical</a:t>
            </a:r>
            <a:r>
              <a:rPr dirty="0" sz="1850" spc="-5">
                <a:latin typeface="Roboto"/>
                <a:cs typeface="Roboto"/>
              </a:rPr>
              <a:t> </a:t>
            </a:r>
            <a:r>
              <a:rPr dirty="0" sz="1850" spc="-100">
                <a:latin typeface="Roboto"/>
                <a:cs typeface="Roboto"/>
              </a:rPr>
              <a:t>value</a:t>
            </a:r>
            <a:r>
              <a:rPr dirty="0" sz="1850" spc="-5">
                <a:latin typeface="Roboto"/>
                <a:cs typeface="Roboto"/>
              </a:rPr>
              <a:t> </a:t>
            </a:r>
            <a:r>
              <a:rPr dirty="0" sz="1850" spc="-80">
                <a:latin typeface="Roboto"/>
                <a:cs typeface="Roboto"/>
              </a:rPr>
              <a:t>for</a:t>
            </a:r>
            <a:r>
              <a:rPr dirty="0" sz="1850">
                <a:latin typeface="Roboto"/>
                <a:cs typeface="Roboto"/>
              </a:rPr>
              <a:t> </a:t>
            </a:r>
            <a:r>
              <a:rPr dirty="0" sz="1850" spc="-95">
                <a:latin typeface="Roboto"/>
                <a:cs typeface="Roboto"/>
              </a:rPr>
              <a:t>large</a:t>
            </a:r>
            <a:r>
              <a:rPr dirty="0" sz="1850" spc="-5">
                <a:latin typeface="Roboto"/>
                <a:cs typeface="Roboto"/>
              </a:rPr>
              <a:t> </a:t>
            </a:r>
            <a:r>
              <a:rPr dirty="0" sz="1850" spc="-75">
                <a:latin typeface="Roboto"/>
                <a:cs typeface="Roboto"/>
              </a:rPr>
              <a:t>interconnected </a:t>
            </a:r>
            <a:r>
              <a:rPr dirty="0" sz="1850" spc="-105">
                <a:latin typeface="Roboto"/>
                <a:cs typeface="Roboto"/>
              </a:rPr>
              <a:t>networks</a:t>
            </a:r>
            <a:r>
              <a:rPr dirty="0" sz="1850" spc="-10">
                <a:latin typeface="Roboto"/>
                <a:cs typeface="Roboto"/>
              </a:rPr>
              <a:t> </a:t>
            </a:r>
            <a:r>
              <a:rPr dirty="0" sz="1850" spc="-95">
                <a:latin typeface="Roboto"/>
                <a:cs typeface="Roboto"/>
              </a:rPr>
              <a:t>with</a:t>
            </a:r>
            <a:r>
              <a:rPr dirty="0" sz="1850" spc="-10">
                <a:latin typeface="Roboto"/>
                <a:cs typeface="Roboto"/>
              </a:rPr>
              <a:t> </a:t>
            </a:r>
            <a:r>
              <a:rPr dirty="0" sz="1850" spc="-100">
                <a:latin typeface="Roboto"/>
                <a:cs typeface="Roboto"/>
              </a:rPr>
              <a:t>high</a:t>
            </a:r>
            <a:r>
              <a:rPr dirty="0" sz="1850" spc="-5">
                <a:latin typeface="Roboto"/>
                <a:cs typeface="Roboto"/>
              </a:rPr>
              <a:t> </a:t>
            </a:r>
            <a:r>
              <a:rPr dirty="0" sz="1850" spc="-90">
                <a:latin typeface="Roboto"/>
                <a:cs typeface="Roboto"/>
              </a:rPr>
              <a:t>wind/solar</a:t>
            </a:r>
            <a:r>
              <a:rPr dirty="0" sz="1850" spc="-10">
                <a:latin typeface="Roboto"/>
                <a:cs typeface="Roboto"/>
              </a:rPr>
              <a:t> share</a:t>
            </a:r>
            <a:endParaRPr sz="1850">
              <a:latin typeface="Roboto"/>
              <a:cs typeface="Roboto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76974" y="1819275"/>
            <a:ext cx="4019549" cy="3257549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7810003" y="3204703"/>
            <a:ext cx="953769" cy="42481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40"/>
              </a:spcBef>
            </a:pPr>
            <a:r>
              <a:rPr dirty="0" sz="1100" spc="-45" b="1">
                <a:solidFill>
                  <a:srgbClr val="0045A5"/>
                </a:solidFill>
                <a:latin typeface="Roboto"/>
                <a:cs typeface="Roboto"/>
              </a:rPr>
              <a:t>ABC-</a:t>
            </a:r>
            <a:r>
              <a:rPr dirty="0" sz="1100" spc="-40" b="1">
                <a:solidFill>
                  <a:srgbClr val="0045A5"/>
                </a:solidFill>
                <a:latin typeface="Roboto"/>
                <a:cs typeface="Roboto"/>
              </a:rPr>
              <a:t>Fuzzy-</a:t>
            </a:r>
            <a:r>
              <a:rPr dirty="0" sz="1100" spc="-25" b="1">
                <a:solidFill>
                  <a:srgbClr val="0045A5"/>
                </a:solidFill>
                <a:latin typeface="Roboto"/>
                <a:cs typeface="Roboto"/>
              </a:rPr>
              <a:t>PID</a:t>
            </a:r>
            <a:endParaRPr sz="11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  <a:spcBef>
                <a:spcPts val="280"/>
              </a:spcBef>
            </a:pPr>
            <a:r>
              <a:rPr dirty="0" sz="1000" spc="-50">
                <a:solidFill>
                  <a:srgbClr val="0045A5"/>
                </a:solidFill>
                <a:latin typeface="Roboto"/>
                <a:cs typeface="Roboto"/>
              </a:rPr>
              <a:t>Control</a:t>
            </a:r>
            <a:r>
              <a:rPr dirty="0" sz="1000" spc="-25">
                <a:solidFill>
                  <a:srgbClr val="0045A5"/>
                </a:solidFill>
                <a:latin typeface="Roboto"/>
                <a:cs typeface="Roboto"/>
              </a:rPr>
              <a:t> </a:t>
            </a:r>
            <a:r>
              <a:rPr dirty="0" sz="1000" spc="-10">
                <a:solidFill>
                  <a:srgbClr val="0045A5"/>
                </a:solidFill>
                <a:latin typeface="Roboto"/>
                <a:cs typeface="Roboto"/>
              </a:rPr>
              <a:t>Center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907361" y="2450941"/>
            <a:ext cx="28257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solidFill>
                  <a:srgbClr val="21C45D"/>
                </a:solidFill>
                <a:latin typeface="Roboto"/>
                <a:cs typeface="Roboto"/>
              </a:rPr>
              <a:t>Wind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9381330" y="2450941"/>
            <a:ext cx="28765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40">
                <a:solidFill>
                  <a:srgbClr val="F59D0A"/>
                </a:solidFill>
                <a:latin typeface="Roboto"/>
                <a:cs typeface="Roboto"/>
              </a:rPr>
              <a:t>Solar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885483" y="4451191"/>
            <a:ext cx="32639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5">
                <a:solidFill>
                  <a:srgbClr val="8B5CF5"/>
                </a:solidFill>
                <a:latin typeface="Roboto"/>
                <a:cs typeface="Roboto"/>
              </a:rPr>
              <a:t>SMES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9460358" y="4170679"/>
            <a:ext cx="129539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50">
                <a:solidFill>
                  <a:srgbClr val="6A7280"/>
                </a:solidFill>
                <a:latin typeface="Roboto"/>
                <a:cs typeface="Roboto"/>
              </a:rPr>
              <a:t>G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9179966" y="4451191"/>
            <a:ext cx="69024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solidFill>
                  <a:srgbClr val="6A7280"/>
                </a:solidFill>
                <a:latin typeface="Roboto"/>
                <a:cs typeface="Roboto"/>
              </a:rPr>
              <a:t>Conventional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689476" y="1946116"/>
            <a:ext cx="90868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5">
                <a:solidFill>
                  <a:srgbClr val="0045A5"/>
                </a:solidFill>
                <a:latin typeface="Roboto"/>
                <a:cs typeface="Roboto"/>
              </a:rPr>
              <a:t>Robust</a:t>
            </a:r>
            <a:r>
              <a:rPr dirty="0" sz="1000" spc="-25">
                <a:solidFill>
                  <a:srgbClr val="0045A5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0045A5"/>
                </a:solidFill>
                <a:latin typeface="Roboto"/>
                <a:cs typeface="Roboto"/>
              </a:rPr>
              <a:t>Operation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8946008" y="1946116"/>
            <a:ext cx="115824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5">
                <a:solidFill>
                  <a:srgbClr val="21C45D"/>
                </a:solidFill>
                <a:latin typeface="Roboto"/>
                <a:cs typeface="Roboto"/>
              </a:rPr>
              <a:t>Renewable</a:t>
            </a:r>
            <a:r>
              <a:rPr dirty="0" sz="1000" spc="-15">
                <a:solidFill>
                  <a:srgbClr val="21C45D"/>
                </a:solidFill>
                <a:latin typeface="Roboto"/>
                <a:cs typeface="Roboto"/>
              </a:rPr>
              <a:t> </a:t>
            </a:r>
            <a:r>
              <a:rPr dirty="0" sz="1000" spc="-45">
                <a:solidFill>
                  <a:srgbClr val="21C45D"/>
                </a:solidFill>
                <a:latin typeface="Roboto"/>
                <a:cs typeface="Roboto"/>
              </a:rPr>
              <a:t>Integration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6650781" y="4803616"/>
            <a:ext cx="98615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60">
                <a:solidFill>
                  <a:srgbClr val="8B5CF5"/>
                </a:solidFill>
                <a:latin typeface="Roboto"/>
                <a:cs typeface="Roboto"/>
              </a:rPr>
              <a:t>Frequency</a:t>
            </a:r>
            <a:r>
              <a:rPr dirty="0" sz="1000" spc="5">
                <a:solidFill>
                  <a:srgbClr val="8B5CF5"/>
                </a:solidFill>
                <a:latin typeface="Roboto"/>
                <a:cs typeface="Roboto"/>
              </a:rPr>
              <a:t> </a:t>
            </a:r>
            <a:r>
              <a:rPr dirty="0" sz="1000" spc="-35">
                <a:solidFill>
                  <a:srgbClr val="8B5CF5"/>
                </a:solidFill>
                <a:latin typeface="Roboto"/>
                <a:cs typeface="Roboto"/>
              </a:rPr>
              <a:t>Stability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9149754" y="4803616"/>
            <a:ext cx="75057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45">
                <a:solidFill>
                  <a:srgbClr val="F59D0A"/>
                </a:solidFill>
                <a:latin typeface="Roboto"/>
                <a:cs typeface="Roboto"/>
              </a:rPr>
              <a:t>Grid</a:t>
            </a:r>
            <a:r>
              <a:rPr dirty="0" sz="1000" spc="-25">
                <a:solidFill>
                  <a:srgbClr val="F59D0A"/>
                </a:solidFill>
                <a:latin typeface="Roboto"/>
                <a:cs typeface="Roboto"/>
              </a:rPr>
              <a:t> </a:t>
            </a:r>
            <a:r>
              <a:rPr dirty="0" sz="1000" spc="-40">
                <a:solidFill>
                  <a:srgbClr val="F59D0A"/>
                </a:solidFill>
                <a:latin typeface="Roboto"/>
                <a:cs typeface="Roboto"/>
              </a:rPr>
              <a:t>Reliability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8290867" y="3996134"/>
            <a:ext cx="753745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-30">
                <a:solidFill>
                  <a:srgbClr val="333333"/>
                </a:solidFill>
                <a:latin typeface="Roboto"/>
                <a:cs typeface="Roboto"/>
              </a:rPr>
              <a:t>Stable</a:t>
            </a:r>
            <a:r>
              <a:rPr dirty="0" sz="8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800" spc="-25">
                <a:solidFill>
                  <a:srgbClr val="333333"/>
                </a:solidFill>
                <a:latin typeface="Roboto"/>
                <a:cs typeface="Roboto"/>
              </a:rPr>
              <a:t>Frequency</a:t>
            </a:r>
            <a:endParaRPr sz="800">
              <a:latin typeface="Roboto"/>
              <a:cs typeface="Roboto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11125187" y="552779"/>
            <a:ext cx="242570" cy="100330"/>
          </a:xfrm>
          <a:custGeom>
            <a:avLst/>
            <a:gdLst/>
            <a:ahLst/>
            <a:cxnLst/>
            <a:rect l="l" t="t" r="r" b="b"/>
            <a:pathLst>
              <a:path w="242570" h="100329">
                <a:moveTo>
                  <a:pt x="48107" y="393"/>
                </a:moveTo>
                <a:lnTo>
                  <a:pt x="0" y="393"/>
                </a:lnTo>
                <a:lnTo>
                  <a:pt x="0" y="13093"/>
                </a:lnTo>
                <a:lnTo>
                  <a:pt x="0" y="43573"/>
                </a:lnTo>
                <a:lnTo>
                  <a:pt x="0" y="56273"/>
                </a:lnTo>
                <a:lnTo>
                  <a:pt x="0" y="99453"/>
                </a:lnTo>
                <a:lnTo>
                  <a:pt x="15989" y="99453"/>
                </a:lnTo>
                <a:lnTo>
                  <a:pt x="15989" y="56273"/>
                </a:lnTo>
                <a:lnTo>
                  <a:pt x="44869" y="56273"/>
                </a:lnTo>
                <a:lnTo>
                  <a:pt x="44869" y="43573"/>
                </a:lnTo>
                <a:lnTo>
                  <a:pt x="15989" y="43573"/>
                </a:lnTo>
                <a:lnTo>
                  <a:pt x="15989" y="13093"/>
                </a:lnTo>
                <a:lnTo>
                  <a:pt x="48107" y="13093"/>
                </a:lnTo>
                <a:lnTo>
                  <a:pt x="48107" y="393"/>
                </a:lnTo>
                <a:close/>
              </a:path>
              <a:path w="242570" h="100329">
                <a:moveTo>
                  <a:pt x="77597" y="0"/>
                </a:moveTo>
                <a:lnTo>
                  <a:pt x="61620" y="0"/>
                </a:lnTo>
                <a:lnTo>
                  <a:pt x="61620" y="99847"/>
                </a:lnTo>
                <a:lnTo>
                  <a:pt x="77597" y="99847"/>
                </a:lnTo>
                <a:lnTo>
                  <a:pt x="77597" y="0"/>
                </a:lnTo>
                <a:close/>
              </a:path>
              <a:path w="242570" h="100329">
                <a:moveTo>
                  <a:pt x="144843" y="393"/>
                </a:moveTo>
                <a:lnTo>
                  <a:pt x="96748" y="393"/>
                </a:lnTo>
                <a:lnTo>
                  <a:pt x="96748" y="13093"/>
                </a:lnTo>
                <a:lnTo>
                  <a:pt x="96748" y="43573"/>
                </a:lnTo>
                <a:lnTo>
                  <a:pt x="96748" y="56273"/>
                </a:lnTo>
                <a:lnTo>
                  <a:pt x="96748" y="86753"/>
                </a:lnTo>
                <a:lnTo>
                  <a:pt x="96748" y="99453"/>
                </a:lnTo>
                <a:lnTo>
                  <a:pt x="144843" y="99453"/>
                </a:lnTo>
                <a:lnTo>
                  <a:pt x="144843" y="86753"/>
                </a:lnTo>
                <a:lnTo>
                  <a:pt x="112725" y="86753"/>
                </a:lnTo>
                <a:lnTo>
                  <a:pt x="112725" y="56273"/>
                </a:lnTo>
                <a:lnTo>
                  <a:pt x="141605" y="56273"/>
                </a:lnTo>
                <a:lnTo>
                  <a:pt x="141605" y="43573"/>
                </a:lnTo>
                <a:lnTo>
                  <a:pt x="112725" y="43573"/>
                </a:lnTo>
                <a:lnTo>
                  <a:pt x="112725" y="13093"/>
                </a:lnTo>
                <a:lnTo>
                  <a:pt x="144843" y="13093"/>
                </a:lnTo>
                <a:lnTo>
                  <a:pt x="144843" y="393"/>
                </a:lnTo>
                <a:close/>
              </a:path>
              <a:path w="242570" h="100329">
                <a:moveTo>
                  <a:pt x="208483" y="393"/>
                </a:moveTo>
                <a:lnTo>
                  <a:pt x="160375" y="393"/>
                </a:lnTo>
                <a:lnTo>
                  <a:pt x="160375" y="13093"/>
                </a:lnTo>
                <a:lnTo>
                  <a:pt x="160375" y="43573"/>
                </a:lnTo>
                <a:lnTo>
                  <a:pt x="160375" y="56273"/>
                </a:lnTo>
                <a:lnTo>
                  <a:pt x="160375" y="86753"/>
                </a:lnTo>
                <a:lnTo>
                  <a:pt x="160375" y="99453"/>
                </a:lnTo>
                <a:lnTo>
                  <a:pt x="208483" y="99453"/>
                </a:lnTo>
                <a:lnTo>
                  <a:pt x="208483" y="86753"/>
                </a:lnTo>
                <a:lnTo>
                  <a:pt x="176364" y="86753"/>
                </a:lnTo>
                <a:lnTo>
                  <a:pt x="176364" y="56273"/>
                </a:lnTo>
                <a:lnTo>
                  <a:pt x="205244" y="56273"/>
                </a:lnTo>
                <a:lnTo>
                  <a:pt x="205244" y="43573"/>
                </a:lnTo>
                <a:lnTo>
                  <a:pt x="176364" y="43573"/>
                </a:lnTo>
                <a:lnTo>
                  <a:pt x="176364" y="13093"/>
                </a:lnTo>
                <a:lnTo>
                  <a:pt x="208483" y="13093"/>
                </a:lnTo>
                <a:lnTo>
                  <a:pt x="208483" y="393"/>
                </a:lnTo>
                <a:close/>
              </a:path>
              <a:path w="242570" h="100329">
                <a:moveTo>
                  <a:pt x="242557" y="0"/>
                </a:moveTo>
                <a:lnTo>
                  <a:pt x="226580" y="0"/>
                </a:lnTo>
                <a:lnTo>
                  <a:pt x="226580" y="99847"/>
                </a:lnTo>
                <a:lnTo>
                  <a:pt x="242557" y="99847"/>
                </a:lnTo>
                <a:lnTo>
                  <a:pt x="242557" y="0"/>
                </a:lnTo>
                <a:close/>
              </a:path>
            </a:pathLst>
          </a:custGeom>
          <a:solidFill>
            <a:srgbClr val="0045A5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5" name="object 25" descr=""/>
          <p:cNvGrpSpPr/>
          <p:nvPr/>
        </p:nvGrpSpPr>
        <p:grpSpPr>
          <a:xfrm>
            <a:off x="10544174" y="6343649"/>
            <a:ext cx="1457325" cy="323850"/>
            <a:chOff x="10544174" y="6343649"/>
            <a:chExt cx="1457325" cy="323850"/>
          </a:xfrm>
        </p:grpSpPr>
        <p:sp>
          <p:nvSpPr>
            <p:cNvPr id="26" name="object 26" descr=""/>
            <p:cNvSpPr/>
            <p:nvPr/>
          </p:nvSpPr>
          <p:spPr>
            <a:xfrm>
              <a:off x="10544174" y="634364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6584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28" name="object 2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75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50"/>
              <a:t>Genspark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6743699"/>
            <a:ext cx="12192000" cy="114300"/>
          </a:xfrm>
          <a:custGeom>
            <a:avLst/>
            <a:gdLst/>
            <a:ahLst/>
            <a:cxnLst/>
            <a:rect l="l" t="t" r="r" b="b"/>
            <a:pathLst>
              <a:path w="12192000" h="114300">
                <a:moveTo>
                  <a:pt x="12191999" y="114299"/>
                </a:moveTo>
                <a:lnTo>
                  <a:pt x="0" y="1142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114299"/>
                </a:lnTo>
                <a:close/>
              </a:path>
            </a:pathLst>
          </a:custGeom>
          <a:solidFill>
            <a:srgbClr val="0045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914399" y="4095749"/>
            <a:ext cx="5915025" cy="19050"/>
          </a:xfrm>
          <a:custGeom>
            <a:avLst/>
            <a:gdLst/>
            <a:ahLst/>
            <a:cxnLst/>
            <a:rect l="l" t="t" r="r" b="b"/>
            <a:pathLst>
              <a:path w="5915025" h="19050">
                <a:moveTo>
                  <a:pt x="5915024" y="19049"/>
                </a:moveTo>
                <a:lnTo>
                  <a:pt x="0" y="19049"/>
                </a:lnTo>
                <a:lnTo>
                  <a:pt x="0" y="0"/>
                </a:lnTo>
                <a:lnTo>
                  <a:pt x="5915024" y="0"/>
                </a:lnTo>
                <a:lnTo>
                  <a:pt x="5915024" y="19049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01700" y="739298"/>
            <a:ext cx="2838450" cy="48323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65"/>
              <a:t>Conclusion</a:t>
            </a:r>
            <a:r>
              <a:rPr dirty="0" spc="-50"/>
              <a:t> </a:t>
            </a:r>
            <a:r>
              <a:rPr dirty="0" spc="-204"/>
              <a:t>&amp;</a:t>
            </a:r>
            <a:r>
              <a:rPr dirty="0" spc="-45"/>
              <a:t> </a:t>
            </a:r>
            <a:r>
              <a:rPr dirty="0" spc="-165"/>
              <a:t>Q&amp;A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804094"/>
            <a:ext cx="186481" cy="186481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240581" y="1520672"/>
            <a:ext cx="5521325" cy="6731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4900"/>
              </a:lnSpc>
              <a:spcBef>
                <a:spcPts val="95"/>
              </a:spcBef>
            </a:pPr>
            <a:r>
              <a:rPr dirty="0" sz="1850" spc="-110">
                <a:latin typeface="Roboto"/>
                <a:cs typeface="Roboto"/>
              </a:rPr>
              <a:t>ABC-</a:t>
            </a:r>
            <a:r>
              <a:rPr dirty="0" sz="1850" spc="-100">
                <a:latin typeface="Roboto"/>
                <a:cs typeface="Roboto"/>
              </a:rPr>
              <a:t>optimized</a:t>
            </a:r>
            <a:r>
              <a:rPr dirty="0" sz="1850" spc="5">
                <a:latin typeface="Roboto"/>
                <a:cs typeface="Roboto"/>
              </a:rPr>
              <a:t> </a:t>
            </a:r>
            <a:r>
              <a:rPr dirty="0" sz="1850" spc="-95">
                <a:latin typeface="Roboto"/>
                <a:cs typeface="Roboto"/>
              </a:rPr>
              <a:t>Fuzzy-</a:t>
            </a:r>
            <a:r>
              <a:rPr dirty="0" sz="1850" spc="-105">
                <a:latin typeface="Roboto"/>
                <a:cs typeface="Roboto"/>
              </a:rPr>
              <a:t>PID</a:t>
            </a:r>
            <a:r>
              <a:rPr dirty="0" sz="1850" spc="10">
                <a:latin typeface="Roboto"/>
                <a:cs typeface="Roboto"/>
              </a:rPr>
              <a:t> </a:t>
            </a:r>
            <a:r>
              <a:rPr dirty="0" sz="1850" spc="-95">
                <a:latin typeface="Roboto"/>
                <a:cs typeface="Roboto"/>
              </a:rPr>
              <a:t>outperforms</a:t>
            </a:r>
            <a:r>
              <a:rPr dirty="0" sz="1850" spc="5">
                <a:latin typeface="Roboto"/>
                <a:cs typeface="Roboto"/>
              </a:rPr>
              <a:t> </a:t>
            </a:r>
            <a:r>
              <a:rPr dirty="0" sz="1850" spc="-95">
                <a:latin typeface="Roboto"/>
                <a:cs typeface="Roboto"/>
              </a:rPr>
              <a:t>other</a:t>
            </a:r>
            <a:r>
              <a:rPr dirty="0" sz="1850" spc="10">
                <a:latin typeface="Roboto"/>
                <a:cs typeface="Roboto"/>
              </a:rPr>
              <a:t> </a:t>
            </a:r>
            <a:r>
              <a:rPr dirty="0" sz="1850" spc="-90">
                <a:latin typeface="Roboto"/>
                <a:cs typeface="Roboto"/>
              </a:rPr>
              <a:t>strategies</a:t>
            </a:r>
            <a:r>
              <a:rPr dirty="0" sz="1850" spc="10">
                <a:latin typeface="Roboto"/>
                <a:cs typeface="Roboto"/>
              </a:rPr>
              <a:t> </a:t>
            </a:r>
            <a:r>
              <a:rPr dirty="0" sz="1850" spc="-25">
                <a:latin typeface="Roboto"/>
                <a:cs typeface="Roboto"/>
              </a:rPr>
              <a:t>for </a:t>
            </a:r>
            <a:r>
              <a:rPr dirty="0" sz="1850" spc="-90">
                <a:latin typeface="Roboto"/>
                <a:cs typeface="Roboto"/>
              </a:rPr>
              <a:t>load</a:t>
            </a:r>
            <a:r>
              <a:rPr dirty="0" sz="1850">
                <a:latin typeface="Roboto"/>
                <a:cs typeface="Roboto"/>
              </a:rPr>
              <a:t> </a:t>
            </a:r>
            <a:r>
              <a:rPr dirty="0" sz="1850" spc="-105">
                <a:latin typeface="Roboto"/>
                <a:cs typeface="Roboto"/>
              </a:rPr>
              <a:t>frequency</a:t>
            </a:r>
            <a:r>
              <a:rPr dirty="0" sz="1850" spc="5">
                <a:latin typeface="Roboto"/>
                <a:cs typeface="Roboto"/>
              </a:rPr>
              <a:t> </a:t>
            </a:r>
            <a:r>
              <a:rPr dirty="0" sz="1850" spc="-10">
                <a:latin typeface="Roboto"/>
                <a:cs typeface="Roboto"/>
              </a:rPr>
              <a:t>control</a:t>
            </a:r>
            <a:endParaRPr sz="1850">
              <a:latin typeface="Roboto"/>
              <a:cs typeface="Roboto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2518236"/>
            <a:ext cx="183228" cy="183228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1240581" y="2426461"/>
            <a:ext cx="4864735" cy="3105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850" spc="-90">
                <a:latin typeface="Roboto"/>
                <a:cs typeface="Roboto"/>
              </a:rPr>
              <a:t>Integrates</a:t>
            </a:r>
            <a:r>
              <a:rPr dirty="0" sz="1850" spc="-35">
                <a:latin typeface="Roboto"/>
                <a:cs typeface="Roboto"/>
              </a:rPr>
              <a:t> </a:t>
            </a:r>
            <a:r>
              <a:rPr dirty="0" sz="1850" spc="-95">
                <a:latin typeface="Roboto"/>
                <a:cs typeface="Roboto"/>
              </a:rPr>
              <a:t>seamlessly</a:t>
            </a:r>
            <a:r>
              <a:rPr dirty="0" sz="1850" spc="-30">
                <a:latin typeface="Roboto"/>
                <a:cs typeface="Roboto"/>
              </a:rPr>
              <a:t> </a:t>
            </a:r>
            <a:r>
              <a:rPr dirty="0" sz="1850" spc="-95">
                <a:latin typeface="Roboto"/>
                <a:cs typeface="Roboto"/>
              </a:rPr>
              <a:t>with</a:t>
            </a:r>
            <a:r>
              <a:rPr dirty="0" sz="1850" spc="-35">
                <a:latin typeface="Roboto"/>
                <a:cs typeface="Roboto"/>
              </a:rPr>
              <a:t> </a:t>
            </a:r>
            <a:r>
              <a:rPr dirty="0" sz="1850" spc="-100">
                <a:latin typeface="Roboto"/>
                <a:cs typeface="Roboto"/>
              </a:rPr>
              <a:t>renewables</a:t>
            </a:r>
            <a:r>
              <a:rPr dirty="0" sz="1850" spc="-30">
                <a:latin typeface="Roboto"/>
                <a:cs typeface="Roboto"/>
              </a:rPr>
              <a:t> </a:t>
            </a:r>
            <a:r>
              <a:rPr dirty="0" sz="1850" spc="-110">
                <a:latin typeface="Roboto"/>
                <a:cs typeface="Roboto"/>
              </a:rPr>
              <a:t>and</a:t>
            </a:r>
            <a:r>
              <a:rPr dirty="0" sz="1850" spc="-35">
                <a:latin typeface="Roboto"/>
                <a:cs typeface="Roboto"/>
              </a:rPr>
              <a:t> </a:t>
            </a:r>
            <a:r>
              <a:rPr dirty="0" sz="1850" spc="-30">
                <a:latin typeface="Roboto"/>
                <a:cs typeface="Roboto"/>
              </a:rPr>
              <a:t>storage</a:t>
            </a:r>
            <a:endParaRPr sz="1850">
              <a:latin typeface="Roboto"/>
              <a:cs typeface="Roboto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3223319"/>
            <a:ext cx="186481" cy="186481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1240581" y="2949422"/>
            <a:ext cx="4995545" cy="6540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1500"/>
              </a:lnSpc>
              <a:spcBef>
                <a:spcPts val="95"/>
              </a:spcBef>
            </a:pPr>
            <a:r>
              <a:rPr dirty="0" sz="1850" spc="-105">
                <a:latin typeface="Roboto"/>
                <a:cs typeface="Roboto"/>
              </a:rPr>
              <a:t>Future</a:t>
            </a:r>
            <a:r>
              <a:rPr dirty="0" sz="1850">
                <a:latin typeface="Roboto"/>
                <a:cs typeface="Roboto"/>
              </a:rPr>
              <a:t> </a:t>
            </a:r>
            <a:r>
              <a:rPr dirty="0" sz="1850" spc="-100">
                <a:latin typeface="Roboto"/>
                <a:cs typeface="Roboto"/>
              </a:rPr>
              <a:t>work:</a:t>
            </a:r>
            <a:r>
              <a:rPr dirty="0" sz="1850">
                <a:latin typeface="Roboto"/>
                <a:cs typeface="Roboto"/>
              </a:rPr>
              <a:t> </a:t>
            </a:r>
            <a:r>
              <a:rPr dirty="0" sz="1850" spc="-100">
                <a:latin typeface="Roboto"/>
                <a:cs typeface="Roboto"/>
              </a:rPr>
              <a:t>Extension</a:t>
            </a:r>
            <a:r>
              <a:rPr dirty="0" sz="1850">
                <a:latin typeface="Roboto"/>
                <a:cs typeface="Roboto"/>
              </a:rPr>
              <a:t> </a:t>
            </a:r>
            <a:r>
              <a:rPr dirty="0" sz="1850" spc="-90">
                <a:latin typeface="Roboto"/>
                <a:cs typeface="Roboto"/>
              </a:rPr>
              <a:t>to</a:t>
            </a:r>
            <a:r>
              <a:rPr dirty="0" sz="1850">
                <a:latin typeface="Roboto"/>
                <a:cs typeface="Roboto"/>
              </a:rPr>
              <a:t> </a:t>
            </a:r>
            <a:r>
              <a:rPr dirty="0" sz="1850" spc="-90">
                <a:latin typeface="Roboto"/>
                <a:cs typeface="Roboto"/>
              </a:rPr>
              <a:t>larger</a:t>
            </a:r>
            <a:r>
              <a:rPr dirty="0" sz="1850">
                <a:latin typeface="Roboto"/>
                <a:cs typeface="Roboto"/>
              </a:rPr>
              <a:t> </a:t>
            </a:r>
            <a:r>
              <a:rPr dirty="0" sz="1850" spc="-85">
                <a:latin typeface="Roboto"/>
                <a:cs typeface="Roboto"/>
              </a:rPr>
              <a:t>multi-</a:t>
            </a:r>
            <a:r>
              <a:rPr dirty="0" sz="1850" spc="-105">
                <a:latin typeface="Roboto"/>
                <a:cs typeface="Roboto"/>
              </a:rPr>
              <a:t>area</a:t>
            </a:r>
            <a:r>
              <a:rPr dirty="0" sz="1850">
                <a:latin typeface="Roboto"/>
                <a:cs typeface="Roboto"/>
              </a:rPr>
              <a:t> </a:t>
            </a:r>
            <a:r>
              <a:rPr dirty="0" sz="1850" spc="-80">
                <a:latin typeface="Roboto"/>
                <a:cs typeface="Roboto"/>
              </a:rPr>
              <a:t>grids,</a:t>
            </a:r>
            <a:r>
              <a:rPr dirty="0" sz="1850">
                <a:latin typeface="Roboto"/>
                <a:cs typeface="Roboto"/>
              </a:rPr>
              <a:t> </a:t>
            </a:r>
            <a:r>
              <a:rPr dirty="0" sz="1850" spc="-20">
                <a:latin typeface="Roboto"/>
                <a:cs typeface="Roboto"/>
              </a:rPr>
              <a:t>real </a:t>
            </a:r>
            <a:r>
              <a:rPr dirty="0" sz="1850" spc="-105">
                <a:latin typeface="Roboto"/>
                <a:cs typeface="Roboto"/>
              </a:rPr>
              <a:t>hardware-</a:t>
            </a:r>
            <a:r>
              <a:rPr dirty="0" sz="1850" spc="-75">
                <a:latin typeface="Roboto"/>
                <a:cs typeface="Roboto"/>
              </a:rPr>
              <a:t>in-</a:t>
            </a:r>
            <a:r>
              <a:rPr dirty="0" sz="1850" spc="-85">
                <a:latin typeface="Roboto"/>
                <a:cs typeface="Roboto"/>
              </a:rPr>
              <a:t>the-</a:t>
            </a:r>
            <a:r>
              <a:rPr dirty="0" sz="1850" spc="-20">
                <a:latin typeface="Roboto"/>
                <a:cs typeface="Roboto"/>
              </a:rPr>
              <a:t>loop</a:t>
            </a:r>
            <a:endParaRPr sz="1850">
              <a:latin typeface="Roboto"/>
              <a:cs typeface="Roboto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901700" y="4143381"/>
            <a:ext cx="1684655" cy="1149350"/>
          </a:xfrm>
          <a:prstGeom prst="rect">
            <a:avLst/>
          </a:prstGeom>
        </p:spPr>
        <p:txBody>
          <a:bodyPr wrap="square" lIns="0" tIns="1936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25"/>
              </a:spcBef>
            </a:pPr>
            <a:r>
              <a:rPr dirty="0" sz="2900" spc="-165" b="1">
                <a:solidFill>
                  <a:srgbClr val="0045A5"/>
                </a:solidFill>
                <a:latin typeface="Roboto"/>
                <a:cs typeface="Roboto"/>
              </a:rPr>
              <a:t>Thank</a:t>
            </a:r>
            <a:r>
              <a:rPr dirty="0" sz="2900" spc="-35" b="1">
                <a:solidFill>
                  <a:srgbClr val="0045A5"/>
                </a:solidFill>
                <a:latin typeface="Roboto"/>
                <a:cs typeface="Roboto"/>
              </a:rPr>
              <a:t> </a:t>
            </a:r>
            <a:r>
              <a:rPr dirty="0" sz="2900" spc="-110" b="1">
                <a:solidFill>
                  <a:srgbClr val="0045A5"/>
                </a:solidFill>
                <a:latin typeface="Roboto"/>
                <a:cs typeface="Roboto"/>
              </a:rPr>
              <a:t>you!</a:t>
            </a:r>
            <a:endParaRPr sz="29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dirty="0" sz="2350" spc="-10" b="0">
                <a:solidFill>
                  <a:srgbClr val="333333"/>
                </a:solidFill>
                <a:latin typeface="Roboto Medium"/>
                <a:cs typeface="Roboto Medium"/>
              </a:rPr>
              <a:t>Questions?</a:t>
            </a:r>
            <a:endParaRPr sz="2350">
              <a:latin typeface="Roboto Medium"/>
              <a:cs typeface="Roboto Medium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7696200" y="2486024"/>
            <a:ext cx="3062605" cy="1924050"/>
            <a:chOff x="7696200" y="2486024"/>
            <a:chExt cx="3062605" cy="1924050"/>
          </a:xfrm>
        </p:grpSpPr>
        <p:sp>
          <p:nvSpPr>
            <p:cNvPr id="13" name="object 13" descr=""/>
            <p:cNvSpPr/>
            <p:nvPr/>
          </p:nvSpPr>
          <p:spPr>
            <a:xfrm>
              <a:off x="7705725" y="2495549"/>
              <a:ext cx="3048000" cy="1905000"/>
            </a:xfrm>
            <a:custGeom>
              <a:avLst/>
              <a:gdLst/>
              <a:ahLst/>
              <a:cxnLst/>
              <a:rect l="l" t="t" r="r" b="b"/>
              <a:pathLst>
                <a:path w="3048000" h="1905000">
                  <a:moveTo>
                    <a:pt x="3047999" y="1904999"/>
                  </a:moveTo>
                  <a:lnTo>
                    <a:pt x="0" y="1904999"/>
                  </a:lnTo>
                  <a:lnTo>
                    <a:pt x="0" y="0"/>
                  </a:lnTo>
                  <a:lnTo>
                    <a:pt x="3047999" y="0"/>
                  </a:lnTo>
                  <a:lnTo>
                    <a:pt x="3047999" y="190499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705725" y="2495549"/>
              <a:ext cx="3048000" cy="1905000"/>
            </a:xfrm>
            <a:custGeom>
              <a:avLst/>
              <a:gdLst/>
              <a:ahLst/>
              <a:cxnLst/>
              <a:rect l="l" t="t" r="r" b="b"/>
              <a:pathLst>
                <a:path w="3048000" h="1905000">
                  <a:moveTo>
                    <a:pt x="0" y="0"/>
                  </a:moveTo>
                  <a:lnTo>
                    <a:pt x="3047999" y="0"/>
                  </a:lnTo>
                  <a:lnTo>
                    <a:pt x="3047999" y="1904999"/>
                  </a:lnTo>
                  <a:lnTo>
                    <a:pt x="0" y="1904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705725" y="4391024"/>
              <a:ext cx="3048000" cy="19050"/>
            </a:xfrm>
            <a:custGeom>
              <a:avLst/>
              <a:gdLst/>
              <a:ahLst/>
              <a:cxnLst/>
              <a:rect l="l" t="t" r="r" b="b"/>
              <a:pathLst>
                <a:path w="3048000" h="19050">
                  <a:moveTo>
                    <a:pt x="0" y="0"/>
                  </a:moveTo>
                  <a:lnTo>
                    <a:pt x="3047999" y="0"/>
                  </a:lnTo>
                  <a:lnTo>
                    <a:pt x="3047999" y="19049"/>
                  </a:lnTo>
                  <a:lnTo>
                    <a:pt x="0" y="190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705725" y="2495549"/>
              <a:ext cx="0" cy="1905000"/>
            </a:xfrm>
            <a:custGeom>
              <a:avLst/>
              <a:gdLst/>
              <a:ahLst/>
              <a:cxnLst/>
              <a:rect l="l" t="t" r="r" b="b"/>
              <a:pathLst>
                <a:path w="0" h="1905000">
                  <a:moveTo>
                    <a:pt x="0" y="1904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705725" y="2971799"/>
              <a:ext cx="2571750" cy="952500"/>
            </a:xfrm>
            <a:custGeom>
              <a:avLst/>
              <a:gdLst/>
              <a:ahLst/>
              <a:cxnLst/>
              <a:rect l="l" t="t" r="r" b="b"/>
              <a:pathLst>
                <a:path w="2571750" h="952500">
                  <a:moveTo>
                    <a:pt x="0" y="952499"/>
                  </a:moveTo>
                  <a:lnTo>
                    <a:pt x="1047749" y="952499"/>
                  </a:lnTo>
                </a:path>
                <a:path w="2571750" h="952500">
                  <a:moveTo>
                    <a:pt x="1619249" y="952499"/>
                  </a:moveTo>
                  <a:lnTo>
                    <a:pt x="1809749" y="952499"/>
                  </a:lnTo>
                </a:path>
                <a:path w="2571750" h="952500">
                  <a:moveTo>
                    <a:pt x="2381249" y="952499"/>
                  </a:moveTo>
                  <a:lnTo>
                    <a:pt x="2571749" y="952499"/>
                  </a:lnTo>
                </a:path>
                <a:path w="2571750" h="952500">
                  <a:moveTo>
                    <a:pt x="0" y="476249"/>
                  </a:moveTo>
                  <a:lnTo>
                    <a:pt x="1809749" y="476249"/>
                  </a:lnTo>
                </a:path>
                <a:path w="2571750" h="952500">
                  <a:moveTo>
                    <a:pt x="2381249" y="476249"/>
                  </a:moveTo>
                  <a:lnTo>
                    <a:pt x="2571749" y="476249"/>
                  </a:lnTo>
                </a:path>
                <a:path w="2571750" h="952500">
                  <a:moveTo>
                    <a:pt x="0" y="0"/>
                  </a:moveTo>
                  <a:lnTo>
                    <a:pt x="2571749" y="0"/>
                  </a:lnTo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8182818" y="4417633"/>
            <a:ext cx="189230" cy="1612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00" spc="-20">
                <a:solidFill>
                  <a:srgbClr val="333333"/>
                </a:solidFill>
                <a:latin typeface="Roboto"/>
                <a:cs typeface="Roboto"/>
              </a:rPr>
              <a:t>PID</a:t>
            </a:r>
            <a:endParaRPr sz="900">
              <a:latin typeface="Roboto"/>
              <a:cs typeface="Roboto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8783191" y="4417633"/>
            <a:ext cx="1261110" cy="4476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1920">
              <a:lnSpc>
                <a:spcPct val="100000"/>
              </a:lnSpc>
              <a:spcBef>
                <a:spcPts val="90"/>
              </a:spcBef>
              <a:tabLst>
                <a:tab pos="787400" algn="l"/>
              </a:tabLst>
            </a:pPr>
            <a:r>
              <a:rPr dirty="0" sz="900" spc="-10">
                <a:solidFill>
                  <a:srgbClr val="333333"/>
                </a:solidFill>
                <a:latin typeface="Roboto"/>
                <a:cs typeface="Roboto"/>
              </a:rPr>
              <a:t>Fuzzy</a:t>
            </a:r>
            <a:r>
              <a:rPr dirty="0" sz="900">
                <a:solidFill>
                  <a:srgbClr val="333333"/>
                </a:solidFill>
                <a:latin typeface="Roboto"/>
                <a:cs typeface="Roboto"/>
              </a:rPr>
              <a:t>	</a:t>
            </a:r>
            <a:r>
              <a:rPr dirty="0" sz="900" spc="-45">
                <a:solidFill>
                  <a:srgbClr val="333333"/>
                </a:solidFill>
                <a:latin typeface="Roboto"/>
                <a:cs typeface="Roboto"/>
              </a:rPr>
              <a:t>Fuzzy-</a:t>
            </a:r>
            <a:r>
              <a:rPr dirty="0" sz="900" spc="-25">
                <a:solidFill>
                  <a:srgbClr val="333333"/>
                </a:solidFill>
                <a:latin typeface="Roboto"/>
                <a:cs typeface="Roboto"/>
              </a:rPr>
              <a:t>PID</a:t>
            </a:r>
            <a:endParaRPr sz="9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900" spc="-45">
                <a:solidFill>
                  <a:srgbClr val="545454"/>
                </a:solidFill>
                <a:latin typeface="Roboto"/>
                <a:cs typeface="Roboto"/>
              </a:rPr>
              <a:t>Controller</a:t>
            </a:r>
            <a:r>
              <a:rPr dirty="0" sz="900" spc="4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545454"/>
                </a:solidFill>
                <a:latin typeface="Roboto"/>
                <a:cs typeface="Roboto"/>
              </a:rPr>
              <a:t>Strategy</a:t>
            </a:r>
            <a:endParaRPr sz="900">
              <a:latin typeface="Roboto"/>
              <a:cs typeface="Roboto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0204797" y="4417633"/>
            <a:ext cx="716915" cy="1612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00" spc="-55">
                <a:solidFill>
                  <a:srgbClr val="333333"/>
                </a:solidFill>
                <a:latin typeface="Roboto"/>
                <a:cs typeface="Roboto"/>
              </a:rPr>
              <a:t>ABC-</a:t>
            </a:r>
            <a:r>
              <a:rPr dirty="0" sz="900" spc="-45">
                <a:solidFill>
                  <a:srgbClr val="333333"/>
                </a:solidFill>
                <a:latin typeface="Roboto"/>
                <a:cs typeface="Roboto"/>
              </a:rPr>
              <a:t>Fuzzy-</a:t>
            </a:r>
            <a:r>
              <a:rPr dirty="0" sz="900" spc="-25">
                <a:solidFill>
                  <a:srgbClr val="333333"/>
                </a:solidFill>
                <a:latin typeface="Roboto"/>
                <a:cs typeface="Roboto"/>
              </a:rPr>
              <a:t>PID</a:t>
            </a:r>
            <a:endParaRPr sz="900">
              <a:latin typeface="Roboto"/>
              <a:cs typeface="Roboto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7522021" y="4310191"/>
            <a:ext cx="149225" cy="149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00" spc="-25">
                <a:solidFill>
                  <a:srgbClr val="333333"/>
                </a:solidFill>
                <a:latin typeface="Roboto"/>
                <a:cs typeface="Roboto"/>
              </a:rPr>
              <a:t>0%</a:t>
            </a:r>
            <a:endParaRPr sz="800">
              <a:latin typeface="Roboto"/>
              <a:cs typeface="Roboto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7468443" y="3357691"/>
            <a:ext cx="202565" cy="149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00" spc="-25">
                <a:solidFill>
                  <a:srgbClr val="333333"/>
                </a:solidFill>
                <a:latin typeface="Roboto"/>
                <a:cs typeface="Roboto"/>
              </a:rPr>
              <a:t>50%</a:t>
            </a:r>
            <a:endParaRPr sz="800">
              <a:latin typeface="Roboto"/>
              <a:cs typeface="Roboto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7468443" y="2881441"/>
            <a:ext cx="202565" cy="149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00" spc="-25">
                <a:solidFill>
                  <a:srgbClr val="333333"/>
                </a:solidFill>
                <a:latin typeface="Roboto"/>
                <a:cs typeface="Roboto"/>
              </a:rPr>
              <a:t>75%</a:t>
            </a:r>
            <a:endParaRPr sz="800">
              <a:latin typeface="Roboto"/>
              <a:cs typeface="Roboto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7415014" y="2405191"/>
            <a:ext cx="255904" cy="149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00" spc="-25">
                <a:solidFill>
                  <a:srgbClr val="333333"/>
                </a:solidFill>
                <a:latin typeface="Roboto"/>
                <a:cs typeface="Roboto"/>
              </a:rPr>
              <a:t>100%</a:t>
            </a:r>
            <a:endParaRPr sz="800">
              <a:latin typeface="Roboto"/>
              <a:cs typeface="Roboto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7774136" y="2143998"/>
            <a:ext cx="2911475" cy="2038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50" spc="-60" b="1">
                <a:solidFill>
                  <a:srgbClr val="0045A5"/>
                </a:solidFill>
                <a:latin typeface="Roboto"/>
                <a:cs typeface="Roboto"/>
              </a:rPr>
              <a:t>Performance</a:t>
            </a:r>
            <a:r>
              <a:rPr dirty="0" sz="1150" spc="10" b="1">
                <a:solidFill>
                  <a:srgbClr val="0045A5"/>
                </a:solidFill>
                <a:latin typeface="Roboto"/>
                <a:cs typeface="Roboto"/>
              </a:rPr>
              <a:t> </a:t>
            </a:r>
            <a:r>
              <a:rPr dirty="0" sz="1150" spc="-60" b="1">
                <a:solidFill>
                  <a:srgbClr val="0045A5"/>
                </a:solidFill>
                <a:latin typeface="Roboto"/>
                <a:cs typeface="Roboto"/>
              </a:rPr>
              <a:t>Improvement</a:t>
            </a:r>
            <a:r>
              <a:rPr dirty="0" sz="1150" spc="10" b="1">
                <a:solidFill>
                  <a:srgbClr val="0045A5"/>
                </a:solidFill>
                <a:latin typeface="Roboto"/>
                <a:cs typeface="Roboto"/>
              </a:rPr>
              <a:t> </a:t>
            </a:r>
            <a:r>
              <a:rPr dirty="0" sz="1150" spc="-45" b="1">
                <a:solidFill>
                  <a:srgbClr val="0045A5"/>
                </a:solidFill>
                <a:latin typeface="Roboto"/>
                <a:cs typeface="Roboto"/>
              </a:rPr>
              <a:t>vs.</a:t>
            </a:r>
            <a:r>
              <a:rPr dirty="0" sz="1150" spc="10" b="1">
                <a:solidFill>
                  <a:srgbClr val="0045A5"/>
                </a:solidFill>
                <a:latin typeface="Roboto"/>
                <a:cs typeface="Roboto"/>
              </a:rPr>
              <a:t> </a:t>
            </a:r>
            <a:r>
              <a:rPr dirty="0" sz="1150" spc="-55" b="1">
                <a:solidFill>
                  <a:srgbClr val="0045A5"/>
                </a:solidFill>
                <a:latin typeface="Roboto"/>
                <a:cs typeface="Roboto"/>
              </a:rPr>
              <a:t>Conventional</a:t>
            </a:r>
            <a:r>
              <a:rPr dirty="0" sz="1150" spc="10" b="1">
                <a:solidFill>
                  <a:srgbClr val="0045A5"/>
                </a:solidFill>
                <a:latin typeface="Roboto"/>
                <a:cs typeface="Roboto"/>
              </a:rPr>
              <a:t> </a:t>
            </a:r>
            <a:r>
              <a:rPr dirty="0" sz="1150" spc="-45" b="1">
                <a:solidFill>
                  <a:srgbClr val="0045A5"/>
                </a:solidFill>
                <a:latin typeface="Roboto"/>
                <a:cs typeface="Roboto"/>
              </a:rPr>
              <a:t>PID</a:t>
            </a:r>
            <a:endParaRPr sz="1150">
              <a:latin typeface="Roboto"/>
              <a:cs typeface="Roboto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7991475" y="2733674"/>
            <a:ext cx="2857500" cy="1666875"/>
            <a:chOff x="7991475" y="2733674"/>
            <a:chExt cx="2857500" cy="1666875"/>
          </a:xfrm>
        </p:grpSpPr>
        <p:sp>
          <p:nvSpPr>
            <p:cNvPr id="27" name="object 27" descr=""/>
            <p:cNvSpPr/>
            <p:nvPr/>
          </p:nvSpPr>
          <p:spPr>
            <a:xfrm>
              <a:off x="7991475" y="4114799"/>
              <a:ext cx="571500" cy="285750"/>
            </a:xfrm>
            <a:custGeom>
              <a:avLst/>
              <a:gdLst/>
              <a:ahLst/>
              <a:cxnLst/>
              <a:rect l="l" t="t" r="r" b="b"/>
              <a:pathLst>
                <a:path w="571500" h="285750">
                  <a:moveTo>
                    <a:pt x="571499" y="285749"/>
                  </a:moveTo>
                  <a:lnTo>
                    <a:pt x="0" y="285749"/>
                  </a:lnTo>
                  <a:lnTo>
                    <a:pt x="0" y="0"/>
                  </a:lnTo>
                  <a:lnTo>
                    <a:pt x="571499" y="0"/>
                  </a:lnTo>
                  <a:lnTo>
                    <a:pt x="571499" y="285749"/>
                  </a:lnTo>
                  <a:close/>
                </a:path>
              </a:pathLst>
            </a:custGeom>
            <a:solidFill>
              <a:srgbClr val="CBD5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8753474" y="3733799"/>
              <a:ext cx="571500" cy="666750"/>
            </a:xfrm>
            <a:custGeom>
              <a:avLst/>
              <a:gdLst/>
              <a:ahLst/>
              <a:cxnLst/>
              <a:rect l="l" t="t" r="r" b="b"/>
              <a:pathLst>
                <a:path w="571500" h="666750">
                  <a:moveTo>
                    <a:pt x="571499" y="666749"/>
                  </a:moveTo>
                  <a:lnTo>
                    <a:pt x="0" y="666749"/>
                  </a:lnTo>
                  <a:lnTo>
                    <a:pt x="0" y="0"/>
                  </a:lnTo>
                  <a:lnTo>
                    <a:pt x="571499" y="0"/>
                  </a:lnTo>
                  <a:lnTo>
                    <a:pt x="571499" y="666749"/>
                  </a:lnTo>
                  <a:close/>
                </a:path>
              </a:pathLst>
            </a:custGeom>
            <a:solidFill>
              <a:srgbClr val="94A2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9515474" y="3257549"/>
              <a:ext cx="571500" cy="1143000"/>
            </a:xfrm>
            <a:custGeom>
              <a:avLst/>
              <a:gdLst/>
              <a:ahLst/>
              <a:cxnLst/>
              <a:rect l="l" t="t" r="r" b="b"/>
              <a:pathLst>
                <a:path w="571500" h="1143000">
                  <a:moveTo>
                    <a:pt x="571499" y="1142999"/>
                  </a:moveTo>
                  <a:lnTo>
                    <a:pt x="0" y="1142999"/>
                  </a:lnTo>
                  <a:lnTo>
                    <a:pt x="0" y="0"/>
                  </a:lnTo>
                  <a:lnTo>
                    <a:pt x="571499" y="0"/>
                  </a:lnTo>
                  <a:lnTo>
                    <a:pt x="571499" y="1142999"/>
                  </a:lnTo>
                  <a:close/>
                </a:path>
              </a:pathLst>
            </a:custGeom>
            <a:solidFill>
              <a:srgbClr val="64738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0277474" y="2733674"/>
              <a:ext cx="571500" cy="1666875"/>
            </a:xfrm>
            <a:custGeom>
              <a:avLst/>
              <a:gdLst/>
              <a:ahLst/>
              <a:cxnLst/>
              <a:rect l="l" t="t" r="r" b="b"/>
              <a:pathLst>
                <a:path w="571500" h="1666875">
                  <a:moveTo>
                    <a:pt x="571499" y="1666874"/>
                  </a:moveTo>
                  <a:lnTo>
                    <a:pt x="0" y="1666874"/>
                  </a:lnTo>
                  <a:lnTo>
                    <a:pt x="0" y="0"/>
                  </a:lnTo>
                  <a:lnTo>
                    <a:pt x="571499" y="0"/>
                  </a:lnTo>
                  <a:lnTo>
                    <a:pt x="571499" y="1666874"/>
                  </a:lnTo>
                  <a:close/>
                </a:path>
              </a:pathLst>
            </a:custGeom>
            <a:solidFill>
              <a:srgbClr val="0045A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7468443" y="3833941"/>
            <a:ext cx="890269" cy="2686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894"/>
              </a:lnSpc>
              <a:spcBef>
                <a:spcPts val="110"/>
              </a:spcBef>
            </a:pPr>
            <a:r>
              <a:rPr dirty="0" sz="800" spc="-25">
                <a:solidFill>
                  <a:srgbClr val="333333"/>
                </a:solidFill>
                <a:latin typeface="Roboto"/>
                <a:cs typeface="Roboto"/>
              </a:rPr>
              <a:t>25%</a:t>
            </a:r>
            <a:endParaRPr sz="800">
              <a:latin typeface="Roboto"/>
              <a:cs typeface="Roboto"/>
            </a:endParaRPr>
          </a:p>
          <a:p>
            <a:pPr algn="r" marR="5080">
              <a:lnSpc>
                <a:spcPts val="1015"/>
              </a:lnSpc>
            </a:pPr>
            <a:r>
              <a:rPr dirty="0" sz="900" spc="-25" b="1">
                <a:solidFill>
                  <a:srgbClr val="FFFFFF"/>
                </a:solidFill>
                <a:latin typeface="Gill Sans Nova"/>
                <a:cs typeface="Gill Sans Nova"/>
              </a:rPr>
              <a:t>0%</a:t>
            </a:r>
            <a:endParaRPr sz="900">
              <a:latin typeface="Gill Sans Nova"/>
              <a:cs typeface="Gill Sans Nova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8927554" y="3560383"/>
            <a:ext cx="223520" cy="1612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00" spc="-35" b="1">
                <a:solidFill>
                  <a:srgbClr val="FFFFFF"/>
                </a:solidFill>
                <a:latin typeface="Gill Sans Nova"/>
                <a:cs typeface="Gill Sans Nova"/>
              </a:rPr>
              <a:t>23%</a:t>
            </a:r>
            <a:endParaRPr sz="900">
              <a:latin typeface="Gill Sans Nova"/>
              <a:cs typeface="Gill Sans Nova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9689554" y="3036509"/>
            <a:ext cx="223520" cy="1612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00" spc="-35" b="1">
                <a:solidFill>
                  <a:srgbClr val="FFFFFF"/>
                </a:solidFill>
                <a:latin typeface="Gill Sans Nova"/>
                <a:cs typeface="Gill Sans Nova"/>
              </a:rPr>
              <a:t>46%</a:t>
            </a:r>
            <a:endParaRPr sz="900">
              <a:latin typeface="Gill Sans Nova"/>
              <a:cs typeface="Gill Sans Nova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10451553" y="2512634"/>
            <a:ext cx="223520" cy="1612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00" spc="-35" b="1">
                <a:solidFill>
                  <a:srgbClr val="FFFFFF"/>
                </a:solidFill>
                <a:latin typeface="Gill Sans Nova"/>
                <a:cs typeface="Gill Sans Nova"/>
              </a:rPr>
              <a:t>73%</a:t>
            </a:r>
            <a:endParaRPr sz="900">
              <a:latin typeface="Gill Sans Nova"/>
              <a:cs typeface="Gill Sans Nova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7225127" y="3104709"/>
            <a:ext cx="137160" cy="68707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75"/>
              </a:lnSpc>
            </a:pPr>
            <a:r>
              <a:rPr dirty="0" sz="950" spc="-30">
                <a:solidFill>
                  <a:srgbClr val="333333"/>
                </a:solidFill>
                <a:latin typeface="Roboto"/>
                <a:cs typeface="Roboto"/>
              </a:rPr>
              <a:t>Performance</a:t>
            </a:r>
            <a:endParaRPr sz="950">
              <a:latin typeface="Roboto"/>
              <a:cs typeface="Roboto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10420349" y="2162174"/>
            <a:ext cx="285750" cy="285750"/>
            <a:chOff x="10420349" y="2162174"/>
            <a:chExt cx="285750" cy="285750"/>
          </a:xfrm>
        </p:grpSpPr>
        <p:sp>
          <p:nvSpPr>
            <p:cNvPr id="37" name="object 37" descr=""/>
            <p:cNvSpPr/>
            <p:nvPr/>
          </p:nvSpPr>
          <p:spPr>
            <a:xfrm>
              <a:off x="10420349" y="2162174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142874" y="285749"/>
                  </a:moveTo>
                  <a:lnTo>
                    <a:pt x="101400" y="279599"/>
                  </a:lnTo>
                  <a:lnTo>
                    <a:pt x="63497" y="261671"/>
                  </a:lnTo>
                  <a:lnTo>
                    <a:pt x="32429" y="233514"/>
                  </a:lnTo>
                  <a:lnTo>
                    <a:pt x="10875" y="197550"/>
                  </a:lnTo>
                  <a:lnTo>
                    <a:pt x="686" y="156879"/>
                  </a:lnTo>
                  <a:lnTo>
                    <a:pt x="0" y="142874"/>
                  </a:lnTo>
                  <a:lnTo>
                    <a:pt x="171" y="135855"/>
                  </a:lnTo>
                  <a:lnTo>
                    <a:pt x="8347" y="94749"/>
                  </a:lnTo>
                  <a:lnTo>
                    <a:pt x="28120" y="57757"/>
                  </a:lnTo>
                  <a:lnTo>
                    <a:pt x="57756" y="28121"/>
                  </a:lnTo>
                  <a:lnTo>
                    <a:pt x="94749" y="8348"/>
                  </a:lnTo>
                  <a:lnTo>
                    <a:pt x="135856" y="171"/>
                  </a:lnTo>
                  <a:lnTo>
                    <a:pt x="142874" y="0"/>
                  </a:lnTo>
                  <a:lnTo>
                    <a:pt x="149893" y="171"/>
                  </a:lnTo>
                  <a:lnTo>
                    <a:pt x="190999" y="8348"/>
                  </a:lnTo>
                  <a:lnTo>
                    <a:pt x="227992" y="28121"/>
                  </a:lnTo>
                  <a:lnTo>
                    <a:pt x="257628" y="57757"/>
                  </a:lnTo>
                  <a:lnTo>
                    <a:pt x="277401" y="94749"/>
                  </a:lnTo>
                  <a:lnTo>
                    <a:pt x="285578" y="135855"/>
                  </a:lnTo>
                  <a:lnTo>
                    <a:pt x="285749" y="142874"/>
                  </a:lnTo>
                  <a:lnTo>
                    <a:pt x="285578" y="149894"/>
                  </a:lnTo>
                  <a:lnTo>
                    <a:pt x="277401" y="191000"/>
                  </a:lnTo>
                  <a:lnTo>
                    <a:pt x="257628" y="227992"/>
                  </a:lnTo>
                  <a:lnTo>
                    <a:pt x="227992" y="257628"/>
                  </a:lnTo>
                  <a:lnTo>
                    <a:pt x="190999" y="277401"/>
                  </a:lnTo>
                  <a:lnTo>
                    <a:pt x="149893" y="285578"/>
                  </a:lnTo>
                  <a:lnTo>
                    <a:pt x="142874" y="285749"/>
                  </a:lnTo>
                  <a:close/>
                </a:path>
              </a:pathLst>
            </a:custGeom>
            <a:solidFill>
              <a:srgbClr val="004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0487024" y="2266949"/>
              <a:ext cx="152400" cy="95250"/>
            </a:xfrm>
            <a:custGeom>
              <a:avLst/>
              <a:gdLst/>
              <a:ahLst/>
              <a:cxnLst/>
              <a:rect l="l" t="t" r="r" b="b"/>
              <a:pathLst>
                <a:path w="152400" h="95250">
                  <a:moveTo>
                    <a:pt x="0" y="38099"/>
                  </a:moveTo>
                  <a:lnTo>
                    <a:pt x="57149" y="95249"/>
                  </a:lnTo>
                  <a:lnTo>
                    <a:pt x="152399" y="0"/>
                  </a:lnTo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/>
          <p:nvPr/>
        </p:nvSpPr>
        <p:spPr>
          <a:xfrm>
            <a:off x="11125187" y="552779"/>
            <a:ext cx="242570" cy="100330"/>
          </a:xfrm>
          <a:custGeom>
            <a:avLst/>
            <a:gdLst/>
            <a:ahLst/>
            <a:cxnLst/>
            <a:rect l="l" t="t" r="r" b="b"/>
            <a:pathLst>
              <a:path w="242570" h="100329">
                <a:moveTo>
                  <a:pt x="48107" y="393"/>
                </a:moveTo>
                <a:lnTo>
                  <a:pt x="0" y="393"/>
                </a:lnTo>
                <a:lnTo>
                  <a:pt x="0" y="13093"/>
                </a:lnTo>
                <a:lnTo>
                  <a:pt x="0" y="43573"/>
                </a:lnTo>
                <a:lnTo>
                  <a:pt x="0" y="56273"/>
                </a:lnTo>
                <a:lnTo>
                  <a:pt x="0" y="99453"/>
                </a:lnTo>
                <a:lnTo>
                  <a:pt x="15989" y="99453"/>
                </a:lnTo>
                <a:lnTo>
                  <a:pt x="15989" y="56273"/>
                </a:lnTo>
                <a:lnTo>
                  <a:pt x="44869" y="56273"/>
                </a:lnTo>
                <a:lnTo>
                  <a:pt x="44869" y="43573"/>
                </a:lnTo>
                <a:lnTo>
                  <a:pt x="15989" y="43573"/>
                </a:lnTo>
                <a:lnTo>
                  <a:pt x="15989" y="13093"/>
                </a:lnTo>
                <a:lnTo>
                  <a:pt x="48107" y="13093"/>
                </a:lnTo>
                <a:lnTo>
                  <a:pt x="48107" y="393"/>
                </a:lnTo>
                <a:close/>
              </a:path>
              <a:path w="242570" h="100329">
                <a:moveTo>
                  <a:pt x="77597" y="0"/>
                </a:moveTo>
                <a:lnTo>
                  <a:pt x="61620" y="0"/>
                </a:lnTo>
                <a:lnTo>
                  <a:pt x="61620" y="99847"/>
                </a:lnTo>
                <a:lnTo>
                  <a:pt x="77597" y="99847"/>
                </a:lnTo>
                <a:lnTo>
                  <a:pt x="77597" y="0"/>
                </a:lnTo>
                <a:close/>
              </a:path>
              <a:path w="242570" h="100329">
                <a:moveTo>
                  <a:pt x="144843" y="393"/>
                </a:moveTo>
                <a:lnTo>
                  <a:pt x="96748" y="393"/>
                </a:lnTo>
                <a:lnTo>
                  <a:pt x="96748" y="13093"/>
                </a:lnTo>
                <a:lnTo>
                  <a:pt x="96748" y="43573"/>
                </a:lnTo>
                <a:lnTo>
                  <a:pt x="96748" y="56273"/>
                </a:lnTo>
                <a:lnTo>
                  <a:pt x="96748" y="86753"/>
                </a:lnTo>
                <a:lnTo>
                  <a:pt x="96748" y="99453"/>
                </a:lnTo>
                <a:lnTo>
                  <a:pt x="144843" y="99453"/>
                </a:lnTo>
                <a:lnTo>
                  <a:pt x="144843" y="86753"/>
                </a:lnTo>
                <a:lnTo>
                  <a:pt x="112725" y="86753"/>
                </a:lnTo>
                <a:lnTo>
                  <a:pt x="112725" y="56273"/>
                </a:lnTo>
                <a:lnTo>
                  <a:pt x="141605" y="56273"/>
                </a:lnTo>
                <a:lnTo>
                  <a:pt x="141605" y="43573"/>
                </a:lnTo>
                <a:lnTo>
                  <a:pt x="112725" y="43573"/>
                </a:lnTo>
                <a:lnTo>
                  <a:pt x="112725" y="13093"/>
                </a:lnTo>
                <a:lnTo>
                  <a:pt x="144843" y="13093"/>
                </a:lnTo>
                <a:lnTo>
                  <a:pt x="144843" y="393"/>
                </a:lnTo>
                <a:close/>
              </a:path>
              <a:path w="242570" h="100329">
                <a:moveTo>
                  <a:pt x="208483" y="393"/>
                </a:moveTo>
                <a:lnTo>
                  <a:pt x="160375" y="393"/>
                </a:lnTo>
                <a:lnTo>
                  <a:pt x="160375" y="13093"/>
                </a:lnTo>
                <a:lnTo>
                  <a:pt x="160375" y="43573"/>
                </a:lnTo>
                <a:lnTo>
                  <a:pt x="160375" y="56273"/>
                </a:lnTo>
                <a:lnTo>
                  <a:pt x="160375" y="86753"/>
                </a:lnTo>
                <a:lnTo>
                  <a:pt x="160375" y="99453"/>
                </a:lnTo>
                <a:lnTo>
                  <a:pt x="208483" y="99453"/>
                </a:lnTo>
                <a:lnTo>
                  <a:pt x="208483" y="86753"/>
                </a:lnTo>
                <a:lnTo>
                  <a:pt x="176364" y="86753"/>
                </a:lnTo>
                <a:lnTo>
                  <a:pt x="176364" y="56273"/>
                </a:lnTo>
                <a:lnTo>
                  <a:pt x="205244" y="56273"/>
                </a:lnTo>
                <a:lnTo>
                  <a:pt x="205244" y="43573"/>
                </a:lnTo>
                <a:lnTo>
                  <a:pt x="176364" y="43573"/>
                </a:lnTo>
                <a:lnTo>
                  <a:pt x="176364" y="13093"/>
                </a:lnTo>
                <a:lnTo>
                  <a:pt x="208483" y="13093"/>
                </a:lnTo>
                <a:lnTo>
                  <a:pt x="208483" y="393"/>
                </a:lnTo>
                <a:close/>
              </a:path>
              <a:path w="242570" h="100329">
                <a:moveTo>
                  <a:pt x="242557" y="0"/>
                </a:moveTo>
                <a:lnTo>
                  <a:pt x="226580" y="0"/>
                </a:lnTo>
                <a:lnTo>
                  <a:pt x="226580" y="99847"/>
                </a:lnTo>
                <a:lnTo>
                  <a:pt x="242557" y="99847"/>
                </a:lnTo>
                <a:lnTo>
                  <a:pt x="242557" y="0"/>
                </a:lnTo>
                <a:close/>
              </a:path>
            </a:pathLst>
          </a:custGeom>
          <a:solidFill>
            <a:srgbClr val="0045A5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0" name="object 40" descr=""/>
          <p:cNvGrpSpPr/>
          <p:nvPr/>
        </p:nvGrpSpPr>
        <p:grpSpPr>
          <a:xfrm>
            <a:off x="10544174" y="6343649"/>
            <a:ext cx="1457325" cy="323850"/>
            <a:chOff x="10544174" y="6343649"/>
            <a:chExt cx="1457325" cy="323850"/>
          </a:xfrm>
        </p:grpSpPr>
        <p:sp>
          <p:nvSpPr>
            <p:cNvPr id="41" name="object 41" descr=""/>
            <p:cNvSpPr/>
            <p:nvPr/>
          </p:nvSpPr>
          <p:spPr>
            <a:xfrm>
              <a:off x="10544174" y="634364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584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43" name="object 4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75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50"/>
              <a:t>Genspark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2025-06-15T18:04:55Z</dcterms:created>
  <dcterms:modified xsi:type="dcterms:W3CDTF">2025-06-15T18:04:55Z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2025-06-15T00:00:00Z</vt:filetime>
  </property>
  <property fmtid="{D5CDD505-2E9C-101B-9397-08002B2CF9AE}" pid="3" name="Producer">
    <vt:lpwstr>pypdf</vt:lpwstr>
  </property>
  <property fmtid="{D5CDD505-2E9C-101B-9397-08002B2CF9AE}" pid="4" name="LastSaved">
    <vt:filetime>2025-06-15T00:00:00Z</vt:filetime>
  </property>
</Properties>
</file>