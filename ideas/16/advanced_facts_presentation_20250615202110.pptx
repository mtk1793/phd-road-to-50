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8331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bg1"/>
                </a:solidFill>
                <a:latin typeface="Roboto Medium"/>
                <a:cs typeface="Roboto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bg1"/>
                </a:solidFill>
                <a:latin typeface="Roboto Medium"/>
                <a:cs typeface="Roboto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bg1"/>
                </a:solidFill>
                <a:latin typeface="Roboto Medium"/>
                <a:cs typeface="Roboto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bg1"/>
                </a:solidFill>
                <a:latin typeface="Roboto Medium"/>
                <a:cs typeface="Roboto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121919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9"/>
                </a:lnTo>
                <a:close/>
              </a:path>
            </a:pathLst>
          </a:custGeom>
          <a:solidFill>
            <a:srgbClr val="00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1575" y="133920"/>
            <a:ext cx="5548848" cy="432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bg1"/>
                </a:solidFill>
                <a:latin typeface="Roboto Medium"/>
                <a:cs typeface="Roboto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33000" y="6445249"/>
            <a:ext cx="1181734" cy="570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#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5" Type="http://schemas.openxmlformats.org/officeDocument/2006/relationships/image" Target="../media/image31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1592262"/>
            <a:ext cx="8601075" cy="991235"/>
          </a:xfrm>
          <a:prstGeom prst="rect"/>
        </p:spPr>
        <p:txBody>
          <a:bodyPr wrap="square" lIns="0" tIns="70485" rIns="0" bIns="0" rtlCol="0" vert="horz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55"/>
              </a:spcBef>
            </a:pPr>
            <a:r>
              <a:rPr dirty="0" sz="3300" spc="-190" b="1">
                <a:solidFill>
                  <a:srgbClr val="004A86"/>
                </a:solidFill>
                <a:latin typeface="Roboto"/>
                <a:cs typeface="Roboto"/>
              </a:rPr>
              <a:t>Advanced</a:t>
            </a:r>
            <a:r>
              <a:rPr dirty="0" sz="33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135" b="1">
                <a:solidFill>
                  <a:srgbClr val="004A86"/>
                </a:solidFill>
                <a:latin typeface="Roboto"/>
                <a:cs typeface="Roboto"/>
              </a:rPr>
              <a:t>Intelligent</a:t>
            </a:r>
            <a:r>
              <a:rPr dirty="0" sz="33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165" b="1">
                <a:solidFill>
                  <a:srgbClr val="004A86"/>
                </a:solidFill>
                <a:latin typeface="Roboto"/>
                <a:cs typeface="Roboto"/>
              </a:rPr>
              <a:t>Control</a:t>
            </a:r>
            <a:r>
              <a:rPr dirty="0" sz="33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160" b="1">
                <a:solidFill>
                  <a:srgbClr val="004A86"/>
                </a:solidFill>
                <a:latin typeface="Roboto"/>
                <a:cs typeface="Roboto"/>
              </a:rPr>
              <a:t>of</a:t>
            </a:r>
            <a:r>
              <a:rPr dirty="0" sz="33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270" b="1">
                <a:solidFill>
                  <a:srgbClr val="004A86"/>
                </a:solidFill>
                <a:latin typeface="Roboto"/>
                <a:cs typeface="Roboto"/>
              </a:rPr>
              <a:t>FACTS</a:t>
            </a:r>
            <a:r>
              <a:rPr dirty="0" sz="33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175" b="1">
                <a:solidFill>
                  <a:srgbClr val="004A86"/>
                </a:solidFill>
                <a:latin typeface="Roboto"/>
                <a:cs typeface="Roboto"/>
              </a:rPr>
              <a:t>Devices</a:t>
            </a:r>
            <a:r>
              <a:rPr dirty="0" sz="33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40" b="1">
                <a:solidFill>
                  <a:srgbClr val="004A86"/>
                </a:solidFill>
                <a:latin typeface="Roboto"/>
                <a:cs typeface="Roboto"/>
              </a:rPr>
              <a:t>for </a:t>
            </a:r>
            <a:r>
              <a:rPr dirty="0" sz="3300" spc="-195" b="1">
                <a:solidFill>
                  <a:srgbClr val="004A86"/>
                </a:solidFill>
                <a:latin typeface="Roboto"/>
                <a:cs typeface="Roboto"/>
              </a:rPr>
              <a:t>Power</a:t>
            </a:r>
            <a:r>
              <a:rPr dirty="0" sz="3300" spc="-4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185" b="1">
                <a:solidFill>
                  <a:srgbClr val="004A86"/>
                </a:solidFill>
                <a:latin typeface="Roboto"/>
                <a:cs typeface="Roboto"/>
              </a:rPr>
              <a:t>System</a:t>
            </a:r>
            <a:r>
              <a:rPr dirty="0" sz="3300" spc="-4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135" b="1">
                <a:solidFill>
                  <a:srgbClr val="004A86"/>
                </a:solidFill>
                <a:latin typeface="Roboto"/>
                <a:cs typeface="Roboto"/>
              </a:rPr>
              <a:t>Stability</a:t>
            </a:r>
            <a:r>
              <a:rPr dirty="0" sz="3300" spc="-4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3300" spc="-75" b="1">
                <a:solidFill>
                  <a:srgbClr val="004A86"/>
                </a:solidFill>
                <a:latin typeface="Roboto"/>
                <a:cs typeface="Roboto"/>
              </a:rPr>
              <a:t>Enhancement</a:t>
            </a:r>
            <a:endParaRPr sz="330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96899" y="2717403"/>
            <a:ext cx="6873240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90" b="0">
                <a:solidFill>
                  <a:srgbClr val="0077B5"/>
                </a:solidFill>
                <a:latin typeface="Roboto Medium"/>
                <a:cs typeface="Roboto Medium"/>
              </a:rPr>
              <a:t>A</a:t>
            </a:r>
            <a:r>
              <a:rPr dirty="0" sz="2500" spc="-15" b="0">
                <a:solidFill>
                  <a:srgbClr val="0077B5"/>
                </a:solidFill>
                <a:latin typeface="Roboto Medium"/>
                <a:cs typeface="Roboto Medium"/>
              </a:rPr>
              <a:t> </a:t>
            </a:r>
            <a:r>
              <a:rPr dirty="0" sz="2500" spc="-145" b="0">
                <a:solidFill>
                  <a:srgbClr val="0077B5"/>
                </a:solidFill>
                <a:latin typeface="Roboto Medium"/>
                <a:cs typeface="Roboto Medium"/>
              </a:rPr>
              <a:t>Comprehensive</a:t>
            </a:r>
            <a:r>
              <a:rPr dirty="0" sz="2500" spc="-15" b="0">
                <a:solidFill>
                  <a:srgbClr val="0077B5"/>
                </a:solidFill>
                <a:latin typeface="Roboto Medium"/>
                <a:cs typeface="Roboto Medium"/>
              </a:rPr>
              <a:t> </a:t>
            </a:r>
            <a:r>
              <a:rPr dirty="0" sz="2500" spc="-120" b="0">
                <a:solidFill>
                  <a:srgbClr val="0077B5"/>
                </a:solidFill>
                <a:latin typeface="Roboto Medium"/>
                <a:cs typeface="Roboto Medium"/>
              </a:rPr>
              <a:t>Multi-</a:t>
            </a:r>
            <a:r>
              <a:rPr dirty="0" sz="2500" spc="-150" b="0">
                <a:solidFill>
                  <a:srgbClr val="0077B5"/>
                </a:solidFill>
                <a:latin typeface="Roboto Medium"/>
                <a:cs typeface="Roboto Medium"/>
              </a:rPr>
              <a:t>Agent</a:t>
            </a:r>
            <a:r>
              <a:rPr dirty="0" sz="2500" spc="-15" b="0">
                <a:solidFill>
                  <a:srgbClr val="0077B5"/>
                </a:solidFill>
                <a:latin typeface="Roboto Medium"/>
                <a:cs typeface="Roboto Medium"/>
              </a:rPr>
              <a:t> </a:t>
            </a:r>
            <a:r>
              <a:rPr dirty="0" sz="2500" spc="-135" b="0">
                <a:solidFill>
                  <a:srgbClr val="0077B5"/>
                </a:solidFill>
                <a:latin typeface="Roboto Medium"/>
                <a:cs typeface="Roboto Medium"/>
              </a:rPr>
              <a:t>Coordination</a:t>
            </a:r>
            <a:r>
              <a:rPr dirty="0" sz="2500" spc="-10" b="0">
                <a:solidFill>
                  <a:srgbClr val="0077B5"/>
                </a:solidFill>
                <a:latin typeface="Roboto Medium"/>
                <a:cs typeface="Roboto Medium"/>
              </a:rPr>
              <a:t> </a:t>
            </a:r>
            <a:r>
              <a:rPr dirty="0" sz="2500" spc="-114" b="0">
                <a:solidFill>
                  <a:srgbClr val="0077B5"/>
                </a:solidFill>
                <a:latin typeface="Roboto Medium"/>
                <a:cs typeface="Roboto Medium"/>
              </a:rPr>
              <a:t>Approach</a:t>
            </a:r>
            <a:endParaRPr sz="2500">
              <a:latin typeface="Roboto Medium"/>
              <a:cs typeface="Roboto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6899" y="4092736"/>
            <a:ext cx="246380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99515" algn="l"/>
              </a:tabLst>
            </a:pPr>
            <a:r>
              <a:rPr dirty="0" sz="2000" spc="-10" b="0">
                <a:solidFill>
                  <a:srgbClr val="004A86"/>
                </a:solidFill>
                <a:latin typeface="Roboto Medium"/>
                <a:cs typeface="Roboto Medium"/>
              </a:rPr>
              <a:t>Presenter:</a:t>
            </a:r>
            <a:r>
              <a:rPr dirty="0" sz="2000" b="0">
                <a:solidFill>
                  <a:srgbClr val="004A86"/>
                </a:solidFill>
                <a:latin typeface="Roboto Medium"/>
                <a:cs typeface="Roboto Medium"/>
              </a:rPr>
              <a:t>	</a:t>
            </a:r>
            <a:r>
              <a:rPr dirty="0" sz="1950" spc="-90">
                <a:solidFill>
                  <a:srgbClr val="333333"/>
                </a:solidFill>
                <a:latin typeface="Roboto"/>
                <a:cs typeface="Roboto"/>
              </a:rPr>
              <a:t>[Your</a:t>
            </a:r>
            <a:r>
              <a:rPr dirty="0" sz="19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950" spc="-80">
                <a:solidFill>
                  <a:srgbClr val="333333"/>
                </a:solidFill>
                <a:latin typeface="Roboto"/>
                <a:cs typeface="Roboto"/>
              </a:rPr>
              <a:t>Name]</a:t>
            </a:r>
            <a:endParaRPr sz="195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349" y="4619267"/>
            <a:ext cx="231055" cy="2289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25500" y="4549936"/>
            <a:ext cx="2815590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85" b="0">
                <a:solidFill>
                  <a:srgbClr val="004A86"/>
                </a:solidFill>
                <a:latin typeface="Roboto Medium"/>
                <a:cs typeface="Roboto Medium"/>
              </a:rPr>
              <a:t>Affiliation:</a:t>
            </a:r>
            <a:r>
              <a:rPr dirty="0" sz="2000" spc="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950" spc="-90">
                <a:solidFill>
                  <a:srgbClr val="333333"/>
                </a:solidFill>
                <a:latin typeface="Roboto"/>
                <a:cs typeface="Roboto"/>
              </a:rPr>
              <a:t>[Your</a:t>
            </a:r>
            <a:r>
              <a:rPr dirty="0" sz="195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950" spc="-55">
                <a:solidFill>
                  <a:srgbClr val="333333"/>
                </a:solidFill>
                <a:latin typeface="Roboto"/>
                <a:cs typeface="Roboto"/>
              </a:rPr>
              <a:t>Institution]</a:t>
            </a:r>
            <a:endParaRPr sz="195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5076824"/>
            <a:ext cx="200025" cy="2286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96924" y="5007136"/>
            <a:ext cx="2573655" cy="3340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75" b="0">
                <a:solidFill>
                  <a:srgbClr val="004A86"/>
                </a:solidFill>
                <a:latin typeface="Roboto Medium"/>
                <a:cs typeface="Roboto Medium"/>
              </a:rPr>
              <a:t>Date:</a:t>
            </a:r>
            <a:r>
              <a:rPr dirty="0" sz="2000" spc="1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950" spc="-75">
                <a:solidFill>
                  <a:srgbClr val="333333"/>
                </a:solidFill>
                <a:latin typeface="Roboto"/>
                <a:cs typeface="Roboto"/>
              </a:rPr>
              <a:t>[Presentation</a:t>
            </a:r>
            <a:r>
              <a:rPr dirty="0" sz="1950" spc="-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950" spc="-55">
                <a:solidFill>
                  <a:srgbClr val="333333"/>
                </a:solidFill>
                <a:latin typeface="Roboto"/>
                <a:cs typeface="Roboto"/>
              </a:rPr>
              <a:t>Date]</a:t>
            </a:r>
            <a:endParaRPr sz="19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05748" y="4286249"/>
            <a:ext cx="3905250" cy="2000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975947" y="4561282"/>
            <a:ext cx="8826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50" b="1">
                <a:solidFill>
                  <a:srgbClr val="FFFFFF"/>
                </a:solidFill>
                <a:latin typeface="Roboto"/>
                <a:cs typeface="Roboto"/>
              </a:rPr>
              <a:t>U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263632" y="4323157"/>
            <a:ext cx="24193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855"/>
              </a:lnSpc>
              <a:spcBef>
                <a:spcPts val="110"/>
              </a:spcBef>
            </a:pPr>
            <a:r>
              <a:rPr dirty="0" sz="800" spc="-50" b="1">
                <a:solidFill>
                  <a:srgbClr val="FFFFFF"/>
                </a:solidFill>
                <a:latin typeface="Roboto"/>
                <a:cs typeface="Roboto"/>
              </a:rPr>
              <a:t>S</a:t>
            </a:r>
            <a:endParaRPr sz="800">
              <a:latin typeface="Roboto"/>
              <a:cs typeface="Roboto"/>
            </a:endParaRPr>
          </a:p>
          <a:p>
            <a:pPr marL="45720">
              <a:lnSpc>
                <a:spcPts val="855"/>
              </a:lnSpc>
            </a:pPr>
            <a:r>
              <a:rPr dirty="0" sz="800" spc="-25" b="1">
                <a:solidFill>
                  <a:srgbClr val="FFFFFF"/>
                </a:solidFill>
                <a:latin typeface="Roboto"/>
                <a:cs typeface="Roboto"/>
              </a:rPr>
              <a:t>SVC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13" name="object 13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0833000" y="6403816"/>
            <a:ext cx="1066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505700"/>
            <a:chOff x="0" y="0"/>
            <a:chExt cx="12192000" cy="75057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5056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121919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252345">
              <a:lnSpc>
                <a:spcPct val="100000"/>
              </a:lnSpc>
              <a:spcBef>
                <a:spcPts val="120"/>
              </a:spcBef>
            </a:pPr>
            <a:r>
              <a:rPr dirty="0" spc="-145" b="0">
                <a:latin typeface="Arial Nova"/>
                <a:cs typeface="Arial Nova"/>
              </a:rPr>
              <a:t>Agenda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099" y="1371599"/>
            <a:ext cx="380999" cy="535304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23131" y="1410490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1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58899" y="1371282"/>
            <a:ext cx="25927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Introduction</a:t>
            </a:r>
            <a:r>
              <a:rPr dirty="0" sz="20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Motivation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3131" y="1962940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2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58899" y="1923732"/>
            <a:ext cx="20891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4">
                <a:solidFill>
                  <a:srgbClr val="333333"/>
                </a:solidFill>
                <a:latin typeface="Roboto"/>
                <a:cs typeface="Roboto"/>
              </a:rPr>
              <a:t>Research</a:t>
            </a:r>
            <a:r>
              <a:rPr dirty="0" sz="2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Objectives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23131" y="2515390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3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58899" y="2476182"/>
            <a:ext cx="20796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20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Architecture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23131" y="3067839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4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58899" y="3028632"/>
            <a:ext cx="30524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5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2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20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Techniques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23131" y="3620289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5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58899" y="3581082"/>
            <a:ext cx="37585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Multi-</a:t>
            </a:r>
            <a:r>
              <a:rPr dirty="0" sz="2000" spc="-114">
                <a:solidFill>
                  <a:srgbClr val="333333"/>
                </a:solidFill>
                <a:latin typeface="Roboto"/>
                <a:cs typeface="Roboto"/>
              </a:rPr>
              <a:t>Agent</a:t>
            </a:r>
            <a:r>
              <a:rPr dirty="0" sz="20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2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Framework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3131" y="4172739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6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58899" y="4133532"/>
            <a:ext cx="25006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Simulation</a:t>
            </a:r>
            <a:r>
              <a:rPr dirty="0" sz="2000" spc="-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Methodology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3131" y="4725189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7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58899" y="4685982"/>
            <a:ext cx="23818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30">
                <a:solidFill>
                  <a:srgbClr val="333333"/>
                </a:solidFill>
                <a:latin typeface="Roboto"/>
                <a:cs typeface="Roboto"/>
              </a:rPr>
              <a:t>Key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Results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Analyses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23131" y="5277639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8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58899" y="5238432"/>
            <a:ext cx="26955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4">
                <a:solidFill>
                  <a:srgbClr val="333333"/>
                </a:solidFill>
                <a:latin typeface="Roboto"/>
                <a:cs typeface="Roboto"/>
              </a:rPr>
              <a:t>Comparative</a:t>
            </a:r>
            <a:r>
              <a:rPr dirty="0" sz="20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Performance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23131" y="5830089"/>
            <a:ext cx="13525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50" b="1">
                <a:solidFill>
                  <a:srgbClr val="FFFFFF"/>
                </a:solidFill>
                <a:latin typeface="Arial Nova"/>
                <a:cs typeface="Arial Nova"/>
              </a:rPr>
              <a:t>9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58899" y="5790882"/>
            <a:ext cx="17564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Future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0">
                <a:solidFill>
                  <a:srgbClr val="333333"/>
                </a:solidFill>
                <a:latin typeface="Roboto"/>
                <a:cs typeface="Roboto"/>
              </a:rPr>
              <a:t>Directions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68511" y="6382539"/>
            <a:ext cx="24447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25" b="1">
                <a:solidFill>
                  <a:srgbClr val="FFFFFF"/>
                </a:solidFill>
                <a:latin typeface="Arial Nova"/>
                <a:cs typeface="Arial Nova"/>
              </a:rPr>
              <a:t>10</a:t>
            </a:r>
            <a:endParaRPr sz="1600">
              <a:latin typeface="Arial Nova"/>
              <a:cs typeface="Arial Nov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58899" y="6343332"/>
            <a:ext cx="1866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Conclusion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Q&amp;A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0" y="6991350"/>
            <a:ext cx="12192000" cy="514350"/>
            <a:chOff x="0" y="6991350"/>
            <a:chExt cx="12192000" cy="514350"/>
          </a:xfrm>
        </p:grpSpPr>
        <p:sp>
          <p:nvSpPr>
            <p:cNvPr id="28" name="object 28" descr=""/>
            <p:cNvSpPr/>
            <p:nvPr/>
          </p:nvSpPr>
          <p:spPr>
            <a:xfrm>
              <a:off x="0" y="72199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544174" y="699135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58474" y="7086599"/>
              <a:ext cx="133349" cy="13334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10833000" y="7092950"/>
            <a:ext cx="1181735" cy="361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2</a:t>
            </a:fld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10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045210">
              <a:lnSpc>
                <a:spcPct val="100000"/>
              </a:lnSpc>
              <a:spcBef>
                <a:spcPts val="120"/>
              </a:spcBef>
            </a:pPr>
            <a:r>
              <a:rPr dirty="0" spc="-125"/>
              <a:t>Introduction</a:t>
            </a:r>
            <a:r>
              <a:rPr dirty="0" spc="-70"/>
              <a:t> </a:t>
            </a:r>
            <a:r>
              <a:rPr dirty="0" spc="-170"/>
              <a:t>&amp;</a:t>
            </a:r>
            <a:r>
              <a:rPr dirty="0" spc="-55"/>
              <a:t> </a:t>
            </a:r>
            <a:r>
              <a:rPr dirty="0" spc="-114"/>
              <a:t>Motivation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499" y="1047749"/>
            <a:ext cx="10429875" cy="4476750"/>
            <a:chOff x="571499" y="1047749"/>
            <a:chExt cx="10429875" cy="4476750"/>
          </a:xfrm>
        </p:grpSpPr>
        <p:sp>
          <p:nvSpPr>
            <p:cNvPr id="4" name="object 4" descr=""/>
            <p:cNvSpPr/>
            <p:nvPr/>
          </p:nvSpPr>
          <p:spPr>
            <a:xfrm>
              <a:off x="571499" y="1047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046" y="1161246"/>
              <a:ext cx="115907" cy="15400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1499" y="26669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226" y="2783800"/>
              <a:ext cx="187523" cy="14936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1499" y="42767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4391024"/>
              <a:ext cx="152399" cy="1523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715124" y="1714499"/>
              <a:ext cx="4286250" cy="3810000"/>
            </a:xfrm>
            <a:custGeom>
              <a:avLst/>
              <a:gdLst/>
              <a:ahLst/>
              <a:cxnLst/>
              <a:rect l="l" t="t" r="r" b="b"/>
              <a:pathLst>
                <a:path w="4286250" h="3810000">
                  <a:moveTo>
                    <a:pt x="4215052" y="3809999"/>
                  </a:moveTo>
                  <a:lnTo>
                    <a:pt x="71196" y="3809999"/>
                  </a:lnTo>
                  <a:lnTo>
                    <a:pt x="66240" y="3809511"/>
                  </a:lnTo>
                  <a:lnTo>
                    <a:pt x="29704" y="3794377"/>
                  </a:lnTo>
                  <a:lnTo>
                    <a:pt x="3885" y="3758336"/>
                  </a:lnTo>
                  <a:lnTo>
                    <a:pt x="0" y="3738802"/>
                  </a:lnTo>
                  <a:lnTo>
                    <a:pt x="0" y="3733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215052" y="0"/>
                  </a:lnTo>
                  <a:lnTo>
                    <a:pt x="4256543" y="15621"/>
                  </a:lnTo>
                  <a:lnTo>
                    <a:pt x="4282362" y="51661"/>
                  </a:lnTo>
                  <a:lnTo>
                    <a:pt x="4286248" y="71196"/>
                  </a:lnTo>
                  <a:lnTo>
                    <a:pt x="4286248" y="3738802"/>
                  </a:lnTo>
                  <a:lnTo>
                    <a:pt x="4270626" y="3780292"/>
                  </a:lnTo>
                  <a:lnTo>
                    <a:pt x="4234585" y="3806113"/>
                  </a:lnTo>
                  <a:lnTo>
                    <a:pt x="4220008" y="3809511"/>
                  </a:lnTo>
                  <a:lnTo>
                    <a:pt x="4215052" y="3809999"/>
                  </a:lnTo>
                  <a:close/>
                </a:path>
              </a:pathLst>
            </a:custGeom>
            <a:solidFill>
              <a:srgbClr val="004A86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86624" y="209549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577753" y="666749"/>
                  </a:moveTo>
                  <a:lnTo>
                    <a:pt x="88995" y="666749"/>
                  </a:lnTo>
                  <a:lnTo>
                    <a:pt x="82801" y="666139"/>
                  </a:lnTo>
                  <a:lnTo>
                    <a:pt x="37131" y="647222"/>
                  </a:lnTo>
                  <a:lnTo>
                    <a:pt x="9643" y="613728"/>
                  </a:lnTo>
                  <a:lnTo>
                    <a:pt x="0" y="577753"/>
                  </a:lnTo>
                  <a:lnTo>
                    <a:pt x="0" y="57149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577753" y="0"/>
                  </a:lnTo>
                  <a:lnTo>
                    <a:pt x="619216" y="12577"/>
                  </a:lnTo>
                  <a:lnTo>
                    <a:pt x="654170" y="47531"/>
                  </a:lnTo>
                  <a:lnTo>
                    <a:pt x="666749" y="88995"/>
                  </a:lnTo>
                  <a:lnTo>
                    <a:pt x="666749" y="577753"/>
                  </a:lnTo>
                  <a:lnTo>
                    <a:pt x="654170" y="619217"/>
                  </a:lnTo>
                  <a:lnTo>
                    <a:pt x="619216" y="654171"/>
                  </a:lnTo>
                  <a:lnTo>
                    <a:pt x="583947" y="666139"/>
                  </a:lnTo>
                  <a:lnTo>
                    <a:pt x="577753" y="666749"/>
                  </a:lnTo>
                  <a:close/>
                </a:path>
              </a:pathLst>
            </a:custGeom>
            <a:solidFill>
              <a:srgbClr val="86CDFA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77124" y="22859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96453" y="107156"/>
                  </a:moveTo>
                  <a:lnTo>
                    <a:pt x="7980" y="107156"/>
                  </a:lnTo>
                  <a:lnTo>
                    <a:pt x="0" y="99175"/>
                  </a:lnTo>
                  <a:lnTo>
                    <a:pt x="0" y="79418"/>
                  </a:lnTo>
                  <a:lnTo>
                    <a:pt x="7980" y="71437"/>
                  </a:lnTo>
                  <a:lnTo>
                    <a:pt x="206331" y="71437"/>
                  </a:lnTo>
                  <a:lnTo>
                    <a:pt x="214312" y="63456"/>
                  </a:lnTo>
                  <a:lnTo>
                    <a:pt x="214312" y="43699"/>
                  </a:lnTo>
                  <a:lnTo>
                    <a:pt x="206331" y="35718"/>
                  </a:lnTo>
                  <a:lnTo>
                    <a:pt x="168715" y="35718"/>
                  </a:lnTo>
                  <a:lnTo>
                    <a:pt x="160734" y="27737"/>
                  </a:lnTo>
                  <a:lnTo>
                    <a:pt x="160734" y="7980"/>
                  </a:lnTo>
                  <a:lnTo>
                    <a:pt x="168715" y="0"/>
                  </a:lnTo>
                  <a:lnTo>
                    <a:pt x="196453" y="0"/>
                  </a:lnTo>
                  <a:lnTo>
                    <a:pt x="217303" y="4211"/>
                  </a:lnTo>
                  <a:lnTo>
                    <a:pt x="234334" y="15696"/>
                  </a:lnTo>
                  <a:lnTo>
                    <a:pt x="245819" y="32727"/>
                  </a:lnTo>
                  <a:lnTo>
                    <a:pt x="250031" y="53578"/>
                  </a:lnTo>
                  <a:lnTo>
                    <a:pt x="245819" y="74428"/>
                  </a:lnTo>
                  <a:lnTo>
                    <a:pt x="234334" y="91459"/>
                  </a:lnTo>
                  <a:lnTo>
                    <a:pt x="217303" y="102944"/>
                  </a:lnTo>
                  <a:lnTo>
                    <a:pt x="196453" y="107156"/>
                  </a:lnTo>
                  <a:close/>
                </a:path>
                <a:path w="285750" h="285750">
                  <a:moveTo>
                    <a:pt x="232171" y="232171"/>
                  </a:moveTo>
                  <a:lnTo>
                    <a:pt x="204434" y="232171"/>
                  </a:lnTo>
                  <a:lnTo>
                    <a:pt x="196453" y="224190"/>
                  </a:lnTo>
                  <a:lnTo>
                    <a:pt x="196453" y="204434"/>
                  </a:lnTo>
                  <a:lnTo>
                    <a:pt x="204434" y="196453"/>
                  </a:lnTo>
                  <a:lnTo>
                    <a:pt x="242050" y="196453"/>
                  </a:lnTo>
                  <a:lnTo>
                    <a:pt x="250031" y="188472"/>
                  </a:lnTo>
                  <a:lnTo>
                    <a:pt x="250031" y="168715"/>
                  </a:lnTo>
                  <a:lnTo>
                    <a:pt x="242050" y="160734"/>
                  </a:lnTo>
                  <a:lnTo>
                    <a:pt x="7980" y="160734"/>
                  </a:lnTo>
                  <a:lnTo>
                    <a:pt x="0" y="152753"/>
                  </a:lnTo>
                  <a:lnTo>
                    <a:pt x="0" y="132996"/>
                  </a:lnTo>
                  <a:lnTo>
                    <a:pt x="7980" y="125015"/>
                  </a:lnTo>
                  <a:lnTo>
                    <a:pt x="232171" y="125015"/>
                  </a:lnTo>
                  <a:lnTo>
                    <a:pt x="253022" y="129227"/>
                  </a:lnTo>
                  <a:lnTo>
                    <a:pt x="270053" y="140712"/>
                  </a:lnTo>
                  <a:lnTo>
                    <a:pt x="281538" y="157743"/>
                  </a:lnTo>
                  <a:lnTo>
                    <a:pt x="285750" y="178593"/>
                  </a:lnTo>
                  <a:lnTo>
                    <a:pt x="281538" y="199444"/>
                  </a:lnTo>
                  <a:lnTo>
                    <a:pt x="270053" y="216475"/>
                  </a:lnTo>
                  <a:lnTo>
                    <a:pt x="253022" y="227959"/>
                  </a:lnTo>
                  <a:lnTo>
                    <a:pt x="232171" y="232171"/>
                  </a:lnTo>
                  <a:close/>
                </a:path>
                <a:path w="285750" h="285750">
                  <a:moveTo>
                    <a:pt x="89296" y="285750"/>
                  </a:moveTo>
                  <a:lnTo>
                    <a:pt x="61559" y="285750"/>
                  </a:lnTo>
                  <a:lnTo>
                    <a:pt x="53578" y="277769"/>
                  </a:lnTo>
                  <a:lnTo>
                    <a:pt x="53578" y="258012"/>
                  </a:lnTo>
                  <a:lnTo>
                    <a:pt x="61559" y="250031"/>
                  </a:lnTo>
                  <a:lnTo>
                    <a:pt x="99175" y="250031"/>
                  </a:lnTo>
                  <a:lnTo>
                    <a:pt x="107156" y="242050"/>
                  </a:lnTo>
                  <a:lnTo>
                    <a:pt x="107156" y="222293"/>
                  </a:lnTo>
                  <a:lnTo>
                    <a:pt x="99175" y="214312"/>
                  </a:lnTo>
                  <a:lnTo>
                    <a:pt x="7980" y="214312"/>
                  </a:lnTo>
                  <a:lnTo>
                    <a:pt x="0" y="206331"/>
                  </a:lnTo>
                  <a:lnTo>
                    <a:pt x="0" y="186574"/>
                  </a:lnTo>
                  <a:lnTo>
                    <a:pt x="7980" y="178593"/>
                  </a:lnTo>
                  <a:lnTo>
                    <a:pt x="89296" y="178593"/>
                  </a:lnTo>
                  <a:lnTo>
                    <a:pt x="110147" y="182805"/>
                  </a:lnTo>
                  <a:lnTo>
                    <a:pt x="127178" y="194290"/>
                  </a:lnTo>
                  <a:lnTo>
                    <a:pt x="138663" y="211321"/>
                  </a:lnTo>
                  <a:lnTo>
                    <a:pt x="142875" y="232171"/>
                  </a:lnTo>
                  <a:lnTo>
                    <a:pt x="138663" y="253022"/>
                  </a:lnTo>
                  <a:lnTo>
                    <a:pt x="127178" y="270053"/>
                  </a:lnTo>
                  <a:lnTo>
                    <a:pt x="110147" y="281538"/>
                  </a:lnTo>
                  <a:lnTo>
                    <a:pt x="89296" y="285750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763123" y="209549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577755" y="666749"/>
                  </a:moveTo>
                  <a:lnTo>
                    <a:pt x="88995" y="666749"/>
                  </a:lnTo>
                  <a:lnTo>
                    <a:pt x="82800" y="666139"/>
                  </a:lnTo>
                  <a:lnTo>
                    <a:pt x="37131" y="647222"/>
                  </a:lnTo>
                  <a:lnTo>
                    <a:pt x="9643" y="613728"/>
                  </a:lnTo>
                  <a:lnTo>
                    <a:pt x="0" y="577753"/>
                  </a:lnTo>
                  <a:lnTo>
                    <a:pt x="1" y="5714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577755" y="0"/>
                  </a:lnTo>
                  <a:lnTo>
                    <a:pt x="619216" y="12577"/>
                  </a:lnTo>
                  <a:lnTo>
                    <a:pt x="654172" y="47531"/>
                  </a:lnTo>
                  <a:lnTo>
                    <a:pt x="666751" y="88995"/>
                  </a:lnTo>
                  <a:lnTo>
                    <a:pt x="666751" y="577753"/>
                  </a:lnTo>
                  <a:lnTo>
                    <a:pt x="654172" y="619217"/>
                  </a:lnTo>
                  <a:lnTo>
                    <a:pt x="619217" y="654171"/>
                  </a:lnTo>
                  <a:lnTo>
                    <a:pt x="583950" y="666139"/>
                  </a:lnTo>
                  <a:lnTo>
                    <a:pt x="577755" y="666749"/>
                  </a:lnTo>
                  <a:close/>
                </a:path>
              </a:pathLst>
            </a:custGeom>
            <a:solidFill>
              <a:srgbClr val="FFD600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953122" y="2285497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87287" y="286754"/>
                  </a:moveTo>
                  <a:lnTo>
                    <a:pt x="81706" y="284410"/>
                  </a:lnTo>
                  <a:lnTo>
                    <a:pt x="79697" y="281899"/>
                  </a:lnTo>
                  <a:lnTo>
                    <a:pt x="68033" y="218721"/>
                  </a:lnTo>
                  <a:lnTo>
                    <a:pt x="4855" y="207057"/>
                  </a:lnTo>
                  <a:lnTo>
                    <a:pt x="2344" y="205047"/>
                  </a:lnTo>
                  <a:lnTo>
                    <a:pt x="0" y="199466"/>
                  </a:lnTo>
                  <a:lnTo>
                    <a:pt x="237" y="197208"/>
                  </a:lnTo>
                  <a:lnTo>
                    <a:pt x="334" y="196285"/>
                  </a:lnTo>
                  <a:lnTo>
                    <a:pt x="36834" y="143377"/>
                  </a:lnTo>
                  <a:lnTo>
                    <a:pt x="1056" y="91514"/>
                  </a:lnTo>
                  <a:lnTo>
                    <a:pt x="328" y="90413"/>
                  </a:lnTo>
                  <a:lnTo>
                    <a:pt x="23" y="87231"/>
                  </a:lnTo>
                  <a:lnTo>
                    <a:pt x="2413" y="81650"/>
                  </a:lnTo>
                  <a:lnTo>
                    <a:pt x="4925" y="79641"/>
                  </a:lnTo>
                  <a:lnTo>
                    <a:pt x="5157" y="79641"/>
                  </a:lnTo>
                  <a:lnTo>
                    <a:pt x="68033" y="68033"/>
                  </a:lnTo>
                  <a:lnTo>
                    <a:pt x="79697" y="4855"/>
                  </a:lnTo>
                  <a:lnTo>
                    <a:pt x="81706" y="2344"/>
                  </a:lnTo>
                  <a:lnTo>
                    <a:pt x="87287" y="0"/>
                  </a:lnTo>
                  <a:lnTo>
                    <a:pt x="90468" y="334"/>
                  </a:lnTo>
                  <a:lnTo>
                    <a:pt x="143377" y="36834"/>
                  </a:lnTo>
                  <a:lnTo>
                    <a:pt x="212961" y="36834"/>
                  </a:lnTo>
                  <a:lnTo>
                    <a:pt x="218721" y="68033"/>
                  </a:lnTo>
                  <a:lnTo>
                    <a:pt x="240011" y="71939"/>
                  </a:lnTo>
                  <a:lnTo>
                    <a:pt x="138686" y="71939"/>
                  </a:lnTo>
                  <a:lnTo>
                    <a:pt x="99788" y="86585"/>
                  </a:lnTo>
                  <a:lnTo>
                    <a:pt x="75582" y="120372"/>
                  </a:lnTo>
                  <a:lnTo>
                    <a:pt x="71939" y="138686"/>
                  </a:lnTo>
                  <a:lnTo>
                    <a:pt x="71939" y="148067"/>
                  </a:lnTo>
                  <a:lnTo>
                    <a:pt x="86585" y="186965"/>
                  </a:lnTo>
                  <a:lnTo>
                    <a:pt x="120372" y="211171"/>
                  </a:lnTo>
                  <a:lnTo>
                    <a:pt x="138686" y="214814"/>
                  </a:lnTo>
                  <a:lnTo>
                    <a:pt x="239881" y="214814"/>
                  </a:lnTo>
                  <a:lnTo>
                    <a:pt x="218721" y="218721"/>
                  </a:lnTo>
                  <a:lnTo>
                    <a:pt x="212961" y="249919"/>
                  </a:lnTo>
                  <a:lnTo>
                    <a:pt x="143377" y="249919"/>
                  </a:lnTo>
                  <a:lnTo>
                    <a:pt x="90468" y="286419"/>
                  </a:lnTo>
                  <a:lnTo>
                    <a:pt x="87287" y="286754"/>
                  </a:lnTo>
                  <a:close/>
                </a:path>
                <a:path w="287020" h="287019">
                  <a:moveTo>
                    <a:pt x="212961" y="36834"/>
                  </a:moveTo>
                  <a:lnTo>
                    <a:pt x="143377" y="36834"/>
                  </a:lnTo>
                  <a:lnTo>
                    <a:pt x="196285" y="334"/>
                  </a:lnTo>
                  <a:lnTo>
                    <a:pt x="199466" y="0"/>
                  </a:lnTo>
                  <a:lnTo>
                    <a:pt x="205047" y="2344"/>
                  </a:lnTo>
                  <a:lnTo>
                    <a:pt x="207057" y="4855"/>
                  </a:lnTo>
                  <a:lnTo>
                    <a:pt x="212961" y="36834"/>
                  </a:lnTo>
                  <a:close/>
                </a:path>
                <a:path w="287020" h="287019">
                  <a:moveTo>
                    <a:pt x="239881" y="214814"/>
                  </a:moveTo>
                  <a:lnTo>
                    <a:pt x="148067" y="214814"/>
                  </a:lnTo>
                  <a:lnTo>
                    <a:pt x="152713" y="214357"/>
                  </a:lnTo>
                  <a:lnTo>
                    <a:pt x="161914" y="212527"/>
                  </a:lnTo>
                  <a:lnTo>
                    <a:pt x="197208" y="190574"/>
                  </a:lnTo>
                  <a:lnTo>
                    <a:pt x="214357" y="152713"/>
                  </a:lnTo>
                  <a:lnTo>
                    <a:pt x="214814" y="148067"/>
                  </a:lnTo>
                  <a:lnTo>
                    <a:pt x="214814" y="138686"/>
                  </a:lnTo>
                  <a:lnTo>
                    <a:pt x="200169" y="99788"/>
                  </a:lnTo>
                  <a:lnTo>
                    <a:pt x="166381" y="75582"/>
                  </a:lnTo>
                  <a:lnTo>
                    <a:pt x="148067" y="71939"/>
                  </a:lnTo>
                  <a:lnTo>
                    <a:pt x="240011" y="71939"/>
                  </a:lnTo>
                  <a:lnTo>
                    <a:pt x="281899" y="79641"/>
                  </a:lnTo>
                  <a:lnTo>
                    <a:pt x="284410" y="81650"/>
                  </a:lnTo>
                  <a:lnTo>
                    <a:pt x="286754" y="87231"/>
                  </a:lnTo>
                  <a:lnTo>
                    <a:pt x="286510" y="89546"/>
                  </a:lnTo>
                  <a:lnTo>
                    <a:pt x="286419" y="90413"/>
                  </a:lnTo>
                  <a:lnTo>
                    <a:pt x="249919" y="143377"/>
                  </a:lnTo>
                  <a:lnTo>
                    <a:pt x="286419" y="196285"/>
                  </a:lnTo>
                  <a:lnTo>
                    <a:pt x="286754" y="199466"/>
                  </a:lnTo>
                  <a:lnTo>
                    <a:pt x="284410" y="205047"/>
                  </a:lnTo>
                  <a:lnTo>
                    <a:pt x="281899" y="207057"/>
                  </a:lnTo>
                  <a:lnTo>
                    <a:pt x="239881" y="214814"/>
                  </a:lnTo>
                  <a:close/>
                </a:path>
                <a:path w="287020" h="287019">
                  <a:moveTo>
                    <a:pt x="146895" y="196955"/>
                  </a:moveTo>
                  <a:lnTo>
                    <a:pt x="139859" y="196955"/>
                  </a:lnTo>
                  <a:lnTo>
                    <a:pt x="136375" y="196612"/>
                  </a:lnTo>
                  <a:lnTo>
                    <a:pt x="100783" y="176068"/>
                  </a:lnTo>
                  <a:lnTo>
                    <a:pt x="89914" y="148067"/>
                  </a:lnTo>
                  <a:lnTo>
                    <a:pt x="89914" y="138686"/>
                  </a:lnTo>
                  <a:lnTo>
                    <a:pt x="107979" y="103004"/>
                  </a:lnTo>
                  <a:lnTo>
                    <a:pt x="139859" y="89799"/>
                  </a:lnTo>
                  <a:lnTo>
                    <a:pt x="146895" y="89799"/>
                  </a:lnTo>
                  <a:lnTo>
                    <a:pt x="183750" y="107979"/>
                  </a:lnTo>
                  <a:lnTo>
                    <a:pt x="196839" y="148067"/>
                  </a:lnTo>
                  <a:lnTo>
                    <a:pt x="196612" y="150379"/>
                  </a:lnTo>
                  <a:lnTo>
                    <a:pt x="176068" y="185971"/>
                  </a:lnTo>
                  <a:lnTo>
                    <a:pt x="146895" y="196955"/>
                  </a:lnTo>
                  <a:close/>
                </a:path>
                <a:path w="287020" h="287019">
                  <a:moveTo>
                    <a:pt x="199466" y="286754"/>
                  </a:moveTo>
                  <a:lnTo>
                    <a:pt x="196285" y="286419"/>
                  </a:lnTo>
                  <a:lnTo>
                    <a:pt x="143377" y="249919"/>
                  </a:lnTo>
                  <a:lnTo>
                    <a:pt x="212961" y="249919"/>
                  </a:lnTo>
                  <a:lnTo>
                    <a:pt x="207057" y="281899"/>
                  </a:lnTo>
                  <a:lnTo>
                    <a:pt x="205047" y="284410"/>
                  </a:lnTo>
                  <a:lnTo>
                    <a:pt x="199466" y="286754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86624" y="44767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577753" y="666749"/>
                  </a:moveTo>
                  <a:lnTo>
                    <a:pt x="88995" y="666749"/>
                  </a:lnTo>
                  <a:lnTo>
                    <a:pt x="82801" y="666139"/>
                  </a:lnTo>
                  <a:lnTo>
                    <a:pt x="37131" y="647222"/>
                  </a:lnTo>
                  <a:lnTo>
                    <a:pt x="9643" y="613728"/>
                  </a:lnTo>
                  <a:lnTo>
                    <a:pt x="0" y="577754"/>
                  </a:lnTo>
                  <a:lnTo>
                    <a:pt x="0" y="571499"/>
                  </a:lnTo>
                  <a:lnTo>
                    <a:pt x="0" y="88995"/>
                  </a:lnTo>
                  <a:lnTo>
                    <a:pt x="12576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577753" y="0"/>
                  </a:lnTo>
                  <a:lnTo>
                    <a:pt x="619216" y="12577"/>
                  </a:lnTo>
                  <a:lnTo>
                    <a:pt x="654170" y="47531"/>
                  </a:lnTo>
                  <a:lnTo>
                    <a:pt x="666749" y="88995"/>
                  </a:lnTo>
                  <a:lnTo>
                    <a:pt x="666749" y="577754"/>
                  </a:lnTo>
                  <a:lnTo>
                    <a:pt x="654170" y="619217"/>
                  </a:lnTo>
                  <a:lnTo>
                    <a:pt x="619216" y="654171"/>
                  </a:lnTo>
                  <a:lnTo>
                    <a:pt x="583947" y="666139"/>
                  </a:lnTo>
                  <a:lnTo>
                    <a:pt x="577753" y="666749"/>
                  </a:lnTo>
                  <a:close/>
                </a:path>
              </a:pathLst>
            </a:custGeom>
            <a:solidFill>
              <a:srgbClr val="A8A8A8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75934" y="4685109"/>
              <a:ext cx="285750" cy="250190"/>
            </a:xfrm>
            <a:custGeom>
              <a:avLst/>
              <a:gdLst/>
              <a:ahLst/>
              <a:cxnLst/>
              <a:rect l="l" t="t" r="r" b="b"/>
              <a:pathLst>
                <a:path w="285750" h="250189">
                  <a:moveTo>
                    <a:pt x="258960" y="250031"/>
                  </a:moveTo>
                  <a:lnTo>
                    <a:pt x="26789" y="250031"/>
                  </a:lnTo>
                  <a:lnTo>
                    <a:pt x="16363" y="247925"/>
                  </a:lnTo>
                  <a:lnTo>
                    <a:pt x="7848" y="242182"/>
                  </a:lnTo>
                  <a:lnTo>
                    <a:pt x="2105" y="233667"/>
                  </a:lnTo>
                  <a:lnTo>
                    <a:pt x="0" y="223242"/>
                  </a:lnTo>
                  <a:lnTo>
                    <a:pt x="0" y="7980"/>
                  </a:lnTo>
                  <a:lnTo>
                    <a:pt x="7980" y="0"/>
                  </a:lnTo>
                  <a:lnTo>
                    <a:pt x="17859" y="0"/>
                  </a:lnTo>
                  <a:lnTo>
                    <a:pt x="63456" y="0"/>
                  </a:lnTo>
                  <a:lnTo>
                    <a:pt x="71437" y="7980"/>
                  </a:lnTo>
                  <a:lnTo>
                    <a:pt x="71437" y="102356"/>
                  </a:lnTo>
                  <a:lnTo>
                    <a:pt x="158836" y="55308"/>
                  </a:lnTo>
                  <a:lnTo>
                    <a:pt x="165691" y="53694"/>
                  </a:lnTo>
                  <a:lnTo>
                    <a:pt x="172063" y="55587"/>
                  </a:lnTo>
                  <a:lnTo>
                    <a:pt x="176762" y="60284"/>
                  </a:lnTo>
                  <a:lnTo>
                    <a:pt x="178593" y="67084"/>
                  </a:lnTo>
                  <a:lnTo>
                    <a:pt x="178593" y="102356"/>
                  </a:lnTo>
                  <a:lnTo>
                    <a:pt x="265993" y="55308"/>
                  </a:lnTo>
                  <a:lnTo>
                    <a:pt x="272847" y="53694"/>
                  </a:lnTo>
                  <a:lnTo>
                    <a:pt x="279220" y="55587"/>
                  </a:lnTo>
                  <a:lnTo>
                    <a:pt x="283918" y="60284"/>
                  </a:lnTo>
                  <a:lnTo>
                    <a:pt x="285750" y="67084"/>
                  </a:lnTo>
                  <a:lnTo>
                    <a:pt x="285750" y="223242"/>
                  </a:lnTo>
                  <a:lnTo>
                    <a:pt x="283644" y="233667"/>
                  </a:lnTo>
                  <a:lnTo>
                    <a:pt x="277901" y="242182"/>
                  </a:lnTo>
                  <a:lnTo>
                    <a:pt x="269386" y="247925"/>
                  </a:lnTo>
                  <a:lnTo>
                    <a:pt x="258960" y="250031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763123" y="4476749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577755" y="666749"/>
                  </a:moveTo>
                  <a:lnTo>
                    <a:pt x="88995" y="666749"/>
                  </a:lnTo>
                  <a:lnTo>
                    <a:pt x="82800" y="666139"/>
                  </a:lnTo>
                  <a:lnTo>
                    <a:pt x="37131" y="647222"/>
                  </a:lnTo>
                  <a:lnTo>
                    <a:pt x="9643" y="613728"/>
                  </a:lnTo>
                  <a:lnTo>
                    <a:pt x="0" y="577754"/>
                  </a:lnTo>
                  <a:lnTo>
                    <a:pt x="1" y="57149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5" y="0"/>
                  </a:lnTo>
                  <a:lnTo>
                    <a:pt x="577755" y="0"/>
                  </a:lnTo>
                  <a:lnTo>
                    <a:pt x="619216" y="12577"/>
                  </a:lnTo>
                  <a:lnTo>
                    <a:pt x="654172" y="47531"/>
                  </a:lnTo>
                  <a:lnTo>
                    <a:pt x="666751" y="88995"/>
                  </a:lnTo>
                  <a:lnTo>
                    <a:pt x="666751" y="577754"/>
                  </a:lnTo>
                  <a:lnTo>
                    <a:pt x="654172" y="619217"/>
                  </a:lnTo>
                  <a:lnTo>
                    <a:pt x="619217" y="654171"/>
                  </a:lnTo>
                  <a:lnTo>
                    <a:pt x="583950" y="666139"/>
                  </a:lnTo>
                  <a:lnTo>
                    <a:pt x="577755" y="666749"/>
                  </a:lnTo>
                  <a:close/>
                </a:path>
              </a:pathLst>
            </a:custGeom>
            <a:solidFill>
              <a:srgbClr val="FF624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953624" y="466724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50031" y="71437"/>
                  </a:moveTo>
                  <a:lnTo>
                    <a:pt x="35718" y="71437"/>
                  </a:lnTo>
                  <a:lnTo>
                    <a:pt x="38529" y="57545"/>
                  </a:lnTo>
                  <a:lnTo>
                    <a:pt x="46190" y="46190"/>
                  </a:lnTo>
                  <a:lnTo>
                    <a:pt x="57545" y="38529"/>
                  </a:lnTo>
                  <a:lnTo>
                    <a:pt x="71437" y="35718"/>
                  </a:lnTo>
                  <a:lnTo>
                    <a:pt x="71437" y="5971"/>
                  </a:lnTo>
                  <a:lnTo>
                    <a:pt x="77409" y="0"/>
                  </a:lnTo>
                  <a:lnTo>
                    <a:pt x="92254" y="0"/>
                  </a:lnTo>
                  <a:lnTo>
                    <a:pt x="98226" y="5971"/>
                  </a:lnTo>
                  <a:lnTo>
                    <a:pt x="98226" y="35718"/>
                  </a:lnTo>
                  <a:lnTo>
                    <a:pt x="214312" y="35718"/>
                  </a:lnTo>
                  <a:lnTo>
                    <a:pt x="228204" y="38529"/>
                  </a:lnTo>
                  <a:lnTo>
                    <a:pt x="239559" y="46190"/>
                  </a:lnTo>
                  <a:lnTo>
                    <a:pt x="247220" y="57545"/>
                  </a:lnTo>
                  <a:lnTo>
                    <a:pt x="250031" y="71437"/>
                  </a:lnTo>
                  <a:close/>
                </a:path>
                <a:path w="285750" h="285750">
                  <a:moveTo>
                    <a:pt x="156269" y="35718"/>
                  </a:moveTo>
                  <a:lnTo>
                    <a:pt x="129480" y="35718"/>
                  </a:lnTo>
                  <a:lnTo>
                    <a:pt x="129480" y="5971"/>
                  </a:lnTo>
                  <a:lnTo>
                    <a:pt x="135452" y="0"/>
                  </a:lnTo>
                  <a:lnTo>
                    <a:pt x="150297" y="0"/>
                  </a:lnTo>
                  <a:lnTo>
                    <a:pt x="156269" y="5971"/>
                  </a:lnTo>
                  <a:lnTo>
                    <a:pt x="156269" y="35718"/>
                  </a:lnTo>
                  <a:close/>
                </a:path>
                <a:path w="285750" h="285750">
                  <a:moveTo>
                    <a:pt x="214312" y="35718"/>
                  </a:moveTo>
                  <a:lnTo>
                    <a:pt x="187523" y="35718"/>
                  </a:lnTo>
                  <a:lnTo>
                    <a:pt x="187523" y="5971"/>
                  </a:lnTo>
                  <a:lnTo>
                    <a:pt x="193495" y="0"/>
                  </a:lnTo>
                  <a:lnTo>
                    <a:pt x="208340" y="0"/>
                  </a:lnTo>
                  <a:lnTo>
                    <a:pt x="214312" y="5971"/>
                  </a:lnTo>
                  <a:lnTo>
                    <a:pt x="214312" y="35718"/>
                  </a:lnTo>
                  <a:close/>
                </a:path>
                <a:path w="285750" h="285750">
                  <a:moveTo>
                    <a:pt x="79418" y="214312"/>
                  </a:moveTo>
                  <a:lnTo>
                    <a:pt x="5971" y="214312"/>
                  </a:lnTo>
                  <a:lnTo>
                    <a:pt x="0" y="208340"/>
                  </a:lnTo>
                  <a:lnTo>
                    <a:pt x="0" y="193495"/>
                  </a:lnTo>
                  <a:lnTo>
                    <a:pt x="5971" y="187523"/>
                  </a:lnTo>
                  <a:lnTo>
                    <a:pt x="35718" y="187523"/>
                  </a:lnTo>
                  <a:lnTo>
                    <a:pt x="35718" y="156269"/>
                  </a:lnTo>
                  <a:lnTo>
                    <a:pt x="5971" y="156269"/>
                  </a:lnTo>
                  <a:lnTo>
                    <a:pt x="0" y="150297"/>
                  </a:lnTo>
                  <a:lnTo>
                    <a:pt x="0" y="135452"/>
                  </a:lnTo>
                  <a:lnTo>
                    <a:pt x="5971" y="129480"/>
                  </a:lnTo>
                  <a:lnTo>
                    <a:pt x="35718" y="129480"/>
                  </a:lnTo>
                  <a:lnTo>
                    <a:pt x="35718" y="98226"/>
                  </a:lnTo>
                  <a:lnTo>
                    <a:pt x="5971" y="98226"/>
                  </a:lnTo>
                  <a:lnTo>
                    <a:pt x="0" y="92254"/>
                  </a:lnTo>
                  <a:lnTo>
                    <a:pt x="0" y="77409"/>
                  </a:lnTo>
                  <a:lnTo>
                    <a:pt x="5971" y="71437"/>
                  </a:lnTo>
                  <a:lnTo>
                    <a:pt x="79418" y="71437"/>
                  </a:lnTo>
                  <a:lnTo>
                    <a:pt x="71437" y="79418"/>
                  </a:lnTo>
                  <a:lnTo>
                    <a:pt x="71437" y="206331"/>
                  </a:lnTo>
                  <a:lnTo>
                    <a:pt x="79418" y="214312"/>
                  </a:lnTo>
                  <a:close/>
                </a:path>
                <a:path w="285750" h="285750">
                  <a:moveTo>
                    <a:pt x="279778" y="214312"/>
                  </a:moveTo>
                  <a:lnTo>
                    <a:pt x="206331" y="214312"/>
                  </a:lnTo>
                  <a:lnTo>
                    <a:pt x="214312" y="206331"/>
                  </a:lnTo>
                  <a:lnTo>
                    <a:pt x="214312" y="79418"/>
                  </a:lnTo>
                  <a:lnTo>
                    <a:pt x="206331" y="71437"/>
                  </a:lnTo>
                  <a:lnTo>
                    <a:pt x="279778" y="71437"/>
                  </a:lnTo>
                  <a:lnTo>
                    <a:pt x="285750" y="77409"/>
                  </a:lnTo>
                  <a:lnTo>
                    <a:pt x="285750" y="92254"/>
                  </a:lnTo>
                  <a:lnTo>
                    <a:pt x="279778" y="98226"/>
                  </a:lnTo>
                  <a:lnTo>
                    <a:pt x="250031" y="98226"/>
                  </a:lnTo>
                  <a:lnTo>
                    <a:pt x="250031" y="129480"/>
                  </a:lnTo>
                  <a:lnTo>
                    <a:pt x="279778" y="129480"/>
                  </a:lnTo>
                  <a:lnTo>
                    <a:pt x="285750" y="135452"/>
                  </a:lnTo>
                  <a:lnTo>
                    <a:pt x="285750" y="150297"/>
                  </a:lnTo>
                  <a:lnTo>
                    <a:pt x="279778" y="156269"/>
                  </a:lnTo>
                  <a:lnTo>
                    <a:pt x="250031" y="156269"/>
                  </a:lnTo>
                  <a:lnTo>
                    <a:pt x="250031" y="187523"/>
                  </a:lnTo>
                  <a:lnTo>
                    <a:pt x="279778" y="187523"/>
                  </a:lnTo>
                  <a:lnTo>
                    <a:pt x="285750" y="193495"/>
                  </a:lnTo>
                  <a:lnTo>
                    <a:pt x="285750" y="208340"/>
                  </a:lnTo>
                  <a:lnTo>
                    <a:pt x="279778" y="214312"/>
                  </a:lnTo>
                  <a:close/>
                </a:path>
                <a:path w="285750" h="285750">
                  <a:moveTo>
                    <a:pt x="196453" y="196453"/>
                  </a:moveTo>
                  <a:lnTo>
                    <a:pt x="89296" y="196453"/>
                  </a:lnTo>
                  <a:lnTo>
                    <a:pt x="89296" y="89296"/>
                  </a:lnTo>
                  <a:lnTo>
                    <a:pt x="196453" y="89296"/>
                  </a:lnTo>
                  <a:lnTo>
                    <a:pt x="196453" y="196453"/>
                  </a:lnTo>
                  <a:close/>
                </a:path>
                <a:path w="285750" h="285750">
                  <a:moveTo>
                    <a:pt x="92254" y="285750"/>
                  </a:moveTo>
                  <a:lnTo>
                    <a:pt x="77409" y="285750"/>
                  </a:lnTo>
                  <a:lnTo>
                    <a:pt x="71437" y="279778"/>
                  </a:lnTo>
                  <a:lnTo>
                    <a:pt x="71437" y="250031"/>
                  </a:lnTo>
                  <a:lnTo>
                    <a:pt x="57545" y="247220"/>
                  </a:lnTo>
                  <a:lnTo>
                    <a:pt x="46190" y="239559"/>
                  </a:lnTo>
                  <a:lnTo>
                    <a:pt x="38529" y="228204"/>
                  </a:lnTo>
                  <a:lnTo>
                    <a:pt x="35718" y="214312"/>
                  </a:lnTo>
                  <a:lnTo>
                    <a:pt x="250031" y="214312"/>
                  </a:lnTo>
                  <a:lnTo>
                    <a:pt x="247220" y="228204"/>
                  </a:lnTo>
                  <a:lnTo>
                    <a:pt x="239559" y="239559"/>
                  </a:lnTo>
                  <a:lnTo>
                    <a:pt x="228204" y="247220"/>
                  </a:lnTo>
                  <a:lnTo>
                    <a:pt x="214312" y="250031"/>
                  </a:lnTo>
                  <a:lnTo>
                    <a:pt x="98226" y="250031"/>
                  </a:lnTo>
                  <a:lnTo>
                    <a:pt x="98226" y="279778"/>
                  </a:lnTo>
                  <a:lnTo>
                    <a:pt x="92254" y="285750"/>
                  </a:lnTo>
                  <a:close/>
                </a:path>
                <a:path w="285750" h="285750">
                  <a:moveTo>
                    <a:pt x="150297" y="285750"/>
                  </a:moveTo>
                  <a:lnTo>
                    <a:pt x="135452" y="285750"/>
                  </a:lnTo>
                  <a:lnTo>
                    <a:pt x="129480" y="279778"/>
                  </a:lnTo>
                  <a:lnTo>
                    <a:pt x="129480" y="250031"/>
                  </a:lnTo>
                  <a:lnTo>
                    <a:pt x="156269" y="250031"/>
                  </a:lnTo>
                  <a:lnTo>
                    <a:pt x="156269" y="279778"/>
                  </a:lnTo>
                  <a:lnTo>
                    <a:pt x="150297" y="285750"/>
                  </a:lnTo>
                  <a:close/>
                </a:path>
                <a:path w="285750" h="285750">
                  <a:moveTo>
                    <a:pt x="208340" y="285750"/>
                  </a:moveTo>
                  <a:lnTo>
                    <a:pt x="193495" y="285750"/>
                  </a:lnTo>
                  <a:lnTo>
                    <a:pt x="187523" y="279778"/>
                  </a:lnTo>
                  <a:lnTo>
                    <a:pt x="187523" y="250031"/>
                  </a:lnTo>
                  <a:lnTo>
                    <a:pt x="214312" y="250031"/>
                  </a:lnTo>
                  <a:lnTo>
                    <a:pt x="214312" y="279778"/>
                  </a:lnTo>
                  <a:lnTo>
                    <a:pt x="208340" y="285750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19987" y="2428874"/>
              <a:ext cx="2476500" cy="2381250"/>
            </a:xfrm>
            <a:custGeom>
              <a:avLst/>
              <a:gdLst/>
              <a:ahLst/>
              <a:cxnLst/>
              <a:rect l="l" t="t" r="r" b="b"/>
              <a:pathLst>
                <a:path w="2476500" h="2381250">
                  <a:moveTo>
                    <a:pt x="19050" y="333375"/>
                  </a:moveTo>
                  <a:lnTo>
                    <a:pt x="0" y="333375"/>
                  </a:lnTo>
                  <a:lnTo>
                    <a:pt x="0" y="904875"/>
                  </a:lnTo>
                  <a:lnTo>
                    <a:pt x="0" y="1476375"/>
                  </a:lnTo>
                  <a:lnTo>
                    <a:pt x="0" y="2047875"/>
                  </a:lnTo>
                  <a:lnTo>
                    <a:pt x="19050" y="2047875"/>
                  </a:lnTo>
                  <a:lnTo>
                    <a:pt x="19050" y="1476375"/>
                  </a:lnTo>
                  <a:lnTo>
                    <a:pt x="19050" y="904875"/>
                  </a:lnTo>
                  <a:lnTo>
                    <a:pt x="19050" y="333375"/>
                  </a:lnTo>
                  <a:close/>
                </a:path>
                <a:path w="2476500" h="2381250">
                  <a:moveTo>
                    <a:pt x="2476500" y="2362200"/>
                  </a:moveTo>
                  <a:lnTo>
                    <a:pt x="0" y="2362200"/>
                  </a:lnTo>
                  <a:lnTo>
                    <a:pt x="0" y="2381250"/>
                  </a:lnTo>
                  <a:lnTo>
                    <a:pt x="2476500" y="2381250"/>
                  </a:lnTo>
                  <a:lnTo>
                    <a:pt x="2476500" y="2362200"/>
                  </a:lnTo>
                  <a:close/>
                </a:path>
                <a:path w="2476500" h="2381250">
                  <a:moveTo>
                    <a:pt x="2476500" y="333375"/>
                  </a:moveTo>
                  <a:lnTo>
                    <a:pt x="2457450" y="333375"/>
                  </a:lnTo>
                  <a:lnTo>
                    <a:pt x="2457450" y="904875"/>
                  </a:lnTo>
                  <a:lnTo>
                    <a:pt x="2457450" y="1476375"/>
                  </a:lnTo>
                  <a:lnTo>
                    <a:pt x="2457450" y="2047875"/>
                  </a:lnTo>
                  <a:lnTo>
                    <a:pt x="2476500" y="2047875"/>
                  </a:lnTo>
                  <a:lnTo>
                    <a:pt x="2476500" y="1476375"/>
                  </a:lnTo>
                  <a:lnTo>
                    <a:pt x="2476500" y="904875"/>
                  </a:lnTo>
                  <a:lnTo>
                    <a:pt x="2476500" y="333375"/>
                  </a:lnTo>
                  <a:close/>
                </a:path>
                <a:path w="2476500" h="2381250">
                  <a:moveTo>
                    <a:pt x="24765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476500" y="19050"/>
                  </a:lnTo>
                  <a:lnTo>
                    <a:pt x="2476500" y="0"/>
                  </a:lnTo>
                  <a:close/>
                </a:path>
              </a:pathLst>
            </a:custGeom>
            <a:solidFill>
              <a:srgbClr val="004A8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381999" y="3143249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49" y="952499"/>
                  </a:moveTo>
                  <a:lnTo>
                    <a:pt x="429569" y="950206"/>
                  </a:lnTo>
                  <a:lnTo>
                    <a:pt x="383338" y="943348"/>
                  </a:lnTo>
                  <a:lnTo>
                    <a:pt x="338001" y="931992"/>
                  </a:lnTo>
                  <a:lnTo>
                    <a:pt x="293996" y="916247"/>
                  </a:lnTo>
                  <a:lnTo>
                    <a:pt x="251747" y="896264"/>
                  </a:lnTo>
                  <a:lnTo>
                    <a:pt x="211659" y="872237"/>
                  </a:lnTo>
                  <a:lnTo>
                    <a:pt x="174120" y="844396"/>
                  </a:lnTo>
                  <a:lnTo>
                    <a:pt x="139490" y="813009"/>
                  </a:lnTo>
                  <a:lnTo>
                    <a:pt x="108103" y="778379"/>
                  </a:lnTo>
                  <a:lnTo>
                    <a:pt x="80262" y="740840"/>
                  </a:lnTo>
                  <a:lnTo>
                    <a:pt x="56234" y="700752"/>
                  </a:lnTo>
                  <a:lnTo>
                    <a:pt x="36252" y="658502"/>
                  </a:lnTo>
                  <a:lnTo>
                    <a:pt x="20507" y="614497"/>
                  </a:lnTo>
                  <a:lnTo>
                    <a:pt x="9151" y="569161"/>
                  </a:lnTo>
                  <a:lnTo>
                    <a:pt x="2293" y="522930"/>
                  </a:lnTo>
                  <a:lnTo>
                    <a:pt x="0" y="476249"/>
                  </a:lnTo>
                  <a:lnTo>
                    <a:pt x="143" y="464558"/>
                  </a:lnTo>
                  <a:lnTo>
                    <a:pt x="3581" y="417948"/>
                  </a:lnTo>
                  <a:lnTo>
                    <a:pt x="11572" y="371899"/>
                  </a:lnTo>
                  <a:lnTo>
                    <a:pt x="24038" y="326855"/>
                  </a:lnTo>
                  <a:lnTo>
                    <a:pt x="40858" y="283250"/>
                  </a:lnTo>
                  <a:lnTo>
                    <a:pt x="61872" y="241504"/>
                  </a:lnTo>
                  <a:lnTo>
                    <a:pt x="86877" y="202018"/>
                  </a:lnTo>
                  <a:lnTo>
                    <a:pt x="115631" y="165173"/>
                  </a:lnTo>
                  <a:lnTo>
                    <a:pt x="147858" y="131324"/>
                  </a:lnTo>
                  <a:lnTo>
                    <a:pt x="183248" y="100797"/>
                  </a:lnTo>
                  <a:lnTo>
                    <a:pt x="221460" y="73886"/>
                  </a:lnTo>
                  <a:lnTo>
                    <a:pt x="262125" y="50850"/>
                  </a:lnTo>
                  <a:lnTo>
                    <a:pt x="304853" y="31910"/>
                  </a:lnTo>
                  <a:lnTo>
                    <a:pt x="349231" y="17250"/>
                  </a:lnTo>
                  <a:lnTo>
                    <a:pt x="394832" y="7010"/>
                  </a:lnTo>
                  <a:lnTo>
                    <a:pt x="441218" y="1289"/>
                  </a:lnTo>
                  <a:lnTo>
                    <a:pt x="476249" y="0"/>
                  </a:lnTo>
                  <a:lnTo>
                    <a:pt x="487941" y="143"/>
                  </a:lnTo>
                  <a:lnTo>
                    <a:pt x="534551" y="3581"/>
                  </a:lnTo>
                  <a:lnTo>
                    <a:pt x="580600" y="11572"/>
                  </a:lnTo>
                  <a:lnTo>
                    <a:pt x="625644" y="24038"/>
                  </a:lnTo>
                  <a:lnTo>
                    <a:pt x="669249" y="40858"/>
                  </a:lnTo>
                  <a:lnTo>
                    <a:pt x="710995" y="61872"/>
                  </a:lnTo>
                  <a:lnTo>
                    <a:pt x="750481" y="86877"/>
                  </a:lnTo>
                  <a:lnTo>
                    <a:pt x="787326" y="115631"/>
                  </a:lnTo>
                  <a:lnTo>
                    <a:pt x="821175" y="147858"/>
                  </a:lnTo>
                  <a:lnTo>
                    <a:pt x="851702" y="183248"/>
                  </a:lnTo>
                  <a:lnTo>
                    <a:pt x="878613" y="221460"/>
                  </a:lnTo>
                  <a:lnTo>
                    <a:pt x="901649" y="262125"/>
                  </a:lnTo>
                  <a:lnTo>
                    <a:pt x="920589" y="304853"/>
                  </a:lnTo>
                  <a:lnTo>
                    <a:pt x="935249" y="349231"/>
                  </a:lnTo>
                  <a:lnTo>
                    <a:pt x="945489" y="394832"/>
                  </a:lnTo>
                  <a:lnTo>
                    <a:pt x="951209" y="441218"/>
                  </a:lnTo>
                  <a:lnTo>
                    <a:pt x="952499" y="476249"/>
                  </a:lnTo>
                  <a:lnTo>
                    <a:pt x="952356" y="487941"/>
                  </a:lnTo>
                  <a:lnTo>
                    <a:pt x="948918" y="534551"/>
                  </a:lnTo>
                  <a:lnTo>
                    <a:pt x="940927" y="580600"/>
                  </a:lnTo>
                  <a:lnTo>
                    <a:pt x="928461" y="625644"/>
                  </a:lnTo>
                  <a:lnTo>
                    <a:pt x="911640" y="669249"/>
                  </a:lnTo>
                  <a:lnTo>
                    <a:pt x="890627" y="710995"/>
                  </a:lnTo>
                  <a:lnTo>
                    <a:pt x="865622" y="750481"/>
                  </a:lnTo>
                  <a:lnTo>
                    <a:pt x="836868" y="787326"/>
                  </a:lnTo>
                  <a:lnTo>
                    <a:pt x="804641" y="821175"/>
                  </a:lnTo>
                  <a:lnTo>
                    <a:pt x="769251" y="851702"/>
                  </a:lnTo>
                  <a:lnTo>
                    <a:pt x="731039" y="878613"/>
                  </a:lnTo>
                  <a:lnTo>
                    <a:pt x="690374" y="901649"/>
                  </a:lnTo>
                  <a:lnTo>
                    <a:pt x="647646" y="920589"/>
                  </a:lnTo>
                  <a:lnTo>
                    <a:pt x="603268" y="935249"/>
                  </a:lnTo>
                  <a:lnTo>
                    <a:pt x="557667" y="945489"/>
                  </a:lnTo>
                  <a:lnTo>
                    <a:pt x="511281" y="951209"/>
                  </a:lnTo>
                  <a:lnTo>
                    <a:pt x="476249" y="952499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130300" y="995949"/>
            <a:ext cx="4906010" cy="12852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Modern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systems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face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challenges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due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8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8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9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Intermittency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of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sources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Reduced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inertia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Voltage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fluctuations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quality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issues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30300" y="2630725"/>
            <a:ext cx="4633595" cy="125984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5"/>
              </a:spcBef>
            </a:pPr>
            <a:r>
              <a:rPr dirty="0" sz="1800" spc="-140">
                <a:solidFill>
                  <a:srgbClr val="333333"/>
                </a:solidFill>
                <a:latin typeface="Roboto"/>
                <a:cs typeface="Roboto"/>
              </a:rPr>
              <a:t>FACTS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devices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play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key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role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enhancing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45">
                <a:solidFill>
                  <a:srgbClr val="333333"/>
                </a:solidFill>
                <a:latin typeface="Roboto"/>
                <a:cs typeface="Roboto"/>
              </a:rPr>
              <a:t>power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flexibility,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controllability,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9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Rapid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response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voltage/frequency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deviations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flow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regulation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optimization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Enhanced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transient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stability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130300" y="4224924"/>
            <a:ext cx="4490085" cy="15805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114">
                <a:solidFill>
                  <a:srgbClr val="333333"/>
                </a:solidFill>
                <a:latin typeface="Roboto"/>
                <a:cs typeface="Roboto"/>
              </a:rPr>
              <a:t>New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intelligent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strategies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are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required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to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address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nonlinearity,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uncertainty,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time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adaptation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90"/>
              </a:spcBef>
              <a:buChar char="-"/>
              <a:tabLst>
                <a:tab pos="82550" algn="l"/>
              </a:tabLst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Classical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controllers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have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limitations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Need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model-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free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approaches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Coordination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between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multiple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4A5462"/>
                </a:solidFill>
                <a:latin typeface="Roboto"/>
                <a:cs typeface="Roboto"/>
              </a:rPr>
              <a:t>FACTS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devices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430170" y="3345434"/>
            <a:ext cx="85661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99390">
              <a:lnSpc>
                <a:spcPct val="115399"/>
              </a:lnSpc>
              <a:spcBef>
                <a:spcPts val="90"/>
              </a:spcBef>
            </a:pPr>
            <a:r>
              <a:rPr dirty="0" sz="1300" spc="-10" b="0">
                <a:solidFill>
                  <a:srgbClr val="004A86"/>
                </a:solidFill>
                <a:latin typeface="Roboto Medium"/>
                <a:cs typeface="Roboto Medium"/>
              </a:rPr>
              <a:t>Power </a:t>
            </a:r>
            <a:r>
              <a:rPr dirty="0" sz="1300" spc="-70" b="0">
                <a:solidFill>
                  <a:srgbClr val="004A86"/>
                </a:solidFill>
                <a:latin typeface="Roboto Medium"/>
                <a:cs typeface="Roboto Medium"/>
              </a:rPr>
              <a:t>System</a:t>
            </a:r>
            <a:r>
              <a:rPr dirty="0" sz="1300" spc="1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300" spc="-60" b="0">
                <a:solidFill>
                  <a:srgbClr val="004A86"/>
                </a:solidFill>
                <a:latin typeface="Roboto Medium"/>
                <a:cs typeface="Roboto Medium"/>
              </a:rPr>
              <a:t>Grid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0" y="3042045"/>
            <a:ext cx="12192000" cy="3816350"/>
            <a:chOff x="0" y="3042045"/>
            <a:chExt cx="12192000" cy="3816350"/>
          </a:xfrm>
        </p:grpSpPr>
        <p:sp>
          <p:nvSpPr>
            <p:cNvPr id="26" name="object 26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214118" y="3042056"/>
              <a:ext cx="1507490" cy="1250315"/>
            </a:xfrm>
            <a:custGeom>
              <a:avLst/>
              <a:gdLst/>
              <a:ahLst/>
              <a:cxnLst/>
              <a:rect l="l" t="t" r="r" b="b"/>
              <a:pathLst>
                <a:path w="1507490" h="1250314">
                  <a:moveTo>
                    <a:pt x="297649" y="148818"/>
                  </a:moveTo>
                  <a:lnTo>
                    <a:pt x="291249" y="105625"/>
                  </a:lnTo>
                  <a:lnTo>
                    <a:pt x="272567" y="66141"/>
                  </a:lnTo>
                  <a:lnTo>
                    <a:pt x="243243" y="33782"/>
                  </a:lnTo>
                  <a:lnTo>
                    <a:pt x="205778" y="11328"/>
                  </a:lnTo>
                  <a:lnTo>
                    <a:pt x="163410" y="711"/>
                  </a:lnTo>
                  <a:lnTo>
                    <a:pt x="148818" y="0"/>
                  </a:lnTo>
                  <a:lnTo>
                    <a:pt x="141516" y="177"/>
                  </a:lnTo>
                  <a:lnTo>
                    <a:pt x="98691" y="8686"/>
                  </a:lnTo>
                  <a:lnTo>
                    <a:pt x="60159" y="29286"/>
                  </a:lnTo>
                  <a:lnTo>
                    <a:pt x="29286" y="60159"/>
                  </a:lnTo>
                  <a:lnTo>
                    <a:pt x="8686" y="98691"/>
                  </a:lnTo>
                  <a:lnTo>
                    <a:pt x="177" y="141516"/>
                  </a:lnTo>
                  <a:lnTo>
                    <a:pt x="0" y="148818"/>
                  </a:lnTo>
                  <a:lnTo>
                    <a:pt x="177" y="156133"/>
                  </a:lnTo>
                  <a:lnTo>
                    <a:pt x="8686" y="198958"/>
                  </a:lnTo>
                  <a:lnTo>
                    <a:pt x="29286" y="237490"/>
                  </a:lnTo>
                  <a:lnTo>
                    <a:pt x="60159" y="268363"/>
                  </a:lnTo>
                  <a:lnTo>
                    <a:pt x="98691" y="288963"/>
                  </a:lnTo>
                  <a:lnTo>
                    <a:pt x="141516" y="297472"/>
                  </a:lnTo>
                  <a:lnTo>
                    <a:pt x="148818" y="297649"/>
                  </a:lnTo>
                  <a:lnTo>
                    <a:pt x="156133" y="297472"/>
                  </a:lnTo>
                  <a:lnTo>
                    <a:pt x="198958" y="288963"/>
                  </a:lnTo>
                  <a:lnTo>
                    <a:pt x="237490" y="268363"/>
                  </a:lnTo>
                  <a:lnTo>
                    <a:pt x="268363" y="237490"/>
                  </a:lnTo>
                  <a:lnTo>
                    <a:pt x="288963" y="198958"/>
                  </a:lnTo>
                  <a:lnTo>
                    <a:pt x="297472" y="156133"/>
                  </a:lnTo>
                  <a:lnTo>
                    <a:pt x="297649" y="148818"/>
                  </a:lnTo>
                  <a:close/>
                </a:path>
                <a:path w="1507490" h="1250314">
                  <a:moveTo>
                    <a:pt x="1507324" y="1101318"/>
                  </a:moveTo>
                  <a:lnTo>
                    <a:pt x="1500924" y="1058125"/>
                  </a:lnTo>
                  <a:lnTo>
                    <a:pt x="1482242" y="1018641"/>
                  </a:lnTo>
                  <a:lnTo>
                    <a:pt x="1452918" y="986282"/>
                  </a:lnTo>
                  <a:lnTo>
                    <a:pt x="1415453" y="963828"/>
                  </a:lnTo>
                  <a:lnTo>
                    <a:pt x="1373085" y="953211"/>
                  </a:lnTo>
                  <a:lnTo>
                    <a:pt x="1358493" y="952500"/>
                  </a:lnTo>
                  <a:lnTo>
                    <a:pt x="1351191" y="952677"/>
                  </a:lnTo>
                  <a:lnTo>
                    <a:pt x="1308366" y="961186"/>
                  </a:lnTo>
                  <a:lnTo>
                    <a:pt x="1269834" y="981786"/>
                  </a:lnTo>
                  <a:lnTo>
                    <a:pt x="1238961" y="1012659"/>
                  </a:lnTo>
                  <a:lnTo>
                    <a:pt x="1218361" y="1051191"/>
                  </a:lnTo>
                  <a:lnTo>
                    <a:pt x="1209852" y="1094016"/>
                  </a:lnTo>
                  <a:lnTo>
                    <a:pt x="1209675" y="1101318"/>
                  </a:lnTo>
                  <a:lnTo>
                    <a:pt x="1209852" y="1108633"/>
                  </a:lnTo>
                  <a:lnTo>
                    <a:pt x="1218361" y="1151458"/>
                  </a:lnTo>
                  <a:lnTo>
                    <a:pt x="1238961" y="1189990"/>
                  </a:lnTo>
                  <a:lnTo>
                    <a:pt x="1269834" y="1220863"/>
                  </a:lnTo>
                  <a:lnTo>
                    <a:pt x="1308366" y="1241463"/>
                  </a:lnTo>
                  <a:lnTo>
                    <a:pt x="1351191" y="1249972"/>
                  </a:lnTo>
                  <a:lnTo>
                    <a:pt x="1358493" y="1250149"/>
                  </a:lnTo>
                  <a:lnTo>
                    <a:pt x="1365808" y="1249972"/>
                  </a:lnTo>
                  <a:lnTo>
                    <a:pt x="1408633" y="1241463"/>
                  </a:lnTo>
                  <a:lnTo>
                    <a:pt x="1447165" y="1220863"/>
                  </a:lnTo>
                  <a:lnTo>
                    <a:pt x="1478038" y="1189990"/>
                  </a:lnTo>
                  <a:lnTo>
                    <a:pt x="1498638" y="1151458"/>
                  </a:lnTo>
                  <a:lnTo>
                    <a:pt x="1507147" y="1108633"/>
                  </a:lnTo>
                  <a:lnTo>
                    <a:pt x="1507324" y="1101318"/>
                  </a:lnTo>
                  <a:close/>
                </a:path>
              </a:pathLst>
            </a:custGeom>
            <a:solidFill>
              <a:srgbClr val="E63845">
                <a:alpha val="9500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3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439025"/>
            <a:chOff x="0" y="0"/>
            <a:chExt cx="12192000" cy="74390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43902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121919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385570">
              <a:lnSpc>
                <a:spcPct val="100000"/>
              </a:lnSpc>
              <a:spcBef>
                <a:spcPts val="120"/>
              </a:spcBef>
            </a:pPr>
            <a:r>
              <a:rPr dirty="0" spc="-150"/>
              <a:t>Research</a:t>
            </a:r>
            <a:r>
              <a:rPr dirty="0" spc="-5"/>
              <a:t> </a:t>
            </a:r>
            <a:r>
              <a:rPr dirty="0" spc="-114"/>
              <a:t>Objectives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380999" y="1047749"/>
            <a:ext cx="9382125" cy="4962525"/>
            <a:chOff x="380999" y="1047749"/>
            <a:chExt cx="9382125" cy="4962525"/>
          </a:xfrm>
        </p:grpSpPr>
        <p:sp>
          <p:nvSpPr>
            <p:cNvPr id="7" name="object 7" descr=""/>
            <p:cNvSpPr/>
            <p:nvPr/>
          </p:nvSpPr>
          <p:spPr>
            <a:xfrm>
              <a:off x="380999" y="1047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720" y="1162049"/>
              <a:ext cx="185588" cy="1523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80999" y="2571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299" y="2686049"/>
              <a:ext cx="152399" cy="1523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80999" y="4095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774" y="4219574"/>
              <a:ext cx="171449" cy="13334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80999" y="562927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4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8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8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299" y="5753099"/>
              <a:ext cx="152399" cy="1333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0874" y="2952749"/>
              <a:ext cx="2762250" cy="228599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939800" y="1001950"/>
            <a:ext cx="4607560" cy="12312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20"/>
              </a:spcBef>
            </a:pP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Develop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hybrid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model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integrating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conventional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sources</a:t>
            </a:r>
            <a:endParaRPr sz="1800">
              <a:latin typeface="Roboto"/>
              <a:cs typeface="Roboto"/>
            </a:endParaRPr>
          </a:p>
          <a:p>
            <a:pPr marL="80010" indent="-67310">
              <a:lnSpc>
                <a:spcPct val="100000"/>
              </a:lnSpc>
              <a:spcBef>
                <a:spcPts val="740"/>
              </a:spcBef>
              <a:buChar char="-"/>
              <a:tabLst>
                <a:tab pos="8001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Thermal,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hydro,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wind,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solar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generation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Accurate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dynamic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modeling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Scalable</a:t>
            </a:r>
            <a:r>
              <a:rPr dirty="0" sz="1150" spc="-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architecture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39800" y="2525950"/>
            <a:ext cx="4857115" cy="12312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20"/>
              </a:spcBef>
            </a:pP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Implement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multiple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40">
                <a:solidFill>
                  <a:srgbClr val="333333"/>
                </a:solidFill>
                <a:latin typeface="Roboto"/>
                <a:cs typeface="Roboto"/>
              </a:rPr>
              <a:t>FACTS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devices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14">
                <a:solidFill>
                  <a:srgbClr val="333333"/>
                </a:solidFill>
                <a:latin typeface="Roboto"/>
                <a:cs typeface="Roboto"/>
              </a:rPr>
              <a:t>(STATCOM,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35">
                <a:solidFill>
                  <a:srgbClr val="333333"/>
                </a:solidFill>
                <a:latin typeface="Roboto"/>
                <a:cs typeface="Roboto"/>
              </a:rPr>
              <a:t>SVC, </a:t>
            </a:r>
            <a:r>
              <a:rPr dirty="0" sz="1800" spc="-105">
                <a:solidFill>
                  <a:srgbClr val="333333"/>
                </a:solidFill>
                <a:latin typeface="Roboto"/>
                <a:cs typeface="Roboto"/>
              </a:rPr>
              <a:t>UPFC)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intelligent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74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Detailed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device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physics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constraints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Integration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existing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infrastructure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Advanced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control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interfaces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39800" y="4049950"/>
            <a:ext cx="4612640" cy="1240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20"/>
              </a:spcBef>
            </a:pP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Design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multi-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agent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optimization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strategies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15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Hierarchical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control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architecture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Expert</a:t>
            </a:r>
            <a:r>
              <a:rPr dirty="0" sz="1150" spc="3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decision</a:t>
            </a:r>
            <a:r>
              <a:rPr dirty="0" sz="1150" spc="4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Real-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coordination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algorithms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39800" y="5583475"/>
            <a:ext cx="4634230" cy="123126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54"/>
              </a:spcBef>
            </a:pP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Evaluate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performance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under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diverse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disturbances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high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penetration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755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Response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faults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load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changes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penetration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up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4A5462"/>
                </a:solidFill>
                <a:latin typeface="Roboto"/>
                <a:cs typeface="Roboto"/>
              </a:rPr>
              <a:t>40%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Rigorous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comparative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analysis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42697" y="3831209"/>
            <a:ext cx="716915" cy="711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5715">
              <a:lnSpc>
                <a:spcPct val="115399"/>
              </a:lnSpc>
              <a:spcBef>
                <a:spcPts val="90"/>
              </a:spcBef>
            </a:pPr>
            <a:r>
              <a:rPr dirty="0" sz="1300" spc="-65" b="1">
                <a:solidFill>
                  <a:srgbClr val="004A86"/>
                </a:solidFill>
                <a:latin typeface="Roboto"/>
                <a:cs typeface="Roboto"/>
              </a:rPr>
              <a:t>Advanced </a:t>
            </a:r>
            <a:r>
              <a:rPr dirty="0" sz="1300" spc="-50" b="1">
                <a:solidFill>
                  <a:srgbClr val="004A86"/>
                </a:solidFill>
                <a:latin typeface="Roboto"/>
                <a:cs typeface="Roboto"/>
              </a:rPr>
              <a:t>Intelligent </a:t>
            </a:r>
            <a:r>
              <a:rPr dirty="0" sz="1300" spc="-60" b="1">
                <a:solidFill>
                  <a:srgbClr val="004A86"/>
                </a:solidFill>
                <a:latin typeface="Roboto"/>
                <a:cs typeface="Roboto"/>
              </a:rPr>
              <a:t>Control</a:t>
            </a:r>
            <a:r>
              <a:rPr dirty="0" sz="1300" spc="2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300" spc="-25" b="1">
                <a:solidFill>
                  <a:srgbClr val="004A86"/>
                </a:solidFill>
                <a:latin typeface="Roboto"/>
                <a:cs typeface="Roboto"/>
              </a:rPr>
              <a:t>of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472735" y="4542154"/>
            <a:ext cx="10572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05" b="1">
                <a:solidFill>
                  <a:srgbClr val="004A86"/>
                </a:solidFill>
                <a:latin typeface="Roboto"/>
                <a:cs typeface="Roboto"/>
              </a:rPr>
              <a:t>FACTS</a:t>
            </a:r>
            <a:r>
              <a:rPr dirty="0" sz="1300" spc="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004A86"/>
                </a:solidFill>
                <a:latin typeface="Roboto"/>
                <a:cs typeface="Roboto"/>
              </a:rPr>
              <a:t>Devices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429624" y="1809749"/>
            <a:ext cx="1143000" cy="1143000"/>
            <a:chOff x="8429624" y="1809749"/>
            <a:chExt cx="1143000" cy="1143000"/>
          </a:xfrm>
        </p:grpSpPr>
        <p:sp>
          <p:nvSpPr>
            <p:cNvPr id="23" name="object 23" descr=""/>
            <p:cNvSpPr/>
            <p:nvPr/>
          </p:nvSpPr>
          <p:spPr>
            <a:xfrm>
              <a:off x="8443911" y="1824037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557212" y="1114424"/>
                  </a:moveTo>
                  <a:lnTo>
                    <a:pt x="516226" y="1112915"/>
                  </a:lnTo>
                  <a:lnTo>
                    <a:pt x="475452" y="1108394"/>
                  </a:lnTo>
                  <a:lnTo>
                    <a:pt x="435122" y="1100884"/>
                  </a:lnTo>
                  <a:lnTo>
                    <a:pt x="395462" y="1090431"/>
                  </a:lnTo>
                  <a:lnTo>
                    <a:pt x="356678" y="1077089"/>
                  </a:lnTo>
                  <a:lnTo>
                    <a:pt x="318973" y="1060926"/>
                  </a:lnTo>
                  <a:lnTo>
                    <a:pt x="282559" y="1042033"/>
                  </a:lnTo>
                  <a:lnTo>
                    <a:pt x="247640" y="1020517"/>
                  </a:lnTo>
                  <a:lnTo>
                    <a:pt x="214400" y="996491"/>
                  </a:lnTo>
                  <a:lnTo>
                    <a:pt x="183010" y="970079"/>
                  </a:lnTo>
                  <a:lnTo>
                    <a:pt x="153649" y="941430"/>
                  </a:lnTo>
                  <a:lnTo>
                    <a:pt x="126480" y="910704"/>
                  </a:lnTo>
                  <a:lnTo>
                    <a:pt x="101645" y="878063"/>
                  </a:lnTo>
                  <a:lnTo>
                    <a:pt x="79273" y="843676"/>
                  </a:lnTo>
                  <a:lnTo>
                    <a:pt x="59493" y="807737"/>
                  </a:lnTo>
                  <a:lnTo>
                    <a:pt x="42413" y="770448"/>
                  </a:lnTo>
                  <a:lnTo>
                    <a:pt x="28124" y="732004"/>
                  </a:lnTo>
                  <a:lnTo>
                    <a:pt x="16698" y="692604"/>
                  </a:lnTo>
                  <a:lnTo>
                    <a:pt x="8202" y="652470"/>
                  </a:lnTo>
                  <a:lnTo>
                    <a:pt x="2683" y="611828"/>
                  </a:lnTo>
                  <a:lnTo>
                    <a:pt x="167" y="570891"/>
                  </a:lnTo>
                  <a:lnTo>
                    <a:pt x="0" y="557212"/>
                  </a:lnTo>
                  <a:lnTo>
                    <a:pt x="167" y="543533"/>
                  </a:lnTo>
                  <a:lnTo>
                    <a:pt x="2683" y="502596"/>
                  </a:lnTo>
                  <a:lnTo>
                    <a:pt x="8202" y="461954"/>
                  </a:lnTo>
                  <a:lnTo>
                    <a:pt x="16698" y="421820"/>
                  </a:lnTo>
                  <a:lnTo>
                    <a:pt x="28124" y="382420"/>
                  </a:lnTo>
                  <a:lnTo>
                    <a:pt x="42413" y="343976"/>
                  </a:lnTo>
                  <a:lnTo>
                    <a:pt x="59493" y="306686"/>
                  </a:lnTo>
                  <a:lnTo>
                    <a:pt x="79274" y="270747"/>
                  </a:lnTo>
                  <a:lnTo>
                    <a:pt x="101645" y="236361"/>
                  </a:lnTo>
                  <a:lnTo>
                    <a:pt x="126480" y="203720"/>
                  </a:lnTo>
                  <a:lnTo>
                    <a:pt x="153649" y="172994"/>
                  </a:lnTo>
                  <a:lnTo>
                    <a:pt x="183010" y="144344"/>
                  </a:lnTo>
                  <a:lnTo>
                    <a:pt x="214400" y="117933"/>
                  </a:lnTo>
                  <a:lnTo>
                    <a:pt x="247640" y="93907"/>
                  </a:lnTo>
                  <a:lnTo>
                    <a:pt x="282558" y="72391"/>
                  </a:lnTo>
                  <a:lnTo>
                    <a:pt x="318972" y="53497"/>
                  </a:lnTo>
                  <a:lnTo>
                    <a:pt x="356677" y="37335"/>
                  </a:lnTo>
                  <a:lnTo>
                    <a:pt x="395461" y="23993"/>
                  </a:lnTo>
                  <a:lnTo>
                    <a:pt x="435122" y="13539"/>
                  </a:lnTo>
                  <a:lnTo>
                    <a:pt x="475452" y="6030"/>
                  </a:lnTo>
                  <a:lnTo>
                    <a:pt x="516226" y="1509"/>
                  </a:lnTo>
                  <a:lnTo>
                    <a:pt x="557212" y="0"/>
                  </a:lnTo>
                  <a:lnTo>
                    <a:pt x="570891" y="167"/>
                  </a:lnTo>
                  <a:lnTo>
                    <a:pt x="611829" y="2683"/>
                  </a:lnTo>
                  <a:lnTo>
                    <a:pt x="652470" y="8202"/>
                  </a:lnTo>
                  <a:lnTo>
                    <a:pt x="692604" y="16698"/>
                  </a:lnTo>
                  <a:lnTo>
                    <a:pt x="732003" y="28124"/>
                  </a:lnTo>
                  <a:lnTo>
                    <a:pt x="770447" y="42415"/>
                  </a:lnTo>
                  <a:lnTo>
                    <a:pt x="807737" y="59494"/>
                  </a:lnTo>
                  <a:lnTo>
                    <a:pt x="843676" y="79275"/>
                  </a:lnTo>
                  <a:lnTo>
                    <a:pt x="878062" y="101646"/>
                  </a:lnTo>
                  <a:lnTo>
                    <a:pt x="910704" y="126481"/>
                  </a:lnTo>
                  <a:lnTo>
                    <a:pt x="941430" y="153649"/>
                  </a:lnTo>
                  <a:lnTo>
                    <a:pt x="970080" y="183011"/>
                  </a:lnTo>
                  <a:lnTo>
                    <a:pt x="996491" y="214400"/>
                  </a:lnTo>
                  <a:lnTo>
                    <a:pt x="1020516" y="247641"/>
                  </a:lnTo>
                  <a:lnTo>
                    <a:pt x="1042033" y="282559"/>
                  </a:lnTo>
                  <a:lnTo>
                    <a:pt x="1060926" y="318973"/>
                  </a:lnTo>
                  <a:lnTo>
                    <a:pt x="1077088" y="356678"/>
                  </a:lnTo>
                  <a:lnTo>
                    <a:pt x="1090431" y="395462"/>
                  </a:lnTo>
                  <a:lnTo>
                    <a:pt x="1100884" y="435122"/>
                  </a:lnTo>
                  <a:lnTo>
                    <a:pt x="1108394" y="475452"/>
                  </a:lnTo>
                  <a:lnTo>
                    <a:pt x="1112915" y="516225"/>
                  </a:lnTo>
                  <a:lnTo>
                    <a:pt x="1114424" y="557212"/>
                  </a:lnTo>
                  <a:lnTo>
                    <a:pt x="1114257" y="570891"/>
                  </a:lnTo>
                  <a:lnTo>
                    <a:pt x="1111742" y="611828"/>
                  </a:lnTo>
                  <a:lnTo>
                    <a:pt x="1106222" y="652470"/>
                  </a:lnTo>
                  <a:lnTo>
                    <a:pt x="1097726" y="692604"/>
                  </a:lnTo>
                  <a:lnTo>
                    <a:pt x="1086299" y="732004"/>
                  </a:lnTo>
                  <a:lnTo>
                    <a:pt x="1072008" y="770448"/>
                  </a:lnTo>
                  <a:lnTo>
                    <a:pt x="1054929" y="807737"/>
                  </a:lnTo>
                  <a:lnTo>
                    <a:pt x="1035149" y="843676"/>
                  </a:lnTo>
                  <a:lnTo>
                    <a:pt x="1012778" y="878063"/>
                  </a:lnTo>
                  <a:lnTo>
                    <a:pt x="987943" y="910704"/>
                  </a:lnTo>
                  <a:lnTo>
                    <a:pt x="960774" y="941430"/>
                  </a:lnTo>
                  <a:lnTo>
                    <a:pt x="931413" y="970079"/>
                  </a:lnTo>
                  <a:lnTo>
                    <a:pt x="900023" y="996491"/>
                  </a:lnTo>
                  <a:lnTo>
                    <a:pt x="866782" y="1020517"/>
                  </a:lnTo>
                  <a:lnTo>
                    <a:pt x="831864" y="1042033"/>
                  </a:lnTo>
                  <a:lnTo>
                    <a:pt x="795451" y="1060926"/>
                  </a:lnTo>
                  <a:lnTo>
                    <a:pt x="757746" y="1077089"/>
                  </a:lnTo>
                  <a:lnTo>
                    <a:pt x="718961" y="1090431"/>
                  </a:lnTo>
                  <a:lnTo>
                    <a:pt x="679301" y="1100884"/>
                  </a:lnTo>
                  <a:lnTo>
                    <a:pt x="638972" y="1108394"/>
                  </a:lnTo>
                  <a:lnTo>
                    <a:pt x="598199" y="1112915"/>
                  </a:lnTo>
                  <a:lnTo>
                    <a:pt x="557212" y="1114424"/>
                  </a:lnTo>
                  <a:close/>
                </a:path>
              </a:pathLst>
            </a:custGeom>
            <a:solidFill>
              <a:srgbClr val="004A8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443911" y="1824037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1114424" y="557212"/>
                  </a:moveTo>
                  <a:lnTo>
                    <a:pt x="1112916" y="598199"/>
                  </a:lnTo>
                  <a:lnTo>
                    <a:pt x="1108394" y="638972"/>
                  </a:lnTo>
                  <a:lnTo>
                    <a:pt x="1100884" y="679302"/>
                  </a:lnTo>
                  <a:lnTo>
                    <a:pt x="1090431" y="718963"/>
                  </a:lnTo>
                  <a:lnTo>
                    <a:pt x="1077088" y="757746"/>
                  </a:lnTo>
                  <a:lnTo>
                    <a:pt x="1060926" y="795451"/>
                  </a:lnTo>
                  <a:lnTo>
                    <a:pt x="1042033" y="831865"/>
                  </a:lnTo>
                  <a:lnTo>
                    <a:pt x="1020516" y="866782"/>
                  </a:lnTo>
                  <a:lnTo>
                    <a:pt x="996491" y="900023"/>
                  </a:lnTo>
                  <a:lnTo>
                    <a:pt x="970079" y="931413"/>
                  </a:lnTo>
                  <a:lnTo>
                    <a:pt x="941430" y="960774"/>
                  </a:lnTo>
                  <a:lnTo>
                    <a:pt x="910704" y="987943"/>
                  </a:lnTo>
                  <a:lnTo>
                    <a:pt x="878062" y="1012778"/>
                  </a:lnTo>
                  <a:lnTo>
                    <a:pt x="843676" y="1035149"/>
                  </a:lnTo>
                  <a:lnTo>
                    <a:pt x="807737" y="1054930"/>
                  </a:lnTo>
                  <a:lnTo>
                    <a:pt x="770447" y="1072009"/>
                  </a:lnTo>
                  <a:lnTo>
                    <a:pt x="732003" y="1086300"/>
                  </a:lnTo>
                  <a:lnTo>
                    <a:pt x="692603" y="1097726"/>
                  </a:lnTo>
                  <a:lnTo>
                    <a:pt x="652470" y="1106222"/>
                  </a:lnTo>
                  <a:lnTo>
                    <a:pt x="611828" y="1111741"/>
                  </a:lnTo>
                  <a:lnTo>
                    <a:pt x="570891" y="1114257"/>
                  </a:lnTo>
                  <a:lnTo>
                    <a:pt x="557212" y="1114424"/>
                  </a:lnTo>
                  <a:lnTo>
                    <a:pt x="543533" y="1114257"/>
                  </a:lnTo>
                  <a:lnTo>
                    <a:pt x="502596" y="1111741"/>
                  </a:lnTo>
                  <a:lnTo>
                    <a:pt x="461954" y="1106222"/>
                  </a:lnTo>
                  <a:lnTo>
                    <a:pt x="421821" y="1097726"/>
                  </a:lnTo>
                  <a:lnTo>
                    <a:pt x="382421" y="1086300"/>
                  </a:lnTo>
                  <a:lnTo>
                    <a:pt x="343976" y="1072009"/>
                  </a:lnTo>
                  <a:lnTo>
                    <a:pt x="306687" y="1054930"/>
                  </a:lnTo>
                  <a:lnTo>
                    <a:pt x="270747" y="1035149"/>
                  </a:lnTo>
                  <a:lnTo>
                    <a:pt x="236360" y="1012778"/>
                  </a:lnTo>
                  <a:lnTo>
                    <a:pt x="203720" y="987943"/>
                  </a:lnTo>
                  <a:lnTo>
                    <a:pt x="172993" y="960774"/>
                  </a:lnTo>
                  <a:lnTo>
                    <a:pt x="144344" y="931413"/>
                  </a:lnTo>
                  <a:lnTo>
                    <a:pt x="117932" y="900023"/>
                  </a:lnTo>
                  <a:lnTo>
                    <a:pt x="93905" y="866782"/>
                  </a:lnTo>
                  <a:lnTo>
                    <a:pt x="72389" y="831865"/>
                  </a:lnTo>
                  <a:lnTo>
                    <a:pt x="53496" y="795451"/>
                  </a:lnTo>
                  <a:lnTo>
                    <a:pt x="37334" y="757746"/>
                  </a:lnTo>
                  <a:lnTo>
                    <a:pt x="23992" y="718963"/>
                  </a:lnTo>
                  <a:lnTo>
                    <a:pt x="13539" y="679302"/>
                  </a:lnTo>
                  <a:lnTo>
                    <a:pt x="6030" y="638972"/>
                  </a:lnTo>
                  <a:lnTo>
                    <a:pt x="1509" y="598199"/>
                  </a:lnTo>
                  <a:lnTo>
                    <a:pt x="0" y="557212"/>
                  </a:lnTo>
                  <a:lnTo>
                    <a:pt x="167" y="543533"/>
                  </a:lnTo>
                  <a:lnTo>
                    <a:pt x="2683" y="502596"/>
                  </a:lnTo>
                  <a:lnTo>
                    <a:pt x="8202" y="461954"/>
                  </a:lnTo>
                  <a:lnTo>
                    <a:pt x="16698" y="421820"/>
                  </a:lnTo>
                  <a:lnTo>
                    <a:pt x="28124" y="382420"/>
                  </a:lnTo>
                  <a:lnTo>
                    <a:pt x="42413" y="343976"/>
                  </a:lnTo>
                  <a:lnTo>
                    <a:pt x="59493" y="306686"/>
                  </a:lnTo>
                  <a:lnTo>
                    <a:pt x="79274" y="270747"/>
                  </a:lnTo>
                  <a:lnTo>
                    <a:pt x="101645" y="236361"/>
                  </a:lnTo>
                  <a:lnTo>
                    <a:pt x="126480" y="203720"/>
                  </a:lnTo>
                  <a:lnTo>
                    <a:pt x="153649" y="172994"/>
                  </a:lnTo>
                  <a:lnTo>
                    <a:pt x="183010" y="144344"/>
                  </a:lnTo>
                  <a:lnTo>
                    <a:pt x="214400" y="117933"/>
                  </a:lnTo>
                  <a:lnTo>
                    <a:pt x="247640" y="93907"/>
                  </a:lnTo>
                  <a:lnTo>
                    <a:pt x="282558" y="72391"/>
                  </a:lnTo>
                  <a:lnTo>
                    <a:pt x="318972" y="53497"/>
                  </a:lnTo>
                  <a:lnTo>
                    <a:pt x="356677" y="37335"/>
                  </a:lnTo>
                  <a:lnTo>
                    <a:pt x="395461" y="23993"/>
                  </a:lnTo>
                  <a:lnTo>
                    <a:pt x="435122" y="13539"/>
                  </a:lnTo>
                  <a:lnTo>
                    <a:pt x="475452" y="6030"/>
                  </a:lnTo>
                  <a:lnTo>
                    <a:pt x="516226" y="1509"/>
                  </a:lnTo>
                  <a:lnTo>
                    <a:pt x="557212" y="0"/>
                  </a:lnTo>
                  <a:lnTo>
                    <a:pt x="570891" y="167"/>
                  </a:lnTo>
                  <a:lnTo>
                    <a:pt x="611829" y="2683"/>
                  </a:lnTo>
                  <a:lnTo>
                    <a:pt x="652470" y="8202"/>
                  </a:lnTo>
                  <a:lnTo>
                    <a:pt x="692604" y="16698"/>
                  </a:lnTo>
                  <a:lnTo>
                    <a:pt x="732003" y="28124"/>
                  </a:lnTo>
                  <a:lnTo>
                    <a:pt x="770447" y="42415"/>
                  </a:lnTo>
                  <a:lnTo>
                    <a:pt x="807737" y="59494"/>
                  </a:lnTo>
                  <a:lnTo>
                    <a:pt x="843676" y="79275"/>
                  </a:lnTo>
                  <a:lnTo>
                    <a:pt x="878062" y="101646"/>
                  </a:lnTo>
                  <a:lnTo>
                    <a:pt x="910704" y="126481"/>
                  </a:lnTo>
                  <a:lnTo>
                    <a:pt x="941430" y="153649"/>
                  </a:lnTo>
                  <a:lnTo>
                    <a:pt x="970080" y="183011"/>
                  </a:lnTo>
                  <a:lnTo>
                    <a:pt x="996491" y="214400"/>
                  </a:lnTo>
                  <a:lnTo>
                    <a:pt x="1020516" y="247641"/>
                  </a:lnTo>
                  <a:lnTo>
                    <a:pt x="1042033" y="282559"/>
                  </a:lnTo>
                  <a:lnTo>
                    <a:pt x="1060926" y="318973"/>
                  </a:lnTo>
                  <a:lnTo>
                    <a:pt x="1077088" y="356678"/>
                  </a:lnTo>
                  <a:lnTo>
                    <a:pt x="1090431" y="395462"/>
                  </a:lnTo>
                  <a:lnTo>
                    <a:pt x="1100884" y="435122"/>
                  </a:lnTo>
                  <a:lnTo>
                    <a:pt x="1108394" y="475452"/>
                  </a:lnTo>
                  <a:lnTo>
                    <a:pt x="1112915" y="516225"/>
                  </a:lnTo>
                  <a:lnTo>
                    <a:pt x="1114424" y="557212"/>
                  </a:lnTo>
                  <a:close/>
                </a:path>
              </a:pathLst>
            </a:custGeom>
            <a:ln w="28574">
              <a:solidFill>
                <a:srgbClr val="004A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815565" y="1990724"/>
              <a:ext cx="371475" cy="304800"/>
            </a:xfrm>
            <a:custGeom>
              <a:avLst/>
              <a:gdLst/>
              <a:ahLst/>
              <a:cxnLst/>
              <a:rect l="l" t="t" r="r" b="b"/>
              <a:pathLst>
                <a:path w="371475" h="304800">
                  <a:moveTo>
                    <a:pt x="333791" y="228599"/>
                  </a:moveTo>
                  <a:lnTo>
                    <a:pt x="37326" y="228599"/>
                  </a:lnTo>
                  <a:lnTo>
                    <a:pt x="20686" y="224789"/>
                  </a:lnTo>
                  <a:lnTo>
                    <a:pt x="7880" y="214639"/>
                  </a:lnTo>
                  <a:lnTo>
                    <a:pt x="466" y="200069"/>
                  </a:lnTo>
                  <a:lnTo>
                    <a:pt x="0" y="182999"/>
                  </a:lnTo>
                  <a:lnTo>
                    <a:pt x="30480" y="30599"/>
                  </a:lnTo>
                  <a:lnTo>
                    <a:pt x="35265" y="18308"/>
                  </a:lnTo>
                  <a:lnTo>
                    <a:pt x="43673" y="8624"/>
                  </a:lnTo>
                  <a:lnTo>
                    <a:pt x="54816" y="2278"/>
                  </a:lnTo>
                  <a:lnTo>
                    <a:pt x="67806" y="0"/>
                  </a:lnTo>
                  <a:lnTo>
                    <a:pt x="303311" y="0"/>
                  </a:lnTo>
                  <a:lnTo>
                    <a:pt x="340697" y="30599"/>
                  </a:lnTo>
                  <a:lnTo>
                    <a:pt x="341447" y="34349"/>
                  </a:lnTo>
                  <a:lnTo>
                    <a:pt x="321945" y="34349"/>
                  </a:lnTo>
                  <a:lnTo>
                    <a:pt x="303252" y="38099"/>
                  </a:lnTo>
                  <a:lnTo>
                    <a:pt x="67806" y="38099"/>
                  </a:lnTo>
                  <a:lnTo>
                    <a:pt x="55423" y="100012"/>
                  </a:lnTo>
                  <a:lnTo>
                    <a:pt x="354580" y="100012"/>
                  </a:lnTo>
                  <a:lnTo>
                    <a:pt x="360295" y="128587"/>
                  </a:lnTo>
                  <a:lnTo>
                    <a:pt x="49708" y="128587"/>
                  </a:lnTo>
                  <a:lnTo>
                    <a:pt x="37326" y="190499"/>
                  </a:lnTo>
                  <a:lnTo>
                    <a:pt x="370968" y="190499"/>
                  </a:lnTo>
                  <a:lnTo>
                    <a:pt x="370702" y="200069"/>
                  </a:lnTo>
                  <a:lnTo>
                    <a:pt x="363278" y="214639"/>
                  </a:lnTo>
                  <a:lnTo>
                    <a:pt x="350451" y="224789"/>
                  </a:lnTo>
                  <a:lnTo>
                    <a:pt x="333791" y="228599"/>
                  </a:lnTo>
                  <a:close/>
                </a:path>
                <a:path w="371475" h="304800">
                  <a:moveTo>
                    <a:pt x="354580" y="100012"/>
                  </a:moveTo>
                  <a:lnTo>
                    <a:pt x="315694" y="100012"/>
                  </a:lnTo>
                  <a:lnTo>
                    <a:pt x="303311" y="38099"/>
                  </a:lnTo>
                  <a:lnTo>
                    <a:pt x="321945" y="34349"/>
                  </a:lnTo>
                  <a:lnTo>
                    <a:pt x="341447" y="34349"/>
                  </a:lnTo>
                  <a:lnTo>
                    <a:pt x="354580" y="100012"/>
                  </a:lnTo>
                  <a:close/>
                </a:path>
                <a:path w="371475" h="304800">
                  <a:moveTo>
                    <a:pt x="144184" y="100012"/>
                  </a:moveTo>
                  <a:lnTo>
                    <a:pt x="115490" y="100012"/>
                  </a:lnTo>
                  <a:lnTo>
                    <a:pt x="121622" y="38099"/>
                  </a:lnTo>
                  <a:lnTo>
                    <a:pt x="150375" y="38099"/>
                  </a:lnTo>
                  <a:lnTo>
                    <a:pt x="144184" y="100012"/>
                  </a:lnTo>
                  <a:close/>
                </a:path>
                <a:path w="371475" h="304800">
                  <a:moveTo>
                    <a:pt x="255627" y="100012"/>
                  </a:moveTo>
                  <a:lnTo>
                    <a:pt x="226933" y="100012"/>
                  </a:lnTo>
                  <a:lnTo>
                    <a:pt x="220741" y="38099"/>
                  </a:lnTo>
                  <a:lnTo>
                    <a:pt x="249435" y="38099"/>
                  </a:lnTo>
                  <a:lnTo>
                    <a:pt x="255627" y="100012"/>
                  </a:lnTo>
                  <a:close/>
                </a:path>
                <a:path w="371475" h="304800">
                  <a:moveTo>
                    <a:pt x="135135" y="190499"/>
                  </a:moveTo>
                  <a:lnTo>
                    <a:pt x="106441" y="190499"/>
                  </a:lnTo>
                  <a:lnTo>
                    <a:pt x="112633" y="128587"/>
                  </a:lnTo>
                  <a:lnTo>
                    <a:pt x="141327" y="128587"/>
                  </a:lnTo>
                  <a:lnTo>
                    <a:pt x="135135" y="190499"/>
                  </a:lnTo>
                  <a:close/>
                </a:path>
                <a:path w="371475" h="304800">
                  <a:moveTo>
                    <a:pt x="264735" y="190499"/>
                  </a:moveTo>
                  <a:lnTo>
                    <a:pt x="235981" y="190499"/>
                  </a:lnTo>
                  <a:lnTo>
                    <a:pt x="229790" y="128587"/>
                  </a:lnTo>
                  <a:lnTo>
                    <a:pt x="258484" y="128587"/>
                  </a:lnTo>
                  <a:lnTo>
                    <a:pt x="264735" y="190499"/>
                  </a:lnTo>
                  <a:close/>
                </a:path>
                <a:path w="371475" h="304800">
                  <a:moveTo>
                    <a:pt x="370968" y="190499"/>
                  </a:moveTo>
                  <a:lnTo>
                    <a:pt x="333791" y="190499"/>
                  </a:lnTo>
                  <a:lnTo>
                    <a:pt x="321409" y="128587"/>
                  </a:lnTo>
                  <a:lnTo>
                    <a:pt x="360295" y="128587"/>
                  </a:lnTo>
                  <a:lnTo>
                    <a:pt x="371177" y="182999"/>
                  </a:lnTo>
                  <a:lnTo>
                    <a:pt x="370968" y="190499"/>
                  </a:lnTo>
                  <a:close/>
                </a:path>
                <a:path w="371475" h="304800">
                  <a:moveTo>
                    <a:pt x="204608" y="266699"/>
                  </a:moveTo>
                  <a:lnTo>
                    <a:pt x="166508" y="266699"/>
                  </a:lnTo>
                  <a:lnTo>
                    <a:pt x="166508" y="228599"/>
                  </a:lnTo>
                  <a:lnTo>
                    <a:pt x="204608" y="228599"/>
                  </a:lnTo>
                  <a:lnTo>
                    <a:pt x="204608" y="266699"/>
                  </a:lnTo>
                  <a:close/>
                </a:path>
                <a:path w="371475" h="304800">
                  <a:moveTo>
                    <a:pt x="242708" y="304799"/>
                  </a:moveTo>
                  <a:lnTo>
                    <a:pt x="128408" y="304799"/>
                  </a:lnTo>
                  <a:lnTo>
                    <a:pt x="120987" y="303305"/>
                  </a:lnTo>
                  <a:lnTo>
                    <a:pt x="114932" y="299226"/>
                  </a:lnTo>
                  <a:lnTo>
                    <a:pt x="110853" y="293171"/>
                  </a:lnTo>
                  <a:lnTo>
                    <a:pt x="109358" y="285749"/>
                  </a:lnTo>
                  <a:lnTo>
                    <a:pt x="110853" y="278328"/>
                  </a:lnTo>
                  <a:lnTo>
                    <a:pt x="114932" y="272273"/>
                  </a:lnTo>
                  <a:lnTo>
                    <a:pt x="120987" y="268194"/>
                  </a:lnTo>
                  <a:lnTo>
                    <a:pt x="128408" y="266699"/>
                  </a:lnTo>
                  <a:lnTo>
                    <a:pt x="242708" y="266699"/>
                  </a:lnTo>
                  <a:lnTo>
                    <a:pt x="250130" y="268194"/>
                  </a:lnTo>
                  <a:lnTo>
                    <a:pt x="256185" y="272273"/>
                  </a:lnTo>
                  <a:lnTo>
                    <a:pt x="260264" y="278328"/>
                  </a:lnTo>
                  <a:lnTo>
                    <a:pt x="261758" y="285749"/>
                  </a:lnTo>
                  <a:lnTo>
                    <a:pt x="260264" y="293171"/>
                  </a:lnTo>
                  <a:lnTo>
                    <a:pt x="256185" y="299226"/>
                  </a:lnTo>
                  <a:lnTo>
                    <a:pt x="250130" y="303305"/>
                  </a:lnTo>
                  <a:lnTo>
                    <a:pt x="242708" y="304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8552953" y="2331545"/>
            <a:ext cx="896619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9545" marR="5080" indent="-157480">
              <a:lnSpc>
                <a:spcPct val="114100"/>
              </a:lnSpc>
              <a:spcBef>
                <a:spcPts val="95"/>
              </a:spcBef>
            </a:pPr>
            <a:r>
              <a:rPr dirty="0" sz="1150" spc="-60" b="0">
                <a:solidFill>
                  <a:srgbClr val="FFFFFF"/>
                </a:solidFill>
                <a:latin typeface="Roboto Medium"/>
                <a:cs typeface="Roboto Medium"/>
              </a:rPr>
              <a:t>Hybrid</a:t>
            </a:r>
            <a:r>
              <a:rPr dirty="0" sz="1150" spc="2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65" b="0">
                <a:solidFill>
                  <a:srgbClr val="FFFFFF"/>
                </a:solidFill>
                <a:latin typeface="Roboto Medium"/>
                <a:cs typeface="Roboto Medium"/>
              </a:rPr>
              <a:t>System </a:t>
            </a:r>
            <a:r>
              <a:rPr dirty="0" sz="1150" spc="-10" b="0">
                <a:solidFill>
                  <a:srgbClr val="FFFFFF"/>
                </a:solidFill>
                <a:latin typeface="Roboto Medium"/>
                <a:cs typeface="Roboto Medium"/>
              </a:rPr>
              <a:t>Modeling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089229" y="3474545"/>
            <a:ext cx="966469" cy="42545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150" spc="-10" b="0">
                <a:solidFill>
                  <a:srgbClr val="FFFFFF"/>
                </a:solidFill>
                <a:latin typeface="Roboto Medium"/>
                <a:cs typeface="Roboto Medium"/>
              </a:rPr>
              <a:t>FACTS</a:t>
            </a:r>
            <a:endParaRPr sz="115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dirty="0" sz="1150" spc="-45" b="0">
                <a:solidFill>
                  <a:srgbClr val="FFFFFF"/>
                </a:solidFill>
                <a:latin typeface="Roboto Medium"/>
                <a:cs typeface="Roboto Medium"/>
              </a:rPr>
              <a:t>Implementation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175698" y="4617545"/>
            <a:ext cx="79375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2384">
              <a:lnSpc>
                <a:spcPct val="114100"/>
              </a:lnSpc>
              <a:spcBef>
                <a:spcPts val="95"/>
              </a:spcBef>
            </a:pPr>
            <a:r>
              <a:rPr dirty="0" sz="1150" spc="-50" b="0">
                <a:solidFill>
                  <a:srgbClr val="FFFFFF"/>
                </a:solidFill>
                <a:latin typeface="Roboto Medium"/>
                <a:cs typeface="Roboto Medium"/>
              </a:rPr>
              <a:t>Multi-</a:t>
            </a:r>
            <a:r>
              <a:rPr dirty="0" sz="1150" spc="-10" b="0">
                <a:solidFill>
                  <a:srgbClr val="FFFFFF"/>
                </a:solidFill>
                <a:latin typeface="Roboto Medium"/>
                <a:cs typeface="Roboto Medium"/>
              </a:rPr>
              <a:t>Agent </a:t>
            </a:r>
            <a:r>
              <a:rPr dirty="0" sz="1150" spc="-60" b="0">
                <a:solidFill>
                  <a:srgbClr val="FFFFFF"/>
                </a:solidFill>
                <a:latin typeface="Roboto Medium"/>
                <a:cs typeface="Roboto Medium"/>
              </a:rPr>
              <a:t>Coordination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8429624" y="5238749"/>
            <a:ext cx="1143000" cy="1143000"/>
            <a:chOff x="8429624" y="5238749"/>
            <a:chExt cx="1143000" cy="1143000"/>
          </a:xfrm>
        </p:grpSpPr>
        <p:sp>
          <p:nvSpPr>
            <p:cNvPr id="30" name="object 30" descr=""/>
            <p:cNvSpPr/>
            <p:nvPr/>
          </p:nvSpPr>
          <p:spPr>
            <a:xfrm>
              <a:off x="8443911" y="5253037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557212" y="1114424"/>
                  </a:moveTo>
                  <a:lnTo>
                    <a:pt x="516226" y="1112916"/>
                  </a:lnTo>
                  <a:lnTo>
                    <a:pt x="475452" y="1108394"/>
                  </a:lnTo>
                  <a:lnTo>
                    <a:pt x="435122" y="1100884"/>
                  </a:lnTo>
                  <a:lnTo>
                    <a:pt x="395462" y="1090431"/>
                  </a:lnTo>
                  <a:lnTo>
                    <a:pt x="356678" y="1077089"/>
                  </a:lnTo>
                  <a:lnTo>
                    <a:pt x="318973" y="1060926"/>
                  </a:lnTo>
                  <a:lnTo>
                    <a:pt x="282559" y="1042033"/>
                  </a:lnTo>
                  <a:lnTo>
                    <a:pt x="247640" y="1020517"/>
                  </a:lnTo>
                  <a:lnTo>
                    <a:pt x="214400" y="996491"/>
                  </a:lnTo>
                  <a:lnTo>
                    <a:pt x="183010" y="970079"/>
                  </a:lnTo>
                  <a:lnTo>
                    <a:pt x="153649" y="941430"/>
                  </a:lnTo>
                  <a:lnTo>
                    <a:pt x="126480" y="910704"/>
                  </a:lnTo>
                  <a:lnTo>
                    <a:pt x="101645" y="878063"/>
                  </a:lnTo>
                  <a:lnTo>
                    <a:pt x="79273" y="843677"/>
                  </a:lnTo>
                  <a:lnTo>
                    <a:pt x="59493" y="807738"/>
                  </a:lnTo>
                  <a:lnTo>
                    <a:pt x="42413" y="770448"/>
                  </a:lnTo>
                  <a:lnTo>
                    <a:pt x="28124" y="732004"/>
                  </a:lnTo>
                  <a:lnTo>
                    <a:pt x="16698" y="692604"/>
                  </a:lnTo>
                  <a:lnTo>
                    <a:pt x="8202" y="652470"/>
                  </a:lnTo>
                  <a:lnTo>
                    <a:pt x="2683" y="611828"/>
                  </a:lnTo>
                  <a:lnTo>
                    <a:pt x="167" y="570891"/>
                  </a:lnTo>
                  <a:lnTo>
                    <a:pt x="0" y="557212"/>
                  </a:lnTo>
                  <a:lnTo>
                    <a:pt x="167" y="543533"/>
                  </a:lnTo>
                  <a:lnTo>
                    <a:pt x="2683" y="502596"/>
                  </a:lnTo>
                  <a:lnTo>
                    <a:pt x="8202" y="461953"/>
                  </a:lnTo>
                  <a:lnTo>
                    <a:pt x="16698" y="421819"/>
                  </a:lnTo>
                  <a:lnTo>
                    <a:pt x="28124" y="382420"/>
                  </a:lnTo>
                  <a:lnTo>
                    <a:pt x="42413" y="343975"/>
                  </a:lnTo>
                  <a:lnTo>
                    <a:pt x="59493" y="306686"/>
                  </a:lnTo>
                  <a:lnTo>
                    <a:pt x="79274" y="270746"/>
                  </a:lnTo>
                  <a:lnTo>
                    <a:pt x="101645" y="236360"/>
                  </a:lnTo>
                  <a:lnTo>
                    <a:pt x="126480" y="203720"/>
                  </a:lnTo>
                  <a:lnTo>
                    <a:pt x="153649" y="172994"/>
                  </a:lnTo>
                  <a:lnTo>
                    <a:pt x="183010" y="144345"/>
                  </a:lnTo>
                  <a:lnTo>
                    <a:pt x="214400" y="117933"/>
                  </a:lnTo>
                  <a:lnTo>
                    <a:pt x="247640" y="93907"/>
                  </a:lnTo>
                  <a:lnTo>
                    <a:pt x="282558" y="72391"/>
                  </a:lnTo>
                  <a:lnTo>
                    <a:pt x="318972" y="53497"/>
                  </a:lnTo>
                  <a:lnTo>
                    <a:pt x="356677" y="37335"/>
                  </a:lnTo>
                  <a:lnTo>
                    <a:pt x="395461" y="23993"/>
                  </a:lnTo>
                  <a:lnTo>
                    <a:pt x="435122" y="13540"/>
                  </a:lnTo>
                  <a:lnTo>
                    <a:pt x="475452" y="6031"/>
                  </a:lnTo>
                  <a:lnTo>
                    <a:pt x="516226" y="1509"/>
                  </a:lnTo>
                  <a:lnTo>
                    <a:pt x="557212" y="0"/>
                  </a:lnTo>
                  <a:lnTo>
                    <a:pt x="570891" y="167"/>
                  </a:lnTo>
                  <a:lnTo>
                    <a:pt x="611829" y="2683"/>
                  </a:lnTo>
                  <a:lnTo>
                    <a:pt x="652470" y="8203"/>
                  </a:lnTo>
                  <a:lnTo>
                    <a:pt x="692604" y="16699"/>
                  </a:lnTo>
                  <a:lnTo>
                    <a:pt x="732003" y="28124"/>
                  </a:lnTo>
                  <a:lnTo>
                    <a:pt x="770447" y="42414"/>
                  </a:lnTo>
                  <a:lnTo>
                    <a:pt x="807737" y="59494"/>
                  </a:lnTo>
                  <a:lnTo>
                    <a:pt x="843676" y="79275"/>
                  </a:lnTo>
                  <a:lnTo>
                    <a:pt x="878062" y="101646"/>
                  </a:lnTo>
                  <a:lnTo>
                    <a:pt x="910704" y="126481"/>
                  </a:lnTo>
                  <a:lnTo>
                    <a:pt x="941430" y="153649"/>
                  </a:lnTo>
                  <a:lnTo>
                    <a:pt x="970080" y="183010"/>
                  </a:lnTo>
                  <a:lnTo>
                    <a:pt x="996491" y="214400"/>
                  </a:lnTo>
                  <a:lnTo>
                    <a:pt x="1020516" y="247640"/>
                  </a:lnTo>
                  <a:lnTo>
                    <a:pt x="1042033" y="282558"/>
                  </a:lnTo>
                  <a:lnTo>
                    <a:pt x="1060926" y="318972"/>
                  </a:lnTo>
                  <a:lnTo>
                    <a:pt x="1077088" y="356677"/>
                  </a:lnTo>
                  <a:lnTo>
                    <a:pt x="1090431" y="395461"/>
                  </a:lnTo>
                  <a:lnTo>
                    <a:pt x="1100884" y="435121"/>
                  </a:lnTo>
                  <a:lnTo>
                    <a:pt x="1108394" y="475452"/>
                  </a:lnTo>
                  <a:lnTo>
                    <a:pt x="1112915" y="516225"/>
                  </a:lnTo>
                  <a:lnTo>
                    <a:pt x="1114424" y="557212"/>
                  </a:lnTo>
                  <a:lnTo>
                    <a:pt x="1114257" y="570891"/>
                  </a:lnTo>
                  <a:lnTo>
                    <a:pt x="1111742" y="611828"/>
                  </a:lnTo>
                  <a:lnTo>
                    <a:pt x="1106222" y="652470"/>
                  </a:lnTo>
                  <a:lnTo>
                    <a:pt x="1097726" y="692604"/>
                  </a:lnTo>
                  <a:lnTo>
                    <a:pt x="1086299" y="732004"/>
                  </a:lnTo>
                  <a:lnTo>
                    <a:pt x="1072008" y="770448"/>
                  </a:lnTo>
                  <a:lnTo>
                    <a:pt x="1054929" y="807738"/>
                  </a:lnTo>
                  <a:lnTo>
                    <a:pt x="1035149" y="843677"/>
                  </a:lnTo>
                  <a:lnTo>
                    <a:pt x="1012778" y="878063"/>
                  </a:lnTo>
                  <a:lnTo>
                    <a:pt x="987943" y="910704"/>
                  </a:lnTo>
                  <a:lnTo>
                    <a:pt x="960774" y="941430"/>
                  </a:lnTo>
                  <a:lnTo>
                    <a:pt x="931413" y="970079"/>
                  </a:lnTo>
                  <a:lnTo>
                    <a:pt x="900023" y="996491"/>
                  </a:lnTo>
                  <a:lnTo>
                    <a:pt x="866782" y="1020517"/>
                  </a:lnTo>
                  <a:lnTo>
                    <a:pt x="831864" y="1042033"/>
                  </a:lnTo>
                  <a:lnTo>
                    <a:pt x="795451" y="1060926"/>
                  </a:lnTo>
                  <a:lnTo>
                    <a:pt x="757746" y="1077089"/>
                  </a:lnTo>
                  <a:lnTo>
                    <a:pt x="718961" y="1090431"/>
                  </a:lnTo>
                  <a:lnTo>
                    <a:pt x="679301" y="1100885"/>
                  </a:lnTo>
                  <a:lnTo>
                    <a:pt x="638972" y="1108394"/>
                  </a:lnTo>
                  <a:lnTo>
                    <a:pt x="598199" y="1112916"/>
                  </a:lnTo>
                  <a:lnTo>
                    <a:pt x="557212" y="1114424"/>
                  </a:lnTo>
                  <a:close/>
                </a:path>
              </a:pathLst>
            </a:custGeom>
            <a:solidFill>
              <a:srgbClr val="004A8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443911" y="5253037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1114424" y="557212"/>
                  </a:moveTo>
                  <a:lnTo>
                    <a:pt x="1112916" y="598199"/>
                  </a:lnTo>
                  <a:lnTo>
                    <a:pt x="1108394" y="638972"/>
                  </a:lnTo>
                  <a:lnTo>
                    <a:pt x="1100884" y="679302"/>
                  </a:lnTo>
                  <a:lnTo>
                    <a:pt x="1090431" y="718963"/>
                  </a:lnTo>
                  <a:lnTo>
                    <a:pt x="1077088" y="757746"/>
                  </a:lnTo>
                  <a:lnTo>
                    <a:pt x="1060926" y="795451"/>
                  </a:lnTo>
                  <a:lnTo>
                    <a:pt x="1042033" y="831865"/>
                  </a:lnTo>
                  <a:lnTo>
                    <a:pt x="1020516" y="866783"/>
                  </a:lnTo>
                  <a:lnTo>
                    <a:pt x="996491" y="900024"/>
                  </a:lnTo>
                  <a:lnTo>
                    <a:pt x="970079" y="931413"/>
                  </a:lnTo>
                  <a:lnTo>
                    <a:pt x="941430" y="960774"/>
                  </a:lnTo>
                  <a:lnTo>
                    <a:pt x="910704" y="987943"/>
                  </a:lnTo>
                  <a:lnTo>
                    <a:pt x="878062" y="1012778"/>
                  </a:lnTo>
                  <a:lnTo>
                    <a:pt x="843676" y="1035149"/>
                  </a:lnTo>
                  <a:lnTo>
                    <a:pt x="807737" y="1054929"/>
                  </a:lnTo>
                  <a:lnTo>
                    <a:pt x="770447" y="1072009"/>
                  </a:lnTo>
                  <a:lnTo>
                    <a:pt x="732003" y="1086300"/>
                  </a:lnTo>
                  <a:lnTo>
                    <a:pt x="692603" y="1097726"/>
                  </a:lnTo>
                  <a:lnTo>
                    <a:pt x="652470" y="1106222"/>
                  </a:lnTo>
                  <a:lnTo>
                    <a:pt x="611828" y="1111742"/>
                  </a:lnTo>
                  <a:lnTo>
                    <a:pt x="570891" y="1114257"/>
                  </a:lnTo>
                  <a:lnTo>
                    <a:pt x="557212" y="1114424"/>
                  </a:lnTo>
                  <a:lnTo>
                    <a:pt x="543533" y="1114257"/>
                  </a:lnTo>
                  <a:lnTo>
                    <a:pt x="502596" y="1111742"/>
                  </a:lnTo>
                  <a:lnTo>
                    <a:pt x="461954" y="1106222"/>
                  </a:lnTo>
                  <a:lnTo>
                    <a:pt x="421821" y="1097726"/>
                  </a:lnTo>
                  <a:lnTo>
                    <a:pt x="382421" y="1086300"/>
                  </a:lnTo>
                  <a:lnTo>
                    <a:pt x="343976" y="1072009"/>
                  </a:lnTo>
                  <a:lnTo>
                    <a:pt x="306687" y="1054929"/>
                  </a:lnTo>
                  <a:lnTo>
                    <a:pt x="270747" y="1035149"/>
                  </a:lnTo>
                  <a:lnTo>
                    <a:pt x="236360" y="1012778"/>
                  </a:lnTo>
                  <a:lnTo>
                    <a:pt x="203720" y="987943"/>
                  </a:lnTo>
                  <a:lnTo>
                    <a:pt x="172993" y="960774"/>
                  </a:lnTo>
                  <a:lnTo>
                    <a:pt x="144344" y="931413"/>
                  </a:lnTo>
                  <a:lnTo>
                    <a:pt x="117932" y="900024"/>
                  </a:lnTo>
                  <a:lnTo>
                    <a:pt x="93905" y="866783"/>
                  </a:lnTo>
                  <a:lnTo>
                    <a:pt x="72389" y="831865"/>
                  </a:lnTo>
                  <a:lnTo>
                    <a:pt x="53496" y="795451"/>
                  </a:lnTo>
                  <a:lnTo>
                    <a:pt x="37334" y="757746"/>
                  </a:lnTo>
                  <a:lnTo>
                    <a:pt x="23992" y="718963"/>
                  </a:lnTo>
                  <a:lnTo>
                    <a:pt x="13539" y="679302"/>
                  </a:lnTo>
                  <a:lnTo>
                    <a:pt x="6030" y="638972"/>
                  </a:lnTo>
                  <a:lnTo>
                    <a:pt x="1509" y="598199"/>
                  </a:lnTo>
                  <a:lnTo>
                    <a:pt x="0" y="557212"/>
                  </a:lnTo>
                  <a:lnTo>
                    <a:pt x="167" y="543533"/>
                  </a:lnTo>
                  <a:lnTo>
                    <a:pt x="2683" y="502596"/>
                  </a:lnTo>
                  <a:lnTo>
                    <a:pt x="8202" y="461953"/>
                  </a:lnTo>
                  <a:lnTo>
                    <a:pt x="16698" y="421819"/>
                  </a:lnTo>
                  <a:lnTo>
                    <a:pt x="28124" y="382420"/>
                  </a:lnTo>
                  <a:lnTo>
                    <a:pt x="42413" y="343975"/>
                  </a:lnTo>
                  <a:lnTo>
                    <a:pt x="59493" y="306686"/>
                  </a:lnTo>
                  <a:lnTo>
                    <a:pt x="79274" y="270746"/>
                  </a:lnTo>
                  <a:lnTo>
                    <a:pt x="101645" y="236360"/>
                  </a:lnTo>
                  <a:lnTo>
                    <a:pt x="126480" y="203720"/>
                  </a:lnTo>
                  <a:lnTo>
                    <a:pt x="153649" y="172994"/>
                  </a:lnTo>
                  <a:lnTo>
                    <a:pt x="183010" y="144345"/>
                  </a:lnTo>
                  <a:lnTo>
                    <a:pt x="214400" y="117933"/>
                  </a:lnTo>
                  <a:lnTo>
                    <a:pt x="247640" y="93907"/>
                  </a:lnTo>
                  <a:lnTo>
                    <a:pt x="282558" y="72391"/>
                  </a:lnTo>
                  <a:lnTo>
                    <a:pt x="318972" y="53497"/>
                  </a:lnTo>
                  <a:lnTo>
                    <a:pt x="356677" y="37335"/>
                  </a:lnTo>
                  <a:lnTo>
                    <a:pt x="395461" y="23993"/>
                  </a:lnTo>
                  <a:lnTo>
                    <a:pt x="435122" y="13540"/>
                  </a:lnTo>
                  <a:lnTo>
                    <a:pt x="475452" y="6031"/>
                  </a:lnTo>
                  <a:lnTo>
                    <a:pt x="516226" y="1509"/>
                  </a:lnTo>
                  <a:lnTo>
                    <a:pt x="557212" y="0"/>
                  </a:lnTo>
                  <a:lnTo>
                    <a:pt x="570891" y="167"/>
                  </a:lnTo>
                  <a:lnTo>
                    <a:pt x="611829" y="2683"/>
                  </a:lnTo>
                  <a:lnTo>
                    <a:pt x="652470" y="8203"/>
                  </a:lnTo>
                  <a:lnTo>
                    <a:pt x="692604" y="16699"/>
                  </a:lnTo>
                  <a:lnTo>
                    <a:pt x="732003" y="28124"/>
                  </a:lnTo>
                  <a:lnTo>
                    <a:pt x="770447" y="42414"/>
                  </a:lnTo>
                  <a:lnTo>
                    <a:pt x="807737" y="59494"/>
                  </a:lnTo>
                  <a:lnTo>
                    <a:pt x="843676" y="79275"/>
                  </a:lnTo>
                  <a:lnTo>
                    <a:pt x="878062" y="101646"/>
                  </a:lnTo>
                  <a:lnTo>
                    <a:pt x="910704" y="126481"/>
                  </a:lnTo>
                  <a:lnTo>
                    <a:pt x="941430" y="153649"/>
                  </a:lnTo>
                  <a:lnTo>
                    <a:pt x="970080" y="183010"/>
                  </a:lnTo>
                  <a:lnTo>
                    <a:pt x="996491" y="214400"/>
                  </a:lnTo>
                  <a:lnTo>
                    <a:pt x="1020516" y="247640"/>
                  </a:lnTo>
                  <a:lnTo>
                    <a:pt x="1042033" y="282558"/>
                  </a:lnTo>
                  <a:lnTo>
                    <a:pt x="1060926" y="318972"/>
                  </a:lnTo>
                  <a:lnTo>
                    <a:pt x="1077088" y="356677"/>
                  </a:lnTo>
                  <a:lnTo>
                    <a:pt x="1090431" y="395461"/>
                  </a:lnTo>
                  <a:lnTo>
                    <a:pt x="1100884" y="435121"/>
                  </a:lnTo>
                  <a:lnTo>
                    <a:pt x="1108394" y="475452"/>
                  </a:lnTo>
                  <a:lnTo>
                    <a:pt x="1112915" y="516225"/>
                  </a:lnTo>
                  <a:lnTo>
                    <a:pt x="1114424" y="557212"/>
                  </a:lnTo>
                  <a:close/>
                </a:path>
              </a:pathLst>
            </a:custGeom>
            <a:ln w="28574">
              <a:solidFill>
                <a:srgbClr val="004A8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848724" y="5438774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285749" y="266699"/>
                  </a:moveTo>
                  <a:lnTo>
                    <a:pt x="47624" y="266699"/>
                  </a:lnTo>
                  <a:lnTo>
                    <a:pt x="29082" y="262958"/>
                  </a:lnTo>
                  <a:lnTo>
                    <a:pt x="13945" y="252754"/>
                  </a:lnTo>
                  <a:lnTo>
                    <a:pt x="3741" y="237617"/>
                  </a:lnTo>
                  <a:lnTo>
                    <a:pt x="0" y="219074"/>
                  </a:lnTo>
                  <a:lnTo>
                    <a:pt x="0" y="19049"/>
                  </a:lnTo>
                  <a:lnTo>
                    <a:pt x="1494" y="11628"/>
                  </a:lnTo>
                  <a:lnTo>
                    <a:pt x="5573" y="5573"/>
                  </a:lnTo>
                  <a:lnTo>
                    <a:pt x="11628" y="1494"/>
                  </a:lnTo>
                  <a:lnTo>
                    <a:pt x="19049" y="0"/>
                  </a:lnTo>
                  <a:lnTo>
                    <a:pt x="26471" y="1494"/>
                  </a:lnTo>
                  <a:lnTo>
                    <a:pt x="32526" y="5573"/>
                  </a:lnTo>
                  <a:lnTo>
                    <a:pt x="36605" y="11628"/>
                  </a:lnTo>
                  <a:lnTo>
                    <a:pt x="38099" y="19049"/>
                  </a:lnTo>
                  <a:lnTo>
                    <a:pt x="38099" y="224313"/>
                  </a:lnTo>
                  <a:lnTo>
                    <a:pt x="42386" y="228599"/>
                  </a:lnTo>
                  <a:lnTo>
                    <a:pt x="285749" y="228599"/>
                  </a:lnTo>
                  <a:lnTo>
                    <a:pt x="293171" y="230094"/>
                  </a:lnTo>
                  <a:lnTo>
                    <a:pt x="299226" y="234173"/>
                  </a:lnTo>
                  <a:lnTo>
                    <a:pt x="303305" y="240228"/>
                  </a:lnTo>
                  <a:lnTo>
                    <a:pt x="304799" y="247649"/>
                  </a:lnTo>
                  <a:lnTo>
                    <a:pt x="303305" y="255071"/>
                  </a:lnTo>
                  <a:lnTo>
                    <a:pt x="299226" y="261126"/>
                  </a:lnTo>
                  <a:lnTo>
                    <a:pt x="293171" y="265205"/>
                  </a:lnTo>
                  <a:lnTo>
                    <a:pt x="285749" y="266699"/>
                  </a:lnTo>
                  <a:close/>
                </a:path>
                <a:path w="304800" h="266700">
                  <a:moveTo>
                    <a:pt x="244494" y="106382"/>
                  </a:moveTo>
                  <a:lnTo>
                    <a:pt x="190499" y="106382"/>
                  </a:lnTo>
                  <a:lnTo>
                    <a:pt x="253186" y="43636"/>
                  </a:lnTo>
                  <a:lnTo>
                    <a:pt x="259492" y="39450"/>
                  </a:lnTo>
                  <a:lnTo>
                    <a:pt x="266670" y="38055"/>
                  </a:lnTo>
                  <a:lnTo>
                    <a:pt x="273847" y="39450"/>
                  </a:lnTo>
                  <a:lnTo>
                    <a:pt x="280154" y="43636"/>
                  </a:lnTo>
                  <a:lnTo>
                    <a:pt x="284339" y="49942"/>
                  </a:lnTo>
                  <a:lnTo>
                    <a:pt x="285735" y="57120"/>
                  </a:lnTo>
                  <a:lnTo>
                    <a:pt x="284339" y="64297"/>
                  </a:lnTo>
                  <a:lnTo>
                    <a:pt x="279919" y="70958"/>
                  </a:lnTo>
                  <a:lnTo>
                    <a:pt x="244494" y="106382"/>
                  </a:lnTo>
                  <a:close/>
                </a:path>
                <a:path w="304800" h="266700">
                  <a:moveTo>
                    <a:pt x="76170" y="171435"/>
                  </a:moveTo>
                  <a:lnTo>
                    <a:pt x="68992" y="170039"/>
                  </a:lnTo>
                  <a:lnTo>
                    <a:pt x="62686" y="165854"/>
                  </a:lnTo>
                  <a:lnTo>
                    <a:pt x="58500" y="159547"/>
                  </a:lnTo>
                  <a:lnTo>
                    <a:pt x="57105" y="152370"/>
                  </a:lnTo>
                  <a:lnTo>
                    <a:pt x="58500" y="145192"/>
                  </a:lnTo>
                  <a:lnTo>
                    <a:pt x="62686" y="138886"/>
                  </a:lnTo>
                  <a:lnTo>
                    <a:pt x="129361" y="72211"/>
                  </a:lnTo>
                  <a:lnTo>
                    <a:pt x="135667" y="68025"/>
                  </a:lnTo>
                  <a:lnTo>
                    <a:pt x="142845" y="66630"/>
                  </a:lnTo>
                  <a:lnTo>
                    <a:pt x="150022" y="68025"/>
                  </a:lnTo>
                  <a:lnTo>
                    <a:pt x="156329" y="72211"/>
                  </a:lnTo>
                  <a:lnTo>
                    <a:pt x="190499" y="106382"/>
                  </a:lnTo>
                  <a:lnTo>
                    <a:pt x="244494" y="106382"/>
                  </a:lnTo>
                  <a:lnTo>
                    <a:pt x="238184" y="112692"/>
                  </a:lnTo>
                  <a:lnTo>
                    <a:pt x="142874" y="112692"/>
                  </a:lnTo>
                  <a:lnTo>
                    <a:pt x="89654" y="165854"/>
                  </a:lnTo>
                  <a:lnTo>
                    <a:pt x="83347" y="170039"/>
                  </a:lnTo>
                  <a:lnTo>
                    <a:pt x="76170" y="171435"/>
                  </a:lnTo>
                  <a:close/>
                </a:path>
                <a:path w="304800" h="266700">
                  <a:moveTo>
                    <a:pt x="190912" y="152370"/>
                  </a:moveTo>
                  <a:lnTo>
                    <a:pt x="190146" y="152370"/>
                  </a:lnTo>
                  <a:lnTo>
                    <a:pt x="183352" y="151049"/>
                  </a:lnTo>
                  <a:lnTo>
                    <a:pt x="177045" y="146863"/>
                  </a:lnTo>
                  <a:lnTo>
                    <a:pt x="142874" y="112692"/>
                  </a:lnTo>
                  <a:lnTo>
                    <a:pt x="238184" y="112692"/>
                  </a:lnTo>
                  <a:lnTo>
                    <a:pt x="204013" y="146863"/>
                  </a:lnTo>
                  <a:lnTo>
                    <a:pt x="197706" y="151049"/>
                  </a:lnTo>
                  <a:lnTo>
                    <a:pt x="190912" y="1523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8599834" y="5760544"/>
            <a:ext cx="80264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 marR="5080" indent="-79375">
              <a:lnSpc>
                <a:spcPct val="114100"/>
              </a:lnSpc>
              <a:spcBef>
                <a:spcPts val="95"/>
              </a:spcBef>
            </a:pPr>
            <a:r>
              <a:rPr dirty="0" sz="1150" spc="-60" b="0">
                <a:solidFill>
                  <a:srgbClr val="FFFFFF"/>
                </a:solidFill>
                <a:latin typeface="Roboto Medium"/>
                <a:cs typeface="Roboto Medium"/>
              </a:rPr>
              <a:t>Performance </a:t>
            </a:r>
            <a:r>
              <a:rPr dirty="0" sz="1150" spc="-10" b="0">
                <a:solidFill>
                  <a:srgbClr val="FFFFFF"/>
                </a:solidFill>
                <a:latin typeface="Roboto Medium"/>
                <a:cs typeface="Roboto Medium"/>
              </a:rPr>
              <a:t>Evaluation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0" y="2307778"/>
            <a:ext cx="12192000" cy="5131435"/>
            <a:chOff x="0" y="2307778"/>
            <a:chExt cx="12192000" cy="5131435"/>
          </a:xfrm>
        </p:grpSpPr>
        <p:sp>
          <p:nvSpPr>
            <p:cNvPr id="35" name="object 35" descr=""/>
            <p:cNvSpPr/>
            <p:nvPr/>
          </p:nvSpPr>
          <p:spPr>
            <a:xfrm>
              <a:off x="7959407" y="2307779"/>
              <a:ext cx="559435" cy="3576320"/>
            </a:xfrm>
            <a:custGeom>
              <a:avLst/>
              <a:gdLst/>
              <a:ahLst/>
              <a:cxnLst/>
              <a:rect l="l" t="t" r="r" b="b"/>
              <a:pathLst>
                <a:path w="559434" h="3576320">
                  <a:moveTo>
                    <a:pt x="559422" y="3548342"/>
                  </a:moveTo>
                  <a:lnTo>
                    <a:pt x="7391" y="3400425"/>
                  </a:lnTo>
                  <a:lnTo>
                    <a:pt x="0" y="3428034"/>
                  </a:lnTo>
                  <a:lnTo>
                    <a:pt x="552030" y="3575951"/>
                  </a:lnTo>
                  <a:lnTo>
                    <a:pt x="559422" y="3548342"/>
                  </a:lnTo>
                  <a:close/>
                </a:path>
                <a:path w="559434" h="3576320">
                  <a:moveTo>
                    <a:pt x="559422" y="27609"/>
                  </a:moveTo>
                  <a:lnTo>
                    <a:pt x="552030" y="0"/>
                  </a:lnTo>
                  <a:lnTo>
                    <a:pt x="0" y="147916"/>
                  </a:lnTo>
                  <a:lnTo>
                    <a:pt x="7391" y="175526"/>
                  </a:lnTo>
                  <a:lnTo>
                    <a:pt x="559422" y="27609"/>
                  </a:lnTo>
                  <a:close/>
                </a:path>
              </a:pathLst>
            </a:custGeom>
            <a:solidFill>
              <a:srgbClr val="004A86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0" y="7153274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544174" y="693419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7029449"/>
              <a:ext cx="133349" cy="133349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10833000" y="7035800"/>
            <a:ext cx="1181735" cy="351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4</a:t>
            </a:fld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/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10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7067550"/>
            <a:chOff x="0" y="0"/>
            <a:chExt cx="12192000" cy="7067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06754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121919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89865">
              <a:lnSpc>
                <a:spcPct val="100000"/>
              </a:lnSpc>
              <a:spcBef>
                <a:spcPts val="120"/>
              </a:spcBef>
            </a:pPr>
            <a:r>
              <a:rPr dirty="0" spc="-155"/>
              <a:t>System</a:t>
            </a:r>
            <a:r>
              <a:rPr dirty="0" spc="-35"/>
              <a:t> </a:t>
            </a:r>
            <a:r>
              <a:rPr dirty="0" spc="-130"/>
              <a:t>Architecture</a:t>
            </a:r>
            <a:r>
              <a:rPr dirty="0" spc="-35"/>
              <a:t> </a:t>
            </a:r>
            <a:r>
              <a:rPr dirty="0" spc="-170"/>
              <a:t>&amp;</a:t>
            </a:r>
            <a:r>
              <a:rPr dirty="0" spc="-40"/>
              <a:t> </a:t>
            </a:r>
            <a:r>
              <a:rPr dirty="0" spc="-225"/>
              <a:t>FACTS</a:t>
            </a:r>
            <a:r>
              <a:rPr dirty="0" spc="-35"/>
              <a:t> </a:t>
            </a:r>
            <a:r>
              <a:rPr dirty="0" spc="-100"/>
              <a:t>Devices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380999" y="1457324"/>
            <a:ext cx="4495800" cy="5276850"/>
            <a:chOff x="380999" y="1457324"/>
            <a:chExt cx="4495800" cy="5276850"/>
          </a:xfrm>
        </p:grpSpPr>
        <p:sp>
          <p:nvSpPr>
            <p:cNvPr id="7" name="object 7" descr=""/>
            <p:cNvSpPr/>
            <p:nvPr/>
          </p:nvSpPr>
          <p:spPr>
            <a:xfrm>
              <a:off x="380987" y="3162299"/>
              <a:ext cx="4495800" cy="3571875"/>
            </a:xfrm>
            <a:custGeom>
              <a:avLst/>
              <a:gdLst/>
              <a:ahLst/>
              <a:cxnLst/>
              <a:rect l="l" t="t" r="r" b="b"/>
              <a:pathLst>
                <a:path w="4495800" h="3571875">
                  <a:moveTo>
                    <a:pt x="4495800" y="2547696"/>
                  </a:moveTo>
                  <a:lnTo>
                    <a:pt x="4480179" y="2506205"/>
                  </a:lnTo>
                  <a:lnTo>
                    <a:pt x="4444149" y="2480386"/>
                  </a:lnTo>
                  <a:lnTo>
                    <a:pt x="4424604" y="2476500"/>
                  </a:lnTo>
                  <a:lnTo>
                    <a:pt x="71208" y="2476500"/>
                  </a:lnTo>
                  <a:lnTo>
                    <a:pt x="29718" y="2492121"/>
                  </a:lnTo>
                  <a:lnTo>
                    <a:pt x="3886" y="2528163"/>
                  </a:lnTo>
                  <a:lnTo>
                    <a:pt x="0" y="2547696"/>
                  </a:lnTo>
                  <a:lnTo>
                    <a:pt x="0" y="3495675"/>
                  </a:lnTo>
                  <a:lnTo>
                    <a:pt x="0" y="3500678"/>
                  </a:lnTo>
                  <a:lnTo>
                    <a:pt x="15633" y="3542169"/>
                  </a:lnTo>
                  <a:lnTo>
                    <a:pt x="51663" y="3567988"/>
                  </a:lnTo>
                  <a:lnTo>
                    <a:pt x="71208" y="3571875"/>
                  </a:lnTo>
                  <a:lnTo>
                    <a:pt x="4424604" y="3571875"/>
                  </a:lnTo>
                  <a:lnTo>
                    <a:pt x="4466094" y="3556254"/>
                  </a:lnTo>
                  <a:lnTo>
                    <a:pt x="4491914" y="3520224"/>
                  </a:lnTo>
                  <a:lnTo>
                    <a:pt x="4495800" y="3500678"/>
                  </a:lnTo>
                  <a:lnTo>
                    <a:pt x="4495800" y="2547696"/>
                  </a:lnTo>
                  <a:close/>
                </a:path>
                <a:path w="4495800" h="3571875">
                  <a:moveTo>
                    <a:pt x="4495800" y="1309458"/>
                  </a:moveTo>
                  <a:lnTo>
                    <a:pt x="4480179" y="1267955"/>
                  </a:lnTo>
                  <a:lnTo>
                    <a:pt x="4444149" y="1242136"/>
                  </a:lnTo>
                  <a:lnTo>
                    <a:pt x="4424604" y="1238250"/>
                  </a:lnTo>
                  <a:lnTo>
                    <a:pt x="71208" y="1238250"/>
                  </a:lnTo>
                  <a:lnTo>
                    <a:pt x="29718" y="1253883"/>
                  </a:lnTo>
                  <a:lnTo>
                    <a:pt x="3886" y="1289913"/>
                  </a:lnTo>
                  <a:lnTo>
                    <a:pt x="0" y="1309458"/>
                  </a:lnTo>
                  <a:lnTo>
                    <a:pt x="0" y="2257425"/>
                  </a:lnTo>
                  <a:lnTo>
                    <a:pt x="0" y="2262428"/>
                  </a:lnTo>
                  <a:lnTo>
                    <a:pt x="15633" y="2303919"/>
                  </a:lnTo>
                  <a:lnTo>
                    <a:pt x="51663" y="2329738"/>
                  </a:lnTo>
                  <a:lnTo>
                    <a:pt x="71208" y="2333625"/>
                  </a:lnTo>
                  <a:lnTo>
                    <a:pt x="4424604" y="2333625"/>
                  </a:lnTo>
                  <a:lnTo>
                    <a:pt x="4466094" y="2318004"/>
                  </a:lnTo>
                  <a:lnTo>
                    <a:pt x="4491914" y="2281974"/>
                  </a:lnTo>
                  <a:lnTo>
                    <a:pt x="4495800" y="2262428"/>
                  </a:lnTo>
                  <a:lnTo>
                    <a:pt x="4495800" y="1309458"/>
                  </a:lnTo>
                  <a:close/>
                </a:path>
                <a:path w="4495800" h="3571875">
                  <a:moveTo>
                    <a:pt x="4495800" y="71208"/>
                  </a:moveTo>
                  <a:lnTo>
                    <a:pt x="4480179" y="29718"/>
                  </a:lnTo>
                  <a:lnTo>
                    <a:pt x="4444149" y="3886"/>
                  </a:lnTo>
                  <a:lnTo>
                    <a:pt x="4424604" y="0"/>
                  </a:lnTo>
                  <a:lnTo>
                    <a:pt x="71208" y="0"/>
                  </a:lnTo>
                  <a:lnTo>
                    <a:pt x="29718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1019175"/>
                  </a:lnTo>
                  <a:lnTo>
                    <a:pt x="0" y="1024178"/>
                  </a:lnTo>
                  <a:lnTo>
                    <a:pt x="15633" y="1065669"/>
                  </a:lnTo>
                  <a:lnTo>
                    <a:pt x="51663" y="1091501"/>
                  </a:lnTo>
                  <a:lnTo>
                    <a:pt x="71208" y="1095375"/>
                  </a:lnTo>
                  <a:lnTo>
                    <a:pt x="4424604" y="1095375"/>
                  </a:lnTo>
                  <a:lnTo>
                    <a:pt x="4466094" y="1079754"/>
                  </a:lnTo>
                  <a:lnTo>
                    <a:pt x="4491914" y="1043724"/>
                  </a:lnTo>
                  <a:lnTo>
                    <a:pt x="4495800" y="1024178"/>
                  </a:lnTo>
                  <a:lnTo>
                    <a:pt x="4495800" y="71208"/>
                  </a:lnTo>
                  <a:close/>
                </a:path>
              </a:pathLst>
            </a:custGeom>
            <a:solidFill>
              <a:srgbClr val="004A8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7662" y="1457337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50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50"/>
                  </a:lnTo>
                  <a:lnTo>
                    <a:pt x="0" y="941362"/>
                  </a:lnTo>
                  <a:lnTo>
                    <a:pt x="20662" y="962012"/>
                  </a:lnTo>
                  <a:lnTo>
                    <a:pt x="26974" y="962012"/>
                  </a:lnTo>
                  <a:lnTo>
                    <a:pt x="47625" y="941362"/>
                  </a:lnTo>
                  <a:lnTo>
                    <a:pt x="47625" y="938212"/>
                  </a:lnTo>
                  <a:lnTo>
                    <a:pt x="47625" y="935050"/>
                  </a:lnTo>
                  <a:close/>
                </a:path>
                <a:path w="47625" h="962025">
                  <a:moveTo>
                    <a:pt x="47625" y="630250"/>
                  </a:moveTo>
                  <a:lnTo>
                    <a:pt x="26974" y="609600"/>
                  </a:lnTo>
                  <a:lnTo>
                    <a:pt x="20662" y="609600"/>
                  </a:lnTo>
                  <a:lnTo>
                    <a:pt x="0" y="630250"/>
                  </a:lnTo>
                  <a:lnTo>
                    <a:pt x="0" y="636562"/>
                  </a:lnTo>
                  <a:lnTo>
                    <a:pt x="20662" y="657212"/>
                  </a:lnTo>
                  <a:lnTo>
                    <a:pt x="26974" y="657212"/>
                  </a:lnTo>
                  <a:lnTo>
                    <a:pt x="47625" y="636562"/>
                  </a:lnTo>
                  <a:lnTo>
                    <a:pt x="47625" y="633412"/>
                  </a:lnTo>
                  <a:lnTo>
                    <a:pt x="47625" y="630250"/>
                  </a:lnTo>
                  <a:close/>
                </a:path>
                <a:path w="47625" h="962025">
                  <a:moveTo>
                    <a:pt x="47625" y="325450"/>
                  </a:moveTo>
                  <a:lnTo>
                    <a:pt x="26974" y="304800"/>
                  </a:lnTo>
                  <a:lnTo>
                    <a:pt x="20662" y="304800"/>
                  </a:lnTo>
                  <a:lnTo>
                    <a:pt x="0" y="325450"/>
                  </a:lnTo>
                  <a:lnTo>
                    <a:pt x="0" y="331762"/>
                  </a:lnTo>
                  <a:lnTo>
                    <a:pt x="20662" y="352412"/>
                  </a:lnTo>
                  <a:lnTo>
                    <a:pt x="26974" y="352412"/>
                  </a:lnTo>
                  <a:lnTo>
                    <a:pt x="47625" y="331762"/>
                  </a:lnTo>
                  <a:lnTo>
                    <a:pt x="47625" y="328612"/>
                  </a:lnTo>
                  <a:lnTo>
                    <a:pt x="47625" y="325450"/>
                  </a:lnTo>
                  <a:close/>
                </a:path>
                <a:path w="47625" h="9620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3874" y="33051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2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886" y="3370945"/>
              <a:ext cx="130395" cy="173258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68299" y="927893"/>
            <a:ext cx="300863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5" b="1">
                <a:solidFill>
                  <a:srgbClr val="374050"/>
                </a:solidFill>
                <a:latin typeface="Roboto"/>
                <a:cs typeface="Roboto"/>
              </a:rPr>
              <a:t>Hybrid</a:t>
            </a:r>
            <a:r>
              <a:rPr dirty="0" sz="16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6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6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374050"/>
                </a:solidFill>
                <a:latin typeface="Roboto"/>
                <a:cs typeface="Roboto"/>
              </a:rPr>
              <a:t>Components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6899" y="1249933"/>
            <a:ext cx="3439160" cy="939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3800"/>
              </a:lnSpc>
              <a:spcBef>
                <a:spcPts val="90"/>
              </a:spcBef>
            </a:pPr>
            <a:r>
              <a:rPr dirty="0" sz="1300" spc="-65" b="1">
                <a:solidFill>
                  <a:srgbClr val="1D40AF"/>
                </a:solidFill>
                <a:latin typeface="Roboto"/>
                <a:cs typeface="Roboto"/>
              </a:rPr>
              <a:t>Thermal</a:t>
            </a:r>
            <a:r>
              <a:rPr dirty="0" sz="130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1D40AF"/>
                </a:solidFill>
                <a:latin typeface="Roboto"/>
                <a:cs typeface="Roboto"/>
              </a:rPr>
              <a:t>plants:</a:t>
            </a:r>
            <a:r>
              <a:rPr dirty="0" sz="130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Base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load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generation,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high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inertia </a:t>
            </a:r>
            <a:r>
              <a:rPr dirty="0" sz="1300" spc="-50" b="1">
                <a:solidFill>
                  <a:srgbClr val="1D40AF"/>
                </a:solidFill>
                <a:latin typeface="Roboto"/>
                <a:cs typeface="Roboto"/>
              </a:rPr>
              <a:t>Hydroelectric:</a:t>
            </a:r>
            <a:r>
              <a:rPr dirty="0" sz="13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Fast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response,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frequency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regulation </a:t>
            </a:r>
            <a:r>
              <a:rPr dirty="0" sz="1300" spc="-65" b="1">
                <a:solidFill>
                  <a:srgbClr val="1D40AF"/>
                </a:solidFill>
                <a:latin typeface="Roboto"/>
                <a:cs typeface="Roboto"/>
              </a:rPr>
              <a:t>Wind</a:t>
            </a:r>
            <a:r>
              <a:rPr dirty="0" sz="1300" spc="-3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1D40AF"/>
                </a:solidFill>
                <a:latin typeface="Roboto"/>
                <a:cs typeface="Roboto"/>
              </a:rPr>
              <a:t>farms:</a:t>
            </a:r>
            <a:r>
              <a:rPr dirty="0" sz="1300" spc="-2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Variable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output,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low</a:t>
            </a:r>
            <a:r>
              <a:rPr dirty="0" sz="1300" spc="-2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inertia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6899" y="2265679"/>
            <a:ext cx="252920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 b="1">
                <a:solidFill>
                  <a:srgbClr val="1D40AF"/>
                </a:solidFill>
                <a:latin typeface="Roboto"/>
                <a:cs typeface="Roboto"/>
              </a:rPr>
              <a:t>Solar</a:t>
            </a:r>
            <a:r>
              <a:rPr dirty="0" sz="1300" spc="2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60" b="1">
                <a:solidFill>
                  <a:srgbClr val="1D40AF"/>
                </a:solidFill>
                <a:latin typeface="Roboto"/>
                <a:cs typeface="Roboto"/>
              </a:rPr>
              <a:t>PV:</a:t>
            </a:r>
            <a:r>
              <a:rPr dirty="0" sz="1300" spc="2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Intermittent,</a:t>
            </a:r>
            <a:r>
              <a:rPr dirty="0" sz="1300" spc="2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inverter-</a:t>
            </a:r>
            <a:r>
              <a:rPr dirty="0" sz="1300" spc="-40">
                <a:latin typeface="Roboto"/>
                <a:cs typeface="Roboto"/>
              </a:rPr>
              <a:t>based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68299" y="2718593"/>
            <a:ext cx="131508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45" b="1">
                <a:solidFill>
                  <a:srgbClr val="374050"/>
                </a:solidFill>
                <a:latin typeface="Roboto"/>
                <a:cs typeface="Roboto"/>
              </a:rPr>
              <a:t>FACTS</a:t>
            </a:r>
            <a:r>
              <a:rPr dirty="0" sz="1650" spc="-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650" spc="-70" b="1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1225" y="3326523"/>
            <a:ext cx="81788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95" b="1">
                <a:solidFill>
                  <a:srgbClr val="004A86"/>
                </a:solidFill>
                <a:latin typeface="Roboto"/>
                <a:cs typeface="Roboto"/>
              </a:rPr>
              <a:t>STATCOM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1225" y="3612134"/>
            <a:ext cx="358838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Fast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voltage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regulation,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reactive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support,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VSC-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based,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millisecond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response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23874" y="1371599"/>
            <a:ext cx="11287125" cy="4714875"/>
            <a:chOff x="523874" y="1371599"/>
            <a:chExt cx="11287125" cy="4714875"/>
          </a:xfrm>
        </p:grpSpPr>
        <p:sp>
          <p:nvSpPr>
            <p:cNvPr id="18" name="object 18" descr=""/>
            <p:cNvSpPr/>
            <p:nvPr/>
          </p:nvSpPr>
          <p:spPr>
            <a:xfrm>
              <a:off x="523874" y="45434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1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6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0516" y="4609229"/>
              <a:ext cx="171516" cy="17319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23874" y="57816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1" y="279114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399"/>
                  </a:lnTo>
                  <a:lnTo>
                    <a:pt x="182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6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5" y="203732"/>
                  </a:lnTo>
                  <a:lnTo>
                    <a:pt x="274804" y="243191"/>
                  </a:lnTo>
                  <a:lnTo>
                    <a:pt x="243192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549" y="5853707"/>
              <a:ext cx="171449" cy="16073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7299" y="1371599"/>
              <a:ext cx="6743699" cy="4000499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911225" y="4564773"/>
            <a:ext cx="35433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55" b="1">
                <a:solidFill>
                  <a:srgbClr val="004A86"/>
                </a:solidFill>
                <a:latin typeface="Roboto"/>
                <a:cs typeface="Roboto"/>
              </a:rPr>
              <a:t>SVC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11225" y="4850383"/>
            <a:ext cx="363156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Steady-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state</a:t>
            </a:r>
            <a:r>
              <a:rPr dirty="0" sz="1300" spc="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90">
                <a:solidFill>
                  <a:srgbClr val="333333"/>
                </a:solidFill>
                <a:latin typeface="Roboto"/>
                <a:cs typeface="Roboto"/>
              </a:rPr>
              <a:t>VAR</a:t>
            </a:r>
            <a:r>
              <a:rPr dirty="0" sz="1300" spc="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compensation,</a:t>
            </a:r>
            <a:r>
              <a:rPr dirty="0" sz="1300" spc="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harmonic-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controlled thyristor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switching,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bulk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reactive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11225" y="5706197"/>
            <a:ext cx="3564254" cy="865505"/>
          </a:xfrm>
          <a:prstGeom prst="rect">
            <a:avLst/>
          </a:prstGeom>
        </p:spPr>
        <p:txBody>
          <a:bodyPr wrap="square" lIns="0" tIns="110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dirty="0" sz="1450" spc="-20" b="1">
                <a:solidFill>
                  <a:srgbClr val="004A86"/>
                </a:solidFill>
                <a:latin typeface="Roboto"/>
                <a:cs typeface="Roboto"/>
              </a:rPr>
              <a:t>UPFC</a:t>
            </a:r>
            <a:endParaRPr sz="14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495"/>
              </a:spcBef>
            </a:pP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Full-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range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flow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control,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simultaneous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active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&amp; reactive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regulation,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series-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shunt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configuration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550596" y="927893"/>
            <a:ext cx="1777364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0" b="1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6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650" spc="-70" b="1">
                <a:solidFill>
                  <a:srgbClr val="374050"/>
                </a:solidFill>
                <a:latin typeface="Roboto"/>
                <a:cs typeface="Roboto"/>
              </a:rPr>
              <a:t>Architecture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502869" y="5430122"/>
            <a:ext cx="587311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Coordinated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control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6A7280"/>
                </a:solidFill>
                <a:latin typeface="Roboto"/>
                <a:cs typeface="Roboto"/>
              </a:rPr>
              <a:t>strategies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6A7280"/>
                </a:solidFill>
                <a:latin typeface="Roboto"/>
                <a:cs typeface="Roboto"/>
              </a:rPr>
              <a:t>integrate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6A7280"/>
                </a:solidFill>
                <a:latin typeface="Roboto"/>
                <a:cs typeface="Roboto"/>
              </a:rPr>
              <a:t>multiple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6A7280"/>
                </a:solidFill>
                <a:latin typeface="Roboto"/>
                <a:cs typeface="Roboto"/>
              </a:rPr>
              <a:t>FACTS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devices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to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enhance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overall</a:t>
            </a:r>
            <a:r>
              <a:rPr dirty="0" sz="1150" spc="2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6A7280"/>
                </a:solidFill>
                <a:latin typeface="Roboto"/>
                <a:cs typeface="Roboto"/>
              </a:rPr>
              <a:t>system</a:t>
            </a:r>
            <a:r>
              <a:rPr dirty="0" sz="1150" spc="1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6A7280"/>
                </a:solidFill>
                <a:latin typeface="Roboto"/>
                <a:cs typeface="Roboto"/>
              </a:rPr>
              <a:t>stability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708699" y="2117566"/>
            <a:ext cx="4508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0">
                <a:solidFill>
                  <a:srgbClr val="004A86"/>
                </a:solidFill>
                <a:latin typeface="Roboto Medium"/>
                <a:cs typeface="Roboto Medium"/>
              </a:rPr>
              <a:t>Thermal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779124" y="2117566"/>
            <a:ext cx="3302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 b="0">
                <a:solidFill>
                  <a:srgbClr val="004A86"/>
                </a:solidFill>
                <a:latin typeface="Roboto Medium"/>
                <a:cs typeface="Roboto Medium"/>
              </a:rPr>
              <a:t>Hydro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792340" y="4765516"/>
            <a:ext cx="2832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 b="0">
                <a:solidFill>
                  <a:srgbClr val="004A86"/>
                </a:solidFill>
                <a:latin typeface="Roboto Medium"/>
                <a:cs typeface="Roboto Medium"/>
              </a:rPr>
              <a:t>Wind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798918" y="4765516"/>
            <a:ext cx="2908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 b="0">
                <a:solidFill>
                  <a:srgbClr val="004A86"/>
                </a:solidFill>
                <a:latin typeface="Roboto Medium"/>
                <a:cs typeface="Roboto Medium"/>
              </a:rPr>
              <a:t>Solar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240910" y="3308191"/>
            <a:ext cx="96393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latin typeface="Roboto"/>
                <a:cs typeface="Roboto"/>
              </a:rPr>
              <a:t>Power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60">
                <a:latin typeface="Roboto"/>
                <a:cs typeface="Roboto"/>
              </a:rPr>
              <a:t>flow</a:t>
            </a:r>
            <a:r>
              <a:rPr dirty="0" sz="1000" spc="-5">
                <a:latin typeface="Roboto"/>
                <a:cs typeface="Roboto"/>
              </a:rPr>
              <a:t> </a:t>
            </a:r>
            <a:r>
              <a:rPr dirty="0" sz="1000" spc="-45">
                <a:latin typeface="Roboto"/>
                <a:cs typeface="Roboto"/>
              </a:rPr>
              <a:t>control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0" y="2143124"/>
            <a:ext cx="12192000" cy="4924425"/>
            <a:chOff x="0" y="2143124"/>
            <a:chExt cx="12192000" cy="4924425"/>
          </a:xfrm>
        </p:grpSpPr>
        <p:sp>
          <p:nvSpPr>
            <p:cNvPr id="34" name="object 34" descr=""/>
            <p:cNvSpPr/>
            <p:nvPr/>
          </p:nvSpPr>
          <p:spPr>
            <a:xfrm>
              <a:off x="0" y="678179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34062" y="2143137"/>
              <a:ext cx="5715000" cy="2762250"/>
            </a:xfrm>
            <a:custGeom>
              <a:avLst/>
              <a:gdLst/>
              <a:ahLst/>
              <a:cxnLst/>
              <a:rect l="l" t="t" r="r" b="b"/>
              <a:pathLst>
                <a:path w="5715000" h="2762250">
                  <a:moveTo>
                    <a:pt x="38100" y="1981187"/>
                  </a:moveTo>
                  <a:lnTo>
                    <a:pt x="0" y="1981187"/>
                  </a:lnTo>
                  <a:lnTo>
                    <a:pt x="0" y="2457437"/>
                  </a:lnTo>
                  <a:lnTo>
                    <a:pt x="38100" y="2457437"/>
                  </a:lnTo>
                  <a:lnTo>
                    <a:pt x="38100" y="1981187"/>
                  </a:lnTo>
                  <a:close/>
                </a:path>
                <a:path w="5715000" h="2762250">
                  <a:moveTo>
                    <a:pt x="3810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38100" y="476250"/>
                  </a:lnTo>
                  <a:lnTo>
                    <a:pt x="38100" y="0"/>
                  </a:lnTo>
                  <a:close/>
                </a:path>
                <a:path w="5715000" h="2762250">
                  <a:moveTo>
                    <a:pt x="5010150" y="1981187"/>
                  </a:moveTo>
                  <a:lnTo>
                    <a:pt x="4972050" y="1981187"/>
                  </a:lnTo>
                  <a:lnTo>
                    <a:pt x="4972050" y="2457437"/>
                  </a:lnTo>
                  <a:lnTo>
                    <a:pt x="5010150" y="2457437"/>
                  </a:lnTo>
                  <a:lnTo>
                    <a:pt x="5010150" y="1981187"/>
                  </a:lnTo>
                  <a:close/>
                </a:path>
                <a:path w="5715000" h="2762250">
                  <a:moveTo>
                    <a:pt x="5010150" y="0"/>
                  </a:moveTo>
                  <a:lnTo>
                    <a:pt x="4972050" y="0"/>
                  </a:lnTo>
                  <a:lnTo>
                    <a:pt x="4972050" y="476250"/>
                  </a:lnTo>
                  <a:lnTo>
                    <a:pt x="5010150" y="476250"/>
                  </a:lnTo>
                  <a:lnTo>
                    <a:pt x="5010150" y="0"/>
                  </a:lnTo>
                  <a:close/>
                </a:path>
                <a:path w="5715000" h="2762250">
                  <a:moveTo>
                    <a:pt x="5715000" y="619125"/>
                  </a:moveTo>
                  <a:lnTo>
                    <a:pt x="5715000" y="619125"/>
                  </a:lnTo>
                  <a:lnTo>
                    <a:pt x="190500" y="619125"/>
                  </a:lnTo>
                  <a:lnTo>
                    <a:pt x="190500" y="657225"/>
                  </a:lnTo>
                  <a:lnTo>
                    <a:pt x="1333500" y="657225"/>
                  </a:lnTo>
                  <a:lnTo>
                    <a:pt x="1333500" y="1762112"/>
                  </a:lnTo>
                  <a:lnTo>
                    <a:pt x="1371600" y="1762112"/>
                  </a:lnTo>
                  <a:lnTo>
                    <a:pt x="1371600" y="657225"/>
                  </a:lnTo>
                  <a:lnTo>
                    <a:pt x="3638550" y="657225"/>
                  </a:lnTo>
                  <a:lnTo>
                    <a:pt x="3638550" y="1762112"/>
                  </a:lnTo>
                  <a:lnTo>
                    <a:pt x="2609850" y="1762112"/>
                  </a:lnTo>
                  <a:lnTo>
                    <a:pt x="2571750" y="1762112"/>
                  </a:lnTo>
                  <a:lnTo>
                    <a:pt x="1428750" y="1762112"/>
                  </a:lnTo>
                  <a:lnTo>
                    <a:pt x="1428750" y="1800212"/>
                  </a:lnTo>
                  <a:lnTo>
                    <a:pt x="2571750" y="1800212"/>
                  </a:lnTo>
                  <a:lnTo>
                    <a:pt x="2571750" y="2762237"/>
                  </a:lnTo>
                  <a:lnTo>
                    <a:pt x="2609850" y="2762237"/>
                  </a:lnTo>
                  <a:lnTo>
                    <a:pt x="2609850" y="1800212"/>
                  </a:lnTo>
                  <a:lnTo>
                    <a:pt x="3714750" y="1800212"/>
                  </a:lnTo>
                  <a:lnTo>
                    <a:pt x="3714750" y="1762112"/>
                  </a:lnTo>
                  <a:lnTo>
                    <a:pt x="3676650" y="1762112"/>
                  </a:lnTo>
                  <a:lnTo>
                    <a:pt x="3676650" y="657225"/>
                  </a:lnTo>
                  <a:lnTo>
                    <a:pt x="5715000" y="657225"/>
                  </a:lnTo>
                  <a:lnTo>
                    <a:pt x="5715000" y="619125"/>
                  </a:lnTo>
                  <a:close/>
                </a:path>
              </a:pathLst>
            </a:custGeom>
            <a:solidFill>
              <a:srgbClr val="004A8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553074" y="2619374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1109951" y="285749"/>
                  </a:moveTo>
                  <a:lnTo>
                    <a:pt x="33047" y="285749"/>
                  </a:lnTo>
                  <a:lnTo>
                    <a:pt x="28187" y="284783"/>
                  </a:lnTo>
                  <a:lnTo>
                    <a:pt x="966" y="257562"/>
                  </a:lnTo>
                  <a:lnTo>
                    <a:pt x="0" y="252702"/>
                  </a:lnTo>
                  <a:lnTo>
                    <a:pt x="0" y="2476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09951" y="0"/>
                  </a:lnTo>
                  <a:lnTo>
                    <a:pt x="1142032" y="28187"/>
                  </a:lnTo>
                  <a:lnTo>
                    <a:pt x="1142999" y="33047"/>
                  </a:lnTo>
                  <a:lnTo>
                    <a:pt x="1142999" y="252702"/>
                  </a:lnTo>
                  <a:lnTo>
                    <a:pt x="1114811" y="284783"/>
                  </a:lnTo>
                  <a:lnTo>
                    <a:pt x="1109951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5943847" y="2653287"/>
            <a:ext cx="36131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0">
                <a:solidFill>
                  <a:srgbClr val="FFFFFF"/>
                </a:solidFill>
                <a:latin typeface="Roboto Medium"/>
                <a:cs typeface="Roboto Medium"/>
              </a:rPr>
              <a:t>Bus</a:t>
            </a:r>
            <a:r>
              <a:rPr dirty="0" sz="1100" spc="-4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00" spc="-50" b="0">
                <a:solidFill>
                  <a:srgbClr val="FFFFFF"/>
                </a:solidFill>
                <a:latin typeface="Roboto Medium"/>
                <a:cs typeface="Roboto Medium"/>
              </a:rPr>
              <a:t>1</a:t>
            </a:r>
            <a:endParaRPr sz="1100">
              <a:latin typeface="Roboto Medium"/>
              <a:cs typeface="Roboto Medium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10182222" y="2619374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1109953" y="285749"/>
                </a:moveTo>
                <a:lnTo>
                  <a:pt x="33047" y="285749"/>
                </a:lnTo>
                <a:lnTo>
                  <a:pt x="28187" y="284783"/>
                </a:lnTo>
                <a:lnTo>
                  <a:pt x="966" y="257562"/>
                </a:lnTo>
                <a:lnTo>
                  <a:pt x="0" y="252702"/>
                </a:lnTo>
                <a:lnTo>
                  <a:pt x="1" y="2476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9953" y="0"/>
                </a:lnTo>
                <a:lnTo>
                  <a:pt x="1142033" y="28187"/>
                </a:lnTo>
                <a:lnTo>
                  <a:pt x="1142999" y="33047"/>
                </a:lnTo>
                <a:lnTo>
                  <a:pt x="1142999" y="252702"/>
                </a:lnTo>
                <a:lnTo>
                  <a:pt x="1114813" y="284783"/>
                </a:lnTo>
                <a:lnTo>
                  <a:pt x="1109953" y="285749"/>
                </a:lnTo>
                <a:close/>
              </a:path>
            </a:pathLst>
          </a:custGeom>
          <a:solidFill>
            <a:srgbClr val="00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0572997" y="2653287"/>
            <a:ext cx="36131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0">
                <a:solidFill>
                  <a:srgbClr val="FFFFFF"/>
                </a:solidFill>
                <a:latin typeface="Roboto Medium"/>
                <a:cs typeface="Roboto Medium"/>
              </a:rPr>
              <a:t>Bus</a:t>
            </a:r>
            <a:r>
              <a:rPr dirty="0" sz="1100" spc="-4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00" spc="-50" b="0">
                <a:solidFill>
                  <a:srgbClr val="FFFFFF"/>
                </a:solidFill>
                <a:latin typeface="Roboto Medium"/>
                <a:cs typeface="Roboto Medium"/>
              </a:rPr>
              <a:t>2</a:t>
            </a:r>
            <a:endParaRPr sz="1100">
              <a:latin typeface="Roboto Medium"/>
              <a:cs typeface="Roboto Medium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791323" y="3762374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1109952" y="285749"/>
                </a:moveTo>
                <a:lnTo>
                  <a:pt x="33047" y="285749"/>
                </a:lnTo>
                <a:lnTo>
                  <a:pt x="28187" y="284782"/>
                </a:lnTo>
                <a:lnTo>
                  <a:pt x="966" y="257562"/>
                </a:lnTo>
                <a:lnTo>
                  <a:pt x="0" y="252702"/>
                </a:lnTo>
                <a:lnTo>
                  <a:pt x="0" y="2476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9952" y="0"/>
                </a:lnTo>
                <a:lnTo>
                  <a:pt x="1142033" y="28186"/>
                </a:lnTo>
                <a:lnTo>
                  <a:pt x="1142999" y="33047"/>
                </a:lnTo>
                <a:lnTo>
                  <a:pt x="1142999" y="252702"/>
                </a:lnTo>
                <a:lnTo>
                  <a:pt x="1114812" y="284782"/>
                </a:lnTo>
                <a:lnTo>
                  <a:pt x="1109952" y="285749"/>
                </a:lnTo>
                <a:close/>
              </a:path>
            </a:pathLst>
          </a:custGeom>
          <a:solidFill>
            <a:srgbClr val="00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7182098" y="3796287"/>
            <a:ext cx="36131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0">
                <a:solidFill>
                  <a:srgbClr val="FFFFFF"/>
                </a:solidFill>
                <a:latin typeface="Roboto Medium"/>
                <a:cs typeface="Roboto Medium"/>
              </a:rPr>
              <a:t>Bus</a:t>
            </a:r>
            <a:r>
              <a:rPr dirty="0" sz="1100" spc="-4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00" spc="-50" b="0">
                <a:solidFill>
                  <a:srgbClr val="FFFFFF"/>
                </a:solidFill>
                <a:latin typeface="Roboto Medium"/>
                <a:cs typeface="Roboto Medium"/>
              </a:rPr>
              <a:t>3</a:t>
            </a:r>
            <a:endParaRPr sz="1100">
              <a:latin typeface="Roboto Medium"/>
              <a:cs typeface="Roboto Medium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8943973" y="3762374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1109952" y="285749"/>
                </a:moveTo>
                <a:lnTo>
                  <a:pt x="33047" y="285749"/>
                </a:lnTo>
                <a:lnTo>
                  <a:pt x="28187" y="284782"/>
                </a:lnTo>
                <a:lnTo>
                  <a:pt x="966" y="257562"/>
                </a:lnTo>
                <a:lnTo>
                  <a:pt x="0" y="252702"/>
                </a:lnTo>
                <a:lnTo>
                  <a:pt x="0" y="2476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9952" y="0"/>
                </a:lnTo>
                <a:lnTo>
                  <a:pt x="1142031" y="28186"/>
                </a:lnTo>
                <a:lnTo>
                  <a:pt x="1142999" y="33047"/>
                </a:lnTo>
                <a:lnTo>
                  <a:pt x="1142999" y="252702"/>
                </a:lnTo>
                <a:lnTo>
                  <a:pt x="1114811" y="284782"/>
                </a:lnTo>
                <a:lnTo>
                  <a:pt x="1109952" y="285749"/>
                </a:lnTo>
                <a:close/>
              </a:path>
            </a:pathLst>
          </a:custGeom>
          <a:solidFill>
            <a:srgbClr val="00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9347448" y="3796287"/>
            <a:ext cx="34861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100" spc="-25" b="0">
                <a:solidFill>
                  <a:srgbClr val="FFFFFF"/>
                </a:solidFill>
                <a:latin typeface="Roboto Medium"/>
                <a:cs typeface="Roboto Medium"/>
              </a:rPr>
              <a:t>Bus</a:t>
            </a:r>
            <a:r>
              <a:rPr dirty="0" sz="1100" spc="-4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00" spc="-50" b="0">
                <a:solidFill>
                  <a:srgbClr val="FFFFFF"/>
                </a:solidFill>
                <a:latin typeface="Roboto Medium"/>
                <a:cs typeface="Roboto Medium"/>
              </a:rPr>
              <a:t>4</a:t>
            </a:r>
            <a:endParaRPr sz="1100">
              <a:latin typeface="Roboto Medium"/>
              <a:cs typeface="Roboto Medium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7934323" y="3838574"/>
            <a:ext cx="1143000" cy="285750"/>
          </a:xfrm>
          <a:custGeom>
            <a:avLst/>
            <a:gdLst/>
            <a:ahLst/>
            <a:cxnLst/>
            <a:rect l="l" t="t" r="r" b="b"/>
            <a:pathLst>
              <a:path w="1143000" h="285750">
                <a:moveTo>
                  <a:pt x="1109952" y="285749"/>
                </a:moveTo>
                <a:lnTo>
                  <a:pt x="33047" y="285749"/>
                </a:lnTo>
                <a:lnTo>
                  <a:pt x="28187" y="284782"/>
                </a:lnTo>
                <a:lnTo>
                  <a:pt x="966" y="257561"/>
                </a:lnTo>
                <a:lnTo>
                  <a:pt x="0" y="252702"/>
                </a:lnTo>
                <a:lnTo>
                  <a:pt x="0" y="2476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109952" y="0"/>
                </a:lnTo>
                <a:lnTo>
                  <a:pt x="1142032" y="28187"/>
                </a:lnTo>
                <a:lnTo>
                  <a:pt x="1142999" y="33047"/>
                </a:lnTo>
                <a:lnTo>
                  <a:pt x="1142999" y="252702"/>
                </a:lnTo>
                <a:lnTo>
                  <a:pt x="1114812" y="284782"/>
                </a:lnTo>
                <a:lnTo>
                  <a:pt x="1109952" y="285749"/>
                </a:lnTo>
                <a:close/>
              </a:path>
            </a:pathLst>
          </a:custGeom>
          <a:solidFill>
            <a:srgbClr val="004A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8325098" y="3872487"/>
            <a:ext cx="36131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 b="0">
                <a:solidFill>
                  <a:srgbClr val="FFFFFF"/>
                </a:solidFill>
                <a:latin typeface="Roboto Medium"/>
                <a:cs typeface="Roboto Medium"/>
              </a:rPr>
              <a:t>Bus</a:t>
            </a:r>
            <a:r>
              <a:rPr dirty="0" sz="1100" spc="-4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00" spc="-50" b="0">
                <a:solidFill>
                  <a:srgbClr val="FFFFFF"/>
                </a:solidFill>
                <a:latin typeface="Roboto Medium"/>
                <a:cs typeface="Roboto Medium"/>
              </a:rPr>
              <a:t>5</a:t>
            </a:r>
            <a:endParaRPr sz="1100">
              <a:latin typeface="Roboto Medium"/>
              <a:cs typeface="Roboto Medium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6029324" y="2905124"/>
            <a:ext cx="571500" cy="571500"/>
            <a:chOff x="6029324" y="2905124"/>
            <a:chExt cx="571500" cy="571500"/>
          </a:xfrm>
        </p:grpSpPr>
        <p:sp>
          <p:nvSpPr>
            <p:cNvPr id="47" name="object 47" descr=""/>
            <p:cNvSpPr/>
            <p:nvPr/>
          </p:nvSpPr>
          <p:spPr>
            <a:xfrm>
              <a:off x="6029324" y="29051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2"/>
                  </a:lnTo>
                  <a:lnTo>
                    <a:pt x="93852" y="497476"/>
                  </a:lnTo>
                  <a:lnTo>
                    <a:pt x="64862" y="467028"/>
                  </a:lnTo>
                  <a:lnTo>
                    <a:pt x="40654" y="432654"/>
                  </a:lnTo>
                  <a:lnTo>
                    <a:pt x="21751" y="395101"/>
                  </a:lnTo>
                  <a:lnTo>
                    <a:pt x="8562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9"/>
                  </a:lnTo>
                  <a:lnTo>
                    <a:pt x="5489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4" y="83694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2" y="16703"/>
                  </a:lnTo>
                  <a:lnTo>
                    <a:pt x="230001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1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5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5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1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4500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1958" y="3057065"/>
              <a:ext cx="66232" cy="88004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5743574" y="3117691"/>
            <a:ext cx="108077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latin typeface="Roboto"/>
                <a:cs typeface="Roboto"/>
              </a:rPr>
              <a:t>Fast</a:t>
            </a:r>
            <a:r>
              <a:rPr dirty="0" sz="1000" spc="10">
                <a:latin typeface="Roboto"/>
                <a:cs typeface="Roboto"/>
              </a:rPr>
              <a:t> </a:t>
            </a:r>
            <a:r>
              <a:rPr dirty="0" sz="1000" spc="-195">
                <a:latin typeface="Roboto"/>
                <a:cs typeface="Roboto"/>
              </a:rPr>
              <a:t>vo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S</a:t>
            </a:r>
            <a:r>
              <a:rPr dirty="0" sz="1000" spc="-195">
                <a:latin typeface="Roboto"/>
                <a:cs typeface="Roboto"/>
              </a:rPr>
              <a:t>l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000" spc="-195">
                <a:latin typeface="Roboto"/>
                <a:cs typeface="Roboto"/>
              </a:rPr>
              <a:t>t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dirty="0" sz="1000" spc="-195">
                <a:latin typeface="Roboto"/>
                <a:cs typeface="Roboto"/>
              </a:rPr>
              <a:t>a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T</a:t>
            </a:r>
            <a:r>
              <a:rPr dirty="0" sz="1000" spc="-195">
                <a:latin typeface="Roboto"/>
                <a:cs typeface="Roboto"/>
              </a:rPr>
              <a:t>g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C</a:t>
            </a:r>
            <a:r>
              <a:rPr dirty="0" sz="1000" spc="-195">
                <a:latin typeface="Roboto"/>
                <a:cs typeface="Roboto"/>
              </a:rPr>
              <a:t>e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O</a:t>
            </a:r>
            <a:r>
              <a:rPr dirty="0" sz="1000" spc="-195">
                <a:latin typeface="Roboto"/>
                <a:cs typeface="Roboto"/>
              </a:rPr>
              <a:t>c</a:t>
            </a:r>
            <a:r>
              <a:rPr dirty="0" baseline="-20833" sz="1200" spc="-292" b="1">
                <a:solidFill>
                  <a:srgbClr val="FFFFFF"/>
                </a:solidFill>
                <a:latin typeface="Roboto"/>
                <a:cs typeface="Roboto"/>
              </a:rPr>
              <a:t>M</a:t>
            </a:r>
            <a:r>
              <a:rPr dirty="0" sz="1000" spc="-195">
                <a:latin typeface="Roboto"/>
                <a:cs typeface="Roboto"/>
              </a:rPr>
              <a:t>ontrol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0086973" y="4048124"/>
            <a:ext cx="571500" cy="571500"/>
            <a:chOff x="10086973" y="4048124"/>
            <a:chExt cx="571500" cy="571500"/>
          </a:xfrm>
        </p:grpSpPr>
        <p:sp>
          <p:nvSpPr>
            <p:cNvPr id="51" name="object 51" descr=""/>
            <p:cNvSpPr/>
            <p:nvPr/>
          </p:nvSpPr>
          <p:spPr>
            <a:xfrm>
              <a:off x="10086973" y="40481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19" y="568407"/>
                  </a:lnTo>
                  <a:lnTo>
                    <a:pt x="202801" y="559194"/>
                  </a:lnTo>
                  <a:lnTo>
                    <a:pt x="163574" y="544064"/>
                  </a:lnTo>
                  <a:lnTo>
                    <a:pt x="126994" y="523341"/>
                  </a:lnTo>
                  <a:lnTo>
                    <a:pt x="93852" y="497476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49" y="395101"/>
                  </a:lnTo>
                  <a:lnTo>
                    <a:pt x="8562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39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6" y="33740"/>
                  </a:lnTo>
                  <a:lnTo>
                    <a:pt x="189482" y="16703"/>
                  </a:lnTo>
                  <a:lnTo>
                    <a:pt x="230001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49" y="33740"/>
                  </a:lnTo>
                  <a:lnTo>
                    <a:pt x="455969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7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6"/>
                  </a:lnTo>
                  <a:lnTo>
                    <a:pt x="537757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69" y="515266"/>
                  </a:lnTo>
                  <a:lnTo>
                    <a:pt x="420449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4500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25081" y="4200041"/>
              <a:ext cx="95287" cy="96217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9983241" y="4260691"/>
            <a:ext cx="96139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latin typeface="Roboto"/>
                <a:cs typeface="Roboto"/>
              </a:rPr>
              <a:t>Bulk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575">
                <a:latin typeface="Roboto"/>
                <a:cs typeface="Roboto"/>
              </a:rPr>
              <a:t>V</a:t>
            </a:r>
            <a:r>
              <a:rPr dirty="0" baseline="-20833" sz="1200" spc="-75" b="1">
                <a:solidFill>
                  <a:srgbClr val="FFFFFF"/>
                </a:solidFill>
                <a:latin typeface="Roboto"/>
                <a:cs typeface="Roboto"/>
              </a:rPr>
              <a:t>S</a:t>
            </a:r>
            <a:r>
              <a:rPr dirty="0" sz="1000" spc="-680">
                <a:latin typeface="Roboto"/>
                <a:cs typeface="Roboto"/>
              </a:rPr>
              <a:t>A</a:t>
            </a:r>
            <a:r>
              <a:rPr dirty="0" baseline="-20833" sz="1200" spc="-60" b="1">
                <a:solidFill>
                  <a:srgbClr val="FFFFFF"/>
                </a:solidFill>
                <a:latin typeface="Roboto"/>
                <a:cs typeface="Roboto"/>
              </a:rPr>
              <a:t>V</a:t>
            </a:r>
            <a:r>
              <a:rPr dirty="0" baseline="-20833" sz="1200" spc="-697" b="1">
                <a:solidFill>
                  <a:srgbClr val="FFFFFF"/>
                </a:solidFill>
                <a:latin typeface="Roboto"/>
                <a:cs typeface="Roboto"/>
              </a:rPr>
              <a:t>C</a:t>
            </a:r>
            <a:r>
              <a:rPr dirty="0" sz="1000" spc="-30">
                <a:latin typeface="Roboto"/>
                <a:cs typeface="Roboto"/>
              </a:rPr>
              <a:t>R</a:t>
            </a:r>
            <a:r>
              <a:rPr dirty="0" sz="1000">
                <a:latin typeface="Roboto"/>
                <a:cs typeface="Roboto"/>
              </a:rPr>
              <a:t> </a:t>
            </a:r>
            <a:r>
              <a:rPr dirty="0" sz="1000" spc="-10">
                <a:latin typeface="Roboto"/>
                <a:cs typeface="Roboto"/>
              </a:rPr>
              <a:t>support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8562974" y="3476624"/>
            <a:ext cx="571500" cy="571500"/>
            <a:chOff x="8562974" y="3476624"/>
            <a:chExt cx="571500" cy="571500"/>
          </a:xfrm>
        </p:grpSpPr>
        <p:sp>
          <p:nvSpPr>
            <p:cNvPr id="55" name="object 55" descr=""/>
            <p:cNvSpPr/>
            <p:nvPr/>
          </p:nvSpPr>
          <p:spPr>
            <a:xfrm>
              <a:off x="8562974" y="34766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39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5" y="271729"/>
                  </a:lnTo>
                  <a:lnTo>
                    <a:pt x="571499" y="285749"/>
                  </a:lnTo>
                  <a:lnTo>
                    <a:pt x="571155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4500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01099" y="3632001"/>
              <a:ext cx="95249" cy="89296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8729216" y="3751657"/>
            <a:ext cx="25209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800" spc="-25" b="1">
                <a:solidFill>
                  <a:srgbClr val="FFFFFF"/>
                </a:solidFill>
                <a:latin typeface="Roboto"/>
                <a:cs typeface="Roboto"/>
              </a:rPr>
              <a:t>UPFC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0544174" y="6553200"/>
            <a:ext cx="1457325" cy="323850"/>
            <a:chOff x="10544174" y="6553200"/>
            <a:chExt cx="1457325" cy="323850"/>
          </a:xfrm>
        </p:grpSpPr>
        <p:sp>
          <p:nvSpPr>
            <p:cNvPr id="59" name="object 59" descr=""/>
            <p:cNvSpPr/>
            <p:nvPr/>
          </p:nvSpPr>
          <p:spPr>
            <a:xfrm>
              <a:off x="10544174" y="65532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648449"/>
              <a:ext cx="133349" cy="133349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0955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5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741045">
              <a:lnSpc>
                <a:spcPct val="100000"/>
              </a:lnSpc>
              <a:spcBef>
                <a:spcPts val="120"/>
              </a:spcBef>
            </a:pPr>
            <a:r>
              <a:rPr dirty="0" spc="-160"/>
              <a:t>Advanced</a:t>
            </a:r>
            <a:r>
              <a:rPr dirty="0" spc="-40"/>
              <a:t> </a:t>
            </a:r>
            <a:r>
              <a:rPr dirty="0" spc="-130"/>
              <a:t>Control</a:t>
            </a:r>
            <a:r>
              <a:rPr dirty="0" spc="-85"/>
              <a:t> </a:t>
            </a:r>
            <a:r>
              <a:rPr dirty="0" spc="-135"/>
              <a:t>Techniques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499" y="1047749"/>
            <a:ext cx="10668000" cy="4286250"/>
            <a:chOff x="571499" y="1047749"/>
            <a:chExt cx="10668000" cy="4286250"/>
          </a:xfrm>
        </p:grpSpPr>
        <p:sp>
          <p:nvSpPr>
            <p:cNvPr id="4" name="object 4" descr=""/>
            <p:cNvSpPr/>
            <p:nvPr/>
          </p:nvSpPr>
          <p:spPr>
            <a:xfrm>
              <a:off x="571499" y="1047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4" y="1171574"/>
              <a:ext cx="171449" cy="1333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1499" y="24383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532" y="2552699"/>
              <a:ext cx="142934" cy="15216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1499" y="38290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49" y="3952874"/>
              <a:ext cx="190499" cy="13334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476999" y="1047749"/>
              <a:ext cx="4762500" cy="4286250"/>
            </a:xfrm>
            <a:custGeom>
              <a:avLst/>
              <a:gdLst/>
              <a:ahLst/>
              <a:cxnLst/>
              <a:rect l="l" t="t" r="r" b="b"/>
              <a:pathLst>
                <a:path w="4762500" h="4286250">
                  <a:moveTo>
                    <a:pt x="4691302" y="4286249"/>
                  </a:moveTo>
                  <a:lnTo>
                    <a:pt x="71196" y="4286249"/>
                  </a:lnTo>
                  <a:lnTo>
                    <a:pt x="66240" y="4285761"/>
                  </a:lnTo>
                  <a:lnTo>
                    <a:pt x="29705" y="4270627"/>
                  </a:lnTo>
                  <a:lnTo>
                    <a:pt x="3885" y="4234587"/>
                  </a:lnTo>
                  <a:lnTo>
                    <a:pt x="0" y="4215052"/>
                  </a:lnTo>
                  <a:lnTo>
                    <a:pt x="0" y="42100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691302" y="0"/>
                  </a:lnTo>
                  <a:lnTo>
                    <a:pt x="4732793" y="15621"/>
                  </a:lnTo>
                  <a:lnTo>
                    <a:pt x="4758612" y="51661"/>
                  </a:lnTo>
                  <a:lnTo>
                    <a:pt x="4762499" y="71196"/>
                  </a:lnTo>
                  <a:lnTo>
                    <a:pt x="4762499" y="4215052"/>
                  </a:lnTo>
                  <a:lnTo>
                    <a:pt x="4746876" y="4256543"/>
                  </a:lnTo>
                  <a:lnTo>
                    <a:pt x="4710837" y="4282363"/>
                  </a:lnTo>
                  <a:lnTo>
                    <a:pt x="4696257" y="4285761"/>
                  </a:lnTo>
                  <a:lnTo>
                    <a:pt x="4691302" y="4286249"/>
                  </a:lnTo>
                  <a:close/>
                </a:path>
              </a:pathLst>
            </a:custGeom>
            <a:solidFill>
              <a:srgbClr val="004A86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76999" y="2466974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47624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62499" y="0"/>
                  </a:lnTo>
                  <a:lnTo>
                    <a:pt x="4762499" y="9524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76999" y="1047749"/>
              <a:ext cx="1143000" cy="1419225"/>
            </a:xfrm>
            <a:custGeom>
              <a:avLst/>
              <a:gdLst/>
              <a:ahLst/>
              <a:cxnLst/>
              <a:rect l="l" t="t" r="r" b="b"/>
              <a:pathLst>
                <a:path w="1143000" h="1419225">
                  <a:moveTo>
                    <a:pt x="1142999" y="1419224"/>
                  </a:moveTo>
                  <a:lnTo>
                    <a:pt x="0" y="1419224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1419224"/>
                  </a:lnTo>
                  <a:close/>
                </a:path>
              </a:pathLst>
            </a:custGeom>
            <a:solidFill>
              <a:srgbClr val="004A8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924674" y="1471612"/>
              <a:ext cx="257175" cy="200025"/>
            </a:xfrm>
            <a:custGeom>
              <a:avLst/>
              <a:gdLst/>
              <a:ahLst/>
              <a:cxnLst/>
              <a:rect l="l" t="t" r="r" b="b"/>
              <a:pathLst>
                <a:path w="257175" h="200025">
                  <a:moveTo>
                    <a:pt x="235743" y="200025"/>
                  </a:moveTo>
                  <a:lnTo>
                    <a:pt x="207168" y="200025"/>
                  </a:lnTo>
                  <a:lnTo>
                    <a:pt x="198828" y="198340"/>
                  </a:lnTo>
                  <a:lnTo>
                    <a:pt x="192016" y="193746"/>
                  </a:lnTo>
                  <a:lnTo>
                    <a:pt x="187422" y="186933"/>
                  </a:lnTo>
                  <a:lnTo>
                    <a:pt x="185737" y="178593"/>
                  </a:lnTo>
                  <a:lnTo>
                    <a:pt x="185737" y="150018"/>
                  </a:lnTo>
                  <a:lnTo>
                    <a:pt x="187422" y="141678"/>
                  </a:lnTo>
                  <a:lnTo>
                    <a:pt x="192016" y="134866"/>
                  </a:lnTo>
                  <a:lnTo>
                    <a:pt x="198828" y="130272"/>
                  </a:lnTo>
                  <a:lnTo>
                    <a:pt x="207168" y="128587"/>
                  </a:lnTo>
                  <a:lnTo>
                    <a:pt x="210740" y="128587"/>
                  </a:lnTo>
                  <a:lnTo>
                    <a:pt x="210740" y="112335"/>
                  </a:lnTo>
                  <a:lnTo>
                    <a:pt x="209133" y="110728"/>
                  </a:lnTo>
                  <a:lnTo>
                    <a:pt x="139303" y="110728"/>
                  </a:lnTo>
                  <a:lnTo>
                    <a:pt x="139303" y="128587"/>
                  </a:lnTo>
                  <a:lnTo>
                    <a:pt x="142875" y="128587"/>
                  </a:lnTo>
                  <a:lnTo>
                    <a:pt x="151215" y="130272"/>
                  </a:lnTo>
                  <a:lnTo>
                    <a:pt x="158027" y="134866"/>
                  </a:lnTo>
                  <a:lnTo>
                    <a:pt x="162621" y="141678"/>
                  </a:lnTo>
                  <a:lnTo>
                    <a:pt x="164306" y="150018"/>
                  </a:lnTo>
                  <a:lnTo>
                    <a:pt x="164306" y="178593"/>
                  </a:lnTo>
                  <a:lnTo>
                    <a:pt x="162621" y="186933"/>
                  </a:lnTo>
                  <a:lnTo>
                    <a:pt x="158027" y="193746"/>
                  </a:lnTo>
                  <a:lnTo>
                    <a:pt x="151215" y="198340"/>
                  </a:lnTo>
                  <a:lnTo>
                    <a:pt x="142875" y="200025"/>
                  </a:lnTo>
                  <a:lnTo>
                    <a:pt x="114300" y="200025"/>
                  </a:lnTo>
                  <a:lnTo>
                    <a:pt x="105959" y="198340"/>
                  </a:lnTo>
                  <a:lnTo>
                    <a:pt x="99147" y="193746"/>
                  </a:lnTo>
                  <a:lnTo>
                    <a:pt x="94553" y="186933"/>
                  </a:lnTo>
                  <a:lnTo>
                    <a:pt x="92868" y="178593"/>
                  </a:lnTo>
                  <a:lnTo>
                    <a:pt x="92868" y="150018"/>
                  </a:lnTo>
                  <a:lnTo>
                    <a:pt x="94553" y="141678"/>
                  </a:lnTo>
                  <a:lnTo>
                    <a:pt x="99147" y="134866"/>
                  </a:lnTo>
                  <a:lnTo>
                    <a:pt x="105959" y="130272"/>
                  </a:lnTo>
                  <a:lnTo>
                    <a:pt x="114300" y="128587"/>
                  </a:lnTo>
                  <a:lnTo>
                    <a:pt x="117871" y="128587"/>
                  </a:lnTo>
                  <a:lnTo>
                    <a:pt x="117871" y="110728"/>
                  </a:lnTo>
                  <a:lnTo>
                    <a:pt x="48041" y="110728"/>
                  </a:lnTo>
                  <a:lnTo>
                    <a:pt x="46434" y="112335"/>
                  </a:lnTo>
                  <a:lnTo>
                    <a:pt x="46434" y="128587"/>
                  </a:lnTo>
                  <a:lnTo>
                    <a:pt x="50006" y="128587"/>
                  </a:lnTo>
                  <a:lnTo>
                    <a:pt x="58346" y="130272"/>
                  </a:lnTo>
                  <a:lnTo>
                    <a:pt x="65158" y="134866"/>
                  </a:lnTo>
                  <a:lnTo>
                    <a:pt x="69752" y="141678"/>
                  </a:lnTo>
                  <a:lnTo>
                    <a:pt x="71437" y="150018"/>
                  </a:lnTo>
                  <a:lnTo>
                    <a:pt x="71437" y="178593"/>
                  </a:lnTo>
                  <a:lnTo>
                    <a:pt x="69752" y="186933"/>
                  </a:lnTo>
                  <a:lnTo>
                    <a:pt x="65158" y="193746"/>
                  </a:lnTo>
                  <a:lnTo>
                    <a:pt x="58346" y="198340"/>
                  </a:lnTo>
                  <a:lnTo>
                    <a:pt x="50006" y="200025"/>
                  </a:lnTo>
                  <a:lnTo>
                    <a:pt x="21431" y="200025"/>
                  </a:lnTo>
                  <a:lnTo>
                    <a:pt x="13091" y="198340"/>
                  </a:lnTo>
                  <a:lnTo>
                    <a:pt x="6278" y="193746"/>
                  </a:lnTo>
                  <a:lnTo>
                    <a:pt x="1684" y="186933"/>
                  </a:lnTo>
                  <a:lnTo>
                    <a:pt x="0" y="178593"/>
                  </a:lnTo>
                  <a:lnTo>
                    <a:pt x="0" y="150018"/>
                  </a:lnTo>
                  <a:lnTo>
                    <a:pt x="1684" y="141678"/>
                  </a:lnTo>
                  <a:lnTo>
                    <a:pt x="6278" y="134866"/>
                  </a:lnTo>
                  <a:lnTo>
                    <a:pt x="13091" y="130272"/>
                  </a:lnTo>
                  <a:lnTo>
                    <a:pt x="21431" y="128587"/>
                  </a:lnTo>
                  <a:lnTo>
                    <a:pt x="25003" y="128587"/>
                  </a:lnTo>
                  <a:lnTo>
                    <a:pt x="25003" y="114300"/>
                  </a:lnTo>
                  <a:lnTo>
                    <a:pt x="26969" y="104572"/>
                  </a:lnTo>
                  <a:lnTo>
                    <a:pt x="32331" y="96624"/>
                  </a:lnTo>
                  <a:lnTo>
                    <a:pt x="40279" y="91263"/>
                  </a:lnTo>
                  <a:lnTo>
                    <a:pt x="50006" y="89296"/>
                  </a:lnTo>
                  <a:lnTo>
                    <a:pt x="117871" y="89296"/>
                  </a:lnTo>
                  <a:lnTo>
                    <a:pt x="117871" y="71437"/>
                  </a:lnTo>
                  <a:lnTo>
                    <a:pt x="114300" y="71437"/>
                  </a:lnTo>
                  <a:lnTo>
                    <a:pt x="105959" y="69752"/>
                  </a:lnTo>
                  <a:lnTo>
                    <a:pt x="99147" y="65158"/>
                  </a:lnTo>
                  <a:lnTo>
                    <a:pt x="94553" y="58346"/>
                  </a:lnTo>
                  <a:lnTo>
                    <a:pt x="92868" y="50006"/>
                  </a:lnTo>
                  <a:lnTo>
                    <a:pt x="92868" y="21431"/>
                  </a:lnTo>
                  <a:lnTo>
                    <a:pt x="94553" y="13091"/>
                  </a:lnTo>
                  <a:lnTo>
                    <a:pt x="99147" y="6278"/>
                  </a:lnTo>
                  <a:lnTo>
                    <a:pt x="105959" y="1684"/>
                  </a:lnTo>
                  <a:lnTo>
                    <a:pt x="114300" y="0"/>
                  </a:lnTo>
                  <a:lnTo>
                    <a:pt x="142875" y="0"/>
                  </a:lnTo>
                  <a:lnTo>
                    <a:pt x="151215" y="1684"/>
                  </a:lnTo>
                  <a:lnTo>
                    <a:pt x="158027" y="6278"/>
                  </a:lnTo>
                  <a:lnTo>
                    <a:pt x="162621" y="13091"/>
                  </a:lnTo>
                  <a:lnTo>
                    <a:pt x="164306" y="21431"/>
                  </a:lnTo>
                  <a:lnTo>
                    <a:pt x="164306" y="50006"/>
                  </a:lnTo>
                  <a:lnTo>
                    <a:pt x="162621" y="58346"/>
                  </a:lnTo>
                  <a:lnTo>
                    <a:pt x="158027" y="65158"/>
                  </a:lnTo>
                  <a:lnTo>
                    <a:pt x="151215" y="69752"/>
                  </a:lnTo>
                  <a:lnTo>
                    <a:pt x="142875" y="71437"/>
                  </a:lnTo>
                  <a:lnTo>
                    <a:pt x="139303" y="71437"/>
                  </a:lnTo>
                  <a:lnTo>
                    <a:pt x="139303" y="89296"/>
                  </a:lnTo>
                  <a:lnTo>
                    <a:pt x="207168" y="89296"/>
                  </a:lnTo>
                  <a:lnTo>
                    <a:pt x="216895" y="91263"/>
                  </a:lnTo>
                  <a:lnTo>
                    <a:pt x="224843" y="96624"/>
                  </a:lnTo>
                  <a:lnTo>
                    <a:pt x="230205" y="104572"/>
                  </a:lnTo>
                  <a:lnTo>
                    <a:pt x="232171" y="114300"/>
                  </a:lnTo>
                  <a:lnTo>
                    <a:pt x="232171" y="128587"/>
                  </a:lnTo>
                  <a:lnTo>
                    <a:pt x="235743" y="128587"/>
                  </a:lnTo>
                  <a:lnTo>
                    <a:pt x="244083" y="130272"/>
                  </a:lnTo>
                  <a:lnTo>
                    <a:pt x="250896" y="134866"/>
                  </a:lnTo>
                  <a:lnTo>
                    <a:pt x="255490" y="141678"/>
                  </a:lnTo>
                  <a:lnTo>
                    <a:pt x="257175" y="150018"/>
                  </a:lnTo>
                  <a:lnTo>
                    <a:pt x="257175" y="178593"/>
                  </a:lnTo>
                  <a:lnTo>
                    <a:pt x="255490" y="186933"/>
                  </a:lnTo>
                  <a:lnTo>
                    <a:pt x="250896" y="193746"/>
                  </a:lnTo>
                  <a:lnTo>
                    <a:pt x="244083" y="198340"/>
                  </a:lnTo>
                  <a:lnTo>
                    <a:pt x="235743" y="200025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30300" y="887412"/>
            <a:ext cx="4441825" cy="126047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650" spc="-95" b="1">
                <a:solidFill>
                  <a:srgbClr val="333333"/>
                </a:solidFill>
                <a:latin typeface="Roboto"/>
                <a:cs typeface="Roboto"/>
              </a:rPr>
              <a:t>Fuzzy</a:t>
            </a:r>
            <a:r>
              <a:rPr dirty="0" sz="1650" spc="1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333333"/>
                </a:solidFill>
                <a:latin typeface="Roboto"/>
                <a:cs typeface="Roboto"/>
              </a:rPr>
              <a:t>Logic</a:t>
            </a:r>
            <a:r>
              <a:rPr dirty="0" sz="1650" spc="1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333333"/>
                </a:solidFill>
                <a:latin typeface="Roboto"/>
                <a:cs typeface="Roboto"/>
              </a:rPr>
              <a:t>Controller</a:t>
            </a:r>
            <a:r>
              <a:rPr dirty="0" sz="1650" spc="1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20" b="1">
                <a:solidFill>
                  <a:srgbClr val="333333"/>
                </a:solidFill>
                <a:latin typeface="Roboto"/>
                <a:cs typeface="Roboto"/>
              </a:rPr>
              <a:t>(FLC)</a:t>
            </a:r>
            <a:endParaRPr sz="16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77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Handles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nonlinearity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imprecision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without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exact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mathematical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models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Uses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linguistic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rules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membership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functions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Ideal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uncertain,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variable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environments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Effectively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adapts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varying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penetration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levels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30300" y="2278062"/>
            <a:ext cx="3865245" cy="126047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650" spc="-95" b="1">
                <a:solidFill>
                  <a:srgbClr val="333333"/>
                </a:solidFill>
                <a:latin typeface="Roboto"/>
                <a:cs typeface="Roboto"/>
              </a:rPr>
              <a:t>Safe</a:t>
            </a:r>
            <a:r>
              <a:rPr dirty="0" sz="1650" spc="-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333333"/>
                </a:solidFill>
                <a:latin typeface="Roboto"/>
                <a:cs typeface="Roboto"/>
              </a:rPr>
              <a:t>Reinforcement</a:t>
            </a:r>
            <a:r>
              <a:rPr dirty="0" sz="165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333333"/>
                </a:solidFill>
                <a:latin typeface="Roboto"/>
                <a:cs typeface="Roboto"/>
              </a:rPr>
              <a:t>Learning</a:t>
            </a:r>
            <a:r>
              <a:rPr dirty="0" sz="165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333333"/>
                </a:solidFill>
                <a:latin typeface="Roboto"/>
                <a:cs typeface="Roboto"/>
              </a:rPr>
              <a:t>(Safe</a:t>
            </a:r>
            <a:r>
              <a:rPr dirty="0" sz="1650" spc="-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25" b="1">
                <a:solidFill>
                  <a:srgbClr val="333333"/>
                </a:solidFill>
                <a:latin typeface="Roboto"/>
                <a:cs typeface="Roboto"/>
              </a:rPr>
              <a:t>RL)</a:t>
            </a:r>
            <a:endParaRPr sz="16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77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Optimizes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4A5462"/>
                </a:solidFill>
                <a:latin typeface="Roboto"/>
                <a:cs typeface="Roboto"/>
              </a:rPr>
              <a:t>FACTS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setpoints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while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respecting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constraints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Learns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optimal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control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policies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through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interaction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Robust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against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model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errors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topology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changes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Balances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performance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objectives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safety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requirements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30300" y="3668712"/>
            <a:ext cx="3613150" cy="126047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650" spc="-80" b="1">
                <a:solidFill>
                  <a:srgbClr val="333333"/>
                </a:solidFill>
                <a:latin typeface="Roboto"/>
                <a:cs typeface="Roboto"/>
              </a:rPr>
              <a:t>Synergetic</a:t>
            </a:r>
            <a:r>
              <a:rPr dirty="0" sz="1650" spc="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333333"/>
                </a:solidFill>
                <a:latin typeface="Roboto"/>
                <a:cs typeface="Roboto"/>
              </a:rPr>
              <a:t>Nonlinear</a:t>
            </a:r>
            <a:r>
              <a:rPr dirty="0" sz="1650" spc="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endParaRPr sz="16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77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Direct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manipulation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of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device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dynamics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via</a:t>
            </a:r>
            <a:r>
              <a:rPr dirty="0" sz="1150" spc="3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macro-</a:t>
            </a:r>
            <a:r>
              <a:rPr dirty="0" sz="1150" spc="-35">
                <a:solidFill>
                  <a:srgbClr val="4A5462"/>
                </a:solidFill>
                <a:latin typeface="Roboto"/>
                <a:cs typeface="Roboto"/>
              </a:rPr>
              <a:t>variables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Exploits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inherent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nonlinear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nature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of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Fast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oscillation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damping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minimal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settling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Excels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4A5462"/>
                </a:solidFill>
                <a:latin typeface="Roboto"/>
                <a:cs typeface="Roboto"/>
              </a:rPr>
              <a:t>in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both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local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inter-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area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oscillation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suppression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82171" y="1834911"/>
            <a:ext cx="9328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0">
                <a:solidFill>
                  <a:srgbClr val="004A86"/>
                </a:solidFill>
                <a:latin typeface="Roboto Medium"/>
                <a:cs typeface="Roboto Medium"/>
              </a:rPr>
              <a:t>Fuzzy</a:t>
            </a:r>
            <a:r>
              <a:rPr dirty="0" sz="1500" spc="-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70" b="0">
                <a:solidFill>
                  <a:srgbClr val="004A86"/>
                </a:solidFill>
                <a:latin typeface="Roboto Medium"/>
                <a:cs typeface="Roboto Medium"/>
              </a:rPr>
              <a:t>Logic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750175" y="1086818"/>
            <a:ext cx="3044825" cy="59436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500" spc="-90" b="0">
                <a:solidFill>
                  <a:srgbClr val="004A86"/>
                </a:solidFill>
                <a:latin typeface="Roboto Medium"/>
                <a:cs typeface="Roboto Medium"/>
              </a:rPr>
              <a:t>Knowledge-</a:t>
            </a:r>
            <a:r>
              <a:rPr dirty="0" sz="1500" spc="-95" b="0">
                <a:solidFill>
                  <a:srgbClr val="004A86"/>
                </a:solidFill>
                <a:latin typeface="Roboto Medium"/>
                <a:cs typeface="Roboto Medium"/>
              </a:rPr>
              <a:t>Based</a:t>
            </a:r>
            <a:r>
              <a:rPr dirty="0" sz="1500" spc="7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10" b="0">
                <a:solidFill>
                  <a:srgbClr val="004A86"/>
                </a:solidFill>
                <a:latin typeface="Roboto Medium"/>
                <a:cs typeface="Roboto Medium"/>
              </a:rPr>
              <a:t>Approach</a:t>
            </a:r>
            <a:endParaRPr sz="1500">
              <a:latin typeface="Roboto Medium"/>
              <a:cs typeface="Roboto Medium"/>
            </a:endParaRPr>
          </a:p>
          <a:p>
            <a:pPr marL="88900" indent="-76200">
              <a:lnSpc>
                <a:spcPct val="100000"/>
              </a:lnSpc>
              <a:spcBef>
                <a:spcPts val="575"/>
              </a:spcBef>
              <a:buChar char="•"/>
              <a:tabLst>
                <a:tab pos="88900" algn="l"/>
              </a:tabLst>
            </a:pPr>
            <a:r>
              <a:rPr dirty="0" sz="1150" spc="-60">
                <a:solidFill>
                  <a:srgbClr val="545454"/>
                </a:solidFill>
                <a:latin typeface="Roboto"/>
                <a:cs typeface="Roboto"/>
              </a:rPr>
              <a:t>Transforms</a:t>
            </a:r>
            <a:r>
              <a:rPr dirty="0" sz="11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545454"/>
                </a:solidFill>
                <a:latin typeface="Roboto"/>
                <a:cs typeface="Roboto"/>
              </a:rPr>
              <a:t>expert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545454"/>
                </a:solidFill>
                <a:latin typeface="Roboto"/>
                <a:cs typeface="Roboto"/>
              </a:rPr>
              <a:t>knowledge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into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545454"/>
                </a:solidFill>
                <a:latin typeface="Roboto"/>
                <a:cs typeface="Roboto"/>
              </a:rPr>
              <a:t>actions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750175" y="1724898"/>
            <a:ext cx="242951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1440" indent="-78740">
              <a:lnSpc>
                <a:spcPct val="100000"/>
              </a:lnSpc>
              <a:spcBef>
                <a:spcPts val="114"/>
              </a:spcBef>
              <a:buChar char="•"/>
              <a:tabLst>
                <a:tab pos="91440" algn="l"/>
              </a:tabLst>
            </a:pP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Suitable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545454"/>
                </a:solidFill>
                <a:latin typeface="Roboto"/>
                <a:cs typeface="Roboto"/>
              </a:rPr>
              <a:t>for</a:t>
            </a:r>
            <a:r>
              <a:rPr dirty="0" sz="1150" spc="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545454"/>
                </a:solidFill>
                <a:latin typeface="Roboto"/>
                <a:cs typeface="Roboto"/>
              </a:rPr>
              <a:t>renewable-</a:t>
            </a:r>
            <a:r>
              <a:rPr dirty="0" sz="1150" spc="-55">
                <a:solidFill>
                  <a:srgbClr val="545454"/>
                </a:solidFill>
                <a:latin typeface="Roboto"/>
                <a:cs typeface="Roboto"/>
              </a:rPr>
              <a:t>dominated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545454"/>
                </a:solidFill>
                <a:latin typeface="Roboto"/>
                <a:cs typeface="Roboto"/>
              </a:rPr>
              <a:t>grids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750175" y="2022316"/>
            <a:ext cx="8737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666666"/>
                </a:solidFill>
                <a:latin typeface="Roboto"/>
                <a:cs typeface="Roboto"/>
              </a:rPr>
              <a:t>Response</a:t>
            </a:r>
            <a:r>
              <a:rPr dirty="0" sz="1000" spc="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666666"/>
                </a:solidFill>
                <a:latin typeface="Roboto"/>
                <a:cs typeface="Roboto"/>
              </a:rPr>
              <a:t>Speed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476999" y="2085974"/>
            <a:ext cx="4762500" cy="1819275"/>
            <a:chOff x="6476999" y="2085974"/>
            <a:chExt cx="4762500" cy="1819275"/>
          </a:xfrm>
        </p:grpSpPr>
        <p:sp>
          <p:nvSpPr>
            <p:cNvPr id="22" name="object 22" descr=""/>
            <p:cNvSpPr/>
            <p:nvPr/>
          </p:nvSpPr>
          <p:spPr>
            <a:xfrm>
              <a:off x="8715373" y="2085974"/>
              <a:ext cx="1428750" cy="76200"/>
            </a:xfrm>
            <a:custGeom>
              <a:avLst/>
              <a:gdLst/>
              <a:ahLst/>
              <a:cxnLst/>
              <a:rect l="l" t="t" r="r" b="b"/>
              <a:pathLst>
                <a:path w="1428750" h="76200">
                  <a:moveTo>
                    <a:pt x="139570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95702" y="0"/>
                  </a:lnTo>
                  <a:lnTo>
                    <a:pt x="1427781" y="28187"/>
                  </a:lnTo>
                  <a:lnTo>
                    <a:pt x="1428749" y="33047"/>
                  </a:lnTo>
                  <a:lnTo>
                    <a:pt x="1428749" y="43152"/>
                  </a:lnTo>
                  <a:lnTo>
                    <a:pt x="1400561" y="75233"/>
                  </a:lnTo>
                  <a:lnTo>
                    <a:pt x="1395702" y="761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715373" y="2085974"/>
              <a:ext cx="1000125" cy="76200"/>
            </a:xfrm>
            <a:custGeom>
              <a:avLst/>
              <a:gdLst/>
              <a:ahLst/>
              <a:cxnLst/>
              <a:rect l="l" t="t" r="r" b="b"/>
              <a:pathLst>
                <a:path w="1000125" h="76200">
                  <a:moveTo>
                    <a:pt x="9670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67077" y="0"/>
                  </a:lnTo>
                  <a:lnTo>
                    <a:pt x="999158" y="28187"/>
                  </a:lnTo>
                  <a:lnTo>
                    <a:pt x="1000124" y="33047"/>
                  </a:lnTo>
                  <a:lnTo>
                    <a:pt x="1000124" y="43152"/>
                  </a:lnTo>
                  <a:lnTo>
                    <a:pt x="971937" y="75233"/>
                  </a:lnTo>
                  <a:lnTo>
                    <a:pt x="967077" y="76199"/>
                  </a:lnTo>
                  <a:close/>
                </a:path>
              </a:pathLst>
            </a:custGeom>
            <a:solidFill>
              <a:srgbClr val="0077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715373" y="2305049"/>
              <a:ext cx="1428750" cy="76200"/>
            </a:xfrm>
            <a:custGeom>
              <a:avLst/>
              <a:gdLst/>
              <a:ahLst/>
              <a:cxnLst/>
              <a:rect l="l" t="t" r="r" b="b"/>
              <a:pathLst>
                <a:path w="1428750" h="76200">
                  <a:moveTo>
                    <a:pt x="139570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95702" y="0"/>
                  </a:lnTo>
                  <a:lnTo>
                    <a:pt x="1427781" y="28187"/>
                  </a:lnTo>
                  <a:lnTo>
                    <a:pt x="1428749" y="33047"/>
                  </a:lnTo>
                  <a:lnTo>
                    <a:pt x="1428749" y="43152"/>
                  </a:lnTo>
                  <a:lnTo>
                    <a:pt x="1400561" y="75232"/>
                  </a:lnTo>
                  <a:lnTo>
                    <a:pt x="1395702" y="761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715373" y="2305049"/>
              <a:ext cx="1219200" cy="76200"/>
            </a:xfrm>
            <a:custGeom>
              <a:avLst/>
              <a:gdLst/>
              <a:ahLst/>
              <a:cxnLst/>
              <a:rect l="l" t="t" r="r" b="b"/>
              <a:pathLst>
                <a:path w="1219200" h="76200">
                  <a:moveTo>
                    <a:pt x="118615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86152" y="0"/>
                  </a:lnTo>
                  <a:lnTo>
                    <a:pt x="1218233" y="28187"/>
                  </a:lnTo>
                  <a:lnTo>
                    <a:pt x="1219200" y="33047"/>
                  </a:lnTo>
                  <a:lnTo>
                    <a:pt x="1219200" y="43152"/>
                  </a:lnTo>
                  <a:lnTo>
                    <a:pt x="1191012" y="75232"/>
                  </a:lnTo>
                  <a:lnTo>
                    <a:pt x="1186152" y="76199"/>
                  </a:lnTo>
                  <a:close/>
                </a:path>
              </a:pathLst>
            </a:custGeom>
            <a:solidFill>
              <a:srgbClr val="0077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76999" y="3895724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47624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762499" y="0"/>
                  </a:lnTo>
                  <a:lnTo>
                    <a:pt x="4762499" y="9524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76999" y="2476499"/>
              <a:ext cx="1143000" cy="1419225"/>
            </a:xfrm>
            <a:custGeom>
              <a:avLst/>
              <a:gdLst/>
              <a:ahLst/>
              <a:cxnLst/>
              <a:rect l="l" t="t" r="r" b="b"/>
              <a:pathLst>
                <a:path w="1143000" h="1419225">
                  <a:moveTo>
                    <a:pt x="1142999" y="1419224"/>
                  </a:moveTo>
                  <a:lnTo>
                    <a:pt x="0" y="1419224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1419224"/>
                  </a:lnTo>
                  <a:close/>
                </a:path>
              </a:pathLst>
            </a:custGeom>
            <a:solidFill>
              <a:srgbClr val="004A8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1343" y="2886074"/>
              <a:ext cx="214312" cy="228242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7750175" y="2241391"/>
            <a:ext cx="6267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666666"/>
                </a:solidFill>
                <a:latin typeface="Roboto"/>
                <a:cs typeface="Roboto"/>
              </a:rPr>
              <a:t>Robustness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740822" y="3263662"/>
            <a:ext cx="6153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0">
                <a:solidFill>
                  <a:srgbClr val="004A86"/>
                </a:solidFill>
                <a:latin typeface="Roboto Medium"/>
                <a:cs typeface="Roboto Medium"/>
              </a:rPr>
              <a:t>Safe</a:t>
            </a:r>
            <a:r>
              <a:rPr dirty="0" sz="1500" spc="-1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60" b="0">
                <a:solidFill>
                  <a:srgbClr val="004A86"/>
                </a:solidFill>
                <a:latin typeface="Roboto Medium"/>
                <a:cs typeface="Roboto Medium"/>
              </a:rPr>
              <a:t>RL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750175" y="2515568"/>
            <a:ext cx="2693670" cy="59436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500" spc="-90" b="0">
                <a:solidFill>
                  <a:srgbClr val="004A86"/>
                </a:solidFill>
                <a:latin typeface="Roboto Medium"/>
                <a:cs typeface="Roboto Medium"/>
              </a:rPr>
              <a:t>Model-</a:t>
            </a:r>
            <a:r>
              <a:rPr dirty="0" sz="1500" spc="-95" b="0">
                <a:solidFill>
                  <a:srgbClr val="004A86"/>
                </a:solidFill>
                <a:latin typeface="Roboto Medium"/>
                <a:cs typeface="Roboto Medium"/>
              </a:rPr>
              <a:t>Free</a:t>
            </a:r>
            <a:r>
              <a:rPr dirty="0" sz="1500" spc="40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85" b="0">
                <a:solidFill>
                  <a:srgbClr val="004A86"/>
                </a:solidFill>
                <a:latin typeface="Roboto Medium"/>
                <a:cs typeface="Roboto Medium"/>
              </a:rPr>
              <a:t>Learning</a:t>
            </a:r>
            <a:r>
              <a:rPr dirty="0" sz="1500" spc="4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10" b="0">
                <a:solidFill>
                  <a:srgbClr val="004A86"/>
                </a:solidFill>
                <a:latin typeface="Roboto Medium"/>
                <a:cs typeface="Roboto Medium"/>
              </a:rPr>
              <a:t>Approach</a:t>
            </a:r>
            <a:endParaRPr sz="1500">
              <a:latin typeface="Roboto Medium"/>
              <a:cs typeface="Roboto Medium"/>
            </a:endParaRPr>
          </a:p>
          <a:p>
            <a:pPr marL="91440" indent="-78740">
              <a:lnSpc>
                <a:spcPct val="100000"/>
              </a:lnSpc>
              <a:spcBef>
                <a:spcPts val="575"/>
              </a:spcBef>
              <a:buChar char="•"/>
              <a:tabLst>
                <a:tab pos="91440" algn="l"/>
              </a:tabLst>
            </a:pPr>
            <a:r>
              <a:rPr dirty="0" sz="1150" spc="-55">
                <a:solidFill>
                  <a:srgbClr val="545454"/>
                </a:solidFill>
                <a:latin typeface="Roboto"/>
                <a:cs typeface="Roboto"/>
              </a:rPr>
              <a:t>Adaptive</a:t>
            </a:r>
            <a:r>
              <a:rPr dirty="0" sz="11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545454"/>
                </a:solidFill>
                <a:latin typeface="Roboto"/>
                <a:cs typeface="Roboto"/>
              </a:rPr>
              <a:t>through</a:t>
            </a:r>
            <a:r>
              <a:rPr dirty="0" sz="11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545454"/>
                </a:solidFill>
                <a:latin typeface="Roboto"/>
                <a:cs typeface="Roboto"/>
              </a:rPr>
              <a:t>system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545454"/>
                </a:solidFill>
                <a:latin typeface="Roboto"/>
                <a:cs typeface="Roboto"/>
              </a:rPr>
              <a:t>interaction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750175" y="3153648"/>
            <a:ext cx="315531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1440" indent="-78740">
              <a:lnSpc>
                <a:spcPct val="100000"/>
              </a:lnSpc>
              <a:spcBef>
                <a:spcPts val="114"/>
              </a:spcBef>
              <a:buChar char="•"/>
              <a:tabLst>
                <a:tab pos="91440" algn="l"/>
              </a:tabLst>
            </a:pP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Maintains</a:t>
            </a:r>
            <a:r>
              <a:rPr dirty="0" sz="11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constraint</a:t>
            </a:r>
            <a:r>
              <a:rPr dirty="0" sz="11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545454"/>
                </a:solidFill>
                <a:latin typeface="Roboto"/>
                <a:cs typeface="Roboto"/>
              </a:rPr>
              <a:t>satisfaction</a:t>
            </a:r>
            <a:r>
              <a:rPr dirty="0" sz="11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545454"/>
                </a:solidFill>
                <a:latin typeface="Roboto"/>
                <a:cs typeface="Roboto"/>
              </a:rPr>
              <a:t>during</a:t>
            </a:r>
            <a:r>
              <a:rPr dirty="0" sz="11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exploration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750175" y="3451066"/>
            <a:ext cx="8737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666666"/>
                </a:solidFill>
                <a:latin typeface="Roboto"/>
                <a:cs typeface="Roboto"/>
              </a:rPr>
              <a:t>Response</a:t>
            </a:r>
            <a:r>
              <a:rPr dirty="0" sz="1000" spc="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666666"/>
                </a:solidFill>
                <a:latin typeface="Roboto"/>
                <a:cs typeface="Roboto"/>
              </a:rPr>
              <a:t>Speed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476999" y="3514724"/>
            <a:ext cx="3667125" cy="1819275"/>
            <a:chOff x="6476999" y="3514724"/>
            <a:chExt cx="3667125" cy="1819275"/>
          </a:xfrm>
        </p:grpSpPr>
        <p:sp>
          <p:nvSpPr>
            <p:cNvPr id="35" name="object 35" descr=""/>
            <p:cNvSpPr/>
            <p:nvPr/>
          </p:nvSpPr>
          <p:spPr>
            <a:xfrm>
              <a:off x="8715373" y="3514724"/>
              <a:ext cx="1428750" cy="76200"/>
            </a:xfrm>
            <a:custGeom>
              <a:avLst/>
              <a:gdLst/>
              <a:ahLst/>
              <a:cxnLst/>
              <a:rect l="l" t="t" r="r" b="b"/>
              <a:pathLst>
                <a:path w="1428750" h="76200">
                  <a:moveTo>
                    <a:pt x="139570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1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95702" y="0"/>
                  </a:lnTo>
                  <a:lnTo>
                    <a:pt x="1427781" y="28186"/>
                  </a:lnTo>
                  <a:lnTo>
                    <a:pt x="1428749" y="33047"/>
                  </a:lnTo>
                  <a:lnTo>
                    <a:pt x="1428749" y="43152"/>
                  </a:lnTo>
                  <a:lnTo>
                    <a:pt x="1400561" y="75232"/>
                  </a:lnTo>
                  <a:lnTo>
                    <a:pt x="1395702" y="761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715373" y="3514724"/>
              <a:ext cx="933450" cy="76200"/>
            </a:xfrm>
            <a:custGeom>
              <a:avLst/>
              <a:gdLst/>
              <a:ahLst/>
              <a:cxnLst/>
              <a:rect l="l" t="t" r="r" b="b"/>
              <a:pathLst>
                <a:path w="933450" h="76200">
                  <a:moveTo>
                    <a:pt x="900401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1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00401" y="0"/>
                  </a:lnTo>
                  <a:lnTo>
                    <a:pt x="932482" y="28186"/>
                  </a:lnTo>
                  <a:lnTo>
                    <a:pt x="933449" y="33047"/>
                  </a:lnTo>
                  <a:lnTo>
                    <a:pt x="933449" y="43152"/>
                  </a:lnTo>
                  <a:lnTo>
                    <a:pt x="905261" y="75232"/>
                  </a:lnTo>
                  <a:lnTo>
                    <a:pt x="900401" y="76199"/>
                  </a:lnTo>
                  <a:close/>
                </a:path>
              </a:pathLst>
            </a:custGeom>
            <a:solidFill>
              <a:srgbClr val="0077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715373" y="3733799"/>
              <a:ext cx="1428750" cy="76200"/>
            </a:xfrm>
            <a:custGeom>
              <a:avLst/>
              <a:gdLst/>
              <a:ahLst/>
              <a:cxnLst/>
              <a:rect l="l" t="t" r="r" b="b"/>
              <a:pathLst>
                <a:path w="1428750" h="76200">
                  <a:moveTo>
                    <a:pt x="139570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95702" y="0"/>
                  </a:lnTo>
                  <a:lnTo>
                    <a:pt x="1427781" y="28187"/>
                  </a:lnTo>
                  <a:lnTo>
                    <a:pt x="1428749" y="33047"/>
                  </a:lnTo>
                  <a:lnTo>
                    <a:pt x="1428749" y="43152"/>
                  </a:lnTo>
                  <a:lnTo>
                    <a:pt x="1400561" y="75232"/>
                  </a:lnTo>
                  <a:lnTo>
                    <a:pt x="1395702" y="761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715373" y="3733799"/>
              <a:ext cx="1362075" cy="76200"/>
            </a:xfrm>
            <a:custGeom>
              <a:avLst/>
              <a:gdLst/>
              <a:ahLst/>
              <a:cxnLst/>
              <a:rect l="l" t="t" r="r" b="b"/>
              <a:pathLst>
                <a:path w="1362075" h="76200">
                  <a:moveTo>
                    <a:pt x="1329027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29027" y="0"/>
                  </a:lnTo>
                  <a:lnTo>
                    <a:pt x="1361108" y="28187"/>
                  </a:lnTo>
                  <a:lnTo>
                    <a:pt x="1362074" y="33047"/>
                  </a:lnTo>
                  <a:lnTo>
                    <a:pt x="1362074" y="43152"/>
                  </a:lnTo>
                  <a:lnTo>
                    <a:pt x="1333886" y="75232"/>
                  </a:lnTo>
                  <a:lnTo>
                    <a:pt x="1329027" y="76199"/>
                  </a:lnTo>
                  <a:close/>
                </a:path>
              </a:pathLst>
            </a:custGeom>
            <a:solidFill>
              <a:srgbClr val="0077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76999" y="3905249"/>
              <a:ext cx="1143000" cy="1428750"/>
            </a:xfrm>
            <a:custGeom>
              <a:avLst/>
              <a:gdLst/>
              <a:ahLst/>
              <a:cxnLst/>
              <a:rect l="l" t="t" r="r" b="b"/>
              <a:pathLst>
                <a:path w="1143000" h="1428750">
                  <a:moveTo>
                    <a:pt x="1142999" y="1428749"/>
                  </a:moveTo>
                  <a:lnTo>
                    <a:pt x="0" y="1428749"/>
                  </a:lnTo>
                  <a:lnTo>
                    <a:pt x="0" y="0"/>
                  </a:lnTo>
                  <a:lnTo>
                    <a:pt x="1142999" y="0"/>
                  </a:lnTo>
                  <a:lnTo>
                    <a:pt x="1142999" y="1428749"/>
                  </a:lnTo>
                  <a:close/>
                </a:path>
              </a:pathLst>
            </a:custGeom>
            <a:solidFill>
              <a:srgbClr val="004A8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905624" y="4338637"/>
              <a:ext cx="285750" cy="200025"/>
            </a:xfrm>
            <a:custGeom>
              <a:avLst/>
              <a:gdLst/>
              <a:ahLst/>
              <a:cxnLst/>
              <a:rect l="l" t="t" r="r" b="b"/>
              <a:pathLst>
                <a:path w="285750" h="200025">
                  <a:moveTo>
                    <a:pt x="222215" y="200025"/>
                  </a:moveTo>
                  <a:lnTo>
                    <a:pt x="134972" y="200025"/>
                  </a:lnTo>
                  <a:lnTo>
                    <a:pt x="128587" y="193640"/>
                  </a:lnTo>
                  <a:lnTo>
                    <a:pt x="128587" y="28575"/>
                  </a:lnTo>
                  <a:lnTo>
                    <a:pt x="85725" y="28575"/>
                  </a:lnTo>
                  <a:lnTo>
                    <a:pt x="85725" y="107915"/>
                  </a:lnTo>
                  <a:lnTo>
                    <a:pt x="79340" y="114300"/>
                  </a:lnTo>
                  <a:lnTo>
                    <a:pt x="6384" y="114300"/>
                  </a:lnTo>
                  <a:lnTo>
                    <a:pt x="0" y="107915"/>
                  </a:lnTo>
                  <a:lnTo>
                    <a:pt x="0" y="92109"/>
                  </a:lnTo>
                  <a:lnTo>
                    <a:pt x="6384" y="85725"/>
                  </a:lnTo>
                  <a:lnTo>
                    <a:pt x="57150" y="85725"/>
                  </a:lnTo>
                  <a:lnTo>
                    <a:pt x="57150" y="14287"/>
                  </a:lnTo>
                  <a:lnTo>
                    <a:pt x="57150" y="6384"/>
                  </a:lnTo>
                  <a:lnTo>
                    <a:pt x="63534" y="0"/>
                  </a:lnTo>
                  <a:lnTo>
                    <a:pt x="150777" y="0"/>
                  </a:lnTo>
                  <a:lnTo>
                    <a:pt x="157162" y="6384"/>
                  </a:lnTo>
                  <a:lnTo>
                    <a:pt x="157162" y="171450"/>
                  </a:lnTo>
                  <a:lnTo>
                    <a:pt x="200025" y="171450"/>
                  </a:lnTo>
                  <a:lnTo>
                    <a:pt x="200025" y="92109"/>
                  </a:lnTo>
                  <a:lnTo>
                    <a:pt x="206409" y="85725"/>
                  </a:lnTo>
                  <a:lnTo>
                    <a:pt x="279365" y="85725"/>
                  </a:lnTo>
                  <a:lnTo>
                    <a:pt x="285750" y="92109"/>
                  </a:lnTo>
                  <a:lnTo>
                    <a:pt x="285750" y="107915"/>
                  </a:lnTo>
                  <a:lnTo>
                    <a:pt x="279365" y="114300"/>
                  </a:lnTo>
                  <a:lnTo>
                    <a:pt x="228600" y="114300"/>
                  </a:lnTo>
                  <a:lnTo>
                    <a:pt x="228600" y="193640"/>
                  </a:lnTo>
                  <a:lnTo>
                    <a:pt x="222215" y="200025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7750175" y="3670141"/>
            <a:ext cx="6267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666666"/>
                </a:solidFill>
                <a:latin typeface="Roboto"/>
                <a:cs typeface="Roboto"/>
              </a:rPr>
              <a:t>Robustness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629052" y="4701936"/>
            <a:ext cx="8388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0">
                <a:solidFill>
                  <a:srgbClr val="004A86"/>
                </a:solidFill>
                <a:latin typeface="Roboto Medium"/>
                <a:cs typeface="Roboto Medium"/>
              </a:rPr>
              <a:t>Synergetic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750175" y="3944318"/>
            <a:ext cx="3209290" cy="59436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500" spc="-75" b="0">
                <a:solidFill>
                  <a:srgbClr val="004A86"/>
                </a:solidFill>
                <a:latin typeface="Roboto Medium"/>
                <a:cs typeface="Roboto Medium"/>
              </a:rPr>
              <a:t>Analytical</a:t>
            </a:r>
            <a:r>
              <a:rPr dirty="0" sz="1500" spc="-1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80" b="0">
                <a:solidFill>
                  <a:srgbClr val="004A86"/>
                </a:solidFill>
                <a:latin typeface="Roboto Medium"/>
                <a:cs typeface="Roboto Medium"/>
              </a:rPr>
              <a:t>Nonlinear</a:t>
            </a:r>
            <a:r>
              <a:rPr dirty="0" sz="1500" spc="-1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500" spc="-10" b="0">
                <a:solidFill>
                  <a:srgbClr val="004A86"/>
                </a:solidFill>
                <a:latin typeface="Roboto Medium"/>
                <a:cs typeface="Roboto Medium"/>
              </a:rPr>
              <a:t>Approach</a:t>
            </a:r>
            <a:endParaRPr sz="1500">
              <a:latin typeface="Roboto Medium"/>
              <a:cs typeface="Roboto Medium"/>
            </a:endParaRPr>
          </a:p>
          <a:p>
            <a:pPr marL="91440" indent="-78740">
              <a:lnSpc>
                <a:spcPct val="100000"/>
              </a:lnSpc>
              <a:spcBef>
                <a:spcPts val="575"/>
              </a:spcBef>
              <a:buChar char="•"/>
              <a:tabLst>
                <a:tab pos="91440" algn="l"/>
              </a:tabLst>
            </a:pPr>
            <a:r>
              <a:rPr dirty="0" sz="1150" spc="-45">
                <a:solidFill>
                  <a:srgbClr val="545454"/>
                </a:solidFill>
                <a:latin typeface="Roboto"/>
                <a:cs typeface="Roboto"/>
              </a:rPr>
              <a:t>Exploits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545454"/>
                </a:solidFill>
                <a:latin typeface="Roboto"/>
                <a:cs typeface="Roboto"/>
              </a:rPr>
              <a:t>system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545454"/>
                </a:solidFill>
                <a:latin typeface="Roboto"/>
                <a:cs typeface="Roboto"/>
              </a:rPr>
              <a:t>dynamics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via</a:t>
            </a:r>
            <a:r>
              <a:rPr dirty="0" sz="11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545454"/>
                </a:solidFill>
                <a:latin typeface="Roboto"/>
                <a:cs typeface="Roboto"/>
              </a:rPr>
              <a:t>macro-</a:t>
            </a: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variable</a:t>
            </a:r>
            <a:r>
              <a:rPr dirty="0" sz="1150" spc="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750175" y="4582397"/>
            <a:ext cx="273304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1440" indent="-78740">
              <a:lnSpc>
                <a:spcPct val="100000"/>
              </a:lnSpc>
              <a:spcBef>
                <a:spcPts val="114"/>
              </a:spcBef>
              <a:buChar char="•"/>
              <a:tabLst>
                <a:tab pos="91440" algn="l"/>
              </a:tabLst>
            </a:pP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Superior</a:t>
            </a:r>
            <a:r>
              <a:rPr dirty="0" sz="11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545454"/>
                </a:solidFill>
                <a:latin typeface="Roboto"/>
                <a:cs typeface="Roboto"/>
              </a:rPr>
              <a:t>performance</a:t>
            </a:r>
            <a:r>
              <a:rPr dirty="0" sz="11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545454"/>
                </a:solidFill>
                <a:latin typeface="Roboto"/>
                <a:cs typeface="Roboto"/>
              </a:rPr>
              <a:t>in</a:t>
            </a:r>
            <a:r>
              <a:rPr dirty="0" sz="11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545454"/>
                </a:solidFill>
                <a:latin typeface="Roboto"/>
                <a:cs typeface="Roboto"/>
              </a:rPr>
              <a:t>oscillation</a:t>
            </a:r>
            <a:r>
              <a:rPr dirty="0" sz="11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545454"/>
                </a:solidFill>
                <a:latin typeface="Roboto"/>
                <a:cs typeface="Roboto"/>
              </a:rPr>
              <a:t>damping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750175" y="4879816"/>
            <a:ext cx="8737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solidFill>
                  <a:srgbClr val="666666"/>
                </a:solidFill>
                <a:latin typeface="Roboto"/>
                <a:cs typeface="Roboto"/>
              </a:rPr>
              <a:t>Response</a:t>
            </a:r>
            <a:r>
              <a:rPr dirty="0" sz="1000" spc="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000" spc="-45">
                <a:solidFill>
                  <a:srgbClr val="666666"/>
                </a:solidFill>
                <a:latin typeface="Roboto"/>
                <a:cs typeface="Roboto"/>
              </a:rPr>
              <a:t>Speed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0" y="4943474"/>
            <a:ext cx="12192000" cy="1914525"/>
            <a:chOff x="0" y="4943474"/>
            <a:chExt cx="12192000" cy="1914525"/>
          </a:xfrm>
        </p:grpSpPr>
        <p:sp>
          <p:nvSpPr>
            <p:cNvPr id="47" name="object 47" descr=""/>
            <p:cNvSpPr/>
            <p:nvPr/>
          </p:nvSpPr>
          <p:spPr>
            <a:xfrm>
              <a:off x="8715373" y="4943474"/>
              <a:ext cx="1428750" cy="76200"/>
            </a:xfrm>
            <a:custGeom>
              <a:avLst/>
              <a:gdLst/>
              <a:ahLst/>
              <a:cxnLst/>
              <a:rect l="l" t="t" r="r" b="b"/>
              <a:pathLst>
                <a:path w="1428750" h="76200">
                  <a:moveTo>
                    <a:pt x="139570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95702" y="0"/>
                  </a:lnTo>
                  <a:lnTo>
                    <a:pt x="1427781" y="28186"/>
                  </a:lnTo>
                  <a:lnTo>
                    <a:pt x="1428749" y="33047"/>
                  </a:lnTo>
                  <a:lnTo>
                    <a:pt x="1428749" y="43152"/>
                  </a:lnTo>
                  <a:lnTo>
                    <a:pt x="1400561" y="75232"/>
                  </a:lnTo>
                  <a:lnTo>
                    <a:pt x="1395702" y="761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715373" y="4943474"/>
              <a:ext cx="1285875" cy="76200"/>
            </a:xfrm>
            <a:custGeom>
              <a:avLst/>
              <a:gdLst/>
              <a:ahLst/>
              <a:cxnLst/>
              <a:rect l="l" t="t" r="r" b="b"/>
              <a:pathLst>
                <a:path w="1285875" h="76200">
                  <a:moveTo>
                    <a:pt x="1252827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52827" y="0"/>
                  </a:lnTo>
                  <a:lnTo>
                    <a:pt x="1284908" y="28186"/>
                  </a:lnTo>
                  <a:lnTo>
                    <a:pt x="1285874" y="33047"/>
                  </a:lnTo>
                  <a:lnTo>
                    <a:pt x="1285874" y="43152"/>
                  </a:lnTo>
                  <a:lnTo>
                    <a:pt x="1257686" y="75232"/>
                  </a:lnTo>
                  <a:lnTo>
                    <a:pt x="1252827" y="76199"/>
                  </a:lnTo>
                  <a:close/>
                </a:path>
              </a:pathLst>
            </a:custGeom>
            <a:solidFill>
              <a:srgbClr val="0077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715373" y="5162549"/>
              <a:ext cx="1428750" cy="76200"/>
            </a:xfrm>
            <a:custGeom>
              <a:avLst/>
              <a:gdLst/>
              <a:ahLst/>
              <a:cxnLst/>
              <a:rect l="l" t="t" r="r" b="b"/>
              <a:pathLst>
                <a:path w="1428750" h="76200">
                  <a:moveTo>
                    <a:pt x="139570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1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395702" y="0"/>
                  </a:lnTo>
                  <a:lnTo>
                    <a:pt x="1427781" y="28186"/>
                  </a:lnTo>
                  <a:lnTo>
                    <a:pt x="1428749" y="33047"/>
                  </a:lnTo>
                  <a:lnTo>
                    <a:pt x="1428749" y="43152"/>
                  </a:lnTo>
                  <a:lnTo>
                    <a:pt x="1400561" y="75232"/>
                  </a:lnTo>
                  <a:lnTo>
                    <a:pt x="1395702" y="761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715373" y="5162549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109952" y="76199"/>
                  </a:moveTo>
                  <a:lnTo>
                    <a:pt x="33047" y="76199"/>
                  </a:lnTo>
                  <a:lnTo>
                    <a:pt x="28187" y="75232"/>
                  </a:lnTo>
                  <a:lnTo>
                    <a:pt x="966" y="48011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109952" y="0"/>
                  </a:lnTo>
                  <a:lnTo>
                    <a:pt x="1142031" y="28186"/>
                  </a:lnTo>
                  <a:lnTo>
                    <a:pt x="1142999" y="33047"/>
                  </a:lnTo>
                  <a:lnTo>
                    <a:pt x="1142999" y="43152"/>
                  </a:lnTo>
                  <a:lnTo>
                    <a:pt x="1114811" y="75232"/>
                  </a:lnTo>
                  <a:lnTo>
                    <a:pt x="1109952" y="76199"/>
                  </a:lnTo>
                  <a:close/>
                </a:path>
              </a:pathLst>
            </a:custGeom>
            <a:solidFill>
              <a:srgbClr val="0077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7750175" y="5098891"/>
            <a:ext cx="6267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666666"/>
                </a:solidFill>
                <a:latin typeface="Roboto"/>
                <a:cs typeface="Roboto"/>
              </a:rPr>
              <a:t>Robustness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5" name="object 5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6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Multi-</a:t>
            </a:r>
            <a:r>
              <a:rPr dirty="0" spc="-150"/>
              <a:t>Agent</a:t>
            </a:r>
            <a:r>
              <a:rPr dirty="0" spc="-10"/>
              <a:t> </a:t>
            </a:r>
            <a:r>
              <a:rPr dirty="0" spc="-130"/>
              <a:t>Coordination</a:t>
            </a:r>
            <a:r>
              <a:rPr dirty="0" spc="-15"/>
              <a:t> </a:t>
            </a:r>
            <a:r>
              <a:rPr dirty="0" spc="-135"/>
              <a:t>Framework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499" y="1047749"/>
            <a:ext cx="381000" cy="381000"/>
            <a:chOff x="571499" y="1047749"/>
            <a:chExt cx="381000" cy="381000"/>
          </a:xfrm>
        </p:grpSpPr>
        <p:sp>
          <p:nvSpPr>
            <p:cNvPr id="4" name="object 4" descr=""/>
            <p:cNvSpPr/>
            <p:nvPr/>
          </p:nvSpPr>
          <p:spPr>
            <a:xfrm>
              <a:off x="571499" y="1047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1162049"/>
              <a:ext cx="190499" cy="1523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30300" y="995949"/>
            <a:ext cx="4518660" cy="12852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through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centralized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distributed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agent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architecture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9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Central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coordinator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global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optimization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Local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agents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for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device-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specific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control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Real-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r>
              <a:rPr dirty="0" sz="1150" spc="3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communication</a:t>
            </a:r>
            <a:r>
              <a:rPr dirty="0" sz="1150" spc="4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protocols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71499" y="2666999"/>
            <a:ext cx="381000" cy="381000"/>
            <a:chOff x="571499" y="2666999"/>
            <a:chExt cx="381000" cy="381000"/>
          </a:xfrm>
        </p:grpSpPr>
        <p:sp>
          <p:nvSpPr>
            <p:cNvPr id="8" name="object 8" descr=""/>
            <p:cNvSpPr/>
            <p:nvPr/>
          </p:nvSpPr>
          <p:spPr>
            <a:xfrm>
              <a:off x="571499" y="26669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799" y="2781299"/>
              <a:ext cx="152399" cy="15239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130300" y="2473114"/>
            <a:ext cx="4897120" cy="112268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Expert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Decision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(EDS)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dynamic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333333"/>
                </a:solidFill>
                <a:latin typeface="Roboto"/>
                <a:cs typeface="Roboto"/>
              </a:rPr>
              <a:t>operation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15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Rule-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based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5">
                <a:solidFill>
                  <a:srgbClr val="4A5462"/>
                </a:solidFill>
                <a:latin typeface="Roboto"/>
                <a:cs typeface="Roboto"/>
              </a:rPr>
              <a:t>mode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selection</a:t>
            </a:r>
            <a:r>
              <a:rPr dirty="0" sz="1150" spc="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logic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Optimal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setpoint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allocation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Reactive/active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balancing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71499" y="3981449"/>
            <a:ext cx="381000" cy="381000"/>
            <a:chOff x="571499" y="3981449"/>
            <a:chExt cx="381000" cy="381000"/>
          </a:xfrm>
        </p:grpSpPr>
        <p:sp>
          <p:nvSpPr>
            <p:cNvPr id="12" name="object 12" descr=""/>
            <p:cNvSpPr/>
            <p:nvPr/>
          </p:nvSpPr>
          <p:spPr>
            <a:xfrm>
              <a:off x="571499" y="39814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046" y="4094946"/>
              <a:ext cx="115907" cy="154007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130300" y="3945175"/>
            <a:ext cx="4154170" cy="974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Intelligent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0">
                <a:solidFill>
                  <a:srgbClr val="333333"/>
                </a:solidFill>
                <a:latin typeface="Roboto"/>
                <a:cs typeface="Roboto"/>
              </a:rPr>
              <a:t>resilience</a:t>
            </a:r>
            <a:endParaRPr sz="180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89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Fast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response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to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disturbances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Energy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balance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between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AC-</a:t>
            </a:r>
            <a:r>
              <a:rPr dirty="0" sz="1150" spc="-80">
                <a:solidFill>
                  <a:srgbClr val="4A5462"/>
                </a:solidFill>
                <a:latin typeface="Roboto"/>
                <a:cs typeface="Roboto"/>
              </a:rPr>
              <a:t>DC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Adaptive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priority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management</a:t>
            </a:r>
            <a:endParaRPr sz="1150">
              <a:latin typeface="Roboto"/>
              <a:cs typeface="Roboto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1047749"/>
            <a:ext cx="6667499" cy="43814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7448500" y="3440683"/>
            <a:ext cx="723900" cy="4826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00" spc="-90" b="0">
                <a:solidFill>
                  <a:srgbClr val="004A86"/>
                </a:solidFill>
                <a:latin typeface="Roboto Medium"/>
                <a:cs typeface="Roboto Medium"/>
              </a:rPr>
              <a:t>STATCOM</a:t>
            </a:r>
            <a:endParaRPr sz="13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300" spc="-10" b="0">
                <a:solidFill>
                  <a:srgbClr val="004A86"/>
                </a:solidFill>
                <a:latin typeface="Roboto Medium"/>
                <a:cs typeface="Roboto Medium"/>
              </a:rPr>
              <a:t>Agent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43143" y="3440683"/>
            <a:ext cx="430530" cy="4826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00" spc="-25" b="0">
                <a:solidFill>
                  <a:srgbClr val="004A86"/>
                </a:solidFill>
                <a:latin typeface="Roboto Medium"/>
                <a:cs typeface="Roboto Medium"/>
              </a:rPr>
              <a:t>SVC</a:t>
            </a:r>
            <a:endParaRPr sz="13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300" spc="-50" b="0">
                <a:solidFill>
                  <a:srgbClr val="004A86"/>
                </a:solidFill>
                <a:latin typeface="Roboto Medium"/>
                <a:cs typeface="Roboto Medium"/>
              </a:rPr>
              <a:t>Agent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690892" y="3440683"/>
            <a:ext cx="430530" cy="4826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300" spc="-20" b="0">
                <a:solidFill>
                  <a:srgbClr val="004A86"/>
                </a:solidFill>
                <a:latin typeface="Roboto Medium"/>
                <a:cs typeface="Roboto Medium"/>
              </a:rPr>
              <a:t>UPFC</a:t>
            </a:r>
            <a:endParaRPr sz="13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300" spc="-50" b="0">
                <a:solidFill>
                  <a:srgbClr val="004A86"/>
                </a:solidFill>
                <a:latin typeface="Roboto Medium"/>
                <a:cs typeface="Roboto Medium"/>
              </a:rPr>
              <a:t>Agent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14218" y="1198880"/>
            <a:ext cx="132588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 b="0">
                <a:solidFill>
                  <a:srgbClr val="004A86"/>
                </a:solidFill>
                <a:latin typeface="Roboto Medium"/>
                <a:cs typeface="Roboto Medium"/>
              </a:rPr>
              <a:t>Power</a:t>
            </a:r>
            <a:r>
              <a:rPr dirty="0" sz="1300" spc="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300" spc="-70" b="0">
                <a:solidFill>
                  <a:srgbClr val="004A86"/>
                </a:solidFill>
                <a:latin typeface="Roboto Medium"/>
                <a:cs typeface="Roboto Medium"/>
              </a:rPr>
              <a:t>System</a:t>
            </a:r>
            <a:r>
              <a:rPr dirty="0" sz="1300" spc="10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300" spc="-30" b="0">
                <a:solidFill>
                  <a:srgbClr val="004A86"/>
                </a:solidFill>
                <a:latin typeface="Roboto Medium"/>
                <a:cs typeface="Roboto Medium"/>
              </a:rPr>
              <a:t>Grid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0" y="1333499"/>
            <a:ext cx="12192000" cy="5524500"/>
            <a:chOff x="0" y="1333499"/>
            <a:chExt cx="12192000" cy="5524500"/>
          </a:xfrm>
        </p:grpSpPr>
        <p:sp>
          <p:nvSpPr>
            <p:cNvPr id="21" name="object 21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810487" y="2095499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9050" y="1905000"/>
                  </a:moveTo>
                  <a:lnTo>
                    <a:pt x="0" y="1905000"/>
                  </a:lnTo>
                  <a:lnTo>
                    <a:pt x="0" y="2381250"/>
                  </a:lnTo>
                  <a:lnTo>
                    <a:pt x="19050" y="2381250"/>
                  </a:lnTo>
                  <a:lnTo>
                    <a:pt x="19050" y="1905000"/>
                  </a:lnTo>
                  <a:close/>
                </a:path>
                <a:path w="2095500" h="2381250">
                  <a:moveTo>
                    <a:pt x="1066800" y="1905000"/>
                  </a:moveTo>
                  <a:lnTo>
                    <a:pt x="1047750" y="1905000"/>
                  </a:lnTo>
                  <a:lnTo>
                    <a:pt x="1047750" y="2381250"/>
                  </a:lnTo>
                  <a:lnTo>
                    <a:pt x="1066800" y="2381250"/>
                  </a:lnTo>
                  <a:lnTo>
                    <a:pt x="1066800" y="1905000"/>
                  </a:lnTo>
                  <a:close/>
                </a:path>
                <a:path w="2095500" h="2381250">
                  <a:moveTo>
                    <a:pt x="1066800" y="0"/>
                  </a:moveTo>
                  <a:lnTo>
                    <a:pt x="1047750" y="0"/>
                  </a:lnTo>
                  <a:lnTo>
                    <a:pt x="1047750" y="285750"/>
                  </a:lnTo>
                  <a:lnTo>
                    <a:pt x="1066800" y="285750"/>
                  </a:lnTo>
                  <a:lnTo>
                    <a:pt x="1066800" y="0"/>
                  </a:lnTo>
                  <a:close/>
                </a:path>
                <a:path w="2095500" h="2381250">
                  <a:moveTo>
                    <a:pt x="2095500" y="1905000"/>
                  </a:moveTo>
                  <a:lnTo>
                    <a:pt x="2076450" y="1905000"/>
                  </a:lnTo>
                  <a:lnTo>
                    <a:pt x="2076450" y="2381250"/>
                  </a:lnTo>
                  <a:lnTo>
                    <a:pt x="2095500" y="2381250"/>
                  </a:lnTo>
                  <a:lnTo>
                    <a:pt x="2095500" y="1905000"/>
                  </a:lnTo>
                  <a:close/>
                </a:path>
                <a:path w="2095500" h="2381250">
                  <a:moveTo>
                    <a:pt x="2095500" y="952500"/>
                  </a:moveTo>
                  <a:lnTo>
                    <a:pt x="2095500" y="952500"/>
                  </a:lnTo>
                  <a:lnTo>
                    <a:pt x="0" y="952500"/>
                  </a:lnTo>
                  <a:lnTo>
                    <a:pt x="0" y="971550"/>
                  </a:lnTo>
                  <a:lnTo>
                    <a:pt x="0" y="1333500"/>
                  </a:lnTo>
                  <a:lnTo>
                    <a:pt x="19050" y="1333500"/>
                  </a:lnTo>
                  <a:lnTo>
                    <a:pt x="19050" y="971550"/>
                  </a:lnTo>
                  <a:lnTo>
                    <a:pt x="1047750" y="971550"/>
                  </a:lnTo>
                  <a:lnTo>
                    <a:pt x="1047750" y="1333500"/>
                  </a:lnTo>
                  <a:lnTo>
                    <a:pt x="1066800" y="1333500"/>
                  </a:lnTo>
                  <a:lnTo>
                    <a:pt x="1066800" y="971550"/>
                  </a:lnTo>
                  <a:lnTo>
                    <a:pt x="2076450" y="971550"/>
                  </a:lnTo>
                  <a:lnTo>
                    <a:pt x="2076450" y="1333500"/>
                  </a:lnTo>
                  <a:lnTo>
                    <a:pt x="2095500" y="1333500"/>
                  </a:lnTo>
                  <a:lnTo>
                    <a:pt x="2095500" y="971550"/>
                  </a:lnTo>
                  <a:lnTo>
                    <a:pt x="2095500" y="952500"/>
                  </a:lnTo>
                  <a:close/>
                </a:path>
              </a:pathLst>
            </a:custGeom>
            <a:solidFill>
              <a:srgbClr val="004A86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096250" y="1333499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1452803" y="761999"/>
                  </a:moveTo>
                  <a:lnTo>
                    <a:pt x="71196" y="761999"/>
                  </a:lnTo>
                  <a:lnTo>
                    <a:pt x="66241" y="761511"/>
                  </a:lnTo>
                  <a:lnTo>
                    <a:pt x="29705" y="746378"/>
                  </a:lnTo>
                  <a:lnTo>
                    <a:pt x="3885" y="710337"/>
                  </a:lnTo>
                  <a:lnTo>
                    <a:pt x="0" y="690803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452803" y="0"/>
                  </a:lnTo>
                  <a:lnTo>
                    <a:pt x="1494294" y="15621"/>
                  </a:lnTo>
                  <a:lnTo>
                    <a:pt x="1520114" y="51662"/>
                  </a:lnTo>
                  <a:lnTo>
                    <a:pt x="1523999" y="71196"/>
                  </a:lnTo>
                  <a:lnTo>
                    <a:pt x="1523999" y="690803"/>
                  </a:lnTo>
                  <a:lnTo>
                    <a:pt x="1508378" y="732294"/>
                  </a:lnTo>
                  <a:lnTo>
                    <a:pt x="1472337" y="758114"/>
                  </a:lnTo>
                  <a:lnTo>
                    <a:pt x="1457758" y="761511"/>
                  </a:lnTo>
                  <a:lnTo>
                    <a:pt x="1452803" y="761999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179097" y="1579880"/>
            <a:ext cx="135826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 b="0">
                <a:solidFill>
                  <a:srgbClr val="004A86"/>
                </a:solidFill>
                <a:latin typeface="Roboto Medium"/>
                <a:cs typeface="Roboto Medium"/>
              </a:rPr>
              <a:t>Central</a:t>
            </a:r>
            <a:r>
              <a:rPr dirty="0" sz="1300" spc="-30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300" spc="-55" b="0">
                <a:solidFill>
                  <a:srgbClr val="004A86"/>
                </a:solidFill>
                <a:latin typeface="Roboto Medium"/>
                <a:cs typeface="Roboto Medium"/>
              </a:rPr>
              <a:t>Coordinator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7905750" y="2381249"/>
            <a:ext cx="1905000" cy="666750"/>
          </a:xfrm>
          <a:custGeom>
            <a:avLst/>
            <a:gdLst/>
            <a:ahLst/>
            <a:cxnLst/>
            <a:rect l="l" t="t" r="r" b="b"/>
            <a:pathLst>
              <a:path w="1905000" h="666750">
                <a:moveTo>
                  <a:pt x="1833803" y="666749"/>
                </a:moveTo>
                <a:lnTo>
                  <a:pt x="71196" y="666749"/>
                </a:lnTo>
                <a:lnTo>
                  <a:pt x="66241" y="666261"/>
                </a:lnTo>
                <a:lnTo>
                  <a:pt x="29705" y="651128"/>
                </a:lnTo>
                <a:lnTo>
                  <a:pt x="3885" y="615087"/>
                </a:lnTo>
                <a:lnTo>
                  <a:pt x="0" y="595553"/>
                </a:lnTo>
                <a:lnTo>
                  <a:pt x="0" y="590549"/>
                </a:lnTo>
                <a:lnTo>
                  <a:pt x="0" y="71196"/>
                </a:lnTo>
                <a:lnTo>
                  <a:pt x="15621" y="29705"/>
                </a:lnTo>
                <a:lnTo>
                  <a:pt x="51662" y="3885"/>
                </a:lnTo>
                <a:lnTo>
                  <a:pt x="71196" y="0"/>
                </a:lnTo>
                <a:lnTo>
                  <a:pt x="1833803" y="0"/>
                </a:lnTo>
                <a:lnTo>
                  <a:pt x="1875294" y="15621"/>
                </a:lnTo>
                <a:lnTo>
                  <a:pt x="1901113" y="51662"/>
                </a:lnTo>
                <a:lnTo>
                  <a:pt x="1904999" y="71196"/>
                </a:lnTo>
                <a:lnTo>
                  <a:pt x="1904999" y="595553"/>
                </a:lnTo>
                <a:lnTo>
                  <a:pt x="1889377" y="637044"/>
                </a:lnTo>
                <a:lnTo>
                  <a:pt x="1853337" y="662864"/>
                </a:lnTo>
                <a:lnTo>
                  <a:pt x="1838758" y="666261"/>
                </a:lnTo>
                <a:lnTo>
                  <a:pt x="1833803" y="666749"/>
                </a:lnTo>
                <a:close/>
              </a:path>
            </a:pathLst>
          </a:custGeom>
          <a:solidFill>
            <a:srgbClr val="FFD600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8039199" y="2580004"/>
            <a:ext cx="16383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 b="0">
                <a:solidFill>
                  <a:srgbClr val="004A86"/>
                </a:solidFill>
                <a:latin typeface="Roboto Medium"/>
                <a:cs typeface="Roboto Medium"/>
              </a:rPr>
              <a:t>Expert</a:t>
            </a:r>
            <a:r>
              <a:rPr dirty="0" sz="1300" spc="-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300" spc="-55" b="0">
                <a:solidFill>
                  <a:srgbClr val="004A86"/>
                </a:solidFill>
                <a:latin typeface="Roboto Medium"/>
                <a:cs typeface="Roboto Medium"/>
              </a:rPr>
              <a:t>Decision</a:t>
            </a:r>
            <a:r>
              <a:rPr dirty="0" sz="1300" spc="-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300" spc="-50" b="0">
                <a:solidFill>
                  <a:srgbClr val="004A86"/>
                </a:solidFill>
                <a:latin typeface="Roboto Medium"/>
                <a:cs typeface="Roboto Medium"/>
              </a:rPr>
              <a:t>System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28" name="object 2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6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109980">
              <a:lnSpc>
                <a:spcPct val="100000"/>
              </a:lnSpc>
              <a:spcBef>
                <a:spcPts val="120"/>
              </a:spcBef>
            </a:pPr>
            <a:r>
              <a:rPr dirty="0" spc="-135"/>
              <a:t>Simulation</a:t>
            </a:r>
            <a:r>
              <a:rPr dirty="0" spc="5"/>
              <a:t> </a:t>
            </a:r>
            <a:r>
              <a:rPr dirty="0" spc="-130"/>
              <a:t>Methodology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499" y="1047749"/>
            <a:ext cx="10429875" cy="4219575"/>
            <a:chOff x="571499" y="1047749"/>
            <a:chExt cx="10429875" cy="4219575"/>
          </a:xfrm>
        </p:grpSpPr>
        <p:sp>
          <p:nvSpPr>
            <p:cNvPr id="4" name="object 4" descr=""/>
            <p:cNvSpPr/>
            <p:nvPr/>
          </p:nvSpPr>
          <p:spPr>
            <a:xfrm>
              <a:off x="571499" y="10477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49" y="1171574"/>
              <a:ext cx="190499" cy="1333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1499" y="22288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46" y="2342346"/>
              <a:ext cx="115907" cy="15400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1499" y="34099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3533774"/>
              <a:ext cx="152399" cy="13334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71499" y="45910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8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0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243" y="4705349"/>
              <a:ext cx="191184" cy="15239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715124" y="1552574"/>
              <a:ext cx="4286250" cy="3714750"/>
            </a:xfrm>
            <a:custGeom>
              <a:avLst/>
              <a:gdLst/>
              <a:ahLst/>
              <a:cxnLst/>
              <a:rect l="l" t="t" r="r" b="b"/>
              <a:pathLst>
                <a:path w="4286250" h="3714750">
                  <a:moveTo>
                    <a:pt x="4215052" y="3714749"/>
                  </a:moveTo>
                  <a:lnTo>
                    <a:pt x="71196" y="3714749"/>
                  </a:lnTo>
                  <a:lnTo>
                    <a:pt x="66240" y="3714260"/>
                  </a:lnTo>
                  <a:lnTo>
                    <a:pt x="29704" y="3699127"/>
                  </a:lnTo>
                  <a:lnTo>
                    <a:pt x="3885" y="3663087"/>
                  </a:lnTo>
                  <a:lnTo>
                    <a:pt x="0" y="3643552"/>
                  </a:lnTo>
                  <a:lnTo>
                    <a:pt x="0" y="36385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215052" y="0"/>
                  </a:lnTo>
                  <a:lnTo>
                    <a:pt x="4256543" y="15621"/>
                  </a:lnTo>
                  <a:lnTo>
                    <a:pt x="4282362" y="51661"/>
                  </a:lnTo>
                  <a:lnTo>
                    <a:pt x="4286248" y="71196"/>
                  </a:lnTo>
                  <a:lnTo>
                    <a:pt x="4286248" y="3643552"/>
                  </a:lnTo>
                  <a:lnTo>
                    <a:pt x="4270626" y="3685042"/>
                  </a:lnTo>
                  <a:lnTo>
                    <a:pt x="4234585" y="3710863"/>
                  </a:lnTo>
                  <a:lnTo>
                    <a:pt x="4220008" y="3714260"/>
                  </a:lnTo>
                  <a:lnTo>
                    <a:pt x="4215052" y="3714749"/>
                  </a:lnTo>
                  <a:close/>
                </a:path>
              </a:pathLst>
            </a:custGeom>
            <a:solidFill>
              <a:srgbClr val="004A86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00999" y="1838324"/>
              <a:ext cx="1714500" cy="571500"/>
            </a:xfrm>
            <a:custGeom>
              <a:avLst/>
              <a:gdLst/>
              <a:ahLst/>
              <a:cxnLst/>
              <a:rect l="l" t="t" r="r" b="b"/>
              <a:pathLst>
                <a:path w="1714500" h="571500">
                  <a:moveTo>
                    <a:pt x="1643303" y="571499"/>
                  </a:moveTo>
                  <a:lnTo>
                    <a:pt x="71196" y="571499"/>
                  </a:lnTo>
                  <a:lnTo>
                    <a:pt x="66240" y="571011"/>
                  </a:lnTo>
                  <a:lnTo>
                    <a:pt x="29705" y="555877"/>
                  </a:lnTo>
                  <a:lnTo>
                    <a:pt x="3885" y="519837"/>
                  </a:lnTo>
                  <a:lnTo>
                    <a:pt x="0" y="500303"/>
                  </a:lnTo>
                  <a:lnTo>
                    <a:pt x="0" y="495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643303" y="0"/>
                  </a:lnTo>
                  <a:lnTo>
                    <a:pt x="1684793" y="15621"/>
                  </a:lnTo>
                  <a:lnTo>
                    <a:pt x="1710612" y="51661"/>
                  </a:lnTo>
                  <a:lnTo>
                    <a:pt x="1714499" y="71196"/>
                  </a:lnTo>
                  <a:lnTo>
                    <a:pt x="1714499" y="500303"/>
                  </a:lnTo>
                  <a:lnTo>
                    <a:pt x="1698877" y="541794"/>
                  </a:lnTo>
                  <a:lnTo>
                    <a:pt x="1662836" y="567614"/>
                  </a:lnTo>
                  <a:lnTo>
                    <a:pt x="1648258" y="571011"/>
                  </a:lnTo>
                  <a:lnTo>
                    <a:pt x="1643303" y="571499"/>
                  </a:lnTo>
                  <a:close/>
                </a:path>
              </a:pathLst>
            </a:custGeom>
            <a:solidFill>
              <a:srgbClr val="004A8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30300" y="891494"/>
            <a:ext cx="4708525" cy="104648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spc="-95">
                <a:solidFill>
                  <a:srgbClr val="333333"/>
                </a:solidFill>
                <a:latin typeface="Roboto"/>
                <a:cs typeface="Roboto"/>
              </a:rPr>
              <a:t>Models</a:t>
            </a:r>
            <a:r>
              <a:rPr dirty="0" sz="16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implemented</a:t>
            </a:r>
            <a:r>
              <a:rPr dirty="0" sz="16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MATLAB/Simulink</a:t>
            </a:r>
            <a:r>
              <a:rPr dirty="0" sz="16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environment</a:t>
            </a:r>
            <a:endParaRPr sz="16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695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IEEE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test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systems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(14-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bus,</a:t>
            </a:r>
            <a:r>
              <a:rPr dirty="0" sz="1150" spc="2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57-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bus)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Hybrid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generation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35.5%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renewable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penetration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Detailed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4A5462"/>
                </a:solidFill>
                <a:latin typeface="Roboto"/>
                <a:cs typeface="Roboto"/>
              </a:rPr>
              <a:t>FACTS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device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models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with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control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interfaces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30300" y="2194718"/>
            <a:ext cx="326453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Comprehensive</a:t>
            </a:r>
            <a:r>
              <a:rPr dirty="0" sz="165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disturbance</a:t>
            </a:r>
            <a:r>
              <a:rPr dirty="0" sz="165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5">
                <a:solidFill>
                  <a:srgbClr val="333333"/>
                </a:solidFill>
                <a:latin typeface="Roboto"/>
                <a:cs typeface="Roboto"/>
              </a:rPr>
              <a:t>scenarios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30300" y="2522045"/>
            <a:ext cx="3159125" cy="5969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82550" indent="-69850">
              <a:lnSpc>
                <a:spcPct val="100000"/>
              </a:lnSpc>
              <a:spcBef>
                <a:spcPts val="215"/>
              </a:spcBef>
              <a:buChar char="-"/>
              <a:tabLst>
                <a:tab pos="82550" algn="l"/>
              </a:tabLst>
            </a:pPr>
            <a:r>
              <a:rPr dirty="0" sz="1150" spc="-75">
                <a:solidFill>
                  <a:srgbClr val="4A5462"/>
                </a:solidFill>
                <a:latin typeface="Roboto"/>
                <a:cs typeface="Roboto"/>
              </a:rPr>
              <a:t>20%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step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load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changes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at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t=1s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Wind/solar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generation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fluctuations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(±15%)</a:t>
            </a:r>
            <a:endParaRPr sz="1150">
              <a:latin typeface="Roboto"/>
              <a:cs typeface="Roboto"/>
            </a:endParaRPr>
          </a:p>
          <a:p>
            <a:pPr marL="80010" indent="-67310">
              <a:lnSpc>
                <a:spcPct val="100000"/>
              </a:lnSpc>
              <a:spcBef>
                <a:spcPts val="120"/>
              </a:spcBef>
              <a:buChar char="-"/>
              <a:tabLst>
                <a:tab pos="8001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Three-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phase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fault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(100ms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duration)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at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critical</a:t>
            </a:r>
            <a:r>
              <a:rPr dirty="0" sz="1150" spc="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buses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30300" y="3253694"/>
            <a:ext cx="4055745" cy="104648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Performance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metrics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evaluation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framework</a:t>
            </a:r>
            <a:endParaRPr sz="16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695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Frequency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metrics: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4A5462"/>
                </a:solidFill>
                <a:latin typeface="Roboto"/>
                <a:cs typeface="Roboto"/>
              </a:rPr>
              <a:t>ITAE,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settling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time,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nadir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Voltage</a:t>
            </a:r>
            <a:r>
              <a:rPr dirty="0" sz="115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metrics: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deviation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RMS,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recovery</a:t>
            </a:r>
            <a:r>
              <a:rPr dirty="0" sz="1150" spc="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time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System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4A5462"/>
                </a:solidFill>
                <a:latin typeface="Roboto"/>
                <a:cs typeface="Roboto"/>
              </a:rPr>
              <a:t>stability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index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and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power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quality</a:t>
            </a:r>
            <a:r>
              <a:rPr dirty="0" sz="1150" spc="-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metrics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30300" y="4434794"/>
            <a:ext cx="3403600" cy="104648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Comparative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analysis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methodology</a:t>
            </a:r>
            <a:endParaRPr sz="16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695"/>
              </a:spcBef>
              <a:buChar char="-"/>
              <a:tabLst>
                <a:tab pos="82550" algn="l"/>
              </a:tabLst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Classical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controllers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4A5462"/>
                </a:solidFill>
                <a:latin typeface="Roboto"/>
                <a:cs typeface="Roboto"/>
              </a:rPr>
              <a:t>(PI,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PID)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as</a:t>
            </a:r>
            <a:r>
              <a:rPr dirty="0" sz="1150" spc="-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baseline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Individual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vs.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coordinated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90">
                <a:solidFill>
                  <a:srgbClr val="4A5462"/>
                </a:solidFill>
                <a:latin typeface="Roboto"/>
                <a:cs typeface="Roboto"/>
              </a:rPr>
              <a:t>FACTS</a:t>
            </a:r>
            <a:r>
              <a:rPr dirty="0" sz="1150" spc="-15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4A5462"/>
                </a:solidFill>
                <a:latin typeface="Roboto"/>
                <a:cs typeface="Roboto"/>
              </a:rPr>
              <a:t>operation</a:t>
            </a:r>
            <a:endParaRPr sz="1150">
              <a:latin typeface="Roboto"/>
              <a:cs typeface="Roboto"/>
            </a:endParaRPr>
          </a:p>
          <a:p>
            <a:pPr marL="82550" indent="-69850">
              <a:lnSpc>
                <a:spcPct val="100000"/>
              </a:lnSpc>
              <a:spcBef>
                <a:spcPts val="120"/>
              </a:spcBef>
              <a:buChar char="-"/>
              <a:tabLst>
                <a:tab pos="82550" algn="l"/>
              </a:tabLst>
            </a:pP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With/without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4A5462"/>
                </a:solidFill>
                <a:latin typeface="Roboto"/>
                <a:cs typeface="Roboto"/>
              </a:rPr>
              <a:t>model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4A5462"/>
                </a:solidFill>
                <a:latin typeface="Roboto"/>
                <a:cs typeface="Roboto"/>
              </a:rPr>
              <a:t>errors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4A5462"/>
                </a:solidFill>
                <a:latin typeface="Roboto"/>
                <a:cs typeface="Roboto"/>
              </a:rPr>
              <a:t>(5-</a:t>
            </a:r>
            <a:r>
              <a:rPr dirty="0" sz="1150" spc="-75">
                <a:solidFill>
                  <a:srgbClr val="4A5462"/>
                </a:solidFill>
                <a:latin typeface="Roboto"/>
                <a:cs typeface="Roboto"/>
              </a:rPr>
              <a:t>20%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4A5462"/>
                </a:solidFill>
                <a:latin typeface="Roboto"/>
                <a:cs typeface="Roboto"/>
              </a:rPr>
              <a:t>parameter</a:t>
            </a:r>
            <a:r>
              <a:rPr dirty="0" sz="1150" spc="2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4A5462"/>
                </a:solidFill>
                <a:latin typeface="Roboto"/>
                <a:cs typeface="Roboto"/>
              </a:rPr>
              <a:t>mismatch)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001694" y="2010648"/>
            <a:ext cx="171323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0">
                <a:solidFill>
                  <a:srgbClr val="FFFFFF"/>
                </a:solidFill>
                <a:latin typeface="Roboto Medium"/>
                <a:cs typeface="Roboto Medium"/>
              </a:rPr>
              <a:t>Hybrid</a:t>
            </a:r>
            <a:r>
              <a:rPr dirty="0" sz="1150" spc="-1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65" b="0">
                <a:solidFill>
                  <a:srgbClr val="FFFFFF"/>
                </a:solidFill>
                <a:latin typeface="Roboto Medium"/>
                <a:cs typeface="Roboto Medium"/>
              </a:rPr>
              <a:t>Power</a:t>
            </a:r>
            <a:r>
              <a:rPr dirty="0" sz="1150" spc="-5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60" b="0">
                <a:solidFill>
                  <a:srgbClr val="FFFFFF"/>
                </a:solidFill>
                <a:latin typeface="Roboto Medium"/>
                <a:cs typeface="Roboto Medium"/>
              </a:rPr>
              <a:t>System</a:t>
            </a:r>
            <a:r>
              <a:rPr dirty="0" sz="1150" spc="-1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35" b="0">
                <a:solidFill>
                  <a:srgbClr val="FFFFFF"/>
                </a:solidFill>
                <a:latin typeface="Roboto Medium"/>
                <a:cs typeface="Roboto Medium"/>
              </a:rPr>
              <a:t>Model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477123" y="2409824"/>
            <a:ext cx="1504950" cy="714375"/>
            <a:chOff x="7477123" y="2409824"/>
            <a:chExt cx="1504950" cy="714375"/>
          </a:xfrm>
        </p:grpSpPr>
        <p:sp>
          <p:nvSpPr>
            <p:cNvPr id="21" name="object 21" descr=""/>
            <p:cNvSpPr/>
            <p:nvPr/>
          </p:nvSpPr>
          <p:spPr>
            <a:xfrm>
              <a:off x="8753473" y="2409824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114299" y="1904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90499"/>
                  </a:lnTo>
                  <a:close/>
                </a:path>
              </a:pathLst>
            </a:custGeom>
            <a:solidFill>
              <a:srgbClr val="004A86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477123" y="2647949"/>
              <a:ext cx="1143000" cy="476250"/>
            </a:xfrm>
            <a:custGeom>
              <a:avLst/>
              <a:gdLst/>
              <a:ahLst/>
              <a:cxnLst/>
              <a:rect l="l" t="t" r="r" b="b"/>
              <a:pathLst>
                <a:path w="1143000" h="476250">
                  <a:moveTo>
                    <a:pt x="1071803" y="476249"/>
                  </a:moveTo>
                  <a:lnTo>
                    <a:pt x="71196" y="476249"/>
                  </a:lnTo>
                  <a:lnTo>
                    <a:pt x="66241" y="475761"/>
                  </a:lnTo>
                  <a:lnTo>
                    <a:pt x="29706" y="460627"/>
                  </a:lnTo>
                  <a:lnTo>
                    <a:pt x="3885" y="424587"/>
                  </a:lnTo>
                  <a:lnTo>
                    <a:pt x="0" y="405053"/>
                  </a:lnTo>
                  <a:lnTo>
                    <a:pt x="0" y="40004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071803" y="0"/>
                  </a:lnTo>
                  <a:lnTo>
                    <a:pt x="1113294" y="15621"/>
                  </a:lnTo>
                  <a:lnTo>
                    <a:pt x="1139114" y="51661"/>
                  </a:lnTo>
                  <a:lnTo>
                    <a:pt x="1142999" y="71196"/>
                  </a:lnTo>
                  <a:lnTo>
                    <a:pt x="1142999" y="405053"/>
                  </a:lnTo>
                  <a:lnTo>
                    <a:pt x="1127378" y="446544"/>
                  </a:lnTo>
                  <a:lnTo>
                    <a:pt x="1091337" y="472363"/>
                  </a:lnTo>
                  <a:lnTo>
                    <a:pt x="1076757" y="475761"/>
                  </a:lnTo>
                  <a:lnTo>
                    <a:pt x="1071803" y="476249"/>
                  </a:lnTo>
                  <a:close/>
                </a:path>
              </a:pathLst>
            </a:custGeom>
            <a:solidFill>
              <a:srgbClr val="4069E1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600900" y="2772648"/>
            <a:ext cx="89598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100" b="0">
                <a:solidFill>
                  <a:srgbClr val="FFFFFF"/>
                </a:solidFill>
                <a:latin typeface="Roboto Medium"/>
                <a:cs typeface="Roboto Medium"/>
              </a:rPr>
              <a:t>FACTS</a:t>
            </a:r>
            <a:r>
              <a:rPr dirty="0" sz="1150" spc="1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50" b="0">
                <a:solidFill>
                  <a:srgbClr val="FFFFFF"/>
                </a:solidFill>
                <a:latin typeface="Roboto Medium"/>
                <a:cs typeface="Roboto Medium"/>
              </a:rPr>
              <a:t>Models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9096373" y="2647949"/>
            <a:ext cx="1143000" cy="476250"/>
          </a:xfrm>
          <a:custGeom>
            <a:avLst/>
            <a:gdLst/>
            <a:ahLst/>
            <a:cxnLst/>
            <a:rect l="l" t="t" r="r" b="b"/>
            <a:pathLst>
              <a:path w="1143000" h="476250">
                <a:moveTo>
                  <a:pt x="1071803" y="476249"/>
                </a:moveTo>
                <a:lnTo>
                  <a:pt x="71197" y="476249"/>
                </a:lnTo>
                <a:lnTo>
                  <a:pt x="66241" y="475761"/>
                </a:lnTo>
                <a:lnTo>
                  <a:pt x="29704" y="460627"/>
                </a:lnTo>
                <a:lnTo>
                  <a:pt x="3885" y="424587"/>
                </a:lnTo>
                <a:lnTo>
                  <a:pt x="0" y="405053"/>
                </a:lnTo>
                <a:lnTo>
                  <a:pt x="0" y="4000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7" y="0"/>
                </a:lnTo>
                <a:lnTo>
                  <a:pt x="1071803" y="0"/>
                </a:lnTo>
                <a:lnTo>
                  <a:pt x="1113294" y="15621"/>
                </a:lnTo>
                <a:lnTo>
                  <a:pt x="1139113" y="51661"/>
                </a:lnTo>
                <a:lnTo>
                  <a:pt x="1143000" y="71196"/>
                </a:lnTo>
                <a:lnTo>
                  <a:pt x="1143000" y="405053"/>
                </a:lnTo>
                <a:lnTo>
                  <a:pt x="1127376" y="446544"/>
                </a:lnTo>
                <a:lnTo>
                  <a:pt x="1091337" y="472363"/>
                </a:lnTo>
                <a:lnTo>
                  <a:pt x="1076757" y="475761"/>
                </a:lnTo>
                <a:lnTo>
                  <a:pt x="1071803" y="476249"/>
                </a:lnTo>
                <a:close/>
              </a:path>
            </a:pathLst>
          </a:custGeom>
          <a:solidFill>
            <a:srgbClr val="4069E1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9091265" y="2772648"/>
            <a:ext cx="115316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0">
                <a:solidFill>
                  <a:srgbClr val="FFFFFF"/>
                </a:solidFill>
                <a:latin typeface="Roboto Medium"/>
                <a:cs typeface="Roboto Medium"/>
              </a:rPr>
              <a:t>Control</a:t>
            </a:r>
            <a:r>
              <a:rPr dirty="0" sz="1150" spc="-2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45" b="0">
                <a:solidFill>
                  <a:srgbClr val="FFFFFF"/>
                </a:solidFill>
                <a:latin typeface="Roboto Medium"/>
                <a:cs typeface="Roboto Medium"/>
              </a:rPr>
              <a:t>Algorithms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991474" y="3124199"/>
            <a:ext cx="1752600" cy="809625"/>
            <a:chOff x="7991474" y="3124199"/>
            <a:chExt cx="1752600" cy="809625"/>
          </a:xfrm>
        </p:grpSpPr>
        <p:sp>
          <p:nvSpPr>
            <p:cNvPr id="27" name="object 27" descr=""/>
            <p:cNvSpPr/>
            <p:nvPr/>
          </p:nvSpPr>
          <p:spPr>
            <a:xfrm>
              <a:off x="7991462" y="3124199"/>
              <a:ext cx="1752600" cy="190500"/>
            </a:xfrm>
            <a:custGeom>
              <a:avLst/>
              <a:gdLst/>
              <a:ahLst/>
              <a:cxnLst/>
              <a:rect l="l" t="t" r="r" b="b"/>
              <a:pathLst>
                <a:path w="1752600" h="190500">
                  <a:moveTo>
                    <a:pt x="228600" y="0"/>
                  </a:moveTo>
                  <a:lnTo>
                    <a:pt x="0" y="0"/>
                  </a:lnTo>
                  <a:lnTo>
                    <a:pt x="114300" y="190500"/>
                  </a:lnTo>
                  <a:lnTo>
                    <a:pt x="228600" y="0"/>
                  </a:lnTo>
                  <a:close/>
                </a:path>
                <a:path w="1752600" h="190500">
                  <a:moveTo>
                    <a:pt x="1752600" y="0"/>
                  </a:moveTo>
                  <a:lnTo>
                    <a:pt x="1524000" y="0"/>
                  </a:lnTo>
                  <a:lnTo>
                    <a:pt x="1638300" y="1905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004A86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000999" y="3362324"/>
              <a:ext cx="1714500" cy="571500"/>
            </a:xfrm>
            <a:custGeom>
              <a:avLst/>
              <a:gdLst/>
              <a:ahLst/>
              <a:cxnLst/>
              <a:rect l="l" t="t" r="r" b="b"/>
              <a:pathLst>
                <a:path w="1714500" h="571500">
                  <a:moveTo>
                    <a:pt x="1643303" y="571499"/>
                  </a:moveTo>
                  <a:lnTo>
                    <a:pt x="71196" y="571499"/>
                  </a:lnTo>
                  <a:lnTo>
                    <a:pt x="66240" y="571011"/>
                  </a:lnTo>
                  <a:lnTo>
                    <a:pt x="29705" y="555877"/>
                  </a:lnTo>
                  <a:lnTo>
                    <a:pt x="3885" y="519837"/>
                  </a:lnTo>
                  <a:lnTo>
                    <a:pt x="0" y="500302"/>
                  </a:lnTo>
                  <a:lnTo>
                    <a:pt x="0" y="4952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643303" y="0"/>
                  </a:lnTo>
                  <a:lnTo>
                    <a:pt x="1684793" y="15621"/>
                  </a:lnTo>
                  <a:lnTo>
                    <a:pt x="1710612" y="51661"/>
                  </a:lnTo>
                  <a:lnTo>
                    <a:pt x="1714499" y="71196"/>
                  </a:lnTo>
                  <a:lnTo>
                    <a:pt x="1714499" y="500302"/>
                  </a:lnTo>
                  <a:lnTo>
                    <a:pt x="1698877" y="541794"/>
                  </a:lnTo>
                  <a:lnTo>
                    <a:pt x="1662836" y="567613"/>
                  </a:lnTo>
                  <a:lnTo>
                    <a:pt x="1648258" y="571011"/>
                  </a:lnTo>
                  <a:lnTo>
                    <a:pt x="1643303" y="571499"/>
                  </a:lnTo>
                  <a:close/>
                </a:path>
              </a:pathLst>
            </a:custGeom>
            <a:solidFill>
              <a:srgbClr val="004A8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8306941" y="3534647"/>
            <a:ext cx="110299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0">
                <a:solidFill>
                  <a:srgbClr val="FFFFFF"/>
                </a:solidFill>
                <a:latin typeface="Roboto Medium"/>
                <a:cs typeface="Roboto Medium"/>
              </a:rPr>
              <a:t>Simulation</a:t>
            </a:r>
            <a:r>
              <a:rPr dirty="0" sz="1150" spc="2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40" b="0">
                <a:solidFill>
                  <a:srgbClr val="FFFFFF"/>
                </a:solidFill>
                <a:latin typeface="Roboto Medium"/>
                <a:cs typeface="Roboto Medium"/>
              </a:rPr>
              <a:t>Engine</a:t>
            </a:r>
            <a:endParaRPr sz="1150">
              <a:latin typeface="Roboto Medium"/>
              <a:cs typeface="Roboto Medium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8000999" y="2124074"/>
            <a:ext cx="2524125" cy="2619375"/>
            <a:chOff x="8000999" y="2124074"/>
            <a:chExt cx="2524125" cy="2619375"/>
          </a:xfrm>
        </p:grpSpPr>
        <p:sp>
          <p:nvSpPr>
            <p:cNvPr id="31" name="object 31" descr=""/>
            <p:cNvSpPr/>
            <p:nvPr/>
          </p:nvSpPr>
          <p:spPr>
            <a:xfrm>
              <a:off x="8753474" y="3933824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114299" y="190499"/>
                  </a:moveTo>
                  <a:lnTo>
                    <a:pt x="0" y="0"/>
                  </a:lnTo>
                  <a:lnTo>
                    <a:pt x="228599" y="0"/>
                  </a:lnTo>
                  <a:lnTo>
                    <a:pt x="114299" y="190499"/>
                  </a:lnTo>
                  <a:close/>
                </a:path>
              </a:pathLst>
            </a:custGeom>
            <a:solidFill>
              <a:srgbClr val="004A86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00999" y="4171949"/>
              <a:ext cx="1714500" cy="571500"/>
            </a:xfrm>
            <a:custGeom>
              <a:avLst/>
              <a:gdLst/>
              <a:ahLst/>
              <a:cxnLst/>
              <a:rect l="l" t="t" r="r" b="b"/>
              <a:pathLst>
                <a:path w="1714500" h="571500">
                  <a:moveTo>
                    <a:pt x="1643303" y="571499"/>
                  </a:moveTo>
                  <a:lnTo>
                    <a:pt x="71196" y="571499"/>
                  </a:lnTo>
                  <a:lnTo>
                    <a:pt x="66240" y="571011"/>
                  </a:lnTo>
                  <a:lnTo>
                    <a:pt x="29705" y="555877"/>
                  </a:lnTo>
                  <a:lnTo>
                    <a:pt x="3885" y="519837"/>
                  </a:lnTo>
                  <a:lnTo>
                    <a:pt x="0" y="500303"/>
                  </a:lnTo>
                  <a:lnTo>
                    <a:pt x="0" y="4952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643303" y="0"/>
                  </a:lnTo>
                  <a:lnTo>
                    <a:pt x="1684793" y="15621"/>
                  </a:lnTo>
                  <a:lnTo>
                    <a:pt x="1710612" y="51661"/>
                  </a:lnTo>
                  <a:lnTo>
                    <a:pt x="1714499" y="71196"/>
                  </a:lnTo>
                  <a:lnTo>
                    <a:pt x="1714499" y="500303"/>
                  </a:lnTo>
                  <a:lnTo>
                    <a:pt x="1698877" y="541793"/>
                  </a:lnTo>
                  <a:lnTo>
                    <a:pt x="1662836" y="567613"/>
                  </a:lnTo>
                  <a:lnTo>
                    <a:pt x="1648258" y="571011"/>
                  </a:lnTo>
                  <a:lnTo>
                    <a:pt x="1643303" y="571499"/>
                  </a:lnTo>
                  <a:close/>
                </a:path>
              </a:pathLst>
            </a:custGeom>
            <a:solidFill>
              <a:srgbClr val="004A8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86998" y="2124074"/>
              <a:ext cx="142874" cy="14287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01247" y="2314574"/>
              <a:ext cx="142876" cy="14287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2248" y="2505074"/>
              <a:ext cx="142874" cy="142874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10025608" y="2574766"/>
            <a:ext cx="7029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 b="1">
                <a:solidFill>
                  <a:srgbClr val="DB2525"/>
                </a:solidFill>
                <a:latin typeface="Roboto"/>
                <a:cs typeface="Roboto"/>
              </a:rPr>
              <a:t>Disturbances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9096374" y="3743324"/>
            <a:ext cx="1714500" cy="1333500"/>
            <a:chOff x="9096374" y="3743324"/>
            <a:chExt cx="1714500" cy="1333500"/>
          </a:xfrm>
        </p:grpSpPr>
        <p:sp>
          <p:nvSpPr>
            <p:cNvPr id="38" name="object 38" descr=""/>
            <p:cNvSpPr/>
            <p:nvPr/>
          </p:nvSpPr>
          <p:spPr>
            <a:xfrm>
              <a:off x="9096374" y="3743324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638299" y="1333499"/>
                  </a:moveTo>
                  <a:lnTo>
                    <a:pt x="76199" y="1333499"/>
                  </a:lnTo>
                  <a:lnTo>
                    <a:pt x="68692" y="1333137"/>
                  </a:lnTo>
                  <a:lnTo>
                    <a:pt x="27881" y="1316232"/>
                  </a:lnTo>
                  <a:lnTo>
                    <a:pt x="3261" y="1279385"/>
                  </a:lnTo>
                  <a:lnTo>
                    <a:pt x="0" y="12572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7" y="5800"/>
                  </a:lnTo>
                  <a:lnTo>
                    <a:pt x="76199" y="0"/>
                  </a:lnTo>
                  <a:lnTo>
                    <a:pt x="1638299" y="0"/>
                  </a:lnTo>
                  <a:lnTo>
                    <a:pt x="1680641" y="12829"/>
                  </a:lnTo>
                  <a:lnTo>
                    <a:pt x="1708698" y="47038"/>
                  </a:lnTo>
                  <a:lnTo>
                    <a:pt x="1714499" y="76199"/>
                  </a:lnTo>
                  <a:lnTo>
                    <a:pt x="1714499" y="1257299"/>
                  </a:lnTo>
                  <a:lnTo>
                    <a:pt x="1701668" y="1299641"/>
                  </a:lnTo>
                  <a:lnTo>
                    <a:pt x="1667458" y="1327699"/>
                  </a:lnTo>
                  <a:lnTo>
                    <a:pt x="1638299" y="1333499"/>
                  </a:lnTo>
                  <a:close/>
                </a:path>
              </a:pathLst>
            </a:custGeom>
            <a:solidFill>
              <a:srgbClr val="004A8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096374" y="3743324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638299" y="1333499"/>
                  </a:moveTo>
                  <a:lnTo>
                    <a:pt x="76199" y="1333499"/>
                  </a:lnTo>
                  <a:lnTo>
                    <a:pt x="68692" y="1333137"/>
                  </a:lnTo>
                  <a:lnTo>
                    <a:pt x="27881" y="1316232"/>
                  </a:lnTo>
                  <a:lnTo>
                    <a:pt x="3261" y="1279385"/>
                  </a:lnTo>
                  <a:lnTo>
                    <a:pt x="0" y="12572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7" y="5800"/>
                  </a:lnTo>
                  <a:lnTo>
                    <a:pt x="76199" y="0"/>
                  </a:lnTo>
                  <a:lnTo>
                    <a:pt x="1638299" y="0"/>
                  </a:lnTo>
                  <a:lnTo>
                    <a:pt x="167511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3" y="71821"/>
                  </a:lnTo>
                  <a:lnTo>
                    <a:pt x="9523" y="1261677"/>
                  </a:lnTo>
                  <a:lnTo>
                    <a:pt x="9831" y="1264806"/>
                  </a:lnTo>
                  <a:lnTo>
                    <a:pt x="9950" y="1266013"/>
                  </a:lnTo>
                  <a:lnTo>
                    <a:pt x="25957" y="1301349"/>
                  </a:lnTo>
                  <a:lnTo>
                    <a:pt x="58897" y="1321838"/>
                  </a:lnTo>
                  <a:lnTo>
                    <a:pt x="71821" y="1323974"/>
                  </a:lnTo>
                  <a:lnTo>
                    <a:pt x="1675119" y="1323974"/>
                  </a:lnTo>
                  <a:lnTo>
                    <a:pt x="1674255" y="1324491"/>
                  </a:lnTo>
                  <a:lnTo>
                    <a:pt x="1667458" y="1327699"/>
                  </a:lnTo>
                  <a:lnTo>
                    <a:pt x="1660384" y="1330237"/>
                  </a:lnTo>
                  <a:lnTo>
                    <a:pt x="1653166" y="1332049"/>
                  </a:lnTo>
                  <a:lnTo>
                    <a:pt x="1645805" y="1333137"/>
                  </a:lnTo>
                  <a:lnTo>
                    <a:pt x="1638299" y="1333499"/>
                  </a:lnTo>
                  <a:close/>
                </a:path>
                <a:path w="1714500" h="1333500">
                  <a:moveTo>
                    <a:pt x="1675119" y="1323974"/>
                  </a:moveTo>
                  <a:lnTo>
                    <a:pt x="1642676" y="1323974"/>
                  </a:lnTo>
                  <a:lnTo>
                    <a:pt x="1647011" y="1323546"/>
                  </a:lnTo>
                  <a:lnTo>
                    <a:pt x="1655599" y="1321838"/>
                  </a:lnTo>
                  <a:lnTo>
                    <a:pt x="1688541" y="1301349"/>
                  </a:lnTo>
                  <a:lnTo>
                    <a:pt x="1704546" y="1266013"/>
                  </a:lnTo>
                  <a:lnTo>
                    <a:pt x="1704974" y="1261677"/>
                  </a:lnTo>
                  <a:lnTo>
                    <a:pt x="1704974" y="71821"/>
                  </a:lnTo>
                  <a:lnTo>
                    <a:pt x="1691305" y="35516"/>
                  </a:lnTo>
                  <a:lnTo>
                    <a:pt x="1659454" y="12829"/>
                  </a:lnTo>
                  <a:lnTo>
                    <a:pt x="1642676" y="9524"/>
                  </a:lnTo>
                  <a:lnTo>
                    <a:pt x="1675119" y="9524"/>
                  </a:lnTo>
                  <a:lnTo>
                    <a:pt x="1705490" y="40242"/>
                  </a:lnTo>
                  <a:lnTo>
                    <a:pt x="1714499" y="1257299"/>
                  </a:lnTo>
                  <a:lnTo>
                    <a:pt x="1714137" y="1264806"/>
                  </a:lnTo>
                  <a:lnTo>
                    <a:pt x="1697232" y="1305616"/>
                  </a:lnTo>
                  <a:lnTo>
                    <a:pt x="1680768" y="1320574"/>
                  </a:lnTo>
                  <a:lnTo>
                    <a:pt x="1675119" y="1323974"/>
                  </a:lnTo>
                  <a:close/>
                </a:path>
              </a:pathLst>
            </a:custGeom>
            <a:solidFill>
              <a:srgbClr val="004A86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9188450" y="3733269"/>
            <a:ext cx="1530350" cy="55562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dirty="0" sz="1150" spc="-60" b="0">
                <a:solidFill>
                  <a:srgbClr val="1D40AF"/>
                </a:solidFill>
                <a:latin typeface="Roboto Medium"/>
                <a:cs typeface="Roboto Medium"/>
              </a:rPr>
              <a:t>Sample</a:t>
            </a:r>
            <a:r>
              <a:rPr dirty="0" sz="1150" spc="-15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1150" spc="-10" b="0">
                <a:solidFill>
                  <a:srgbClr val="1D40AF"/>
                </a:solidFill>
                <a:latin typeface="Roboto Medium"/>
                <a:cs typeface="Roboto Medium"/>
              </a:rPr>
              <a:t>Metrics</a:t>
            </a:r>
            <a:endParaRPr sz="115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745"/>
              </a:spcBef>
              <a:tabLst>
                <a:tab pos="1082040" algn="l"/>
              </a:tabLst>
            </a:pPr>
            <a:r>
              <a:rPr dirty="0" sz="1050" spc="-40">
                <a:solidFill>
                  <a:srgbClr val="004A86"/>
                </a:solidFill>
                <a:latin typeface="Roboto"/>
                <a:cs typeface="Roboto"/>
              </a:rPr>
              <a:t>Freq.</a:t>
            </a:r>
            <a:r>
              <a:rPr dirty="0" sz="1050" spc="-25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004A86"/>
                </a:solidFill>
                <a:latin typeface="Roboto"/>
                <a:cs typeface="Roboto"/>
              </a:rPr>
              <a:t>Deviation</a:t>
            </a:r>
            <a:r>
              <a:rPr dirty="0" sz="1050">
                <a:solidFill>
                  <a:srgbClr val="004A86"/>
                </a:solidFill>
                <a:latin typeface="Roboto"/>
                <a:cs typeface="Roboto"/>
              </a:rPr>
              <a:t>	</a:t>
            </a:r>
            <a:r>
              <a:rPr dirty="0" sz="1050" spc="-35" b="0">
                <a:solidFill>
                  <a:srgbClr val="004A86"/>
                </a:solidFill>
                <a:latin typeface="Roboto Medium"/>
                <a:cs typeface="Roboto Medium"/>
              </a:rPr>
              <a:t>±0.1</a:t>
            </a:r>
            <a:r>
              <a:rPr dirty="0" sz="1050" spc="-30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sz="1050" spc="-25" b="0">
                <a:solidFill>
                  <a:srgbClr val="004A86"/>
                </a:solidFill>
                <a:latin typeface="Roboto Medium"/>
                <a:cs typeface="Roboto Medium"/>
              </a:rPr>
              <a:t>Hz</a:t>
            </a:r>
            <a:endParaRPr sz="1050">
              <a:latin typeface="Roboto Medium"/>
              <a:cs typeface="Roboto Medium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8188325" y="4339206"/>
            <a:ext cx="1445895" cy="39687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baseline="2415" sz="1725" spc="-89" b="0">
                <a:solidFill>
                  <a:srgbClr val="FFFFFF"/>
                </a:solidFill>
                <a:latin typeface="Roboto Medium"/>
                <a:cs typeface="Roboto Medium"/>
              </a:rPr>
              <a:t>Performance</a:t>
            </a:r>
            <a:r>
              <a:rPr dirty="0" baseline="2415" sz="1725" spc="-3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baseline="2415" sz="1725" spc="-52" b="0">
                <a:solidFill>
                  <a:srgbClr val="FFFFFF"/>
                </a:solidFill>
                <a:latin typeface="Roboto Medium"/>
                <a:cs typeface="Roboto Medium"/>
              </a:rPr>
              <a:t>A</a:t>
            </a:r>
            <a:r>
              <a:rPr dirty="0" baseline="2415" sz="1725" spc="-30" b="0">
                <a:solidFill>
                  <a:srgbClr val="FFFFFF"/>
                </a:solidFill>
                <a:latin typeface="Roboto Medium"/>
                <a:cs typeface="Roboto Medium"/>
              </a:rPr>
              <a:t>n</a:t>
            </a:r>
            <a:r>
              <a:rPr dirty="0" baseline="2415" sz="1725" spc="-600" b="0">
                <a:solidFill>
                  <a:srgbClr val="FFFFFF"/>
                </a:solidFill>
                <a:latin typeface="Roboto Medium"/>
                <a:cs typeface="Roboto Medium"/>
              </a:rPr>
              <a:t>a</a:t>
            </a:r>
            <a:r>
              <a:rPr dirty="0" sz="1050" spc="-325">
                <a:solidFill>
                  <a:srgbClr val="004A86"/>
                </a:solidFill>
                <a:latin typeface="Roboto"/>
                <a:cs typeface="Roboto"/>
              </a:rPr>
              <a:t>V</a:t>
            </a:r>
            <a:r>
              <a:rPr dirty="0" baseline="2415" sz="1725" spc="-60" b="0">
                <a:solidFill>
                  <a:srgbClr val="FFFFFF"/>
                </a:solidFill>
                <a:latin typeface="Roboto Medium"/>
                <a:cs typeface="Roboto Medium"/>
              </a:rPr>
              <a:t>l</a:t>
            </a:r>
            <a:r>
              <a:rPr dirty="0" sz="1050" spc="-610">
                <a:solidFill>
                  <a:srgbClr val="004A86"/>
                </a:solidFill>
                <a:latin typeface="Roboto"/>
                <a:cs typeface="Roboto"/>
              </a:rPr>
              <a:t>o</a:t>
            </a:r>
            <a:r>
              <a:rPr dirty="0" baseline="2415" sz="1725" spc="-30" b="0">
                <a:solidFill>
                  <a:srgbClr val="FFFFFF"/>
                </a:solidFill>
                <a:latin typeface="Roboto Medium"/>
                <a:cs typeface="Roboto Medium"/>
              </a:rPr>
              <a:t>y</a:t>
            </a:r>
            <a:r>
              <a:rPr dirty="0" baseline="2415" sz="1725" spc="-877" b="0">
                <a:solidFill>
                  <a:srgbClr val="FFFFFF"/>
                </a:solidFill>
                <a:latin typeface="Roboto Medium"/>
                <a:cs typeface="Roboto Medium"/>
              </a:rPr>
              <a:t>s</a:t>
            </a:r>
            <a:r>
              <a:rPr dirty="0" sz="1050" spc="-20">
                <a:solidFill>
                  <a:srgbClr val="004A86"/>
                </a:solidFill>
                <a:latin typeface="Roboto"/>
                <a:cs typeface="Roboto"/>
              </a:rPr>
              <a:t>l</a:t>
            </a:r>
            <a:r>
              <a:rPr dirty="0" sz="1050" spc="-75">
                <a:solidFill>
                  <a:srgbClr val="004A86"/>
                </a:solidFill>
                <a:latin typeface="Roboto"/>
                <a:cs typeface="Roboto"/>
              </a:rPr>
              <a:t>t</a:t>
            </a:r>
            <a:r>
              <a:rPr dirty="0" baseline="2415" sz="1725" spc="-397" b="0">
                <a:solidFill>
                  <a:srgbClr val="FFFFFF"/>
                </a:solidFill>
                <a:latin typeface="Roboto Medium"/>
                <a:cs typeface="Roboto Medium"/>
              </a:rPr>
              <a:t>i</a:t>
            </a:r>
            <a:r>
              <a:rPr dirty="0" sz="1050" spc="-355">
                <a:solidFill>
                  <a:srgbClr val="004A86"/>
                </a:solidFill>
                <a:latin typeface="Roboto"/>
                <a:cs typeface="Roboto"/>
              </a:rPr>
              <a:t>a</a:t>
            </a:r>
            <a:r>
              <a:rPr dirty="0" baseline="2415" sz="1725" spc="-419" b="0">
                <a:solidFill>
                  <a:srgbClr val="FFFFFF"/>
                </a:solidFill>
                <a:latin typeface="Roboto Medium"/>
                <a:cs typeface="Roboto Medium"/>
              </a:rPr>
              <a:t>s</a:t>
            </a:r>
            <a:r>
              <a:rPr dirty="0" sz="1050" spc="-20">
                <a:solidFill>
                  <a:srgbClr val="004A86"/>
                </a:solidFill>
                <a:latin typeface="Roboto"/>
                <a:cs typeface="Roboto"/>
              </a:rPr>
              <a:t>ge</a:t>
            </a:r>
            <a:endParaRPr sz="1050">
              <a:latin typeface="Roboto"/>
              <a:cs typeface="Roboto"/>
            </a:endParaRPr>
          </a:p>
          <a:p>
            <a:pPr algn="r" marR="70485">
              <a:lnSpc>
                <a:spcPct val="100000"/>
              </a:lnSpc>
              <a:spcBef>
                <a:spcPts val="145"/>
              </a:spcBef>
            </a:pPr>
            <a:r>
              <a:rPr dirty="0" sz="1050" spc="-10">
                <a:solidFill>
                  <a:srgbClr val="004A86"/>
                </a:solidFill>
                <a:latin typeface="Roboto"/>
                <a:cs typeface="Roboto"/>
              </a:rPr>
              <a:t>Profile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9991973" y="4347896"/>
            <a:ext cx="558800" cy="3873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050" spc="-40" b="0">
                <a:solidFill>
                  <a:srgbClr val="004A86"/>
                </a:solidFill>
                <a:latin typeface="Roboto Medium"/>
                <a:cs typeface="Roboto Medium"/>
              </a:rPr>
              <a:t>0.95-</a:t>
            </a:r>
            <a:r>
              <a:rPr dirty="0" sz="1050" spc="-35" b="0">
                <a:solidFill>
                  <a:srgbClr val="004A86"/>
                </a:solidFill>
                <a:latin typeface="Roboto Medium"/>
                <a:cs typeface="Roboto Medium"/>
              </a:rPr>
              <a:t>1.05</a:t>
            </a:r>
            <a:endParaRPr sz="10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25" b="0">
                <a:solidFill>
                  <a:srgbClr val="004A86"/>
                </a:solidFill>
                <a:latin typeface="Roboto Medium"/>
                <a:cs typeface="Roboto Medium"/>
              </a:rPr>
              <a:t>pu</a:t>
            </a:r>
            <a:endParaRPr sz="1050">
              <a:latin typeface="Roboto Medium"/>
              <a:cs typeface="Roboto Medium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9188450" y="4812069"/>
            <a:ext cx="750570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35">
                <a:solidFill>
                  <a:srgbClr val="004A86"/>
                </a:solidFill>
                <a:latin typeface="Roboto"/>
                <a:cs typeface="Roboto"/>
              </a:rPr>
              <a:t>Settling</a:t>
            </a:r>
            <a:r>
              <a:rPr dirty="0" sz="1050" spc="-20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004A86"/>
                </a:solidFill>
                <a:latin typeface="Roboto"/>
                <a:cs typeface="Roboto"/>
              </a:rPr>
              <a:t>Time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0237241" y="4816215"/>
            <a:ext cx="48196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0" b="0">
                <a:solidFill>
                  <a:srgbClr val="004A86"/>
                </a:solidFill>
                <a:latin typeface="Roboto Medium"/>
                <a:cs typeface="Roboto Medium"/>
              </a:rPr>
              <a:t>4.2-</a:t>
            </a:r>
            <a:r>
              <a:rPr dirty="0" sz="1050" spc="-30" b="0">
                <a:solidFill>
                  <a:srgbClr val="004A86"/>
                </a:solidFill>
                <a:latin typeface="Roboto Medium"/>
                <a:cs typeface="Roboto Medium"/>
              </a:rPr>
              <a:t>5.8s</a:t>
            </a:r>
            <a:endParaRPr sz="1050">
              <a:latin typeface="Roboto Medium"/>
              <a:cs typeface="Roboto Medium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9188450" y="5069244"/>
            <a:ext cx="795655" cy="191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50" spc="-30">
                <a:solidFill>
                  <a:srgbClr val="004A86"/>
                </a:solidFill>
                <a:latin typeface="Roboto"/>
                <a:cs typeface="Roboto"/>
              </a:rPr>
              <a:t>Stability</a:t>
            </a:r>
            <a:r>
              <a:rPr dirty="0" sz="1050" spc="-15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004A86"/>
                </a:solidFill>
                <a:latin typeface="Roboto"/>
                <a:cs typeface="Roboto"/>
              </a:rPr>
              <a:t>Index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447832" y="5073390"/>
            <a:ext cx="27114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35" b="0">
                <a:solidFill>
                  <a:srgbClr val="004A86"/>
                </a:solidFill>
                <a:latin typeface="Roboto Medium"/>
                <a:cs typeface="Roboto Medium"/>
              </a:rPr>
              <a:t>0.89</a:t>
            </a:r>
            <a:endParaRPr sz="1050">
              <a:latin typeface="Roboto Medium"/>
              <a:cs typeface="Roboto Medium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48" name="object 48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0"/>
              <a:t>Genspark</a:t>
            </a:r>
          </a:p>
          <a:p>
            <a:pPr algn="r" marR="508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dirty="0" sz="1300" spc="-20"/>
              <a:t>6</a:t>
            </a:fld>
            <a:r>
              <a:rPr dirty="0" sz="1300" spc="-20"/>
              <a:t>/</a:t>
            </a:r>
            <a:r>
              <a:rPr dirty="0" sz="1300" spc="-20"/>
              <a:t>10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8324850"/>
            <a:chOff x="0" y="0"/>
            <a:chExt cx="12192000" cy="83248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832484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762000"/>
            </a:xfrm>
            <a:custGeom>
              <a:avLst/>
              <a:gdLst/>
              <a:ahLst/>
              <a:cxnLst/>
              <a:rect l="l" t="t" r="r" b="b"/>
              <a:pathLst>
                <a:path w="12192000" h="762000">
                  <a:moveTo>
                    <a:pt x="12191999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70"/>
              <a:t>Key</a:t>
            </a:r>
            <a:r>
              <a:rPr dirty="0" spc="-30"/>
              <a:t> </a:t>
            </a:r>
            <a:r>
              <a:rPr dirty="0" spc="-130"/>
              <a:t>Results</a:t>
            </a:r>
            <a:r>
              <a:rPr dirty="0" spc="-25"/>
              <a:t> </a:t>
            </a:r>
            <a:r>
              <a:rPr dirty="0" spc="-170"/>
              <a:t>&amp;</a:t>
            </a:r>
            <a:r>
              <a:rPr dirty="0" spc="-30"/>
              <a:t> </a:t>
            </a:r>
            <a:r>
              <a:rPr dirty="0" spc="-150"/>
              <a:t>Comparative</a:t>
            </a:r>
            <a:r>
              <a:rPr dirty="0" spc="-30"/>
              <a:t> </a:t>
            </a:r>
            <a:r>
              <a:rPr dirty="0" spc="-125"/>
              <a:t>Performance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380999" y="952500"/>
            <a:ext cx="1124585" cy="2614930"/>
            <a:chOff x="380999" y="952500"/>
            <a:chExt cx="1124585" cy="2614930"/>
          </a:xfrm>
        </p:grpSpPr>
        <p:sp>
          <p:nvSpPr>
            <p:cNvPr id="7" name="object 7" descr=""/>
            <p:cNvSpPr/>
            <p:nvPr/>
          </p:nvSpPr>
          <p:spPr>
            <a:xfrm>
              <a:off x="380999" y="9525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8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49" y="1047750"/>
              <a:ext cx="152399" cy="1523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80999" y="16859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8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496" y="1780371"/>
              <a:ext cx="115907" cy="15400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80999" y="24193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8" y="322657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6249" y="2524125"/>
              <a:ext cx="152399" cy="13334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9607" y="2801207"/>
              <a:ext cx="75405" cy="12782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9607" y="3125057"/>
              <a:ext cx="75405" cy="12782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9607" y="3439382"/>
              <a:ext cx="75405" cy="127825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863600" y="918368"/>
            <a:ext cx="4569460" cy="270446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94615">
              <a:lnSpc>
                <a:spcPts val="1950"/>
              </a:lnSpc>
              <a:spcBef>
                <a:spcPts val="204"/>
              </a:spcBef>
            </a:pPr>
            <a:r>
              <a:rPr dirty="0" sz="1650" spc="-9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650" spc="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maintained</a:t>
            </a:r>
            <a:r>
              <a:rPr dirty="0" sz="1650" spc="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004A86"/>
                </a:solidFill>
                <a:latin typeface="Roboto"/>
                <a:cs typeface="Roboto"/>
              </a:rPr>
              <a:t>frequency</a:t>
            </a:r>
            <a:r>
              <a:rPr dirty="0" sz="1650" spc="3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004A86"/>
                </a:solidFill>
                <a:latin typeface="Roboto"/>
                <a:cs typeface="Roboto"/>
              </a:rPr>
              <a:t>deviations</a:t>
            </a:r>
            <a:r>
              <a:rPr dirty="0" sz="1650" spc="3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004A86"/>
                </a:solidFill>
                <a:latin typeface="Roboto"/>
                <a:cs typeface="Roboto"/>
              </a:rPr>
              <a:t>within</a:t>
            </a:r>
            <a:r>
              <a:rPr dirty="0" sz="1650" spc="2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650" spc="-60" b="1">
                <a:solidFill>
                  <a:srgbClr val="004A86"/>
                </a:solidFill>
                <a:latin typeface="Roboto"/>
                <a:cs typeface="Roboto"/>
              </a:rPr>
              <a:t>±0.1 </a:t>
            </a:r>
            <a:r>
              <a:rPr dirty="0" sz="1650" spc="-100" b="1">
                <a:solidFill>
                  <a:srgbClr val="004A86"/>
                </a:solidFill>
                <a:latin typeface="Roboto"/>
                <a:cs typeface="Roboto"/>
              </a:rPr>
              <a:t>Hz</a:t>
            </a:r>
            <a:r>
              <a:rPr dirty="0" sz="1650" spc="-2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6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004A86"/>
                </a:solidFill>
                <a:latin typeface="Roboto"/>
                <a:cs typeface="Roboto"/>
              </a:rPr>
              <a:t>35.5%</a:t>
            </a:r>
            <a:r>
              <a:rPr dirty="0" sz="1650" spc="-2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004A86"/>
                </a:solidFill>
                <a:latin typeface="Roboto"/>
                <a:cs typeface="Roboto"/>
              </a:rPr>
              <a:t>renewable</a:t>
            </a:r>
            <a:r>
              <a:rPr dirty="0" sz="1650" spc="-20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004A86"/>
                </a:solidFill>
                <a:latin typeface="Roboto"/>
                <a:cs typeface="Roboto"/>
              </a:rPr>
              <a:t>penetration</a:t>
            </a:r>
            <a:endParaRPr sz="16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Roboto"/>
              <a:cs typeface="Roboto"/>
            </a:endParaRPr>
          </a:p>
          <a:p>
            <a:pPr marL="12700" marR="116839">
              <a:lnSpc>
                <a:spcPts val="1950"/>
              </a:lnSpc>
            </a:pPr>
            <a:r>
              <a:rPr dirty="0" sz="1650" spc="-135">
                <a:solidFill>
                  <a:srgbClr val="333333"/>
                </a:solidFill>
                <a:latin typeface="Roboto"/>
                <a:cs typeface="Roboto"/>
              </a:rPr>
              <a:t>FACTS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minimized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voltage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dips,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secured </a:t>
            </a:r>
            <a:r>
              <a:rPr dirty="0" sz="1650" spc="-60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during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major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 events</a:t>
            </a:r>
            <a:endParaRPr sz="1650">
              <a:latin typeface="Roboto"/>
              <a:cs typeface="Roboto"/>
            </a:endParaRPr>
          </a:p>
          <a:p>
            <a:pPr marL="695325" marR="5080" indent="-683260">
              <a:lnSpc>
                <a:spcPct val="138500"/>
              </a:lnSpc>
              <a:spcBef>
                <a:spcPts val="1025"/>
              </a:spcBef>
            </a:pP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16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controllers</a:t>
            </a:r>
            <a:r>
              <a:rPr dirty="0" sz="16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outperformed</a:t>
            </a:r>
            <a:r>
              <a:rPr dirty="0" sz="165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5">
                <a:solidFill>
                  <a:srgbClr val="333333"/>
                </a:solidFill>
                <a:latin typeface="Roboto"/>
                <a:cs typeface="Roboto"/>
              </a:rPr>
              <a:t>traditional</a:t>
            </a:r>
            <a:r>
              <a:rPr dirty="0" sz="165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333333"/>
                </a:solidFill>
                <a:latin typeface="Roboto"/>
                <a:cs typeface="Roboto"/>
              </a:rPr>
              <a:t>PID/PI: </a:t>
            </a:r>
            <a:r>
              <a:rPr dirty="0" sz="1500" spc="-90">
                <a:solidFill>
                  <a:srgbClr val="444444"/>
                </a:solidFill>
                <a:latin typeface="Roboto"/>
                <a:cs typeface="Roboto"/>
              </a:rPr>
              <a:t>Lower</a:t>
            </a:r>
            <a:r>
              <a:rPr dirty="0" sz="15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65">
                <a:solidFill>
                  <a:srgbClr val="444444"/>
                </a:solidFill>
                <a:latin typeface="Roboto"/>
                <a:cs typeface="Roboto"/>
              </a:rPr>
              <a:t>settling</a:t>
            </a:r>
            <a:r>
              <a:rPr dirty="0" sz="1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444444"/>
                </a:solidFill>
                <a:latin typeface="Roboto"/>
                <a:cs typeface="Roboto"/>
              </a:rPr>
              <a:t>time,</a:t>
            </a:r>
            <a:r>
              <a:rPr dirty="0" sz="1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444444"/>
                </a:solidFill>
                <a:latin typeface="Roboto"/>
                <a:cs typeface="Roboto"/>
              </a:rPr>
              <a:t>overshoot,</a:t>
            </a:r>
            <a:r>
              <a:rPr dirty="0" sz="1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5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error</a:t>
            </a:r>
            <a:r>
              <a:rPr dirty="0" sz="1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444444"/>
                </a:solidFill>
                <a:latin typeface="Roboto"/>
                <a:cs typeface="Roboto"/>
              </a:rPr>
              <a:t>indices </a:t>
            </a:r>
            <a:r>
              <a:rPr dirty="0" sz="1500" spc="-90">
                <a:solidFill>
                  <a:srgbClr val="444444"/>
                </a:solidFill>
                <a:latin typeface="Roboto"/>
                <a:cs typeface="Roboto"/>
              </a:rPr>
              <a:t>Enhanced</a:t>
            </a:r>
            <a:r>
              <a:rPr dirty="0" sz="15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444444"/>
                </a:solidFill>
                <a:latin typeface="Roboto"/>
                <a:cs typeface="Roboto"/>
              </a:rPr>
              <a:t>robustness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444444"/>
                </a:solidFill>
                <a:latin typeface="Roboto"/>
                <a:cs typeface="Roboto"/>
              </a:rPr>
              <a:t>to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444444"/>
                </a:solidFill>
                <a:latin typeface="Roboto"/>
                <a:cs typeface="Roboto"/>
              </a:rPr>
              <a:t>model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444444"/>
                </a:solidFill>
                <a:latin typeface="Roboto"/>
                <a:cs typeface="Roboto"/>
              </a:rPr>
              <a:t>uncertainty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(RL)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Fastest</a:t>
            </a:r>
            <a:r>
              <a:rPr dirty="0" sz="15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444444"/>
                </a:solidFill>
                <a:latin typeface="Roboto"/>
                <a:cs typeface="Roboto"/>
              </a:rPr>
              <a:t>damping</a:t>
            </a:r>
            <a:r>
              <a:rPr dirty="0" sz="15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444444"/>
                </a:solidFill>
                <a:latin typeface="Roboto"/>
                <a:cs typeface="Roboto"/>
              </a:rPr>
              <a:t>with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444444"/>
                </a:solidFill>
                <a:latin typeface="Roboto"/>
                <a:cs typeface="Roboto"/>
              </a:rPr>
              <a:t>nonlinear</a:t>
            </a:r>
            <a:r>
              <a:rPr dirty="0" sz="15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444444"/>
                </a:solidFill>
                <a:latin typeface="Roboto"/>
                <a:cs typeface="Roboto"/>
              </a:rPr>
              <a:t>synergetic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444444"/>
                </a:solidFill>
                <a:latin typeface="Roboto"/>
                <a:cs typeface="Roboto"/>
              </a:rPr>
              <a:t>control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676898" y="952499"/>
            <a:ext cx="6134100" cy="7181850"/>
            <a:chOff x="5676898" y="952499"/>
            <a:chExt cx="6134100" cy="7181850"/>
          </a:xfrm>
        </p:grpSpPr>
        <p:sp>
          <p:nvSpPr>
            <p:cNvPr id="18" name="object 18" descr=""/>
            <p:cNvSpPr/>
            <p:nvPr/>
          </p:nvSpPr>
          <p:spPr>
            <a:xfrm>
              <a:off x="5676899" y="952499"/>
              <a:ext cx="6134100" cy="2476500"/>
            </a:xfrm>
            <a:custGeom>
              <a:avLst/>
              <a:gdLst/>
              <a:ahLst/>
              <a:cxnLst/>
              <a:rect l="l" t="t" r="r" b="b"/>
              <a:pathLst>
                <a:path w="6134100" h="2476500">
                  <a:moveTo>
                    <a:pt x="6057899" y="2476499"/>
                  </a:moveTo>
                  <a:lnTo>
                    <a:pt x="76199" y="2476499"/>
                  </a:lnTo>
                  <a:lnTo>
                    <a:pt x="68693" y="2476137"/>
                  </a:lnTo>
                  <a:lnTo>
                    <a:pt x="27881" y="2459232"/>
                  </a:lnTo>
                  <a:lnTo>
                    <a:pt x="3262" y="2422385"/>
                  </a:lnTo>
                  <a:lnTo>
                    <a:pt x="0" y="24002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057899" y="0"/>
                  </a:lnTo>
                  <a:lnTo>
                    <a:pt x="6100240" y="12830"/>
                  </a:lnTo>
                  <a:lnTo>
                    <a:pt x="6128298" y="47039"/>
                  </a:lnTo>
                  <a:lnTo>
                    <a:pt x="6134099" y="76199"/>
                  </a:lnTo>
                  <a:lnTo>
                    <a:pt x="6134099" y="2400299"/>
                  </a:lnTo>
                  <a:lnTo>
                    <a:pt x="6121268" y="2442641"/>
                  </a:lnTo>
                  <a:lnTo>
                    <a:pt x="6087059" y="2470698"/>
                  </a:lnTo>
                  <a:lnTo>
                    <a:pt x="6057899" y="24764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676899" y="952499"/>
              <a:ext cx="6134100" cy="2476500"/>
            </a:xfrm>
            <a:custGeom>
              <a:avLst/>
              <a:gdLst/>
              <a:ahLst/>
              <a:cxnLst/>
              <a:rect l="l" t="t" r="r" b="b"/>
              <a:pathLst>
                <a:path w="6134100" h="2476500">
                  <a:moveTo>
                    <a:pt x="6057899" y="2476499"/>
                  </a:moveTo>
                  <a:lnTo>
                    <a:pt x="76199" y="2476499"/>
                  </a:lnTo>
                  <a:lnTo>
                    <a:pt x="68693" y="2476137"/>
                  </a:lnTo>
                  <a:lnTo>
                    <a:pt x="27881" y="2459232"/>
                  </a:lnTo>
                  <a:lnTo>
                    <a:pt x="3262" y="2422386"/>
                  </a:lnTo>
                  <a:lnTo>
                    <a:pt x="0" y="24002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057899" y="0"/>
                  </a:lnTo>
                  <a:lnTo>
                    <a:pt x="6094719" y="9525"/>
                  </a:lnTo>
                  <a:lnTo>
                    <a:pt x="71821" y="9525"/>
                  </a:lnTo>
                  <a:lnTo>
                    <a:pt x="67485" y="9952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404677"/>
                  </a:lnTo>
                  <a:lnTo>
                    <a:pt x="9832" y="2407806"/>
                  </a:lnTo>
                  <a:lnTo>
                    <a:pt x="9951" y="2409013"/>
                  </a:lnTo>
                  <a:lnTo>
                    <a:pt x="25956" y="2444349"/>
                  </a:lnTo>
                  <a:lnTo>
                    <a:pt x="58897" y="2464839"/>
                  </a:lnTo>
                  <a:lnTo>
                    <a:pt x="71821" y="2466974"/>
                  </a:lnTo>
                  <a:lnTo>
                    <a:pt x="6094719" y="2466974"/>
                  </a:lnTo>
                  <a:lnTo>
                    <a:pt x="6093855" y="2467491"/>
                  </a:lnTo>
                  <a:lnTo>
                    <a:pt x="6087059" y="2470698"/>
                  </a:lnTo>
                  <a:lnTo>
                    <a:pt x="6079986" y="2473236"/>
                  </a:lnTo>
                  <a:lnTo>
                    <a:pt x="6072768" y="2475049"/>
                  </a:lnTo>
                  <a:lnTo>
                    <a:pt x="6065406" y="2476137"/>
                  </a:lnTo>
                  <a:lnTo>
                    <a:pt x="6057899" y="2476499"/>
                  </a:lnTo>
                  <a:close/>
                </a:path>
                <a:path w="6134100" h="2476500">
                  <a:moveTo>
                    <a:pt x="6094719" y="2466974"/>
                  </a:moveTo>
                  <a:lnTo>
                    <a:pt x="6062276" y="2466974"/>
                  </a:lnTo>
                  <a:lnTo>
                    <a:pt x="6066612" y="2466547"/>
                  </a:lnTo>
                  <a:lnTo>
                    <a:pt x="6075199" y="2464839"/>
                  </a:lnTo>
                  <a:lnTo>
                    <a:pt x="6108139" y="2444349"/>
                  </a:lnTo>
                  <a:lnTo>
                    <a:pt x="6124146" y="2409013"/>
                  </a:lnTo>
                  <a:lnTo>
                    <a:pt x="6124572" y="2404677"/>
                  </a:lnTo>
                  <a:lnTo>
                    <a:pt x="6124572" y="71821"/>
                  </a:lnTo>
                  <a:lnTo>
                    <a:pt x="6110902" y="35517"/>
                  </a:lnTo>
                  <a:lnTo>
                    <a:pt x="6079055" y="12830"/>
                  </a:lnTo>
                  <a:lnTo>
                    <a:pt x="6062276" y="9525"/>
                  </a:lnTo>
                  <a:lnTo>
                    <a:pt x="6094719" y="9525"/>
                  </a:lnTo>
                  <a:lnTo>
                    <a:pt x="6125090" y="40243"/>
                  </a:lnTo>
                  <a:lnTo>
                    <a:pt x="6134099" y="2400299"/>
                  </a:lnTo>
                  <a:lnTo>
                    <a:pt x="6133736" y="2407806"/>
                  </a:lnTo>
                  <a:lnTo>
                    <a:pt x="6116831" y="2448616"/>
                  </a:lnTo>
                  <a:lnTo>
                    <a:pt x="6100369" y="2463574"/>
                  </a:lnTo>
                  <a:lnTo>
                    <a:pt x="6094719" y="2466974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1674" y="1057275"/>
              <a:ext cx="5915024" cy="226694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5676899" y="3619499"/>
              <a:ext cx="6134100" cy="2476500"/>
            </a:xfrm>
            <a:custGeom>
              <a:avLst/>
              <a:gdLst/>
              <a:ahLst/>
              <a:cxnLst/>
              <a:rect l="l" t="t" r="r" b="b"/>
              <a:pathLst>
                <a:path w="6134100" h="2476500">
                  <a:moveTo>
                    <a:pt x="6057899" y="2476499"/>
                  </a:moveTo>
                  <a:lnTo>
                    <a:pt x="76199" y="2476499"/>
                  </a:lnTo>
                  <a:lnTo>
                    <a:pt x="68693" y="2476136"/>
                  </a:lnTo>
                  <a:lnTo>
                    <a:pt x="27881" y="2459232"/>
                  </a:lnTo>
                  <a:lnTo>
                    <a:pt x="3262" y="2422385"/>
                  </a:lnTo>
                  <a:lnTo>
                    <a:pt x="0" y="24002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6057899" y="0"/>
                  </a:lnTo>
                  <a:lnTo>
                    <a:pt x="6100240" y="12829"/>
                  </a:lnTo>
                  <a:lnTo>
                    <a:pt x="6128298" y="47038"/>
                  </a:lnTo>
                  <a:lnTo>
                    <a:pt x="6134099" y="76199"/>
                  </a:lnTo>
                  <a:lnTo>
                    <a:pt x="6134099" y="2400299"/>
                  </a:lnTo>
                  <a:lnTo>
                    <a:pt x="6121268" y="2442641"/>
                  </a:lnTo>
                  <a:lnTo>
                    <a:pt x="6087059" y="2470698"/>
                  </a:lnTo>
                  <a:lnTo>
                    <a:pt x="6057899" y="247649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676899" y="3619499"/>
              <a:ext cx="6134100" cy="2476500"/>
            </a:xfrm>
            <a:custGeom>
              <a:avLst/>
              <a:gdLst/>
              <a:ahLst/>
              <a:cxnLst/>
              <a:rect l="l" t="t" r="r" b="b"/>
              <a:pathLst>
                <a:path w="6134100" h="2476500">
                  <a:moveTo>
                    <a:pt x="6057899" y="2476499"/>
                  </a:moveTo>
                  <a:lnTo>
                    <a:pt x="76199" y="2476499"/>
                  </a:lnTo>
                  <a:lnTo>
                    <a:pt x="68693" y="2476137"/>
                  </a:lnTo>
                  <a:lnTo>
                    <a:pt x="27881" y="2459232"/>
                  </a:lnTo>
                  <a:lnTo>
                    <a:pt x="3262" y="2422386"/>
                  </a:lnTo>
                  <a:lnTo>
                    <a:pt x="0" y="24002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6057899" y="0"/>
                  </a:lnTo>
                  <a:lnTo>
                    <a:pt x="6094720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404677"/>
                  </a:lnTo>
                  <a:lnTo>
                    <a:pt x="9832" y="2407806"/>
                  </a:lnTo>
                  <a:lnTo>
                    <a:pt x="9951" y="2409012"/>
                  </a:lnTo>
                  <a:lnTo>
                    <a:pt x="25956" y="2444349"/>
                  </a:lnTo>
                  <a:lnTo>
                    <a:pt x="58897" y="2464839"/>
                  </a:lnTo>
                  <a:lnTo>
                    <a:pt x="71821" y="2466974"/>
                  </a:lnTo>
                  <a:lnTo>
                    <a:pt x="6094719" y="2466974"/>
                  </a:lnTo>
                  <a:lnTo>
                    <a:pt x="6093855" y="2467491"/>
                  </a:lnTo>
                  <a:lnTo>
                    <a:pt x="6087059" y="2470698"/>
                  </a:lnTo>
                  <a:lnTo>
                    <a:pt x="6079986" y="2473236"/>
                  </a:lnTo>
                  <a:lnTo>
                    <a:pt x="6072768" y="2475049"/>
                  </a:lnTo>
                  <a:lnTo>
                    <a:pt x="6065406" y="2476137"/>
                  </a:lnTo>
                  <a:lnTo>
                    <a:pt x="6057899" y="2476499"/>
                  </a:lnTo>
                  <a:close/>
                </a:path>
                <a:path w="6134100" h="2476500">
                  <a:moveTo>
                    <a:pt x="6094719" y="2466974"/>
                  </a:moveTo>
                  <a:lnTo>
                    <a:pt x="6062276" y="2466974"/>
                  </a:lnTo>
                  <a:lnTo>
                    <a:pt x="6066612" y="2466547"/>
                  </a:lnTo>
                  <a:lnTo>
                    <a:pt x="6075199" y="2464839"/>
                  </a:lnTo>
                  <a:lnTo>
                    <a:pt x="6108139" y="2444349"/>
                  </a:lnTo>
                  <a:lnTo>
                    <a:pt x="6124146" y="2409012"/>
                  </a:lnTo>
                  <a:lnTo>
                    <a:pt x="6124572" y="2404677"/>
                  </a:lnTo>
                  <a:lnTo>
                    <a:pt x="6124572" y="71821"/>
                  </a:lnTo>
                  <a:lnTo>
                    <a:pt x="6110902" y="35516"/>
                  </a:lnTo>
                  <a:lnTo>
                    <a:pt x="6079053" y="12829"/>
                  </a:lnTo>
                  <a:lnTo>
                    <a:pt x="6062276" y="9524"/>
                  </a:lnTo>
                  <a:lnTo>
                    <a:pt x="6094720" y="9524"/>
                  </a:lnTo>
                  <a:lnTo>
                    <a:pt x="6125090" y="40242"/>
                  </a:lnTo>
                  <a:lnTo>
                    <a:pt x="6134099" y="2400299"/>
                  </a:lnTo>
                  <a:lnTo>
                    <a:pt x="6133736" y="2407806"/>
                  </a:lnTo>
                  <a:lnTo>
                    <a:pt x="6116831" y="2448616"/>
                  </a:lnTo>
                  <a:lnTo>
                    <a:pt x="6100368" y="2463574"/>
                  </a:lnTo>
                  <a:lnTo>
                    <a:pt x="6094719" y="2466974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81674" y="3724274"/>
              <a:ext cx="5915024" cy="226694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676898" y="6286499"/>
              <a:ext cx="6134100" cy="1847850"/>
            </a:xfrm>
            <a:custGeom>
              <a:avLst/>
              <a:gdLst/>
              <a:ahLst/>
              <a:cxnLst/>
              <a:rect l="l" t="t" r="r" b="b"/>
              <a:pathLst>
                <a:path w="6134100" h="1847850">
                  <a:moveTo>
                    <a:pt x="6062903" y="1847849"/>
                  </a:moveTo>
                  <a:lnTo>
                    <a:pt x="71196" y="1847849"/>
                  </a:lnTo>
                  <a:lnTo>
                    <a:pt x="66241" y="1847360"/>
                  </a:lnTo>
                  <a:lnTo>
                    <a:pt x="29705" y="1832227"/>
                  </a:lnTo>
                  <a:lnTo>
                    <a:pt x="3885" y="1796186"/>
                  </a:lnTo>
                  <a:lnTo>
                    <a:pt x="0" y="1776652"/>
                  </a:lnTo>
                  <a:lnTo>
                    <a:pt x="0" y="17716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062903" y="0"/>
                  </a:lnTo>
                  <a:lnTo>
                    <a:pt x="6104394" y="15621"/>
                  </a:lnTo>
                  <a:lnTo>
                    <a:pt x="6130214" y="51661"/>
                  </a:lnTo>
                  <a:lnTo>
                    <a:pt x="6134100" y="71196"/>
                  </a:lnTo>
                  <a:lnTo>
                    <a:pt x="6134100" y="1776652"/>
                  </a:lnTo>
                  <a:lnTo>
                    <a:pt x="6118477" y="1818143"/>
                  </a:lnTo>
                  <a:lnTo>
                    <a:pt x="6082438" y="1843962"/>
                  </a:lnTo>
                  <a:lnTo>
                    <a:pt x="6067858" y="1847360"/>
                  </a:lnTo>
                  <a:lnTo>
                    <a:pt x="6062903" y="18478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601312" y="7772399"/>
              <a:ext cx="1209675" cy="266700"/>
            </a:xfrm>
            <a:custGeom>
              <a:avLst/>
              <a:gdLst/>
              <a:ahLst/>
              <a:cxnLst/>
              <a:rect l="l" t="t" r="r" b="b"/>
              <a:pathLst>
                <a:path w="1209675" h="266700">
                  <a:moveTo>
                    <a:pt x="9525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0"/>
                  </a:lnTo>
                  <a:close/>
                </a:path>
                <a:path w="1209675" h="266700">
                  <a:moveTo>
                    <a:pt x="1209675" y="0"/>
                  </a:moveTo>
                  <a:lnTo>
                    <a:pt x="1200150" y="0"/>
                  </a:lnTo>
                  <a:lnTo>
                    <a:pt x="1200150" y="266700"/>
                  </a:lnTo>
                  <a:lnTo>
                    <a:pt x="1209675" y="266700"/>
                  </a:lnTo>
                  <a:lnTo>
                    <a:pt x="1209675" y="0"/>
                  </a:lnTo>
                  <a:close/>
                </a:path>
              </a:pathLst>
            </a:custGeom>
            <a:solidFill>
              <a:srgbClr val="004A8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5676899" y="6286499"/>
          <a:ext cx="6210300" cy="1744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975"/>
                <a:gridCol w="1371600"/>
                <a:gridCol w="1181100"/>
                <a:gridCol w="1047750"/>
                <a:gridCol w="1200150"/>
              </a:tblGrid>
              <a:tr h="38989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Controller</a:t>
                      </a:r>
                      <a:r>
                        <a:rPr dirty="0" sz="1300" spc="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Type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  <a:solidFill>
                      <a:srgbClr val="004A86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Settling</a:t>
                      </a:r>
                      <a:r>
                        <a:rPr dirty="0" sz="1300" spc="-3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6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Time</a:t>
                      </a:r>
                      <a:r>
                        <a:rPr dirty="0" sz="130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(s)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  <a:solidFill>
                      <a:srgbClr val="004A86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6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Overshoot</a:t>
                      </a:r>
                      <a:r>
                        <a:rPr dirty="0" sz="1300" spc="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(%)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  <a:solidFill>
                      <a:srgbClr val="004A86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85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ITAE</a:t>
                      </a:r>
                      <a:r>
                        <a:rPr dirty="0" sz="130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(×10</a:t>
                      </a:r>
                      <a:r>
                        <a:rPr dirty="0" sz="1150" spc="-10" b="1">
                          <a:solidFill>
                            <a:srgbClr val="004A86"/>
                          </a:solidFill>
                          <a:latin typeface="Calibri"/>
                          <a:cs typeface="Calibri"/>
                        </a:rPr>
                        <a:t>⁻</a:t>
                      </a:r>
                      <a:r>
                        <a:rPr dirty="0" sz="1300" spc="-1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³)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  <a:solidFill>
                      <a:srgbClr val="004A86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4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Stability </a:t>
                      </a:r>
                      <a:r>
                        <a:rPr dirty="0" sz="1300" spc="-10" b="1">
                          <a:solidFill>
                            <a:srgbClr val="004A86"/>
                          </a:solidFill>
                          <a:latin typeface="Roboto"/>
                          <a:cs typeface="Roboto"/>
                        </a:rPr>
                        <a:t>Index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  <a:solidFill>
                      <a:srgbClr val="004A86">
                        <a:alpha val="10198"/>
                      </a:srgbClr>
                    </a:solidFill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0">
                          <a:latin typeface="Roboto"/>
                          <a:cs typeface="Roboto"/>
                        </a:rPr>
                        <a:t>PID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 Controller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7.5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9.6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5">
                          <a:latin typeface="Roboto"/>
                          <a:cs typeface="Roboto"/>
                        </a:rPr>
                        <a:t>0.32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3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0.45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3.5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4.2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0.62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5">
                          <a:latin typeface="Roboto"/>
                          <a:cs typeface="Roboto"/>
                        </a:rPr>
                        <a:t>Fuzzy</a:t>
                      </a:r>
                      <a:r>
                        <a:rPr dirty="0" sz="1150" spc="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Logic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4.2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5.8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5">
                          <a:latin typeface="Roboto"/>
                          <a:cs typeface="Roboto"/>
                        </a:rPr>
                        <a:t>0.18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3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0.25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1.8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2.4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0.86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65">
                          <a:latin typeface="Roboto"/>
                          <a:cs typeface="Roboto"/>
                        </a:rPr>
                        <a:t>Safe</a:t>
                      </a:r>
                      <a:r>
                        <a:rPr dirty="0" sz="115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RL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5.1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6.3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5">
                          <a:latin typeface="Roboto"/>
                          <a:cs typeface="Roboto"/>
                        </a:rPr>
                        <a:t>0.22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3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0.28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2.0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2.6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0.89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  <a:lnB w="9525">
                      <a:solidFill>
                        <a:srgbClr val="004A86"/>
                      </a:solidFill>
                      <a:prstDash val="solid"/>
                    </a:lnB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Synergetic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Control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3.8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4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4.5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150" spc="-55">
                          <a:latin typeface="Roboto"/>
                          <a:cs typeface="Roboto"/>
                        </a:rPr>
                        <a:t>0.15</a:t>
                      </a:r>
                      <a:r>
                        <a:rPr dirty="0" sz="1150" spc="-2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>
                          <a:latin typeface="Roboto"/>
                          <a:cs typeface="Roboto"/>
                        </a:rPr>
                        <a:t>-</a:t>
                      </a:r>
                      <a:r>
                        <a:rPr dirty="0" sz="1150" spc="-3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0">
                          <a:latin typeface="Roboto"/>
                          <a:cs typeface="Roboto"/>
                        </a:rPr>
                        <a:t>0.22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004A86"/>
                      </a:solidFill>
                      <a:prstDash val="solid"/>
                    </a:lnL>
                    <a:lnR w="9525">
                      <a:solidFill>
                        <a:srgbClr val="004A86"/>
                      </a:solidFill>
                      <a:prstDash val="solid"/>
                    </a:lnR>
                    <a:lnT w="9525">
                      <a:solidFill>
                        <a:srgbClr val="004A86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4A86"/>
                      </a:solidFill>
                      <a:prstDash val="solid"/>
                    </a:lnL>
                    <a:lnT w="9525">
                      <a:solidFill>
                        <a:srgbClr val="004A86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27" name="object 27" descr=""/>
          <p:cNvGrpSpPr/>
          <p:nvPr/>
        </p:nvGrpSpPr>
        <p:grpSpPr>
          <a:xfrm>
            <a:off x="0" y="7810500"/>
            <a:ext cx="12192000" cy="514350"/>
            <a:chOff x="0" y="7810500"/>
            <a:chExt cx="12192000" cy="514350"/>
          </a:xfrm>
        </p:grpSpPr>
        <p:sp>
          <p:nvSpPr>
            <p:cNvPr id="28" name="object 28" descr=""/>
            <p:cNvSpPr/>
            <p:nvPr/>
          </p:nvSpPr>
          <p:spPr>
            <a:xfrm>
              <a:off x="0" y="803909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544174" y="7810500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58474" y="7905750"/>
            <a:ext cx="133349" cy="133349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9628832" y="7877395"/>
            <a:ext cx="499109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30"/>
              </a:lnSpc>
            </a:pPr>
            <a:r>
              <a:rPr dirty="0" sz="1150" spc="-50">
                <a:latin typeface="Roboto"/>
                <a:cs typeface="Roboto"/>
              </a:rPr>
              <a:t>1.6</a:t>
            </a:r>
            <a:r>
              <a:rPr dirty="0" sz="1150" spc="-25">
                <a:latin typeface="Roboto"/>
                <a:cs typeface="Roboto"/>
              </a:rPr>
              <a:t> </a:t>
            </a:r>
            <a:r>
              <a:rPr dirty="0" sz="1150">
                <a:latin typeface="Roboto"/>
                <a:cs typeface="Roboto"/>
              </a:rPr>
              <a:t>-</a:t>
            </a:r>
            <a:r>
              <a:rPr dirty="0" sz="1150" spc="-45">
                <a:latin typeface="Roboto"/>
                <a:cs typeface="Roboto"/>
              </a:rPr>
              <a:t> </a:t>
            </a:r>
            <a:r>
              <a:rPr dirty="0" sz="1150" spc="-35">
                <a:latin typeface="Roboto"/>
                <a:cs typeface="Roboto"/>
              </a:rPr>
              <a:t>2.2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674795" y="7877395"/>
            <a:ext cx="1339850" cy="3962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baseline="7246" sz="1725" spc="-75">
                <a:latin typeface="Roboto"/>
                <a:cs typeface="Roboto"/>
              </a:rPr>
              <a:t>0.</a:t>
            </a:r>
            <a:r>
              <a:rPr dirty="0" baseline="7246" sz="1725" spc="-434">
                <a:latin typeface="Roboto"/>
                <a:cs typeface="Roboto"/>
              </a:rPr>
              <a:t>9</a:t>
            </a:r>
            <a:r>
              <a:rPr dirty="0" sz="1000" spc="-700">
                <a:solidFill>
                  <a:srgbClr val="FFFFFF"/>
                </a:solidFill>
                <a:latin typeface="Roboto"/>
                <a:cs typeface="Roboto"/>
              </a:rPr>
              <a:t>M</a:t>
            </a:r>
            <a:r>
              <a:rPr dirty="0" baseline="7246" sz="1725" spc="-112">
                <a:latin typeface="Roboto"/>
                <a:cs typeface="Roboto"/>
              </a:rPr>
              <a:t>4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marL="1006475">
              <a:lnSpc>
                <a:spcPct val="100000"/>
              </a:lnSpc>
              <a:spcBef>
                <a:spcPts val="195"/>
              </a:spcBef>
            </a:pP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9/10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672465">
              <a:lnSpc>
                <a:spcPct val="100000"/>
              </a:lnSpc>
              <a:spcBef>
                <a:spcPts val="120"/>
              </a:spcBef>
            </a:pPr>
            <a:r>
              <a:rPr dirty="0" spc="-140"/>
              <a:t>Future</a:t>
            </a:r>
            <a:r>
              <a:rPr dirty="0" spc="-35"/>
              <a:t> </a:t>
            </a:r>
            <a:r>
              <a:rPr dirty="0" spc="-130"/>
              <a:t>Directions</a:t>
            </a:r>
            <a:r>
              <a:rPr dirty="0" spc="-35"/>
              <a:t> </a:t>
            </a:r>
            <a:r>
              <a:rPr dirty="0" spc="-170"/>
              <a:t>&amp;</a:t>
            </a:r>
            <a:r>
              <a:rPr dirty="0" spc="-35"/>
              <a:t> </a:t>
            </a:r>
            <a:r>
              <a:rPr dirty="0" spc="-114"/>
              <a:t>Conclusion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1499" y="3248024"/>
            <a:ext cx="5524500" cy="2371725"/>
            <a:chOff x="571499" y="3248024"/>
            <a:chExt cx="5524500" cy="2371725"/>
          </a:xfrm>
        </p:grpSpPr>
        <p:sp>
          <p:nvSpPr>
            <p:cNvPr id="4" name="object 4" descr=""/>
            <p:cNvSpPr/>
            <p:nvPr/>
          </p:nvSpPr>
          <p:spPr>
            <a:xfrm>
              <a:off x="595312" y="3248024"/>
              <a:ext cx="5501005" cy="2371725"/>
            </a:xfrm>
            <a:custGeom>
              <a:avLst/>
              <a:gdLst/>
              <a:ahLst/>
              <a:cxnLst/>
              <a:rect l="l" t="t" r="r" b="b"/>
              <a:pathLst>
                <a:path w="5501005" h="2371725">
                  <a:moveTo>
                    <a:pt x="5429490" y="2371724"/>
                  </a:moveTo>
                  <a:lnTo>
                    <a:pt x="0" y="2371724"/>
                  </a:lnTo>
                  <a:lnTo>
                    <a:pt x="0" y="0"/>
                  </a:lnTo>
                  <a:lnTo>
                    <a:pt x="5429490" y="0"/>
                  </a:lnTo>
                  <a:lnTo>
                    <a:pt x="5434445" y="488"/>
                  </a:lnTo>
                  <a:lnTo>
                    <a:pt x="5470980" y="15621"/>
                  </a:lnTo>
                  <a:lnTo>
                    <a:pt x="5496800" y="51661"/>
                  </a:lnTo>
                  <a:lnTo>
                    <a:pt x="5500686" y="71196"/>
                  </a:lnTo>
                  <a:lnTo>
                    <a:pt x="5500686" y="2300528"/>
                  </a:lnTo>
                  <a:lnTo>
                    <a:pt x="5485064" y="2342018"/>
                  </a:lnTo>
                  <a:lnTo>
                    <a:pt x="5449024" y="2367838"/>
                  </a:lnTo>
                  <a:lnTo>
                    <a:pt x="5429490" y="2371724"/>
                  </a:lnTo>
                  <a:close/>
                </a:path>
              </a:pathLst>
            </a:custGeom>
            <a:solidFill>
              <a:srgbClr val="004A86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1499" y="3248024"/>
              <a:ext cx="47625" cy="2371725"/>
            </a:xfrm>
            <a:custGeom>
              <a:avLst/>
              <a:gdLst/>
              <a:ahLst/>
              <a:cxnLst/>
              <a:rect l="l" t="t" r="r" b="b"/>
              <a:pathLst>
                <a:path w="47625" h="2371725">
                  <a:moveTo>
                    <a:pt x="47624" y="2371724"/>
                  </a:moveTo>
                  <a:lnTo>
                    <a:pt x="0" y="2371724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2371724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96924" y="3373596"/>
            <a:ext cx="1459865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105" b="1">
                <a:solidFill>
                  <a:srgbClr val="004A86"/>
                </a:solidFill>
                <a:latin typeface="Roboto"/>
                <a:cs typeface="Roboto"/>
              </a:rPr>
              <a:t>Key</a:t>
            </a:r>
            <a:r>
              <a:rPr dirty="0" sz="1800" spc="-6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1800" spc="-100" b="1">
                <a:solidFill>
                  <a:srgbClr val="004A86"/>
                </a:solidFill>
                <a:latin typeface="Roboto"/>
                <a:cs typeface="Roboto"/>
              </a:rPr>
              <a:t>Takeaways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96924" y="3778011"/>
            <a:ext cx="4756785" cy="492759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25"/>
              </a:spcBef>
            </a:pPr>
            <a:r>
              <a:rPr dirty="0" sz="1500" spc="-60">
                <a:solidFill>
                  <a:srgbClr val="333333"/>
                </a:solidFill>
                <a:latin typeface="Roboto"/>
                <a:cs typeface="Roboto"/>
              </a:rPr>
              <a:t>Intelligent,</a:t>
            </a:r>
            <a:r>
              <a:rPr dirty="0"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coordinated</a:t>
            </a:r>
            <a:r>
              <a:rPr dirty="0"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30">
                <a:solidFill>
                  <a:srgbClr val="333333"/>
                </a:solidFill>
                <a:latin typeface="Roboto"/>
                <a:cs typeface="Roboto"/>
              </a:rPr>
              <a:t>FACTS</a:t>
            </a:r>
            <a:r>
              <a:rPr dirty="0"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ensures</a:t>
            </a:r>
            <a:r>
              <a:rPr dirty="0"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60">
                <a:solidFill>
                  <a:srgbClr val="333333"/>
                </a:solidFill>
                <a:latin typeface="Roboto"/>
                <a:cs typeface="Roboto"/>
              </a:rPr>
              <a:t>resilient,</a:t>
            </a:r>
            <a:r>
              <a:rPr dirty="0" sz="15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45">
                <a:solidFill>
                  <a:srgbClr val="333333"/>
                </a:solidFill>
                <a:latin typeface="Roboto"/>
                <a:cs typeface="Roboto"/>
              </a:rPr>
              <a:t>stable,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renewable-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rich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grids</a:t>
            </a:r>
            <a:r>
              <a:rPr dirty="0" sz="1500" spc="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by: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96924" y="4501911"/>
            <a:ext cx="3378835" cy="969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030" indent="-100330">
              <a:lnSpc>
                <a:spcPct val="100000"/>
              </a:lnSpc>
              <a:spcBef>
                <a:spcPts val="100"/>
              </a:spcBef>
              <a:buChar char="•"/>
              <a:tabLst>
                <a:tab pos="113030" algn="l"/>
              </a:tabLst>
            </a:pP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Adapting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uncertain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operating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45">
                <a:solidFill>
                  <a:srgbClr val="333333"/>
                </a:solidFill>
                <a:latin typeface="Roboto"/>
                <a:cs typeface="Roboto"/>
              </a:rPr>
              <a:t>conditions</a:t>
            </a:r>
            <a:endParaRPr sz="1500">
              <a:latin typeface="Roboto"/>
              <a:cs typeface="Roboto"/>
            </a:endParaRPr>
          </a:p>
          <a:p>
            <a:pPr marL="113030" indent="-100330">
              <a:lnSpc>
                <a:spcPct val="100000"/>
              </a:lnSpc>
              <a:spcBef>
                <a:spcPts val="75"/>
              </a:spcBef>
              <a:buChar char="•"/>
              <a:tabLst>
                <a:tab pos="113030" algn="l"/>
              </a:tabLst>
            </a:pP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Managing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constraints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safely</a:t>
            </a:r>
            <a:endParaRPr sz="1500">
              <a:latin typeface="Roboto"/>
              <a:cs typeface="Roboto"/>
            </a:endParaRPr>
          </a:p>
          <a:p>
            <a:pPr marL="113030" indent="-100330">
              <a:lnSpc>
                <a:spcPct val="100000"/>
              </a:lnSpc>
              <a:spcBef>
                <a:spcPts val="75"/>
              </a:spcBef>
              <a:buChar char="•"/>
              <a:tabLst>
                <a:tab pos="113030" algn="l"/>
              </a:tabLst>
            </a:pP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Damping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oscillations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efficiently</a:t>
            </a:r>
            <a:endParaRPr sz="1500">
              <a:latin typeface="Roboto"/>
              <a:cs typeface="Roboto"/>
            </a:endParaRPr>
          </a:p>
          <a:p>
            <a:pPr marL="113030" indent="-100330">
              <a:lnSpc>
                <a:spcPct val="100000"/>
              </a:lnSpc>
              <a:spcBef>
                <a:spcPts val="75"/>
              </a:spcBef>
              <a:buChar char="•"/>
              <a:tabLst>
                <a:tab pos="113030" algn="l"/>
              </a:tabLst>
            </a:pP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Balancing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load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generation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55">
                <a:solidFill>
                  <a:srgbClr val="333333"/>
                </a:solidFill>
                <a:latin typeface="Roboto"/>
                <a:cs typeface="Roboto"/>
              </a:rPr>
              <a:t>dynamically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71499" y="952499"/>
            <a:ext cx="10429875" cy="4000500"/>
            <a:chOff x="571499" y="952499"/>
            <a:chExt cx="10429875" cy="4000500"/>
          </a:xfrm>
        </p:grpSpPr>
        <p:sp>
          <p:nvSpPr>
            <p:cNvPr id="10" name="object 10" descr=""/>
            <p:cNvSpPr/>
            <p:nvPr/>
          </p:nvSpPr>
          <p:spPr>
            <a:xfrm>
              <a:off x="571499" y="952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24" y="1076324"/>
              <a:ext cx="133349" cy="13334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71499" y="1714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562" y="1838317"/>
              <a:ext cx="142845" cy="13334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71499" y="2476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2590799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5124" y="1619250"/>
              <a:ext cx="4286248" cy="3333748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130300" y="927893"/>
            <a:ext cx="4819650" cy="5467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85"/>
              </a:spcBef>
            </a:pP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Expanding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multi-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agent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larger</a:t>
            </a:r>
            <a:r>
              <a:rPr dirty="0" sz="16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5">
                <a:solidFill>
                  <a:srgbClr val="333333"/>
                </a:solidFill>
                <a:latin typeface="Roboto"/>
                <a:cs typeface="Roboto"/>
              </a:rPr>
              <a:t>grids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Roboto"/>
                <a:cs typeface="Roboto"/>
              </a:rPr>
              <a:t>more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35">
                <a:solidFill>
                  <a:srgbClr val="333333"/>
                </a:solidFill>
                <a:latin typeface="Roboto"/>
                <a:cs typeface="Roboto"/>
              </a:rPr>
              <a:t>FACTS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devices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30300" y="1689893"/>
            <a:ext cx="4337685" cy="5467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85"/>
              </a:spcBef>
            </a:pP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333333"/>
                </a:solidFill>
                <a:latin typeface="Roboto"/>
                <a:cs typeface="Roboto"/>
              </a:rPr>
              <a:t>digital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twin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wide-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area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measurements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30300" y="2451893"/>
            <a:ext cx="4422140" cy="5467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85"/>
              </a:spcBef>
            </a:pP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Future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work: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Hardware-</a:t>
            </a:r>
            <a:r>
              <a:rPr dirty="0" sz="1650" spc="-60">
                <a:solidFill>
                  <a:srgbClr val="333333"/>
                </a:solidFill>
                <a:latin typeface="Roboto"/>
                <a:cs typeface="Roboto"/>
              </a:rPr>
              <a:t>in-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the-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loop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65">
                <a:solidFill>
                  <a:srgbClr val="333333"/>
                </a:solidFill>
                <a:latin typeface="Roboto"/>
                <a:cs typeface="Roboto"/>
              </a:rPr>
              <a:t>validation,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deeper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learning</a:t>
            </a:r>
            <a:r>
              <a:rPr dirty="0" sz="16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algorithms,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333333"/>
                </a:solidFill>
                <a:latin typeface="Roboto"/>
                <a:cs typeface="Roboto"/>
              </a:rPr>
              <a:t>self-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adapting</a:t>
            </a:r>
            <a:r>
              <a:rPr dirty="0" sz="16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intelligence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144891" y="3269234"/>
            <a:ext cx="77089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4604" marR="5080" indent="-2540">
              <a:lnSpc>
                <a:spcPct val="115399"/>
              </a:lnSpc>
              <a:spcBef>
                <a:spcPts val="90"/>
              </a:spcBef>
            </a:pPr>
            <a:r>
              <a:rPr dirty="0" sz="1300" spc="-60" b="0">
                <a:solidFill>
                  <a:srgbClr val="004A86"/>
                </a:solidFill>
                <a:latin typeface="Roboto Medium"/>
                <a:cs typeface="Roboto Medium"/>
              </a:rPr>
              <a:t>Renewable </a:t>
            </a:r>
            <a:r>
              <a:rPr dirty="0" sz="1300" spc="-55" b="0">
                <a:solidFill>
                  <a:srgbClr val="004A86"/>
                </a:solidFill>
                <a:latin typeface="Roboto Medium"/>
                <a:cs typeface="Roboto Medium"/>
              </a:rPr>
              <a:t>Integration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495357" y="3269234"/>
            <a:ext cx="72580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08915">
              <a:lnSpc>
                <a:spcPct val="115399"/>
              </a:lnSpc>
              <a:spcBef>
                <a:spcPts val="90"/>
              </a:spcBef>
            </a:pPr>
            <a:r>
              <a:rPr dirty="0" sz="1300" spc="-20" b="0">
                <a:solidFill>
                  <a:srgbClr val="004A86"/>
                </a:solidFill>
                <a:latin typeface="Roboto Medium"/>
                <a:cs typeface="Roboto Medium"/>
              </a:rPr>
              <a:t>Grid </a:t>
            </a:r>
            <a:r>
              <a:rPr dirty="0" sz="1300" spc="-60" b="0">
                <a:solidFill>
                  <a:srgbClr val="004A86"/>
                </a:solidFill>
                <a:latin typeface="Roboto Medium"/>
                <a:cs typeface="Roboto Medium"/>
              </a:rPr>
              <a:t>Resilience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825880" y="3269234"/>
            <a:ext cx="72072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6670" marR="5080" indent="-14604">
              <a:lnSpc>
                <a:spcPct val="115399"/>
              </a:lnSpc>
              <a:spcBef>
                <a:spcPts val="90"/>
              </a:spcBef>
            </a:pPr>
            <a:r>
              <a:rPr dirty="0" sz="1300" spc="-65" b="0">
                <a:solidFill>
                  <a:srgbClr val="004A86"/>
                </a:solidFill>
                <a:latin typeface="Roboto Medium"/>
                <a:cs typeface="Roboto Medium"/>
              </a:rPr>
              <a:t>Optimized </a:t>
            </a:r>
            <a:r>
              <a:rPr dirty="0" sz="1300" spc="-55" b="0">
                <a:solidFill>
                  <a:srgbClr val="004A86"/>
                </a:solidFill>
                <a:latin typeface="Roboto Medium"/>
                <a:cs typeface="Roboto Medium"/>
              </a:rPr>
              <a:t>Operation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138318" y="4046949"/>
            <a:ext cx="1440180" cy="1035685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60"/>
              </a:spcBef>
            </a:pPr>
            <a:r>
              <a:rPr dirty="0" sz="2500" spc="-155" b="1">
                <a:solidFill>
                  <a:srgbClr val="004A86"/>
                </a:solidFill>
                <a:latin typeface="Roboto"/>
                <a:cs typeface="Roboto"/>
              </a:rPr>
              <a:t>Thank</a:t>
            </a:r>
            <a:r>
              <a:rPr dirty="0" sz="2500" spc="-35" b="1">
                <a:solidFill>
                  <a:srgbClr val="004A86"/>
                </a:solidFill>
                <a:latin typeface="Roboto"/>
                <a:cs typeface="Roboto"/>
              </a:rPr>
              <a:t> </a:t>
            </a:r>
            <a:r>
              <a:rPr dirty="0" sz="2500" spc="-80" b="1">
                <a:solidFill>
                  <a:srgbClr val="004A86"/>
                </a:solidFill>
                <a:latin typeface="Roboto"/>
                <a:cs typeface="Roboto"/>
              </a:rPr>
              <a:t>you!</a:t>
            </a:r>
            <a:endParaRPr sz="25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50"/>
              </a:spcBef>
            </a:pPr>
            <a:r>
              <a:rPr dirty="0" sz="1950" spc="-10" b="0">
                <a:solidFill>
                  <a:srgbClr val="0077B5"/>
                </a:solidFill>
                <a:latin typeface="Roboto Medium"/>
                <a:cs typeface="Roboto Medium"/>
              </a:rPr>
              <a:t>Questions?</a:t>
            </a:r>
            <a:endParaRPr sz="1950">
              <a:latin typeface="Roboto Medium"/>
              <a:cs typeface="Roboto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345064" y="2039195"/>
            <a:ext cx="683260" cy="3975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365"/>
              </a:lnSpc>
              <a:spcBef>
                <a:spcPts val="114"/>
              </a:spcBef>
            </a:pPr>
            <a:r>
              <a:rPr dirty="0" sz="1150" spc="-45" b="0">
                <a:solidFill>
                  <a:srgbClr val="004A86"/>
                </a:solidFill>
                <a:latin typeface="Roboto Medium"/>
                <a:cs typeface="Roboto Medium"/>
              </a:rPr>
              <a:t>Controllers</a:t>
            </a:r>
            <a:endParaRPr sz="1150">
              <a:latin typeface="Roboto Medium"/>
              <a:cs typeface="Roboto Medium"/>
            </a:endParaRPr>
          </a:p>
          <a:p>
            <a:pPr marL="440690">
              <a:lnSpc>
                <a:spcPts val="1545"/>
              </a:lnSpc>
            </a:pPr>
            <a:r>
              <a:rPr dirty="0" sz="1300" spc="-50" b="1">
                <a:solidFill>
                  <a:srgbClr val="004A86"/>
                </a:solidFill>
                <a:latin typeface="Arial Nova"/>
                <a:cs typeface="Arial Nova"/>
              </a:rPr>
              <a:t>1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511877" y="2039195"/>
            <a:ext cx="692785" cy="3975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365"/>
              </a:lnSpc>
              <a:spcBef>
                <a:spcPts val="114"/>
              </a:spcBef>
            </a:pPr>
            <a:r>
              <a:rPr dirty="0" sz="1150" spc="-60" b="0">
                <a:solidFill>
                  <a:srgbClr val="004A86"/>
                </a:solidFill>
                <a:latin typeface="Roboto Medium"/>
                <a:cs typeface="Roboto Medium"/>
              </a:rPr>
              <a:t>Framework</a:t>
            </a:r>
            <a:endParaRPr sz="1150">
              <a:latin typeface="Roboto Medium"/>
              <a:cs typeface="Roboto Medium"/>
            </a:endParaRPr>
          </a:p>
          <a:p>
            <a:pPr marL="445134">
              <a:lnSpc>
                <a:spcPts val="1545"/>
              </a:lnSpc>
            </a:pPr>
            <a:r>
              <a:rPr dirty="0" sz="1300" spc="-50" b="1">
                <a:solidFill>
                  <a:srgbClr val="004A86"/>
                </a:solidFill>
                <a:latin typeface="Arial Nova"/>
                <a:cs typeface="Arial Nova"/>
              </a:rPr>
              <a:t>2</a:t>
            </a:r>
            <a:endParaRPr sz="1300">
              <a:latin typeface="Arial Nova"/>
              <a:cs typeface="Arial Nov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378402" y="1775618"/>
            <a:ext cx="307276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0">
                <a:solidFill>
                  <a:srgbClr val="004A86"/>
                </a:solidFill>
                <a:latin typeface="Roboto Medium"/>
                <a:cs typeface="Roboto Medium"/>
              </a:rPr>
              <a:t>Advanced</a:t>
            </a:r>
            <a:r>
              <a:rPr dirty="0" sz="1150" spc="275" b="0">
                <a:solidFill>
                  <a:srgbClr val="004A86"/>
                </a:solidFill>
                <a:latin typeface="Roboto Medium"/>
                <a:cs typeface="Roboto Medium"/>
              </a:rPr>
              <a:t> </a:t>
            </a:r>
            <a:r>
              <a:rPr dirty="0" baseline="-5050" sz="2475" spc="-82" b="1">
                <a:solidFill>
                  <a:srgbClr val="004A86"/>
                </a:solidFill>
                <a:latin typeface="Roboto"/>
                <a:cs typeface="Roboto"/>
              </a:rPr>
              <a:t>Rese</a:t>
            </a:r>
            <a:r>
              <a:rPr dirty="0" baseline="-5050" sz="2475" spc="-1139" b="1">
                <a:solidFill>
                  <a:srgbClr val="004A86"/>
                </a:solidFill>
                <a:latin typeface="Roboto"/>
                <a:cs typeface="Roboto"/>
              </a:rPr>
              <a:t>a</a:t>
            </a:r>
            <a:r>
              <a:rPr dirty="0" sz="1150" spc="-120" b="0">
                <a:solidFill>
                  <a:srgbClr val="004A86"/>
                </a:solidFill>
                <a:latin typeface="Roboto Medium"/>
                <a:cs typeface="Roboto Medium"/>
              </a:rPr>
              <a:t>C</a:t>
            </a:r>
            <a:r>
              <a:rPr dirty="0" baseline="-5050" sz="2475" spc="-922" b="1">
                <a:solidFill>
                  <a:srgbClr val="004A86"/>
                </a:solidFill>
                <a:latin typeface="Roboto"/>
                <a:cs typeface="Roboto"/>
              </a:rPr>
              <a:t>r</a:t>
            </a:r>
            <a:r>
              <a:rPr dirty="0" sz="1150" spc="-185" b="0">
                <a:solidFill>
                  <a:srgbClr val="004A86"/>
                </a:solidFill>
                <a:latin typeface="Roboto Medium"/>
                <a:cs typeface="Roboto Medium"/>
              </a:rPr>
              <a:t>o</a:t>
            </a:r>
            <a:r>
              <a:rPr dirty="0" baseline="-5050" sz="2475" spc="-1207" b="1">
                <a:solidFill>
                  <a:srgbClr val="004A86"/>
                </a:solidFill>
                <a:latin typeface="Roboto"/>
                <a:cs typeface="Roboto"/>
              </a:rPr>
              <a:t>c</a:t>
            </a:r>
            <a:r>
              <a:rPr dirty="0" sz="1150" spc="-55" b="0">
                <a:solidFill>
                  <a:srgbClr val="004A86"/>
                </a:solidFill>
                <a:latin typeface="Roboto Medium"/>
                <a:cs typeface="Roboto Medium"/>
              </a:rPr>
              <a:t>o</a:t>
            </a:r>
            <a:r>
              <a:rPr dirty="0" sz="1150" spc="-390" b="0">
                <a:solidFill>
                  <a:srgbClr val="004A86"/>
                </a:solidFill>
                <a:latin typeface="Roboto Medium"/>
                <a:cs typeface="Roboto Medium"/>
              </a:rPr>
              <a:t>r</a:t>
            </a:r>
            <a:r>
              <a:rPr dirty="0" baseline="-5050" sz="2475" spc="-997" b="1">
                <a:solidFill>
                  <a:srgbClr val="004A86"/>
                </a:solidFill>
                <a:latin typeface="Roboto"/>
                <a:cs typeface="Roboto"/>
              </a:rPr>
              <a:t>h</a:t>
            </a:r>
            <a:r>
              <a:rPr dirty="0" sz="1150" spc="-55" b="0">
                <a:solidFill>
                  <a:srgbClr val="004A86"/>
                </a:solidFill>
                <a:latin typeface="Roboto Medium"/>
                <a:cs typeface="Roboto Medium"/>
              </a:rPr>
              <a:t>di</a:t>
            </a:r>
            <a:r>
              <a:rPr dirty="0" sz="1150" spc="-635" b="0">
                <a:solidFill>
                  <a:srgbClr val="004A86"/>
                </a:solidFill>
                <a:latin typeface="Roboto Medium"/>
                <a:cs typeface="Roboto Medium"/>
              </a:rPr>
              <a:t>n</a:t>
            </a:r>
            <a:r>
              <a:rPr dirty="0" baseline="-5050" sz="2475" spc="-825" b="1">
                <a:solidFill>
                  <a:srgbClr val="004A86"/>
                </a:solidFill>
                <a:latin typeface="Roboto"/>
                <a:cs typeface="Roboto"/>
              </a:rPr>
              <a:t>R</a:t>
            </a:r>
            <a:r>
              <a:rPr dirty="0" sz="1150" spc="-195" b="0">
                <a:solidFill>
                  <a:srgbClr val="004A86"/>
                </a:solidFill>
                <a:latin typeface="Roboto Medium"/>
                <a:cs typeface="Roboto Medium"/>
              </a:rPr>
              <a:t>a</a:t>
            </a:r>
            <a:r>
              <a:rPr dirty="0" baseline="-5050" sz="2475" spc="-1297" b="1">
                <a:solidFill>
                  <a:srgbClr val="004A86"/>
                </a:solidFill>
                <a:latin typeface="Roboto"/>
                <a:cs typeface="Roboto"/>
              </a:rPr>
              <a:t>o</a:t>
            </a:r>
            <a:r>
              <a:rPr dirty="0" sz="1150" spc="-55" b="0">
                <a:solidFill>
                  <a:srgbClr val="004A86"/>
                </a:solidFill>
                <a:latin typeface="Roboto Medium"/>
                <a:cs typeface="Roboto Medium"/>
              </a:rPr>
              <a:t>ti</a:t>
            </a:r>
            <a:r>
              <a:rPr dirty="0" sz="1150" spc="-600" b="0">
                <a:solidFill>
                  <a:srgbClr val="004A86"/>
                </a:solidFill>
                <a:latin typeface="Roboto Medium"/>
                <a:cs typeface="Roboto Medium"/>
              </a:rPr>
              <a:t>o</a:t>
            </a:r>
            <a:r>
              <a:rPr dirty="0" baseline="-5050" sz="2475" spc="-607" b="1">
                <a:solidFill>
                  <a:srgbClr val="004A86"/>
                </a:solidFill>
                <a:latin typeface="Roboto"/>
                <a:cs typeface="Roboto"/>
              </a:rPr>
              <a:t>a</a:t>
            </a:r>
            <a:r>
              <a:rPr dirty="0" sz="1150" spc="-365" b="0">
                <a:solidFill>
                  <a:srgbClr val="004A86"/>
                </a:solidFill>
                <a:latin typeface="Roboto Medium"/>
                <a:cs typeface="Roboto Medium"/>
              </a:rPr>
              <a:t>n</a:t>
            </a:r>
            <a:r>
              <a:rPr dirty="0" baseline="-5050" sz="2475" spc="-82" b="1">
                <a:solidFill>
                  <a:srgbClr val="004A86"/>
                </a:solidFill>
                <a:latin typeface="Roboto"/>
                <a:cs typeface="Roboto"/>
              </a:rPr>
              <a:t>dma</a:t>
            </a:r>
            <a:r>
              <a:rPr dirty="0" baseline="-5050" sz="2475" spc="-982" b="1">
                <a:solidFill>
                  <a:srgbClr val="004A86"/>
                </a:solidFill>
                <a:latin typeface="Roboto"/>
                <a:cs typeface="Roboto"/>
              </a:rPr>
              <a:t>p</a:t>
            </a:r>
            <a:r>
              <a:rPr dirty="0" sz="1150" spc="-55" b="0">
                <a:solidFill>
                  <a:srgbClr val="004A86"/>
                </a:solidFill>
                <a:latin typeface="Roboto Medium"/>
                <a:cs typeface="Roboto Medium"/>
              </a:rPr>
              <a:t>Self-</a:t>
            </a:r>
            <a:r>
              <a:rPr dirty="0" sz="1150" spc="-20" b="0">
                <a:solidFill>
                  <a:srgbClr val="004A86"/>
                </a:solidFill>
                <a:latin typeface="Roboto Medium"/>
                <a:cs typeface="Roboto Medium"/>
              </a:rPr>
              <a:t>Adapting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759353" y="2039195"/>
            <a:ext cx="541020" cy="3975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365"/>
              </a:lnSpc>
              <a:spcBef>
                <a:spcPts val="114"/>
              </a:spcBef>
            </a:pPr>
            <a:r>
              <a:rPr dirty="0" sz="1150" spc="-55" b="0">
                <a:solidFill>
                  <a:srgbClr val="004A86"/>
                </a:solidFill>
                <a:latin typeface="Roboto Medium"/>
                <a:cs typeface="Roboto Medium"/>
              </a:rPr>
              <a:t>Systems</a:t>
            </a:r>
            <a:endParaRPr sz="1150">
              <a:latin typeface="Roboto Medium"/>
              <a:cs typeface="Roboto Medium"/>
            </a:endParaRPr>
          </a:p>
          <a:p>
            <a:pPr algn="r" marR="75565">
              <a:lnSpc>
                <a:spcPts val="1545"/>
              </a:lnSpc>
            </a:pPr>
            <a:r>
              <a:rPr dirty="0" sz="1300" spc="-50" b="1">
                <a:solidFill>
                  <a:srgbClr val="004A86"/>
                </a:solidFill>
                <a:latin typeface="Arial Nova"/>
                <a:cs typeface="Arial Nova"/>
              </a:rPr>
              <a:t>3</a:t>
            </a:r>
            <a:endParaRPr sz="1300">
              <a:latin typeface="Arial Nova"/>
              <a:cs typeface="Arial Nov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29" name="object 29" descr=""/>
            <p:cNvSpPr/>
            <p:nvPr/>
          </p:nvSpPr>
          <p:spPr>
            <a:xfrm>
              <a:off x="0" y="6572249"/>
              <a:ext cx="12192000" cy="285750"/>
            </a:xfrm>
            <a:custGeom>
              <a:avLst/>
              <a:gdLst/>
              <a:ahLst/>
              <a:cxnLst/>
              <a:rect l="l" t="t" r="r" b="b"/>
              <a:pathLst>
                <a:path w="12192000" h="285750">
                  <a:moveTo>
                    <a:pt x="12191999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85749"/>
                  </a:lnTo>
                  <a:close/>
                </a:path>
              </a:pathLst>
            </a:custGeom>
            <a:solidFill>
              <a:srgbClr val="004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10833000" y="6445249"/>
            <a:ext cx="1181735" cy="361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  <a:p>
            <a:pPr marL="762635">
              <a:lnSpc>
                <a:spcPct val="100000"/>
              </a:lnSpc>
              <a:spcBef>
                <a:spcPts val="225"/>
              </a:spcBef>
            </a:pPr>
            <a:r>
              <a:rPr dirty="0" sz="1300" spc="-45">
                <a:solidFill>
                  <a:srgbClr val="FFFFFF"/>
                </a:solidFill>
                <a:latin typeface="Roboto"/>
                <a:cs typeface="Roboto"/>
              </a:rPr>
              <a:t>10/10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2025-06-15T20:21:30Z</dcterms:created>
  <dcterms:modified xsi:type="dcterms:W3CDTF">2025-06-15T20:21:30Z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