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200783"/>
            <a:ext cx="10363200" cy="14908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336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975608"/>
            <a:ext cx="8534400" cy="1774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66CC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336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66CC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8974" y="200024"/>
            <a:ext cx="1142999" cy="6476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524" y="6429374"/>
            <a:ext cx="12172950" cy="419100"/>
          </a:xfrm>
          <a:custGeom>
            <a:avLst/>
            <a:gdLst/>
            <a:ahLst/>
            <a:cxnLst/>
            <a:rect l="l" t="t" r="r" b="b"/>
            <a:pathLst>
              <a:path w="12172950" h="419100">
                <a:moveTo>
                  <a:pt x="12172949" y="419099"/>
                </a:moveTo>
                <a:lnTo>
                  <a:pt x="0" y="419099"/>
                </a:lnTo>
                <a:lnTo>
                  <a:pt x="0" y="0"/>
                </a:lnTo>
                <a:lnTo>
                  <a:pt x="12172949" y="0"/>
                </a:lnTo>
                <a:lnTo>
                  <a:pt x="12172949" y="41909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19124" y="1038224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336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632839"/>
            <a:ext cx="5303520" cy="46855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632839"/>
            <a:ext cx="5303520" cy="46855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336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816443" cy="201039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506" y="13394"/>
            <a:ext cx="76541" cy="4337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1460" y="69525"/>
            <a:ext cx="51435" cy="3175"/>
          </a:xfrm>
          <a:custGeom>
            <a:avLst/>
            <a:gdLst/>
            <a:ahLst/>
            <a:cxnLst/>
            <a:rect l="l" t="t" r="r" b="b"/>
            <a:pathLst>
              <a:path w="51435" h="3175">
                <a:moveTo>
                  <a:pt x="51027" y="2551"/>
                </a:moveTo>
                <a:lnTo>
                  <a:pt x="0" y="2551"/>
                </a:lnTo>
                <a:lnTo>
                  <a:pt x="0" y="0"/>
                </a:lnTo>
                <a:lnTo>
                  <a:pt x="51027" y="0"/>
                </a:lnTo>
                <a:lnTo>
                  <a:pt x="51027" y="2551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4025" y="402720"/>
            <a:ext cx="10340974" cy="772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336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6424" y="1256982"/>
            <a:ext cx="7921625" cy="1894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66CC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06424" y="6557987"/>
            <a:ext cx="2580005" cy="26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602349"/>
            <a:ext cx="2804160" cy="354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785523" y="6444077"/>
            <a:ext cx="1114425" cy="53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17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25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2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hyperlink" Target="http://www.researcher-website.edu/" TargetMode="External"/><Relationship Id="rId1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7086600"/>
            <a:chOff x="0" y="0"/>
            <a:chExt cx="12192000" cy="70866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0865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8974" y="200024"/>
              <a:ext cx="1142999" cy="6476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9975" y="3267075"/>
              <a:ext cx="3809999" cy="26669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524" y="6657974"/>
              <a:ext cx="12172950" cy="419100"/>
            </a:xfrm>
            <a:custGeom>
              <a:avLst/>
              <a:gdLst/>
              <a:ahLst/>
              <a:cxnLst/>
              <a:rect l="l" t="t" r="r" b="b"/>
              <a:pathLst>
                <a:path w="12172950" h="419100">
                  <a:moveTo>
                    <a:pt x="1217294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12172949" y="0"/>
                  </a:lnTo>
                  <a:lnTo>
                    <a:pt x="12172949" y="41909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06424" y="6732904"/>
            <a:ext cx="258000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85">
                <a:solidFill>
                  <a:srgbClr val="FFFFFF"/>
                </a:solidFill>
                <a:latin typeface="Roboto"/>
                <a:cs typeface="Roboto"/>
              </a:rPr>
              <a:t>©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2023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IEEE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Roboto"/>
                <a:cs typeface="Roboto"/>
              </a:rPr>
              <a:t>Conference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Presentation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19124" y="3771899"/>
            <a:ext cx="5715000" cy="1447800"/>
            <a:chOff x="619124" y="3771899"/>
            <a:chExt cx="5715000" cy="1447800"/>
          </a:xfrm>
        </p:grpSpPr>
        <p:sp>
          <p:nvSpPr>
            <p:cNvPr id="9" name="object 9" descr=""/>
            <p:cNvSpPr/>
            <p:nvPr/>
          </p:nvSpPr>
          <p:spPr>
            <a:xfrm>
              <a:off x="619124" y="3771899"/>
              <a:ext cx="5715000" cy="1447800"/>
            </a:xfrm>
            <a:custGeom>
              <a:avLst/>
              <a:gdLst/>
              <a:ahLst/>
              <a:cxnLst/>
              <a:rect l="l" t="t" r="r" b="b"/>
              <a:pathLst>
                <a:path w="5715000" h="1447800">
                  <a:moveTo>
                    <a:pt x="5714999" y="1447799"/>
                  </a:moveTo>
                  <a:lnTo>
                    <a:pt x="0" y="1447799"/>
                  </a:lnTo>
                  <a:lnTo>
                    <a:pt x="0" y="0"/>
                  </a:lnTo>
                  <a:lnTo>
                    <a:pt x="5714999" y="0"/>
                  </a:lnTo>
                  <a:lnTo>
                    <a:pt x="5714999" y="1447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19124" y="3771899"/>
              <a:ext cx="38100" cy="1447800"/>
            </a:xfrm>
            <a:custGeom>
              <a:avLst/>
              <a:gdLst/>
              <a:ahLst/>
              <a:cxnLst/>
              <a:rect l="l" t="t" r="r" b="b"/>
              <a:pathLst>
                <a:path w="38100" h="1447800">
                  <a:moveTo>
                    <a:pt x="38099" y="1447799"/>
                  </a:moveTo>
                  <a:lnTo>
                    <a:pt x="0" y="1447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4477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2159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5"/>
              </a:spcBef>
            </a:pPr>
            <a:r>
              <a:rPr dirty="0" sz="3000" spc="-165"/>
              <a:t>Hybrid</a:t>
            </a:r>
            <a:r>
              <a:rPr dirty="0" sz="3000" spc="-25"/>
              <a:t> </a:t>
            </a:r>
            <a:r>
              <a:rPr dirty="0" sz="3000" spc="-215"/>
              <a:t>AGC</a:t>
            </a:r>
            <a:r>
              <a:rPr dirty="0" sz="3000" spc="-25"/>
              <a:t> </a:t>
            </a:r>
            <a:r>
              <a:rPr dirty="0" sz="3000" spc="-195"/>
              <a:t>Framework</a:t>
            </a:r>
            <a:r>
              <a:rPr dirty="0" sz="3000" spc="-30"/>
              <a:t> </a:t>
            </a:r>
            <a:r>
              <a:rPr dirty="0" sz="3000" spc="-140"/>
              <a:t>for</a:t>
            </a:r>
            <a:r>
              <a:rPr dirty="0" sz="3000" spc="-25"/>
              <a:t> </a:t>
            </a:r>
            <a:r>
              <a:rPr dirty="0" sz="3000" spc="-160"/>
              <a:t>Integrated</a:t>
            </a:r>
            <a:r>
              <a:rPr dirty="0" sz="3000" spc="-25"/>
              <a:t> </a:t>
            </a:r>
            <a:r>
              <a:rPr dirty="0" sz="3000" spc="-170"/>
              <a:t>Wind-</a:t>
            </a:r>
            <a:r>
              <a:rPr dirty="0" sz="3000" spc="-160"/>
              <a:t>Solar</a:t>
            </a:r>
            <a:r>
              <a:rPr dirty="0" sz="3000" spc="-25"/>
              <a:t> </a:t>
            </a:r>
            <a:r>
              <a:rPr dirty="0" sz="3000" spc="-170"/>
              <a:t>Energy</a:t>
            </a:r>
            <a:r>
              <a:rPr dirty="0" sz="3000" spc="-25"/>
              <a:t> </a:t>
            </a:r>
            <a:r>
              <a:rPr dirty="0" sz="3000" spc="-120"/>
              <a:t>Systems</a:t>
            </a:r>
            <a:endParaRPr sz="3000"/>
          </a:p>
        </p:txBody>
      </p:sp>
      <p:sp>
        <p:nvSpPr>
          <p:cNvPr id="12" name="object 1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Using</a:t>
            </a:r>
            <a:r>
              <a:rPr dirty="0" spc="15"/>
              <a:t> </a:t>
            </a:r>
            <a:r>
              <a:rPr dirty="0" spc="-120"/>
              <a:t>Ensemble</a:t>
            </a:r>
            <a:r>
              <a:rPr dirty="0" spc="15"/>
              <a:t> </a:t>
            </a:r>
            <a:r>
              <a:rPr dirty="0" spc="-110"/>
              <a:t>Neural-</a:t>
            </a:r>
            <a:r>
              <a:rPr dirty="0" spc="-160"/>
              <a:t>SVM</a:t>
            </a:r>
            <a:r>
              <a:rPr dirty="0" spc="15"/>
              <a:t> </a:t>
            </a:r>
            <a:r>
              <a:rPr dirty="0" spc="-105"/>
              <a:t>Architecture</a:t>
            </a:r>
            <a:r>
              <a:rPr dirty="0" spc="15"/>
              <a:t> </a:t>
            </a:r>
            <a:r>
              <a:rPr dirty="0" spc="-100"/>
              <a:t>with</a:t>
            </a:r>
            <a:r>
              <a:rPr dirty="0" spc="20"/>
              <a:t> </a:t>
            </a:r>
            <a:r>
              <a:rPr dirty="0" spc="-105"/>
              <a:t>Metaheuristic</a:t>
            </a:r>
            <a:r>
              <a:rPr dirty="0" spc="15"/>
              <a:t> </a:t>
            </a:r>
            <a:r>
              <a:rPr dirty="0" spc="-114"/>
              <a:t>PID</a:t>
            </a:r>
            <a:r>
              <a:rPr dirty="0" spc="15"/>
              <a:t> </a:t>
            </a:r>
            <a:r>
              <a:rPr dirty="0" spc="-85"/>
              <a:t>Optimization</a:t>
            </a: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800"/>
          </a:p>
          <a:p>
            <a:pPr marL="12700" marR="5233670">
              <a:lnSpc>
                <a:spcPct val="166700"/>
              </a:lnSpc>
            </a:pPr>
            <a:r>
              <a:rPr dirty="0" sz="1650" spc="-85" b="1">
                <a:solidFill>
                  <a:srgbClr val="000000"/>
                </a:solidFill>
                <a:latin typeface="Roboto"/>
                <a:cs typeface="Roboto"/>
              </a:rPr>
              <a:t>Presented</a:t>
            </a:r>
            <a:r>
              <a:rPr dirty="0" sz="1650" spc="-20" b="1">
                <a:solidFill>
                  <a:srgbClr val="000000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000000"/>
                </a:solidFill>
                <a:latin typeface="Roboto"/>
                <a:cs typeface="Roboto"/>
              </a:rPr>
              <a:t>by:</a:t>
            </a:r>
            <a:r>
              <a:rPr dirty="0" sz="1650" spc="-20" b="1">
                <a:solidFill>
                  <a:srgbClr val="000000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000000"/>
                </a:solidFill>
              </a:rPr>
              <a:t>[Your</a:t>
            </a:r>
            <a:r>
              <a:rPr dirty="0" sz="1650" spc="-20">
                <a:solidFill>
                  <a:srgbClr val="000000"/>
                </a:solidFill>
              </a:rPr>
              <a:t> Name] </a:t>
            </a:r>
            <a:r>
              <a:rPr dirty="0" sz="1650" spc="-75" b="1">
                <a:solidFill>
                  <a:srgbClr val="000000"/>
                </a:solidFill>
                <a:latin typeface="Roboto"/>
                <a:cs typeface="Roboto"/>
              </a:rPr>
              <a:t>Affiliation:</a:t>
            </a:r>
            <a:r>
              <a:rPr dirty="0" sz="1650" spc="5" b="1">
                <a:solidFill>
                  <a:srgbClr val="000000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000000"/>
                </a:solidFill>
              </a:rPr>
              <a:t>[Your</a:t>
            </a:r>
            <a:r>
              <a:rPr dirty="0" sz="1650" spc="5">
                <a:solidFill>
                  <a:srgbClr val="000000"/>
                </a:solidFill>
              </a:rPr>
              <a:t> </a:t>
            </a:r>
            <a:r>
              <a:rPr dirty="0" sz="1650" spc="-10">
                <a:solidFill>
                  <a:srgbClr val="000000"/>
                </a:solidFill>
              </a:rPr>
              <a:t>Institution] </a:t>
            </a:r>
            <a:r>
              <a:rPr dirty="0" sz="1650" spc="-85" b="1">
                <a:solidFill>
                  <a:srgbClr val="000000"/>
                </a:solidFill>
                <a:latin typeface="Roboto"/>
                <a:cs typeface="Roboto"/>
              </a:rPr>
              <a:t>Date:</a:t>
            </a:r>
            <a:r>
              <a:rPr dirty="0" sz="1650" spc="25" b="1">
                <a:solidFill>
                  <a:srgbClr val="000000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000000"/>
                </a:solidFill>
              </a:rPr>
              <a:t>[Conference/Event</a:t>
            </a:r>
            <a:r>
              <a:rPr dirty="0" sz="1650" spc="30">
                <a:solidFill>
                  <a:srgbClr val="000000"/>
                </a:solidFill>
              </a:rPr>
              <a:t> </a:t>
            </a:r>
            <a:r>
              <a:rPr dirty="0" sz="1650" spc="-85">
                <a:solidFill>
                  <a:srgbClr val="000000"/>
                </a:solidFill>
              </a:rPr>
              <a:t>Name]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7224" y="3794180"/>
            <a:ext cx="5676900" cy="124777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000"/>
              </a:spcBef>
            </a:pPr>
            <a:r>
              <a:rPr dirty="0" sz="1600" spc="-10" b="0">
                <a:solidFill>
                  <a:srgbClr val="1D40AF"/>
                </a:solidFill>
                <a:latin typeface="Roboto Medium"/>
                <a:cs typeface="Roboto Medium"/>
              </a:rPr>
              <a:t>Overview</a:t>
            </a:r>
            <a:endParaRPr sz="1600">
              <a:latin typeface="Roboto Medium"/>
              <a:cs typeface="Roboto Medium"/>
            </a:endParaRPr>
          </a:p>
          <a:p>
            <a:pPr marL="228600" marR="356870">
              <a:lnSpc>
                <a:spcPct val="116700"/>
              </a:lnSpc>
              <a:spcBef>
                <a:spcPts val="500"/>
              </a:spcBef>
            </a:pPr>
            <a:r>
              <a:rPr dirty="0" sz="1500" spc="-90">
                <a:latin typeface="Roboto"/>
                <a:cs typeface="Roboto"/>
              </a:rPr>
              <a:t>Advanced</a:t>
            </a:r>
            <a:r>
              <a:rPr dirty="0" sz="1500" spc="-15">
                <a:latin typeface="Roboto"/>
                <a:cs typeface="Roboto"/>
              </a:rPr>
              <a:t> </a:t>
            </a:r>
            <a:r>
              <a:rPr dirty="0" sz="1500" spc="-85">
                <a:latin typeface="Roboto"/>
                <a:cs typeface="Roboto"/>
              </a:rPr>
              <a:t>Automatic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85">
                <a:latin typeface="Roboto"/>
                <a:cs typeface="Roboto"/>
              </a:rPr>
              <a:t>Generation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85">
                <a:latin typeface="Roboto"/>
                <a:cs typeface="Roboto"/>
              </a:rPr>
              <a:t>Control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75">
                <a:latin typeface="Roboto"/>
                <a:cs typeface="Roboto"/>
              </a:rPr>
              <a:t>integrating</a:t>
            </a:r>
            <a:r>
              <a:rPr dirty="0" sz="1500" spc="-10">
                <a:latin typeface="Roboto"/>
                <a:cs typeface="Roboto"/>
              </a:rPr>
              <a:t> ensemble </a:t>
            </a:r>
            <a:r>
              <a:rPr dirty="0" sz="1500" spc="-95">
                <a:latin typeface="Roboto"/>
                <a:cs typeface="Roboto"/>
              </a:rPr>
              <a:t>machine</a:t>
            </a:r>
            <a:r>
              <a:rPr dirty="0" sz="1500">
                <a:latin typeface="Roboto"/>
                <a:cs typeface="Roboto"/>
              </a:rPr>
              <a:t> </a:t>
            </a:r>
            <a:r>
              <a:rPr dirty="0" sz="1500" spc="-70">
                <a:latin typeface="Roboto"/>
                <a:cs typeface="Roboto"/>
              </a:rPr>
              <a:t>learning,</a:t>
            </a:r>
            <a:r>
              <a:rPr dirty="0" sz="1500" spc="5">
                <a:latin typeface="Roboto"/>
                <a:cs typeface="Roboto"/>
              </a:rPr>
              <a:t> </a:t>
            </a:r>
            <a:r>
              <a:rPr dirty="0" sz="1500" spc="-80">
                <a:latin typeface="Roboto"/>
                <a:cs typeface="Roboto"/>
              </a:rPr>
              <a:t>metaheuristic</a:t>
            </a:r>
            <a:r>
              <a:rPr dirty="0" sz="1500" spc="5">
                <a:latin typeface="Roboto"/>
                <a:cs typeface="Roboto"/>
              </a:rPr>
              <a:t> </a:t>
            </a:r>
            <a:r>
              <a:rPr dirty="0" sz="1500" spc="-75">
                <a:latin typeface="Roboto"/>
                <a:cs typeface="Roboto"/>
              </a:rPr>
              <a:t>optimization,</a:t>
            </a:r>
            <a:r>
              <a:rPr dirty="0" sz="1500" spc="5">
                <a:latin typeface="Roboto"/>
                <a:cs typeface="Roboto"/>
              </a:rPr>
              <a:t> </a:t>
            </a:r>
            <a:r>
              <a:rPr dirty="0" sz="1500" spc="-100">
                <a:latin typeface="Roboto"/>
                <a:cs typeface="Roboto"/>
              </a:rPr>
              <a:t>and</a:t>
            </a:r>
            <a:r>
              <a:rPr dirty="0" sz="1500" spc="5">
                <a:latin typeface="Roboto"/>
                <a:cs typeface="Roboto"/>
              </a:rPr>
              <a:t> </a:t>
            </a:r>
            <a:r>
              <a:rPr dirty="0" sz="1500" spc="-65">
                <a:latin typeface="Roboto"/>
                <a:cs typeface="Roboto"/>
              </a:rPr>
              <a:t>virtual</a:t>
            </a:r>
            <a:r>
              <a:rPr dirty="0" sz="1500" spc="5">
                <a:latin typeface="Roboto"/>
                <a:cs typeface="Roboto"/>
              </a:rPr>
              <a:t> </a:t>
            </a:r>
            <a:r>
              <a:rPr dirty="0" sz="1500" spc="-60">
                <a:latin typeface="Roboto"/>
                <a:cs typeface="Roboto"/>
              </a:rPr>
              <a:t>inertia</a:t>
            </a:r>
            <a:r>
              <a:rPr dirty="0" sz="1500" spc="5">
                <a:latin typeface="Roboto"/>
                <a:cs typeface="Roboto"/>
              </a:rPr>
              <a:t> </a:t>
            </a:r>
            <a:r>
              <a:rPr dirty="0" sz="1500" spc="-25">
                <a:latin typeface="Roboto"/>
                <a:cs typeface="Roboto"/>
              </a:rPr>
              <a:t>for </a:t>
            </a:r>
            <a:r>
              <a:rPr dirty="0" sz="1500" spc="-75">
                <a:latin typeface="Roboto"/>
                <a:cs typeface="Roboto"/>
              </a:rPr>
              <a:t>reliable</a:t>
            </a:r>
            <a:r>
              <a:rPr dirty="0" sz="1500" spc="10">
                <a:latin typeface="Roboto"/>
                <a:cs typeface="Roboto"/>
              </a:rPr>
              <a:t> </a:t>
            </a:r>
            <a:r>
              <a:rPr dirty="0" sz="1500" spc="-85">
                <a:latin typeface="Roboto"/>
                <a:cs typeface="Roboto"/>
              </a:rPr>
              <a:t>renewable</a:t>
            </a:r>
            <a:r>
              <a:rPr dirty="0" sz="1500" spc="10">
                <a:latin typeface="Roboto"/>
                <a:cs typeface="Roboto"/>
              </a:rPr>
              <a:t> </a:t>
            </a:r>
            <a:r>
              <a:rPr dirty="0" sz="1500" spc="-95">
                <a:latin typeface="Roboto"/>
                <a:cs typeface="Roboto"/>
              </a:rPr>
              <a:t>power</a:t>
            </a:r>
            <a:r>
              <a:rPr dirty="0" sz="1500" spc="10">
                <a:latin typeface="Roboto"/>
                <a:cs typeface="Roboto"/>
              </a:rPr>
              <a:t> </a:t>
            </a:r>
            <a:r>
              <a:rPr dirty="0" sz="1500" spc="-10">
                <a:latin typeface="Roboto"/>
                <a:cs typeface="Roboto"/>
              </a:rPr>
              <a:t>systems.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42975" y="5829299"/>
            <a:ext cx="11058525" cy="1076325"/>
            <a:chOff x="942975" y="5829299"/>
            <a:chExt cx="11058525" cy="1076325"/>
          </a:xfrm>
        </p:grpSpPr>
        <p:sp>
          <p:nvSpPr>
            <p:cNvPr id="15" name="object 15" descr=""/>
            <p:cNvSpPr/>
            <p:nvPr/>
          </p:nvSpPr>
          <p:spPr>
            <a:xfrm>
              <a:off x="942975" y="58292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35743" y="128587"/>
                  </a:moveTo>
                  <a:lnTo>
                    <a:pt x="21431" y="128587"/>
                  </a:lnTo>
                  <a:lnTo>
                    <a:pt x="13081" y="126905"/>
                  </a:lnTo>
                  <a:lnTo>
                    <a:pt x="6270" y="122317"/>
                  </a:lnTo>
                  <a:lnTo>
                    <a:pt x="1681" y="115505"/>
                  </a:lnTo>
                  <a:lnTo>
                    <a:pt x="0" y="107156"/>
                  </a:lnTo>
                  <a:lnTo>
                    <a:pt x="1681" y="98806"/>
                  </a:lnTo>
                  <a:lnTo>
                    <a:pt x="6270" y="91995"/>
                  </a:lnTo>
                  <a:lnTo>
                    <a:pt x="13081" y="87406"/>
                  </a:lnTo>
                  <a:lnTo>
                    <a:pt x="21431" y="85724"/>
                  </a:lnTo>
                  <a:lnTo>
                    <a:pt x="235743" y="85724"/>
                  </a:lnTo>
                  <a:lnTo>
                    <a:pt x="244093" y="84043"/>
                  </a:lnTo>
                  <a:lnTo>
                    <a:pt x="250904" y="79454"/>
                  </a:lnTo>
                  <a:lnTo>
                    <a:pt x="255493" y="72643"/>
                  </a:lnTo>
                  <a:lnTo>
                    <a:pt x="257174" y="64293"/>
                  </a:lnTo>
                  <a:lnTo>
                    <a:pt x="255493" y="55944"/>
                  </a:lnTo>
                  <a:lnTo>
                    <a:pt x="250904" y="49132"/>
                  </a:lnTo>
                  <a:lnTo>
                    <a:pt x="244093" y="44544"/>
                  </a:lnTo>
                  <a:lnTo>
                    <a:pt x="235743" y="42862"/>
                  </a:lnTo>
                  <a:lnTo>
                    <a:pt x="214312" y="42862"/>
                  </a:lnTo>
                  <a:lnTo>
                    <a:pt x="205962" y="41180"/>
                  </a:lnTo>
                  <a:lnTo>
                    <a:pt x="199151" y="36592"/>
                  </a:lnTo>
                  <a:lnTo>
                    <a:pt x="194562" y="29780"/>
                  </a:lnTo>
                  <a:lnTo>
                    <a:pt x="192881" y="21431"/>
                  </a:lnTo>
                  <a:lnTo>
                    <a:pt x="194562" y="13081"/>
                  </a:lnTo>
                  <a:lnTo>
                    <a:pt x="199151" y="6270"/>
                  </a:lnTo>
                  <a:lnTo>
                    <a:pt x="205962" y="1681"/>
                  </a:lnTo>
                  <a:lnTo>
                    <a:pt x="214312" y="0"/>
                  </a:lnTo>
                  <a:lnTo>
                    <a:pt x="235743" y="0"/>
                  </a:lnTo>
                  <a:lnTo>
                    <a:pt x="260764" y="5054"/>
                  </a:lnTo>
                  <a:lnTo>
                    <a:pt x="281201" y="18836"/>
                  </a:lnTo>
                  <a:lnTo>
                    <a:pt x="294983" y="39273"/>
                  </a:lnTo>
                  <a:lnTo>
                    <a:pt x="300037" y="64293"/>
                  </a:lnTo>
                  <a:lnTo>
                    <a:pt x="294983" y="89314"/>
                  </a:lnTo>
                  <a:lnTo>
                    <a:pt x="281201" y="109751"/>
                  </a:lnTo>
                  <a:lnTo>
                    <a:pt x="260764" y="123533"/>
                  </a:lnTo>
                  <a:lnTo>
                    <a:pt x="235743" y="128587"/>
                  </a:lnTo>
                  <a:close/>
                </a:path>
                <a:path w="342900" h="342900">
                  <a:moveTo>
                    <a:pt x="278606" y="278606"/>
                  </a:moveTo>
                  <a:lnTo>
                    <a:pt x="257174" y="278606"/>
                  </a:lnTo>
                  <a:lnTo>
                    <a:pt x="248825" y="276924"/>
                  </a:lnTo>
                  <a:lnTo>
                    <a:pt x="242014" y="272335"/>
                  </a:lnTo>
                  <a:lnTo>
                    <a:pt x="237425" y="265524"/>
                  </a:lnTo>
                  <a:lnTo>
                    <a:pt x="235743" y="257174"/>
                  </a:lnTo>
                  <a:lnTo>
                    <a:pt x="237425" y="248825"/>
                  </a:lnTo>
                  <a:lnTo>
                    <a:pt x="242014" y="242014"/>
                  </a:lnTo>
                  <a:lnTo>
                    <a:pt x="248825" y="237425"/>
                  </a:lnTo>
                  <a:lnTo>
                    <a:pt x="257174" y="235743"/>
                  </a:lnTo>
                  <a:lnTo>
                    <a:pt x="278606" y="235743"/>
                  </a:lnTo>
                  <a:lnTo>
                    <a:pt x="286955" y="234062"/>
                  </a:lnTo>
                  <a:lnTo>
                    <a:pt x="293767" y="229473"/>
                  </a:lnTo>
                  <a:lnTo>
                    <a:pt x="298355" y="222662"/>
                  </a:lnTo>
                  <a:lnTo>
                    <a:pt x="300037" y="214312"/>
                  </a:lnTo>
                  <a:lnTo>
                    <a:pt x="298355" y="205962"/>
                  </a:lnTo>
                  <a:lnTo>
                    <a:pt x="293767" y="199151"/>
                  </a:lnTo>
                  <a:lnTo>
                    <a:pt x="286955" y="194562"/>
                  </a:lnTo>
                  <a:lnTo>
                    <a:pt x="278606" y="192881"/>
                  </a:lnTo>
                  <a:lnTo>
                    <a:pt x="21431" y="192881"/>
                  </a:lnTo>
                  <a:lnTo>
                    <a:pt x="13081" y="191199"/>
                  </a:lnTo>
                  <a:lnTo>
                    <a:pt x="6270" y="186610"/>
                  </a:lnTo>
                  <a:lnTo>
                    <a:pt x="1681" y="179799"/>
                  </a:lnTo>
                  <a:lnTo>
                    <a:pt x="0" y="171449"/>
                  </a:lnTo>
                  <a:lnTo>
                    <a:pt x="1681" y="163100"/>
                  </a:lnTo>
                  <a:lnTo>
                    <a:pt x="6270" y="156289"/>
                  </a:lnTo>
                  <a:lnTo>
                    <a:pt x="13081" y="151700"/>
                  </a:lnTo>
                  <a:lnTo>
                    <a:pt x="21431" y="150018"/>
                  </a:lnTo>
                  <a:lnTo>
                    <a:pt x="278606" y="150018"/>
                  </a:lnTo>
                  <a:lnTo>
                    <a:pt x="303626" y="155073"/>
                  </a:lnTo>
                  <a:lnTo>
                    <a:pt x="324063" y="168854"/>
                  </a:lnTo>
                  <a:lnTo>
                    <a:pt x="337845" y="189291"/>
                  </a:lnTo>
                  <a:lnTo>
                    <a:pt x="342899" y="214312"/>
                  </a:lnTo>
                  <a:lnTo>
                    <a:pt x="337845" y="239333"/>
                  </a:lnTo>
                  <a:lnTo>
                    <a:pt x="324063" y="259770"/>
                  </a:lnTo>
                  <a:lnTo>
                    <a:pt x="303626" y="273551"/>
                  </a:lnTo>
                  <a:lnTo>
                    <a:pt x="278606" y="278606"/>
                  </a:lnTo>
                  <a:close/>
                </a:path>
                <a:path w="342900" h="342900">
                  <a:moveTo>
                    <a:pt x="107156" y="342899"/>
                  </a:moveTo>
                  <a:lnTo>
                    <a:pt x="85724" y="342899"/>
                  </a:lnTo>
                  <a:lnTo>
                    <a:pt x="77375" y="341218"/>
                  </a:lnTo>
                  <a:lnTo>
                    <a:pt x="70564" y="336629"/>
                  </a:lnTo>
                  <a:lnTo>
                    <a:pt x="65975" y="329818"/>
                  </a:lnTo>
                  <a:lnTo>
                    <a:pt x="64293" y="321468"/>
                  </a:lnTo>
                  <a:lnTo>
                    <a:pt x="65975" y="313119"/>
                  </a:lnTo>
                  <a:lnTo>
                    <a:pt x="70564" y="306307"/>
                  </a:lnTo>
                  <a:lnTo>
                    <a:pt x="77375" y="301719"/>
                  </a:lnTo>
                  <a:lnTo>
                    <a:pt x="85724" y="300037"/>
                  </a:lnTo>
                  <a:lnTo>
                    <a:pt x="107156" y="300037"/>
                  </a:lnTo>
                  <a:lnTo>
                    <a:pt x="115505" y="298355"/>
                  </a:lnTo>
                  <a:lnTo>
                    <a:pt x="122317" y="293767"/>
                  </a:lnTo>
                  <a:lnTo>
                    <a:pt x="126905" y="286955"/>
                  </a:lnTo>
                  <a:lnTo>
                    <a:pt x="128587" y="278606"/>
                  </a:lnTo>
                  <a:lnTo>
                    <a:pt x="126905" y="270256"/>
                  </a:lnTo>
                  <a:lnTo>
                    <a:pt x="122317" y="263445"/>
                  </a:lnTo>
                  <a:lnTo>
                    <a:pt x="115505" y="258856"/>
                  </a:lnTo>
                  <a:lnTo>
                    <a:pt x="107156" y="257174"/>
                  </a:lnTo>
                  <a:lnTo>
                    <a:pt x="21431" y="257174"/>
                  </a:lnTo>
                  <a:lnTo>
                    <a:pt x="13081" y="255493"/>
                  </a:lnTo>
                  <a:lnTo>
                    <a:pt x="6270" y="250904"/>
                  </a:lnTo>
                  <a:lnTo>
                    <a:pt x="1681" y="244093"/>
                  </a:lnTo>
                  <a:lnTo>
                    <a:pt x="0" y="235743"/>
                  </a:lnTo>
                  <a:lnTo>
                    <a:pt x="1681" y="227394"/>
                  </a:lnTo>
                  <a:lnTo>
                    <a:pt x="6270" y="220582"/>
                  </a:lnTo>
                  <a:lnTo>
                    <a:pt x="13081" y="215994"/>
                  </a:lnTo>
                  <a:lnTo>
                    <a:pt x="21431" y="214312"/>
                  </a:lnTo>
                  <a:lnTo>
                    <a:pt x="107156" y="214312"/>
                  </a:lnTo>
                  <a:lnTo>
                    <a:pt x="132176" y="219366"/>
                  </a:lnTo>
                  <a:lnTo>
                    <a:pt x="152613" y="233148"/>
                  </a:lnTo>
                  <a:lnTo>
                    <a:pt x="166395" y="253585"/>
                  </a:lnTo>
                  <a:lnTo>
                    <a:pt x="171449" y="278606"/>
                  </a:lnTo>
                  <a:lnTo>
                    <a:pt x="166395" y="303626"/>
                  </a:lnTo>
                  <a:lnTo>
                    <a:pt x="152613" y="324063"/>
                  </a:lnTo>
                  <a:lnTo>
                    <a:pt x="132176" y="337845"/>
                  </a:lnTo>
                  <a:lnTo>
                    <a:pt x="107156" y="3428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348708" y="5829299"/>
              <a:ext cx="417830" cy="342900"/>
            </a:xfrm>
            <a:custGeom>
              <a:avLst/>
              <a:gdLst/>
              <a:ahLst/>
              <a:cxnLst/>
              <a:rect l="l" t="t" r="r" b="b"/>
              <a:pathLst>
                <a:path w="417830" h="342900">
                  <a:moveTo>
                    <a:pt x="375515" y="257174"/>
                  </a:moveTo>
                  <a:lnTo>
                    <a:pt x="41991" y="257174"/>
                  </a:lnTo>
                  <a:lnTo>
                    <a:pt x="23271" y="252888"/>
                  </a:lnTo>
                  <a:lnTo>
                    <a:pt x="8865" y="241469"/>
                  </a:lnTo>
                  <a:lnTo>
                    <a:pt x="524" y="225078"/>
                  </a:lnTo>
                  <a:lnTo>
                    <a:pt x="0" y="205873"/>
                  </a:lnTo>
                  <a:lnTo>
                    <a:pt x="34290" y="34423"/>
                  </a:lnTo>
                  <a:lnTo>
                    <a:pt x="39673" y="20597"/>
                  </a:lnTo>
                  <a:lnTo>
                    <a:pt x="49132" y="9702"/>
                  </a:lnTo>
                  <a:lnTo>
                    <a:pt x="61668" y="2562"/>
                  </a:lnTo>
                  <a:lnTo>
                    <a:pt x="76281" y="0"/>
                  </a:lnTo>
                  <a:lnTo>
                    <a:pt x="341225" y="0"/>
                  </a:lnTo>
                  <a:lnTo>
                    <a:pt x="377861" y="20597"/>
                  </a:lnTo>
                  <a:lnTo>
                    <a:pt x="384128" y="38643"/>
                  </a:lnTo>
                  <a:lnTo>
                    <a:pt x="362188" y="38643"/>
                  </a:lnTo>
                  <a:lnTo>
                    <a:pt x="341158" y="42862"/>
                  </a:lnTo>
                  <a:lnTo>
                    <a:pt x="76281" y="42862"/>
                  </a:lnTo>
                  <a:lnTo>
                    <a:pt x="62351" y="112514"/>
                  </a:lnTo>
                  <a:lnTo>
                    <a:pt x="398902" y="112514"/>
                  </a:lnTo>
                  <a:lnTo>
                    <a:pt x="405331" y="144660"/>
                  </a:lnTo>
                  <a:lnTo>
                    <a:pt x="55922" y="144660"/>
                  </a:lnTo>
                  <a:lnTo>
                    <a:pt x="41991" y="214312"/>
                  </a:lnTo>
                  <a:lnTo>
                    <a:pt x="417339" y="214312"/>
                  </a:lnTo>
                  <a:lnTo>
                    <a:pt x="417040" y="225078"/>
                  </a:lnTo>
                  <a:lnTo>
                    <a:pt x="408688" y="241469"/>
                  </a:lnTo>
                  <a:lnTo>
                    <a:pt x="394257" y="252888"/>
                  </a:lnTo>
                  <a:lnTo>
                    <a:pt x="375515" y="257174"/>
                  </a:lnTo>
                  <a:close/>
                </a:path>
                <a:path w="417830" h="342900">
                  <a:moveTo>
                    <a:pt x="398902" y="112514"/>
                  </a:moveTo>
                  <a:lnTo>
                    <a:pt x="355155" y="112514"/>
                  </a:lnTo>
                  <a:lnTo>
                    <a:pt x="341225" y="42862"/>
                  </a:lnTo>
                  <a:lnTo>
                    <a:pt x="362188" y="38643"/>
                  </a:lnTo>
                  <a:lnTo>
                    <a:pt x="384128" y="38643"/>
                  </a:lnTo>
                  <a:lnTo>
                    <a:pt x="398902" y="112514"/>
                  </a:lnTo>
                  <a:close/>
                </a:path>
                <a:path w="417830" h="342900">
                  <a:moveTo>
                    <a:pt x="162207" y="112514"/>
                  </a:moveTo>
                  <a:lnTo>
                    <a:pt x="129926" y="112514"/>
                  </a:lnTo>
                  <a:lnTo>
                    <a:pt x="136825" y="42862"/>
                  </a:lnTo>
                  <a:lnTo>
                    <a:pt x="169172" y="42862"/>
                  </a:lnTo>
                  <a:lnTo>
                    <a:pt x="162207" y="112514"/>
                  </a:lnTo>
                  <a:close/>
                </a:path>
                <a:path w="417830" h="342900">
                  <a:moveTo>
                    <a:pt x="287580" y="112514"/>
                  </a:moveTo>
                  <a:lnTo>
                    <a:pt x="255299" y="112514"/>
                  </a:lnTo>
                  <a:lnTo>
                    <a:pt x="248334" y="42862"/>
                  </a:lnTo>
                  <a:lnTo>
                    <a:pt x="280615" y="42862"/>
                  </a:lnTo>
                  <a:lnTo>
                    <a:pt x="287580" y="112514"/>
                  </a:lnTo>
                  <a:close/>
                </a:path>
                <a:path w="417830" h="342900">
                  <a:moveTo>
                    <a:pt x="152027" y="214312"/>
                  </a:moveTo>
                  <a:lnTo>
                    <a:pt x="119747" y="214312"/>
                  </a:lnTo>
                  <a:lnTo>
                    <a:pt x="126712" y="144660"/>
                  </a:lnTo>
                  <a:lnTo>
                    <a:pt x="158993" y="144660"/>
                  </a:lnTo>
                  <a:lnTo>
                    <a:pt x="152027" y="214312"/>
                  </a:lnTo>
                  <a:close/>
                </a:path>
                <a:path w="417830" h="342900">
                  <a:moveTo>
                    <a:pt x="297827" y="214312"/>
                  </a:moveTo>
                  <a:lnTo>
                    <a:pt x="265479" y="214312"/>
                  </a:lnTo>
                  <a:lnTo>
                    <a:pt x="258514" y="144660"/>
                  </a:lnTo>
                  <a:lnTo>
                    <a:pt x="290795" y="144660"/>
                  </a:lnTo>
                  <a:lnTo>
                    <a:pt x="297827" y="214312"/>
                  </a:lnTo>
                  <a:close/>
                </a:path>
                <a:path w="417830" h="342900">
                  <a:moveTo>
                    <a:pt x="417339" y="214312"/>
                  </a:moveTo>
                  <a:lnTo>
                    <a:pt x="375515" y="214312"/>
                  </a:lnTo>
                  <a:lnTo>
                    <a:pt x="361585" y="144660"/>
                  </a:lnTo>
                  <a:lnTo>
                    <a:pt x="405331" y="144660"/>
                  </a:lnTo>
                  <a:lnTo>
                    <a:pt x="417574" y="205873"/>
                  </a:lnTo>
                  <a:lnTo>
                    <a:pt x="417339" y="214312"/>
                  </a:lnTo>
                  <a:close/>
                </a:path>
                <a:path w="417830" h="342900">
                  <a:moveTo>
                    <a:pt x="230185" y="300037"/>
                  </a:moveTo>
                  <a:lnTo>
                    <a:pt x="187322" y="300037"/>
                  </a:lnTo>
                  <a:lnTo>
                    <a:pt x="187322" y="257174"/>
                  </a:lnTo>
                  <a:lnTo>
                    <a:pt x="230185" y="257174"/>
                  </a:lnTo>
                  <a:lnTo>
                    <a:pt x="230185" y="300037"/>
                  </a:lnTo>
                  <a:close/>
                </a:path>
                <a:path w="417830" h="342900">
                  <a:moveTo>
                    <a:pt x="273047" y="342899"/>
                  </a:moveTo>
                  <a:lnTo>
                    <a:pt x="144460" y="342899"/>
                  </a:lnTo>
                  <a:lnTo>
                    <a:pt x="136110" y="341218"/>
                  </a:lnTo>
                  <a:lnTo>
                    <a:pt x="129299" y="336629"/>
                  </a:lnTo>
                  <a:lnTo>
                    <a:pt x="124710" y="329818"/>
                  </a:lnTo>
                  <a:lnTo>
                    <a:pt x="123028" y="321468"/>
                  </a:lnTo>
                  <a:lnTo>
                    <a:pt x="124710" y="313119"/>
                  </a:lnTo>
                  <a:lnTo>
                    <a:pt x="129299" y="306307"/>
                  </a:lnTo>
                  <a:lnTo>
                    <a:pt x="136110" y="301719"/>
                  </a:lnTo>
                  <a:lnTo>
                    <a:pt x="144460" y="300037"/>
                  </a:lnTo>
                  <a:lnTo>
                    <a:pt x="273047" y="300037"/>
                  </a:lnTo>
                  <a:lnTo>
                    <a:pt x="281397" y="301719"/>
                  </a:lnTo>
                  <a:lnTo>
                    <a:pt x="288208" y="306307"/>
                  </a:lnTo>
                  <a:lnTo>
                    <a:pt x="292797" y="313119"/>
                  </a:lnTo>
                  <a:lnTo>
                    <a:pt x="294478" y="321468"/>
                  </a:lnTo>
                  <a:lnTo>
                    <a:pt x="292797" y="329818"/>
                  </a:lnTo>
                  <a:lnTo>
                    <a:pt x="288208" y="336629"/>
                  </a:lnTo>
                  <a:lnTo>
                    <a:pt x="281397" y="341218"/>
                  </a:lnTo>
                  <a:lnTo>
                    <a:pt x="273047" y="342899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67149" y="58292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8759" y="310753"/>
                  </a:moveTo>
                  <a:lnTo>
                    <a:pt x="75009" y="310753"/>
                  </a:lnTo>
                  <a:lnTo>
                    <a:pt x="58338" y="307380"/>
                  </a:lnTo>
                  <a:lnTo>
                    <a:pt x="44712" y="298187"/>
                  </a:lnTo>
                  <a:lnTo>
                    <a:pt x="35519" y="284561"/>
                  </a:lnTo>
                  <a:lnTo>
                    <a:pt x="32146" y="267890"/>
                  </a:lnTo>
                  <a:lnTo>
                    <a:pt x="32146" y="262934"/>
                  </a:lnTo>
                  <a:lnTo>
                    <a:pt x="33017" y="258112"/>
                  </a:lnTo>
                  <a:lnTo>
                    <a:pt x="34557" y="253692"/>
                  </a:lnTo>
                  <a:lnTo>
                    <a:pt x="20625" y="245864"/>
                  </a:lnTo>
                  <a:lnTo>
                    <a:pt x="9694" y="234370"/>
                  </a:lnTo>
                  <a:lnTo>
                    <a:pt x="2555" y="220013"/>
                  </a:lnTo>
                  <a:lnTo>
                    <a:pt x="0" y="203596"/>
                  </a:lnTo>
                  <a:lnTo>
                    <a:pt x="2240" y="188223"/>
                  </a:lnTo>
                  <a:lnTo>
                    <a:pt x="8530" y="174589"/>
                  </a:lnTo>
                  <a:lnTo>
                    <a:pt x="18223" y="163353"/>
                  </a:lnTo>
                  <a:lnTo>
                    <a:pt x="30673" y="155175"/>
                  </a:lnTo>
                  <a:lnTo>
                    <a:pt x="26771" y="149354"/>
                  </a:lnTo>
                  <a:lnTo>
                    <a:pt x="23867" y="142911"/>
                  </a:lnTo>
                  <a:lnTo>
                    <a:pt x="22055" y="135953"/>
                  </a:lnTo>
                  <a:lnTo>
                    <a:pt x="21431" y="128587"/>
                  </a:lnTo>
                  <a:lnTo>
                    <a:pt x="23992" y="113956"/>
                  </a:lnTo>
                  <a:lnTo>
                    <a:pt x="31075" y="101497"/>
                  </a:lnTo>
                  <a:lnTo>
                    <a:pt x="41774" y="92102"/>
                  </a:lnTo>
                  <a:lnTo>
                    <a:pt x="55185" y="86662"/>
                  </a:lnTo>
                  <a:lnTo>
                    <a:pt x="54113" y="82979"/>
                  </a:lnTo>
                  <a:lnTo>
                    <a:pt x="53578" y="79027"/>
                  </a:lnTo>
                  <a:lnTo>
                    <a:pt x="53578" y="75009"/>
                  </a:lnTo>
                  <a:lnTo>
                    <a:pt x="56023" y="60722"/>
                  </a:lnTo>
                  <a:lnTo>
                    <a:pt x="62795" y="48463"/>
                  </a:lnTo>
                  <a:lnTo>
                    <a:pt x="73045" y="39079"/>
                  </a:lnTo>
                  <a:lnTo>
                    <a:pt x="85925" y="33419"/>
                  </a:lnTo>
                  <a:lnTo>
                    <a:pt x="89880" y="20286"/>
                  </a:lnTo>
                  <a:lnTo>
                    <a:pt x="98073" y="9677"/>
                  </a:lnTo>
                  <a:lnTo>
                    <a:pt x="109518" y="2584"/>
                  </a:lnTo>
                  <a:lnTo>
                    <a:pt x="123229" y="0"/>
                  </a:lnTo>
                  <a:lnTo>
                    <a:pt x="137820" y="2949"/>
                  </a:lnTo>
                  <a:lnTo>
                    <a:pt x="149742" y="10991"/>
                  </a:lnTo>
                  <a:lnTo>
                    <a:pt x="157784" y="22914"/>
                  </a:lnTo>
                  <a:lnTo>
                    <a:pt x="160734" y="37504"/>
                  </a:lnTo>
                  <a:lnTo>
                    <a:pt x="160734" y="305395"/>
                  </a:lnTo>
                  <a:lnTo>
                    <a:pt x="159935" y="309346"/>
                  </a:lnTo>
                  <a:lnTo>
                    <a:pt x="85925" y="309346"/>
                  </a:lnTo>
                  <a:lnTo>
                    <a:pt x="82443" y="310284"/>
                  </a:lnTo>
                  <a:lnTo>
                    <a:pt x="78759" y="310753"/>
                  </a:lnTo>
                  <a:close/>
                </a:path>
                <a:path w="342900" h="342900">
                  <a:moveTo>
                    <a:pt x="123229" y="342899"/>
                  </a:moveTo>
                  <a:lnTo>
                    <a:pt x="109518" y="340313"/>
                  </a:lnTo>
                  <a:lnTo>
                    <a:pt x="98073" y="333205"/>
                  </a:lnTo>
                  <a:lnTo>
                    <a:pt x="89880" y="322557"/>
                  </a:lnTo>
                  <a:lnTo>
                    <a:pt x="85925" y="309346"/>
                  </a:lnTo>
                  <a:lnTo>
                    <a:pt x="159935" y="309346"/>
                  </a:lnTo>
                  <a:lnTo>
                    <a:pt x="157784" y="319985"/>
                  </a:lnTo>
                  <a:lnTo>
                    <a:pt x="149742" y="331908"/>
                  </a:lnTo>
                  <a:lnTo>
                    <a:pt x="137820" y="339950"/>
                  </a:lnTo>
                  <a:lnTo>
                    <a:pt x="123229" y="342899"/>
                  </a:lnTo>
                  <a:close/>
                </a:path>
                <a:path w="342900" h="342900">
                  <a:moveTo>
                    <a:pt x="219670" y="342899"/>
                  </a:moveTo>
                  <a:lnTo>
                    <a:pt x="205079" y="339950"/>
                  </a:lnTo>
                  <a:lnTo>
                    <a:pt x="193157" y="331908"/>
                  </a:lnTo>
                  <a:lnTo>
                    <a:pt x="185115" y="319985"/>
                  </a:lnTo>
                  <a:lnTo>
                    <a:pt x="182165" y="305395"/>
                  </a:lnTo>
                  <a:lnTo>
                    <a:pt x="182165" y="37504"/>
                  </a:lnTo>
                  <a:lnTo>
                    <a:pt x="185115" y="22914"/>
                  </a:lnTo>
                  <a:lnTo>
                    <a:pt x="193157" y="10991"/>
                  </a:lnTo>
                  <a:lnTo>
                    <a:pt x="205079" y="2949"/>
                  </a:lnTo>
                  <a:lnTo>
                    <a:pt x="219670" y="0"/>
                  </a:lnTo>
                  <a:lnTo>
                    <a:pt x="233372" y="2584"/>
                  </a:lnTo>
                  <a:lnTo>
                    <a:pt x="244801" y="9677"/>
                  </a:lnTo>
                  <a:lnTo>
                    <a:pt x="252991" y="20286"/>
                  </a:lnTo>
                  <a:lnTo>
                    <a:pt x="256974" y="33419"/>
                  </a:lnTo>
                  <a:lnTo>
                    <a:pt x="269883" y="39070"/>
                  </a:lnTo>
                  <a:lnTo>
                    <a:pt x="280129" y="48437"/>
                  </a:lnTo>
                  <a:lnTo>
                    <a:pt x="286885" y="60693"/>
                  </a:lnTo>
                  <a:lnTo>
                    <a:pt x="289321" y="75009"/>
                  </a:lnTo>
                  <a:lnTo>
                    <a:pt x="289321" y="79027"/>
                  </a:lnTo>
                  <a:lnTo>
                    <a:pt x="288786" y="82979"/>
                  </a:lnTo>
                  <a:lnTo>
                    <a:pt x="287714" y="86662"/>
                  </a:lnTo>
                  <a:lnTo>
                    <a:pt x="301125" y="92073"/>
                  </a:lnTo>
                  <a:lnTo>
                    <a:pt x="311824" y="101471"/>
                  </a:lnTo>
                  <a:lnTo>
                    <a:pt x="318907" y="113946"/>
                  </a:lnTo>
                  <a:lnTo>
                    <a:pt x="321468" y="128587"/>
                  </a:lnTo>
                  <a:lnTo>
                    <a:pt x="320844" y="135953"/>
                  </a:lnTo>
                  <a:lnTo>
                    <a:pt x="319032" y="142911"/>
                  </a:lnTo>
                  <a:lnTo>
                    <a:pt x="316128" y="149354"/>
                  </a:lnTo>
                  <a:lnTo>
                    <a:pt x="312226" y="155175"/>
                  </a:lnTo>
                  <a:lnTo>
                    <a:pt x="324676" y="163353"/>
                  </a:lnTo>
                  <a:lnTo>
                    <a:pt x="334369" y="174589"/>
                  </a:lnTo>
                  <a:lnTo>
                    <a:pt x="340659" y="188223"/>
                  </a:lnTo>
                  <a:lnTo>
                    <a:pt x="342899" y="203596"/>
                  </a:lnTo>
                  <a:lnTo>
                    <a:pt x="340344" y="220013"/>
                  </a:lnTo>
                  <a:lnTo>
                    <a:pt x="333205" y="234370"/>
                  </a:lnTo>
                  <a:lnTo>
                    <a:pt x="322274" y="245864"/>
                  </a:lnTo>
                  <a:lnTo>
                    <a:pt x="308342" y="253692"/>
                  </a:lnTo>
                  <a:lnTo>
                    <a:pt x="309882" y="258112"/>
                  </a:lnTo>
                  <a:lnTo>
                    <a:pt x="310753" y="262934"/>
                  </a:lnTo>
                  <a:lnTo>
                    <a:pt x="310753" y="267890"/>
                  </a:lnTo>
                  <a:lnTo>
                    <a:pt x="307380" y="284561"/>
                  </a:lnTo>
                  <a:lnTo>
                    <a:pt x="298187" y="298187"/>
                  </a:lnTo>
                  <a:lnTo>
                    <a:pt x="284561" y="307380"/>
                  </a:lnTo>
                  <a:lnTo>
                    <a:pt x="274842" y="309346"/>
                  </a:lnTo>
                  <a:lnTo>
                    <a:pt x="256974" y="309346"/>
                  </a:lnTo>
                  <a:lnTo>
                    <a:pt x="253019" y="322557"/>
                  </a:lnTo>
                  <a:lnTo>
                    <a:pt x="244826" y="333205"/>
                  </a:lnTo>
                  <a:lnTo>
                    <a:pt x="233381" y="340313"/>
                  </a:lnTo>
                  <a:lnTo>
                    <a:pt x="219670" y="342899"/>
                  </a:lnTo>
                  <a:close/>
                </a:path>
                <a:path w="342900" h="342900">
                  <a:moveTo>
                    <a:pt x="267890" y="310753"/>
                  </a:moveTo>
                  <a:lnTo>
                    <a:pt x="264140" y="310753"/>
                  </a:lnTo>
                  <a:lnTo>
                    <a:pt x="260456" y="310284"/>
                  </a:lnTo>
                  <a:lnTo>
                    <a:pt x="256974" y="309346"/>
                  </a:lnTo>
                  <a:lnTo>
                    <a:pt x="274842" y="309346"/>
                  </a:lnTo>
                  <a:lnTo>
                    <a:pt x="267890" y="310753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62575" y="5840015"/>
              <a:ext cx="342900" cy="321945"/>
            </a:xfrm>
            <a:custGeom>
              <a:avLst/>
              <a:gdLst/>
              <a:ahLst/>
              <a:cxnLst/>
              <a:rect l="l" t="t" r="r" b="b"/>
              <a:pathLst>
                <a:path w="342900" h="321945">
                  <a:moveTo>
                    <a:pt x="177678" y="32146"/>
                  </a:moveTo>
                  <a:lnTo>
                    <a:pt x="79496" y="32146"/>
                  </a:lnTo>
                  <a:lnTo>
                    <a:pt x="87553" y="19128"/>
                  </a:lnTo>
                  <a:lnTo>
                    <a:pt x="98893" y="8965"/>
                  </a:lnTo>
                  <a:lnTo>
                    <a:pt x="112808" y="2357"/>
                  </a:lnTo>
                  <a:lnTo>
                    <a:pt x="128587" y="0"/>
                  </a:lnTo>
                  <a:lnTo>
                    <a:pt x="144366" y="2357"/>
                  </a:lnTo>
                  <a:lnTo>
                    <a:pt x="158281" y="8965"/>
                  </a:lnTo>
                  <a:lnTo>
                    <a:pt x="169621" y="19128"/>
                  </a:lnTo>
                  <a:lnTo>
                    <a:pt x="177678" y="32146"/>
                  </a:lnTo>
                  <a:close/>
                </a:path>
                <a:path w="342900" h="321945">
                  <a:moveTo>
                    <a:pt x="125745" y="75009"/>
                  </a:moveTo>
                  <a:lnTo>
                    <a:pt x="21431" y="75009"/>
                  </a:lnTo>
                  <a:lnTo>
                    <a:pt x="13081" y="73327"/>
                  </a:lnTo>
                  <a:lnTo>
                    <a:pt x="6270" y="68739"/>
                  </a:lnTo>
                  <a:lnTo>
                    <a:pt x="1681" y="61927"/>
                  </a:lnTo>
                  <a:lnTo>
                    <a:pt x="0" y="53578"/>
                  </a:lnTo>
                  <a:lnTo>
                    <a:pt x="1681" y="45228"/>
                  </a:lnTo>
                  <a:lnTo>
                    <a:pt x="6270" y="38417"/>
                  </a:lnTo>
                  <a:lnTo>
                    <a:pt x="13081" y="33828"/>
                  </a:lnTo>
                  <a:lnTo>
                    <a:pt x="21431" y="32146"/>
                  </a:lnTo>
                  <a:lnTo>
                    <a:pt x="125745" y="32146"/>
                  </a:lnTo>
                  <a:lnTo>
                    <a:pt x="123011" y="32690"/>
                  </a:lnTo>
                  <a:lnTo>
                    <a:pt x="117760" y="34865"/>
                  </a:lnTo>
                  <a:lnTo>
                    <a:pt x="107156" y="50736"/>
                  </a:lnTo>
                  <a:lnTo>
                    <a:pt x="107156" y="56420"/>
                  </a:lnTo>
                  <a:lnTo>
                    <a:pt x="123011" y="74465"/>
                  </a:lnTo>
                  <a:lnTo>
                    <a:pt x="125745" y="75009"/>
                  </a:lnTo>
                  <a:close/>
                </a:path>
                <a:path w="342900" h="321945">
                  <a:moveTo>
                    <a:pt x="321468" y="75009"/>
                  </a:moveTo>
                  <a:lnTo>
                    <a:pt x="131429" y="75009"/>
                  </a:lnTo>
                  <a:lnTo>
                    <a:pt x="134163" y="74465"/>
                  </a:lnTo>
                  <a:lnTo>
                    <a:pt x="139414" y="72290"/>
                  </a:lnTo>
                  <a:lnTo>
                    <a:pt x="150018" y="56420"/>
                  </a:lnTo>
                  <a:lnTo>
                    <a:pt x="150018" y="50736"/>
                  </a:lnTo>
                  <a:lnTo>
                    <a:pt x="131429" y="32146"/>
                  </a:lnTo>
                  <a:lnTo>
                    <a:pt x="321468" y="32146"/>
                  </a:lnTo>
                  <a:lnTo>
                    <a:pt x="329818" y="33828"/>
                  </a:lnTo>
                  <a:lnTo>
                    <a:pt x="336629" y="38417"/>
                  </a:lnTo>
                  <a:lnTo>
                    <a:pt x="341218" y="45228"/>
                  </a:lnTo>
                  <a:lnTo>
                    <a:pt x="342899" y="53578"/>
                  </a:lnTo>
                  <a:lnTo>
                    <a:pt x="341218" y="61927"/>
                  </a:lnTo>
                  <a:lnTo>
                    <a:pt x="336629" y="68739"/>
                  </a:lnTo>
                  <a:lnTo>
                    <a:pt x="329818" y="73327"/>
                  </a:lnTo>
                  <a:lnTo>
                    <a:pt x="321468" y="75009"/>
                  </a:lnTo>
                  <a:close/>
                </a:path>
                <a:path w="342900" h="321945">
                  <a:moveTo>
                    <a:pt x="128587" y="107156"/>
                  </a:moveTo>
                  <a:lnTo>
                    <a:pt x="112808" y="104798"/>
                  </a:lnTo>
                  <a:lnTo>
                    <a:pt x="98893" y="98190"/>
                  </a:lnTo>
                  <a:lnTo>
                    <a:pt x="87553" y="88028"/>
                  </a:lnTo>
                  <a:lnTo>
                    <a:pt x="79496" y="75009"/>
                  </a:lnTo>
                  <a:lnTo>
                    <a:pt x="177678" y="75009"/>
                  </a:lnTo>
                  <a:lnTo>
                    <a:pt x="169621" y="88028"/>
                  </a:lnTo>
                  <a:lnTo>
                    <a:pt x="158281" y="98190"/>
                  </a:lnTo>
                  <a:lnTo>
                    <a:pt x="144366" y="104798"/>
                  </a:lnTo>
                  <a:lnTo>
                    <a:pt x="128587" y="107156"/>
                  </a:lnTo>
                  <a:close/>
                </a:path>
                <a:path w="342900" h="321945">
                  <a:moveTo>
                    <a:pt x="284834" y="139303"/>
                  </a:moveTo>
                  <a:lnTo>
                    <a:pt x="186652" y="139303"/>
                  </a:lnTo>
                  <a:lnTo>
                    <a:pt x="194709" y="126284"/>
                  </a:lnTo>
                  <a:lnTo>
                    <a:pt x="206049" y="116122"/>
                  </a:lnTo>
                  <a:lnTo>
                    <a:pt x="219964" y="109513"/>
                  </a:lnTo>
                  <a:lnTo>
                    <a:pt x="235743" y="107156"/>
                  </a:lnTo>
                  <a:lnTo>
                    <a:pt x="251523" y="109513"/>
                  </a:lnTo>
                  <a:lnTo>
                    <a:pt x="265437" y="116122"/>
                  </a:lnTo>
                  <a:lnTo>
                    <a:pt x="276778" y="126284"/>
                  </a:lnTo>
                  <a:lnTo>
                    <a:pt x="284834" y="139303"/>
                  </a:lnTo>
                  <a:close/>
                </a:path>
                <a:path w="342900" h="321945">
                  <a:moveTo>
                    <a:pt x="232901" y="182165"/>
                  </a:moveTo>
                  <a:lnTo>
                    <a:pt x="21431" y="182165"/>
                  </a:lnTo>
                  <a:lnTo>
                    <a:pt x="13081" y="180483"/>
                  </a:lnTo>
                  <a:lnTo>
                    <a:pt x="6270" y="175895"/>
                  </a:lnTo>
                  <a:lnTo>
                    <a:pt x="1681" y="169083"/>
                  </a:lnTo>
                  <a:lnTo>
                    <a:pt x="0" y="160734"/>
                  </a:lnTo>
                  <a:lnTo>
                    <a:pt x="1681" y="152384"/>
                  </a:lnTo>
                  <a:lnTo>
                    <a:pt x="6270" y="145573"/>
                  </a:lnTo>
                  <a:lnTo>
                    <a:pt x="13081" y="140984"/>
                  </a:lnTo>
                  <a:lnTo>
                    <a:pt x="21431" y="139303"/>
                  </a:lnTo>
                  <a:lnTo>
                    <a:pt x="232901" y="139303"/>
                  </a:lnTo>
                  <a:lnTo>
                    <a:pt x="230167" y="139846"/>
                  </a:lnTo>
                  <a:lnTo>
                    <a:pt x="224916" y="142022"/>
                  </a:lnTo>
                  <a:lnTo>
                    <a:pt x="214312" y="157892"/>
                  </a:lnTo>
                  <a:lnTo>
                    <a:pt x="214312" y="163576"/>
                  </a:lnTo>
                  <a:lnTo>
                    <a:pt x="230167" y="181621"/>
                  </a:lnTo>
                  <a:lnTo>
                    <a:pt x="232901" y="182165"/>
                  </a:lnTo>
                  <a:close/>
                </a:path>
                <a:path w="342900" h="321945">
                  <a:moveTo>
                    <a:pt x="321468" y="182165"/>
                  </a:moveTo>
                  <a:lnTo>
                    <a:pt x="238585" y="182165"/>
                  </a:lnTo>
                  <a:lnTo>
                    <a:pt x="241319" y="181621"/>
                  </a:lnTo>
                  <a:lnTo>
                    <a:pt x="246570" y="179446"/>
                  </a:lnTo>
                  <a:lnTo>
                    <a:pt x="257174" y="163576"/>
                  </a:lnTo>
                  <a:lnTo>
                    <a:pt x="257174" y="157892"/>
                  </a:lnTo>
                  <a:lnTo>
                    <a:pt x="238585" y="139303"/>
                  </a:lnTo>
                  <a:lnTo>
                    <a:pt x="321468" y="139303"/>
                  </a:lnTo>
                  <a:lnTo>
                    <a:pt x="329818" y="140984"/>
                  </a:lnTo>
                  <a:lnTo>
                    <a:pt x="336629" y="145573"/>
                  </a:lnTo>
                  <a:lnTo>
                    <a:pt x="341218" y="152384"/>
                  </a:lnTo>
                  <a:lnTo>
                    <a:pt x="342899" y="160734"/>
                  </a:lnTo>
                  <a:lnTo>
                    <a:pt x="341218" y="169083"/>
                  </a:lnTo>
                  <a:lnTo>
                    <a:pt x="336629" y="175895"/>
                  </a:lnTo>
                  <a:lnTo>
                    <a:pt x="329818" y="180483"/>
                  </a:lnTo>
                  <a:lnTo>
                    <a:pt x="321468" y="182165"/>
                  </a:lnTo>
                  <a:close/>
                </a:path>
                <a:path w="342900" h="321945">
                  <a:moveTo>
                    <a:pt x="235743" y="214312"/>
                  </a:moveTo>
                  <a:lnTo>
                    <a:pt x="219964" y="211954"/>
                  </a:lnTo>
                  <a:lnTo>
                    <a:pt x="206049" y="205346"/>
                  </a:lnTo>
                  <a:lnTo>
                    <a:pt x="194709" y="195184"/>
                  </a:lnTo>
                  <a:lnTo>
                    <a:pt x="186652" y="182165"/>
                  </a:lnTo>
                  <a:lnTo>
                    <a:pt x="284834" y="182165"/>
                  </a:lnTo>
                  <a:lnTo>
                    <a:pt x="276778" y="195184"/>
                  </a:lnTo>
                  <a:lnTo>
                    <a:pt x="265437" y="205346"/>
                  </a:lnTo>
                  <a:lnTo>
                    <a:pt x="251523" y="211954"/>
                  </a:lnTo>
                  <a:lnTo>
                    <a:pt x="235743" y="214312"/>
                  </a:lnTo>
                  <a:close/>
                </a:path>
                <a:path w="342900" h="321945">
                  <a:moveTo>
                    <a:pt x="156247" y="246459"/>
                  </a:moveTo>
                  <a:lnTo>
                    <a:pt x="58065" y="246459"/>
                  </a:lnTo>
                  <a:lnTo>
                    <a:pt x="66121" y="233440"/>
                  </a:lnTo>
                  <a:lnTo>
                    <a:pt x="77462" y="223278"/>
                  </a:lnTo>
                  <a:lnTo>
                    <a:pt x="91376" y="216670"/>
                  </a:lnTo>
                  <a:lnTo>
                    <a:pt x="107156" y="214312"/>
                  </a:lnTo>
                  <a:lnTo>
                    <a:pt x="122935" y="216670"/>
                  </a:lnTo>
                  <a:lnTo>
                    <a:pt x="136850" y="223278"/>
                  </a:lnTo>
                  <a:lnTo>
                    <a:pt x="148190" y="233440"/>
                  </a:lnTo>
                  <a:lnTo>
                    <a:pt x="156247" y="246459"/>
                  </a:lnTo>
                  <a:close/>
                </a:path>
                <a:path w="342900" h="321945">
                  <a:moveTo>
                    <a:pt x="104314" y="289321"/>
                  </a:moveTo>
                  <a:lnTo>
                    <a:pt x="21431" y="289321"/>
                  </a:lnTo>
                  <a:lnTo>
                    <a:pt x="13081" y="287640"/>
                  </a:lnTo>
                  <a:lnTo>
                    <a:pt x="6270" y="283051"/>
                  </a:lnTo>
                  <a:lnTo>
                    <a:pt x="1681" y="276240"/>
                  </a:lnTo>
                  <a:lnTo>
                    <a:pt x="0" y="267890"/>
                  </a:lnTo>
                  <a:lnTo>
                    <a:pt x="1681" y="259541"/>
                  </a:lnTo>
                  <a:lnTo>
                    <a:pt x="6270" y="252729"/>
                  </a:lnTo>
                  <a:lnTo>
                    <a:pt x="13081" y="248141"/>
                  </a:lnTo>
                  <a:lnTo>
                    <a:pt x="21431" y="246459"/>
                  </a:lnTo>
                  <a:lnTo>
                    <a:pt x="104314" y="246459"/>
                  </a:lnTo>
                  <a:lnTo>
                    <a:pt x="101580" y="247003"/>
                  </a:lnTo>
                  <a:lnTo>
                    <a:pt x="96329" y="249178"/>
                  </a:lnTo>
                  <a:lnTo>
                    <a:pt x="85724" y="265048"/>
                  </a:lnTo>
                  <a:lnTo>
                    <a:pt x="85724" y="270732"/>
                  </a:lnTo>
                  <a:lnTo>
                    <a:pt x="101580" y="288778"/>
                  </a:lnTo>
                  <a:lnTo>
                    <a:pt x="104314" y="289321"/>
                  </a:lnTo>
                  <a:close/>
                </a:path>
                <a:path w="342900" h="321945">
                  <a:moveTo>
                    <a:pt x="321468" y="289321"/>
                  </a:moveTo>
                  <a:lnTo>
                    <a:pt x="109998" y="289321"/>
                  </a:lnTo>
                  <a:lnTo>
                    <a:pt x="112731" y="288778"/>
                  </a:lnTo>
                  <a:lnTo>
                    <a:pt x="117983" y="286602"/>
                  </a:lnTo>
                  <a:lnTo>
                    <a:pt x="128587" y="270732"/>
                  </a:lnTo>
                  <a:lnTo>
                    <a:pt x="128587" y="265048"/>
                  </a:lnTo>
                  <a:lnTo>
                    <a:pt x="109998" y="246459"/>
                  </a:lnTo>
                  <a:lnTo>
                    <a:pt x="321468" y="246459"/>
                  </a:lnTo>
                  <a:lnTo>
                    <a:pt x="329818" y="248141"/>
                  </a:lnTo>
                  <a:lnTo>
                    <a:pt x="336629" y="252729"/>
                  </a:lnTo>
                  <a:lnTo>
                    <a:pt x="341218" y="259541"/>
                  </a:lnTo>
                  <a:lnTo>
                    <a:pt x="342899" y="267890"/>
                  </a:lnTo>
                  <a:lnTo>
                    <a:pt x="341218" y="276240"/>
                  </a:lnTo>
                  <a:lnTo>
                    <a:pt x="336629" y="283051"/>
                  </a:lnTo>
                  <a:lnTo>
                    <a:pt x="329818" y="287640"/>
                  </a:lnTo>
                  <a:lnTo>
                    <a:pt x="321468" y="289321"/>
                  </a:lnTo>
                  <a:close/>
                </a:path>
                <a:path w="342900" h="321945">
                  <a:moveTo>
                    <a:pt x="107156" y="321468"/>
                  </a:moveTo>
                  <a:lnTo>
                    <a:pt x="91376" y="319111"/>
                  </a:lnTo>
                  <a:lnTo>
                    <a:pt x="77462" y="312502"/>
                  </a:lnTo>
                  <a:lnTo>
                    <a:pt x="66121" y="302340"/>
                  </a:lnTo>
                  <a:lnTo>
                    <a:pt x="58065" y="289321"/>
                  </a:lnTo>
                  <a:lnTo>
                    <a:pt x="156247" y="289321"/>
                  </a:lnTo>
                  <a:lnTo>
                    <a:pt x="148190" y="302340"/>
                  </a:lnTo>
                  <a:lnTo>
                    <a:pt x="136850" y="312502"/>
                  </a:lnTo>
                  <a:lnTo>
                    <a:pt x="122935" y="319111"/>
                  </a:lnTo>
                  <a:lnTo>
                    <a:pt x="107156" y="321468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896099" y="5850730"/>
              <a:ext cx="342900" cy="300355"/>
            </a:xfrm>
            <a:custGeom>
              <a:avLst/>
              <a:gdLst/>
              <a:ahLst/>
              <a:cxnLst/>
              <a:rect l="l" t="t" r="r" b="b"/>
              <a:pathLst>
                <a:path w="342900" h="300354">
                  <a:moveTo>
                    <a:pt x="321468" y="300037"/>
                  </a:moveTo>
                  <a:lnTo>
                    <a:pt x="53578" y="300037"/>
                  </a:lnTo>
                  <a:lnTo>
                    <a:pt x="32718" y="295828"/>
                  </a:lnTo>
                  <a:lnTo>
                    <a:pt x="15688" y="284349"/>
                  </a:lnTo>
                  <a:lnTo>
                    <a:pt x="4208" y="267319"/>
                  </a:lnTo>
                  <a:lnTo>
                    <a:pt x="0" y="246459"/>
                  </a:lnTo>
                  <a:lnTo>
                    <a:pt x="0" y="21431"/>
                  </a:lnTo>
                  <a:lnTo>
                    <a:pt x="1681" y="13081"/>
                  </a:lnTo>
                  <a:lnTo>
                    <a:pt x="6270" y="6270"/>
                  </a:lnTo>
                  <a:lnTo>
                    <a:pt x="13081" y="1681"/>
                  </a:lnTo>
                  <a:lnTo>
                    <a:pt x="21431" y="0"/>
                  </a:lnTo>
                  <a:lnTo>
                    <a:pt x="29780" y="1681"/>
                  </a:lnTo>
                  <a:lnTo>
                    <a:pt x="36592" y="6270"/>
                  </a:lnTo>
                  <a:lnTo>
                    <a:pt x="41180" y="13081"/>
                  </a:lnTo>
                  <a:lnTo>
                    <a:pt x="42862" y="21431"/>
                  </a:lnTo>
                  <a:lnTo>
                    <a:pt x="42862" y="252352"/>
                  </a:lnTo>
                  <a:lnTo>
                    <a:pt x="47684" y="257174"/>
                  </a:lnTo>
                  <a:lnTo>
                    <a:pt x="321468" y="257174"/>
                  </a:lnTo>
                  <a:lnTo>
                    <a:pt x="329818" y="258856"/>
                  </a:lnTo>
                  <a:lnTo>
                    <a:pt x="336629" y="263445"/>
                  </a:lnTo>
                  <a:lnTo>
                    <a:pt x="341218" y="270256"/>
                  </a:lnTo>
                  <a:lnTo>
                    <a:pt x="342899" y="278606"/>
                  </a:lnTo>
                  <a:lnTo>
                    <a:pt x="341218" y="286955"/>
                  </a:lnTo>
                  <a:lnTo>
                    <a:pt x="336629" y="293767"/>
                  </a:lnTo>
                  <a:lnTo>
                    <a:pt x="329818" y="298355"/>
                  </a:lnTo>
                  <a:lnTo>
                    <a:pt x="321468" y="300037"/>
                  </a:lnTo>
                  <a:close/>
                </a:path>
                <a:path w="342900" h="300354">
                  <a:moveTo>
                    <a:pt x="275056" y="119680"/>
                  </a:moveTo>
                  <a:lnTo>
                    <a:pt x="214312" y="119680"/>
                  </a:lnTo>
                  <a:lnTo>
                    <a:pt x="284834" y="49090"/>
                  </a:lnTo>
                  <a:lnTo>
                    <a:pt x="291929" y="44381"/>
                  </a:lnTo>
                  <a:lnTo>
                    <a:pt x="300004" y="42812"/>
                  </a:lnTo>
                  <a:lnTo>
                    <a:pt x="308078" y="44381"/>
                  </a:lnTo>
                  <a:lnTo>
                    <a:pt x="315173" y="49090"/>
                  </a:lnTo>
                  <a:lnTo>
                    <a:pt x="319882" y="56185"/>
                  </a:lnTo>
                  <a:lnTo>
                    <a:pt x="321452" y="64260"/>
                  </a:lnTo>
                  <a:lnTo>
                    <a:pt x="319882" y="72334"/>
                  </a:lnTo>
                  <a:lnTo>
                    <a:pt x="314908" y="79827"/>
                  </a:lnTo>
                  <a:lnTo>
                    <a:pt x="275056" y="119680"/>
                  </a:lnTo>
                  <a:close/>
                </a:path>
                <a:path w="342900" h="300354">
                  <a:moveTo>
                    <a:pt x="85691" y="192864"/>
                  </a:moveTo>
                  <a:lnTo>
                    <a:pt x="77617" y="191294"/>
                  </a:lnTo>
                  <a:lnTo>
                    <a:pt x="70522" y="186585"/>
                  </a:lnTo>
                  <a:lnTo>
                    <a:pt x="65813" y="179490"/>
                  </a:lnTo>
                  <a:lnTo>
                    <a:pt x="64243" y="171416"/>
                  </a:lnTo>
                  <a:lnTo>
                    <a:pt x="65813" y="163342"/>
                  </a:lnTo>
                  <a:lnTo>
                    <a:pt x="70522" y="156247"/>
                  </a:lnTo>
                  <a:lnTo>
                    <a:pt x="145531" y="81237"/>
                  </a:lnTo>
                  <a:lnTo>
                    <a:pt x="152626" y="76528"/>
                  </a:lnTo>
                  <a:lnTo>
                    <a:pt x="160700" y="74959"/>
                  </a:lnTo>
                  <a:lnTo>
                    <a:pt x="168775" y="76528"/>
                  </a:lnTo>
                  <a:lnTo>
                    <a:pt x="175870" y="81237"/>
                  </a:lnTo>
                  <a:lnTo>
                    <a:pt x="214312" y="119680"/>
                  </a:lnTo>
                  <a:lnTo>
                    <a:pt x="275056" y="119680"/>
                  </a:lnTo>
                  <a:lnTo>
                    <a:pt x="267957" y="126779"/>
                  </a:lnTo>
                  <a:lnTo>
                    <a:pt x="160734" y="126779"/>
                  </a:lnTo>
                  <a:lnTo>
                    <a:pt x="100860" y="186585"/>
                  </a:lnTo>
                  <a:lnTo>
                    <a:pt x="93765" y="191294"/>
                  </a:lnTo>
                  <a:lnTo>
                    <a:pt x="85691" y="192864"/>
                  </a:lnTo>
                  <a:close/>
                </a:path>
                <a:path w="342900" h="300354">
                  <a:moveTo>
                    <a:pt x="314908" y="79827"/>
                  </a:moveTo>
                  <a:lnTo>
                    <a:pt x="315162" y="79445"/>
                  </a:lnTo>
                  <a:lnTo>
                    <a:pt x="315291" y="79445"/>
                  </a:lnTo>
                  <a:lnTo>
                    <a:pt x="314908" y="79827"/>
                  </a:lnTo>
                  <a:close/>
                </a:path>
                <a:path w="342900" h="300354">
                  <a:moveTo>
                    <a:pt x="214776" y="171416"/>
                  </a:moveTo>
                  <a:lnTo>
                    <a:pt x="213915" y="171416"/>
                  </a:lnTo>
                  <a:lnTo>
                    <a:pt x="206271" y="169930"/>
                  </a:lnTo>
                  <a:lnTo>
                    <a:pt x="199176" y="165221"/>
                  </a:lnTo>
                  <a:lnTo>
                    <a:pt x="160734" y="126779"/>
                  </a:lnTo>
                  <a:lnTo>
                    <a:pt x="267957" y="126779"/>
                  </a:lnTo>
                  <a:lnTo>
                    <a:pt x="229515" y="165221"/>
                  </a:lnTo>
                  <a:lnTo>
                    <a:pt x="222420" y="169930"/>
                  </a:lnTo>
                  <a:lnTo>
                    <a:pt x="214776" y="171416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544174" y="6581774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8474" y="6677024"/>
              <a:ext cx="133349" cy="13334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606424" y="6258797"/>
            <a:ext cx="1007744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5" b="0">
                <a:latin typeface="Roboto Medium"/>
                <a:cs typeface="Roboto Medium"/>
              </a:rPr>
              <a:t>Wind</a:t>
            </a:r>
            <a:r>
              <a:rPr dirty="0" sz="1150" spc="-5" b="0">
                <a:latin typeface="Roboto Medium"/>
                <a:cs typeface="Roboto Medium"/>
              </a:rPr>
              <a:t> </a:t>
            </a:r>
            <a:r>
              <a:rPr dirty="0" sz="1150" spc="-45" b="0">
                <a:latin typeface="Roboto Medium"/>
                <a:cs typeface="Roboto Medium"/>
              </a:rPr>
              <a:t>Integration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045890" y="6258797"/>
            <a:ext cx="101663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0" b="0">
                <a:latin typeface="Roboto Medium"/>
                <a:cs typeface="Roboto Medium"/>
              </a:rPr>
              <a:t>Solar</a:t>
            </a:r>
            <a:r>
              <a:rPr dirty="0" sz="1150" spc="-25" b="0">
                <a:latin typeface="Roboto Medium"/>
                <a:cs typeface="Roboto Medium"/>
              </a:rPr>
              <a:t> </a:t>
            </a:r>
            <a:r>
              <a:rPr dirty="0" sz="1150" spc="-45" b="0">
                <a:latin typeface="Roboto Medium"/>
                <a:cs typeface="Roboto Medium"/>
              </a:rPr>
              <a:t>Integration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494137" y="6258797"/>
            <a:ext cx="109093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70" b="0">
                <a:latin typeface="Roboto Medium"/>
                <a:cs typeface="Roboto Medium"/>
              </a:rPr>
              <a:t>Machine</a:t>
            </a:r>
            <a:r>
              <a:rPr dirty="0" sz="1150" spc="35" b="0">
                <a:latin typeface="Roboto Medium"/>
                <a:cs typeface="Roboto Medium"/>
              </a:rPr>
              <a:t> </a:t>
            </a:r>
            <a:r>
              <a:rPr dirty="0" sz="1150" spc="-45" b="0">
                <a:latin typeface="Roboto Medium"/>
                <a:cs typeface="Roboto Medium"/>
              </a:rPr>
              <a:t>Learning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016946" y="6258797"/>
            <a:ext cx="103124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5" b="0">
                <a:latin typeface="Roboto Medium"/>
                <a:cs typeface="Roboto Medium"/>
              </a:rPr>
              <a:t>PID</a:t>
            </a:r>
            <a:r>
              <a:rPr dirty="0" sz="1150" spc="-10" b="0">
                <a:latin typeface="Roboto Medium"/>
                <a:cs typeface="Roboto Medium"/>
              </a:rPr>
              <a:t> </a:t>
            </a:r>
            <a:r>
              <a:rPr dirty="0" sz="1150" spc="-50" b="0">
                <a:latin typeface="Roboto Medium"/>
                <a:cs typeface="Roboto Medium"/>
              </a:rPr>
              <a:t>Optimization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479926" y="6258797"/>
            <a:ext cx="117538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0">
                <a:latin typeface="Roboto Medium"/>
                <a:cs typeface="Roboto Medium"/>
              </a:rPr>
              <a:t>Performance</a:t>
            </a:r>
            <a:r>
              <a:rPr dirty="0" sz="1150" spc="-20" b="0">
                <a:latin typeface="Roboto Medium"/>
                <a:cs typeface="Roboto Medium"/>
              </a:rPr>
              <a:t> </a:t>
            </a:r>
            <a:r>
              <a:rPr dirty="0" sz="1150" spc="-30" b="0">
                <a:latin typeface="Roboto Medium"/>
                <a:cs typeface="Roboto Medium"/>
              </a:rPr>
              <a:t>Gains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833000" y="6641941"/>
            <a:ext cx="1066800" cy="32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975"/>
              </a:lnSpc>
              <a:spcBef>
                <a:spcPts val="100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  <a:p>
            <a:pPr algn="ctr" marR="33655">
              <a:lnSpc>
                <a:spcPts val="1335"/>
              </a:lnSpc>
            </a:pP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Slide</a:t>
            </a:r>
            <a:r>
              <a:rPr dirty="0" sz="13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8974" y="200024"/>
              <a:ext cx="1142999" cy="6476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24" y="6429374"/>
              <a:ext cx="12172950" cy="419100"/>
            </a:xfrm>
            <a:custGeom>
              <a:avLst/>
              <a:gdLst/>
              <a:ahLst/>
              <a:cxnLst/>
              <a:rect l="l" t="t" r="r" b="b"/>
              <a:pathLst>
                <a:path w="12172950" h="419100">
                  <a:moveTo>
                    <a:pt x="1217294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12172949" y="0"/>
                  </a:lnTo>
                  <a:lnTo>
                    <a:pt x="12172949" y="41909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9124" y="1038224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1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380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207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Agenda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619124" y="1457324"/>
            <a:ext cx="5362575" cy="495300"/>
            <a:chOff x="619124" y="1457324"/>
            <a:chExt cx="5362575" cy="495300"/>
          </a:xfrm>
        </p:grpSpPr>
        <p:sp>
          <p:nvSpPr>
            <p:cNvPr id="9" name="object 9" descr=""/>
            <p:cNvSpPr/>
            <p:nvPr/>
          </p:nvSpPr>
          <p:spPr>
            <a:xfrm>
              <a:off x="638174" y="145732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4833" y="467021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8" y="19392"/>
                  </a:lnTo>
                  <a:lnTo>
                    <a:pt x="5343524" y="53397"/>
                  </a:lnTo>
                  <a:lnTo>
                    <a:pt x="5343524" y="441902"/>
                  </a:lnTo>
                  <a:lnTo>
                    <a:pt x="5324131" y="481214"/>
                  </a:lnTo>
                  <a:lnTo>
                    <a:pt x="5293843" y="494933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19124" y="145732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1" y="493849"/>
                  </a:lnTo>
                  <a:lnTo>
                    <a:pt x="7250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80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0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724" y="1609724"/>
              <a:ext cx="190499" cy="19049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168399" y="1558686"/>
            <a:ext cx="20497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>
                <a:latin typeface="Roboto"/>
                <a:cs typeface="Roboto"/>
              </a:rPr>
              <a:t>Motivation</a:t>
            </a:r>
            <a:r>
              <a:rPr dirty="0" sz="1500" spc="20">
                <a:latin typeface="Roboto"/>
                <a:cs typeface="Roboto"/>
              </a:rPr>
              <a:t> </a:t>
            </a:r>
            <a:r>
              <a:rPr dirty="0" sz="1500" spc="-100">
                <a:latin typeface="Roboto"/>
                <a:cs typeface="Roboto"/>
              </a:rPr>
              <a:t>and</a:t>
            </a:r>
            <a:r>
              <a:rPr dirty="0" sz="1500" spc="25">
                <a:latin typeface="Roboto"/>
                <a:cs typeface="Roboto"/>
              </a:rPr>
              <a:t> </a:t>
            </a:r>
            <a:r>
              <a:rPr dirty="0" sz="1500" spc="-65">
                <a:latin typeface="Roboto"/>
                <a:cs typeface="Roboto"/>
              </a:rPr>
              <a:t>Challenges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14350" y="15620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00769" y="157543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1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19124" y="2047874"/>
            <a:ext cx="5362575" cy="495300"/>
            <a:chOff x="619124" y="2047874"/>
            <a:chExt cx="5362575" cy="495300"/>
          </a:xfrm>
        </p:grpSpPr>
        <p:sp>
          <p:nvSpPr>
            <p:cNvPr id="16" name="object 16" descr=""/>
            <p:cNvSpPr/>
            <p:nvPr/>
          </p:nvSpPr>
          <p:spPr>
            <a:xfrm>
              <a:off x="638174" y="204787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28187" y="493849"/>
                  </a:lnTo>
                  <a:lnTo>
                    <a:pt x="966" y="453018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8" y="19391"/>
                  </a:lnTo>
                  <a:lnTo>
                    <a:pt x="5343524" y="53397"/>
                  </a:lnTo>
                  <a:lnTo>
                    <a:pt x="5343524" y="441902"/>
                  </a:lnTo>
                  <a:lnTo>
                    <a:pt x="5324131" y="481214"/>
                  </a:lnTo>
                  <a:lnTo>
                    <a:pt x="5293843" y="494933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9124" y="204787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1" y="493849"/>
                  </a:lnTo>
                  <a:lnTo>
                    <a:pt x="7250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1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871" y="2200274"/>
              <a:ext cx="190206" cy="190499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168399" y="2149236"/>
            <a:ext cx="29724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>
                <a:latin typeface="Roboto"/>
                <a:cs typeface="Roboto"/>
              </a:rPr>
              <a:t>Research</a:t>
            </a:r>
            <a:r>
              <a:rPr dirty="0" sz="1500" spc="-25">
                <a:latin typeface="Roboto"/>
                <a:cs typeface="Roboto"/>
              </a:rPr>
              <a:t> </a:t>
            </a:r>
            <a:r>
              <a:rPr dirty="0" sz="1500" spc="-75">
                <a:latin typeface="Roboto"/>
                <a:cs typeface="Roboto"/>
              </a:rPr>
              <a:t>Objectives</a:t>
            </a:r>
            <a:r>
              <a:rPr dirty="0" sz="1500" spc="-20">
                <a:latin typeface="Roboto"/>
                <a:cs typeface="Roboto"/>
              </a:rPr>
              <a:t> </a:t>
            </a:r>
            <a:r>
              <a:rPr dirty="0" sz="1500" spc="-100">
                <a:latin typeface="Roboto"/>
                <a:cs typeface="Roboto"/>
              </a:rPr>
              <a:t>and</a:t>
            </a:r>
            <a:r>
              <a:rPr dirty="0" sz="1500" spc="-25">
                <a:latin typeface="Roboto"/>
                <a:cs typeface="Roboto"/>
              </a:rPr>
              <a:t> </a:t>
            </a:r>
            <a:r>
              <a:rPr dirty="0" sz="1500" spc="-65">
                <a:latin typeface="Roboto"/>
                <a:cs typeface="Roboto"/>
              </a:rPr>
              <a:t>Contributions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14350" y="21526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00769" y="216598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2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19124" y="2638424"/>
            <a:ext cx="5362575" cy="495300"/>
            <a:chOff x="619124" y="2638424"/>
            <a:chExt cx="5362575" cy="495300"/>
          </a:xfrm>
        </p:grpSpPr>
        <p:sp>
          <p:nvSpPr>
            <p:cNvPr id="23" name="object 23" descr=""/>
            <p:cNvSpPr/>
            <p:nvPr/>
          </p:nvSpPr>
          <p:spPr>
            <a:xfrm>
              <a:off x="638174" y="263842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4833" y="467021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8" y="19392"/>
                  </a:lnTo>
                  <a:lnTo>
                    <a:pt x="5343524" y="53397"/>
                  </a:lnTo>
                  <a:lnTo>
                    <a:pt x="5343524" y="441902"/>
                  </a:lnTo>
                  <a:lnTo>
                    <a:pt x="5324131" y="481214"/>
                  </a:lnTo>
                  <a:lnTo>
                    <a:pt x="5293843" y="494933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19124" y="263842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1" y="493849"/>
                  </a:lnTo>
                  <a:lnTo>
                    <a:pt x="7250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1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724" y="2802731"/>
              <a:ext cx="214312" cy="166687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1192212" y="2739786"/>
            <a:ext cx="15659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>
                <a:latin typeface="Roboto"/>
                <a:cs typeface="Roboto"/>
              </a:rPr>
              <a:t>System</a:t>
            </a:r>
            <a:r>
              <a:rPr dirty="0" sz="1500" spc="10">
                <a:latin typeface="Roboto"/>
                <a:cs typeface="Roboto"/>
              </a:rPr>
              <a:t> </a:t>
            </a:r>
            <a:r>
              <a:rPr dirty="0" sz="1500" spc="-70">
                <a:latin typeface="Roboto"/>
                <a:cs typeface="Roboto"/>
              </a:rPr>
              <a:t>Architecture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514350" y="27431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00769" y="275653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3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619124" y="3228974"/>
            <a:ext cx="5362575" cy="495300"/>
            <a:chOff x="619124" y="3228974"/>
            <a:chExt cx="5362575" cy="495300"/>
          </a:xfrm>
        </p:grpSpPr>
        <p:sp>
          <p:nvSpPr>
            <p:cNvPr id="30" name="object 30" descr=""/>
            <p:cNvSpPr/>
            <p:nvPr/>
          </p:nvSpPr>
          <p:spPr>
            <a:xfrm>
              <a:off x="638174" y="322897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4833" y="467021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8" y="19392"/>
                  </a:lnTo>
                  <a:lnTo>
                    <a:pt x="5343524" y="53397"/>
                  </a:lnTo>
                  <a:lnTo>
                    <a:pt x="5343524" y="441902"/>
                  </a:lnTo>
                  <a:lnTo>
                    <a:pt x="5324131" y="481214"/>
                  </a:lnTo>
                  <a:lnTo>
                    <a:pt x="5293843" y="494934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19124" y="322897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1" y="493849"/>
                  </a:lnTo>
                  <a:lnTo>
                    <a:pt x="7250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1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7724" y="3381374"/>
              <a:ext cx="190499" cy="190499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1168399" y="3330337"/>
            <a:ext cx="183959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>
                <a:latin typeface="Roboto"/>
                <a:cs typeface="Roboto"/>
              </a:rPr>
              <a:t>Ensemble</a:t>
            </a:r>
            <a:r>
              <a:rPr dirty="0" sz="1500" spc="-20">
                <a:latin typeface="Roboto"/>
                <a:cs typeface="Roboto"/>
              </a:rPr>
              <a:t> </a:t>
            </a:r>
            <a:r>
              <a:rPr dirty="0" sz="1500" spc="-114">
                <a:latin typeface="Roboto"/>
                <a:cs typeface="Roboto"/>
              </a:rPr>
              <a:t>ML</a:t>
            </a:r>
            <a:r>
              <a:rPr dirty="0" sz="1500" spc="-20">
                <a:latin typeface="Roboto"/>
                <a:cs typeface="Roboto"/>
              </a:rPr>
              <a:t> </a:t>
            </a:r>
            <a:r>
              <a:rPr dirty="0" sz="1500" spc="-75">
                <a:latin typeface="Roboto"/>
                <a:cs typeface="Roboto"/>
              </a:rPr>
              <a:t>Approach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14350" y="33337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600769" y="334708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4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6210299" y="1457324"/>
            <a:ext cx="5362575" cy="495300"/>
            <a:chOff x="6210299" y="1457324"/>
            <a:chExt cx="5362575" cy="495300"/>
          </a:xfrm>
        </p:grpSpPr>
        <p:sp>
          <p:nvSpPr>
            <p:cNvPr id="37" name="object 37" descr=""/>
            <p:cNvSpPr/>
            <p:nvPr/>
          </p:nvSpPr>
          <p:spPr>
            <a:xfrm>
              <a:off x="6229348" y="145732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4833" y="467021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9" y="19392"/>
                  </a:lnTo>
                  <a:lnTo>
                    <a:pt x="5343525" y="53397"/>
                  </a:lnTo>
                  <a:lnTo>
                    <a:pt x="5343525" y="441902"/>
                  </a:lnTo>
                  <a:lnTo>
                    <a:pt x="5324131" y="481214"/>
                  </a:lnTo>
                  <a:lnTo>
                    <a:pt x="5293843" y="494933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210299" y="145732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0" y="493849"/>
                  </a:lnTo>
                  <a:lnTo>
                    <a:pt x="7249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80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0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9495" y="1612701"/>
              <a:ext cx="234408" cy="186853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6807200" y="1558686"/>
            <a:ext cx="21755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>
                <a:latin typeface="Roboto"/>
                <a:cs typeface="Roboto"/>
              </a:rPr>
              <a:t>Enhanced</a:t>
            </a:r>
            <a:r>
              <a:rPr dirty="0" sz="1500" spc="-20">
                <a:latin typeface="Roboto"/>
                <a:cs typeface="Roboto"/>
              </a:rPr>
              <a:t> </a:t>
            </a:r>
            <a:r>
              <a:rPr dirty="0" sz="1500" spc="-110">
                <a:latin typeface="Roboto"/>
                <a:cs typeface="Roboto"/>
              </a:rPr>
              <a:t>ACO</a:t>
            </a:r>
            <a:r>
              <a:rPr dirty="0" sz="1500" spc="-20">
                <a:latin typeface="Roboto"/>
                <a:cs typeface="Roboto"/>
              </a:rPr>
              <a:t> </a:t>
            </a:r>
            <a:r>
              <a:rPr dirty="0" sz="1500" spc="-70">
                <a:latin typeface="Roboto"/>
                <a:cs typeface="Roboto"/>
              </a:rPr>
              <a:t>Optimization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6105524" y="15620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6191944" y="157543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5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6210299" y="2047874"/>
            <a:ext cx="5362575" cy="495300"/>
            <a:chOff x="6210299" y="2047874"/>
            <a:chExt cx="5362575" cy="495300"/>
          </a:xfrm>
        </p:grpSpPr>
        <p:sp>
          <p:nvSpPr>
            <p:cNvPr id="44" name="object 44" descr=""/>
            <p:cNvSpPr/>
            <p:nvPr/>
          </p:nvSpPr>
          <p:spPr>
            <a:xfrm>
              <a:off x="6229348" y="204787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28187" y="493849"/>
                  </a:lnTo>
                  <a:lnTo>
                    <a:pt x="966" y="453018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9" y="19391"/>
                  </a:lnTo>
                  <a:lnTo>
                    <a:pt x="5343525" y="53397"/>
                  </a:lnTo>
                  <a:lnTo>
                    <a:pt x="5343525" y="441902"/>
                  </a:lnTo>
                  <a:lnTo>
                    <a:pt x="5324131" y="481214"/>
                  </a:lnTo>
                  <a:lnTo>
                    <a:pt x="5293843" y="494933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210299" y="204787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0" y="493849"/>
                  </a:lnTo>
                  <a:lnTo>
                    <a:pt x="7249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1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899" y="2212181"/>
              <a:ext cx="190499" cy="166687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6759575" y="2149236"/>
            <a:ext cx="20224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>
                <a:latin typeface="Roboto"/>
                <a:cs typeface="Roboto"/>
              </a:rPr>
              <a:t>Simulation</a:t>
            </a:r>
            <a:r>
              <a:rPr dirty="0" sz="1500" spc="-15">
                <a:latin typeface="Roboto"/>
                <a:cs typeface="Roboto"/>
              </a:rPr>
              <a:t> </a:t>
            </a:r>
            <a:r>
              <a:rPr dirty="0" sz="1500" spc="-100">
                <a:latin typeface="Roboto"/>
                <a:cs typeface="Roboto"/>
              </a:rPr>
              <a:t>&amp;</a:t>
            </a:r>
            <a:r>
              <a:rPr dirty="0" sz="1500" spc="-15">
                <a:latin typeface="Roboto"/>
                <a:cs typeface="Roboto"/>
              </a:rPr>
              <a:t> </a:t>
            </a:r>
            <a:r>
              <a:rPr dirty="0" sz="1500" spc="-75">
                <a:latin typeface="Roboto"/>
                <a:cs typeface="Roboto"/>
              </a:rPr>
              <a:t>Performance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6105524" y="21526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6191944" y="216598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6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6210299" y="2638424"/>
            <a:ext cx="5362575" cy="495300"/>
            <a:chOff x="6210299" y="2638424"/>
            <a:chExt cx="5362575" cy="495300"/>
          </a:xfrm>
        </p:grpSpPr>
        <p:sp>
          <p:nvSpPr>
            <p:cNvPr id="51" name="object 51" descr=""/>
            <p:cNvSpPr/>
            <p:nvPr/>
          </p:nvSpPr>
          <p:spPr>
            <a:xfrm>
              <a:off x="6229348" y="263842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4833" y="467021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9" y="19392"/>
                  </a:lnTo>
                  <a:lnTo>
                    <a:pt x="5343525" y="53397"/>
                  </a:lnTo>
                  <a:lnTo>
                    <a:pt x="5343525" y="441902"/>
                  </a:lnTo>
                  <a:lnTo>
                    <a:pt x="5324131" y="481214"/>
                  </a:lnTo>
                  <a:lnTo>
                    <a:pt x="5293843" y="494933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210299" y="263842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0" y="493849"/>
                  </a:lnTo>
                  <a:lnTo>
                    <a:pt x="7249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1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267" y="2790824"/>
              <a:ext cx="238980" cy="190499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6807200" y="2739786"/>
            <a:ext cx="16776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>
                <a:latin typeface="Roboto"/>
                <a:cs typeface="Roboto"/>
              </a:rPr>
              <a:t>Comparative</a:t>
            </a:r>
            <a:r>
              <a:rPr dirty="0" sz="1500" spc="5">
                <a:latin typeface="Roboto"/>
                <a:cs typeface="Roboto"/>
              </a:rPr>
              <a:t> </a:t>
            </a:r>
            <a:r>
              <a:rPr dirty="0" sz="1500" spc="-60">
                <a:latin typeface="Roboto"/>
                <a:cs typeface="Roboto"/>
              </a:rPr>
              <a:t>Analysis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6105524" y="27431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6191944" y="275653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7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6210299" y="3228974"/>
            <a:ext cx="5362575" cy="495300"/>
            <a:chOff x="6210299" y="3228974"/>
            <a:chExt cx="5362575" cy="495300"/>
          </a:xfrm>
        </p:grpSpPr>
        <p:sp>
          <p:nvSpPr>
            <p:cNvPr id="58" name="object 58" descr=""/>
            <p:cNvSpPr/>
            <p:nvPr/>
          </p:nvSpPr>
          <p:spPr>
            <a:xfrm>
              <a:off x="6229348" y="322897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4833" y="467021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9" y="19392"/>
                  </a:lnTo>
                  <a:lnTo>
                    <a:pt x="5343525" y="53397"/>
                  </a:lnTo>
                  <a:lnTo>
                    <a:pt x="5343525" y="441902"/>
                  </a:lnTo>
                  <a:lnTo>
                    <a:pt x="5324131" y="481214"/>
                  </a:lnTo>
                  <a:lnTo>
                    <a:pt x="5293843" y="494934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210299" y="322897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0" y="493849"/>
                  </a:lnTo>
                  <a:lnTo>
                    <a:pt x="7249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1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44852" y="3381374"/>
              <a:ext cx="130961" cy="190499"/>
            </a:xfrm>
            <a:prstGeom prst="rect">
              <a:avLst/>
            </a:prstGeom>
          </p:spPr>
        </p:pic>
      </p:grpSp>
      <p:sp>
        <p:nvSpPr>
          <p:cNvPr id="61" name="object 61" descr=""/>
          <p:cNvSpPr txBox="1"/>
          <p:nvPr/>
        </p:nvSpPr>
        <p:spPr>
          <a:xfrm>
            <a:off x="6711950" y="3330337"/>
            <a:ext cx="9937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>
                <a:latin typeface="Roboto"/>
                <a:cs typeface="Roboto"/>
              </a:rPr>
              <a:t>Key</a:t>
            </a:r>
            <a:r>
              <a:rPr dirty="0" sz="1500" spc="-25">
                <a:latin typeface="Roboto"/>
                <a:cs typeface="Roboto"/>
              </a:rPr>
              <a:t> </a:t>
            </a:r>
            <a:r>
              <a:rPr dirty="0" sz="1500" spc="-70">
                <a:latin typeface="Roboto"/>
                <a:cs typeface="Roboto"/>
              </a:rPr>
              <a:t>Findings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6105524" y="33337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6191944" y="334708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8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6210299" y="3819524"/>
            <a:ext cx="5362575" cy="495300"/>
            <a:chOff x="6210299" y="3819524"/>
            <a:chExt cx="5362575" cy="495300"/>
          </a:xfrm>
        </p:grpSpPr>
        <p:sp>
          <p:nvSpPr>
            <p:cNvPr id="65" name="object 65" descr=""/>
            <p:cNvSpPr/>
            <p:nvPr/>
          </p:nvSpPr>
          <p:spPr>
            <a:xfrm>
              <a:off x="6229348" y="3819524"/>
              <a:ext cx="5343525" cy="495300"/>
            </a:xfrm>
            <a:custGeom>
              <a:avLst/>
              <a:gdLst/>
              <a:ahLst/>
              <a:cxnLst/>
              <a:rect l="l" t="t" r="r" b="b"/>
              <a:pathLst>
                <a:path w="5343525" h="495300">
                  <a:moveTo>
                    <a:pt x="5290127" y="495299"/>
                  </a:moveTo>
                  <a:lnTo>
                    <a:pt x="33047" y="495299"/>
                  </a:lnTo>
                  <a:lnTo>
                    <a:pt x="28187" y="493849"/>
                  </a:lnTo>
                  <a:lnTo>
                    <a:pt x="966" y="453017"/>
                  </a:lnTo>
                  <a:lnTo>
                    <a:pt x="0" y="445728"/>
                  </a:lnTo>
                  <a:lnTo>
                    <a:pt x="0" y="438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90127" y="0"/>
                  </a:lnTo>
                  <a:lnTo>
                    <a:pt x="5329439" y="19391"/>
                  </a:lnTo>
                  <a:lnTo>
                    <a:pt x="5343525" y="53397"/>
                  </a:lnTo>
                  <a:lnTo>
                    <a:pt x="5343525" y="441902"/>
                  </a:lnTo>
                  <a:lnTo>
                    <a:pt x="5324131" y="481213"/>
                  </a:lnTo>
                  <a:lnTo>
                    <a:pt x="5293843" y="494933"/>
                  </a:lnTo>
                  <a:lnTo>
                    <a:pt x="5290127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210299" y="3819524"/>
              <a:ext cx="52069" cy="495300"/>
            </a:xfrm>
            <a:custGeom>
              <a:avLst/>
              <a:gdLst/>
              <a:ahLst/>
              <a:cxnLst/>
              <a:rect l="l" t="t" r="r" b="b"/>
              <a:pathLst>
                <a:path w="52070" h="495300">
                  <a:moveTo>
                    <a:pt x="51889" y="495299"/>
                  </a:moveTo>
                  <a:lnTo>
                    <a:pt x="49571" y="495299"/>
                  </a:lnTo>
                  <a:lnTo>
                    <a:pt x="42280" y="493849"/>
                  </a:lnTo>
                  <a:lnTo>
                    <a:pt x="7249" y="467021"/>
                  </a:lnTo>
                  <a:lnTo>
                    <a:pt x="0" y="4457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438150"/>
                  </a:lnTo>
                  <a:lnTo>
                    <a:pt x="43679" y="478561"/>
                  </a:lnTo>
                  <a:lnTo>
                    <a:pt x="47399" y="489720"/>
                  </a:lnTo>
                  <a:lnTo>
                    <a:pt x="51889" y="4952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899" y="3994881"/>
              <a:ext cx="190499" cy="144586"/>
            </a:xfrm>
            <a:prstGeom prst="rect">
              <a:avLst/>
            </a:prstGeom>
          </p:spPr>
        </p:pic>
      </p:grpSp>
      <p:sp>
        <p:nvSpPr>
          <p:cNvPr id="68" name="object 68" descr=""/>
          <p:cNvSpPr txBox="1"/>
          <p:nvPr/>
        </p:nvSpPr>
        <p:spPr>
          <a:xfrm>
            <a:off x="6759575" y="3920886"/>
            <a:ext cx="199008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>
                <a:latin typeface="Roboto"/>
                <a:cs typeface="Roboto"/>
              </a:rPr>
              <a:t>Conclusion</a:t>
            </a:r>
            <a:r>
              <a:rPr dirty="0" sz="1500" spc="10">
                <a:latin typeface="Roboto"/>
                <a:cs typeface="Roboto"/>
              </a:rPr>
              <a:t> </a:t>
            </a:r>
            <a:r>
              <a:rPr dirty="0" sz="1500" spc="-100">
                <a:latin typeface="Roboto"/>
                <a:cs typeface="Roboto"/>
              </a:rPr>
              <a:t>&amp;</a:t>
            </a:r>
            <a:r>
              <a:rPr dirty="0" sz="1500" spc="15">
                <a:latin typeface="Roboto"/>
                <a:cs typeface="Roboto"/>
              </a:rPr>
              <a:t> </a:t>
            </a:r>
            <a:r>
              <a:rPr dirty="0" sz="1500" spc="-90">
                <a:latin typeface="Roboto"/>
                <a:cs typeface="Roboto"/>
              </a:rPr>
              <a:t>Future</a:t>
            </a:r>
            <a:r>
              <a:rPr dirty="0" sz="1500" spc="10">
                <a:latin typeface="Roboto"/>
                <a:cs typeface="Roboto"/>
              </a:rPr>
              <a:t> </a:t>
            </a:r>
            <a:r>
              <a:rPr dirty="0" sz="1500" spc="-60">
                <a:latin typeface="Roboto"/>
                <a:cs typeface="Roboto"/>
              </a:rPr>
              <a:t>Work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6105524" y="39243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4" y="285749"/>
                </a:moveTo>
                <a:lnTo>
                  <a:pt x="101400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1" y="57757"/>
                </a:lnTo>
                <a:lnTo>
                  <a:pt x="57757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1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6191944" y="3937631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9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72" name="object 72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74" name="object 7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2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  <p:sp>
        <p:nvSpPr>
          <p:cNvPr id="75" name="object 7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207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Motivation</a:t>
            </a:r>
            <a:r>
              <a:rPr dirty="0" spc="-30"/>
              <a:t> </a:t>
            </a:r>
            <a:r>
              <a:rPr dirty="0" spc="-170"/>
              <a:t>&amp;</a:t>
            </a:r>
            <a:r>
              <a:rPr dirty="0" spc="-30"/>
              <a:t> </a:t>
            </a:r>
            <a:r>
              <a:rPr dirty="0" spc="-114"/>
              <a:t>Challenges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19124" y="3400424"/>
            <a:ext cx="5362575" cy="1143000"/>
            <a:chOff x="619124" y="3400424"/>
            <a:chExt cx="5362575" cy="1143000"/>
          </a:xfrm>
        </p:grpSpPr>
        <p:sp>
          <p:nvSpPr>
            <p:cNvPr id="4" name="object 4" descr=""/>
            <p:cNvSpPr/>
            <p:nvPr/>
          </p:nvSpPr>
          <p:spPr>
            <a:xfrm>
              <a:off x="619124" y="3400424"/>
              <a:ext cx="5362575" cy="1143000"/>
            </a:xfrm>
            <a:custGeom>
              <a:avLst/>
              <a:gdLst/>
              <a:ahLst/>
              <a:cxnLst/>
              <a:rect l="l" t="t" r="r" b="b"/>
              <a:pathLst>
                <a:path w="5362575" h="1143000">
                  <a:moveTo>
                    <a:pt x="5362574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5362574" y="0"/>
                  </a:lnTo>
                  <a:lnTo>
                    <a:pt x="5362574" y="11429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19124" y="3400424"/>
              <a:ext cx="38100" cy="1143000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0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42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09624" y="35528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071" y="3628221"/>
              <a:ext cx="115907" cy="15400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657224" y="3558936"/>
            <a:ext cx="5324475" cy="812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1D40AF"/>
                </a:solidFill>
                <a:latin typeface="Roboto"/>
                <a:cs typeface="Roboto"/>
              </a:rPr>
              <a:t>Increasing</a:t>
            </a:r>
            <a:r>
              <a:rPr dirty="0" sz="1500" spc="-4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1D40AF"/>
                </a:solidFill>
                <a:latin typeface="Roboto"/>
                <a:cs typeface="Roboto"/>
              </a:rPr>
              <a:t>Renewables</a:t>
            </a:r>
            <a:endParaRPr sz="1500">
              <a:latin typeface="Roboto"/>
              <a:cs typeface="Roboto"/>
            </a:endParaRPr>
          </a:p>
          <a:p>
            <a:pPr marL="571500" marR="400050">
              <a:lnSpc>
                <a:spcPct val="115399"/>
              </a:lnSpc>
              <a:spcBef>
                <a:spcPts val="78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Wind/solar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penetration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challenges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frequency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power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quality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operations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210299" y="3400424"/>
            <a:ext cx="5362575" cy="1143000"/>
            <a:chOff x="6210299" y="3400424"/>
            <a:chExt cx="5362575" cy="1143000"/>
          </a:xfrm>
        </p:grpSpPr>
        <p:sp>
          <p:nvSpPr>
            <p:cNvPr id="10" name="object 10" descr=""/>
            <p:cNvSpPr/>
            <p:nvPr/>
          </p:nvSpPr>
          <p:spPr>
            <a:xfrm>
              <a:off x="6210299" y="3400424"/>
              <a:ext cx="5362575" cy="1143000"/>
            </a:xfrm>
            <a:custGeom>
              <a:avLst/>
              <a:gdLst/>
              <a:ahLst/>
              <a:cxnLst/>
              <a:rect l="l" t="t" r="r" b="b"/>
              <a:pathLst>
                <a:path w="5362575" h="1143000">
                  <a:moveTo>
                    <a:pt x="5362574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5362574" y="0"/>
                  </a:lnTo>
                  <a:lnTo>
                    <a:pt x="5362574" y="11429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10299" y="3400424"/>
              <a:ext cx="38100" cy="1143000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0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42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00799" y="35528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464" y="3638549"/>
              <a:ext cx="153471" cy="13334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248399" y="3558936"/>
            <a:ext cx="5324475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991B1B"/>
                </a:solidFill>
                <a:latin typeface="Roboto"/>
                <a:cs typeface="Roboto"/>
              </a:rPr>
              <a:t>Traditional</a:t>
            </a:r>
            <a:r>
              <a:rPr dirty="0" sz="1500" spc="-20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500" spc="-125" b="1">
                <a:solidFill>
                  <a:srgbClr val="991B1B"/>
                </a:solidFill>
                <a:latin typeface="Roboto"/>
                <a:cs typeface="Roboto"/>
              </a:rPr>
              <a:t>AGC</a:t>
            </a:r>
            <a:r>
              <a:rPr dirty="0" sz="1500" spc="-15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991B1B"/>
                </a:solidFill>
                <a:latin typeface="Roboto"/>
                <a:cs typeface="Roboto"/>
              </a:rPr>
              <a:t>Limitations</a:t>
            </a:r>
            <a:endParaRPr sz="1500">
              <a:latin typeface="Roboto"/>
              <a:cs typeface="Roboto"/>
            </a:endParaRPr>
          </a:p>
          <a:p>
            <a:pPr marL="571500">
              <a:lnSpc>
                <a:spcPct val="100000"/>
              </a:lnSpc>
              <a:spcBef>
                <a:spcPts val="1025"/>
              </a:spcBef>
            </a:pP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Lacks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adaptability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fluctuating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generation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profiles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19124" y="4772024"/>
            <a:ext cx="5362575" cy="1143000"/>
            <a:chOff x="619124" y="4772024"/>
            <a:chExt cx="5362575" cy="1143000"/>
          </a:xfrm>
        </p:grpSpPr>
        <p:sp>
          <p:nvSpPr>
            <p:cNvPr id="16" name="object 16" descr=""/>
            <p:cNvSpPr/>
            <p:nvPr/>
          </p:nvSpPr>
          <p:spPr>
            <a:xfrm>
              <a:off x="619124" y="4772024"/>
              <a:ext cx="5362575" cy="1143000"/>
            </a:xfrm>
            <a:custGeom>
              <a:avLst/>
              <a:gdLst/>
              <a:ahLst/>
              <a:cxnLst/>
              <a:rect l="l" t="t" r="r" b="b"/>
              <a:pathLst>
                <a:path w="5362575" h="1143000">
                  <a:moveTo>
                    <a:pt x="5362574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5362574" y="0"/>
                  </a:lnTo>
                  <a:lnTo>
                    <a:pt x="5362574" y="11429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9124" y="4772024"/>
              <a:ext cx="38100" cy="1143000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0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42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9624" y="49244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8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824" y="5009375"/>
              <a:ext cx="152429" cy="134897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657224" y="4933116"/>
            <a:ext cx="5324475" cy="5810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30"/>
              </a:spcBef>
            </a:pPr>
            <a:r>
              <a:rPr dirty="0" sz="1450" spc="-50" b="1">
                <a:solidFill>
                  <a:srgbClr val="91400D"/>
                </a:solidFill>
                <a:latin typeface="Roboto"/>
                <a:cs typeface="Roboto"/>
              </a:rPr>
              <a:t>Intermittency</a:t>
            </a:r>
            <a:r>
              <a:rPr dirty="0" sz="1450" spc="-10" b="1">
                <a:solidFill>
                  <a:srgbClr val="91400D"/>
                </a:solidFill>
                <a:latin typeface="Roboto"/>
                <a:cs typeface="Roboto"/>
              </a:rPr>
              <a:t> </a:t>
            </a:r>
            <a:r>
              <a:rPr dirty="0" sz="1450" spc="-70" b="1">
                <a:solidFill>
                  <a:srgbClr val="91400D"/>
                </a:solidFill>
                <a:latin typeface="Roboto"/>
                <a:cs typeface="Roboto"/>
              </a:rPr>
              <a:t>&amp;</a:t>
            </a:r>
            <a:r>
              <a:rPr dirty="0" sz="1450" spc="-10" b="1">
                <a:solidFill>
                  <a:srgbClr val="91400D"/>
                </a:solidFill>
                <a:latin typeface="Roboto"/>
                <a:cs typeface="Roboto"/>
              </a:rPr>
              <a:t> </a:t>
            </a:r>
            <a:r>
              <a:rPr dirty="0" sz="1450" spc="-65" b="1">
                <a:solidFill>
                  <a:srgbClr val="91400D"/>
                </a:solidFill>
                <a:latin typeface="Roboto"/>
                <a:cs typeface="Roboto"/>
              </a:rPr>
              <a:t>Low</a:t>
            </a:r>
            <a:r>
              <a:rPr dirty="0" sz="1450" spc="-5" b="1">
                <a:solidFill>
                  <a:srgbClr val="91400D"/>
                </a:solidFill>
                <a:latin typeface="Roboto"/>
                <a:cs typeface="Roboto"/>
              </a:rPr>
              <a:t> </a:t>
            </a:r>
            <a:r>
              <a:rPr dirty="0" sz="1450" spc="-10" b="1">
                <a:solidFill>
                  <a:srgbClr val="91400D"/>
                </a:solidFill>
                <a:latin typeface="Roboto"/>
                <a:cs typeface="Roboto"/>
              </a:rPr>
              <a:t>Inertia</a:t>
            </a:r>
            <a:endParaRPr sz="1450">
              <a:latin typeface="Roboto"/>
              <a:cs typeface="Roboto"/>
            </a:endParaRPr>
          </a:p>
          <a:p>
            <a:pPr marL="571500">
              <a:lnSpc>
                <a:spcPct val="100000"/>
              </a:lnSpc>
              <a:spcBef>
                <a:spcPts val="1035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Weather-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dependent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generation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patterns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reduced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inertia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210299" y="4772024"/>
            <a:ext cx="5362575" cy="1143000"/>
            <a:chOff x="6210299" y="4772024"/>
            <a:chExt cx="5362575" cy="1143000"/>
          </a:xfrm>
        </p:grpSpPr>
        <p:sp>
          <p:nvSpPr>
            <p:cNvPr id="22" name="object 22" descr=""/>
            <p:cNvSpPr/>
            <p:nvPr/>
          </p:nvSpPr>
          <p:spPr>
            <a:xfrm>
              <a:off x="6210299" y="4772024"/>
              <a:ext cx="5362575" cy="1143000"/>
            </a:xfrm>
            <a:custGeom>
              <a:avLst/>
              <a:gdLst/>
              <a:ahLst/>
              <a:cxnLst/>
              <a:rect l="l" t="t" r="r" b="b"/>
              <a:pathLst>
                <a:path w="5362575" h="1143000">
                  <a:moveTo>
                    <a:pt x="5362574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5362574" y="0"/>
                  </a:lnTo>
                  <a:lnTo>
                    <a:pt x="5362574" y="11429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210299" y="4772024"/>
              <a:ext cx="38100" cy="1143000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0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42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400799" y="49244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8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7474" y="5010149"/>
              <a:ext cx="171449" cy="133349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6248399" y="4930536"/>
            <a:ext cx="5324475" cy="812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dirty="0" sz="1500" spc="-100" b="1">
                <a:solidFill>
                  <a:srgbClr val="5B20B5"/>
                </a:solidFill>
                <a:latin typeface="Roboto"/>
                <a:cs typeface="Roboto"/>
              </a:rPr>
              <a:t>Complex</a:t>
            </a:r>
            <a:r>
              <a:rPr dirty="0" sz="1500" spc="20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5B20B5"/>
                </a:solidFill>
                <a:latin typeface="Roboto"/>
                <a:cs typeface="Roboto"/>
              </a:rPr>
              <a:t>Coordination</a:t>
            </a:r>
            <a:endParaRPr sz="1500">
              <a:latin typeface="Roboto"/>
              <a:cs typeface="Roboto"/>
            </a:endParaRPr>
          </a:p>
          <a:p>
            <a:pPr marL="571500" marR="255270">
              <a:lnSpc>
                <a:spcPct val="115399"/>
              </a:lnSpc>
              <a:spcBef>
                <a:spcPts val="785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Difficulty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coordinating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multiple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generation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sources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different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characteristics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19124" y="1381124"/>
            <a:ext cx="10953750" cy="1714500"/>
            <a:chOff x="619124" y="1381124"/>
            <a:chExt cx="10953750" cy="1714500"/>
          </a:xfrm>
        </p:grpSpPr>
        <p:sp>
          <p:nvSpPr>
            <p:cNvPr id="28" name="object 28" descr=""/>
            <p:cNvSpPr/>
            <p:nvPr/>
          </p:nvSpPr>
          <p:spPr>
            <a:xfrm>
              <a:off x="619124" y="1381124"/>
              <a:ext cx="10953750" cy="1714500"/>
            </a:xfrm>
            <a:custGeom>
              <a:avLst/>
              <a:gdLst/>
              <a:ahLst/>
              <a:cxnLst/>
              <a:rect l="l" t="t" r="r" b="b"/>
              <a:pathLst>
                <a:path w="10953750" h="1714500">
                  <a:moveTo>
                    <a:pt x="10882552" y="1714499"/>
                  </a:moveTo>
                  <a:lnTo>
                    <a:pt x="71196" y="1714499"/>
                  </a:lnTo>
                  <a:lnTo>
                    <a:pt x="66241" y="1714011"/>
                  </a:lnTo>
                  <a:lnTo>
                    <a:pt x="29705" y="1698877"/>
                  </a:lnTo>
                  <a:lnTo>
                    <a:pt x="3885" y="1662837"/>
                  </a:lnTo>
                  <a:lnTo>
                    <a:pt x="0" y="1643303"/>
                  </a:lnTo>
                  <a:lnTo>
                    <a:pt x="0" y="1638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0882552" y="0"/>
                  </a:lnTo>
                  <a:lnTo>
                    <a:pt x="10924042" y="15621"/>
                  </a:lnTo>
                  <a:lnTo>
                    <a:pt x="10949862" y="51661"/>
                  </a:lnTo>
                  <a:lnTo>
                    <a:pt x="10953749" y="71196"/>
                  </a:lnTo>
                  <a:lnTo>
                    <a:pt x="10953749" y="1643303"/>
                  </a:lnTo>
                  <a:lnTo>
                    <a:pt x="10938125" y="1684794"/>
                  </a:lnTo>
                  <a:lnTo>
                    <a:pt x="10902084" y="1710613"/>
                  </a:lnTo>
                  <a:lnTo>
                    <a:pt x="10887507" y="1714011"/>
                  </a:lnTo>
                  <a:lnTo>
                    <a:pt x="10882552" y="1714499"/>
                  </a:lnTo>
                  <a:close/>
                </a:path>
              </a:pathLst>
            </a:custGeom>
            <a:solidFill>
              <a:srgbClr val="F5FA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238500" y="1381124"/>
              <a:ext cx="5715000" cy="1714500"/>
            </a:xfrm>
            <a:custGeom>
              <a:avLst/>
              <a:gdLst/>
              <a:ahLst/>
              <a:cxnLst/>
              <a:rect l="l" t="t" r="r" b="b"/>
              <a:pathLst>
                <a:path w="5715000" h="1714500">
                  <a:moveTo>
                    <a:pt x="5714999" y="1714499"/>
                  </a:moveTo>
                  <a:lnTo>
                    <a:pt x="0" y="1714499"/>
                  </a:lnTo>
                  <a:lnTo>
                    <a:pt x="0" y="0"/>
                  </a:lnTo>
                  <a:lnTo>
                    <a:pt x="5714999" y="0"/>
                  </a:lnTo>
                  <a:lnTo>
                    <a:pt x="5714999" y="1714499"/>
                  </a:lnTo>
                  <a:close/>
                </a:path>
              </a:pathLst>
            </a:custGeom>
            <a:solidFill>
              <a:srgbClr val="F5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714737" y="1762124"/>
              <a:ext cx="4714875" cy="904875"/>
            </a:xfrm>
            <a:custGeom>
              <a:avLst/>
              <a:gdLst/>
              <a:ahLst/>
              <a:cxnLst/>
              <a:rect l="l" t="t" r="r" b="b"/>
              <a:pathLst>
                <a:path w="4714875" h="904875">
                  <a:moveTo>
                    <a:pt x="47625" y="466725"/>
                  </a:moveTo>
                  <a:lnTo>
                    <a:pt x="0" y="466725"/>
                  </a:lnTo>
                  <a:lnTo>
                    <a:pt x="0" y="485775"/>
                  </a:lnTo>
                  <a:lnTo>
                    <a:pt x="47625" y="485775"/>
                  </a:lnTo>
                  <a:lnTo>
                    <a:pt x="47625" y="466725"/>
                  </a:lnTo>
                  <a:close/>
                </a:path>
                <a:path w="4714875" h="904875">
                  <a:moveTo>
                    <a:pt x="142875" y="466725"/>
                  </a:moveTo>
                  <a:lnTo>
                    <a:pt x="95250" y="466725"/>
                  </a:lnTo>
                  <a:lnTo>
                    <a:pt x="95250" y="485775"/>
                  </a:lnTo>
                  <a:lnTo>
                    <a:pt x="142875" y="485775"/>
                  </a:lnTo>
                  <a:lnTo>
                    <a:pt x="142875" y="466725"/>
                  </a:lnTo>
                  <a:close/>
                </a:path>
                <a:path w="4714875" h="904875">
                  <a:moveTo>
                    <a:pt x="238125" y="466725"/>
                  </a:moveTo>
                  <a:lnTo>
                    <a:pt x="190500" y="466725"/>
                  </a:lnTo>
                  <a:lnTo>
                    <a:pt x="190500" y="485775"/>
                  </a:lnTo>
                  <a:lnTo>
                    <a:pt x="238125" y="485775"/>
                  </a:lnTo>
                  <a:lnTo>
                    <a:pt x="238125" y="466725"/>
                  </a:lnTo>
                  <a:close/>
                </a:path>
                <a:path w="4714875" h="904875">
                  <a:moveTo>
                    <a:pt x="333375" y="466725"/>
                  </a:moveTo>
                  <a:lnTo>
                    <a:pt x="285750" y="466725"/>
                  </a:lnTo>
                  <a:lnTo>
                    <a:pt x="285750" y="485775"/>
                  </a:lnTo>
                  <a:lnTo>
                    <a:pt x="333375" y="485775"/>
                  </a:lnTo>
                  <a:lnTo>
                    <a:pt x="333375" y="466725"/>
                  </a:lnTo>
                  <a:close/>
                </a:path>
                <a:path w="4714875" h="904875">
                  <a:moveTo>
                    <a:pt x="428625" y="466725"/>
                  </a:moveTo>
                  <a:lnTo>
                    <a:pt x="381000" y="466725"/>
                  </a:lnTo>
                  <a:lnTo>
                    <a:pt x="381000" y="485775"/>
                  </a:lnTo>
                  <a:lnTo>
                    <a:pt x="428625" y="485775"/>
                  </a:lnTo>
                  <a:lnTo>
                    <a:pt x="428625" y="466725"/>
                  </a:lnTo>
                  <a:close/>
                </a:path>
                <a:path w="4714875" h="904875">
                  <a:moveTo>
                    <a:pt x="523875" y="466725"/>
                  </a:moveTo>
                  <a:lnTo>
                    <a:pt x="476250" y="466725"/>
                  </a:lnTo>
                  <a:lnTo>
                    <a:pt x="476250" y="485775"/>
                  </a:lnTo>
                  <a:lnTo>
                    <a:pt x="523875" y="485775"/>
                  </a:lnTo>
                  <a:lnTo>
                    <a:pt x="523875" y="466725"/>
                  </a:lnTo>
                  <a:close/>
                </a:path>
                <a:path w="4714875" h="904875">
                  <a:moveTo>
                    <a:pt x="619125" y="466725"/>
                  </a:moveTo>
                  <a:lnTo>
                    <a:pt x="571500" y="466725"/>
                  </a:lnTo>
                  <a:lnTo>
                    <a:pt x="571500" y="485775"/>
                  </a:lnTo>
                  <a:lnTo>
                    <a:pt x="619125" y="485775"/>
                  </a:lnTo>
                  <a:lnTo>
                    <a:pt x="619125" y="466725"/>
                  </a:lnTo>
                  <a:close/>
                </a:path>
                <a:path w="4714875" h="904875">
                  <a:moveTo>
                    <a:pt x="714375" y="466725"/>
                  </a:moveTo>
                  <a:lnTo>
                    <a:pt x="666750" y="466725"/>
                  </a:lnTo>
                  <a:lnTo>
                    <a:pt x="666750" y="485775"/>
                  </a:lnTo>
                  <a:lnTo>
                    <a:pt x="714375" y="485775"/>
                  </a:lnTo>
                  <a:lnTo>
                    <a:pt x="714375" y="466725"/>
                  </a:lnTo>
                  <a:close/>
                </a:path>
                <a:path w="4714875" h="904875">
                  <a:moveTo>
                    <a:pt x="809625" y="466725"/>
                  </a:moveTo>
                  <a:lnTo>
                    <a:pt x="762000" y="466725"/>
                  </a:lnTo>
                  <a:lnTo>
                    <a:pt x="762000" y="485775"/>
                  </a:lnTo>
                  <a:lnTo>
                    <a:pt x="809625" y="485775"/>
                  </a:lnTo>
                  <a:lnTo>
                    <a:pt x="809625" y="466725"/>
                  </a:lnTo>
                  <a:close/>
                </a:path>
                <a:path w="4714875" h="904875">
                  <a:moveTo>
                    <a:pt x="904875" y="466725"/>
                  </a:moveTo>
                  <a:lnTo>
                    <a:pt x="857250" y="466725"/>
                  </a:lnTo>
                  <a:lnTo>
                    <a:pt x="857250" y="485775"/>
                  </a:lnTo>
                  <a:lnTo>
                    <a:pt x="904875" y="485775"/>
                  </a:lnTo>
                  <a:lnTo>
                    <a:pt x="904875" y="466725"/>
                  </a:lnTo>
                  <a:close/>
                </a:path>
                <a:path w="4714875" h="904875">
                  <a:moveTo>
                    <a:pt x="962025" y="857250"/>
                  </a:moveTo>
                  <a:lnTo>
                    <a:pt x="942975" y="857250"/>
                  </a:lnTo>
                  <a:lnTo>
                    <a:pt x="942975" y="904875"/>
                  </a:lnTo>
                  <a:lnTo>
                    <a:pt x="962025" y="904875"/>
                  </a:lnTo>
                  <a:lnTo>
                    <a:pt x="962025" y="857250"/>
                  </a:lnTo>
                  <a:close/>
                </a:path>
                <a:path w="4714875" h="904875">
                  <a:moveTo>
                    <a:pt x="962025" y="762000"/>
                  </a:moveTo>
                  <a:lnTo>
                    <a:pt x="942975" y="762000"/>
                  </a:lnTo>
                  <a:lnTo>
                    <a:pt x="942975" y="809625"/>
                  </a:lnTo>
                  <a:lnTo>
                    <a:pt x="962025" y="809625"/>
                  </a:lnTo>
                  <a:lnTo>
                    <a:pt x="962025" y="762000"/>
                  </a:lnTo>
                  <a:close/>
                </a:path>
                <a:path w="4714875" h="904875">
                  <a:moveTo>
                    <a:pt x="962025" y="666750"/>
                  </a:moveTo>
                  <a:lnTo>
                    <a:pt x="942975" y="666750"/>
                  </a:lnTo>
                  <a:lnTo>
                    <a:pt x="942975" y="714375"/>
                  </a:lnTo>
                  <a:lnTo>
                    <a:pt x="962025" y="714375"/>
                  </a:lnTo>
                  <a:lnTo>
                    <a:pt x="962025" y="666750"/>
                  </a:lnTo>
                  <a:close/>
                </a:path>
                <a:path w="4714875" h="904875">
                  <a:moveTo>
                    <a:pt x="962025" y="571500"/>
                  </a:moveTo>
                  <a:lnTo>
                    <a:pt x="942975" y="571500"/>
                  </a:lnTo>
                  <a:lnTo>
                    <a:pt x="942975" y="619125"/>
                  </a:lnTo>
                  <a:lnTo>
                    <a:pt x="962025" y="619125"/>
                  </a:lnTo>
                  <a:lnTo>
                    <a:pt x="962025" y="571500"/>
                  </a:lnTo>
                  <a:close/>
                </a:path>
                <a:path w="4714875" h="904875">
                  <a:moveTo>
                    <a:pt x="962025" y="381000"/>
                  </a:moveTo>
                  <a:lnTo>
                    <a:pt x="942975" y="381000"/>
                  </a:lnTo>
                  <a:lnTo>
                    <a:pt x="942975" y="428625"/>
                  </a:lnTo>
                  <a:lnTo>
                    <a:pt x="962025" y="428625"/>
                  </a:lnTo>
                  <a:lnTo>
                    <a:pt x="962025" y="381000"/>
                  </a:lnTo>
                  <a:close/>
                </a:path>
                <a:path w="4714875" h="904875">
                  <a:moveTo>
                    <a:pt x="962025" y="285750"/>
                  </a:moveTo>
                  <a:lnTo>
                    <a:pt x="942975" y="285750"/>
                  </a:lnTo>
                  <a:lnTo>
                    <a:pt x="942975" y="333375"/>
                  </a:lnTo>
                  <a:lnTo>
                    <a:pt x="962025" y="333375"/>
                  </a:lnTo>
                  <a:lnTo>
                    <a:pt x="962025" y="285750"/>
                  </a:lnTo>
                  <a:close/>
                </a:path>
                <a:path w="4714875" h="904875">
                  <a:moveTo>
                    <a:pt x="962025" y="190500"/>
                  </a:moveTo>
                  <a:lnTo>
                    <a:pt x="942975" y="190500"/>
                  </a:lnTo>
                  <a:lnTo>
                    <a:pt x="942975" y="238125"/>
                  </a:lnTo>
                  <a:lnTo>
                    <a:pt x="962025" y="238125"/>
                  </a:lnTo>
                  <a:lnTo>
                    <a:pt x="962025" y="190500"/>
                  </a:lnTo>
                  <a:close/>
                </a:path>
                <a:path w="4714875" h="904875">
                  <a:moveTo>
                    <a:pt x="962025" y="95250"/>
                  </a:moveTo>
                  <a:lnTo>
                    <a:pt x="942975" y="95250"/>
                  </a:lnTo>
                  <a:lnTo>
                    <a:pt x="942975" y="142875"/>
                  </a:lnTo>
                  <a:lnTo>
                    <a:pt x="962025" y="142875"/>
                  </a:lnTo>
                  <a:lnTo>
                    <a:pt x="962025" y="95250"/>
                  </a:lnTo>
                  <a:close/>
                </a:path>
                <a:path w="4714875" h="904875">
                  <a:moveTo>
                    <a:pt x="962025" y="0"/>
                  </a:moveTo>
                  <a:lnTo>
                    <a:pt x="942975" y="0"/>
                  </a:lnTo>
                  <a:lnTo>
                    <a:pt x="942975" y="47625"/>
                  </a:lnTo>
                  <a:lnTo>
                    <a:pt x="962025" y="47625"/>
                  </a:lnTo>
                  <a:lnTo>
                    <a:pt x="962025" y="0"/>
                  </a:lnTo>
                  <a:close/>
                </a:path>
                <a:path w="4714875" h="904875">
                  <a:moveTo>
                    <a:pt x="1000125" y="466725"/>
                  </a:moveTo>
                  <a:lnTo>
                    <a:pt x="952500" y="466725"/>
                  </a:lnTo>
                  <a:lnTo>
                    <a:pt x="952500" y="476250"/>
                  </a:lnTo>
                  <a:lnTo>
                    <a:pt x="942975" y="476250"/>
                  </a:lnTo>
                  <a:lnTo>
                    <a:pt x="942975" y="523875"/>
                  </a:lnTo>
                  <a:lnTo>
                    <a:pt x="962025" y="523875"/>
                  </a:lnTo>
                  <a:lnTo>
                    <a:pt x="962025" y="485775"/>
                  </a:lnTo>
                  <a:lnTo>
                    <a:pt x="1000125" y="485775"/>
                  </a:lnTo>
                  <a:lnTo>
                    <a:pt x="1000125" y="466725"/>
                  </a:lnTo>
                  <a:close/>
                </a:path>
                <a:path w="4714875" h="904875">
                  <a:moveTo>
                    <a:pt x="1095375" y="466725"/>
                  </a:moveTo>
                  <a:lnTo>
                    <a:pt x="1047750" y="466725"/>
                  </a:lnTo>
                  <a:lnTo>
                    <a:pt x="1047750" y="485775"/>
                  </a:lnTo>
                  <a:lnTo>
                    <a:pt x="1095375" y="485775"/>
                  </a:lnTo>
                  <a:lnTo>
                    <a:pt x="1095375" y="466725"/>
                  </a:lnTo>
                  <a:close/>
                </a:path>
                <a:path w="4714875" h="904875">
                  <a:moveTo>
                    <a:pt x="1190625" y="466725"/>
                  </a:moveTo>
                  <a:lnTo>
                    <a:pt x="1143000" y="466725"/>
                  </a:lnTo>
                  <a:lnTo>
                    <a:pt x="1143000" y="485775"/>
                  </a:lnTo>
                  <a:lnTo>
                    <a:pt x="1190625" y="485775"/>
                  </a:lnTo>
                  <a:lnTo>
                    <a:pt x="1190625" y="466725"/>
                  </a:lnTo>
                  <a:close/>
                </a:path>
                <a:path w="4714875" h="904875">
                  <a:moveTo>
                    <a:pt x="1285875" y="466725"/>
                  </a:moveTo>
                  <a:lnTo>
                    <a:pt x="1238250" y="466725"/>
                  </a:lnTo>
                  <a:lnTo>
                    <a:pt x="1238250" y="485775"/>
                  </a:lnTo>
                  <a:lnTo>
                    <a:pt x="1285875" y="485775"/>
                  </a:lnTo>
                  <a:lnTo>
                    <a:pt x="1285875" y="466725"/>
                  </a:lnTo>
                  <a:close/>
                </a:path>
                <a:path w="4714875" h="904875">
                  <a:moveTo>
                    <a:pt x="1381125" y="466725"/>
                  </a:moveTo>
                  <a:lnTo>
                    <a:pt x="1333500" y="466725"/>
                  </a:lnTo>
                  <a:lnTo>
                    <a:pt x="1333500" y="485775"/>
                  </a:lnTo>
                  <a:lnTo>
                    <a:pt x="1381125" y="485775"/>
                  </a:lnTo>
                  <a:lnTo>
                    <a:pt x="1381125" y="466725"/>
                  </a:lnTo>
                  <a:close/>
                </a:path>
                <a:path w="4714875" h="904875">
                  <a:moveTo>
                    <a:pt x="1476375" y="466725"/>
                  </a:moveTo>
                  <a:lnTo>
                    <a:pt x="1428750" y="466725"/>
                  </a:lnTo>
                  <a:lnTo>
                    <a:pt x="1428750" y="485775"/>
                  </a:lnTo>
                  <a:lnTo>
                    <a:pt x="1476375" y="485775"/>
                  </a:lnTo>
                  <a:lnTo>
                    <a:pt x="1476375" y="466725"/>
                  </a:lnTo>
                  <a:close/>
                </a:path>
                <a:path w="4714875" h="904875">
                  <a:moveTo>
                    <a:pt x="1571625" y="466725"/>
                  </a:moveTo>
                  <a:lnTo>
                    <a:pt x="1524000" y="466725"/>
                  </a:lnTo>
                  <a:lnTo>
                    <a:pt x="1524000" y="485775"/>
                  </a:lnTo>
                  <a:lnTo>
                    <a:pt x="1571625" y="485775"/>
                  </a:lnTo>
                  <a:lnTo>
                    <a:pt x="1571625" y="466725"/>
                  </a:lnTo>
                  <a:close/>
                </a:path>
                <a:path w="4714875" h="904875">
                  <a:moveTo>
                    <a:pt x="1666875" y="466725"/>
                  </a:moveTo>
                  <a:lnTo>
                    <a:pt x="1619250" y="466725"/>
                  </a:lnTo>
                  <a:lnTo>
                    <a:pt x="1619250" y="485775"/>
                  </a:lnTo>
                  <a:lnTo>
                    <a:pt x="1666875" y="485775"/>
                  </a:lnTo>
                  <a:lnTo>
                    <a:pt x="1666875" y="466725"/>
                  </a:lnTo>
                  <a:close/>
                </a:path>
                <a:path w="4714875" h="904875">
                  <a:moveTo>
                    <a:pt x="1762125" y="466725"/>
                  </a:moveTo>
                  <a:lnTo>
                    <a:pt x="1714500" y="466725"/>
                  </a:lnTo>
                  <a:lnTo>
                    <a:pt x="1714500" y="485775"/>
                  </a:lnTo>
                  <a:lnTo>
                    <a:pt x="1762125" y="485775"/>
                  </a:lnTo>
                  <a:lnTo>
                    <a:pt x="1762125" y="466725"/>
                  </a:lnTo>
                  <a:close/>
                </a:path>
                <a:path w="4714875" h="904875">
                  <a:moveTo>
                    <a:pt x="1857375" y="466725"/>
                  </a:moveTo>
                  <a:lnTo>
                    <a:pt x="1809750" y="466725"/>
                  </a:lnTo>
                  <a:lnTo>
                    <a:pt x="1809750" y="485775"/>
                  </a:lnTo>
                  <a:lnTo>
                    <a:pt x="1857375" y="485775"/>
                  </a:lnTo>
                  <a:lnTo>
                    <a:pt x="1857375" y="466725"/>
                  </a:lnTo>
                  <a:close/>
                </a:path>
                <a:path w="4714875" h="904875">
                  <a:moveTo>
                    <a:pt x="1952625" y="466725"/>
                  </a:moveTo>
                  <a:lnTo>
                    <a:pt x="1905000" y="466725"/>
                  </a:lnTo>
                  <a:lnTo>
                    <a:pt x="1905000" y="485775"/>
                  </a:lnTo>
                  <a:lnTo>
                    <a:pt x="1952625" y="485775"/>
                  </a:lnTo>
                  <a:lnTo>
                    <a:pt x="1952625" y="466725"/>
                  </a:lnTo>
                  <a:close/>
                </a:path>
                <a:path w="4714875" h="904875">
                  <a:moveTo>
                    <a:pt x="2047875" y="466725"/>
                  </a:moveTo>
                  <a:lnTo>
                    <a:pt x="2000250" y="466725"/>
                  </a:lnTo>
                  <a:lnTo>
                    <a:pt x="2000250" y="485775"/>
                  </a:lnTo>
                  <a:lnTo>
                    <a:pt x="2047875" y="485775"/>
                  </a:lnTo>
                  <a:lnTo>
                    <a:pt x="2047875" y="466725"/>
                  </a:lnTo>
                  <a:close/>
                </a:path>
                <a:path w="4714875" h="904875">
                  <a:moveTo>
                    <a:pt x="2143125" y="466725"/>
                  </a:moveTo>
                  <a:lnTo>
                    <a:pt x="2095500" y="466725"/>
                  </a:lnTo>
                  <a:lnTo>
                    <a:pt x="2095500" y="485775"/>
                  </a:lnTo>
                  <a:lnTo>
                    <a:pt x="2143125" y="485775"/>
                  </a:lnTo>
                  <a:lnTo>
                    <a:pt x="2143125" y="466725"/>
                  </a:lnTo>
                  <a:close/>
                </a:path>
                <a:path w="4714875" h="904875">
                  <a:moveTo>
                    <a:pt x="2238375" y="466725"/>
                  </a:moveTo>
                  <a:lnTo>
                    <a:pt x="2190750" y="466725"/>
                  </a:lnTo>
                  <a:lnTo>
                    <a:pt x="2190750" y="485775"/>
                  </a:lnTo>
                  <a:lnTo>
                    <a:pt x="2238375" y="485775"/>
                  </a:lnTo>
                  <a:lnTo>
                    <a:pt x="2238375" y="466725"/>
                  </a:lnTo>
                  <a:close/>
                </a:path>
                <a:path w="4714875" h="904875">
                  <a:moveTo>
                    <a:pt x="2333625" y="466725"/>
                  </a:moveTo>
                  <a:lnTo>
                    <a:pt x="2286000" y="466725"/>
                  </a:lnTo>
                  <a:lnTo>
                    <a:pt x="2286000" y="485775"/>
                  </a:lnTo>
                  <a:lnTo>
                    <a:pt x="2333625" y="485775"/>
                  </a:lnTo>
                  <a:lnTo>
                    <a:pt x="2333625" y="466725"/>
                  </a:lnTo>
                  <a:close/>
                </a:path>
                <a:path w="4714875" h="904875">
                  <a:moveTo>
                    <a:pt x="2390775" y="857250"/>
                  </a:moveTo>
                  <a:lnTo>
                    <a:pt x="2371725" y="857250"/>
                  </a:lnTo>
                  <a:lnTo>
                    <a:pt x="2371725" y="904875"/>
                  </a:lnTo>
                  <a:lnTo>
                    <a:pt x="2390775" y="904875"/>
                  </a:lnTo>
                  <a:lnTo>
                    <a:pt x="2390775" y="857250"/>
                  </a:lnTo>
                  <a:close/>
                </a:path>
                <a:path w="4714875" h="904875">
                  <a:moveTo>
                    <a:pt x="2390775" y="762000"/>
                  </a:moveTo>
                  <a:lnTo>
                    <a:pt x="2371725" y="762000"/>
                  </a:lnTo>
                  <a:lnTo>
                    <a:pt x="2371725" y="809625"/>
                  </a:lnTo>
                  <a:lnTo>
                    <a:pt x="2390775" y="809625"/>
                  </a:lnTo>
                  <a:lnTo>
                    <a:pt x="2390775" y="762000"/>
                  </a:lnTo>
                  <a:close/>
                </a:path>
                <a:path w="4714875" h="904875">
                  <a:moveTo>
                    <a:pt x="2390775" y="666750"/>
                  </a:moveTo>
                  <a:lnTo>
                    <a:pt x="2371725" y="666750"/>
                  </a:lnTo>
                  <a:lnTo>
                    <a:pt x="2371725" y="714375"/>
                  </a:lnTo>
                  <a:lnTo>
                    <a:pt x="2390775" y="714375"/>
                  </a:lnTo>
                  <a:lnTo>
                    <a:pt x="2390775" y="666750"/>
                  </a:lnTo>
                  <a:close/>
                </a:path>
                <a:path w="4714875" h="904875">
                  <a:moveTo>
                    <a:pt x="2390775" y="571500"/>
                  </a:moveTo>
                  <a:lnTo>
                    <a:pt x="2371725" y="571500"/>
                  </a:lnTo>
                  <a:lnTo>
                    <a:pt x="2371725" y="619125"/>
                  </a:lnTo>
                  <a:lnTo>
                    <a:pt x="2390775" y="619125"/>
                  </a:lnTo>
                  <a:lnTo>
                    <a:pt x="2390775" y="571500"/>
                  </a:lnTo>
                  <a:close/>
                </a:path>
                <a:path w="4714875" h="904875">
                  <a:moveTo>
                    <a:pt x="2390775" y="381000"/>
                  </a:moveTo>
                  <a:lnTo>
                    <a:pt x="2371725" y="381000"/>
                  </a:lnTo>
                  <a:lnTo>
                    <a:pt x="2371725" y="428625"/>
                  </a:lnTo>
                  <a:lnTo>
                    <a:pt x="2390775" y="428625"/>
                  </a:lnTo>
                  <a:lnTo>
                    <a:pt x="2390775" y="381000"/>
                  </a:lnTo>
                  <a:close/>
                </a:path>
                <a:path w="4714875" h="904875">
                  <a:moveTo>
                    <a:pt x="2390775" y="285750"/>
                  </a:moveTo>
                  <a:lnTo>
                    <a:pt x="2371725" y="285750"/>
                  </a:lnTo>
                  <a:lnTo>
                    <a:pt x="2371725" y="333375"/>
                  </a:lnTo>
                  <a:lnTo>
                    <a:pt x="2390775" y="333375"/>
                  </a:lnTo>
                  <a:lnTo>
                    <a:pt x="2390775" y="285750"/>
                  </a:lnTo>
                  <a:close/>
                </a:path>
                <a:path w="4714875" h="904875">
                  <a:moveTo>
                    <a:pt x="2390775" y="190500"/>
                  </a:moveTo>
                  <a:lnTo>
                    <a:pt x="2371725" y="190500"/>
                  </a:lnTo>
                  <a:lnTo>
                    <a:pt x="2371725" y="238125"/>
                  </a:lnTo>
                  <a:lnTo>
                    <a:pt x="2390775" y="238125"/>
                  </a:lnTo>
                  <a:lnTo>
                    <a:pt x="2390775" y="190500"/>
                  </a:lnTo>
                  <a:close/>
                </a:path>
                <a:path w="4714875" h="904875">
                  <a:moveTo>
                    <a:pt x="2390775" y="95250"/>
                  </a:moveTo>
                  <a:lnTo>
                    <a:pt x="2371725" y="95250"/>
                  </a:lnTo>
                  <a:lnTo>
                    <a:pt x="2371725" y="142875"/>
                  </a:lnTo>
                  <a:lnTo>
                    <a:pt x="2390775" y="142875"/>
                  </a:lnTo>
                  <a:lnTo>
                    <a:pt x="2390775" y="95250"/>
                  </a:lnTo>
                  <a:close/>
                </a:path>
                <a:path w="4714875" h="904875">
                  <a:moveTo>
                    <a:pt x="2390775" y="0"/>
                  </a:moveTo>
                  <a:lnTo>
                    <a:pt x="2371725" y="0"/>
                  </a:lnTo>
                  <a:lnTo>
                    <a:pt x="2371725" y="47625"/>
                  </a:lnTo>
                  <a:lnTo>
                    <a:pt x="2390775" y="47625"/>
                  </a:lnTo>
                  <a:lnTo>
                    <a:pt x="2390775" y="0"/>
                  </a:lnTo>
                  <a:close/>
                </a:path>
                <a:path w="4714875" h="904875">
                  <a:moveTo>
                    <a:pt x="2428875" y="466725"/>
                  </a:moveTo>
                  <a:lnTo>
                    <a:pt x="2381250" y="466725"/>
                  </a:lnTo>
                  <a:lnTo>
                    <a:pt x="2381250" y="476250"/>
                  </a:lnTo>
                  <a:lnTo>
                    <a:pt x="2371725" y="476250"/>
                  </a:lnTo>
                  <a:lnTo>
                    <a:pt x="2371725" y="523875"/>
                  </a:lnTo>
                  <a:lnTo>
                    <a:pt x="2390775" y="523875"/>
                  </a:lnTo>
                  <a:lnTo>
                    <a:pt x="2390775" y="485775"/>
                  </a:lnTo>
                  <a:lnTo>
                    <a:pt x="2428875" y="485775"/>
                  </a:lnTo>
                  <a:lnTo>
                    <a:pt x="2428875" y="466725"/>
                  </a:lnTo>
                  <a:close/>
                </a:path>
                <a:path w="4714875" h="904875">
                  <a:moveTo>
                    <a:pt x="2524125" y="466725"/>
                  </a:moveTo>
                  <a:lnTo>
                    <a:pt x="2476500" y="466725"/>
                  </a:lnTo>
                  <a:lnTo>
                    <a:pt x="2476500" y="485775"/>
                  </a:lnTo>
                  <a:lnTo>
                    <a:pt x="2524125" y="485775"/>
                  </a:lnTo>
                  <a:lnTo>
                    <a:pt x="2524125" y="466725"/>
                  </a:lnTo>
                  <a:close/>
                </a:path>
                <a:path w="4714875" h="904875">
                  <a:moveTo>
                    <a:pt x="2619375" y="466725"/>
                  </a:moveTo>
                  <a:lnTo>
                    <a:pt x="2571750" y="466725"/>
                  </a:lnTo>
                  <a:lnTo>
                    <a:pt x="2571750" y="485775"/>
                  </a:lnTo>
                  <a:lnTo>
                    <a:pt x="2619375" y="485775"/>
                  </a:lnTo>
                  <a:lnTo>
                    <a:pt x="2619375" y="466725"/>
                  </a:lnTo>
                  <a:close/>
                </a:path>
                <a:path w="4714875" h="904875">
                  <a:moveTo>
                    <a:pt x="2714625" y="466725"/>
                  </a:moveTo>
                  <a:lnTo>
                    <a:pt x="2667000" y="466725"/>
                  </a:lnTo>
                  <a:lnTo>
                    <a:pt x="2667000" y="485775"/>
                  </a:lnTo>
                  <a:lnTo>
                    <a:pt x="2714625" y="485775"/>
                  </a:lnTo>
                  <a:lnTo>
                    <a:pt x="2714625" y="466725"/>
                  </a:lnTo>
                  <a:close/>
                </a:path>
                <a:path w="4714875" h="904875">
                  <a:moveTo>
                    <a:pt x="2809875" y="466725"/>
                  </a:moveTo>
                  <a:lnTo>
                    <a:pt x="2762250" y="466725"/>
                  </a:lnTo>
                  <a:lnTo>
                    <a:pt x="2762250" y="485775"/>
                  </a:lnTo>
                  <a:lnTo>
                    <a:pt x="2809875" y="485775"/>
                  </a:lnTo>
                  <a:lnTo>
                    <a:pt x="2809875" y="466725"/>
                  </a:lnTo>
                  <a:close/>
                </a:path>
                <a:path w="4714875" h="904875">
                  <a:moveTo>
                    <a:pt x="2905125" y="466725"/>
                  </a:moveTo>
                  <a:lnTo>
                    <a:pt x="2857500" y="466725"/>
                  </a:lnTo>
                  <a:lnTo>
                    <a:pt x="2857500" y="485775"/>
                  </a:lnTo>
                  <a:lnTo>
                    <a:pt x="2905125" y="485775"/>
                  </a:lnTo>
                  <a:lnTo>
                    <a:pt x="2905125" y="466725"/>
                  </a:lnTo>
                  <a:close/>
                </a:path>
                <a:path w="4714875" h="904875">
                  <a:moveTo>
                    <a:pt x="3000375" y="466725"/>
                  </a:moveTo>
                  <a:lnTo>
                    <a:pt x="2952750" y="466725"/>
                  </a:lnTo>
                  <a:lnTo>
                    <a:pt x="2952750" y="485775"/>
                  </a:lnTo>
                  <a:lnTo>
                    <a:pt x="3000375" y="485775"/>
                  </a:lnTo>
                  <a:lnTo>
                    <a:pt x="3000375" y="466725"/>
                  </a:lnTo>
                  <a:close/>
                </a:path>
                <a:path w="4714875" h="904875">
                  <a:moveTo>
                    <a:pt x="3095625" y="466725"/>
                  </a:moveTo>
                  <a:lnTo>
                    <a:pt x="3048000" y="466725"/>
                  </a:lnTo>
                  <a:lnTo>
                    <a:pt x="3048000" y="485775"/>
                  </a:lnTo>
                  <a:lnTo>
                    <a:pt x="3095625" y="485775"/>
                  </a:lnTo>
                  <a:lnTo>
                    <a:pt x="3095625" y="466725"/>
                  </a:lnTo>
                  <a:close/>
                </a:path>
                <a:path w="4714875" h="904875">
                  <a:moveTo>
                    <a:pt x="3190875" y="466725"/>
                  </a:moveTo>
                  <a:lnTo>
                    <a:pt x="3143250" y="466725"/>
                  </a:lnTo>
                  <a:lnTo>
                    <a:pt x="3143250" y="485775"/>
                  </a:lnTo>
                  <a:lnTo>
                    <a:pt x="3190875" y="485775"/>
                  </a:lnTo>
                  <a:lnTo>
                    <a:pt x="3190875" y="466725"/>
                  </a:lnTo>
                  <a:close/>
                </a:path>
                <a:path w="4714875" h="904875">
                  <a:moveTo>
                    <a:pt x="3286125" y="466725"/>
                  </a:moveTo>
                  <a:lnTo>
                    <a:pt x="3238500" y="466725"/>
                  </a:lnTo>
                  <a:lnTo>
                    <a:pt x="3238500" y="485775"/>
                  </a:lnTo>
                  <a:lnTo>
                    <a:pt x="3286125" y="485775"/>
                  </a:lnTo>
                  <a:lnTo>
                    <a:pt x="3286125" y="466725"/>
                  </a:lnTo>
                  <a:close/>
                </a:path>
                <a:path w="4714875" h="904875">
                  <a:moveTo>
                    <a:pt x="3381375" y="466725"/>
                  </a:moveTo>
                  <a:lnTo>
                    <a:pt x="3333750" y="466725"/>
                  </a:lnTo>
                  <a:lnTo>
                    <a:pt x="3333750" y="485775"/>
                  </a:lnTo>
                  <a:lnTo>
                    <a:pt x="3381375" y="485775"/>
                  </a:lnTo>
                  <a:lnTo>
                    <a:pt x="3381375" y="466725"/>
                  </a:lnTo>
                  <a:close/>
                </a:path>
                <a:path w="4714875" h="904875">
                  <a:moveTo>
                    <a:pt x="3476625" y="466725"/>
                  </a:moveTo>
                  <a:lnTo>
                    <a:pt x="3429000" y="466725"/>
                  </a:lnTo>
                  <a:lnTo>
                    <a:pt x="3429000" y="485775"/>
                  </a:lnTo>
                  <a:lnTo>
                    <a:pt x="3476625" y="485775"/>
                  </a:lnTo>
                  <a:lnTo>
                    <a:pt x="3476625" y="466725"/>
                  </a:lnTo>
                  <a:close/>
                </a:path>
                <a:path w="4714875" h="904875">
                  <a:moveTo>
                    <a:pt x="3571875" y="466725"/>
                  </a:moveTo>
                  <a:lnTo>
                    <a:pt x="3524250" y="466725"/>
                  </a:lnTo>
                  <a:lnTo>
                    <a:pt x="3524250" y="485775"/>
                  </a:lnTo>
                  <a:lnTo>
                    <a:pt x="3571875" y="485775"/>
                  </a:lnTo>
                  <a:lnTo>
                    <a:pt x="3571875" y="466725"/>
                  </a:lnTo>
                  <a:close/>
                </a:path>
                <a:path w="4714875" h="904875">
                  <a:moveTo>
                    <a:pt x="3667125" y="466725"/>
                  </a:moveTo>
                  <a:lnTo>
                    <a:pt x="3619500" y="466725"/>
                  </a:lnTo>
                  <a:lnTo>
                    <a:pt x="3619500" y="485775"/>
                  </a:lnTo>
                  <a:lnTo>
                    <a:pt x="3667125" y="485775"/>
                  </a:lnTo>
                  <a:lnTo>
                    <a:pt x="3667125" y="466725"/>
                  </a:lnTo>
                  <a:close/>
                </a:path>
                <a:path w="4714875" h="904875">
                  <a:moveTo>
                    <a:pt x="3762375" y="466725"/>
                  </a:moveTo>
                  <a:lnTo>
                    <a:pt x="3714750" y="466725"/>
                  </a:lnTo>
                  <a:lnTo>
                    <a:pt x="3714750" y="485775"/>
                  </a:lnTo>
                  <a:lnTo>
                    <a:pt x="3762375" y="485775"/>
                  </a:lnTo>
                  <a:lnTo>
                    <a:pt x="3762375" y="466725"/>
                  </a:lnTo>
                  <a:close/>
                </a:path>
                <a:path w="4714875" h="904875">
                  <a:moveTo>
                    <a:pt x="3819525" y="285750"/>
                  </a:moveTo>
                  <a:lnTo>
                    <a:pt x="3800475" y="285750"/>
                  </a:lnTo>
                  <a:lnTo>
                    <a:pt x="3800475" y="333375"/>
                  </a:lnTo>
                  <a:lnTo>
                    <a:pt x="3819525" y="333375"/>
                  </a:lnTo>
                  <a:lnTo>
                    <a:pt x="3819525" y="285750"/>
                  </a:lnTo>
                  <a:close/>
                </a:path>
                <a:path w="4714875" h="904875">
                  <a:moveTo>
                    <a:pt x="3819525" y="190500"/>
                  </a:moveTo>
                  <a:lnTo>
                    <a:pt x="3800475" y="190500"/>
                  </a:lnTo>
                  <a:lnTo>
                    <a:pt x="3800475" y="238125"/>
                  </a:lnTo>
                  <a:lnTo>
                    <a:pt x="3819525" y="238125"/>
                  </a:lnTo>
                  <a:lnTo>
                    <a:pt x="3819525" y="190500"/>
                  </a:lnTo>
                  <a:close/>
                </a:path>
                <a:path w="4714875" h="904875">
                  <a:moveTo>
                    <a:pt x="3819525" y="95250"/>
                  </a:moveTo>
                  <a:lnTo>
                    <a:pt x="3800475" y="95250"/>
                  </a:lnTo>
                  <a:lnTo>
                    <a:pt x="3800475" y="142875"/>
                  </a:lnTo>
                  <a:lnTo>
                    <a:pt x="3819525" y="142875"/>
                  </a:lnTo>
                  <a:lnTo>
                    <a:pt x="3819525" y="95250"/>
                  </a:lnTo>
                  <a:close/>
                </a:path>
                <a:path w="4714875" h="904875">
                  <a:moveTo>
                    <a:pt x="3819525" y="0"/>
                  </a:moveTo>
                  <a:lnTo>
                    <a:pt x="3800475" y="0"/>
                  </a:lnTo>
                  <a:lnTo>
                    <a:pt x="3800475" y="47625"/>
                  </a:lnTo>
                  <a:lnTo>
                    <a:pt x="3819525" y="47625"/>
                  </a:lnTo>
                  <a:lnTo>
                    <a:pt x="3819525" y="0"/>
                  </a:lnTo>
                  <a:close/>
                </a:path>
                <a:path w="4714875" h="904875">
                  <a:moveTo>
                    <a:pt x="3857625" y="466725"/>
                  </a:moveTo>
                  <a:lnTo>
                    <a:pt x="3810000" y="466725"/>
                  </a:lnTo>
                  <a:lnTo>
                    <a:pt x="3810000" y="485775"/>
                  </a:lnTo>
                  <a:lnTo>
                    <a:pt x="3857625" y="485775"/>
                  </a:lnTo>
                  <a:lnTo>
                    <a:pt x="3857625" y="466725"/>
                  </a:lnTo>
                  <a:close/>
                </a:path>
                <a:path w="4714875" h="904875">
                  <a:moveTo>
                    <a:pt x="3952875" y="466725"/>
                  </a:moveTo>
                  <a:lnTo>
                    <a:pt x="3905250" y="466725"/>
                  </a:lnTo>
                  <a:lnTo>
                    <a:pt x="3905250" y="485775"/>
                  </a:lnTo>
                  <a:lnTo>
                    <a:pt x="3952875" y="485775"/>
                  </a:lnTo>
                  <a:lnTo>
                    <a:pt x="3952875" y="466725"/>
                  </a:lnTo>
                  <a:close/>
                </a:path>
                <a:path w="4714875" h="904875">
                  <a:moveTo>
                    <a:pt x="4048125" y="466725"/>
                  </a:moveTo>
                  <a:lnTo>
                    <a:pt x="4000500" y="466725"/>
                  </a:lnTo>
                  <a:lnTo>
                    <a:pt x="4000500" y="485775"/>
                  </a:lnTo>
                  <a:lnTo>
                    <a:pt x="4048125" y="485775"/>
                  </a:lnTo>
                  <a:lnTo>
                    <a:pt x="4048125" y="466725"/>
                  </a:lnTo>
                  <a:close/>
                </a:path>
                <a:path w="4714875" h="904875">
                  <a:moveTo>
                    <a:pt x="4143375" y="466725"/>
                  </a:moveTo>
                  <a:lnTo>
                    <a:pt x="4095750" y="466725"/>
                  </a:lnTo>
                  <a:lnTo>
                    <a:pt x="4095750" y="485775"/>
                  </a:lnTo>
                  <a:lnTo>
                    <a:pt x="4143375" y="485775"/>
                  </a:lnTo>
                  <a:lnTo>
                    <a:pt x="4143375" y="466725"/>
                  </a:lnTo>
                  <a:close/>
                </a:path>
                <a:path w="4714875" h="904875">
                  <a:moveTo>
                    <a:pt x="4238625" y="466725"/>
                  </a:moveTo>
                  <a:lnTo>
                    <a:pt x="4191000" y="466725"/>
                  </a:lnTo>
                  <a:lnTo>
                    <a:pt x="4191000" y="485775"/>
                  </a:lnTo>
                  <a:lnTo>
                    <a:pt x="4238625" y="485775"/>
                  </a:lnTo>
                  <a:lnTo>
                    <a:pt x="4238625" y="466725"/>
                  </a:lnTo>
                  <a:close/>
                </a:path>
                <a:path w="4714875" h="904875">
                  <a:moveTo>
                    <a:pt x="4333875" y="466725"/>
                  </a:moveTo>
                  <a:lnTo>
                    <a:pt x="4286250" y="466725"/>
                  </a:lnTo>
                  <a:lnTo>
                    <a:pt x="4286250" y="485775"/>
                  </a:lnTo>
                  <a:lnTo>
                    <a:pt x="4333875" y="485775"/>
                  </a:lnTo>
                  <a:lnTo>
                    <a:pt x="4333875" y="466725"/>
                  </a:lnTo>
                  <a:close/>
                </a:path>
                <a:path w="4714875" h="904875">
                  <a:moveTo>
                    <a:pt x="4714875" y="466725"/>
                  </a:moveTo>
                  <a:lnTo>
                    <a:pt x="4667250" y="466725"/>
                  </a:lnTo>
                  <a:lnTo>
                    <a:pt x="4667250" y="485775"/>
                  </a:lnTo>
                  <a:lnTo>
                    <a:pt x="4714875" y="485775"/>
                  </a:lnTo>
                  <a:lnTo>
                    <a:pt x="4714875" y="466725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515212" y="2047874"/>
              <a:ext cx="19050" cy="619125"/>
            </a:xfrm>
            <a:custGeom>
              <a:avLst/>
              <a:gdLst/>
              <a:ahLst/>
              <a:cxnLst/>
              <a:rect l="l" t="t" r="r" b="b"/>
              <a:pathLst>
                <a:path w="19050" h="619125">
                  <a:moveTo>
                    <a:pt x="19050" y="571500"/>
                  </a:moveTo>
                  <a:lnTo>
                    <a:pt x="0" y="571500"/>
                  </a:lnTo>
                  <a:lnTo>
                    <a:pt x="0" y="619125"/>
                  </a:lnTo>
                  <a:lnTo>
                    <a:pt x="19050" y="619125"/>
                  </a:lnTo>
                  <a:lnTo>
                    <a:pt x="19050" y="571500"/>
                  </a:lnTo>
                  <a:close/>
                </a:path>
                <a:path w="19050" h="619125">
                  <a:moveTo>
                    <a:pt x="19050" y="476250"/>
                  </a:moveTo>
                  <a:lnTo>
                    <a:pt x="0" y="476250"/>
                  </a:lnTo>
                  <a:lnTo>
                    <a:pt x="0" y="523875"/>
                  </a:lnTo>
                  <a:lnTo>
                    <a:pt x="19050" y="523875"/>
                  </a:lnTo>
                  <a:lnTo>
                    <a:pt x="19050" y="476250"/>
                  </a:lnTo>
                  <a:close/>
                </a:path>
                <a:path w="19050" h="619125">
                  <a:moveTo>
                    <a:pt x="19050" y="381000"/>
                  </a:moveTo>
                  <a:lnTo>
                    <a:pt x="0" y="381000"/>
                  </a:lnTo>
                  <a:lnTo>
                    <a:pt x="0" y="428625"/>
                  </a:lnTo>
                  <a:lnTo>
                    <a:pt x="19050" y="428625"/>
                  </a:lnTo>
                  <a:lnTo>
                    <a:pt x="19050" y="381000"/>
                  </a:lnTo>
                  <a:close/>
                </a:path>
                <a:path w="19050" h="619125">
                  <a:moveTo>
                    <a:pt x="19050" y="285750"/>
                  </a:moveTo>
                  <a:lnTo>
                    <a:pt x="0" y="285750"/>
                  </a:lnTo>
                  <a:lnTo>
                    <a:pt x="0" y="333375"/>
                  </a:lnTo>
                  <a:lnTo>
                    <a:pt x="19050" y="333375"/>
                  </a:lnTo>
                  <a:lnTo>
                    <a:pt x="19050" y="285750"/>
                  </a:lnTo>
                  <a:close/>
                </a:path>
                <a:path w="19050" h="619125">
                  <a:moveTo>
                    <a:pt x="19050" y="190500"/>
                  </a:moveTo>
                  <a:lnTo>
                    <a:pt x="0" y="190500"/>
                  </a:lnTo>
                  <a:lnTo>
                    <a:pt x="0" y="238125"/>
                  </a:lnTo>
                  <a:lnTo>
                    <a:pt x="19050" y="238125"/>
                  </a:lnTo>
                  <a:lnTo>
                    <a:pt x="19050" y="190500"/>
                  </a:lnTo>
                  <a:close/>
                </a:path>
                <a:path w="19050" h="619125">
                  <a:moveTo>
                    <a:pt x="19050" y="95250"/>
                  </a:moveTo>
                  <a:lnTo>
                    <a:pt x="0" y="95250"/>
                  </a:lnTo>
                  <a:lnTo>
                    <a:pt x="0" y="142875"/>
                  </a:lnTo>
                  <a:lnTo>
                    <a:pt x="19050" y="142875"/>
                  </a:lnTo>
                  <a:lnTo>
                    <a:pt x="19050" y="95250"/>
                  </a:lnTo>
                  <a:close/>
                </a:path>
                <a:path w="19050" h="619125">
                  <a:moveTo>
                    <a:pt x="1905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9050" y="476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429124" y="20002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19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3"/>
                  </a:lnTo>
                  <a:lnTo>
                    <a:pt x="44463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4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7" y="154203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491930" y="2167334"/>
            <a:ext cx="36385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FFFFFF"/>
                </a:solidFill>
                <a:latin typeface="Roboto"/>
                <a:cs typeface="Roboto"/>
              </a:rPr>
              <a:t>Thermal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5857874" y="1990724"/>
            <a:ext cx="476250" cy="485775"/>
            <a:chOff x="5857874" y="1990724"/>
            <a:chExt cx="476250" cy="485775"/>
          </a:xfrm>
        </p:grpSpPr>
        <p:sp>
          <p:nvSpPr>
            <p:cNvPr id="35" name="object 35" descr=""/>
            <p:cNvSpPr/>
            <p:nvPr/>
          </p:nvSpPr>
          <p:spPr>
            <a:xfrm>
              <a:off x="5857874" y="20002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19" y="470152"/>
                  </a:lnTo>
                  <a:lnTo>
                    <a:pt x="139792" y="455139"/>
                  </a:lnTo>
                  <a:lnTo>
                    <a:pt x="99344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3"/>
                  </a:lnTo>
                  <a:lnTo>
                    <a:pt x="44463" y="99345"/>
                  </a:lnTo>
                  <a:lnTo>
                    <a:pt x="75259" y="64230"/>
                  </a:lnTo>
                  <a:lnTo>
                    <a:pt x="112313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4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89" y="412019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000749" y="200024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49" y="190499"/>
                  </a:moveTo>
                  <a:lnTo>
                    <a:pt x="95249" y="0"/>
                  </a:lnTo>
                </a:path>
                <a:path w="190500" h="190500">
                  <a:moveTo>
                    <a:pt x="0" y="95249"/>
                  </a:moveTo>
                  <a:lnTo>
                    <a:pt x="190499" y="9524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5988992" y="2167334"/>
            <a:ext cx="22669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FFFFFF"/>
                </a:solidFill>
                <a:latin typeface="Roboto"/>
                <a:cs typeface="Roboto"/>
              </a:rPr>
              <a:t>Wind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229349" y="1992629"/>
            <a:ext cx="1533525" cy="483870"/>
            <a:chOff x="6229349" y="1992629"/>
            <a:chExt cx="1533525" cy="483870"/>
          </a:xfrm>
        </p:grpSpPr>
        <p:sp>
          <p:nvSpPr>
            <p:cNvPr id="39" name="object 39" descr=""/>
            <p:cNvSpPr/>
            <p:nvPr/>
          </p:nvSpPr>
          <p:spPr>
            <a:xfrm>
              <a:off x="6238874" y="2002154"/>
              <a:ext cx="381000" cy="91440"/>
            </a:xfrm>
            <a:custGeom>
              <a:avLst/>
              <a:gdLst/>
              <a:ahLst/>
              <a:cxnLst/>
              <a:rect l="l" t="t" r="r" b="b"/>
              <a:pathLst>
                <a:path w="381000" h="91439">
                  <a:moveTo>
                    <a:pt x="0" y="45720"/>
                  </a:moveTo>
                  <a:lnTo>
                    <a:pt x="38099" y="15240"/>
                  </a:lnTo>
                  <a:lnTo>
                    <a:pt x="76199" y="0"/>
                  </a:lnTo>
                  <a:lnTo>
                    <a:pt x="114299" y="0"/>
                  </a:lnTo>
                  <a:lnTo>
                    <a:pt x="152399" y="15240"/>
                  </a:lnTo>
                  <a:lnTo>
                    <a:pt x="190499" y="45720"/>
                  </a:lnTo>
                  <a:lnTo>
                    <a:pt x="228599" y="76199"/>
                  </a:lnTo>
                  <a:lnTo>
                    <a:pt x="266699" y="91439"/>
                  </a:lnTo>
                  <a:lnTo>
                    <a:pt x="304799" y="91439"/>
                  </a:lnTo>
                  <a:lnTo>
                    <a:pt x="342899" y="76199"/>
                  </a:lnTo>
                  <a:lnTo>
                    <a:pt x="380999" y="45720"/>
                  </a:lnTo>
                </a:path>
              </a:pathLst>
            </a:custGeom>
            <a:ln w="1904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286624" y="20002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5" y="476249"/>
                  </a:lnTo>
                  <a:lnTo>
                    <a:pt x="222545" y="475867"/>
                  </a:lnTo>
                  <a:lnTo>
                    <a:pt x="184019" y="470152"/>
                  </a:lnTo>
                  <a:lnTo>
                    <a:pt x="139792" y="455139"/>
                  </a:lnTo>
                  <a:lnTo>
                    <a:pt x="99344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0" y="322046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3"/>
                  </a:lnTo>
                  <a:lnTo>
                    <a:pt x="44463" y="99345"/>
                  </a:lnTo>
                  <a:lnTo>
                    <a:pt x="75259" y="64230"/>
                  </a:lnTo>
                  <a:lnTo>
                    <a:pt x="112313" y="35798"/>
                  </a:lnTo>
                  <a:lnTo>
                    <a:pt x="154203" y="15141"/>
                  </a:lnTo>
                  <a:lnTo>
                    <a:pt x="199317" y="3053"/>
                  </a:lnTo>
                  <a:lnTo>
                    <a:pt x="230325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5" y="21110"/>
                  </a:lnTo>
                  <a:lnTo>
                    <a:pt x="376904" y="44464"/>
                  </a:lnTo>
                  <a:lnTo>
                    <a:pt x="412018" y="75259"/>
                  </a:lnTo>
                  <a:lnTo>
                    <a:pt x="440450" y="112314"/>
                  </a:lnTo>
                  <a:lnTo>
                    <a:pt x="461107" y="154203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8" y="336456"/>
                  </a:lnTo>
                  <a:lnTo>
                    <a:pt x="431785" y="376904"/>
                  </a:lnTo>
                  <a:lnTo>
                    <a:pt x="400989" y="412019"/>
                  </a:lnTo>
                  <a:lnTo>
                    <a:pt x="363935" y="440451"/>
                  </a:lnTo>
                  <a:lnTo>
                    <a:pt x="322045" y="461108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429499" y="2143124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190499" y="142874"/>
                  </a:moveTo>
                  <a:lnTo>
                    <a:pt x="0" y="142874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142874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7415658" y="2167334"/>
            <a:ext cx="23114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FFFFFF"/>
                </a:solidFill>
                <a:latin typeface="Roboto"/>
                <a:cs typeface="Roboto"/>
              </a:rPr>
              <a:t>Solar</a:t>
            </a:r>
            <a:endParaRPr sz="800">
              <a:latin typeface="Roboto"/>
              <a:cs typeface="Roboto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7667624" y="1976437"/>
            <a:ext cx="381000" cy="142875"/>
          </a:xfrm>
          <a:custGeom>
            <a:avLst/>
            <a:gdLst/>
            <a:ahLst/>
            <a:cxnLst/>
            <a:rect l="l" t="t" r="r" b="b"/>
            <a:pathLst>
              <a:path w="381000" h="142875">
                <a:moveTo>
                  <a:pt x="0" y="71437"/>
                </a:moveTo>
                <a:lnTo>
                  <a:pt x="31749" y="111124"/>
                </a:lnTo>
                <a:lnTo>
                  <a:pt x="63499" y="134937"/>
                </a:lnTo>
                <a:lnTo>
                  <a:pt x="95249" y="142874"/>
                </a:lnTo>
                <a:lnTo>
                  <a:pt x="126999" y="134937"/>
                </a:lnTo>
                <a:lnTo>
                  <a:pt x="158749" y="111124"/>
                </a:lnTo>
                <a:lnTo>
                  <a:pt x="190499" y="71437"/>
                </a:lnTo>
                <a:lnTo>
                  <a:pt x="222249" y="31749"/>
                </a:lnTo>
                <a:lnTo>
                  <a:pt x="253999" y="7937"/>
                </a:lnTo>
                <a:lnTo>
                  <a:pt x="285749" y="0"/>
                </a:lnTo>
                <a:lnTo>
                  <a:pt x="317499" y="7937"/>
                </a:lnTo>
                <a:lnTo>
                  <a:pt x="349249" y="31749"/>
                </a:lnTo>
                <a:lnTo>
                  <a:pt x="380999" y="71437"/>
                </a:lnTo>
              </a:path>
            </a:pathLst>
          </a:custGeom>
          <a:ln w="19049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8096249" y="2143124"/>
            <a:ext cx="285750" cy="190500"/>
          </a:xfrm>
          <a:prstGeom prst="rect">
            <a:avLst/>
          </a:prstGeom>
          <a:solidFill>
            <a:srgbClr val="666666"/>
          </a:solidFill>
        </p:spPr>
        <p:txBody>
          <a:bodyPr wrap="square" lIns="0" tIns="4762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375"/>
              </a:spcBef>
            </a:pPr>
            <a:r>
              <a:rPr dirty="0" sz="750" spc="-20">
                <a:solidFill>
                  <a:srgbClr val="FFFFFF"/>
                </a:solidFill>
                <a:latin typeface="Roboto"/>
                <a:cs typeface="Roboto"/>
              </a:rPr>
              <a:t>Load</a:t>
            </a:r>
            <a:endParaRPr sz="750">
              <a:latin typeface="Roboto"/>
              <a:cs typeface="Roboto"/>
            </a:endParaRPr>
          </a:p>
        </p:txBody>
      </p:sp>
      <p:pic>
        <p:nvPicPr>
          <p:cNvPr id="45" name="object 4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86374" y="1762125"/>
            <a:ext cx="190499" cy="190499"/>
          </a:xfrm>
          <a:prstGeom prst="rect">
            <a:avLst/>
          </a:prstGeom>
        </p:spPr>
      </p:pic>
      <p:sp>
        <p:nvSpPr>
          <p:cNvPr id="46" name="object 46" descr=""/>
          <p:cNvSpPr txBox="1"/>
          <p:nvPr/>
        </p:nvSpPr>
        <p:spPr>
          <a:xfrm>
            <a:off x="5371801" y="1788477"/>
            <a:ext cx="32384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650" spc="-50">
                <a:solidFill>
                  <a:srgbClr val="FFFFFF"/>
                </a:solidFill>
                <a:latin typeface="Roboto"/>
                <a:cs typeface="Roboto"/>
              </a:rPr>
              <a:t>!</a:t>
            </a:r>
            <a:endParaRPr sz="650">
              <a:latin typeface="Roboto"/>
              <a:cs typeface="Roboto"/>
            </a:endParaRPr>
          </a:p>
        </p:txBody>
      </p:sp>
      <p:pic>
        <p:nvPicPr>
          <p:cNvPr id="47" name="object 4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15124" y="2524124"/>
            <a:ext cx="190499" cy="190499"/>
          </a:xfrm>
          <a:prstGeom prst="rect">
            <a:avLst/>
          </a:prstGeom>
        </p:spPr>
      </p:pic>
      <p:sp>
        <p:nvSpPr>
          <p:cNvPr id="48" name="object 48" descr=""/>
          <p:cNvSpPr txBox="1"/>
          <p:nvPr/>
        </p:nvSpPr>
        <p:spPr>
          <a:xfrm>
            <a:off x="6800552" y="2550477"/>
            <a:ext cx="32384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650" spc="-50">
                <a:solidFill>
                  <a:srgbClr val="FFFFFF"/>
                </a:solidFill>
                <a:latin typeface="Roboto"/>
                <a:cs typeface="Roboto"/>
              </a:rPr>
              <a:t>!</a:t>
            </a:r>
            <a:endParaRPr sz="650">
              <a:latin typeface="Roboto"/>
              <a:cs typeface="Roboto"/>
            </a:endParaRPr>
          </a:p>
        </p:txBody>
      </p:sp>
      <p:pic>
        <p:nvPicPr>
          <p:cNvPr id="49" name="object 4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15249" y="1762125"/>
            <a:ext cx="190500" cy="190499"/>
          </a:xfrm>
          <a:prstGeom prst="rect">
            <a:avLst/>
          </a:prstGeom>
        </p:spPr>
      </p:pic>
      <p:sp>
        <p:nvSpPr>
          <p:cNvPr id="50" name="object 50" descr=""/>
          <p:cNvSpPr txBox="1"/>
          <p:nvPr/>
        </p:nvSpPr>
        <p:spPr>
          <a:xfrm>
            <a:off x="7800677" y="1788477"/>
            <a:ext cx="32384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650" spc="-50">
                <a:solidFill>
                  <a:srgbClr val="FFFFFF"/>
                </a:solidFill>
                <a:latin typeface="Roboto"/>
                <a:cs typeface="Roboto"/>
              </a:rPr>
              <a:t>!</a:t>
            </a:r>
            <a:endParaRPr sz="650">
              <a:latin typeface="Roboto"/>
              <a:cs typeface="Roboto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3714750" y="2809874"/>
            <a:ext cx="1143000" cy="190500"/>
          </a:xfrm>
          <a:custGeom>
            <a:avLst/>
            <a:gdLst/>
            <a:ahLst/>
            <a:cxnLst/>
            <a:rect l="l" t="t" r="r" b="b"/>
            <a:pathLst>
              <a:path w="1143000" h="190500">
                <a:moveTo>
                  <a:pt x="0" y="95249"/>
                </a:moveTo>
                <a:lnTo>
                  <a:pt x="38100" y="60959"/>
                </a:lnTo>
                <a:lnTo>
                  <a:pt x="76199" y="34289"/>
                </a:lnTo>
                <a:lnTo>
                  <a:pt x="114299" y="15239"/>
                </a:lnTo>
                <a:lnTo>
                  <a:pt x="152399" y="3809"/>
                </a:lnTo>
                <a:lnTo>
                  <a:pt x="190499" y="0"/>
                </a:lnTo>
                <a:lnTo>
                  <a:pt x="228599" y="3809"/>
                </a:lnTo>
                <a:lnTo>
                  <a:pt x="266699" y="15239"/>
                </a:lnTo>
                <a:lnTo>
                  <a:pt x="304799" y="34289"/>
                </a:lnTo>
                <a:lnTo>
                  <a:pt x="342899" y="60959"/>
                </a:lnTo>
                <a:lnTo>
                  <a:pt x="380999" y="95249"/>
                </a:lnTo>
                <a:lnTo>
                  <a:pt x="419099" y="129539"/>
                </a:lnTo>
                <a:lnTo>
                  <a:pt x="457199" y="156209"/>
                </a:lnTo>
                <a:lnTo>
                  <a:pt x="495299" y="175259"/>
                </a:lnTo>
                <a:lnTo>
                  <a:pt x="533399" y="186689"/>
                </a:lnTo>
                <a:lnTo>
                  <a:pt x="571499" y="190499"/>
                </a:lnTo>
                <a:lnTo>
                  <a:pt x="609599" y="186689"/>
                </a:lnTo>
                <a:lnTo>
                  <a:pt x="647699" y="175259"/>
                </a:lnTo>
                <a:lnTo>
                  <a:pt x="685799" y="156209"/>
                </a:lnTo>
                <a:lnTo>
                  <a:pt x="723899" y="129539"/>
                </a:lnTo>
                <a:lnTo>
                  <a:pt x="761999" y="95249"/>
                </a:lnTo>
                <a:lnTo>
                  <a:pt x="800099" y="60959"/>
                </a:lnTo>
                <a:lnTo>
                  <a:pt x="838199" y="34289"/>
                </a:lnTo>
                <a:lnTo>
                  <a:pt x="876299" y="15239"/>
                </a:lnTo>
                <a:lnTo>
                  <a:pt x="914399" y="3809"/>
                </a:lnTo>
                <a:lnTo>
                  <a:pt x="952499" y="0"/>
                </a:lnTo>
                <a:lnTo>
                  <a:pt x="990599" y="3809"/>
                </a:lnTo>
                <a:lnTo>
                  <a:pt x="1028699" y="15239"/>
                </a:lnTo>
                <a:lnTo>
                  <a:pt x="1066799" y="34289"/>
                </a:lnTo>
                <a:lnTo>
                  <a:pt x="1104899" y="60959"/>
                </a:lnTo>
                <a:lnTo>
                  <a:pt x="1142999" y="95249"/>
                </a:lnTo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4286250" y="2939931"/>
            <a:ext cx="79756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FF3300"/>
                </a:solidFill>
                <a:latin typeface="Roboto"/>
                <a:cs typeface="Roboto"/>
              </a:rPr>
              <a:t>Frequency</a:t>
            </a:r>
            <a:r>
              <a:rPr dirty="0" sz="750" spc="5">
                <a:solidFill>
                  <a:srgbClr val="FF3300"/>
                </a:solidFill>
                <a:latin typeface="Roboto"/>
                <a:cs typeface="Roboto"/>
              </a:rPr>
              <a:t> </a:t>
            </a:r>
            <a:r>
              <a:rPr dirty="0" sz="750" spc="-25">
                <a:solidFill>
                  <a:srgbClr val="FF3300"/>
                </a:solidFill>
                <a:latin typeface="Roboto"/>
                <a:cs typeface="Roboto"/>
              </a:rPr>
              <a:t>Instability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54" name="object 54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6" name="object 5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2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  <p:sp>
        <p:nvSpPr>
          <p:cNvPr id="57" name="object 5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8974" y="200024"/>
              <a:ext cx="1142999" cy="6476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24" y="6429374"/>
              <a:ext cx="12172950" cy="419100"/>
            </a:xfrm>
            <a:custGeom>
              <a:avLst/>
              <a:gdLst/>
              <a:ahLst/>
              <a:cxnLst/>
              <a:rect l="l" t="t" r="r" b="b"/>
              <a:pathLst>
                <a:path w="12172950" h="419100">
                  <a:moveTo>
                    <a:pt x="1217294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12172949" y="0"/>
                  </a:lnTo>
                  <a:lnTo>
                    <a:pt x="12172949" y="41909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9124" y="1038224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1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380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207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Research</a:t>
            </a:r>
            <a:r>
              <a:rPr dirty="0" spc="-45"/>
              <a:t> </a:t>
            </a:r>
            <a:r>
              <a:rPr dirty="0" spc="-125"/>
              <a:t>Objectives</a:t>
            </a:r>
            <a:r>
              <a:rPr dirty="0" spc="-40"/>
              <a:t> </a:t>
            </a:r>
            <a:r>
              <a:rPr dirty="0" spc="-170"/>
              <a:t>&amp;</a:t>
            </a:r>
            <a:r>
              <a:rPr dirty="0" spc="-45"/>
              <a:t> </a:t>
            </a:r>
            <a:r>
              <a:rPr dirty="0" spc="-114"/>
              <a:t>Contributions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06424" y="1342707"/>
            <a:ext cx="11068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5" b="1">
                <a:solidFill>
                  <a:srgbClr val="1D40AF"/>
                </a:solidFill>
                <a:latin typeface="Roboto"/>
                <a:cs typeface="Roboto"/>
              </a:rPr>
              <a:t>Objectives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9124" y="1914524"/>
            <a:ext cx="10953750" cy="3276600"/>
            <a:chOff x="619124" y="1914524"/>
            <a:chExt cx="10953750" cy="3276600"/>
          </a:xfrm>
        </p:grpSpPr>
        <p:sp>
          <p:nvSpPr>
            <p:cNvPr id="10" name="object 10" descr=""/>
            <p:cNvSpPr/>
            <p:nvPr/>
          </p:nvSpPr>
          <p:spPr>
            <a:xfrm>
              <a:off x="619124" y="1914524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413" y="419099"/>
                  </a:moveTo>
                  <a:lnTo>
                    <a:pt x="202686" y="419099"/>
                  </a:lnTo>
                  <a:lnTo>
                    <a:pt x="195840" y="418763"/>
                  </a:lnTo>
                  <a:lnTo>
                    <a:pt x="155288" y="412068"/>
                  </a:lnTo>
                  <a:lnTo>
                    <a:pt x="116821" y="397591"/>
                  </a:lnTo>
                  <a:lnTo>
                    <a:pt x="81918" y="375887"/>
                  </a:lnTo>
                  <a:lnTo>
                    <a:pt x="51919" y="347791"/>
                  </a:lnTo>
                  <a:lnTo>
                    <a:pt x="27978" y="314383"/>
                  </a:lnTo>
                  <a:lnTo>
                    <a:pt x="11015" y="276946"/>
                  </a:lnTo>
                  <a:lnTo>
                    <a:pt x="1681" y="236919"/>
                  </a:lnTo>
                  <a:lnTo>
                    <a:pt x="0" y="216412"/>
                  </a:lnTo>
                  <a:lnTo>
                    <a:pt x="0" y="202686"/>
                  </a:lnTo>
                  <a:lnTo>
                    <a:pt x="5365" y="161937"/>
                  </a:lnTo>
                  <a:lnTo>
                    <a:pt x="18577" y="123017"/>
                  </a:lnTo>
                  <a:lnTo>
                    <a:pt x="39128" y="87423"/>
                  </a:lnTo>
                  <a:lnTo>
                    <a:pt x="66228" y="56522"/>
                  </a:lnTo>
                  <a:lnTo>
                    <a:pt x="98836" y="31502"/>
                  </a:lnTo>
                  <a:lnTo>
                    <a:pt x="135699" y="13324"/>
                  </a:lnTo>
                  <a:lnTo>
                    <a:pt x="175399" y="2687"/>
                  </a:lnTo>
                  <a:lnTo>
                    <a:pt x="202686" y="0"/>
                  </a:lnTo>
                  <a:lnTo>
                    <a:pt x="216413" y="0"/>
                  </a:lnTo>
                  <a:lnTo>
                    <a:pt x="257162" y="5365"/>
                  </a:lnTo>
                  <a:lnTo>
                    <a:pt x="296081" y="18577"/>
                  </a:lnTo>
                  <a:lnTo>
                    <a:pt x="331676" y="39128"/>
                  </a:lnTo>
                  <a:lnTo>
                    <a:pt x="362577" y="66228"/>
                  </a:lnTo>
                  <a:lnTo>
                    <a:pt x="387597" y="98836"/>
                  </a:lnTo>
                  <a:lnTo>
                    <a:pt x="405775" y="135699"/>
                  </a:lnTo>
                  <a:lnTo>
                    <a:pt x="416412" y="175399"/>
                  </a:lnTo>
                  <a:lnTo>
                    <a:pt x="419100" y="202686"/>
                  </a:lnTo>
                  <a:lnTo>
                    <a:pt x="419099" y="209549"/>
                  </a:lnTo>
                  <a:lnTo>
                    <a:pt x="419100" y="216412"/>
                  </a:lnTo>
                  <a:lnTo>
                    <a:pt x="413734" y="257161"/>
                  </a:lnTo>
                  <a:lnTo>
                    <a:pt x="400522" y="296081"/>
                  </a:lnTo>
                  <a:lnTo>
                    <a:pt x="379971" y="331675"/>
                  </a:lnTo>
                  <a:lnTo>
                    <a:pt x="352871" y="362576"/>
                  </a:lnTo>
                  <a:lnTo>
                    <a:pt x="320263" y="387596"/>
                  </a:lnTo>
                  <a:lnTo>
                    <a:pt x="283400" y="405774"/>
                  </a:lnTo>
                  <a:lnTo>
                    <a:pt x="243700" y="416412"/>
                  </a:lnTo>
                  <a:lnTo>
                    <a:pt x="223259" y="418763"/>
                  </a:lnTo>
                  <a:lnTo>
                    <a:pt x="216413" y="4190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899" y="2040466"/>
              <a:ext cx="209549" cy="16298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19124" y="2790824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413" y="419099"/>
                  </a:moveTo>
                  <a:lnTo>
                    <a:pt x="202686" y="419099"/>
                  </a:lnTo>
                  <a:lnTo>
                    <a:pt x="195840" y="418763"/>
                  </a:lnTo>
                  <a:lnTo>
                    <a:pt x="155288" y="412068"/>
                  </a:lnTo>
                  <a:lnTo>
                    <a:pt x="116821" y="397591"/>
                  </a:lnTo>
                  <a:lnTo>
                    <a:pt x="81918" y="375888"/>
                  </a:lnTo>
                  <a:lnTo>
                    <a:pt x="51919" y="347792"/>
                  </a:lnTo>
                  <a:lnTo>
                    <a:pt x="27978" y="314383"/>
                  </a:lnTo>
                  <a:lnTo>
                    <a:pt x="11015" y="276946"/>
                  </a:lnTo>
                  <a:lnTo>
                    <a:pt x="1681" y="236918"/>
                  </a:lnTo>
                  <a:lnTo>
                    <a:pt x="0" y="216412"/>
                  </a:lnTo>
                  <a:lnTo>
                    <a:pt x="0" y="202687"/>
                  </a:lnTo>
                  <a:lnTo>
                    <a:pt x="5365" y="161937"/>
                  </a:lnTo>
                  <a:lnTo>
                    <a:pt x="18577" y="123017"/>
                  </a:lnTo>
                  <a:lnTo>
                    <a:pt x="39128" y="87423"/>
                  </a:lnTo>
                  <a:lnTo>
                    <a:pt x="66228" y="56522"/>
                  </a:lnTo>
                  <a:lnTo>
                    <a:pt x="98836" y="31502"/>
                  </a:lnTo>
                  <a:lnTo>
                    <a:pt x="135699" y="13324"/>
                  </a:lnTo>
                  <a:lnTo>
                    <a:pt x="175399" y="2687"/>
                  </a:lnTo>
                  <a:lnTo>
                    <a:pt x="202686" y="0"/>
                  </a:lnTo>
                  <a:lnTo>
                    <a:pt x="216413" y="0"/>
                  </a:lnTo>
                  <a:lnTo>
                    <a:pt x="257162" y="5365"/>
                  </a:lnTo>
                  <a:lnTo>
                    <a:pt x="296081" y="18577"/>
                  </a:lnTo>
                  <a:lnTo>
                    <a:pt x="331676" y="39128"/>
                  </a:lnTo>
                  <a:lnTo>
                    <a:pt x="362577" y="66228"/>
                  </a:lnTo>
                  <a:lnTo>
                    <a:pt x="387597" y="98836"/>
                  </a:lnTo>
                  <a:lnTo>
                    <a:pt x="405775" y="135699"/>
                  </a:lnTo>
                  <a:lnTo>
                    <a:pt x="416412" y="175399"/>
                  </a:lnTo>
                  <a:lnTo>
                    <a:pt x="419100" y="202687"/>
                  </a:lnTo>
                  <a:lnTo>
                    <a:pt x="419099" y="209549"/>
                  </a:lnTo>
                  <a:lnTo>
                    <a:pt x="419100" y="216412"/>
                  </a:lnTo>
                  <a:lnTo>
                    <a:pt x="413734" y="257161"/>
                  </a:lnTo>
                  <a:lnTo>
                    <a:pt x="400522" y="296081"/>
                  </a:lnTo>
                  <a:lnTo>
                    <a:pt x="379971" y="331675"/>
                  </a:lnTo>
                  <a:lnTo>
                    <a:pt x="352871" y="362577"/>
                  </a:lnTo>
                  <a:lnTo>
                    <a:pt x="320263" y="387597"/>
                  </a:lnTo>
                  <a:lnTo>
                    <a:pt x="283400" y="405775"/>
                  </a:lnTo>
                  <a:lnTo>
                    <a:pt x="243700" y="416412"/>
                  </a:lnTo>
                  <a:lnTo>
                    <a:pt x="223259" y="418763"/>
                  </a:lnTo>
                  <a:lnTo>
                    <a:pt x="216413" y="4190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424" y="2905124"/>
              <a:ext cx="190499" cy="19049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19124" y="343852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413" y="419099"/>
                  </a:moveTo>
                  <a:lnTo>
                    <a:pt x="202686" y="419099"/>
                  </a:lnTo>
                  <a:lnTo>
                    <a:pt x="195840" y="418763"/>
                  </a:lnTo>
                  <a:lnTo>
                    <a:pt x="155288" y="412068"/>
                  </a:lnTo>
                  <a:lnTo>
                    <a:pt x="116821" y="397591"/>
                  </a:lnTo>
                  <a:lnTo>
                    <a:pt x="81918" y="375887"/>
                  </a:lnTo>
                  <a:lnTo>
                    <a:pt x="51919" y="347791"/>
                  </a:lnTo>
                  <a:lnTo>
                    <a:pt x="27978" y="314383"/>
                  </a:lnTo>
                  <a:lnTo>
                    <a:pt x="11015" y="276946"/>
                  </a:lnTo>
                  <a:lnTo>
                    <a:pt x="1681" y="236919"/>
                  </a:lnTo>
                  <a:lnTo>
                    <a:pt x="0" y="216412"/>
                  </a:lnTo>
                  <a:lnTo>
                    <a:pt x="0" y="202686"/>
                  </a:lnTo>
                  <a:lnTo>
                    <a:pt x="5365" y="161937"/>
                  </a:lnTo>
                  <a:lnTo>
                    <a:pt x="18577" y="123017"/>
                  </a:lnTo>
                  <a:lnTo>
                    <a:pt x="39128" y="87423"/>
                  </a:lnTo>
                  <a:lnTo>
                    <a:pt x="66228" y="56522"/>
                  </a:lnTo>
                  <a:lnTo>
                    <a:pt x="98836" y="31501"/>
                  </a:lnTo>
                  <a:lnTo>
                    <a:pt x="135699" y="13323"/>
                  </a:lnTo>
                  <a:lnTo>
                    <a:pt x="175399" y="2687"/>
                  </a:lnTo>
                  <a:lnTo>
                    <a:pt x="202686" y="0"/>
                  </a:lnTo>
                  <a:lnTo>
                    <a:pt x="216413" y="0"/>
                  </a:lnTo>
                  <a:lnTo>
                    <a:pt x="257162" y="5365"/>
                  </a:lnTo>
                  <a:lnTo>
                    <a:pt x="296081" y="18576"/>
                  </a:lnTo>
                  <a:lnTo>
                    <a:pt x="331676" y="39127"/>
                  </a:lnTo>
                  <a:lnTo>
                    <a:pt x="362577" y="66228"/>
                  </a:lnTo>
                  <a:lnTo>
                    <a:pt x="387597" y="98836"/>
                  </a:lnTo>
                  <a:lnTo>
                    <a:pt x="405775" y="135699"/>
                  </a:lnTo>
                  <a:lnTo>
                    <a:pt x="416412" y="175399"/>
                  </a:lnTo>
                  <a:lnTo>
                    <a:pt x="419100" y="202686"/>
                  </a:lnTo>
                  <a:lnTo>
                    <a:pt x="419099" y="209549"/>
                  </a:lnTo>
                  <a:lnTo>
                    <a:pt x="419100" y="216412"/>
                  </a:lnTo>
                  <a:lnTo>
                    <a:pt x="413734" y="257161"/>
                  </a:lnTo>
                  <a:lnTo>
                    <a:pt x="400522" y="296081"/>
                  </a:lnTo>
                  <a:lnTo>
                    <a:pt x="379971" y="331675"/>
                  </a:lnTo>
                  <a:lnTo>
                    <a:pt x="352871" y="362576"/>
                  </a:lnTo>
                  <a:lnTo>
                    <a:pt x="320263" y="387596"/>
                  </a:lnTo>
                  <a:lnTo>
                    <a:pt x="283400" y="405774"/>
                  </a:lnTo>
                  <a:lnTo>
                    <a:pt x="243700" y="416412"/>
                  </a:lnTo>
                  <a:lnTo>
                    <a:pt x="223259" y="418763"/>
                  </a:lnTo>
                  <a:lnTo>
                    <a:pt x="216413" y="4190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378" y="3564717"/>
              <a:ext cx="178593" cy="16671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248398" y="3971924"/>
              <a:ext cx="5324475" cy="1219200"/>
            </a:xfrm>
            <a:custGeom>
              <a:avLst/>
              <a:gdLst/>
              <a:ahLst/>
              <a:cxnLst/>
              <a:rect l="l" t="t" r="r" b="b"/>
              <a:pathLst>
                <a:path w="5324475" h="1219200">
                  <a:moveTo>
                    <a:pt x="5253278" y="1219199"/>
                  </a:moveTo>
                  <a:lnTo>
                    <a:pt x="71196" y="1219199"/>
                  </a:lnTo>
                  <a:lnTo>
                    <a:pt x="66241" y="1218711"/>
                  </a:lnTo>
                  <a:lnTo>
                    <a:pt x="29705" y="1203576"/>
                  </a:lnTo>
                  <a:lnTo>
                    <a:pt x="3885" y="1167537"/>
                  </a:lnTo>
                  <a:lnTo>
                    <a:pt x="0" y="1148003"/>
                  </a:lnTo>
                  <a:lnTo>
                    <a:pt x="0" y="1142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253278" y="0"/>
                  </a:lnTo>
                  <a:lnTo>
                    <a:pt x="5294768" y="15621"/>
                  </a:lnTo>
                  <a:lnTo>
                    <a:pt x="5320588" y="51661"/>
                  </a:lnTo>
                  <a:lnTo>
                    <a:pt x="5324475" y="71196"/>
                  </a:lnTo>
                  <a:lnTo>
                    <a:pt x="5324475" y="1148003"/>
                  </a:lnTo>
                  <a:lnTo>
                    <a:pt x="5308851" y="1189493"/>
                  </a:lnTo>
                  <a:lnTo>
                    <a:pt x="5272810" y="1215313"/>
                  </a:lnTo>
                  <a:lnTo>
                    <a:pt x="5258233" y="1218711"/>
                  </a:lnTo>
                  <a:lnTo>
                    <a:pt x="5253278" y="12191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248398" y="1914524"/>
              <a:ext cx="1676400" cy="1828800"/>
            </a:xfrm>
            <a:custGeom>
              <a:avLst/>
              <a:gdLst/>
              <a:ahLst/>
              <a:cxnLst/>
              <a:rect l="l" t="t" r="r" b="b"/>
              <a:pathLst>
                <a:path w="1676400" h="1828800">
                  <a:moveTo>
                    <a:pt x="1605203" y="1828799"/>
                  </a:moveTo>
                  <a:lnTo>
                    <a:pt x="71196" y="1828799"/>
                  </a:lnTo>
                  <a:lnTo>
                    <a:pt x="66241" y="1828311"/>
                  </a:lnTo>
                  <a:lnTo>
                    <a:pt x="29705" y="1813177"/>
                  </a:lnTo>
                  <a:lnTo>
                    <a:pt x="3885" y="1777137"/>
                  </a:lnTo>
                  <a:lnTo>
                    <a:pt x="0" y="1757603"/>
                  </a:lnTo>
                  <a:lnTo>
                    <a:pt x="0" y="1752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605203" y="0"/>
                  </a:lnTo>
                  <a:lnTo>
                    <a:pt x="1646694" y="15621"/>
                  </a:lnTo>
                  <a:lnTo>
                    <a:pt x="1672513" y="51661"/>
                  </a:lnTo>
                  <a:lnTo>
                    <a:pt x="1676399" y="71196"/>
                  </a:lnTo>
                  <a:lnTo>
                    <a:pt x="1676399" y="1757603"/>
                  </a:lnTo>
                  <a:lnTo>
                    <a:pt x="1660777" y="1799093"/>
                  </a:lnTo>
                  <a:lnTo>
                    <a:pt x="1624737" y="1824913"/>
                  </a:lnTo>
                  <a:lnTo>
                    <a:pt x="1610158" y="1828311"/>
                  </a:lnTo>
                  <a:lnTo>
                    <a:pt x="1605203" y="18287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177924" y="1867316"/>
            <a:ext cx="4558030" cy="75120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500" spc="-90" b="0">
                <a:latin typeface="Roboto Medium"/>
                <a:cs typeface="Roboto Medium"/>
              </a:rPr>
              <a:t>Hybrid</a:t>
            </a:r>
            <a:r>
              <a:rPr dirty="0" sz="1500" spc="-5" b="0">
                <a:latin typeface="Roboto Medium"/>
                <a:cs typeface="Roboto Medium"/>
              </a:rPr>
              <a:t> </a:t>
            </a:r>
            <a:r>
              <a:rPr dirty="0" sz="1500" spc="-120" b="0">
                <a:latin typeface="Roboto Medium"/>
                <a:cs typeface="Roboto Medium"/>
              </a:rPr>
              <a:t>AGC</a:t>
            </a:r>
            <a:r>
              <a:rPr dirty="0" sz="1500" b="0">
                <a:latin typeface="Roboto Medium"/>
                <a:cs typeface="Roboto Medium"/>
              </a:rPr>
              <a:t> </a:t>
            </a:r>
            <a:r>
              <a:rPr dirty="0" sz="1500" spc="-10" b="0">
                <a:latin typeface="Roboto Medium"/>
                <a:cs typeface="Roboto Medium"/>
              </a:rPr>
              <a:t>Framework</a:t>
            </a:r>
            <a:endParaRPr sz="1500">
              <a:latin typeface="Roboto Medium"/>
              <a:cs typeface="Roboto Medium"/>
            </a:endParaRPr>
          </a:p>
          <a:p>
            <a:pPr marL="12700" marR="5080">
              <a:lnSpc>
                <a:spcPct val="115399"/>
              </a:lnSpc>
              <a:spcBef>
                <a:spcPts val="35"/>
              </a:spcBef>
            </a:pP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Develop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comprehensive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integrated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wind-solar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power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77924" y="2777850"/>
            <a:ext cx="23679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 b="0">
                <a:latin typeface="Roboto Medium"/>
                <a:cs typeface="Roboto Medium"/>
              </a:rPr>
              <a:t>Advanced</a:t>
            </a:r>
            <a:r>
              <a:rPr dirty="0" sz="1500" b="0">
                <a:latin typeface="Roboto Medium"/>
                <a:cs typeface="Roboto Medium"/>
              </a:rPr>
              <a:t> </a:t>
            </a:r>
            <a:r>
              <a:rPr dirty="0" sz="1500" spc="-80" b="0">
                <a:latin typeface="Roboto Medium"/>
                <a:cs typeface="Roboto Medium"/>
              </a:rPr>
              <a:t>Prediction</a:t>
            </a:r>
            <a:r>
              <a:rPr dirty="0" sz="1500" spc="5" b="0">
                <a:latin typeface="Roboto Medium"/>
                <a:cs typeface="Roboto Medium"/>
              </a:rPr>
              <a:t> </a:t>
            </a:r>
            <a:r>
              <a:rPr dirty="0" sz="1500" spc="-105" b="0">
                <a:latin typeface="Roboto Medium"/>
                <a:cs typeface="Roboto Medium"/>
              </a:rPr>
              <a:t>&amp;</a:t>
            </a:r>
            <a:r>
              <a:rPr dirty="0" sz="1500" spc="5" b="0">
                <a:latin typeface="Roboto Medium"/>
                <a:cs typeface="Roboto Medium"/>
              </a:rPr>
              <a:t> </a:t>
            </a:r>
            <a:r>
              <a:rPr dirty="0" sz="1500" spc="-65" b="0">
                <a:latin typeface="Roboto Medium"/>
                <a:cs typeface="Roboto Medium"/>
              </a:rPr>
              <a:t>Control</a:t>
            </a:r>
            <a:endParaRPr sz="1500">
              <a:latin typeface="Roboto Medium"/>
              <a:cs typeface="Roboto Medium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77924" y="3037204"/>
            <a:ext cx="475107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Combine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ensemble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74050"/>
                </a:solidFill>
                <a:latin typeface="Roboto"/>
                <a:cs typeface="Roboto"/>
              </a:rPr>
              <a:t>ML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prediction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metaheuristic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PID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optimization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77924" y="3391315"/>
            <a:ext cx="4466590" cy="75120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500" spc="-65" b="0">
                <a:latin typeface="Roboto Medium"/>
                <a:cs typeface="Roboto Medium"/>
              </a:rPr>
              <a:t>Virtual</a:t>
            </a:r>
            <a:r>
              <a:rPr dirty="0" sz="1500" spc="-30" b="0">
                <a:latin typeface="Roboto Medium"/>
                <a:cs typeface="Roboto Medium"/>
              </a:rPr>
              <a:t> </a:t>
            </a:r>
            <a:r>
              <a:rPr dirty="0" sz="1500" spc="-10" b="0">
                <a:latin typeface="Roboto Medium"/>
                <a:cs typeface="Roboto Medium"/>
              </a:rPr>
              <a:t>Inertia</a:t>
            </a:r>
            <a:endParaRPr sz="1500">
              <a:latin typeface="Roboto Medium"/>
              <a:cs typeface="Roboto Medium"/>
            </a:endParaRPr>
          </a:p>
          <a:p>
            <a:pPr marL="12700" marR="5080">
              <a:lnSpc>
                <a:spcPct val="115399"/>
              </a:lnSpc>
              <a:spcBef>
                <a:spcPts val="3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Implement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virtual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inertia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frequency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stabilization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low-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inertia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235699" y="1342707"/>
            <a:ext cx="18592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35" b="1">
                <a:solidFill>
                  <a:srgbClr val="1D40AF"/>
                </a:solidFill>
                <a:latin typeface="Roboto"/>
                <a:cs typeface="Roboto"/>
              </a:rPr>
              <a:t>Key</a:t>
            </a:r>
            <a:r>
              <a:rPr dirty="0" sz="2000" spc="-4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2000" spc="-95" b="1">
                <a:solidFill>
                  <a:srgbClr val="1D40AF"/>
                </a:solidFill>
                <a:latin typeface="Roboto"/>
                <a:cs typeface="Roboto"/>
              </a:rPr>
              <a:t>Contributions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718349" y="3088258"/>
            <a:ext cx="73342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7625" marR="5080" indent="-35560">
              <a:lnSpc>
                <a:spcPct val="115399"/>
              </a:lnSpc>
              <a:spcBef>
                <a:spcPts val="90"/>
              </a:spcBef>
            </a:pPr>
            <a:r>
              <a:rPr dirty="0" sz="1300" spc="-65" b="0">
                <a:latin typeface="Roboto Medium"/>
                <a:cs typeface="Roboto Medium"/>
              </a:rPr>
              <a:t>Frequency </a:t>
            </a:r>
            <a:r>
              <a:rPr dirty="0" sz="1300" spc="-30" b="0">
                <a:latin typeface="Roboto Medium"/>
                <a:cs typeface="Roboto Medium"/>
              </a:rPr>
              <a:t>Deviation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8077198" y="1914524"/>
            <a:ext cx="1666875" cy="1828800"/>
          </a:xfrm>
          <a:custGeom>
            <a:avLst/>
            <a:gdLst/>
            <a:ahLst/>
            <a:cxnLst/>
            <a:rect l="l" t="t" r="r" b="b"/>
            <a:pathLst>
              <a:path w="1666875" h="1828800">
                <a:moveTo>
                  <a:pt x="1595678" y="1828799"/>
                </a:moveTo>
                <a:lnTo>
                  <a:pt x="71196" y="1828799"/>
                </a:lnTo>
                <a:lnTo>
                  <a:pt x="66241" y="1828311"/>
                </a:lnTo>
                <a:lnTo>
                  <a:pt x="29703" y="1813177"/>
                </a:lnTo>
                <a:lnTo>
                  <a:pt x="3885" y="1777137"/>
                </a:lnTo>
                <a:lnTo>
                  <a:pt x="0" y="1757603"/>
                </a:lnTo>
                <a:lnTo>
                  <a:pt x="0" y="1752599"/>
                </a:lnTo>
                <a:lnTo>
                  <a:pt x="0" y="71196"/>
                </a:lnTo>
                <a:lnTo>
                  <a:pt x="15620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595678" y="0"/>
                </a:lnTo>
                <a:lnTo>
                  <a:pt x="1637169" y="15621"/>
                </a:lnTo>
                <a:lnTo>
                  <a:pt x="1662988" y="51661"/>
                </a:lnTo>
                <a:lnTo>
                  <a:pt x="1666874" y="71196"/>
                </a:lnTo>
                <a:lnTo>
                  <a:pt x="1666874" y="1757603"/>
                </a:lnTo>
                <a:lnTo>
                  <a:pt x="1651252" y="1799093"/>
                </a:lnTo>
                <a:lnTo>
                  <a:pt x="1615212" y="1824913"/>
                </a:lnTo>
                <a:lnTo>
                  <a:pt x="1600632" y="1828311"/>
                </a:lnTo>
                <a:lnTo>
                  <a:pt x="1595678" y="18287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8406209" y="3113404"/>
            <a:ext cx="100901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 b="0">
                <a:latin typeface="Roboto Medium"/>
                <a:cs typeface="Roboto Medium"/>
              </a:rPr>
              <a:t>Settling</a:t>
            </a:r>
            <a:r>
              <a:rPr dirty="0" sz="1300" spc="-25" b="0">
                <a:latin typeface="Roboto Medium"/>
                <a:cs typeface="Roboto Medium"/>
              </a:rPr>
              <a:t> </a:t>
            </a:r>
            <a:r>
              <a:rPr dirty="0" sz="1300" spc="-55" b="0">
                <a:latin typeface="Roboto Medium"/>
                <a:cs typeface="Roboto Medium"/>
              </a:rPr>
              <a:t>Times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9896474" y="1914524"/>
            <a:ext cx="1676400" cy="1828800"/>
          </a:xfrm>
          <a:custGeom>
            <a:avLst/>
            <a:gdLst/>
            <a:ahLst/>
            <a:cxnLst/>
            <a:rect l="l" t="t" r="r" b="b"/>
            <a:pathLst>
              <a:path w="1676400" h="1828800">
                <a:moveTo>
                  <a:pt x="1605203" y="1828799"/>
                </a:moveTo>
                <a:lnTo>
                  <a:pt x="71196" y="1828799"/>
                </a:lnTo>
                <a:lnTo>
                  <a:pt x="66241" y="1828311"/>
                </a:lnTo>
                <a:lnTo>
                  <a:pt x="29705" y="1813177"/>
                </a:lnTo>
                <a:lnTo>
                  <a:pt x="3884" y="1777137"/>
                </a:lnTo>
                <a:lnTo>
                  <a:pt x="0" y="1757603"/>
                </a:lnTo>
                <a:lnTo>
                  <a:pt x="0" y="17525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605203" y="0"/>
                </a:lnTo>
                <a:lnTo>
                  <a:pt x="1646693" y="15621"/>
                </a:lnTo>
                <a:lnTo>
                  <a:pt x="1672512" y="51661"/>
                </a:lnTo>
                <a:lnTo>
                  <a:pt x="1676399" y="71196"/>
                </a:lnTo>
                <a:lnTo>
                  <a:pt x="1676399" y="1757603"/>
                </a:lnTo>
                <a:lnTo>
                  <a:pt x="1660776" y="1799093"/>
                </a:lnTo>
                <a:lnTo>
                  <a:pt x="1624735" y="1824913"/>
                </a:lnTo>
                <a:lnTo>
                  <a:pt x="1610158" y="1828311"/>
                </a:lnTo>
                <a:lnTo>
                  <a:pt x="1605203" y="18287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0224590" y="3088258"/>
            <a:ext cx="1023619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69545" marR="5080" indent="-157480">
              <a:lnSpc>
                <a:spcPct val="115399"/>
              </a:lnSpc>
              <a:spcBef>
                <a:spcPts val="90"/>
              </a:spcBef>
            </a:pPr>
            <a:r>
              <a:rPr dirty="0" sz="1300" spc="-55" b="0">
                <a:latin typeface="Roboto Medium"/>
                <a:cs typeface="Roboto Medium"/>
              </a:rPr>
              <a:t>Multi-</a:t>
            </a:r>
            <a:r>
              <a:rPr dirty="0" sz="1300" spc="-60" b="0">
                <a:latin typeface="Roboto Medium"/>
                <a:cs typeface="Roboto Medium"/>
              </a:rPr>
              <a:t>Scenario </a:t>
            </a:r>
            <a:r>
              <a:rPr dirty="0" sz="1300" spc="-10" b="0">
                <a:latin typeface="Roboto Medium"/>
                <a:cs typeface="Roboto Medium"/>
              </a:rPr>
              <a:t>Validation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388099" y="4111350"/>
            <a:ext cx="193928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0">
                <a:latin typeface="Roboto Medium"/>
                <a:cs typeface="Roboto Medium"/>
              </a:rPr>
              <a:t>Additional</a:t>
            </a:r>
            <a:r>
              <a:rPr dirty="0" sz="1500" spc="-35" b="0">
                <a:latin typeface="Roboto Medium"/>
                <a:cs typeface="Roboto Medium"/>
              </a:rPr>
              <a:t> </a:t>
            </a:r>
            <a:r>
              <a:rPr dirty="0" sz="1500" spc="-80" b="0">
                <a:latin typeface="Roboto Medium"/>
                <a:cs typeface="Roboto Medium"/>
              </a:rPr>
              <a:t>Achievements</a:t>
            </a:r>
            <a:endParaRPr sz="1500">
              <a:latin typeface="Roboto Medium"/>
              <a:cs typeface="Roboto Medium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6399847" y="2066924"/>
            <a:ext cx="2725420" cy="2934335"/>
            <a:chOff x="6399847" y="2066924"/>
            <a:chExt cx="2725420" cy="2934335"/>
          </a:xfrm>
        </p:grpSpPr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99847" y="4514849"/>
              <a:ext cx="116204" cy="134272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71597" y="4514849"/>
              <a:ext cx="116204" cy="13427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5532" y="4848224"/>
              <a:ext cx="142934" cy="15216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72281" y="4847956"/>
              <a:ext cx="152935" cy="15293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610349" y="2066924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476249" y="952499"/>
                  </a:moveTo>
                  <a:lnTo>
                    <a:pt x="429569" y="950206"/>
                  </a:lnTo>
                  <a:lnTo>
                    <a:pt x="383337" y="943348"/>
                  </a:lnTo>
                  <a:lnTo>
                    <a:pt x="338002" y="931992"/>
                  </a:lnTo>
                  <a:lnTo>
                    <a:pt x="293995" y="916246"/>
                  </a:lnTo>
                  <a:lnTo>
                    <a:pt x="251745" y="896264"/>
                  </a:lnTo>
                  <a:lnTo>
                    <a:pt x="211657" y="872236"/>
                  </a:lnTo>
                  <a:lnTo>
                    <a:pt x="174119" y="844396"/>
                  </a:lnTo>
                  <a:lnTo>
                    <a:pt x="139489" y="813009"/>
                  </a:lnTo>
                  <a:lnTo>
                    <a:pt x="108102" y="778379"/>
                  </a:lnTo>
                  <a:lnTo>
                    <a:pt x="80261" y="740839"/>
                  </a:lnTo>
                  <a:lnTo>
                    <a:pt x="56234" y="700752"/>
                  </a:lnTo>
                  <a:lnTo>
                    <a:pt x="36251" y="658502"/>
                  </a:lnTo>
                  <a:lnTo>
                    <a:pt x="20506" y="614497"/>
                  </a:lnTo>
                  <a:lnTo>
                    <a:pt x="9150" y="569161"/>
                  </a:lnTo>
                  <a:lnTo>
                    <a:pt x="2292" y="522930"/>
                  </a:lnTo>
                  <a:lnTo>
                    <a:pt x="0" y="476249"/>
                  </a:lnTo>
                  <a:lnTo>
                    <a:pt x="143" y="464558"/>
                  </a:lnTo>
                  <a:lnTo>
                    <a:pt x="3581" y="417948"/>
                  </a:lnTo>
                  <a:lnTo>
                    <a:pt x="11571" y="371899"/>
                  </a:lnTo>
                  <a:lnTo>
                    <a:pt x="24037" y="326855"/>
                  </a:lnTo>
                  <a:lnTo>
                    <a:pt x="40857" y="283250"/>
                  </a:lnTo>
                  <a:lnTo>
                    <a:pt x="61871" y="241503"/>
                  </a:lnTo>
                  <a:lnTo>
                    <a:pt x="86875" y="202018"/>
                  </a:lnTo>
                  <a:lnTo>
                    <a:pt x="115630" y="165173"/>
                  </a:lnTo>
                  <a:lnTo>
                    <a:pt x="147858" y="131324"/>
                  </a:lnTo>
                  <a:lnTo>
                    <a:pt x="183247" y="100797"/>
                  </a:lnTo>
                  <a:lnTo>
                    <a:pt x="221459" y="73886"/>
                  </a:lnTo>
                  <a:lnTo>
                    <a:pt x="262124" y="50850"/>
                  </a:lnTo>
                  <a:lnTo>
                    <a:pt x="304852" y="31910"/>
                  </a:lnTo>
                  <a:lnTo>
                    <a:pt x="349231" y="17250"/>
                  </a:lnTo>
                  <a:lnTo>
                    <a:pt x="394832" y="7010"/>
                  </a:lnTo>
                  <a:lnTo>
                    <a:pt x="441218" y="1290"/>
                  </a:lnTo>
                  <a:lnTo>
                    <a:pt x="476249" y="0"/>
                  </a:lnTo>
                  <a:lnTo>
                    <a:pt x="487941" y="143"/>
                  </a:lnTo>
                  <a:lnTo>
                    <a:pt x="534551" y="3582"/>
                  </a:lnTo>
                  <a:lnTo>
                    <a:pt x="580600" y="11572"/>
                  </a:lnTo>
                  <a:lnTo>
                    <a:pt x="625643" y="24038"/>
                  </a:lnTo>
                  <a:lnTo>
                    <a:pt x="669248" y="40858"/>
                  </a:lnTo>
                  <a:lnTo>
                    <a:pt x="710995" y="61872"/>
                  </a:lnTo>
                  <a:lnTo>
                    <a:pt x="750480" y="86877"/>
                  </a:lnTo>
                  <a:lnTo>
                    <a:pt x="787325" y="115631"/>
                  </a:lnTo>
                  <a:lnTo>
                    <a:pt x="821174" y="147858"/>
                  </a:lnTo>
                  <a:lnTo>
                    <a:pt x="851701" y="183248"/>
                  </a:lnTo>
                  <a:lnTo>
                    <a:pt x="878612" y="221459"/>
                  </a:lnTo>
                  <a:lnTo>
                    <a:pt x="901649" y="262125"/>
                  </a:lnTo>
                  <a:lnTo>
                    <a:pt x="920587" y="304852"/>
                  </a:lnTo>
                  <a:lnTo>
                    <a:pt x="935248" y="349231"/>
                  </a:lnTo>
                  <a:lnTo>
                    <a:pt x="945488" y="394832"/>
                  </a:lnTo>
                  <a:lnTo>
                    <a:pt x="951210" y="441218"/>
                  </a:lnTo>
                  <a:lnTo>
                    <a:pt x="952499" y="476249"/>
                  </a:lnTo>
                  <a:lnTo>
                    <a:pt x="952356" y="487941"/>
                  </a:lnTo>
                  <a:lnTo>
                    <a:pt x="948918" y="534551"/>
                  </a:lnTo>
                  <a:lnTo>
                    <a:pt x="940926" y="580600"/>
                  </a:lnTo>
                  <a:lnTo>
                    <a:pt x="928461" y="625644"/>
                  </a:lnTo>
                  <a:lnTo>
                    <a:pt x="911639" y="669249"/>
                  </a:lnTo>
                  <a:lnTo>
                    <a:pt x="890626" y="710995"/>
                  </a:lnTo>
                  <a:lnTo>
                    <a:pt x="865621" y="750481"/>
                  </a:lnTo>
                  <a:lnTo>
                    <a:pt x="836867" y="787326"/>
                  </a:lnTo>
                  <a:lnTo>
                    <a:pt x="804640" y="821175"/>
                  </a:lnTo>
                  <a:lnTo>
                    <a:pt x="769250" y="851702"/>
                  </a:lnTo>
                  <a:lnTo>
                    <a:pt x="731038" y="878613"/>
                  </a:lnTo>
                  <a:lnTo>
                    <a:pt x="690373" y="901649"/>
                  </a:lnTo>
                  <a:lnTo>
                    <a:pt x="647646" y="920588"/>
                  </a:lnTo>
                  <a:lnTo>
                    <a:pt x="603268" y="935248"/>
                  </a:lnTo>
                  <a:lnTo>
                    <a:pt x="557667" y="945488"/>
                  </a:lnTo>
                  <a:lnTo>
                    <a:pt x="511282" y="951209"/>
                  </a:lnTo>
                  <a:lnTo>
                    <a:pt x="476249" y="9524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6578600" y="4446904"/>
            <a:ext cx="10655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>
                <a:latin typeface="Roboto"/>
                <a:cs typeface="Roboto"/>
              </a:rPr>
              <a:t>29%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lower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ITAE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9145587" y="4446904"/>
            <a:ext cx="16465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>
                <a:latin typeface="Roboto"/>
                <a:cs typeface="Roboto"/>
              </a:rPr>
              <a:t>27%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lower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control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effort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616700" y="4789804"/>
            <a:ext cx="14890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latin typeface="Roboto"/>
                <a:cs typeface="Roboto"/>
              </a:rPr>
              <a:t>Enhanced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robustness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9183687" y="4789804"/>
            <a:ext cx="20167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latin typeface="Roboto"/>
                <a:cs typeface="Roboto"/>
              </a:rPr>
              <a:t>Higher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renewable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penetration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773564" y="2264680"/>
            <a:ext cx="622935" cy="4832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280"/>
              </a:lnSpc>
              <a:spcBef>
                <a:spcPts val="90"/>
              </a:spcBef>
            </a:pPr>
            <a:r>
              <a:rPr dirty="0" sz="1950" spc="-25" b="1">
                <a:solidFill>
                  <a:srgbClr val="2562EB"/>
                </a:solidFill>
                <a:latin typeface="Gill Sans Nova"/>
                <a:cs typeface="Gill Sans Nova"/>
              </a:rPr>
              <a:t>32%</a:t>
            </a:r>
            <a:endParaRPr sz="1950">
              <a:latin typeface="Gill Sans Nova"/>
              <a:cs typeface="Gill Sans Nova"/>
            </a:endParaRPr>
          </a:p>
          <a:p>
            <a:pPr algn="ctr">
              <a:lnSpc>
                <a:spcPts val="1325"/>
              </a:lnSpc>
            </a:pPr>
            <a:r>
              <a:rPr dirty="0" sz="1150" spc="-40">
                <a:solidFill>
                  <a:srgbClr val="2562EB"/>
                </a:solidFill>
                <a:latin typeface="Roboto"/>
                <a:cs typeface="Roboto"/>
              </a:rPr>
              <a:t>Reduction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8429624" y="2066924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49" y="952499"/>
                </a:moveTo>
                <a:lnTo>
                  <a:pt x="429568" y="950206"/>
                </a:lnTo>
                <a:lnTo>
                  <a:pt x="383337" y="943348"/>
                </a:lnTo>
                <a:lnTo>
                  <a:pt x="338000" y="931992"/>
                </a:lnTo>
                <a:lnTo>
                  <a:pt x="293995" y="916246"/>
                </a:lnTo>
                <a:lnTo>
                  <a:pt x="251746" y="896264"/>
                </a:lnTo>
                <a:lnTo>
                  <a:pt x="211659" y="872236"/>
                </a:lnTo>
                <a:lnTo>
                  <a:pt x="174120" y="844396"/>
                </a:lnTo>
                <a:lnTo>
                  <a:pt x="139490" y="813009"/>
                </a:lnTo>
                <a:lnTo>
                  <a:pt x="108104" y="778379"/>
                </a:lnTo>
                <a:lnTo>
                  <a:pt x="80261" y="740839"/>
                </a:lnTo>
                <a:lnTo>
                  <a:pt x="56234" y="700752"/>
                </a:lnTo>
                <a:lnTo>
                  <a:pt x="36251" y="658502"/>
                </a:lnTo>
                <a:lnTo>
                  <a:pt x="20506" y="614497"/>
                </a:lnTo>
                <a:lnTo>
                  <a:pt x="9150" y="569161"/>
                </a:lnTo>
                <a:lnTo>
                  <a:pt x="2293" y="522930"/>
                </a:lnTo>
                <a:lnTo>
                  <a:pt x="0" y="476249"/>
                </a:lnTo>
                <a:lnTo>
                  <a:pt x="143" y="464558"/>
                </a:lnTo>
                <a:lnTo>
                  <a:pt x="3581" y="417948"/>
                </a:lnTo>
                <a:lnTo>
                  <a:pt x="11571" y="371899"/>
                </a:lnTo>
                <a:lnTo>
                  <a:pt x="24037" y="326855"/>
                </a:lnTo>
                <a:lnTo>
                  <a:pt x="40858" y="283250"/>
                </a:lnTo>
                <a:lnTo>
                  <a:pt x="61872" y="241503"/>
                </a:lnTo>
                <a:lnTo>
                  <a:pt x="86876" y="202018"/>
                </a:lnTo>
                <a:lnTo>
                  <a:pt x="115632" y="165173"/>
                </a:lnTo>
                <a:lnTo>
                  <a:pt x="147858" y="131324"/>
                </a:lnTo>
                <a:lnTo>
                  <a:pt x="183248" y="100797"/>
                </a:lnTo>
                <a:lnTo>
                  <a:pt x="221460" y="73886"/>
                </a:lnTo>
                <a:lnTo>
                  <a:pt x="262125" y="50850"/>
                </a:lnTo>
                <a:lnTo>
                  <a:pt x="304852" y="31910"/>
                </a:lnTo>
                <a:lnTo>
                  <a:pt x="349231" y="17250"/>
                </a:lnTo>
                <a:lnTo>
                  <a:pt x="394831" y="7010"/>
                </a:lnTo>
                <a:lnTo>
                  <a:pt x="441218" y="1290"/>
                </a:lnTo>
                <a:lnTo>
                  <a:pt x="476249" y="0"/>
                </a:lnTo>
                <a:lnTo>
                  <a:pt x="487941" y="143"/>
                </a:lnTo>
                <a:lnTo>
                  <a:pt x="534551" y="3582"/>
                </a:lnTo>
                <a:lnTo>
                  <a:pt x="580600" y="11572"/>
                </a:lnTo>
                <a:lnTo>
                  <a:pt x="625644" y="24038"/>
                </a:lnTo>
                <a:lnTo>
                  <a:pt x="669248" y="40858"/>
                </a:lnTo>
                <a:lnTo>
                  <a:pt x="710995" y="61872"/>
                </a:lnTo>
                <a:lnTo>
                  <a:pt x="750481" y="86877"/>
                </a:lnTo>
                <a:lnTo>
                  <a:pt x="787326" y="115631"/>
                </a:lnTo>
                <a:lnTo>
                  <a:pt x="821175" y="147858"/>
                </a:lnTo>
                <a:lnTo>
                  <a:pt x="851702" y="183248"/>
                </a:lnTo>
                <a:lnTo>
                  <a:pt x="878613" y="221459"/>
                </a:lnTo>
                <a:lnTo>
                  <a:pt x="901649" y="262125"/>
                </a:lnTo>
                <a:lnTo>
                  <a:pt x="920588" y="304852"/>
                </a:lnTo>
                <a:lnTo>
                  <a:pt x="935248" y="349231"/>
                </a:lnTo>
                <a:lnTo>
                  <a:pt x="945488" y="394832"/>
                </a:lnTo>
                <a:lnTo>
                  <a:pt x="951210" y="441218"/>
                </a:lnTo>
                <a:lnTo>
                  <a:pt x="952499" y="476249"/>
                </a:lnTo>
                <a:lnTo>
                  <a:pt x="952356" y="487941"/>
                </a:lnTo>
                <a:lnTo>
                  <a:pt x="948918" y="534551"/>
                </a:lnTo>
                <a:lnTo>
                  <a:pt x="940926" y="580600"/>
                </a:lnTo>
                <a:lnTo>
                  <a:pt x="928461" y="625644"/>
                </a:lnTo>
                <a:lnTo>
                  <a:pt x="911640" y="669249"/>
                </a:lnTo>
                <a:lnTo>
                  <a:pt x="890627" y="710995"/>
                </a:lnTo>
                <a:lnTo>
                  <a:pt x="865622" y="750481"/>
                </a:lnTo>
                <a:lnTo>
                  <a:pt x="836868" y="787326"/>
                </a:lnTo>
                <a:lnTo>
                  <a:pt x="804641" y="821175"/>
                </a:lnTo>
                <a:lnTo>
                  <a:pt x="769251" y="851702"/>
                </a:lnTo>
                <a:lnTo>
                  <a:pt x="731039" y="878613"/>
                </a:lnTo>
                <a:lnTo>
                  <a:pt x="690373" y="901649"/>
                </a:lnTo>
                <a:lnTo>
                  <a:pt x="647646" y="920588"/>
                </a:lnTo>
                <a:lnTo>
                  <a:pt x="603268" y="935248"/>
                </a:lnTo>
                <a:lnTo>
                  <a:pt x="557666" y="945488"/>
                </a:lnTo>
                <a:lnTo>
                  <a:pt x="511281" y="951209"/>
                </a:lnTo>
                <a:lnTo>
                  <a:pt x="476249" y="952499"/>
                </a:lnTo>
                <a:close/>
              </a:path>
            </a:pathLst>
          </a:custGeom>
          <a:solidFill>
            <a:srgbClr val="D0FA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8682136" y="2264680"/>
            <a:ext cx="457200" cy="481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305"/>
              </a:lnSpc>
              <a:spcBef>
                <a:spcPts val="90"/>
              </a:spcBef>
            </a:pPr>
            <a:r>
              <a:rPr dirty="0" sz="1950" spc="-70" b="1">
                <a:solidFill>
                  <a:srgbClr val="049569"/>
                </a:solidFill>
                <a:latin typeface="Gill Sans Nova"/>
                <a:cs typeface="Gill Sans Nova"/>
              </a:rPr>
              <a:t>45%</a:t>
            </a:r>
            <a:endParaRPr sz="1950">
              <a:latin typeface="Gill Sans Nova"/>
              <a:cs typeface="Gill Sans Nova"/>
            </a:endParaRPr>
          </a:p>
          <a:p>
            <a:pPr marL="41910">
              <a:lnSpc>
                <a:spcPts val="1290"/>
              </a:lnSpc>
            </a:pPr>
            <a:r>
              <a:rPr dirty="0" sz="1100" spc="-10">
                <a:solidFill>
                  <a:srgbClr val="049569"/>
                </a:solidFill>
                <a:latin typeface="Roboto"/>
                <a:cs typeface="Roboto"/>
              </a:rPr>
              <a:t>Faster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0258424" y="2066924"/>
            <a:ext cx="1743075" cy="4600575"/>
            <a:chOff x="10258424" y="2066924"/>
            <a:chExt cx="1743075" cy="4600575"/>
          </a:xfrm>
        </p:grpSpPr>
        <p:sp>
          <p:nvSpPr>
            <p:cNvPr id="43" name="object 43" descr=""/>
            <p:cNvSpPr/>
            <p:nvPr/>
          </p:nvSpPr>
          <p:spPr>
            <a:xfrm>
              <a:off x="10258424" y="2066924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476249" y="952499"/>
                  </a:moveTo>
                  <a:lnTo>
                    <a:pt x="429569" y="950206"/>
                  </a:lnTo>
                  <a:lnTo>
                    <a:pt x="383337" y="943348"/>
                  </a:lnTo>
                  <a:lnTo>
                    <a:pt x="338001" y="931992"/>
                  </a:lnTo>
                  <a:lnTo>
                    <a:pt x="293994" y="916246"/>
                  </a:lnTo>
                  <a:lnTo>
                    <a:pt x="251746" y="896264"/>
                  </a:lnTo>
                  <a:lnTo>
                    <a:pt x="211656" y="872236"/>
                  </a:lnTo>
                  <a:lnTo>
                    <a:pt x="174118" y="844396"/>
                  </a:lnTo>
                  <a:lnTo>
                    <a:pt x="139489" y="813009"/>
                  </a:lnTo>
                  <a:lnTo>
                    <a:pt x="108102" y="778379"/>
                  </a:lnTo>
                  <a:lnTo>
                    <a:pt x="80261" y="740839"/>
                  </a:lnTo>
                  <a:lnTo>
                    <a:pt x="56232" y="700752"/>
                  </a:lnTo>
                  <a:lnTo>
                    <a:pt x="36250" y="658502"/>
                  </a:lnTo>
                  <a:lnTo>
                    <a:pt x="20505" y="614497"/>
                  </a:lnTo>
                  <a:lnTo>
                    <a:pt x="9149" y="569161"/>
                  </a:lnTo>
                  <a:lnTo>
                    <a:pt x="2292" y="522930"/>
                  </a:lnTo>
                  <a:lnTo>
                    <a:pt x="0" y="476249"/>
                  </a:lnTo>
                  <a:lnTo>
                    <a:pt x="143" y="464558"/>
                  </a:lnTo>
                  <a:lnTo>
                    <a:pt x="3581" y="417948"/>
                  </a:lnTo>
                  <a:lnTo>
                    <a:pt x="11570" y="371899"/>
                  </a:lnTo>
                  <a:lnTo>
                    <a:pt x="24036" y="326855"/>
                  </a:lnTo>
                  <a:lnTo>
                    <a:pt x="40856" y="283250"/>
                  </a:lnTo>
                  <a:lnTo>
                    <a:pt x="61871" y="241503"/>
                  </a:lnTo>
                  <a:lnTo>
                    <a:pt x="86876" y="202018"/>
                  </a:lnTo>
                  <a:lnTo>
                    <a:pt x="115630" y="165173"/>
                  </a:lnTo>
                  <a:lnTo>
                    <a:pt x="147858" y="131324"/>
                  </a:lnTo>
                  <a:lnTo>
                    <a:pt x="183247" y="100797"/>
                  </a:lnTo>
                  <a:lnTo>
                    <a:pt x="221458" y="73886"/>
                  </a:lnTo>
                  <a:lnTo>
                    <a:pt x="262124" y="50850"/>
                  </a:lnTo>
                  <a:lnTo>
                    <a:pt x="304851" y="31910"/>
                  </a:lnTo>
                  <a:lnTo>
                    <a:pt x="349230" y="17250"/>
                  </a:lnTo>
                  <a:lnTo>
                    <a:pt x="394831" y="7010"/>
                  </a:lnTo>
                  <a:lnTo>
                    <a:pt x="441218" y="1290"/>
                  </a:lnTo>
                  <a:lnTo>
                    <a:pt x="476249" y="0"/>
                  </a:lnTo>
                  <a:lnTo>
                    <a:pt x="487941" y="143"/>
                  </a:lnTo>
                  <a:lnTo>
                    <a:pt x="534550" y="3582"/>
                  </a:lnTo>
                  <a:lnTo>
                    <a:pt x="580599" y="11572"/>
                  </a:lnTo>
                  <a:lnTo>
                    <a:pt x="625642" y="24038"/>
                  </a:lnTo>
                  <a:lnTo>
                    <a:pt x="669248" y="40858"/>
                  </a:lnTo>
                  <a:lnTo>
                    <a:pt x="710995" y="61872"/>
                  </a:lnTo>
                  <a:lnTo>
                    <a:pt x="750480" y="86877"/>
                  </a:lnTo>
                  <a:lnTo>
                    <a:pt x="787325" y="115631"/>
                  </a:lnTo>
                  <a:lnTo>
                    <a:pt x="821173" y="147858"/>
                  </a:lnTo>
                  <a:lnTo>
                    <a:pt x="851701" y="183248"/>
                  </a:lnTo>
                  <a:lnTo>
                    <a:pt x="878612" y="221459"/>
                  </a:lnTo>
                  <a:lnTo>
                    <a:pt x="901649" y="262125"/>
                  </a:lnTo>
                  <a:lnTo>
                    <a:pt x="920588" y="304852"/>
                  </a:lnTo>
                  <a:lnTo>
                    <a:pt x="935249" y="349231"/>
                  </a:lnTo>
                  <a:lnTo>
                    <a:pt x="945488" y="394832"/>
                  </a:lnTo>
                  <a:lnTo>
                    <a:pt x="951210" y="441218"/>
                  </a:lnTo>
                  <a:lnTo>
                    <a:pt x="952499" y="476249"/>
                  </a:lnTo>
                  <a:lnTo>
                    <a:pt x="952357" y="487941"/>
                  </a:lnTo>
                  <a:lnTo>
                    <a:pt x="948918" y="534551"/>
                  </a:lnTo>
                  <a:lnTo>
                    <a:pt x="940926" y="580600"/>
                  </a:lnTo>
                  <a:lnTo>
                    <a:pt x="928461" y="625644"/>
                  </a:lnTo>
                  <a:lnTo>
                    <a:pt x="911639" y="669249"/>
                  </a:lnTo>
                  <a:lnTo>
                    <a:pt x="890627" y="710995"/>
                  </a:lnTo>
                  <a:lnTo>
                    <a:pt x="865621" y="750481"/>
                  </a:lnTo>
                  <a:lnTo>
                    <a:pt x="836866" y="787326"/>
                  </a:lnTo>
                  <a:lnTo>
                    <a:pt x="804640" y="821175"/>
                  </a:lnTo>
                  <a:lnTo>
                    <a:pt x="769250" y="851702"/>
                  </a:lnTo>
                  <a:lnTo>
                    <a:pt x="731039" y="878613"/>
                  </a:lnTo>
                  <a:lnTo>
                    <a:pt x="690373" y="901649"/>
                  </a:lnTo>
                  <a:lnTo>
                    <a:pt x="647645" y="920588"/>
                  </a:lnTo>
                  <a:lnTo>
                    <a:pt x="603266" y="935248"/>
                  </a:lnTo>
                  <a:lnTo>
                    <a:pt x="557666" y="945488"/>
                  </a:lnTo>
                  <a:lnTo>
                    <a:pt x="511280" y="951209"/>
                  </a:lnTo>
                  <a:lnTo>
                    <a:pt x="476249" y="9524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506101" y="23145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59" y="457200"/>
                  </a:moveTo>
                  <a:lnTo>
                    <a:pt x="221085" y="457200"/>
                  </a:lnTo>
                  <a:lnTo>
                    <a:pt x="213617" y="456833"/>
                  </a:lnTo>
                  <a:lnTo>
                    <a:pt x="169378" y="449529"/>
                  </a:lnTo>
                  <a:lnTo>
                    <a:pt x="127414" y="433736"/>
                  </a:lnTo>
                  <a:lnTo>
                    <a:pt x="89338" y="410059"/>
                  </a:lnTo>
                  <a:lnTo>
                    <a:pt x="56612" y="379409"/>
                  </a:lnTo>
                  <a:lnTo>
                    <a:pt x="30495" y="342964"/>
                  </a:lnTo>
                  <a:lnTo>
                    <a:pt x="11989" y="302123"/>
                  </a:lnTo>
                  <a:lnTo>
                    <a:pt x="1807" y="258457"/>
                  </a:lnTo>
                  <a:lnTo>
                    <a:pt x="0" y="220561"/>
                  </a:lnTo>
                  <a:lnTo>
                    <a:pt x="339" y="213644"/>
                  </a:lnTo>
                  <a:lnTo>
                    <a:pt x="7643" y="169405"/>
                  </a:lnTo>
                  <a:lnTo>
                    <a:pt x="23436" y="127441"/>
                  </a:lnTo>
                  <a:lnTo>
                    <a:pt x="47113" y="89365"/>
                  </a:lnTo>
                  <a:lnTo>
                    <a:pt x="77763" y="56639"/>
                  </a:lnTo>
                  <a:lnTo>
                    <a:pt x="114208" y="30522"/>
                  </a:lnTo>
                  <a:lnTo>
                    <a:pt x="155049" y="12016"/>
                  </a:lnTo>
                  <a:lnTo>
                    <a:pt x="198715" y="1834"/>
                  </a:lnTo>
                  <a:lnTo>
                    <a:pt x="221085" y="0"/>
                  </a:lnTo>
                  <a:lnTo>
                    <a:pt x="236059" y="0"/>
                  </a:lnTo>
                  <a:lnTo>
                    <a:pt x="280513" y="5853"/>
                  </a:lnTo>
                  <a:lnTo>
                    <a:pt x="322971" y="20266"/>
                  </a:lnTo>
                  <a:lnTo>
                    <a:pt x="361801" y="42685"/>
                  </a:lnTo>
                  <a:lnTo>
                    <a:pt x="395511" y="72249"/>
                  </a:lnTo>
                  <a:lnTo>
                    <a:pt x="422806" y="107821"/>
                  </a:lnTo>
                  <a:lnTo>
                    <a:pt x="442636" y="148035"/>
                  </a:lnTo>
                  <a:lnTo>
                    <a:pt x="443330" y="149974"/>
                  </a:lnTo>
                  <a:lnTo>
                    <a:pt x="314286" y="149974"/>
                  </a:lnTo>
                  <a:lnTo>
                    <a:pt x="306220" y="151547"/>
                  </a:lnTo>
                  <a:lnTo>
                    <a:pt x="299117" y="156269"/>
                  </a:lnTo>
                  <a:lnTo>
                    <a:pt x="248185" y="207246"/>
                  </a:lnTo>
                  <a:lnTo>
                    <a:pt x="142926" y="207246"/>
                  </a:lnTo>
                  <a:lnTo>
                    <a:pt x="134988" y="208799"/>
                  </a:lnTo>
                  <a:lnTo>
                    <a:pt x="127756" y="213508"/>
                  </a:lnTo>
                  <a:lnTo>
                    <a:pt x="123035" y="220561"/>
                  </a:lnTo>
                  <a:lnTo>
                    <a:pt x="121461" y="228611"/>
                  </a:lnTo>
                  <a:lnTo>
                    <a:pt x="122920" y="236086"/>
                  </a:lnTo>
                  <a:lnTo>
                    <a:pt x="123035" y="236677"/>
                  </a:lnTo>
                  <a:lnTo>
                    <a:pt x="127756" y="243780"/>
                  </a:lnTo>
                  <a:lnTo>
                    <a:pt x="184906" y="300930"/>
                  </a:lnTo>
                  <a:lnTo>
                    <a:pt x="191959" y="305652"/>
                  </a:lnTo>
                  <a:lnTo>
                    <a:pt x="200009" y="307225"/>
                  </a:lnTo>
                  <a:lnTo>
                    <a:pt x="443330" y="307225"/>
                  </a:lnTo>
                  <a:lnTo>
                    <a:pt x="442636" y="309164"/>
                  </a:lnTo>
                  <a:lnTo>
                    <a:pt x="422806" y="349378"/>
                  </a:lnTo>
                  <a:lnTo>
                    <a:pt x="395511" y="384950"/>
                  </a:lnTo>
                  <a:lnTo>
                    <a:pt x="361801" y="414514"/>
                  </a:lnTo>
                  <a:lnTo>
                    <a:pt x="322971" y="436933"/>
                  </a:lnTo>
                  <a:lnTo>
                    <a:pt x="280513" y="451346"/>
                  </a:lnTo>
                  <a:lnTo>
                    <a:pt x="243528" y="456833"/>
                  </a:lnTo>
                  <a:lnTo>
                    <a:pt x="236059" y="457200"/>
                  </a:lnTo>
                  <a:close/>
                </a:path>
                <a:path w="457200" h="457200">
                  <a:moveTo>
                    <a:pt x="329030" y="187078"/>
                  </a:moveTo>
                  <a:lnTo>
                    <a:pt x="334098" y="179488"/>
                  </a:lnTo>
                  <a:lnTo>
                    <a:pt x="335651" y="171438"/>
                  </a:lnTo>
                  <a:lnTo>
                    <a:pt x="334072" y="163372"/>
                  </a:lnTo>
                  <a:lnTo>
                    <a:pt x="329389" y="156269"/>
                  </a:lnTo>
                  <a:lnTo>
                    <a:pt x="322336" y="151547"/>
                  </a:lnTo>
                  <a:lnTo>
                    <a:pt x="314286" y="149974"/>
                  </a:lnTo>
                  <a:lnTo>
                    <a:pt x="443330" y="149974"/>
                  </a:lnTo>
                  <a:lnTo>
                    <a:pt x="445156" y="155076"/>
                  </a:lnTo>
                  <a:lnTo>
                    <a:pt x="449502" y="169405"/>
                  </a:lnTo>
                  <a:lnTo>
                    <a:pt x="451319" y="176659"/>
                  </a:lnTo>
                  <a:lnTo>
                    <a:pt x="453289" y="186561"/>
                  </a:lnTo>
                  <a:lnTo>
                    <a:pt x="329547" y="186561"/>
                  </a:lnTo>
                  <a:lnTo>
                    <a:pt x="329030" y="187078"/>
                  </a:lnTo>
                  <a:close/>
                </a:path>
                <a:path w="457200" h="457200">
                  <a:moveTo>
                    <a:pt x="443330" y="307225"/>
                  </a:moveTo>
                  <a:lnTo>
                    <a:pt x="200009" y="307225"/>
                  </a:lnTo>
                  <a:lnTo>
                    <a:pt x="208075" y="305652"/>
                  </a:lnTo>
                  <a:lnTo>
                    <a:pt x="215178" y="300930"/>
                  </a:lnTo>
                  <a:lnTo>
                    <a:pt x="329547" y="186561"/>
                  </a:lnTo>
                  <a:lnTo>
                    <a:pt x="453289" y="186561"/>
                  </a:lnTo>
                  <a:lnTo>
                    <a:pt x="454241" y="191345"/>
                  </a:lnTo>
                  <a:lnTo>
                    <a:pt x="455338" y="198742"/>
                  </a:lnTo>
                  <a:lnTo>
                    <a:pt x="456792" y="213508"/>
                  </a:lnTo>
                  <a:lnTo>
                    <a:pt x="457145" y="220561"/>
                  </a:lnTo>
                  <a:lnTo>
                    <a:pt x="457143" y="236677"/>
                  </a:lnTo>
                  <a:lnTo>
                    <a:pt x="451319" y="280540"/>
                  </a:lnTo>
                  <a:lnTo>
                    <a:pt x="445156" y="302123"/>
                  </a:lnTo>
                  <a:lnTo>
                    <a:pt x="443330" y="307225"/>
                  </a:lnTo>
                  <a:close/>
                </a:path>
                <a:path w="457200" h="457200">
                  <a:moveTo>
                    <a:pt x="199997" y="255478"/>
                  </a:moveTo>
                  <a:lnTo>
                    <a:pt x="158028" y="213508"/>
                  </a:lnTo>
                  <a:lnTo>
                    <a:pt x="150975" y="208799"/>
                  </a:lnTo>
                  <a:lnTo>
                    <a:pt x="142926" y="207246"/>
                  </a:lnTo>
                  <a:lnTo>
                    <a:pt x="248185" y="207246"/>
                  </a:lnTo>
                  <a:lnTo>
                    <a:pt x="199997" y="255478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2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  <p:sp>
        <p:nvSpPr>
          <p:cNvPr id="48" name="object 4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7105650"/>
            <a:chOff x="0" y="0"/>
            <a:chExt cx="12192000" cy="71056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1056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8974" y="200025"/>
              <a:ext cx="1142999" cy="6476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24" y="6677024"/>
              <a:ext cx="12172950" cy="419100"/>
            </a:xfrm>
            <a:custGeom>
              <a:avLst/>
              <a:gdLst/>
              <a:ahLst/>
              <a:cxnLst/>
              <a:rect l="l" t="t" r="r" b="b"/>
              <a:pathLst>
                <a:path w="12172950" h="419100">
                  <a:moveTo>
                    <a:pt x="1217294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12172949" y="0"/>
                  </a:lnTo>
                  <a:lnTo>
                    <a:pt x="12172949" y="41909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9124" y="1038224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1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380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9124" y="1304924"/>
              <a:ext cx="10953750" cy="3543300"/>
            </a:xfrm>
            <a:custGeom>
              <a:avLst/>
              <a:gdLst/>
              <a:ahLst/>
              <a:cxnLst/>
              <a:rect l="l" t="t" r="r" b="b"/>
              <a:pathLst>
                <a:path w="10953750" h="3543300">
                  <a:moveTo>
                    <a:pt x="10882552" y="3543299"/>
                  </a:moveTo>
                  <a:lnTo>
                    <a:pt x="71196" y="3543299"/>
                  </a:lnTo>
                  <a:lnTo>
                    <a:pt x="66241" y="3542811"/>
                  </a:lnTo>
                  <a:lnTo>
                    <a:pt x="29705" y="3527677"/>
                  </a:lnTo>
                  <a:lnTo>
                    <a:pt x="3885" y="3491637"/>
                  </a:lnTo>
                  <a:lnTo>
                    <a:pt x="0" y="3472102"/>
                  </a:lnTo>
                  <a:lnTo>
                    <a:pt x="0" y="34670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0882552" y="0"/>
                  </a:lnTo>
                  <a:lnTo>
                    <a:pt x="10924042" y="15621"/>
                  </a:lnTo>
                  <a:lnTo>
                    <a:pt x="10949862" y="51661"/>
                  </a:lnTo>
                  <a:lnTo>
                    <a:pt x="10953749" y="71196"/>
                  </a:lnTo>
                  <a:lnTo>
                    <a:pt x="10953749" y="3472102"/>
                  </a:lnTo>
                  <a:lnTo>
                    <a:pt x="10938125" y="3513593"/>
                  </a:lnTo>
                  <a:lnTo>
                    <a:pt x="10902084" y="3539413"/>
                  </a:lnTo>
                  <a:lnTo>
                    <a:pt x="10887507" y="3542811"/>
                  </a:lnTo>
                  <a:lnTo>
                    <a:pt x="10882552" y="3543299"/>
                  </a:lnTo>
                  <a:close/>
                </a:path>
              </a:pathLst>
            </a:custGeom>
            <a:solidFill>
              <a:srgbClr val="FFFFFF">
                <a:alpha val="8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207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System</a:t>
            </a:r>
            <a:r>
              <a:rPr dirty="0" spc="-5"/>
              <a:t> </a:t>
            </a:r>
            <a:r>
              <a:rPr dirty="0" spc="-140"/>
              <a:t>Architecture</a:t>
            </a:r>
            <a:r>
              <a:rPr dirty="0" spc="-5"/>
              <a:t> </a:t>
            </a:r>
            <a:r>
              <a:rPr dirty="0" spc="-170"/>
              <a:t>&amp;</a:t>
            </a:r>
            <a:r>
              <a:rPr dirty="0" spc="-5"/>
              <a:t> </a:t>
            </a:r>
            <a:r>
              <a:rPr dirty="0" spc="-130"/>
              <a:t>Components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1609724" y="1828800"/>
            <a:ext cx="2686050" cy="2686050"/>
            <a:chOff x="1609724" y="1828800"/>
            <a:chExt cx="2686050" cy="2686050"/>
          </a:xfrm>
        </p:grpSpPr>
        <p:sp>
          <p:nvSpPr>
            <p:cNvPr id="10" name="object 10" descr=""/>
            <p:cNvSpPr/>
            <p:nvPr/>
          </p:nvSpPr>
          <p:spPr>
            <a:xfrm>
              <a:off x="1619249" y="1838324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2578004" y="2666999"/>
                  </a:moveTo>
                  <a:lnTo>
                    <a:pt x="88995" y="2666999"/>
                  </a:lnTo>
                  <a:lnTo>
                    <a:pt x="82801" y="2666389"/>
                  </a:lnTo>
                  <a:lnTo>
                    <a:pt x="37131" y="2647472"/>
                  </a:lnTo>
                  <a:lnTo>
                    <a:pt x="9643" y="2613978"/>
                  </a:lnTo>
                  <a:lnTo>
                    <a:pt x="0" y="2578003"/>
                  </a:lnTo>
                  <a:lnTo>
                    <a:pt x="0" y="88995"/>
                  </a:lnTo>
                  <a:lnTo>
                    <a:pt x="12577" y="47532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95250" y="0"/>
                  </a:lnTo>
                  <a:lnTo>
                    <a:pt x="2578004" y="0"/>
                  </a:lnTo>
                  <a:lnTo>
                    <a:pt x="2619467" y="12577"/>
                  </a:lnTo>
                  <a:lnTo>
                    <a:pt x="2654421" y="47532"/>
                  </a:lnTo>
                  <a:lnTo>
                    <a:pt x="2666999" y="88995"/>
                  </a:lnTo>
                  <a:lnTo>
                    <a:pt x="2666999" y="2578003"/>
                  </a:lnTo>
                  <a:lnTo>
                    <a:pt x="2654421" y="2619467"/>
                  </a:lnTo>
                  <a:lnTo>
                    <a:pt x="2619467" y="2654421"/>
                  </a:lnTo>
                  <a:lnTo>
                    <a:pt x="2584198" y="2666389"/>
                  </a:lnTo>
                  <a:lnTo>
                    <a:pt x="2578004" y="2666999"/>
                  </a:lnTo>
                  <a:close/>
                </a:path>
              </a:pathLst>
            </a:custGeom>
            <a:solidFill>
              <a:srgbClr val="E6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09724" y="1828800"/>
              <a:ext cx="2686050" cy="2686050"/>
            </a:xfrm>
            <a:custGeom>
              <a:avLst/>
              <a:gdLst/>
              <a:ahLst/>
              <a:cxnLst/>
              <a:rect l="l" t="t" r="r" b="b"/>
              <a:pathLst>
                <a:path w="2686050" h="2686050">
                  <a:moveTo>
                    <a:pt x="247649" y="19049"/>
                  </a:moveTo>
                  <a:lnTo>
                    <a:pt x="200024" y="19049"/>
                  </a:lnTo>
                  <a:lnTo>
                    <a:pt x="200024" y="0"/>
                  </a:lnTo>
                  <a:lnTo>
                    <a:pt x="247649" y="0"/>
                  </a:lnTo>
                  <a:lnTo>
                    <a:pt x="247649" y="19049"/>
                  </a:lnTo>
                  <a:close/>
                </a:path>
                <a:path w="2686050" h="2686050">
                  <a:moveTo>
                    <a:pt x="342899" y="19049"/>
                  </a:moveTo>
                  <a:lnTo>
                    <a:pt x="295274" y="19049"/>
                  </a:lnTo>
                  <a:lnTo>
                    <a:pt x="295274" y="0"/>
                  </a:lnTo>
                  <a:lnTo>
                    <a:pt x="342899" y="0"/>
                  </a:lnTo>
                  <a:lnTo>
                    <a:pt x="342899" y="19049"/>
                  </a:lnTo>
                  <a:close/>
                </a:path>
                <a:path w="2686050" h="2686050">
                  <a:moveTo>
                    <a:pt x="438149" y="19049"/>
                  </a:moveTo>
                  <a:lnTo>
                    <a:pt x="390524" y="19049"/>
                  </a:lnTo>
                  <a:lnTo>
                    <a:pt x="390524" y="0"/>
                  </a:lnTo>
                  <a:lnTo>
                    <a:pt x="438149" y="0"/>
                  </a:lnTo>
                  <a:lnTo>
                    <a:pt x="438149" y="19049"/>
                  </a:lnTo>
                  <a:close/>
                </a:path>
                <a:path w="2686050" h="2686050">
                  <a:moveTo>
                    <a:pt x="533399" y="19049"/>
                  </a:moveTo>
                  <a:lnTo>
                    <a:pt x="485774" y="19049"/>
                  </a:lnTo>
                  <a:lnTo>
                    <a:pt x="485774" y="0"/>
                  </a:lnTo>
                  <a:lnTo>
                    <a:pt x="533399" y="0"/>
                  </a:lnTo>
                  <a:lnTo>
                    <a:pt x="533399" y="19049"/>
                  </a:lnTo>
                  <a:close/>
                </a:path>
                <a:path w="2686050" h="2686050">
                  <a:moveTo>
                    <a:pt x="628649" y="19049"/>
                  </a:moveTo>
                  <a:lnTo>
                    <a:pt x="581024" y="19049"/>
                  </a:lnTo>
                  <a:lnTo>
                    <a:pt x="581024" y="0"/>
                  </a:lnTo>
                  <a:lnTo>
                    <a:pt x="628649" y="0"/>
                  </a:lnTo>
                  <a:lnTo>
                    <a:pt x="628649" y="19049"/>
                  </a:lnTo>
                  <a:close/>
                </a:path>
                <a:path w="2686050" h="2686050">
                  <a:moveTo>
                    <a:pt x="723899" y="19049"/>
                  </a:moveTo>
                  <a:lnTo>
                    <a:pt x="676274" y="19049"/>
                  </a:lnTo>
                  <a:lnTo>
                    <a:pt x="676274" y="0"/>
                  </a:lnTo>
                  <a:lnTo>
                    <a:pt x="723899" y="0"/>
                  </a:lnTo>
                  <a:lnTo>
                    <a:pt x="723899" y="19049"/>
                  </a:lnTo>
                  <a:close/>
                </a:path>
                <a:path w="2686050" h="2686050">
                  <a:moveTo>
                    <a:pt x="819149" y="19049"/>
                  </a:moveTo>
                  <a:lnTo>
                    <a:pt x="771524" y="19049"/>
                  </a:lnTo>
                  <a:lnTo>
                    <a:pt x="771524" y="0"/>
                  </a:lnTo>
                  <a:lnTo>
                    <a:pt x="819149" y="0"/>
                  </a:lnTo>
                  <a:lnTo>
                    <a:pt x="819149" y="19049"/>
                  </a:lnTo>
                  <a:close/>
                </a:path>
                <a:path w="2686050" h="2686050">
                  <a:moveTo>
                    <a:pt x="914399" y="19049"/>
                  </a:moveTo>
                  <a:lnTo>
                    <a:pt x="866774" y="19049"/>
                  </a:lnTo>
                  <a:lnTo>
                    <a:pt x="866774" y="0"/>
                  </a:lnTo>
                  <a:lnTo>
                    <a:pt x="914399" y="0"/>
                  </a:lnTo>
                  <a:lnTo>
                    <a:pt x="914399" y="19049"/>
                  </a:lnTo>
                  <a:close/>
                </a:path>
                <a:path w="2686050" h="2686050">
                  <a:moveTo>
                    <a:pt x="1009649" y="19049"/>
                  </a:moveTo>
                  <a:lnTo>
                    <a:pt x="962024" y="19049"/>
                  </a:lnTo>
                  <a:lnTo>
                    <a:pt x="962024" y="0"/>
                  </a:lnTo>
                  <a:lnTo>
                    <a:pt x="1009649" y="0"/>
                  </a:lnTo>
                  <a:lnTo>
                    <a:pt x="1009649" y="19049"/>
                  </a:lnTo>
                  <a:close/>
                </a:path>
                <a:path w="2686050" h="2686050">
                  <a:moveTo>
                    <a:pt x="1104899" y="19049"/>
                  </a:moveTo>
                  <a:lnTo>
                    <a:pt x="1057274" y="19049"/>
                  </a:lnTo>
                  <a:lnTo>
                    <a:pt x="1057274" y="0"/>
                  </a:lnTo>
                  <a:lnTo>
                    <a:pt x="1104899" y="0"/>
                  </a:lnTo>
                  <a:lnTo>
                    <a:pt x="1104899" y="19049"/>
                  </a:lnTo>
                  <a:close/>
                </a:path>
                <a:path w="2686050" h="2686050">
                  <a:moveTo>
                    <a:pt x="1200149" y="19049"/>
                  </a:moveTo>
                  <a:lnTo>
                    <a:pt x="1152524" y="19049"/>
                  </a:lnTo>
                  <a:lnTo>
                    <a:pt x="1152524" y="0"/>
                  </a:lnTo>
                  <a:lnTo>
                    <a:pt x="1200149" y="0"/>
                  </a:lnTo>
                  <a:lnTo>
                    <a:pt x="1200149" y="19049"/>
                  </a:lnTo>
                  <a:close/>
                </a:path>
                <a:path w="2686050" h="2686050">
                  <a:moveTo>
                    <a:pt x="1295399" y="19049"/>
                  </a:moveTo>
                  <a:lnTo>
                    <a:pt x="1247774" y="19049"/>
                  </a:lnTo>
                  <a:lnTo>
                    <a:pt x="1247774" y="0"/>
                  </a:lnTo>
                  <a:lnTo>
                    <a:pt x="1295399" y="0"/>
                  </a:lnTo>
                  <a:lnTo>
                    <a:pt x="1295399" y="19049"/>
                  </a:lnTo>
                  <a:close/>
                </a:path>
                <a:path w="2686050" h="2686050">
                  <a:moveTo>
                    <a:pt x="1390649" y="19049"/>
                  </a:moveTo>
                  <a:lnTo>
                    <a:pt x="1343024" y="19049"/>
                  </a:lnTo>
                  <a:lnTo>
                    <a:pt x="1343024" y="0"/>
                  </a:lnTo>
                  <a:lnTo>
                    <a:pt x="1390649" y="0"/>
                  </a:lnTo>
                  <a:lnTo>
                    <a:pt x="1390649" y="19049"/>
                  </a:lnTo>
                  <a:close/>
                </a:path>
                <a:path w="2686050" h="2686050">
                  <a:moveTo>
                    <a:pt x="1485899" y="19049"/>
                  </a:moveTo>
                  <a:lnTo>
                    <a:pt x="1438274" y="19049"/>
                  </a:lnTo>
                  <a:lnTo>
                    <a:pt x="1438274" y="0"/>
                  </a:lnTo>
                  <a:lnTo>
                    <a:pt x="1485899" y="0"/>
                  </a:lnTo>
                  <a:lnTo>
                    <a:pt x="1485899" y="19049"/>
                  </a:lnTo>
                  <a:close/>
                </a:path>
                <a:path w="2686050" h="2686050">
                  <a:moveTo>
                    <a:pt x="1581149" y="19049"/>
                  </a:moveTo>
                  <a:lnTo>
                    <a:pt x="1533524" y="19049"/>
                  </a:lnTo>
                  <a:lnTo>
                    <a:pt x="1533524" y="0"/>
                  </a:lnTo>
                  <a:lnTo>
                    <a:pt x="1581149" y="0"/>
                  </a:lnTo>
                  <a:lnTo>
                    <a:pt x="1581149" y="19049"/>
                  </a:lnTo>
                  <a:close/>
                </a:path>
                <a:path w="2686050" h="2686050">
                  <a:moveTo>
                    <a:pt x="1676399" y="19049"/>
                  </a:moveTo>
                  <a:lnTo>
                    <a:pt x="1628774" y="19049"/>
                  </a:lnTo>
                  <a:lnTo>
                    <a:pt x="1628774" y="0"/>
                  </a:lnTo>
                  <a:lnTo>
                    <a:pt x="1676399" y="0"/>
                  </a:lnTo>
                  <a:lnTo>
                    <a:pt x="1676399" y="19049"/>
                  </a:lnTo>
                  <a:close/>
                </a:path>
                <a:path w="2686050" h="2686050">
                  <a:moveTo>
                    <a:pt x="1771649" y="19049"/>
                  </a:moveTo>
                  <a:lnTo>
                    <a:pt x="1724024" y="19049"/>
                  </a:lnTo>
                  <a:lnTo>
                    <a:pt x="1724024" y="0"/>
                  </a:lnTo>
                  <a:lnTo>
                    <a:pt x="1771649" y="0"/>
                  </a:lnTo>
                  <a:lnTo>
                    <a:pt x="1771649" y="19049"/>
                  </a:lnTo>
                  <a:close/>
                </a:path>
                <a:path w="2686050" h="2686050">
                  <a:moveTo>
                    <a:pt x="1866899" y="19049"/>
                  </a:moveTo>
                  <a:lnTo>
                    <a:pt x="1819274" y="19049"/>
                  </a:lnTo>
                  <a:lnTo>
                    <a:pt x="1819274" y="0"/>
                  </a:lnTo>
                  <a:lnTo>
                    <a:pt x="1866899" y="0"/>
                  </a:lnTo>
                  <a:lnTo>
                    <a:pt x="1866899" y="19049"/>
                  </a:lnTo>
                  <a:close/>
                </a:path>
                <a:path w="2686050" h="2686050">
                  <a:moveTo>
                    <a:pt x="1962149" y="19049"/>
                  </a:moveTo>
                  <a:lnTo>
                    <a:pt x="1914524" y="19049"/>
                  </a:lnTo>
                  <a:lnTo>
                    <a:pt x="1914524" y="0"/>
                  </a:lnTo>
                  <a:lnTo>
                    <a:pt x="1962149" y="0"/>
                  </a:lnTo>
                  <a:lnTo>
                    <a:pt x="1962149" y="19049"/>
                  </a:lnTo>
                  <a:close/>
                </a:path>
                <a:path w="2686050" h="2686050">
                  <a:moveTo>
                    <a:pt x="2057399" y="19049"/>
                  </a:moveTo>
                  <a:lnTo>
                    <a:pt x="2009774" y="19049"/>
                  </a:lnTo>
                  <a:lnTo>
                    <a:pt x="2009774" y="0"/>
                  </a:lnTo>
                  <a:lnTo>
                    <a:pt x="2057399" y="0"/>
                  </a:lnTo>
                  <a:lnTo>
                    <a:pt x="2057399" y="19049"/>
                  </a:lnTo>
                  <a:close/>
                </a:path>
                <a:path w="2686050" h="2686050">
                  <a:moveTo>
                    <a:pt x="2152649" y="19049"/>
                  </a:moveTo>
                  <a:lnTo>
                    <a:pt x="2105024" y="19049"/>
                  </a:lnTo>
                  <a:lnTo>
                    <a:pt x="2105024" y="0"/>
                  </a:lnTo>
                  <a:lnTo>
                    <a:pt x="2152649" y="0"/>
                  </a:lnTo>
                  <a:lnTo>
                    <a:pt x="2152649" y="19049"/>
                  </a:lnTo>
                  <a:close/>
                </a:path>
                <a:path w="2686050" h="2686050">
                  <a:moveTo>
                    <a:pt x="2247899" y="19049"/>
                  </a:moveTo>
                  <a:lnTo>
                    <a:pt x="2200274" y="19049"/>
                  </a:lnTo>
                  <a:lnTo>
                    <a:pt x="2200274" y="0"/>
                  </a:lnTo>
                  <a:lnTo>
                    <a:pt x="2247899" y="0"/>
                  </a:lnTo>
                  <a:lnTo>
                    <a:pt x="2247899" y="19049"/>
                  </a:lnTo>
                  <a:close/>
                </a:path>
                <a:path w="2686050" h="2686050">
                  <a:moveTo>
                    <a:pt x="2343149" y="19049"/>
                  </a:moveTo>
                  <a:lnTo>
                    <a:pt x="2295524" y="19049"/>
                  </a:lnTo>
                  <a:lnTo>
                    <a:pt x="2295524" y="0"/>
                  </a:lnTo>
                  <a:lnTo>
                    <a:pt x="2343149" y="0"/>
                  </a:lnTo>
                  <a:lnTo>
                    <a:pt x="2343149" y="19049"/>
                  </a:lnTo>
                  <a:close/>
                </a:path>
                <a:path w="2686050" h="2686050">
                  <a:moveTo>
                    <a:pt x="2438399" y="19049"/>
                  </a:moveTo>
                  <a:lnTo>
                    <a:pt x="2390774" y="19049"/>
                  </a:lnTo>
                  <a:lnTo>
                    <a:pt x="2390774" y="0"/>
                  </a:lnTo>
                  <a:lnTo>
                    <a:pt x="2438399" y="0"/>
                  </a:lnTo>
                  <a:lnTo>
                    <a:pt x="2438399" y="19049"/>
                  </a:lnTo>
                  <a:close/>
                </a:path>
                <a:path w="2686050" h="2686050">
                  <a:moveTo>
                    <a:pt x="2533649" y="19049"/>
                  </a:moveTo>
                  <a:lnTo>
                    <a:pt x="2486024" y="19049"/>
                  </a:lnTo>
                  <a:lnTo>
                    <a:pt x="2486024" y="0"/>
                  </a:lnTo>
                  <a:lnTo>
                    <a:pt x="2533649" y="0"/>
                  </a:lnTo>
                  <a:lnTo>
                    <a:pt x="2533649" y="19049"/>
                  </a:lnTo>
                  <a:close/>
                </a:path>
                <a:path w="2686050" h="2686050">
                  <a:moveTo>
                    <a:pt x="2622451" y="29587"/>
                  </a:moveTo>
                  <a:lnTo>
                    <a:pt x="2612662" y="24977"/>
                  </a:lnTo>
                  <a:lnTo>
                    <a:pt x="2602537" y="21684"/>
                  </a:lnTo>
                  <a:lnTo>
                    <a:pt x="2592074" y="19708"/>
                  </a:lnTo>
                  <a:lnTo>
                    <a:pt x="2581274" y="19049"/>
                  </a:lnTo>
                  <a:lnTo>
                    <a:pt x="2581274" y="0"/>
                  </a:lnTo>
                  <a:lnTo>
                    <a:pt x="2594474" y="804"/>
                  </a:lnTo>
                  <a:lnTo>
                    <a:pt x="2607262" y="3219"/>
                  </a:lnTo>
                  <a:lnTo>
                    <a:pt x="2619638" y="7244"/>
                  </a:lnTo>
                  <a:lnTo>
                    <a:pt x="2631602" y="12878"/>
                  </a:lnTo>
                  <a:lnTo>
                    <a:pt x="2622451" y="29587"/>
                  </a:lnTo>
                  <a:close/>
                </a:path>
                <a:path w="2686050" h="2686050">
                  <a:moveTo>
                    <a:pt x="2666856" y="99812"/>
                  </a:moveTo>
                  <a:lnTo>
                    <a:pt x="2665561" y="89003"/>
                  </a:lnTo>
                  <a:lnTo>
                    <a:pt x="2662956" y="78613"/>
                  </a:lnTo>
                  <a:lnTo>
                    <a:pt x="2659040" y="68643"/>
                  </a:lnTo>
                  <a:lnTo>
                    <a:pt x="2653814" y="59093"/>
                  </a:lnTo>
                  <a:lnTo>
                    <a:pt x="2669933" y="48941"/>
                  </a:lnTo>
                  <a:lnTo>
                    <a:pt x="2676321" y="60613"/>
                  </a:lnTo>
                  <a:lnTo>
                    <a:pt x="2681108" y="72799"/>
                  </a:lnTo>
                  <a:lnTo>
                    <a:pt x="2684292" y="85498"/>
                  </a:lnTo>
                  <a:lnTo>
                    <a:pt x="2685874" y="98709"/>
                  </a:lnTo>
                  <a:lnTo>
                    <a:pt x="2666856" y="99812"/>
                  </a:lnTo>
                  <a:close/>
                </a:path>
                <a:path w="2686050" h="2686050">
                  <a:moveTo>
                    <a:pt x="2686049" y="194245"/>
                  </a:moveTo>
                  <a:lnTo>
                    <a:pt x="2666999" y="194245"/>
                  </a:lnTo>
                  <a:lnTo>
                    <a:pt x="2666999" y="146620"/>
                  </a:lnTo>
                  <a:lnTo>
                    <a:pt x="2686049" y="146620"/>
                  </a:lnTo>
                  <a:lnTo>
                    <a:pt x="2686049" y="194245"/>
                  </a:lnTo>
                  <a:close/>
                </a:path>
                <a:path w="2686050" h="2686050">
                  <a:moveTo>
                    <a:pt x="2686049" y="289495"/>
                  </a:moveTo>
                  <a:lnTo>
                    <a:pt x="2666999" y="289495"/>
                  </a:lnTo>
                  <a:lnTo>
                    <a:pt x="2666999" y="241870"/>
                  </a:lnTo>
                  <a:lnTo>
                    <a:pt x="2686049" y="241870"/>
                  </a:lnTo>
                  <a:lnTo>
                    <a:pt x="2686049" y="289495"/>
                  </a:lnTo>
                  <a:close/>
                </a:path>
                <a:path w="2686050" h="2686050">
                  <a:moveTo>
                    <a:pt x="2686049" y="384745"/>
                  </a:moveTo>
                  <a:lnTo>
                    <a:pt x="2666999" y="384745"/>
                  </a:lnTo>
                  <a:lnTo>
                    <a:pt x="2666999" y="337120"/>
                  </a:lnTo>
                  <a:lnTo>
                    <a:pt x="2686049" y="337120"/>
                  </a:lnTo>
                  <a:lnTo>
                    <a:pt x="2686049" y="384745"/>
                  </a:lnTo>
                  <a:close/>
                </a:path>
                <a:path w="2686050" h="2686050">
                  <a:moveTo>
                    <a:pt x="2686049" y="479995"/>
                  </a:moveTo>
                  <a:lnTo>
                    <a:pt x="2666999" y="479995"/>
                  </a:lnTo>
                  <a:lnTo>
                    <a:pt x="2666999" y="432370"/>
                  </a:lnTo>
                  <a:lnTo>
                    <a:pt x="2686049" y="432370"/>
                  </a:lnTo>
                  <a:lnTo>
                    <a:pt x="2686049" y="479995"/>
                  </a:lnTo>
                  <a:close/>
                </a:path>
                <a:path w="2686050" h="2686050">
                  <a:moveTo>
                    <a:pt x="2686049" y="575245"/>
                  </a:moveTo>
                  <a:lnTo>
                    <a:pt x="2666999" y="575245"/>
                  </a:lnTo>
                  <a:lnTo>
                    <a:pt x="2666999" y="527620"/>
                  </a:lnTo>
                  <a:lnTo>
                    <a:pt x="2686049" y="527620"/>
                  </a:lnTo>
                  <a:lnTo>
                    <a:pt x="2686049" y="575245"/>
                  </a:lnTo>
                  <a:close/>
                </a:path>
                <a:path w="2686050" h="2686050">
                  <a:moveTo>
                    <a:pt x="2686049" y="670495"/>
                  </a:moveTo>
                  <a:lnTo>
                    <a:pt x="2666999" y="670495"/>
                  </a:lnTo>
                  <a:lnTo>
                    <a:pt x="2666999" y="622870"/>
                  </a:lnTo>
                  <a:lnTo>
                    <a:pt x="2686049" y="622870"/>
                  </a:lnTo>
                  <a:lnTo>
                    <a:pt x="2686049" y="670495"/>
                  </a:lnTo>
                  <a:close/>
                </a:path>
                <a:path w="2686050" h="2686050">
                  <a:moveTo>
                    <a:pt x="2686049" y="765745"/>
                  </a:moveTo>
                  <a:lnTo>
                    <a:pt x="2666999" y="765745"/>
                  </a:lnTo>
                  <a:lnTo>
                    <a:pt x="2666999" y="718120"/>
                  </a:lnTo>
                  <a:lnTo>
                    <a:pt x="2686049" y="718120"/>
                  </a:lnTo>
                  <a:lnTo>
                    <a:pt x="2686049" y="765745"/>
                  </a:lnTo>
                  <a:close/>
                </a:path>
                <a:path w="2686050" h="2686050">
                  <a:moveTo>
                    <a:pt x="2686049" y="860995"/>
                  </a:moveTo>
                  <a:lnTo>
                    <a:pt x="2666999" y="860995"/>
                  </a:lnTo>
                  <a:lnTo>
                    <a:pt x="2666999" y="813370"/>
                  </a:lnTo>
                  <a:lnTo>
                    <a:pt x="2686049" y="813370"/>
                  </a:lnTo>
                  <a:lnTo>
                    <a:pt x="2686049" y="860995"/>
                  </a:lnTo>
                  <a:close/>
                </a:path>
                <a:path w="2686050" h="2686050">
                  <a:moveTo>
                    <a:pt x="2686049" y="956245"/>
                  </a:moveTo>
                  <a:lnTo>
                    <a:pt x="2666999" y="956245"/>
                  </a:lnTo>
                  <a:lnTo>
                    <a:pt x="2666999" y="908620"/>
                  </a:lnTo>
                  <a:lnTo>
                    <a:pt x="2686049" y="908620"/>
                  </a:lnTo>
                  <a:lnTo>
                    <a:pt x="2686049" y="956245"/>
                  </a:lnTo>
                  <a:close/>
                </a:path>
                <a:path w="2686050" h="2686050">
                  <a:moveTo>
                    <a:pt x="2686049" y="1051495"/>
                  </a:moveTo>
                  <a:lnTo>
                    <a:pt x="2666999" y="1051495"/>
                  </a:lnTo>
                  <a:lnTo>
                    <a:pt x="2666999" y="1003870"/>
                  </a:lnTo>
                  <a:lnTo>
                    <a:pt x="2686049" y="1003870"/>
                  </a:lnTo>
                  <a:lnTo>
                    <a:pt x="2686049" y="1051495"/>
                  </a:lnTo>
                  <a:close/>
                </a:path>
                <a:path w="2686050" h="2686050">
                  <a:moveTo>
                    <a:pt x="2686049" y="1146745"/>
                  </a:moveTo>
                  <a:lnTo>
                    <a:pt x="2666999" y="1146745"/>
                  </a:lnTo>
                  <a:lnTo>
                    <a:pt x="2666999" y="1099120"/>
                  </a:lnTo>
                  <a:lnTo>
                    <a:pt x="2686049" y="1099120"/>
                  </a:lnTo>
                  <a:lnTo>
                    <a:pt x="2686049" y="1146745"/>
                  </a:lnTo>
                  <a:close/>
                </a:path>
                <a:path w="2686050" h="2686050">
                  <a:moveTo>
                    <a:pt x="2686049" y="1241995"/>
                  </a:moveTo>
                  <a:lnTo>
                    <a:pt x="2666999" y="1241995"/>
                  </a:lnTo>
                  <a:lnTo>
                    <a:pt x="2666999" y="1194370"/>
                  </a:lnTo>
                  <a:lnTo>
                    <a:pt x="2686049" y="1194370"/>
                  </a:lnTo>
                  <a:lnTo>
                    <a:pt x="2686049" y="1241995"/>
                  </a:lnTo>
                  <a:close/>
                </a:path>
                <a:path w="2686050" h="2686050">
                  <a:moveTo>
                    <a:pt x="2686049" y="1337245"/>
                  </a:moveTo>
                  <a:lnTo>
                    <a:pt x="2666999" y="1337245"/>
                  </a:lnTo>
                  <a:lnTo>
                    <a:pt x="2666999" y="1289620"/>
                  </a:lnTo>
                  <a:lnTo>
                    <a:pt x="2686049" y="1289620"/>
                  </a:lnTo>
                  <a:lnTo>
                    <a:pt x="2686049" y="1337245"/>
                  </a:lnTo>
                  <a:close/>
                </a:path>
                <a:path w="2686050" h="2686050">
                  <a:moveTo>
                    <a:pt x="2686049" y="1432495"/>
                  </a:moveTo>
                  <a:lnTo>
                    <a:pt x="2666999" y="1432495"/>
                  </a:lnTo>
                  <a:lnTo>
                    <a:pt x="2666999" y="1384870"/>
                  </a:lnTo>
                  <a:lnTo>
                    <a:pt x="2686049" y="1384870"/>
                  </a:lnTo>
                  <a:lnTo>
                    <a:pt x="2686049" y="1432495"/>
                  </a:lnTo>
                  <a:close/>
                </a:path>
                <a:path w="2686050" h="2686050">
                  <a:moveTo>
                    <a:pt x="2686049" y="1527745"/>
                  </a:moveTo>
                  <a:lnTo>
                    <a:pt x="2666999" y="1527745"/>
                  </a:lnTo>
                  <a:lnTo>
                    <a:pt x="2666999" y="1480120"/>
                  </a:lnTo>
                  <a:lnTo>
                    <a:pt x="2686049" y="1480120"/>
                  </a:lnTo>
                  <a:lnTo>
                    <a:pt x="2686049" y="1527745"/>
                  </a:lnTo>
                  <a:close/>
                </a:path>
                <a:path w="2686050" h="2686050">
                  <a:moveTo>
                    <a:pt x="2686049" y="1622995"/>
                  </a:moveTo>
                  <a:lnTo>
                    <a:pt x="2666999" y="1622995"/>
                  </a:lnTo>
                  <a:lnTo>
                    <a:pt x="2666999" y="1575370"/>
                  </a:lnTo>
                  <a:lnTo>
                    <a:pt x="2686049" y="1575370"/>
                  </a:lnTo>
                  <a:lnTo>
                    <a:pt x="2686049" y="1622995"/>
                  </a:lnTo>
                  <a:close/>
                </a:path>
                <a:path w="2686050" h="2686050">
                  <a:moveTo>
                    <a:pt x="2686049" y="1718245"/>
                  </a:moveTo>
                  <a:lnTo>
                    <a:pt x="2666999" y="1718245"/>
                  </a:lnTo>
                  <a:lnTo>
                    <a:pt x="2666999" y="1670620"/>
                  </a:lnTo>
                  <a:lnTo>
                    <a:pt x="2686049" y="1670620"/>
                  </a:lnTo>
                  <a:lnTo>
                    <a:pt x="2686049" y="1718245"/>
                  </a:lnTo>
                  <a:close/>
                </a:path>
                <a:path w="2686050" h="2686050">
                  <a:moveTo>
                    <a:pt x="2686049" y="1813495"/>
                  </a:moveTo>
                  <a:lnTo>
                    <a:pt x="2666999" y="1813495"/>
                  </a:lnTo>
                  <a:lnTo>
                    <a:pt x="2666999" y="1765870"/>
                  </a:lnTo>
                  <a:lnTo>
                    <a:pt x="2686049" y="1765870"/>
                  </a:lnTo>
                  <a:lnTo>
                    <a:pt x="2686049" y="1813495"/>
                  </a:lnTo>
                  <a:close/>
                </a:path>
                <a:path w="2686050" h="2686050">
                  <a:moveTo>
                    <a:pt x="2686049" y="1908745"/>
                  </a:moveTo>
                  <a:lnTo>
                    <a:pt x="2666999" y="1908745"/>
                  </a:lnTo>
                  <a:lnTo>
                    <a:pt x="2666999" y="1861120"/>
                  </a:lnTo>
                  <a:lnTo>
                    <a:pt x="2686049" y="1861120"/>
                  </a:lnTo>
                  <a:lnTo>
                    <a:pt x="2686049" y="1908745"/>
                  </a:lnTo>
                  <a:close/>
                </a:path>
                <a:path w="2686050" h="2686050">
                  <a:moveTo>
                    <a:pt x="2686049" y="2003995"/>
                  </a:moveTo>
                  <a:lnTo>
                    <a:pt x="2666999" y="2003995"/>
                  </a:lnTo>
                  <a:lnTo>
                    <a:pt x="2666999" y="1956370"/>
                  </a:lnTo>
                  <a:lnTo>
                    <a:pt x="2686049" y="1956370"/>
                  </a:lnTo>
                  <a:lnTo>
                    <a:pt x="2686049" y="2003995"/>
                  </a:lnTo>
                  <a:close/>
                </a:path>
                <a:path w="2686050" h="2686050">
                  <a:moveTo>
                    <a:pt x="2686049" y="2099245"/>
                  </a:moveTo>
                  <a:lnTo>
                    <a:pt x="2666999" y="2099245"/>
                  </a:lnTo>
                  <a:lnTo>
                    <a:pt x="2666999" y="2051620"/>
                  </a:lnTo>
                  <a:lnTo>
                    <a:pt x="2686049" y="2051620"/>
                  </a:lnTo>
                  <a:lnTo>
                    <a:pt x="2686049" y="2099245"/>
                  </a:lnTo>
                  <a:close/>
                </a:path>
                <a:path w="2686050" h="2686050">
                  <a:moveTo>
                    <a:pt x="2686049" y="2194495"/>
                  </a:moveTo>
                  <a:lnTo>
                    <a:pt x="2666999" y="2194495"/>
                  </a:lnTo>
                  <a:lnTo>
                    <a:pt x="2666999" y="2146870"/>
                  </a:lnTo>
                  <a:lnTo>
                    <a:pt x="2686049" y="2146870"/>
                  </a:lnTo>
                  <a:lnTo>
                    <a:pt x="2686049" y="2194495"/>
                  </a:lnTo>
                  <a:close/>
                </a:path>
                <a:path w="2686050" h="2686050">
                  <a:moveTo>
                    <a:pt x="2686049" y="2289745"/>
                  </a:moveTo>
                  <a:lnTo>
                    <a:pt x="2666999" y="2289745"/>
                  </a:lnTo>
                  <a:lnTo>
                    <a:pt x="2666999" y="2242120"/>
                  </a:lnTo>
                  <a:lnTo>
                    <a:pt x="2686049" y="2242120"/>
                  </a:lnTo>
                  <a:lnTo>
                    <a:pt x="2686049" y="2289745"/>
                  </a:lnTo>
                  <a:close/>
                </a:path>
                <a:path w="2686050" h="2686050">
                  <a:moveTo>
                    <a:pt x="2686049" y="2384995"/>
                  </a:moveTo>
                  <a:lnTo>
                    <a:pt x="2666999" y="2384995"/>
                  </a:lnTo>
                  <a:lnTo>
                    <a:pt x="2666999" y="2337370"/>
                  </a:lnTo>
                  <a:lnTo>
                    <a:pt x="2686049" y="2337370"/>
                  </a:lnTo>
                  <a:lnTo>
                    <a:pt x="2686049" y="2384995"/>
                  </a:lnTo>
                  <a:close/>
                </a:path>
                <a:path w="2686050" h="2686050">
                  <a:moveTo>
                    <a:pt x="2686049" y="2480245"/>
                  </a:moveTo>
                  <a:lnTo>
                    <a:pt x="2666999" y="2480245"/>
                  </a:lnTo>
                  <a:lnTo>
                    <a:pt x="2666999" y="2432620"/>
                  </a:lnTo>
                  <a:lnTo>
                    <a:pt x="2686049" y="2432620"/>
                  </a:lnTo>
                  <a:lnTo>
                    <a:pt x="2686049" y="2480245"/>
                  </a:lnTo>
                  <a:close/>
                </a:path>
                <a:path w="2686050" h="2686050">
                  <a:moveTo>
                    <a:pt x="2686049" y="2575495"/>
                  </a:moveTo>
                  <a:lnTo>
                    <a:pt x="2666999" y="2575495"/>
                  </a:lnTo>
                  <a:lnTo>
                    <a:pt x="2666999" y="2527870"/>
                  </a:lnTo>
                  <a:lnTo>
                    <a:pt x="2686049" y="2527870"/>
                  </a:lnTo>
                  <a:lnTo>
                    <a:pt x="2686049" y="2575495"/>
                  </a:lnTo>
                  <a:close/>
                </a:path>
                <a:path w="2686050" h="2686050">
                  <a:moveTo>
                    <a:pt x="2642441" y="2666342"/>
                  </a:moveTo>
                  <a:lnTo>
                    <a:pt x="2631320" y="2650875"/>
                  </a:lnTo>
                  <a:lnTo>
                    <a:pt x="2639798" y="2643950"/>
                  </a:lnTo>
                  <a:lnTo>
                    <a:pt x="2647206" y="2636135"/>
                  </a:lnTo>
                  <a:lnTo>
                    <a:pt x="2653544" y="2627430"/>
                  </a:lnTo>
                  <a:lnTo>
                    <a:pt x="2658812" y="2617835"/>
                  </a:lnTo>
                  <a:lnTo>
                    <a:pt x="2676043" y="2625959"/>
                  </a:lnTo>
                  <a:lnTo>
                    <a:pt x="2669604" y="2637686"/>
                  </a:lnTo>
                  <a:lnTo>
                    <a:pt x="2661857" y="2648326"/>
                  </a:lnTo>
                  <a:lnTo>
                    <a:pt x="2652803" y="2657878"/>
                  </a:lnTo>
                  <a:lnTo>
                    <a:pt x="2642441" y="2666342"/>
                  </a:lnTo>
                  <a:close/>
                </a:path>
                <a:path w="2686050" h="2686050">
                  <a:moveTo>
                    <a:pt x="2585369" y="2686049"/>
                  </a:moveTo>
                  <a:lnTo>
                    <a:pt x="2545208" y="2686049"/>
                  </a:lnTo>
                  <a:lnTo>
                    <a:pt x="2545208" y="2666999"/>
                  </a:lnTo>
                  <a:lnTo>
                    <a:pt x="2584626" y="2666999"/>
                  </a:lnTo>
                  <a:lnTo>
                    <a:pt x="2587966" y="2666803"/>
                  </a:lnTo>
                  <a:lnTo>
                    <a:pt x="2591293" y="2666412"/>
                  </a:lnTo>
                  <a:lnTo>
                    <a:pt x="2593520" y="2685331"/>
                  </a:lnTo>
                  <a:lnTo>
                    <a:pt x="2589451" y="2685810"/>
                  </a:lnTo>
                  <a:lnTo>
                    <a:pt x="2585369" y="2686049"/>
                  </a:lnTo>
                  <a:close/>
                </a:path>
                <a:path w="2686050" h="2686050">
                  <a:moveTo>
                    <a:pt x="2497583" y="2686049"/>
                  </a:moveTo>
                  <a:lnTo>
                    <a:pt x="2449958" y="2686049"/>
                  </a:lnTo>
                  <a:lnTo>
                    <a:pt x="2449958" y="2666999"/>
                  </a:lnTo>
                  <a:lnTo>
                    <a:pt x="2497583" y="2666999"/>
                  </a:lnTo>
                  <a:lnTo>
                    <a:pt x="2497583" y="2686049"/>
                  </a:lnTo>
                  <a:close/>
                </a:path>
                <a:path w="2686050" h="2686050">
                  <a:moveTo>
                    <a:pt x="2402333" y="2686049"/>
                  </a:moveTo>
                  <a:lnTo>
                    <a:pt x="2354708" y="2686049"/>
                  </a:lnTo>
                  <a:lnTo>
                    <a:pt x="2354708" y="2666999"/>
                  </a:lnTo>
                  <a:lnTo>
                    <a:pt x="2402333" y="2666999"/>
                  </a:lnTo>
                  <a:lnTo>
                    <a:pt x="2402333" y="2686049"/>
                  </a:lnTo>
                  <a:close/>
                </a:path>
                <a:path w="2686050" h="2686050">
                  <a:moveTo>
                    <a:pt x="2307083" y="2686049"/>
                  </a:moveTo>
                  <a:lnTo>
                    <a:pt x="2259458" y="2686049"/>
                  </a:lnTo>
                  <a:lnTo>
                    <a:pt x="2259458" y="2666999"/>
                  </a:lnTo>
                  <a:lnTo>
                    <a:pt x="2307083" y="2666999"/>
                  </a:lnTo>
                  <a:lnTo>
                    <a:pt x="2307083" y="2686049"/>
                  </a:lnTo>
                  <a:close/>
                </a:path>
                <a:path w="2686050" h="2686050">
                  <a:moveTo>
                    <a:pt x="2211833" y="2686049"/>
                  </a:moveTo>
                  <a:lnTo>
                    <a:pt x="2164208" y="2686049"/>
                  </a:lnTo>
                  <a:lnTo>
                    <a:pt x="2164208" y="2666999"/>
                  </a:lnTo>
                  <a:lnTo>
                    <a:pt x="2211833" y="2666999"/>
                  </a:lnTo>
                  <a:lnTo>
                    <a:pt x="2211833" y="2686049"/>
                  </a:lnTo>
                  <a:close/>
                </a:path>
                <a:path w="2686050" h="2686050">
                  <a:moveTo>
                    <a:pt x="2116583" y="2686049"/>
                  </a:moveTo>
                  <a:lnTo>
                    <a:pt x="2068958" y="2686049"/>
                  </a:lnTo>
                  <a:lnTo>
                    <a:pt x="2068958" y="2666999"/>
                  </a:lnTo>
                  <a:lnTo>
                    <a:pt x="2116583" y="2666999"/>
                  </a:lnTo>
                  <a:lnTo>
                    <a:pt x="2116583" y="2686049"/>
                  </a:lnTo>
                  <a:close/>
                </a:path>
                <a:path w="2686050" h="2686050">
                  <a:moveTo>
                    <a:pt x="2021333" y="2686049"/>
                  </a:moveTo>
                  <a:lnTo>
                    <a:pt x="1973708" y="2686049"/>
                  </a:lnTo>
                  <a:lnTo>
                    <a:pt x="1973708" y="2666999"/>
                  </a:lnTo>
                  <a:lnTo>
                    <a:pt x="2021333" y="2666999"/>
                  </a:lnTo>
                  <a:lnTo>
                    <a:pt x="2021333" y="2686049"/>
                  </a:lnTo>
                  <a:close/>
                </a:path>
                <a:path w="2686050" h="2686050">
                  <a:moveTo>
                    <a:pt x="1926083" y="2686049"/>
                  </a:moveTo>
                  <a:lnTo>
                    <a:pt x="1878458" y="2686049"/>
                  </a:lnTo>
                  <a:lnTo>
                    <a:pt x="1878458" y="2666999"/>
                  </a:lnTo>
                  <a:lnTo>
                    <a:pt x="1926083" y="2666999"/>
                  </a:lnTo>
                  <a:lnTo>
                    <a:pt x="1926083" y="2686049"/>
                  </a:lnTo>
                  <a:close/>
                </a:path>
                <a:path w="2686050" h="2686050">
                  <a:moveTo>
                    <a:pt x="1830833" y="2686049"/>
                  </a:moveTo>
                  <a:lnTo>
                    <a:pt x="1783208" y="2686049"/>
                  </a:lnTo>
                  <a:lnTo>
                    <a:pt x="1783208" y="2666999"/>
                  </a:lnTo>
                  <a:lnTo>
                    <a:pt x="1830833" y="2666999"/>
                  </a:lnTo>
                  <a:lnTo>
                    <a:pt x="1830833" y="2686049"/>
                  </a:lnTo>
                  <a:close/>
                </a:path>
                <a:path w="2686050" h="2686050">
                  <a:moveTo>
                    <a:pt x="1735583" y="2686049"/>
                  </a:moveTo>
                  <a:lnTo>
                    <a:pt x="1687958" y="2686049"/>
                  </a:lnTo>
                  <a:lnTo>
                    <a:pt x="1687958" y="2666999"/>
                  </a:lnTo>
                  <a:lnTo>
                    <a:pt x="1735583" y="2666999"/>
                  </a:lnTo>
                  <a:lnTo>
                    <a:pt x="1735583" y="2686049"/>
                  </a:lnTo>
                  <a:close/>
                </a:path>
                <a:path w="2686050" h="2686050">
                  <a:moveTo>
                    <a:pt x="1640333" y="2686049"/>
                  </a:moveTo>
                  <a:lnTo>
                    <a:pt x="1592708" y="2686049"/>
                  </a:lnTo>
                  <a:lnTo>
                    <a:pt x="1592708" y="2666999"/>
                  </a:lnTo>
                  <a:lnTo>
                    <a:pt x="1640333" y="2666999"/>
                  </a:lnTo>
                  <a:lnTo>
                    <a:pt x="1640333" y="2686049"/>
                  </a:lnTo>
                  <a:close/>
                </a:path>
                <a:path w="2686050" h="2686050">
                  <a:moveTo>
                    <a:pt x="1545083" y="2686049"/>
                  </a:moveTo>
                  <a:lnTo>
                    <a:pt x="1497458" y="2686049"/>
                  </a:lnTo>
                  <a:lnTo>
                    <a:pt x="1497458" y="2666999"/>
                  </a:lnTo>
                  <a:lnTo>
                    <a:pt x="1545083" y="2666999"/>
                  </a:lnTo>
                  <a:lnTo>
                    <a:pt x="1545083" y="2686049"/>
                  </a:lnTo>
                  <a:close/>
                </a:path>
                <a:path w="2686050" h="2686050">
                  <a:moveTo>
                    <a:pt x="1449833" y="2686049"/>
                  </a:moveTo>
                  <a:lnTo>
                    <a:pt x="1402208" y="2686049"/>
                  </a:lnTo>
                  <a:lnTo>
                    <a:pt x="1402208" y="2666999"/>
                  </a:lnTo>
                  <a:lnTo>
                    <a:pt x="1449833" y="2666999"/>
                  </a:lnTo>
                  <a:lnTo>
                    <a:pt x="1449833" y="2686049"/>
                  </a:lnTo>
                  <a:close/>
                </a:path>
                <a:path w="2686050" h="2686050">
                  <a:moveTo>
                    <a:pt x="1354583" y="2686049"/>
                  </a:moveTo>
                  <a:lnTo>
                    <a:pt x="1306958" y="2686049"/>
                  </a:lnTo>
                  <a:lnTo>
                    <a:pt x="1306958" y="2666999"/>
                  </a:lnTo>
                  <a:lnTo>
                    <a:pt x="1354583" y="2666999"/>
                  </a:lnTo>
                  <a:lnTo>
                    <a:pt x="1354583" y="2686049"/>
                  </a:lnTo>
                  <a:close/>
                </a:path>
                <a:path w="2686050" h="2686050">
                  <a:moveTo>
                    <a:pt x="1259333" y="2686049"/>
                  </a:moveTo>
                  <a:lnTo>
                    <a:pt x="1211708" y="2686049"/>
                  </a:lnTo>
                  <a:lnTo>
                    <a:pt x="1211708" y="2666999"/>
                  </a:lnTo>
                  <a:lnTo>
                    <a:pt x="1259333" y="2666999"/>
                  </a:lnTo>
                  <a:lnTo>
                    <a:pt x="1259333" y="2686049"/>
                  </a:lnTo>
                  <a:close/>
                </a:path>
                <a:path w="2686050" h="2686050">
                  <a:moveTo>
                    <a:pt x="1164083" y="2686049"/>
                  </a:moveTo>
                  <a:lnTo>
                    <a:pt x="1116458" y="2686049"/>
                  </a:lnTo>
                  <a:lnTo>
                    <a:pt x="1116458" y="2666999"/>
                  </a:lnTo>
                  <a:lnTo>
                    <a:pt x="1164083" y="2666999"/>
                  </a:lnTo>
                  <a:lnTo>
                    <a:pt x="1164083" y="2686049"/>
                  </a:lnTo>
                  <a:close/>
                </a:path>
                <a:path w="2686050" h="2686050">
                  <a:moveTo>
                    <a:pt x="1068833" y="2686049"/>
                  </a:moveTo>
                  <a:lnTo>
                    <a:pt x="1021208" y="2686049"/>
                  </a:lnTo>
                  <a:lnTo>
                    <a:pt x="1021208" y="2666999"/>
                  </a:lnTo>
                  <a:lnTo>
                    <a:pt x="1068833" y="2666999"/>
                  </a:lnTo>
                  <a:lnTo>
                    <a:pt x="1068833" y="2686049"/>
                  </a:lnTo>
                  <a:close/>
                </a:path>
                <a:path w="2686050" h="2686050">
                  <a:moveTo>
                    <a:pt x="973583" y="2686049"/>
                  </a:moveTo>
                  <a:lnTo>
                    <a:pt x="925958" y="2686049"/>
                  </a:lnTo>
                  <a:lnTo>
                    <a:pt x="925958" y="2666999"/>
                  </a:lnTo>
                  <a:lnTo>
                    <a:pt x="973583" y="2666999"/>
                  </a:lnTo>
                  <a:lnTo>
                    <a:pt x="973583" y="2686049"/>
                  </a:lnTo>
                  <a:close/>
                </a:path>
                <a:path w="2686050" h="2686050">
                  <a:moveTo>
                    <a:pt x="878333" y="2686049"/>
                  </a:moveTo>
                  <a:lnTo>
                    <a:pt x="830708" y="2686049"/>
                  </a:lnTo>
                  <a:lnTo>
                    <a:pt x="830708" y="2666999"/>
                  </a:lnTo>
                  <a:lnTo>
                    <a:pt x="878333" y="2666999"/>
                  </a:lnTo>
                  <a:lnTo>
                    <a:pt x="878333" y="2686049"/>
                  </a:lnTo>
                  <a:close/>
                </a:path>
                <a:path w="2686050" h="2686050">
                  <a:moveTo>
                    <a:pt x="783083" y="2686049"/>
                  </a:moveTo>
                  <a:lnTo>
                    <a:pt x="735458" y="2686049"/>
                  </a:lnTo>
                  <a:lnTo>
                    <a:pt x="735458" y="2666999"/>
                  </a:lnTo>
                  <a:lnTo>
                    <a:pt x="783083" y="2666999"/>
                  </a:lnTo>
                  <a:lnTo>
                    <a:pt x="783083" y="2686049"/>
                  </a:lnTo>
                  <a:close/>
                </a:path>
                <a:path w="2686050" h="2686050">
                  <a:moveTo>
                    <a:pt x="687833" y="2686049"/>
                  </a:moveTo>
                  <a:lnTo>
                    <a:pt x="640208" y="2686049"/>
                  </a:lnTo>
                  <a:lnTo>
                    <a:pt x="640208" y="2666999"/>
                  </a:lnTo>
                  <a:lnTo>
                    <a:pt x="687833" y="2666999"/>
                  </a:lnTo>
                  <a:lnTo>
                    <a:pt x="687833" y="2686049"/>
                  </a:lnTo>
                  <a:close/>
                </a:path>
                <a:path w="2686050" h="2686050">
                  <a:moveTo>
                    <a:pt x="592583" y="2686049"/>
                  </a:moveTo>
                  <a:lnTo>
                    <a:pt x="544958" y="2686049"/>
                  </a:lnTo>
                  <a:lnTo>
                    <a:pt x="544958" y="2666999"/>
                  </a:lnTo>
                  <a:lnTo>
                    <a:pt x="592583" y="2666999"/>
                  </a:lnTo>
                  <a:lnTo>
                    <a:pt x="592583" y="2686049"/>
                  </a:lnTo>
                  <a:close/>
                </a:path>
                <a:path w="2686050" h="2686050">
                  <a:moveTo>
                    <a:pt x="497333" y="2686049"/>
                  </a:moveTo>
                  <a:lnTo>
                    <a:pt x="449708" y="2686049"/>
                  </a:lnTo>
                  <a:lnTo>
                    <a:pt x="449708" y="2666999"/>
                  </a:lnTo>
                  <a:lnTo>
                    <a:pt x="497333" y="2666999"/>
                  </a:lnTo>
                  <a:lnTo>
                    <a:pt x="497333" y="2686049"/>
                  </a:lnTo>
                  <a:close/>
                </a:path>
                <a:path w="2686050" h="2686050">
                  <a:moveTo>
                    <a:pt x="402083" y="2686049"/>
                  </a:moveTo>
                  <a:lnTo>
                    <a:pt x="354458" y="2686049"/>
                  </a:lnTo>
                  <a:lnTo>
                    <a:pt x="354458" y="2666999"/>
                  </a:lnTo>
                  <a:lnTo>
                    <a:pt x="402083" y="2666999"/>
                  </a:lnTo>
                  <a:lnTo>
                    <a:pt x="402083" y="2686049"/>
                  </a:lnTo>
                  <a:close/>
                </a:path>
                <a:path w="2686050" h="2686050">
                  <a:moveTo>
                    <a:pt x="306833" y="2686049"/>
                  </a:moveTo>
                  <a:lnTo>
                    <a:pt x="259208" y="2686049"/>
                  </a:lnTo>
                  <a:lnTo>
                    <a:pt x="259208" y="2666999"/>
                  </a:lnTo>
                  <a:lnTo>
                    <a:pt x="306833" y="2666999"/>
                  </a:lnTo>
                  <a:lnTo>
                    <a:pt x="306833" y="2686049"/>
                  </a:lnTo>
                  <a:close/>
                </a:path>
                <a:path w="2686050" h="2686050">
                  <a:moveTo>
                    <a:pt x="211583" y="2686049"/>
                  </a:moveTo>
                  <a:lnTo>
                    <a:pt x="163958" y="2686049"/>
                  </a:lnTo>
                  <a:lnTo>
                    <a:pt x="163958" y="2666999"/>
                  </a:lnTo>
                  <a:lnTo>
                    <a:pt x="211583" y="2666999"/>
                  </a:lnTo>
                  <a:lnTo>
                    <a:pt x="211583" y="2686049"/>
                  </a:lnTo>
                  <a:close/>
                </a:path>
                <a:path w="2686050" h="2686050">
                  <a:moveTo>
                    <a:pt x="116333" y="2686049"/>
                  </a:moveTo>
                  <a:lnTo>
                    <a:pt x="104774" y="2686049"/>
                  </a:lnTo>
                  <a:lnTo>
                    <a:pt x="94768" y="2685580"/>
                  </a:lnTo>
                  <a:lnTo>
                    <a:pt x="84942" y="2684173"/>
                  </a:lnTo>
                  <a:lnTo>
                    <a:pt x="75298" y="2681828"/>
                  </a:lnTo>
                  <a:lnTo>
                    <a:pt x="65834" y="2678544"/>
                  </a:lnTo>
                  <a:lnTo>
                    <a:pt x="72914" y="2660859"/>
                  </a:lnTo>
                  <a:lnTo>
                    <a:pt x="80657" y="2663545"/>
                  </a:lnTo>
                  <a:lnTo>
                    <a:pt x="88548" y="2665464"/>
                  </a:lnTo>
                  <a:lnTo>
                    <a:pt x="96588" y="2666615"/>
                  </a:lnTo>
                  <a:lnTo>
                    <a:pt x="104774" y="2666999"/>
                  </a:lnTo>
                  <a:lnTo>
                    <a:pt x="116333" y="2666999"/>
                  </a:lnTo>
                  <a:lnTo>
                    <a:pt x="116333" y="2686049"/>
                  </a:lnTo>
                  <a:close/>
                </a:path>
                <a:path w="2686050" h="2686050">
                  <a:moveTo>
                    <a:pt x="23641" y="2647570"/>
                  </a:moveTo>
                  <a:lnTo>
                    <a:pt x="15819" y="2636693"/>
                  </a:lnTo>
                  <a:lnTo>
                    <a:pt x="9546" y="2625103"/>
                  </a:lnTo>
                  <a:lnTo>
                    <a:pt x="4822" y="2612801"/>
                  </a:lnTo>
                  <a:lnTo>
                    <a:pt x="1648" y="2599785"/>
                  </a:lnTo>
                  <a:lnTo>
                    <a:pt x="20398" y="2596420"/>
                  </a:lnTo>
                  <a:lnTo>
                    <a:pt x="22995" y="2607069"/>
                  </a:lnTo>
                  <a:lnTo>
                    <a:pt x="26860" y="2617134"/>
                  </a:lnTo>
                  <a:lnTo>
                    <a:pt x="31992" y="2626617"/>
                  </a:lnTo>
                  <a:lnTo>
                    <a:pt x="38392" y="2635516"/>
                  </a:lnTo>
                  <a:lnTo>
                    <a:pt x="23641" y="2647570"/>
                  </a:lnTo>
                  <a:close/>
                </a:path>
                <a:path w="2686050" h="2686050">
                  <a:moveTo>
                    <a:pt x="19049" y="2550987"/>
                  </a:moveTo>
                  <a:lnTo>
                    <a:pt x="0" y="2550987"/>
                  </a:lnTo>
                  <a:lnTo>
                    <a:pt x="0" y="2503362"/>
                  </a:lnTo>
                  <a:lnTo>
                    <a:pt x="19049" y="2503362"/>
                  </a:lnTo>
                  <a:lnTo>
                    <a:pt x="19049" y="2550987"/>
                  </a:lnTo>
                  <a:close/>
                </a:path>
                <a:path w="2686050" h="2686050">
                  <a:moveTo>
                    <a:pt x="19049" y="2455737"/>
                  </a:moveTo>
                  <a:lnTo>
                    <a:pt x="0" y="2455737"/>
                  </a:lnTo>
                  <a:lnTo>
                    <a:pt x="0" y="2408112"/>
                  </a:lnTo>
                  <a:lnTo>
                    <a:pt x="19049" y="2408112"/>
                  </a:lnTo>
                  <a:lnTo>
                    <a:pt x="19049" y="2455737"/>
                  </a:lnTo>
                  <a:close/>
                </a:path>
                <a:path w="2686050" h="2686050">
                  <a:moveTo>
                    <a:pt x="19049" y="2360487"/>
                  </a:moveTo>
                  <a:lnTo>
                    <a:pt x="0" y="2360487"/>
                  </a:lnTo>
                  <a:lnTo>
                    <a:pt x="0" y="2312862"/>
                  </a:lnTo>
                  <a:lnTo>
                    <a:pt x="19049" y="2312862"/>
                  </a:lnTo>
                  <a:lnTo>
                    <a:pt x="19049" y="2360487"/>
                  </a:lnTo>
                  <a:close/>
                </a:path>
                <a:path w="2686050" h="2686050">
                  <a:moveTo>
                    <a:pt x="19049" y="2265237"/>
                  </a:moveTo>
                  <a:lnTo>
                    <a:pt x="0" y="2265237"/>
                  </a:lnTo>
                  <a:lnTo>
                    <a:pt x="0" y="2217612"/>
                  </a:lnTo>
                  <a:lnTo>
                    <a:pt x="19049" y="2217612"/>
                  </a:lnTo>
                  <a:lnTo>
                    <a:pt x="19049" y="2265237"/>
                  </a:lnTo>
                  <a:close/>
                </a:path>
                <a:path w="2686050" h="2686050">
                  <a:moveTo>
                    <a:pt x="19049" y="2169987"/>
                  </a:moveTo>
                  <a:lnTo>
                    <a:pt x="0" y="2169987"/>
                  </a:lnTo>
                  <a:lnTo>
                    <a:pt x="0" y="2122362"/>
                  </a:lnTo>
                  <a:lnTo>
                    <a:pt x="19049" y="2122362"/>
                  </a:lnTo>
                  <a:lnTo>
                    <a:pt x="19049" y="2169987"/>
                  </a:lnTo>
                  <a:close/>
                </a:path>
                <a:path w="2686050" h="2686050">
                  <a:moveTo>
                    <a:pt x="19049" y="2074737"/>
                  </a:moveTo>
                  <a:lnTo>
                    <a:pt x="0" y="2074737"/>
                  </a:lnTo>
                  <a:lnTo>
                    <a:pt x="0" y="2027112"/>
                  </a:lnTo>
                  <a:lnTo>
                    <a:pt x="19049" y="2027112"/>
                  </a:lnTo>
                  <a:lnTo>
                    <a:pt x="19049" y="2074737"/>
                  </a:lnTo>
                  <a:close/>
                </a:path>
                <a:path w="2686050" h="2686050">
                  <a:moveTo>
                    <a:pt x="19049" y="1979487"/>
                  </a:moveTo>
                  <a:lnTo>
                    <a:pt x="0" y="1979487"/>
                  </a:lnTo>
                  <a:lnTo>
                    <a:pt x="0" y="1931862"/>
                  </a:lnTo>
                  <a:lnTo>
                    <a:pt x="19049" y="1931862"/>
                  </a:lnTo>
                  <a:lnTo>
                    <a:pt x="19049" y="1979487"/>
                  </a:lnTo>
                  <a:close/>
                </a:path>
                <a:path w="2686050" h="2686050">
                  <a:moveTo>
                    <a:pt x="19049" y="1884238"/>
                  </a:moveTo>
                  <a:lnTo>
                    <a:pt x="0" y="1884238"/>
                  </a:lnTo>
                  <a:lnTo>
                    <a:pt x="0" y="1836612"/>
                  </a:lnTo>
                  <a:lnTo>
                    <a:pt x="19049" y="1836612"/>
                  </a:lnTo>
                  <a:lnTo>
                    <a:pt x="19049" y="1884238"/>
                  </a:lnTo>
                  <a:close/>
                </a:path>
                <a:path w="2686050" h="2686050">
                  <a:moveTo>
                    <a:pt x="19049" y="1788988"/>
                  </a:moveTo>
                  <a:lnTo>
                    <a:pt x="0" y="1788988"/>
                  </a:lnTo>
                  <a:lnTo>
                    <a:pt x="0" y="1741363"/>
                  </a:lnTo>
                  <a:lnTo>
                    <a:pt x="19049" y="1741363"/>
                  </a:lnTo>
                  <a:lnTo>
                    <a:pt x="19049" y="1788988"/>
                  </a:lnTo>
                  <a:close/>
                </a:path>
                <a:path w="2686050" h="2686050">
                  <a:moveTo>
                    <a:pt x="19049" y="1693738"/>
                  </a:moveTo>
                  <a:lnTo>
                    <a:pt x="0" y="1693738"/>
                  </a:lnTo>
                  <a:lnTo>
                    <a:pt x="0" y="1646113"/>
                  </a:lnTo>
                  <a:lnTo>
                    <a:pt x="19049" y="1646113"/>
                  </a:lnTo>
                  <a:lnTo>
                    <a:pt x="19049" y="1693738"/>
                  </a:lnTo>
                  <a:close/>
                </a:path>
                <a:path w="2686050" h="2686050">
                  <a:moveTo>
                    <a:pt x="19049" y="1598488"/>
                  </a:moveTo>
                  <a:lnTo>
                    <a:pt x="0" y="1598488"/>
                  </a:lnTo>
                  <a:lnTo>
                    <a:pt x="0" y="1550863"/>
                  </a:lnTo>
                  <a:lnTo>
                    <a:pt x="19049" y="1550863"/>
                  </a:lnTo>
                  <a:lnTo>
                    <a:pt x="19049" y="1598488"/>
                  </a:lnTo>
                  <a:close/>
                </a:path>
                <a:path w="2686050" h="2686050">
                  <a:moveTo>
                    <a:pt x="19049" y="1503238"/>
                  </a:moveTo>
                  <a:lnTo>
                    <a:pt x="0" y="1503238"/>
                  </a:lnTo>
                  <a:lnTo>
                    <a:pt x="0" y="1455613"/>
                  </a:lnTo>
                  <a:lnTo>
                    <a:pt x="19049" y="1455613"/>
                  </a:lnTo>
                  <a:lnTo>
                    <a:pt x="19049" y="1503238"/>
                  </a:lnTo>
                  <a:close/>
                </a:path>
                <a:path w="2686050" h="2686050">
                  <a:moveTo>
                    <a:pt x="19049" y="1407988"/>
                  </a:moveTo>
                  <a:lnTo>
                    <a:pt x="0" y="1407988"/>
                  </a:lnTo>
                  <a:lnTo>
                    <a:pt x="0" y="1360363"/>
                  </a:lnTo>
                  <a:lnTo>
                    <a:pt x="19049" y="1360363"/>
                  </a:lnTo>
                  <a:lnTo>
                    <a:pt x="19049" y="1407988"/>
                  </a:lnTo>
                  <a:close/>
                </a:path>
                <a:path w="2686050" h="2686050">
                  <a:moveTo>
                    <a:pt x="19049" y="1312738"/>
                  </a:moveTo>
                  <a:lnTo>
                    <a:pt x="0" y="1312738"/>
                  </a:lnTo>
                  <a:lnTo>
                    <a:pt x="0" y="1265113"/>
                  </a:lnTo>
                  <a:lnTo>
                    <a:pt x="19049" y="1265113"/>
                  </a:lnTo>
                  <a:lnTo>
                    <a:pt x="19049" y="1312738"/>
                  </a:lnTo>
                  <a:close/>
                </a:path>
                <a:path w="2686050" h="2686050">
                  <a:moveTo>
                    <a:pt x="19049" y="1217488"/>
                  </a:moveTo>
                  <a:lnTo>
                    <a:pt x="0" y="1217488"/>
                  </a:lnTo>
                  <a:lnTo>
                    <a:pt x="0" y="1169863"/>
                  </a:lnTo>
                  <a:lnTo>
                    <a:pt x="19049" y="1169863"/>
                  </a:lnTo>
                  <a:lnTo>
                    <a:pt x="19049" y="1217488"/>
                  </a:lnTo>
                  <a:close/>
                </a:path>
                <a:path w="2686050" h="2686050">
                  <a:moveTo>
                    <a:pt x="19049" y="1122238"/>
                  </a:moveTo>
                  <a:lnTo>
                    <a:pt x="0" y="1122238"/>
                  </a:lnTo>
                  <a:lnTo>
                    <a:pt x="0" y="1074613"/>
                  </a:lnTo>
                  <a:lnTo>
                    <a:pt x="19049" y="1074613"/>
                  </a:lnTo>
                  <a:lnTo>
                    <a:pt x="19049" y="1122238"/>
                  </a:lnTo>
                  <a:close/>
                </a:path>
                <a:path w="2686050" h="2686050">
                  <a:moveTo>
                    <a:pt x="19049" y="1026988"/>
                  </a:moveTo>
                  <a:lnTo>
                    <a:pt x="0" y="1026988"/>
                  </a:lnTo>
                  <a:lnTo>
                    <a:pt x="0" y="979363"/>
                  </a:lnTo>
                  <a:lnTo>
                    <a:pt x="19049" y="979363"/>
                  </a:lnTo>
                  <a:lnTo>
                    <a:pt x="19049" y="1026988"/>
                  </a:lnTo>
                  <a:close/>
                </a:path>
                <a:path w="2686050" h="2686050">
                  <a:moveTo>
                    <a:pt x="19049" y="931738"/>
                  </a:moveTo>
                  <a:lnTo>
                    <a:pt x="0" y="931738"/>
                  </a:lnTo>
                  <a:lnTo>
                    <a:pt x="0" y="884113"/>
                  </a:lnTo>
                  <a:lnTo>
                    <a:pt x="19049" y="884113"/>
                  </a:lnTo>
                  <a:lnTo>
                    <a:pt x="19049" y="931738"/>
                  </a:lnTo>
                  <a:close/>
                </a:path>
                <a:path w="2686050" h="2686050">
                  <a:moveTo>
                    <a:pt x="19049" y="836488"/>
                  </a:moveTo>
                  <a:lnTo>
                    <a:pt x="0" y="836488"/>
                  </a:lnTo>
                  <a:lnTo>
                    <a:pt x="0" y="788863"/>
                  </a:lnTo>
                  <a:lnTo>
                    <a:pt x="19049" y="788863"/>
                  </a:lnTo>
                  <a:lnTo>
                    <a:pt x="19049" y="836488"/>
                  </a:lnTo>
                  <a:close/>
                </a:path>
                <a:path w="2686050" h="2686050">
                  <a:moveTo>
                    <a:pt x="19049" y="741238"/>
                  </a:moveTo>
                  <a:lnTo>
                    <a:pt x="0" y="741238"/>
                  </a:lnTo>
                  <a:lnTo>
                    <a:pt x="0" y="693613"/>
                  </a:lnTo>
                  <a:lnTo>
                    <a:pt x="19049" y="693613"/>
                  </a:lnTo>
                  <a:lnTo>
                    <a:pt x="19049" y="741238"/>
                  </a:lnTo>
                  <a:close/>
                </a:path>
                <a:path w="2686050" h="2686050">
                  <a:moveTo>
                    <a:pt x="19049" y="645988"/>
                  </a:moveTo>
                  <a:lnTo>
                    <a:pt x="0" y="645988"/>
                  </a:lnTo>
                  <a:lnTo>
                    <a:pt x="0" y="598363"/>
                  </a:lnTo>
                  <a:lnTo>
                    <a:pt x="19049" y="598363"/>
                  </a:lnTo>
                  <a:lnTo>
                    <a:pt x="19049" y="645988"/>
                  </a:lnTo>
                  <a:close/>
                </a:path>
                <a:path w="2686050" h="2686050">
                  <a:moveTo>
                    <a:pt x="19049" y="550738"/>
                  </a:moveTo>
                  <a:lnTo>
                    <a:pt x="0" y="550738"/>
                  </a:lnTo>
                  <a:lnTo>
                    <a:pt x="0" y="503113"/>
                  </a:lnTo>
                  <a:lnTo>
                    <a:pt x="19049" y="503113"/>
                  </a:lnTo>
                  <a:lnTo>
                    <a:pt x="19049" y="550738"/>
                  </a:lnTo>
                  <a:close/>
                </a:path>
                <a:path w="2686050" h="2686050">
                  <a:moveTo>
                    <a:pt x="19049" y="455488"/>
                  </a:moveTo>
                  <a:lnTo>
                    <a:pt x="0" y="455488"/>
                  </a:lnTo>
                  <a:lnTo>
                    <a:pt x="0" y="407863"/>
                  </a:lnTo>
                  <a:lnTo>
                    <a:pt x="19049" y="407863"/>
                  </a:lnTo>
                  <a:lnTo>
                    <a:pt x="19049" y="455488"/>
                  </a:lnTo>
                  <a:close/>
                </a:path>
                <a:path w="2686050" h="2686050">
                  <a:moveTo>
                    <a:pt x="19049" y="360238"/>
                  </a:moveTo>
                  <a:lnTo>
                    <a:pt x="0" y="360238"/>
                  </a:lnTo>
                  <a:lnTo>
                    <a:pt x="0" y="312613"/>
                  </a:lnTo>
                  <a:lnTo>
                    <a:pt x="19049" y="312613"/>
                  </a:lnTo>
                  <a:lnTo>
                    <a:pt x="19049" y="360238"/>
                  </a:lnTo>
                  <a:close/>
                </a:path>
                <a:path w="2686050" h="2686050">
                  <a:moveTo>
                    <a:pt x="19049" y="264988"/>
                  </a:moveTo>
                  <a:lnTo>
                    <a:pt x="0" y="264988"/>
                  </a:lnTo>
                  <a:lnTo>
                    <a:pt x="0" y="217363"/>
                  </a:lnTo>
                  <a:lnTo>
                    <a:pt x="19049" y="217363"/>
                  </a:lnTo>
                  <a:lnTo>
                    <a:pt x="19049" y="264988"/>
                  </a:lnTo>
                  <a:close/>
                </a:path>
                <a:path w="2686050" h="2686050">
                  <a:moveTo>
                    <a:pt x="19049" y="169738"/>
                  </a:moveTo>
                  <a:lnTo>
                    <a:pt x="0" y="169738"/>
                  </a:lnTo>
                  <a:lnTo>
                    <a:pt x="0" y="122113"/>
                  </a:lnTo>
                  <a:lnTo>
                    <a:pt x="19049" y="122113"/>
                  </a:lnTo>
                  <a:lnTo>
                    <a:pt x="19049" y="169738"/>
                  </a:lnTo>
                  <a:close/>
                </a:path>
                <a:path w="2686050" h="2686050">
                  <a:moveTo>
                    <a:pt x="23326" y="78037"/>
                  </a:moveTo>
                  <a:lnTo>
                    <a:pt x="5226" y="72096"/>
                  </a:lnTo>
                  <a:lnTo>
                    <a:pt x="10171" y="59669"/>
                  </a:lnTo>
                  <a:lnTo>
                    <a:pt x="16547" y="48160"/>
                  </a:lnTo>
                  <a:lnTo>
                    <a:pt x="24352" y="37569"/>
                  </a:lnTo>
                  <a:lnTo>
                    <a:pt x="33588" y="27896"/>
                  </a:lnTo>
                  <a:lnTo>
                    <a:pt x="46531" y="41874"/>
                  </a:lnTo>
                  <a:lnTo>
                    <a:pt x="38975" y="49788"/>
                  </a:lnTo>
                  <a:lnTo>
                    <a:pt x="32588" y="58454"/>
                  </a:lnTo>
                  <a:lnTo>
                    <a:pt x="27372" y="67870"/>
                  </a:lnTo>
                  <a:lnTo>
                    <a:pt x="23326" y="78037"/>
                  </a:lnTo>
                  <a:close/>
                </a:path>
                <a:path w="2686050" h="2686050">
                  <a:moveTo>
                    <a:pt x="84461" y="21491"/>
                  </a:moveTo>
                  <a:lnTo>
                    <a:pt x="79947" y="2984"/>
                  </a:lnTo>
                  <a:lnTo>
                    <a:pt x="88103" y="994"/>
                  </a:lnTo>
                  <a:lnTo>
                    <a:pt x="96379" y="0"/>
                  </a:lnTo>
                  <a:lnTo>
                    <a:pt x="152399" y="0"/>
                  </a:lnTo>
                  <a:lnTo>
                    <a:pt x="152399" y="19049"/>
                  </a:lnTo>
                  <a:lnTo>
                    <a:pt x="97906" y="19049"/>
                  </a:lnTo>
                  <a:lnTo>
                    <a:pt x="91134" y="19863"/>
                  </a:lnTo>
                  <a:lnTo>
                    <a:pt x="84461" y="2149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716956" y="1853205"/>
            <a:ext cx="47180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5" b="1">
                <a:solidFill>
                  <a:srgbClr val="0066CC"/>
                </a:solidFill>
                <a:latin typeface="Roboto"/>
                <a:cs typeface="Roboto"/>
              </a:rPr>
              <a:t>Area</a:t>
            </a:r>
            <a:r>
              <a:rPr dirty="0" sz="1250" spc="-55" b="1">
                <a:solidFill>
                  <a:srgbClr val="0066CC"/>
                </a:solidFill>
                <a:latin typeface="Roboto"/>
                <a:cs typeface="Roboto"/>
              </a:rPr>
              <a:t> </a:t>
            </a:r>
            <a:r>
              <a:rPr dirty="0" sz="1250" spc="-50" b="1">
                <a:solidFill>
                  <a:srgbClr val="0066CC"/>
                </a:solidFill>
                <a:latin typeface="Roboto"/>
                <a:cs typeface="Roboto"/>
              </a:rPr>
              <a:t>1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752975" y="1828800"/>
            <a:ext cx="2686050" cy="2686050"/>
            <a:chOff x="4752975" y="1828800"/>
            <a:chExt cx="2686050" cy="2686050"/>
          </a:xfrm>
        </p:grpSpPr>
        <p:sp>
          <p:nvSpPr>
            <p:cNvPr id="14" name="object 14" descr=""/>
            <p:cNvSpPr/>
            <p:nvPr/>
          </p:nvSpPr>
          <p:spPr>
            <a:xfrm>
              <a:off x="4762499" y="1838324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2578003" y="2666999"/>
                  </a:moveTo>
                  <a:lnTo>
                    <a:pt x="88995" y="2666999"/>
                  </a:lnTo>
                  <a:lnTo>
                    <a:pt x="82801" y="2666389"/>
                  </a:lnTo>
                  <a:lnTo>
                    <a:pt x="37131" y="2647472"/>
                  </a:lnTo>
                  <a:lnTo>
                    <a:pt x="9643" y="2613978"/>
                  </a:lnTo>
                  <a:lnTo>
                    <a:pt x="0" y="2578003"/>
                  </a:lnTo>
                  <a:lnTo>
                    <a:pt x="0" y="88995"/>
                  </a:lnTo>
                  <a:lnTo>
                    <a:pt x="12577" y="47532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95249" y="0"/>
                  </a:lnTo>
                  <a:lnTo>
                    <a:pt x="2578003" y="0"/>
                  </a:lnTo>
                  <a:lnTo>
                    <a:pt x="2619466" y="12577"/>
                  </a:lnTo>
                  <a:lnTo>
                    <a:pt x="2654420" y="47532"/>
                  </a:lnTo>
                  <a:lnTo>
                    <a:pt x="2666999" y="88995"/>
                  </a:lnTo>
                  <a:lnTo>
                    <a:pt x="2666999" y="2578003"/>
                  </a:lnTo>
                  <a:lnTo>
                    <a:pt x="2654420" y="2619467"/>
                  </a:lnTo>
                  <a:lnTo>
                    <a:pt x="2619466" y="2654421"/>
                  </a:lnTo>
                  <a:lnTo>
                    <a:pt x="2584197" y="2666389"/>
                  </a:lnTo>
                  <a:lnTo>
                    <a:pt x="2578003" y="2666999"/>
                  </a:lnTo>
                  <a:close/>
                </a:path>
              </a:pathLst>
            </a:custGeom>
            <a:solidFill>
              <a:srgbClr val="E6F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52975" y="1828800"/>
              <a:ext cx="2686050" cy="2686050"/>
            </a:xfrm>
            <a:custGeom>
              <a:avLst/>
              <a:gdLst/>
              <a:ahLst/>
              <a:cxnLst/>
              <a:rect l="l" t="t" r="r" b="b"/>
              <a:pathLst>
                <a:path w="2686050" h="2686050">
                  <a:moveTo>
                    <a:pt x="247649" y="19049"/>
                  </a:moveTo>
                  <a:lnTo>
                    <a:pt x="200024" y="19049"/>
                  </a:lnTo>
                  <a:lnTo>
                    <a:pt x="200024" y="0"/>
                  </a:lnTo>
                  <a:lnTo>
                    <a:pt x="247649" y="0"/>
                  </a:lnTo>
                  <a:lnTo>
                    <a:pt x="247649" y="19049"/>
                  </a:lnTo>
                  <a:close/>
                </a:path>
                <a:path w="2686050" h="2686050">
                  <a:moveTo>
                    <a:pt x="342899" y="19049"/>
                  </a:moveTo>
                  <a:lnTo>
                    <a:pt x="295274" y="19049"/>
                  </a:lnTo>
                  <a:lnTo>
                    <a:pt x="295274" y="0"/>
                  </a:lnTo>
                  <a:lnTo>
                    <a:pt x="342899" y="0"/>
                  </a:lnTo>
                  <a:lnTo>
                    <a:pt x="342899" y="19049"/>
                  </a:lnTo>
                  <a:close/>
                </a:path>
                <a:path w="2686050" h="2686050">
                  <a:moveTo>
                    <a:pt x="438149" y="19049"/>
                  </a:moveTo>
                  <a:lnTo>
                    <a:pt x="390524" y="19049"/>
                  </a:lnTo>
                  <a:lnTo>
                    <a:pt x="390524" y="0"/>
                  </a:lnTo>
                  <a:lnTo>
                    <a:pt x="438149" y="0"/>
                  </a:lnTo>
                  <a:lnTo>
                    <a:pt x="438149" y="19049"/>
                  </a:lnTo>
                  <a:close/>
                </a:path>
                <a:path w="2686050" h="2686050">
                  <a:moveTo>
                    <a:pt x="533399" y="19049"/>
                  </a:moveTo>
                  <a:lnTo>
                    <a:pt x="485774" y="19049"/>
                  </a:lnTo>
                  <a:lnTo>
                    <a:pt x="485774" y="0"/>
                  </a:lnTo>
                  <a:lnTo>
                    <a:pt x="533399" y="0"/>
                  </a:lnTo>
                  <a:lnTo>
                    <a:pt x="533399" y="19049"/>
                  </a:lnTo>
                  <a:close/>
                </a:path>
                <a:path w="2686050" h="2686050">
                  <a:moveTo>
                    <a:pt x="628649" y="19049"/>
                  </a:moveTo>
                  <a:lnTo>
                    <a:pt x="581024" y="19049"/>
                  </a:lnTo>
                  <a:lnTo>
                    <a:pt x="581024" y="0"/>
                  </a:lnTo>
                  <a:lnTo>
                    <a:pt x="628649" y="0"/>
                  </a:lnTo>
                  <a:lnTo>
                    <a:pt x="628649" y="19049"/>
                  </a:lnTo>
                  <a:close/>
                </a:path>
                <a:path w="2686050" h="2686050">
                  <a:moveTo>
                    <a:pt x="723899" y="19049"/>
                  </a:moveTo>
                  <a:lnTo>
                    <a:pt x="676274" y="19049"/>
                  </a:lnTo>
                  <a:lnTo>
                    <a:pt x="676274" y="0"/>
                  </a:lnTo>
                  <a:lnTo>
                    <a:pt x="723899" y="0"/>
                  </a:lnTo>
                  <a:lnTo>
                    <a:pt x="723899" y="19049"/>
                  </a:lnTo>
                  <a:close/>
                </a:path>
                <a:path w="2686050" h="2686050">
                  <a:moveTo>
                    <a:pt x="819149" y="19049"/>
                  </a:moveTo>
                  <a:lnTo>
                    <a:pt x="771524" y="19049"/>
                  </a:lnTo>
                  <a:lnTo>
                    <a:pt x="771524" y="0"/>
                  </a:lnTo>
                  <a:lnTo>
                    <a:pt x="819149" y="0"/>
                  </a:lnTo>
                  <a:lnTo>
                    <a:pt x="819149" y="19049"/>
                  </a:lnTo>
                  <a:close/>
                </a:path>
                <a:path w="2686050" h="2686050">
                  <a:moveTo>
                    <a:pt x="914399" y="19049"/>
                  </a:moveTo>
                  <a:lnTo>
                    <a:pt x="866774" y="19049"/>
                  </a:lnTo>
                  <a:lnTo>
                    <a:pt x="866774" y="0"/>
                  </a:lnTo>
                  <a:lnTo>
                    <a:pt x="914399" y="0"/>
                  </a:lnTo>
                  <a:lnTo>
                    <a:pt x="914399" y="19049"/>
                  </a:lnTo>
                  <a:close/>
                </a:path>
                <a:path w="2686050" h="2686050">
                  <a:moveTo>
                    <a:pt x="1009649" y="19049"/>
                  </a:moveTo>
                  <a:lnTo>
                    <a:pt x="962024" y="19049"/>
                  </a:lnTo>
                  <a:lnTo>
                    <a:pt x="962024" y="0"/>
                  </a:lnTo>
                  <a:lnTo>
                    <a:pt x="1009649" y="0"/>
                  </a:lnTo>
                  <a:lnTo>
                    <a:pt x="1009649" y="19049"/>
                  </a:lnTo>
                  <a:close/>
                </a:path>
                <a:path w="2686050" h="2686050">
                  <a:moveTo>
                    <a:pt x="1104899" y="19049"/>
                  </a:moveTo>
                  <a:lnTo>
                    <a:pt x="1057274" y="19049"/>
                  </a:lnTo>
                  <a:lnTo>
                    <a:pt x="1057274" y="0"/>
                  </a:lnTo>
                  <a:lnTo>
                    <a:pt x="1104899" y="0"/>
                  </a:lnTo>
                  <a:lnTo>
                    <a:pt x="1104899" y="19049"/>
                  </a:lnTo>
                  <a:close/>
                </a:path>
                <a:path w="2686050" h="2686050">
                  <a:moveTo>
                    <a:pt x="1200149" y="19049"/>
                  </a:moveTo>
                  <a:lnTo>
                    <a:pt x="1152524" y="19049"/>
                  </a:lnTo>
                  <a:lnTo>
                    <a:pt x="1152524" y="0"/>
                  </a:lnTo>
                  <a:lnTo>
                    <a:pt x="1200149" y="0"/>
                  </a:lnTo>
                  <a:lnTo>
                    <a:pt x="1200149" y="19049"/>
                  </a:lnTo>
                  <a:close/>
                </a:path>
                <a:path w="2686050" h="2686050">
                  <a:moveTo>
                    <a:pt x="1295399" y="19049"/>
                  </a:moveTo>
                  <a:lnTo>
                    <a:pt x="1247774" y="19049"/>
                  </a:lnTo>
                  <a:lnTo>
                    <a:pt x="1247774" y="0"/>
                  </a:lnTo>
                  <a:lnTo>
                    <a:pt x="1295399" y="0"/>
                  </a:lnTo>
                  <a:lnTo>
                    <a:pt x="1295399" y="19049"/>
                  </a:lnTo>
                  <a:close/>
                </a:path>
                <a:path w="2686050" h="2686050">
                  <a:moveTo>
                    <a:pt x="1390649" y="19049"/>
                  </a:moveTo>
                  <a:lnTo>
                    <a:pt x="1343024" y="19049"/>
                  </a:lnTo>
                  <a:lnTo>
                    <a:pt x="1343024" y="0"/>
                  </a:lnTo>
                  <a:lnTo>
                    <a:pt x="1390649" y="0"/>
                  </a:lnTo>
                  <a:lnTo>
                    <a:pt x="1390649" y="19049"/>
                  </a:lnTo>
                  <a:close/>
                </a:path>
                <a:path w="2686050" h="2686050">
                  <a:moveTo>
                    <a:pt x="1485899" y="19049"/>
                  </a:moveTo>
                  <a:lnTo>
                    <a:pt x="1438274" y="19049"/>
                  </a:lnTo>
                  <a:lnTo>
                    <a:pt x="1438274" y="0"/>
                  </a:lnTo>
                  <a:lnTo>
                    <a:pt x="1485899" y="0"/>
                  </a:lnTo>
                  <a:lnTo>
                    <a:pt x="1485899" y="19049"/>
                  </a:lnTo>
                  <a:close/>
                </a:path>
                <a:path w="2686050" h="2686050">
                  <a:moveTo>
                    <a:pt x="1581149" y="19049"/>
                  </a:moveTo>
                  <a:lnTo>
                    <a:pt x="1533524" y="19049"/>
                  </a:lnTo>
                  <a:lnTo>
                    <a:pt x="1533524" y="0"/>
                  </a:lnTo>
                  <a:lnTo>
                    <a:pt x="1581149" y="0"/>
                  </a:lnTo>
                  <a:lnTo>
                    <a:pt x="1581149" y="19049"/>
                  </a:lnTo>
                  <a:close/>
                </a:path>
                <a:path w="2686050" h="2686050">
                  <a:moveTo>
                    <a:pt x="1676399" y="19049"/>
                  </a:moveTo>
                  <a:lnTo>
                    <a:pt x="1628774" y="19049"/>
                  </a:lnTo>
                  <a:lnTo>
                    <a:pt x="1628774" y="0"/>
                  </a:lnTo>
                  <a:lnTo>
                    <a:pt x="1676399" y="0"/>
                  </a:lnTo>
                  <a:lnTo>
                    <a:pt x="1676399" y="19049"/>
                  </a:lnTo>
                  <a:close/>
                </a:path>
                <a:path w="2686050" h="2686050">
                  <a:moveTo>
                    <a:pt x="1771649" y="19049"/>
                  </a:moveTo>
                  <a:lnTo>
                    <a:pt x="1724024" y="19049"/>
                  </a:lnTo>
                  <a:lnTo>
                    <a:pt x="1724024" y="0"/>
                  </a:lnTo>
                  <a:lnTo>
                    <a:pt x="1771649" y="0"/>
                  </a:lnTo>
                  <a:lnTo>
                    <a:pt x="1771649" y="19049"/>
                  </a:lnTo>
                  <a:close/>
                </a:path>
                <a:path w="2686050" h="2686050">
                  <a:moveTo>
                    <a:pt x="1866899" y="19049"/>
                  </a:moveTo>
                  <a:lnTo>
                    <a:pt x="1819274" y="19049"/>
                  </a:lnTo>
                  <a:lnTo>
                    <a:pt x="1819274" y="0"/>
                  </a:lnTo>
                  <a:lnTo>
                    <a:pt x="1866899" y="0"/>
                  </a:lnTo>
                  <a:lnTo>
                    <a:pt x="1866899" y="19049"/>
                  </a:lnTo>
                  <a:close/>
                </a:path>
                <a:path w="2686050" h="2686050">
                  <a:moveTo>
                    <a:pt x="1962149" y="19049"/>
                  </a:moveTo>
                  <a:lnTo>
                    <a:pt x="1914524" y="19049"/>
                  </a:lnTo>
                  <a:lnTo>
                    <a:pt x="1914524" y="0"/>
                  </a:lnTo>
                  <a:lnTo>
                    <a:pt x="1962149" y="0"/>
                  </a:lnTo>
                  <a:lnTo>
                    <a:pt x="1962149" y="19049"/>
                  </a:lnTo>
                  <a:close/>
                </a:path>
                <a:path w="2686050" h="2686050">
                  <a:moveTo>
                    <a:pt x="2057399" y="19049"/>
                  </a:moveTo>
                  <a:lnTo>
                    <a:pt x="2009774" y="19049"/>
                  </a:lnTo>
                  <a:lnTo>
                    <a:pt x="2009774" y="0"/>
                  </a:lnTo>
                  <a:lnTo>
                    <a:pt x="2057399" y="0"/>
                  </a:lnTo>
                  <a:lnTo>
                    <a:pt x="2057399" y="19049"/>
                  </a:lnTo>
                  <a:close/>
                </a:path>
                <a:path w="2686050" h="2686050">
                  <a:moveTo>
                    <a:pt x="2152649" y="19049"/>
                  </a:moveTo>
                  <a:lnTo>
                    <a:pt x="2105024" y="19049"/>
                  </a:lnTo>
                  <a:lnTo>
                    <a:pt x="2105024" y="0"/>
                  </a:lnTo>
                  <a:lnTo>
                    <a:pt x="2152649" y="0"/>
                  </a:lnTo>
                  <a:lnTo>
                    <a:pt x="2152649" y="19049"/>
                  </a:lnTo>
                  <a:close/>
                </a:path>
                <a:path w="2686050" h="2686050">
                  <a:moveTo>
                    <a:pt x="2247899" y="19049"/>
                  </a:moveTo>
                  <a:lnTo>
                    <a:pt x="2200274" y="19049"/>
                  </a:lnTo>
                  <a:lnTo>
                    <a:pt x="2200274" y="0"/>
                  </a:lnTo>
                  <a:lnTo>
                    <a:pt x="2247899" y="0"/>
                  </a:lnTo>
                  <a:lnTo>
                    <a:pt x="2247899" y="19049"/>
                  </a:lnTo>
                  <a:close/>
                </a:path>
                <a:path w="2686050" h="2686050">
                  <a:moveTo>
                    <a:pt x="2343149" y="19049"/>
                  </a:moveTo>
                  <a:lnTo>
                    <a:pt x="2295524" y="19049"/>
                  </a:lnTo>
                  <a:lnTo>
                    <a:pt x="2295524" y="0"/>
                  </a:lnTo>
                  <a:lnTo>
                    <a:pt x="2343149" y="0"/>
                  </a:lnTo>
                  <a:lnTo>
                    <a:pt x="2343149" y="19049"/>
                  </a:lnTo>
                  <a:close/>
                </a:path>
                <a:path w="2686050" h="2686050">
                  <a:moveTo>
                    <a:pt x="2438399" y="19049"/>
                  </a:moveTo>
                  <a:lnTo>
                    <a:pt x="2390774" y="19049"/>
                  </a:lnTo>
                  <a:lnTo>
                    <a:pt x="2390774" y="0"/>
                  </a:lnTo>
                  <a:lnTo>
                    <a:pt x="2438399" y="0"/>
                  </a:lnTo>
                  <a:lnTo>
                    <a:pt x="2438399" y="19049"/>
                  </a:lnTo>
                  <a:close/>
                </a:path>
                <a:path w="2686050" h="2686050">
                  <a:moveTo>
                    <a:pt x="2533649" y="19049"/>
                  </a:moveTo>
                  <a:lnTo>
                    <a:pt x="2486024" y="19049"/>
                  </a:lnTo>
                  <a:lnTo>
                    <a:pt x="2486024" y="0"/>
                  </a:lnTo>
                  <a:lnTo>
                    <a:pt x="2533649" y="0"/>
                  </a:lnTo>
                  <a:lnTo>
                    <a:pt x="2533649" y="19049"/>
                  </a:lnTo>
                  <a:close/>
                </a:path>
                <a:path w="2686050" h="2686050">
                  <a:moveTo>
                    <a:pt x="2622452" y="29587"/>
                  </a:moveTo>
                  <a:lnTo>
                    <a:pt x="2612663" y="24977"/>
                  </a:lnTo>
                  <a:lnTo>
                    <a:pt x="2602537" y="21684"/>
                  </a:lnTo>
                  <a:lnTo>
                    <a:pt x="2592074" y="19708"/>
                  </a:lnTo>
                  <a:lnTo>
                    <a:pt x="2581274" y="19049"/>
                  </a:lnTo>
                  <a:lnTo>
                    <a:pt x="2581274" y="0"/>
                  </a:lnTo>
                  <a:lnTo>
                    <a:pt x="2594474" y="804"/>
                  </a:lnTo>
                  <a:lnTo>
                    <a:pt x="2607262" y="3219"/>
                  </a:lnTo>
                  <a:lnTo>
                    <a:pt x="2619638" y="7244"/>
                  </a:lnTo>
                  <a:lnTo>
                    <a:pt x="2631602" y="12878"/>
                  </a:lnTo>
                  <a:lnTo>
                    <a:pt x="2622452" y="29587"/>
                  </a:lnTo>
                  <a:close/>
                </a:path>
                <a:path w="2686050" h="2686050">
                  <a:moveTo>
                    <a:pt x="2666855" y="99812"/>
                  </a:moveTo>
                  <a:lnTo>
                    <a:pt x="2665561" y="89002"/>
                  </a:lnTo>
                  <a:lnTo>
                    <a:pt x="2662956" y="78613"/>
                  </a:lnTo>
                  <a:lnTo>
                    <a:pt x="2659040" y="68643"/>
                  </a:lnTo>
                  <a:lnTo>
                    <a:pt x="2653814" y="59093"/>
                  </a:lnTo>
                  <a:lnTo>
                    <a:pt x="2669933" y="48941"/>
                  </a:lnTo>
                  <a:lnTo>
                    <a:pt x="2676322" y="60614"/>
                  </a:lnTo>
                  <a:lnTo>
                    <a:pt x="2681108" y="72799"/>
                  </a:lnTo>
                  <a:lnTo>
                    <a:pt x="2684292" y="85498"/>
                  </a:lnTo>
                  <a:lnTo>
                    <a:pt x="2685874" y="98709"/>
                  </a:lnTo>
                  <a:lnTo>
                    <a:pt x="2666855" y="99812"/>
                  </a:lnTo>
                  <a:close/>
                </a:path>
                <a:path w="2686050" h="2686050">
                  <a:moveTo>
                    <a:pt x="2686049" y="194245"/>
                  </a:moveTo>
                  <a:lnTo>
                    <a:pt x="2666999" y="194245"/>
                  </a:lnTo>
                  <a:lnTo>
                    <a:pt x="2666999" y="146620"/>
                  </a:lnTo>
                  <a:lnTo>
                    <a:pt x="2686049" y="146620"/>
                  </a:lnTo>
                  <a:lnTo>
                    <a:pt x="2686049" y="194245"/>
                  </a:lnTo>
                  <a:close/>
                </a:path>
                <a:path w="2686050" h="2686050">
                  <a:moveTo>
                    <a:pt x="2686049" y="289495"/>
                  </a:moveTo>
                  <a:lnTo>
                    <a:pt x="2666999" y="289495"/>
                  </a:lnTo>
                  <a:lnTo>
                    <a:pt x="2666999" y="241870"/>
                  </a:lnTo>
                  <a:lnTo>
                    <a:pt x="2686049" y="241870"/>
                  </a:lnTo>
                  <a:lnTo>
                    <a:pt x="2686049" y="289495"/>
                  </a:lnTo>
                  <a:close/>
                </a:path>
                <a:path w="2686050" h="2686050">
                  <a:moveTo>
                    <a:pt x="2686049" y="384745"/>
                  </a:moveTo>
                  <a:lnTo>
                    <a:pt x="2666999" y="384745"/>
                  </a:lnTo>
                  <a:lnTo>
                    <a:pt x="2666999" y="337120"/>
                  </a:lnTo>
                  <a:lnTo>
                    <a:pt x="2686049" y="337120"/>
                  </a:lnTo>
                  <a:lnTo>
                    <a:pt x="2686049" y="384745"/>
                  </a:lnTo>
                  <a:close/>
                </a:path>
                <a:path w="2686050" h="2686050">
                  <a:moveTo>
                    <a:pt x="2686049" y="479995"/>
                  </a:moveTo>
                  <a:lnTo>
                    <a:pt x="2666999" y="479995"/>
                  </a:lnTo>
                  <a:lnTo>
                    <a:pt x="2666999" y="432370"/>
                  </a:lnTo>
                  <a:lnTo>
                    <a:pt x="2686049" y="432370"/>
                  </a:lnTo>
                  <a:lnTo>
                    <a:pt x="2686049" y="479995"/>
                  </a:lnTo>
                  <a:close/>
                </a:path>
                <a:path w="2686050" h="2686050">
                  <a:moveTo>
                    <a:pt x="2686049" y="575245"/>
                  </a:moveTo>
                  <a:lnTo>
                    <a:pt x="2666999" y="575245"/>
                  </a:lnTo>
                  <a:lnTo>
                    <a:pt x="2666999" y="527620"/>
                  </a:lnTo>
                  <a:lnTo>
                    <a:pt x="2686049" y="527620"/>
                  </a:lnTo>
                  <a:lnTo>
                    <a:pt x="2686049" y="575245"/>
                  </a:lnTo>
                  <a:close/>
                </a:path>
                <a:path w="2686050" h="2686050">
                  <a:moveTo>
                    <a:pt x="2686049" y="670495"/>
                  </a:moveTo>
                  <a:lnTo>
                    <a:pt x="2666999" y="670495"/>
                  </a:lnTo>
                  <a:lnTo>
                    <a:pt x="2666999" y="622870"/>
                  </a:lnTo>
                  <a:lnTo>
                    <a:pt x="2686049" y="622870"/>
                  </a:lnTo>
                  <a:lnTo>
                    <a:pt x="2686049" y="670495"/>
                  </a:lnTo>
                  <a:close/>
                </a:path>
                <a:path w="2686050" h="2686050">
                  <a:moveTo>
                    <a:pt x="2686049" y="765745"/>
                  </a:moveTo>
                  <a:lnTo>
                    <a:pt x="2666999" y="765745"/>
                  </a:lnTo>
                  <a:lnTo>
                    <a:pt x="2666999" y="718120"/>
                  </a:lnTo>
                  <a:lnTo>
                    <a:pt x="2686049" y="718120"/>
                  </a:lnTo>
                  <a:lnTo>
                    <a:pt x="2686049" y="765745"/>
                  </a:lnTo>
                  <a:close/>
                </a:path>
                <a:path w="2686050" h="2686050">
                  <a:moveTo>
                    <a:pt x="2686049" y="860995"/>
                  </a:moveTo>
                  <a:lnTo>
                    <a:pt x="2666999" y="860995"/>
                  </a:lnTo>
                  <a:lnTo>
                    <a:pt x="2666999" y="813370"/>
                  </a:lnTo>
                  <a:lnTo>
                    <a:pt x="2686049" y="813370"/>
                  </a:lnTo>
                  <a:lnTo>
                    <a:pt x="2686049" y="860995"/>
                  </a:lnTo>
                  <a:close/>
                </a:path>
                <a:path w="2686050" h="2686050">
                  <a:moveTo>
                    <a:pt x="2686049" y="956245"/>
                  </a:moveTo>
                  <a:lnTo>
                    <a:pt x="2666999" y="956245"/>
                  </a:lnTo>
                  <a:lnTo>
                    <a:pt x="2666999" y="908620"/>
                  </a:lnTo>
                  <a:lnTo>
                    <a:pt x="2686049" y="908620"/>
                  </a:lnTo>
                  <a:lnTo>
                    <a:pt x="2686049" y="956245"/>
                  </a:lnTo>
                  <a:close/>
                </a:path>
                <a:path w="2686050" h="2686050">
                  <a:moveTo>
                    <a:pt x="2686049" y="1051495"/>
                  </a:moveTo>
                  <a:lnTo>
                    <a:pt x="2666999" y="1051495"/>
                  </a:lnTo>
                  <a:lnTo>
                    <a:pt x="2666999" y="1003870"/>
                  </a:lnTo>
                  <a:lnTo>
                    <a:pt x="2686049" y="1003870"/>
                  </a:lnTo>
                  <a:lnTo>
                    <a:pt x="2686049" y="1051495"/>
                  </a:lnTo>
                  <a:close/>
                </a:path>
                <a:path w="2686050" h="2686050">
                  <a:moveTo>
                    <a:pt x="2686049" y="1146745"/>
                  </a:moveTo>
                  <a:lnTo>
                    <a:pt x="2666999" y="1146745"/>
                  </a:lnTo>
                  <a:lnTo>
                    <a:pt x="2666999" y="1099120"/>
                  </a:lnTo>
                  <a:lnTo>
                    <a:pt x="2686049" y="1099120"/>
                  </a:lnTo>
                  <a:lnTo>
                    <a:pt x="2686049" y="1146745"/>
                  </a:lnTo>
                  <a:close/>
                </a:path>
                <a:path w="2686050" h="2686050">
                  <a:moveTo>
                    <a:pt x="2686049" y="1241995"/>
                  </a:moveTo>
                  <a:lnTo>
                    <a:pt x="2666999" y="1241995"/>
                  </a:lnTo>
                  <a:lnTo>
                    <a:pt x="2666999" y="1194370"/>
                  </a:lnTo>
                  <a:lnTo>
                    <a:pt x="2686049" y="1194370"/>
                  </a:lnTo>
                  <a:lnTo>
                    <a:pt x="2686049" y="1241995"/>
                  </a:lnTo>
                  <a:close/>
                </a:path>
                <a:path w="2686050" h="2686050">
                  <a:moveTo>
                    <a:pt x="2686049" y="1337245"/>
                  </a:moveTo>
                  <a:lnTo>
                    <a:pt x="2666999" y="1337245"/>
                  </a:lnTo>
                  <a:lnTo>
                    <a:pt x="2666999" y="1289620"/>
                  </a:lnTo>
                  <a:lnTo>
                    <a:pt x="2686049" y="1289620"/>
                  </a:lnTo>
                  <a:lnTo>
                    <a:pt x="2686049" y="1337245"/>
                  </a:lnTo>
                  <a:close/>
                </a:path>
                <a:path w="2686050" h="2686050">
                  <a:moveTo>
                    <a:pt x="2686049" y="1432495"/>
                  </a:moveTo>
                  <a:lnTo>
                    <a:pt x="2666999" y="1432495"/>
                  </a:lnTo>
                  <a:lnTo>
                    <a:pt x="2666999" y="1384870"/>
                  </a:lnTo>
                  <a:lnTo>
                    <a:pt x="2686049" y="1384870"/>
                  </a:lnTo>
                  <a:lnTo>
                    <a:pt x="2686049" y="1432495"/>
                  </a:lnTo>
                  <a:close/>
                </a:path>
                <a:path w="2686050" h="2686050">
                  <a:moveTo>
                    <a:pt x="2686049" y="1527745"/>
                  </a:moveTo>
                  <a:lnTo>
                    <a:pt x="2666999" y="1527745"/>
                  </a:lnTo>
                  <a:lnTo>
                    <a:pt x="2666999" y="1480120"/>
                  </a:lnTo>
                  <a:lnTo>
                    <a:pt x="2686049" y="1480120"/>
                  </a:lnTo>
                  <a:lnTo>
                    <a:pt x="2686049" y="1527745"/>
                  </a:lnTo>
                  <a:close/>
                </a:path>
                <a:path w="2686050" h="2686050">
                  <a:moveTo>
                    <a:pt x="2686049" y="1622995"/>
                  </a:moveTo>
                  <a:lnTo>
                    <a:pt x="2666999" y="1622995"/>
                  </a:lnTo>
                  <a:lnTo>
                    <a:pt x="2666999" y="1575370"/>
                  </a:lnTo>
                  <a:lnTo>
                    <a:pt x="2686049" y="1575370"/>
                  </a:lnTo>
                  <a:lnTo>
                    <a:pt x="2686049" y="1622995"/>
                  </a:lnTo>
                  <a:close/>
                </a:path>
                <a:path w="2686050" h="2686050">
                  <a:moveTo>
                    <a:pt x="2686049" y="1718245"/>
                  </a:moveTo>
                  <a:lnTo>
                    <a:pt x="2666999" y="1718245"/>
                  </a:lnTo>
                  <a:lnTo>
                    <a:pt x="2666999" y="1670620"/>
                  </a:lnTo>
                  <a:lnTo>
                    <a:pt x="2686049" y="1670620"/>
                  </a:lnTo>
                  <a:lnTo>
                    <a:pt x="2686049" y="1718245"/>
                  </a:lnTo>
                  <a:close/>
                </a:path>
                <a:path w="2686050" h="2686050">
                  <a:moveTo>
                    <a:pt x="2686049" y="1813495"/>
                  </a:moveTo>
                  <a:lnTo>
                    <a:pt x="2666999" y="1813495"/>
                  </a:lnTo>
                  <a:lnTo>
                    <a:pt x="2666999" y="1765870"/>
                  </a:lnTo>
                  <a:lnTo>
                    <a:pt x="2686049" y="1765870"/>
                  </a:lnTo>
                  <a:lnTo>
                    <a:pt x="2686049" y="1813495"/>
                  </a:lnTo>
                  <a:close/>
                </a:path>
                <a:path w="2686050" h="2686050">
                  <a:moveTo>
                    <a:pt x="2686049" y="1908745"/>
                  </a:moveTo>
                  <a:lnTo>
                    <a:pt x="2666999" y="1908745"/>
                  </a:lnTo>
                  <a:lnTo>
                    <a:pt x="2666999" y="1861120"/>
                  </a:lnTo>
                  <a:lnTo>
                    <a:pt x="2686049" y="1861120"/>
                  </a:lnTo>
                  <a:lnTo>
                    <a:pt x="2686049" y="1908745"/>
                  </a:lnTo>
                  <a:close/>
                </a:path>
                <a:path w="2686050" h="2686050">
                  <a:moveTo>
                    <a:pt x="2686049" y="2003995"/>
                  </a:moveTo>
                  <a:lnTo>
                    <a:pt x="2666999" y="2003995"/>
                  </a:lnTo>
                  <a:lnTo>
                    <a:pt x="2666999" y="1956370"/>
                  </a:lnTo>
                  <a:lnTo>
                    <a:pt x="2686049" y="1956370"/>
                  </a:lnTo>
                  <a:lnTo>
                    <a:pt x="2686049" y="2003995"/>
                  </a:lnTo>
                  <a:close/>
                </a:path>
                <a:path w="2686050" h="2686050">
                  <a:moveTo>
                    <a:pt x="2686049" y="2099245"/>
                  </a:moveTo>
                  <a:lnTo>
                    <a:pt x="2666999" y="2099245"/>
                  </a:lnTo>
                  <a:lnTo>
                    <a:pt x="2666999" y="2051620"/>
                  </a:lnTo>
                  <a:lnTo>
                    <a:pt x="2686049" y="2051620"/>
                  </a:lnTo>
                  <a:lnTo>
                    <a:pt x="2686049" y="2099245"/>
                  </a:lnTo>
                  <a:close/>
                </a:path>
                <a:path w="2686050" h="2686050">
                  <a:moveTo>
                    <a:pt x="2686049" y="2194495"/>
                  </a:moveTo>
                  <a:lnTo>
                    <a:pt x="2666999" y="2194495"/>
                  </a:lnTo>
                  <a:lnTo>
                    <a:pt x="2666999" y="2146870"/>
                  </a:lnTo>
                  <a:lnTo>
                    <a:pt x="2686049" y="2146870"/>
                  </a:lnTo>
                  <a:lnTo>
                    <a:pt x="2686049" y="2194495"/>
                  </a:lnTo>
                  <a:close/>
                </a:path>
                <a:path w="2686050" h="2686050">
                  <a:moveTo>
                    <a:pt x="2686049" y="2289745"/>
                  </a:moveTo>
                  <a:lnTo>
                    <a:pt x="2666999" y="2289745"/>
                  </a:lnTo>
                  <a:lnTo>
                    <a:pt x="2666999" y="2242120"/>
                  </a:lnTo>
                  <a:lnTo>
                    <a:pt x="2686049" y="2242120"/>
                  </a:lnTo>
                  <a:lnTo>
                    <a:pt x="2686049" y="2289745"/>
                  </a:lnTo>
                  <a:close/>
                </a:path>
                <a:path w="2686050" h="2686050">
                  <a:moveTo>
                    <a:pt x="2686049" y="2384995"/>
                  </a:moveTo>
                  <a:lnTo>
                    <a:pt x="2666999" y="2384995"/>
                  </a:lnTo>
                  <a:lnTo>
                    <a:pt x="2666999" y="2337370"/>
                  </a:lnTo>
                  <a:lnTo>
                    <a:pt x="2686049" y="2337370"/>
                  </a:lnTo>
                  <a:lnTo>
                    <a:pt x="2686049" y="2384995"/>
                  </a:lnTo>
                  <a:close/>
                </a:path>
                <a:path w="2686050" h="2686050">
                  <a:moveTo>
                    <a:pt x="2686049" y="2480245"/>
                  </a:moveTo>
                  <a:lnTo>
                    <a:pt x="2666999" y="2480245"/>
                  </a:lnTo>
                  <a:lnTo>
                    <a:pt x="2666999" y="2432620"/>
                  </a:lnTo>
                  <a:lnTo>
                    <a:pt x="2686049" y="2432620"/>
                  </a:lnTo>
                  <a:lnTo>
                    <a:pt x="2686049" y="2480245"/>
                  </a:lnTo>
                  <a:close/>
                </a:path>
                <a:path w="2686050" h="2686050">
                  <a:moveTo>
                    <a:pt x="2686049" y="2575495"/>
                  </a:moveTo>
                  <a:lnTo>
                    <a:pt x="2666999" y="2575495"/>
                  </a:lnTo>
                  <a:lnTo>
                    <a:pt x="2666999" y="2527870"/>
                  </a:lnTo>
                  <a:lnTo>
                    <a:pt x="2686049" y="2527870"/>
                  </a:lnTo>
                  <a:lnTo>
                    <a:pt x="2686049" y="2575495"/>
                  </a:lnTo>
                  <a:close/>
                </a:path>
                <a:path w="2686050" h="2686050">
                  <a:moveTo>
                    <a:pt x="2642442" y="2666341"/>
                  </a:moveTo>
                  <a:lnTo>
                    <a:pt x="2631321" y="2650874"/>
                  </a:lnTo>
                  <a:lnTo>
                    <a:pt x="2639798" y="2643949"/>
                  </a:lnTo>
                  <a:lnTo>
                    <a:pt x="2647205" y="2636135"/>
                  </a:lnTo>
                  <a:lnTo>
                    <a:pt x="2653543" y="2627430"/>
                  </a:lnTo>
                  <a:lnTo>
                    <a:pt x="2658812" y="2617835"/>
                  </a:lnTo>
                  <a:lnTo>
                    <a:pt x="2676043" y="2625959"/>
                  </a:lnTo>
                  <a:lnTo>
                    <a:pt x="2669604" y="2637686"/>
                  </a:lnTo>
                  <a:lnTo>
                    <a:pt x="2661857" y="2648326"/>
                  </a:lnTo>
                  <a:lnTo>
                    <a:pt x="2652803" y="2657877"/>
                  </a:lnTo>
                  <a:lnTo>
                    <a:pt x="2642442" y="2666341"/>
                  </a:lnTo>
                  <a:close/>
                </a:path>
                <a:path w="2686050" h="2686050">
                  <a:moveTo>
                    <a:pt x="2585371" y="2686049"/>
                  </a:moveTo>
                  <a:lnTo>
                    <a:pt x="2545209" y="2686049"/>
                  </a:lnTo>
                  <a:lnTo>
                    <a:pt x="2545209" y="2666999"/>
                  </a:lnTo>
                  <a:lnTo>
                    <a:pt x="2584625" y="2666999"/>
                  </a:lnTo>
                  <a:lnTo>
                    <a:pt x="2587966" y="2666803"/>
                  </a:lnTo>
                  <a:lnTo>
                    <a:pt x="2591295" y="2666412"/>
                  </a:lnTo>
                  <a:lnTo>
                    <a:pt x="2593520" y="2685332"/>
                  </a:lnTo>
                  <a:lnTo>
                    <a:pt x="2589452" y="2685810"/>
                  </a:lnTo>
                  <a:lnTo>
                    <a:pt x="2585371" y="2686049"/>
                  </a:lnTo>
                  <a:close/>
                </a:path>
                <a:path w="2686050" h="2686050">
                  <a:moveTo>
                    <a:pt x="2497584" y="2686049"/>
                  </a:moveTo>
                  <a:lnTo>
                    <a:pt x="2449959" y="2686049"/>
                  </a:lnTo>
                  <a:lnTo>
                    <a:pt x="2449959" y="2666999"/>
                  </a:lnTo>
                  <a:lnTo>
                    <a:pt x="2497584" y="2666999"/>
                  </a:lnTo>
                  <a:lnTo>
                    <a:pt x="2497584" y="2686049"/>
                  </a:lnTo>
                  <a:close/>
                </a:path>
                <a:path w="2686050" h="2686050">
                  <a:moveTo>
                    <a:pt x="2402334" y="2686049"/>
                  </a:moveTo>
                  <a:lnTo>
                    <a:pt x="2354709" y="2686049"/>
                  </a:lnTo>
                  <a:lnTo>
                    <a:pt x="2354709" y="2666999"/>
                  </a:lnTo>
                  <a:lnTo>
                    <a:pt x="2402334" y="2666999"/>
                  </a:lnTo>
                  <a:lnTo>
                    <a:pt x="2402334" y="2686049"/>
                  </a:lnTo>
                  <a:close/>
                </a:path>
                <a:path w="2686050" h="2686050">
                  <a:moveTo>
                    <a:pt x="2307084" y="2686049"/>
                  </a:moveTo>
                  <a:lnTo>
                    <a:pt x="2259459" y="2686049"/>
                  </a:lnTo>
                  <a:lnTo>
                    <a:pt x="2259459" y="2666999"/>
                  </a:lnTo>
                  <a:lnTo>
                    <a:pt x="2307084" y="2666999"/>
                  </a:lnTo>
                  <a:lnTo>
                    <a:pt x="2307084" y="2686049"/>
                  </a:lnTo>
                  <a:close/>
                </a:path>
                <a:path w="2686050" h="2686050">
                  <a:moveTo>
                    <a:pt x="2211834" y="2686049"/>
                  </a:moveTo>
                  <a:lnTo>
                    <a:pt x="2164209" y="2686049"/>
                  </a:lnTo>
                  <a:lnTo>
                    <a:pt x="2164209" y="2666999"/>
                  </a:lnTo>
                  <a:lnTo>
                    <a:pt x="2211834" y="2666999"/>
                  </a:lnTo>
                  <a:lnTo>
                    <a:pt x="2211834" y="2686049"/>
                  </a:lnTo>
                  <a:close/>
                </a:path>
                <a:path w="2686050" h="2686050">
                  <a:moveTo>
                    <a:pt x="2116584" y="2686049"/>
                  </a:moveTo>
                  <a:lnTo>
                    <a:pt x="2068959" y="2686049"/>
                  </a:lnTo>
                  <a:lnTo>
                    <a:pt x="2068959" y="2666999"/>
                  </a:lnTo>
                  <a:lnTo>
                    <a:pt x="2116584" y="2666999"/>
                  </a:lnTo>
                  <a:lnTo>
                    <a:pt x="2116584" y="2686049"/>
                  </a:lnTo>
                  <a:close/>
                </a:path>
                <a:path w="2686050" h="2686050">
                  <a:moveTo>
                    <a:pt x="2021334" y="2686049"/>
                  </a:moveTo>
                  <a:lnTo>
                    <a:pt x="1973709" y="2686049"/>
                  </a:lnTo>
                  <a:lnTo>
                    <a:pt x="1973709" y="2666999"/>
                  </a:lnTo>
                  <a:lnTo>
                    <a:pt x="2021334" y="2666999"/>
                  </a:lnTo>
                  <a:lnTo>
                    <a:pt x="2021334" y="2686049"/>
                  </a:lnTo>
                  <a:close/>
                </a:path>
                <a:path w="2686050" h="2686050">
                  <a:moveTo>
                    <a:pt x="1926084" y="2686049"/>
                  </a:moveTo>
                  <a:lnTo>
                    <a:pt x="1878459" y="2686049"/>
                  </a:lnTo>
                  <a:lnTo>
                    <a:pt x="1878459" y="2666999"/>
                  </a:lnTo>
                  <a:lnTo>
                    <a:pt x="1926084" y="2666999"/>
                  </a:lnTo>
                  <a:lnTo>
                    <a:pt x="1926084" y="2686049"/>
                  </a:lnTo>
                  <a:close/>
                </a:path>
                <a:path w="2686050" h="2686050">
                  <a:moveTo>
                    <a:pt x="1830834" y="2686049"/>
                  </a:moveTo>
                  <a:lnTo>
                    <a:pt x="1783209" y="2686049"/>
                  </a:lnTo>
                  <a:lnTo>
                    <a:pt x="1783209" y="2666999"/>
                  </a:lnTo>
                  <a:lnTo>
                    <a:pt x="1830834" y="2666999"/>
                  </a:lnTo>
                  <a:lnTo>
                    <a:pt x="1830834" y="2686049"/>
                  </a:lnTo>
                  <a:close/>
                </a:path>
                <a:path w="2686050" h="2686050">
                  <a:moveTo>
                    <a:pt x="1735584" y="2686049"/>
                  </a:moveTo>
                  <a:lnTo>
                    <a:pt x="1687959" y="2686049"/>
                  </a:lnTo>
                  <a:lnTo>
                    <a:pt x="1687959" y="2666999"/>
                  </a:lnTo>
                  <a:lnTo>
                    <a:pt x="1735584" y="2666999"/>
                  </a:lnTo>
                  <a:lnTo>
                    <a:pt x="1735584" y="2686049"/>
                  </a:lnTo>
                  <a:close/>
                </a:path>
                <a:path w="2686050" h="2686050">
                  <a:moveTo>
                    <a:pt x="1640334" y="2686049"/>
                  </a:moveTo>
                  <a:lnTo>
                    <a:pt x="1592709" y="2686049"/>
                  </a:lnTo>
                  <a:lnTo>
                    <a:pt x="1592709" y="2666999"/>
                  </a:lnTo>
                  <a:lnTo>
                    <a:pt x="1640334" y="2666999"/>
                  </a:lnTo>
                  <a:lnTo>
                    <a:pt x="1640334" y="2686049"/>
                  </a:lnTo>
                  <a:close/>
                </a:path>
                <a:path w="2686050" h="2686050">
                  <a:moveTo>
                    <a:pt x="1545084" y="2686049"/>
                  </a:moveTo>
                  <a:lnTo>
                    <a:pt x="1497459" y="2686049"/>
                  </a:lnTo>
                  <a:lnTo>
                    <a:pt x="1497459" y="2666999"/>
                  </a:lnTo>
                  <a:lnTo>
                    <a:pt x="1545084" y="2666999"/>
                  </a:lnTo>
                  <a:lnTo>
                    <a:pt x="1545084" y="2686049"/>
                  </a:lnTo>
                  <a:close/>
                </a:path>
                <a:path w="2686050" h="2686050">
                  <a:moveTo>
                    <a:pt x="1449834" y="2686049"/>
                  </a:moveTo>
                  <a:lnTo>
                    <a:pt x="1402209" y="2686049"/>
                  </a:lnTo>
                  <a:lnTo>
                    <a:pt x="1402209" y="2666999"/>
                  </a:lnTo>
                  <a:lnTo>
                    <a:pt x="1449834" y="2666999"/>
                  </a:lnTo>
                  <a:lnTo>
                    <a:pt x="1449834" y="2686049"/>
                  </a:lnTo>
                  <a:close/>
                </a:path>
                <a:path w="2686050" h="2686050">
                  <a:moveTo>
                    <a:pt x="1354584" y="2686049"/>
                  </a:moveTo>
                  <a:lnTo>
                    <a:pt x="1306959" y="2686049"/>
                  </a:lnTo>
                  <a:lnTo>
                    <a:pt x="1306959" y="2666999"/>
                  </a:lnTo>
                  <a:lnTo>
                    <a:pt x="1354584" y="2666999"/>
                  </a:lnTo>
                  <a:lnTo>
                    <a:pt x="1354584" y="2686049"/>
                  </a:lnTo>
                  <a:close/>
                </a:path>
                <a:path w="2686050" h="2686050">
                  <a:moveTo>
                    <a:pt x="1259334" y="2686049"/>
                  </a:moveTo>
                  <a:lnTo>
                    <a:pt x="1211709" y="2686049"/>
                  </a:lnTo>
                  <a:lnTo>
                    <a:pt x="1211709" y="2666999"/>
                  </a:lnTo>
                  <a:lnTo>
                    <a:pt x="1259334" y="2666999"/>
                  </a:lnTo>
                  <a:lnTo>
                    <a:pt x="1259334" y="2686049"/>
                  </a:lnTo>
                  <a:close/>
                </a:path>
                <a:path w="2686050" h="2686050">
                  <a:moveTo>
                    <a:pt x="1164084" y="2686049"/>
                  </a:moveTo>
                  <a:lnTo>
                    <a:pt x="1116459" y="2686049"/>
                  </a:lnTo>
                  <a:lnTo>
                    <a:pt x="1116459" y="2666999"/>
                  </a:lnTo>
                  <a:lnTo>
                    <a:pt x="1164084" y="2666999"/>
                  </a:lnTo>
                  <a:lnTo>
                    <a:pt x="1164084" y="2686049"/>
                  </a:lnTo>
                  <a:close/>
                </a:path>
                <a:path w="2686050" h="2686050">
                  <a:moveTo>
                    <a:pt x="1068834" y="2686049"/>
                  </a:moveTo>
                  <a:lnTo>
                    <a:pt x="1021209" y="2686049"/>
                  </a:lnTo>
                  <a:lnTo>
                    <a:pt x="1021209" y="2666999"/>
                  </a:lnTo>
                  <a:lnTo>
                    <a:pt x="1068834" y="2666999"/>
                  </a:lnTo>
                  <a:lnTo>
                    <a:pt x="1068834" y="2686049"/>
                  </a:lnTo>
                  <a:close/>
                </a:path>
                <a:path w="2686050" h="2686050">
                  <a:moveTo>
                    <a:pt x="973584" y="2686049"/>
                  </a:moveTo>
                  <a:lnTo>
                    <a:pt x="925959" y="2686049"/>
                  </a:lnTo>
                  <a:lnTo>
                    <a:pt x="925959" y="2666999"/>
                  </a:lnTo>
                  <a:lnTo>
                    <a:pt x="973584" y="2666999"/>
                  </a:lnTo>
                  <a:lnTo>
                    <a:pt x="973584" y="2686049"/>
                  </a:lnTo>
                  <a:close/>
                </a:path>
                <a:path w="2686050" h="2686050">
                  <a:moveTo>
                    <a:pt x="878334" y="2686049"/>
                  </a:moveTo>
                  <a:lnTo>
                    <a:pt x="830709" y="2686049"/>
                  </a:lnTo>
                  <a:lnTo>
                    <a:pt x="830709" y="2666999"/>
                  </a:lnTo>
                  <a:lnTo>
                    <a:pt x="878334" y="2666999"/>
                  </a:lnTo>
                  <a:lnTo>
                    <a:pt x="878334" y="2686049"/>
                  </a:lnTo>
                  <a:close/>
                </a:path>
                <a:path w="2686050" h="2686050">
                  <a:moveTo>
                    <a:pt x="783084" y="2686049"/>
                  </a:moveTo>
                  <a:lnTo>
                    <a:pt x="735459" y="2686049"/>
                  </a:lnTo>
                  <a:lnTo>
                    <a:pt x="735459" y="2666999"/>
                  </a:lnTo>
                  <a:lnTo>
                    <a:pt x="783084" y="2666999"/>
                  </a:lnTo>
                  <a:lnTo>
                    <a:pt x="783084" y="2686049"/>
                  </a:lnTo>
                  <a:close/>
                </a:path>
                <a:path w="2686050" h="2686050">
                  <a:moveTo>
                    <a:pt x="687834" y="2686049"/>
                  </a:moveTo>
                  <a:lnTo>
                    <a:pt x="640209" y="2686049"/>
                  </a:lnTo>
                  <a:lnTo>
                    <a:pt x="640209" y="2666999"/>
                  </a:lnTo>
                  <a:lnTo>
                    <a:pt x="687834" y="2666999"/>
                  </a:lnTo>
                  <a:lnTo>
                    <a:pt x="687834" y="2686049"/>
                  </a:lnTo>
                  <a:close/>
                </a:path>
                <a:path w="2686050" h="2686050">
                  <a:moveTo>
                    <a:pt x="592584" y="2686049"/>
                  </a:moveTo>
                  <a:lnTo>
                    <a:pt x="544959" y="2686049"/>
                  </a:lnTo>
                  <a:lnTo>
                    <a:pt x="544959" y="2666999"/>
                  </a:lnTo>
                  <a:lnTo>
                    <a:pt x="592584" y="2666999"/>
                  </a:lnTo>
                  <a:lnTo>
                    <a:pt x="592584" y="2686049"/>
                  </a:lnTo>
                  <a:close/>
                </a:path>
                <a:path w="2686050" h="2686050">
                  <a:moveTo>
                    <a:pt x="497334" y="2686049"/>
                  </a:moveTo>
                  <a:lnTo>
                    <a:pt x="449709" y="2686049"/>
                  </a:lnTo>
                  <a:lnTo>
                    <a:pt x="449709" y="2666999"/>
                  </a:lnTo>
                  <a:lnTo>
                    <a:pt x="497334" y="2666999"/>
                  </a:lnTo>
                  <a:lnTo>
                    <a:pt x="497334" y="2686049"/>
                  </a:lnTo>
                  <a:close/>
                </a:path>
                <a:path w="2686050" h="2686050">
                  <a:moveTo>
                    <a:pt x="402084" y="2686049"/>
                  </a:moveTo>
                  <a:lnTo>
                    <a:pt x="354459" y="2686049"/>
                  </a:lnTo>
                  <a:lnTo>
                    <a:pt x="354459" y="2666999"/>
                  </a:lnTo>
                  <a:lnTo>
                    <a:pt x="402084" y="2666999"/>
                  </a:lnTo>
                  <a:lnTo>
                    <a:pt x="402084" y="2686049"/>
                  </a:lnTo>
                  <a:close/>
                </a:path>
                <a:path w="2686050" h="2686050">
                  <a:moveTo>
                    <a:pt x="306834" y="2686049"/>
                  </a:moveTo>
                  <a:lnTo>
                    <a:pt x="259209" y="2686049"/>
                  </a:lnTo>
                  <a:lnTo>
                    <a:pt x="259209" y="2666999"/>
                  </a:lnTo>
                  <a:lnTo>
                    <a:pt x="306834" y="2666999"/>
                  </a:lnTo>
                  <a:lnTo>
                    <a:pt x="306834" y="2686049"/>
                  </a:lnTo>
                  <a:close/>
                </a:path>
                <a:path w="2686050" h="2686050">
                  <a:moveTo>
                    <a:pt x="211584" y="2686049"/>
                  </a:moveTo>
                  <a:lnTo>
                    <a:pt x="163959" y="2686049"/>
                  </a:lnTo>
                  <a:lnTo>
                    <a:pt x="163959" y="2666999"/>
                  </a:lnTo>
                  <a:lnTo>
                    <a:pt x="211584" y="2666999"/>
                  </a:lnTo>
                  <a:lnTo>
                    <a:pt x="211584" y="2686049"/>
                  </a:lnTo>
                  <a:close/>
                </a:path>
                <a:path w="2686050" h="2686050">
                  <a:moveTo>
                    <a:pt x="116334" y="2686049"/>
                  </a:moveTo>
                  <a:lnTo>
                    <a:pt x="104774" y="2686049"/>
                  </a:lnTo>
                  <a:lnTo>
                    <a:pt x="94768" y="2685580"/>
                  </a:lnTo>
                  <a:lnTo>
                    <a:pt x="84943" y="2684173"/>
                  </a:lnTo>
                  <a:lnTo>
                    <a:pt x="75298" y="2681828"/>
                  </a:lnTo>
                  <a:lnTo>
                    <a:pt x="65834" y="2678545"/>
                  </a:lnTo>
                  <a:lnTo>
                    <a:pt x="72914" y="2660859"/>
                  </a:lnTo>
                  <a:lnTo>
                    <a:pt x="80657" y="2663546"/>
                  </a:lnTo>
                  <a:lnTo>
                    <a:pt x="88548" y="2665464"/>
                  </a:lnTo>
                  <a:lnTo>
                    <a:pt x="96587" y="2666616"/>
                  </a:lnTo>
                  <a:lnTo>
                    <a:pt x="104774" y="2666999"/>
                  </a:lnTo>
                  <a:lnTo>
                    <a:pt x="116334" y="2666999"/>
                  </a:lnTo>
                  <a:lnTo>
                    <a:pt x="116334" y="2686049"/>
                  </a:lnTo>
                  <a:close/>
                </a:path>
                <a:path w="2686050" h="2686050">
                  <a:moveTo>
                    <a:pt x="23640" y="2647569"/>
                  </a:moveTo>
                  <a:lnTo>
                    <a:pt x="15819" y="2636693"/>
                  </a:lnTo>
                  <a:lnTo>
                    <a:pt x="9546" y="2625103"/>
                  </a:lnTo>
                  <a:lnTo>
                    <a:pt x="4823" y="2612801"/>
                  </a:lnTo>
                  <a:lnTo>
                    <a:pt x="1648" y="2599785"/>
                  </a:lnTo>
                  <a:lnTo>
                    <a:pt x="20398" y="2596419"/>
                  </a:lnTo>
                  <a:lnTo>
                    <a:pt x="22995" y="2607069"/>
                  </a:lnTo>
                  <a:lnTo>
                    <a:pt x="26860" y="2617134"/>
                  </a:lnTo>
                  <a:lnTo>
                    <a:pt x="31993" y="2626617"/>
                  </a:lnTo>
                  <a:lnTo>
                    <a:pt x="38392" y="2635516"/>
                  </a:lnTo>
                  <a:lnTo>
                    <a:pt x="23640" y="2647569"/>
                  </a:lnTo>
                  <a:close/>
                </a:path>
                <a:path w="2686050" h="2686050">
                  <a:moveTo>
                    <a:pt x="19049" y="2550987"/>
                  </a:moveTo>
                  <a:lnTo>
                    <a:pt x="0" y="2550987"/>
                  </a:lnTo>
                  <a:lnTo>
                    <a:pt x="0" y="2503362"/>
                  </a:lnTo>
                  <a:lnTo>
                    <a:pt x="19049" y="2503362"/>
                  </a:lnTo>
                  <a:lnTo>
                    <a:pt x="19049" y="2550987"/>
                  </a:lnTo>
                  <a:close/>
                </a:path>
                <a:path w="2686050" h="2686050">
                  <a:moveTo>
                    <a:pt x="19049" y="2455737"/>
                  </a:moveTo>
                  <a:lnTo>
                    <a:pt x="0" y="2455737"/>
                  </a:lnTo>
                  <a:lnTo>
                    <a:pt x="0" y="2408112"/>
                  </a:lnTo>
                  <a:lnTo>
                    <a:pt x="19049" y="2408112"/>
                  </a:lnTo>
                  <a:lnTo>
                    <a:pt x="19049" y="2455737"/>
                  </a:lnTo>
                  <a:close/>
                </a:path>
                <a:path w="2686050" h="2686050">
                  <a:moveTo>
                    <a:pt x="19049" y="2360487"/>
                  </a:moveTo>
                  <a:lnTo>
                    <a:pt x="0" y="2360487"/>
                  </a:lnTo>
                  <a:lnTo>
                    <a:pt x="0" y="2312862"/>
                  </a:lnTo>
                  <a:lnTo>
                    <a:pt x="19049" y="2312862"/>
                  </a:lnTo>
                  <a:lnTo>
                    <a:pt x="19049" y="2360487"/>
                  </a:lnTo>
                  <a:close/>
                </a:path>
                <a:path w="2686050" h="2686050">
                  <a:moveTo>
                    <a:pt x="19049" y="2265237"/>
                  </a:moveTo>
                  <a:lnTo>
                    <a:pt x="0" y="2265237"/>
                  </a:lnTo>
                  <a:lnTo>
                    <a:pt x="0" y="2217612"/>
                  </a:lnTo>
                  <a:lnTo>
                    <a:pt x="19049" y="2217612"/>
                  </a:lnTo>
                  <a:lnTo>
                    <a:pt x="19049" y="2265237"/>
                  </a:lnTo>
                  <a:close/>
                </a:path>
                <a:path w="2686050" h="2686050">
                  <a:moveTo>
                    <a:pt x="19049" y="2169987"/>
                  </a:moveTo>
                  <a:lnTo>
                    <a:pt x="0" y="2169987"/>
                  </a:lnTo>
                  <a:lnTo>
                    <a:pt x="0" y="2122362"/>
                  </a:lnTo>
                  <a:lnTo>
                    <a:pt x="19049" y="2122362"/>
                  </a:lnTo>
                  <a:lnTo>
                    <a:pt x="19049" y="2169987"/>
                  </a:lnTo>
                  <a:close/>
                </a:path>
                <a:path w="2686050" h="2686050">
                  <a:moveTo>
                    <a:pt x="19049" y="2074737"/>
                  </a:moveTo>
                  <a:lnTo>
                    <a:pt x="0" y="2074737"/>
                  </a:lnTo>
                  <a:lnTo>
                    <a:pt x="0" y="2027112"/>
                  </a:lnTo>
                  <a:lnTo>
                    <a:pt x="19049" y="2027112"/>
                  </a:lnTo>
                  <a:lnTo>
                    <a:pt x="19049" y="2074737"/>
                  </a:lnTo>
                  <a:close/>
                </a:path>
                <a:path w="2686050" h="2686050">
                  <a:moveTo>
                    <a:pt x="19049" y="1979487"/>
                  </a:moveTo>
                  <a:lnTo>
                    <a:pt x="0" y="1979487"/>
                  </a:lnTo>
                  <a:lnTo>
                    <a:pt x="0" y="1931862"/>
                  </a:lnTo>
                  <a:lnTo>
                    <a:pt x="19049" y="1931862"/>
                  </a:lnTo>
                  <a:lnTo>
                    <a:pt x="19049" y="1979487"/>
                  </a:lnTo>
                  <a:close/>
                </a:path>
                <a:path w="2686050" h="2686050">
                  <a:moveTo>
                    <a:pt x="19049" y="1884238"/>
                  </a:moveTo>
                  <a:lnTo>
                    <a:pt x="0" y="1884238"/>
                  </a:lnTo>
                  <a:lnTo>
                    <a:pt x="0" y="1836612"/>
                  </a:lnTo>
                  <a:lnTo>
                    <a:pt x="19049" y="1836612"/>
                  </a:lnTo>
                  <a:lnTo>
                    <a:pt x="19049" y="1884238"/>
                  </a:lnTo>
                  <a:close/>
                </a:path>
                <a:path w="2686050" h="2686050">
                  <a:moveTo>
                    <a:pt x="19049" y="1788988"/>
                  </a:moveTo>
                  <a:lnTo>
                    <a:pt x="0" y="1788988"/>
                  </a:lnTo>
                  <a:lnTo>
                    <a:pt x="0" y="1741363"/>
                  </a:lnTo>
                  <a:lnTo>
                    <a:pt x="19049" y="1741363"/>
                  </a:lnTo>
                  <a:lnTo>
                    <a:pt x="19049" y="1788988"/>
                  </a:lnTo>
                  <a:close/>
                </a:path>
                <a:path w="2686050" h="2686050">
                  <a:moveTo>
                    <a:pt x="19049" y="1693738"/>
                  </a:moveTo>
                  <a:lnTo>
                    <a:pt x="0" y="1693738"/>
                  </a:lnTo>
                  <a:lnTo>
                    <a:pt x="0" y="1646113"/>
                  </a:lnTo>
                  <a:lnTo>
                    <a:pt x="19049" y="1646113"/>
                  </a:lnTo>
                  <a:lnTo>
                    <a:pt x="19049" y="1693738"/>
                  </a:lnTo>
                  <a:close/>
                </a:path>
                <a:path w="2686050" h="2686050">
                  <a:moveTo>
                    <a:pt x="19049" y="1598488"/>
                  </a:moveTo>
                  <a:lnTo>
                    <a:pt x="0" y="1598488"/>
                  </a:lnTo>
                  <a:lnTo>
                    <a:pt x="0" y="1550863"/>
                  </a:lnTo>
                  <a:lnTo>
                    <a:pt x="19049" y="1550863"/>
                  </a:lnTo>
                  <a:lnTo>
                    <a:pt x="19049" y="1598488"/>
                  </a:lnTo>
                  <a:close/>
                </a:path>
                <a:path w="2686050" h="2686050">
                  <a:moveTo>
                    <a:pt x="19049" y="1503238"/>
                  </a:moveTo>
                  <a:lnTo>
                    <a:pt x="0" y="1503238"/>
                  </a:lnTo>
                  <a:lnTo>
                    <a:pt x="0" y="1455613"/>
                  </a:lnTo>
                  <a:lnTo>
                    <a:pt x="19049" y="1455613"/>
                  </a:lnTo>
                  <a:lnTo>
                    <a:pt x="19049" y="1503238"/>
                  </a:lnTo>
                  <a:close/>
                </a:path>
                <a:path w="2686050" h="2686050">
                  <a:moveTo>
                    <a:pt x="19049" y="1407988"/>
                  </a:moveTo>
                  <a:lnTo>
                    <a:pt x="0" y="1407988"/>
                  </a:lnTo>
                  <a:lnTo>
                    <a:pt x="0" y="1360363"/>
                  </a:lnTo>
                  <a:lnTo>
                    <a:pt x="19049" y="1360363"/>
                  </a:lnTo>
                  <a:lnTo>
                    <a:pt x="19049" y="1407988"/>
                  </a:lnTo>
                  <a:close/>
                </a:path>
                <a:path w="2686050" h="2686050">
                  <a:moveTo>
                    <a:pt x="19049" y="1312738"/>
                  </a:moveTo>
                  <a:lnTo>
                    <a:pt x="0" y="1312738"/>
                  </a:lnTo>
                  <a:lnTo>
                    <a:pt x="0" y="1265113"/>
                  </a:lnTo>
                  <a:lnTo>
                    <a:pt x="19049" y="1265113"/>
                  </a:lnTo>
                  <a:lnTo>
                    <a:pt x="19049" y="1312738"/>
                  </a:lnTo>
                  <a:close/>
                </a:path>
                <a:path w="2686050" h="2686050">
                  <a:moveTo>
                    <a:pt x="19049" y="1217488"/>
                  </a:moveTo>
                  <a:lnTo>
                    <a:pt x="0" y="1217488"/>
                  </a:lnTo>
                  <a:lnTo>
                    <a:pt x="0" y="1169863"/>
                  </a:lnTo>
                  <a:lnTo>
                    <a:pt x="19049" y="1169863"/>
                  </a:lnTo>
                  <a:lnTo>
                    <a:pt x="19049" y="1217488"/>
                  </a:lnTo>
                  <a:close/>
                </a:path>
                <a:path w="2686050" h="2686050">
                  <a:moveTo>
                    <a:pt x="19049" y="1122238"/>
                  </a:moveTo>
                  <a:lnTo>
                    <a:pt x="0" y="1122238"/>
                  </a:lnTo>
                  <a:lnTo>
                    <a:pt x="0" y="1074613"/>
                  </a:lnTo>
                  <a:lnTo>
                    <a:pt x="19049" y="1074613"/>
                  </a:lnTo>
                  <a:lnTo>
                    <a:pt x="19049" y="1122238"/>
                  </a:lnTo>
                  <a:close/>
                </a:path>
                <a:path w="2686050" h="2686050">
                  <a:moveTo>
                    <a:pt x="19049" y="1026988"/>
                  </a:moveTo>
                  <a:lnTo>
                    <a:pt x="0" y="1026988"/>
                  </a:lnTo>
                  <a:lnTo>
                    <a:pt x="0" y="979363"/>
                  </a:lnTo>
                  <a:lnTo>
                    <a:pt x="19049" y="979363"/>
                  </a:lnTo>
                  <a:lnTo>
                    <a:pt x="19049" y="1026988"/>
                  </a:lnTo>
                  <a:close/>
                </a:path>
                <a:path w="2686050" h="2686050">
                  <a:moveTo>
                    <a:pt x="19049" y="931738"/>
                  </a:moveTo>
                  <a:lnTo>
                    <a:pt x="0" y="931738"/>
                  </a:lnTo>
                  <a:lnTo>
                    <a:pt x="0" y="884113"/>
                  </a:lnTo>
                  <a:lnTo>
                    <a:pt x="19049" y="884113"/>
                  </a:lnTo>
                  <a:lnTo>
                    <a:pt x="19049" y="931738"/>
                  </a:lnTo>
                  <a:close/>
                </a:path>
                <a:path w="2686050" h="2686050">
                  <a:moveTo>
                    <a:pt x="19049" y="836488"/>
                  </a:moveTo>
                  <a:lnTo>
                    <a:pt x="0" y="836488"/>
                  </a:lnTo>
                  <a:lnTo>
                    <a:pt x="0" y="788863"/>
                  </a:lnTo>
                  <a:lnTo>
                    <a:pt x="19049" y="788863"/>
                  </a:lnTo>
                  <a:lnTo>
                    <a:pt x="19049" y="836488"/>
                  </a:lnTo>
                  <a:close/>
                </a:path>
                <a:path w="2686050" h="2686050">
                  <a:moveTo>
                    <a:pt x="19049" y="741238"/>
                  </a:moveTo>
                  <a:lnTo>
                    <a:pt x="0" y="741238"/>
                  </a:lnTo>
                  <a:lnTo>
                    <a:pt x="0" y="693613"/>
                  </a:lnTo>
                  <a:lnTo>
                    <a:pt x="19049" y="693613"/>
                  </a:lnTo>
                  <a:lnTo>
                    <a:pt x="19049" y="741238"/>
                  </a:lnTo>
                  <a:close/>
                </a:path>
                <a:path w="2686050" h="2686050">
                  <a:moveTo>
                    <a:pt x="19049" y="645988"/>
                  </a:moveTo>
                  <a:lnTo>
                    <a:pt x="0" y="645988"/>
                  </a:lnTo>
                  <a:lnTo>
                    <a:pt x="0" y="598363"/>
                  </a:lnTo>
                  <a:lnTo>
                    <a:pt x="19049" y="598363"/>
                  </a:lnTo>
                  <a:lnTo>
                    <a:pt x="19049" y="645988"/>
                  </a:lnTo>
                  <a:close/>
                </a:path>
                <a:path w="2686050" h="2686050">
                  <a:moveTo>
                    <a:pt x="19049" y="550738"/>
                  </a:moveTo>
                  <a:lnTo>
                    <a:pt x="0" y="550738"/>
                  </a:lnTo>
                  <a:lnTo>
                    <a:pt x="0" y="503113"/>
                  </a:lnTo>
                  <a:lnTo>
                    <a:pt x="19049" y="503113"/>
                  </a:lnTo>
                  <a:lnTo>
                    <a:pt x="19049" y="550738"/>
                  </a:lnTo>
                  <a:close/>
                </a:path>
                <a:path w="2686050" h="2686050">
                  <a:moveTo>
                    <a:pt x="19049" y="455488"/>
                  </a:moveTo>
                  <a:lnTo>
                    <a:pt x="0" y="455488"/>
                  </a:lnTo>
                  <a:lnTo>
                    <a:pt x="0" y="407863"/>
                  </a:lnTo>
                  <a:lnTo>
                    <a:pt x="19049" y="407863"/>
                  </a:lnTo>
                  <a:lnTo>
                    <a:pt x="19049" y="455488"/>
                  </a:lnTo>
                  <a:close/>
                </a:path>
                <a:path w="2686050" h="2686050">
                  <a:moveTo>
                    <a:pt x="19049" y="360238"/>
                  </a:moveTo>
                  <a:lnTo>
                    <a:pt x="0" y="360238"/>
                  </a:lnTo>
                  <a:lnTo>
                    <a:pt x="0" y="312613"/>
                  </a:lnTo>
                  <a:lnTo>
                    <a:pt x="19049" y="312613"/>
                  </a:lnTo>
                  <a:lnTo>
                    <a:pt x="19049" y="360238"/>
                  </a:lnTo>
                  <a:close/>
                </a:path>
                <a:path w="2686050" h="2686050">
                  <a:moveTo>
                    <a:pt x="19049" y="264988"/>
                  </a:moveTo>
                  <a:lnTo>
                    <a:pt x="0" y="264988"/>
                  </a:lnTo>
                  <a:lnTo>
                    <a:pt x="0" y="217363"/>
                  </a:lnTo>
                  <a:lnTo>
                    <a:pt x="19049" y="217363"/>
                  </a:lnTo>
                  <a:lnTo>
                    <a:pt x="19049" y="264988"/>
                  </a:lnTo>
                  <a:close/>
                </a:path>
                <a:path w="2686050" h="2686050">
                  <a:moveTo>
                    <a:pt x="19049" y="169738"/>
                  </a:moveTo>
                  <a:lnTo>
                    <a:pt x="0" y="169738"/>
                  </a:lnTo>
                  <a:lnTo>
                    <a:pt x="0" y="122113"/>
                  </a:lnTo>
                  <a:lnTo>
                    <a:pt x="19049" y="122113"/>
                  </a:lnTo>
                  <a:lnTo>
                    <a:pt x="19049" y="169738"/>
                  </a:lnTo>
                  <a:close/>
                </a:path>
                <a:path w="2686050" h="2686050">
                  <a:moveTo>
                    <a:pt x="23325" y="78037"/>
                  </a:moveTo>
                  <a:lnTo>
                    <a:pt x="5226" y="72096"/>
                  </a:lnTo>
                  <a:lnTo>
                    <a:pt x="10171" y="59669"/>
                  </a:lnTo>
                  <a:lnTo>
                    <a:pt x="16547" y="48160"/>
                  </a:lnTo>
                  <a:lnTo>
                    <a:pt x="24352" y="37569"/>
                  </a:lnTo>
                  <a:lnTo>
                    <a:pt x="33588" y="27896"/>
                  </a:lnTo>
                  <a:lnTo>
                    <a:pt x="46531" y="41874"/>
                  </a:lnTo>
                  <a:lnTo>
                    <a:pt x="38974" y="49788"/>
                  </a:lnTo>
                  <a:lnTo>
                    <a:pt x="32588" y="58454"/>
                  </a:lnTo>
                  <a:lnTo>
                    <a:pt x="27371" y="67870"/>
                  </a:lnTo>
                  <a:lnTo>
                    <a:pt x="23325" y="78037"/>
                  </a:lnTo>
                  <a:close/>
                </a:path>
                <a:path w="2686050" h="2686050">
                  <a:moveTo>
                    <a:pt x="84461" y="21491"/>
                  </a:moveTo>
                  <a:lnTo>
                    <a:pt x="79947" y="2984"/>
                  </a:lnTo>
                  <a:lnTo>
                    <a:pt x="88103" y="994"/>
                  </a:lnTo>
                  <a:lnTo>
                    <a:pt x="96379" y="0"/>
                  </a:lnTo>
                  <a:lnTo>
                    <a:pt x="152399" y="0"/>
                  </a:lnTo>
                  <a:lnTo>
                    <a:pt x="152399" y="19049"/>
                  </a:lnTo>
                  <a:lnTo>
                    <a:pt x="97906" y="19049"/>
                  </a:lnTo>
                  <a:lnTo>
                    <a:pt x="91135" y="19863"/>
                  </a:lnTo>
                  <a:lnTo>
                    <a:pt x="84461" y="21491"/>
                  </a:lnTo>
                  <a:close/>
                </a:path>
              </a:pathLst>
            </a:custGeom>
            <a:solidFill>
              <a:srgbClr val="3399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860206" y="1851657"/>
            <a:ext cx="4718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65" b="1">
                <a:solidFill>
                  <a:srgbClr val="339933"/>
                </a:solidFill>
                <a:latin typeface="Roboto"/>
                <a:cs typeface="Roboto"/>
              </a:rPr>
              <a:t>Area</a:t>
            </a:r>
            <a:r>
              <a:rPr dirty="0" sz="1300" spc="-15" b="1">
                <a:solidFill>
                  <a:srgbClr val="339933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339933"/>
                </a:solidFill>
                <a:latin typeface="Roboto"/>
                <a:cs typeface="Roboto"/>
              </a:rPr>
              <a:t>2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896225" y="1828800"/>
            <a:ext cx="2686050" cy="2686050"/>
            <a:chOff x="7896225" y="1828800"/>
            <a:chExt cx="2686050" cy="2686050"/>
          </a:xfrm>
        </p:grpSpPr>
        <p:sp>
          <p:nvSpPr>
            <p:cNvPr id="18" name="object 18" descr=""/>
            <p:cNvSpPr/>
            <p:nvPr/>
          </p:nvSpPr>
          <p:spPr>
            <a:xfrm>
              <a:off x="7905749" y="1838324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2578004" y="2666999"/>
                  </a:moveTo>
                  <a:lnTo>
                    <a:pt x="88996" y="2666999"/>
                  </a:lnTo>
                  <a:lnTo>
                    <a:pt x="82802" y="2666389"/>
                  </a:lnTo>
                  <a:lnTo>
                    <a:pt x="37132" y="2647472"/>
                  </a:lnTo>
                  <a:lnTo>
                    <a:pt x="9643" y="2613978"/>
                  </a:lnTo>
                  <a:lnTo>
                    <a:pt x="0" y="2578003"/>
                  </a:lnTo>
                  <a:lnTo>
                    <a:pt x="0" y="88995"/>
                  </a:lnTo>
                  <a:lnTo>
                    <a:pt x="12577" y="47532"/>
                  </a:lnTo>
                  <a:lnTo>
                    <a:pt x="47531" y="12577"/>
                  </a:lnTo>
                  <a:lnTo>
                    <a:pt x="88996" y="0"/>
                  </a:lnTo>
                  <a:lnTo>
                    <a:pt x="95250" y="0"/>
                  </a:lnTo>
                  <a:lnTo>
                    <a:pt x="2578004" y="0"/>
                  </a:lnTo>
                  <a:lnTo>
                    <a:pt x="2619467" y="12577"/>
                  </a:lnTo>
                  <a:lnTo>
                    <a:pt x="2654420" y="47532"/>
                  </a:lnTo>
                  <a:lnTo>
                    <a:pt x="2666999" y="88995"/>
                  </a:lnTo>
                  <a:lnTo>
                    <a:pt x="2666999" y="2578003"/>
                  </a:lnTo>
                  <a:lnTo>
                    <a:pt x="2654421" y="2619467"/>
                  </a:lnTo>
                  <a:lnTo>
                    <a:pt x="2619467" y="2654421"/>
                  </a:lnTo>
                  <a:lnTo>
                    <a:pt x="2584197" y="2666389"/>
                  </a:lnTo>
                  <a:lnTo>
                    <a:pt x="2578004" y="2666999"/>
                  </a:lnTo>
                  <a:close/>
                </a:path>
              </a:pathLst>
            </a:custGeom>
            <a:solidFill>
              <a:srgbClr val="FFF0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896225" y="1828800"/>
              <a:ext cx="2686050" cy="2686050"/>
            </a:xfrm>
            <a:custGeom>
              <a:avLst/>
              <a:gdLst/>
              <a:ahLst/>
              <a:cxnLst/>
              <a:rect l="l" t="t" r="r" b="b"/>
              <a:pathLst>
                <a:path w="2686050" h="2686050">
                  <a:moveTo>
                    <a:pt x="247649" y="19049"/>
                  </a:moveTo>
                  <a:lnTo>
                    <a:pt x="200024" y="19049"/>
                  </a:lnTo>
                  <a:lnTo>
                    <a:pt x="200024" y="0"/>
                  </a:lnTo>
                  <a:lnTo>
                    <a:pt x="247649" y="0"/>
                  </a:lnTo>
                  <a:lnTo>
                    <a:pt x="247649" y="19049"/>
                  </a:lnTo>
                  <a:close/>
                </a:path>
                <a:path w="2686050" h="2686050">
                  <a:moveTo>
                    <a:pt x="342899" y="19049"/>
                  </a:moveTo>
                  <a:lnTo>
                    <a:pt x="295274" y="19049"/>
                  </a:lnTo>
                  <a:lnTo>
                    <a:pt x="295274" y="0"/>
                  </a:lnTo>
                  <a:lnTo>
                    <a:pt x="342899" y="0"/>
                  </a:lnTo>
                  <a:lnTo>
                    <a:pt x="342899" y="19049"/>
                  </a:lnTo>
                  <a:close/>
                </a:path>
                <a:path w="2686050" h="2686050">
                  <a:moveTo>
                    <a:pt x="438149" y="19049"/>
                  </a:moveTo>
                  <a:lnTo>
                    <a:pt x="390524" y="19049"/>
                  </a:lnTo>
                  <a:lnTo>
                    <a:pt x="390524" y="0"/>
                  </a:lnTo>
                  <a:lnTo>
                    <a:pt x="438149" y="0"/>
                  </a:lnTo>
                  <a:lnTo>
                    <a:pt x="438149" y="19049"/>
                  </a:lnTo>
                  <a:close/>
                </a:path>
                <a:path w="2686050" h="2686050">
                  <a:moveTo>
                    <a:pt x="533399" y="19049"/>
                  </a:moveTo>
                  <a:lnTo>
                    <a:pt x="485774" y="19049"/>
                  </a:lnTo>
                  <a:lnTo>
                    <a:pt x="485774" y="0"/>
                  </a:lnTo>
                  <a:lnTo>
                    <a:pt x="533399" y="0"/>
                  </a:lnTo>
                  <a:lnTo>
                    <a:pt x="533399" y="19049"/>
                  </a:lnTo>
                  <a:close/>
                </a:path>
                <a:path w="2686050" h="2686050">
                  <a:moveTo>
                    <a:pt x="628649" y="19049"/>
                  </a:moveTo>
                  <a:lnTo>
                    <a:pt x="581024" y="19049"/>
                  </a:lnTo>
                  <a:lnTo>
                    <a:pt x="581024" y="0"/>
                  </a:lnTo>
                  <a:lnTo>
                    <a:pt x="628649" y="0"/>
                  </a:lnTo>
                  <a:lnTo>
                    <a:pt x="628649" y="19049"/>
                  </a:lnTo>
                  <a:close/>
                </a:path>
                <a:path w="2686050" h="2686050">
                  <a:moveTo>
                    <a:pt x="723899" y="19049"/>
                  </a:moveTo>
                  <a:lnTo>
                    <a:pt x="676274" y="19049"/>
                  </a:lnTo>
                  <a:lnTo>
                    <a:pt x="676274" y="0"/>
                  </a:lnTo>
                  <a:lnTo>
                    <a:pt x="723899" y="0"/>
                  </a:lnTo>
                  <a:lnTo>
                    <a:pt x="723899" y="19049"/>
                  </a:lnTo>
                  <a:close/>
                </a:path>
                <a:path w="2686050" h="2686050">
                  <a:moveTo>
                    <a:pt x="819149" y="19049"/>
                  </a:moveTo>
                  <a:lnTo>
                    <a:pt x="771524" y="19049"/>
                  </a:lnTo>
                  <a:lnTo>
                    <a:pt x="771524" y="0"/>
                  </a:lnTo>
                  <a:lnTo>
                    <a:pt x="819149" y="0"/>
                  </a:lnTo>
                  <a:lnTo>
                    <a:pt x="819149" y="19049"/>
                  </a:lnTo>
                  <a:close/>
                </a:path>
                <a:path w="2686050" h="2686050">
                  <a:moveTo>
                    <a:pt x="914399" y="19049"/>
                  </a:moveTo>
                  <a:lnTo>
                    <a:pt x="866774" y="19049"/>
                  </a:lnTo>
                  <a:lnTo>
                    <a:pt x="866774" y="0"/>
                  </a:lnTo>
                  <a:lnTo>
                    <a:pt x="914399" y="0"/>
                  </a:lnTo>
                  <a:lnTo>
                    <a:pt x="914399" y="19049"/>
                  </a:lnTo>
                  <a:close/>
                </a:path>
                <a:path w="2686050" h="2686050">
                  <a:moveTo>
                    <a:pt x="1009649" y="19049"/>
                  </a:moveTo>
                  <a:lnTo>
                    <a:pt x="962024" y="19049"/>
                  </a:lnTo>
                  <a:lnTo>
                    <a:pt x="962024" y="0"/>
                  </a:lnTo>
                  <a:lnTo>
                    <a:pt x="1009649" y="0"/>
                  </a:lnTo>
                  <a:lnTo>
                    <a:pt x="1009649" y="19049"/>
                  </a:lnTo>
                  <a:close/>
                </a:path>
                <a:path w="2686050" h="2686050">
                  <a:moveTo>
                    <a:pt x="1104899" y="19049"/>
                  </a:moveTo>
                  <a:lnTo>
                    <a:pt x="1057274" y="19049"/>
                  </a:lnTo>
                  <a:lnTo>
                    <a:pt x="1057274" y="0"/>
                  </a:lnTo>
                  <a:lnTo>
                    <a:pt x="1104899" y="0"/>
                  </a:lnTo>
                  <a:lnTo>
                    <a:pt x="1104899" y="19049"/>
                  </a:lnTo>
                  <a:close/>
                </a:path>
                <a:path w="2686050" h="2686050">
                  <a:moveTo>
                    <a:pt x="1200149" y="19049"/>
                  </a:moveTo>
                  <a:lnTo>
                    <a:pt x="1152524" y="19049"/>
                  </a:lnTo>
                  <a:lnTo>
                    <a:pt x="1152524" y="0"/>
                  </a:lnTo>
                  <a:lnTo>
                    <a:pt x="1200149" y="0"/>
                  </a:lnTo>
                  <a:lnTo>
                    <a:pt x="1200149" y="19049"/>
                  </a:lnTo>
                  <a:close/>
                </a:path>
                <a:path w="2686050" h="2686050">
                  <a:moveTo>
                    <a:pt x="1295399" y="19049"/>
                  </a:moveTo>
                  <a:lnTo>
                    <a:pt x="1247774" y="19049"/>
                  </a:lnTo>
                  <a:lnTo>
                    <a:pt x="1247774" y="0"/>
                  </a:lnTo>
                  <a:lnTo>
                    <a:pt x="1295399" y="0"/>
                  </a:lnTo>
                  <a:lnTo>
                    <a:pt x="1295399" y="19049"/>
                  </a:lnTo>
                  <a:close/>
                </a:path>
                <a:path w="2686050" h="2686050">
                  <a:moveTo>
                    <a:pt x="1390649" y="19049"/>
                  </a:moveTo>
                  <a:lnTo>
                    <a:pt x="1343024" y="19049"/>
                  </a:lnTo>
                  <a:lnTo>
                    <a:pt x="1343024" y="0"/>
                  </a:lnTo>
                  <a:lnTo>
                    <a:pt x="1390649" y="0"/>
                  </a:lnTo>
                  <a:lnTo>
                    <a:pt x="1390649" y="19049"/>
                  </a:lnTo>
                  <a:close/>
                </a:path>
                <a:path w="2686050" h="2686050">
                  <a:moveTo>
                    <a:pt x="1485899" y="19049"/>
                  </a:moveTo>
                  <a:lnTo>
                    <a:pt x="1438274" y="19049"/>
                  </a:lnTo>
                  <a:lnTo>
                    <a:pt x="1438274" y="0"/>
                  </a:lnTo>
                  <a:lnTo>
                    <a:pt x="1485899" y="0"/>
                  </a:lnTo>
                  <a:lnTo>
                    <a:pt x="1485899" y="19049"/>
                  </a:lnTo>
                  <a:close/>
                </a:path>
                <a:path w="2686050" h="2686050">
                  <a:moveTo>
                    <a:pt x="1581149" y="19049"/>
                  </a:moveTo>
                  <a:lnTo>
                    <a:pt x="1533524" y="19049"/>
                  </a:lnTo>
                  <a:lnTo>
                    <a:pt x="1533524" y="0"/>
                  </a:lnTo>
                  <a:lnTo>
                    <a:pt x="1581149" y="0"/>
                  </a:lnTo>
                  <a:lnTo>
                    <a:pt x="1581149" y="19049"/>
                  </a:lnTo>
                  <a:close/>
                </a:path>
                <a:path w="2686050" h="2686050">
                  <a:moveTo>
                    <a:pt x="1676399" y="19049"/>
                  </a:moveTo>
                  <a:lnTo>
                    <a:pt x="1628774" y="19049"/>
                  </a:lnTo>
                  <a:lnTo>
                    <a:pt x="1628774" y="0"/>
                  </a:lnTo>
                  <a:lnTo>
                    <a:pt x="1676399" y="0"/>
                  </a:lnTo>
                  <a:lnTo>
                    <a:pt x="1676399" y="19049"/>
                  </a:lnTo>
                  <a:close/>
                </a:path>
                <a:path w="2686050" h="2686050">
                  <a:moveTo>
                    <a:pt x="1771649" y="19049"/>
                  </a:moveTo>
                  <a:lnTo>
                    <a:pt x="1724024" y="19049"/>
                  </a:lnTo>
                  <a:lnTo>
                    <a:pt x="1724024" y="0"/>
                  </a:lnTo>
                  <a:lnTo>
                    <a:pt x="1771649" y="0"/>
                  </a:lnTo>
                  <a:lnTo>
                    <a:pt x="1771649" y="19049"/>
                  </a:lnTo>
                  <a:close/>
                </a:path>
                <a:path w="2686050" h="2686050">
                  <a:moveTo>
                    <a:pt x="1866899" y="19049"/>
                  </a:moveTo>
                  <a:lnTo>
                    <a:pt x="1819274" y="19049"/>
                  </a:lnTo>
                  <a:lnTo>
                    <a:pt x="1819274" y="0"/>
                  </a:lnTo>
                  <a:lnTo>
                    <a:pt x="1866899" y="0"/>
                  </a:lnTo>
                  <a:lnTo>
                    <a:pt x="1866899" y="19049"/>
                  </a:lnTo>
                  <a:close/>
                </a:path>
                <a:path w="2686050" h="2686050">
                  <a:moveTo>
                    <a:pt x="1962149" y="19049"/>
                  </a:moveTo>
                  <a:lnTo>
                    <a:pt x="1914524" y="19049"/>
                  </a:lnTo>
                  <a:lnTo>
                    <a:pt x="1914524" y="0"/>
                  </a:lnTo>
                  <a:lnTo>
                    <a:pt x="1962149" y="0"/>
                  </a:lnTo>
                  <a:lnTo>
                    <a:pt x="1962149" y="19049"/>
                  </a:lnTo>
                  <a:close/>
                </a:path>
                <a:path w="2686050" h="2686050">
                  <a:moveTo>
                    <a:pt x="2057399" y="19049"/>
                  </a:moveTo>
                  <a:lnTo>
                    <a:pt x="2009774" y="19049"/>
                  </a:lnTo>
                  <a:lnTo>
                    <a:pt x="2009774" y="0"/>
                  </a:lnTo>
                  <a:lnTo>
                    <a:pt x="2057399" y="0"/>
                  </a:lnTo>
                  <a:lnTo>
                    <a:pt x="2057399" y="19049"/>
                  </a:lnTo>
                  <a:close/>
                </a:path>
                <a:path w="2686050" h="2686050">
                  <a:moveTo>
                    <a:pt x="2152649" y="19049"/>
                  </a:moveTo>
                  <a:lnTo>
                    <a:pt x="2105024" y="19049"/>
                  </a:lnTo>
                  <a:lnTo>
                    <a:pt x="2105024" y="0"/>
                  </a:lnTo>
                  <a:lnTo>
                    <a:pt x="2152649" y="0"/>
                  </a:lnTo>
                  <a:lnTo>
                    <a:pt x="2152649" y="19049"/>
                  </a:lnTo>
                  <a:close/>
                </a:path>
                <a:path w="2686050" h="2686050">
                  <a:moveTo>
                    <a:pt x="2247899" y="19049"/>
                  </a:moveTo>
                  <a:lnTo>
                    <a:pt x="2200274" y="19049"/>
                  </a:lnTo>
                  <a:lnTo>
                    <a:pt x="2200274" y="0"/>
                  </a:lnTo>
                  <a:lnTo>
                    <a:pt x="2247899" y="0"/>
                  </a:lnTo>
                  <a:lnTo>
                    <a:pt x="2247899" y="19049"/>
                  </a:lnTo>
                  <a:close/>
                </a:path>
                <a:path w="2686050" h="2686050">
                  <a:moveTo>
                    <a:pt x="2343149" y="19049"/>
                  </a:moveTo>
                  <a:lnTo>
                    <a:pt x="2295524" y="19049"/>
                  </a:lnTo>
                  <a:lnTo>
                    <a:pt x="2295524" y="0"/>
                  </a:lnTo>
                  <a:lnTo>
                    <a:pt x="2343149" y="0"/>
                  </a:lnTo>
                  <a:lnTo>
                    <a:pt x="2343149" y="19049"/>
                  </a:lnTo>
                  <a:close/>
                </a:path>
                <a:path w="2686050" h="2686050">
                  <a:moveTo>
                    <a:pt x="2438399" y="19049"/>
                  </a:moveTo>
                  <a:lnTo>
                    <a:pt x="2390774" y="19049"/>
                  </a:lnTo>
                  <a:lnTo>
                    <a:pt x="2390774" y="0"/>
                  </a:lnTo>
                  <a:lnTo>
                    <a:pt x="2438399" y="0"/>
                  </a:lnTo>
                  <a:lnTo>
                    <a:pt x="2438399" y="19049"/>
                  </a:lnTo>
                  <a:close/>
                </a:path>
                <a:path w="2686050" h="2686050">
                  <a:moveTo>
                    <a:pt x="2533649" y="19049"/>
                  </a:moveTo>
                  <a:lnTo>
                    <a:pt x="2486024" y="19049"/>
                  </a:lnTo>
                  <a:lnTo>
                    <a:pt x="2486024" y="0"/>
                  </a:lnTo>
                  <a:lnTo>
                    <a:pt x="2533649" y="0"/>
                  </a:lnTo>
                  <a:lnTo>
                    <a:pt x="2533649" y="19049"/>
                  </a:lnTo>
                  <a:close/>
                </a:path>
                <a:path w="2686050" h="2686050">
                  <a:moveTo>
                    <a:pt x="2622451" y="29587"/>
                  </a:moveTo>
                  <a:lnTo>
                    <a:pt x="2612662" y="24977"/>
                  </a:lnTo>
                  <a:lnTo>
                    <a:pt x="2602537" y="21684"/>
                  </a:lnTo>
                  <a:lnTo>
                    <a:pt x="2592074" y="19708"/>
                  </a:lnTo>
                  <a:lnTo>
                    <a:pt x="2581274" y="19049"/>
                  </a:lnTo>
                  <a:lnTo>
                    <a:pt x="2581274" y="0"/>
                  </a:lnTo>
                  <a:lnTo>
                    <a:pt x="2594474" y="804"/>
                  </a:lnTo>
                  <a:lnTo>
                    <a:pt x="2607262" y="3219"/>
                  </a:lnTo>
                  <a:lnTo>
                    <a:pt x="2619638" y="7244"/>
                  </a:lnTo>
                  <a:lnTo>
                    <a:pt x="2631602" y="12878"/>
                  </a:lnTo>
                  <a:lnTo>
                    <a:pt x="2622451" y="29587"/>
                  </a:lnTo>
                  <a:close/>
                </a:path>
                <a:path w="2686050" h="2686050">
                  <a:moveTo>
                    <a:pt x="2666856" y="99812"/>
                  </a:moveTo>
                  <a:lnTo>
                    <a:pt x="2665561" y="89002"/>
                  </a:lnTo>
                  <a:lnTo>
                    <a:pt x="2662956" y="78613"/>
                  </a:lnTo>
                  <a:lnTo>
                    <a:pt x="2659040" y="68643"/>
                  </a:lnTo>
                  <a:lnTo>
                    <a:pt x="2653814" y="59093"/>
                  </a:lnTo>
                  <a:lnTo>
                    <a:pt x="2669934" y="48941"/>
                  </a:lnTo>
                  <a:lnTo>
                    <a:pt x="2676322" y="60614"/>
                  </a:lnTo>
                  <a:lnTo>
                    <a:pt x="2681108" y="72799"/>
                  </a:lnTo>
                  <a:lnTo>
                    <a:pt x="2684292" y="85498"/>
                  </a:lnTo>
                  <a:lnTo>
                    <a:pt x="2685874" y="98709"/>
                  </a:lnTo>
                  <a:lnTo>
                    <a:pt x="2666856" y="99812"/>
                  </a:lnTo>
                  <a:close/>
                </a:path>
                <a:path w="2686050" h="2686050">
                  <a:moveTo>
                    <a:pt x="2686049" y="194245"/>
                  </a:moveTo>
                  <a:lnTo>
                    <a:pt x="2666999" y="194245"/>
                  </a:lnTo>
                  <a:lnTo>
                    <a:pt x="2666999" y="146620"/>
                  </a:lnTo>
                  <a:lnTo>
                    <a:pt x="2686049" y="146620"/>
                  </a:lnTo>
                  <a:lnTo>
                    <a:pt x="2686049" y="194245"/>
                  </a:lnTo>
                  <a:close/>
                </a:path>
                <a:path w="2686050" h="2686050">
                  <a:moveTo>
                    <a:pt x="2686049" y="289495"/>
                  </a:moveTo>
                  <a:lnTo>
                    <a:pt x="2666999" y="289495"/>
                  </a:lnTo>
                  <a:lnTo>
                    <a:pt x="2666999" y="241870"/>
                  </a:lnTo>
                  <a:lnTo>
                    <a:pt x="2686049" y="241870"/>
                  </a:lnTo>
                  <a:lnTo>
                    <a:pt x="2686049" y="289495"/>
                  </a:lnTo>
                  <a:close/>
                </a:path>
                <a:path w="2686050" h="2686050">
                  <a:moveTo>
                    <a:pt x="2686049" y="384745"/>
                  </a:moveTo>
                  <a:lnTo>
                    <a:pt x="2666999" y="384745"/>
                  </a:lnTo>
                  <a:lnTo>
                    <a:pt x="2666999" y="337120"/>
                  </a:lnTo>
                  <a:lnTo>
                    <a:pt x="2686049" y="337120"/>
                  </a:lnTo>
                  <a:lnTo>
                    <a:pt x="2686049" y="384745"/>
                  </a:lnTo>
                  <a:close/>
                </a:path>
                <a:path w="2686050" h="2686050">
                  <a:moveTo>
                    <a:pt x="2686049" y="479995"/>
                  </a:moveTo>
                  <a:lnTo>
                    <a:pt x="2666999" y="479995"/>
                  </a:lnTo>
                  <a:lnTo>
                    <a:pt x="2666999" y="432370"/>
                  </a:lnTo>
                  <a:lnTo>
                    <a:pt x="2686049" y="432370"/>
                  </a:lnTo>
                  <a:lnTo>
                    <a:pt x="2686049" y="479995"/>
                  </a:lnTo>
                  <a:close/>
                </a:path>
                <a:path w="2686050" h="2686050">
                  <a:moveTo>
                    <a:pt x="2686049" y="575245"/>
                  </a:moveTo>
                  <a:lnTo>
                    <a:pt x="2666999" y="575245"/>
                  </a:lnTo>
                  <a:lnTo>
                    <a:pt x="2666999" y="527620"/>
                  </a:lnTo>
                  <a:lnTo>
                    <a:pt x="2686049" y="527620"/>
                  </a:lnTo>
                  <a:lnTo>
                    <a:pt x="2686049" y="575245"/>
                  </a:lnTo>
                  <a:close/>
                </a:path>
                <a:path w="2686050" h="2686050">
                  <a:moveTo>
                    <a:pt x="2686049" y="670495"/>
                  </a:moveTo>
                  <a:lnTo>
                    <a:pt x="2666999" y="670495"/>
                  </a:lnTo>
                  <a:lnTo>
                    <a:pt x="2666999" y="622870"/>
                  </a:lnTo>
                  <a:lnTo>
                    <a:pt x="2686049" y="622870"/>
                  </a:lnTo>
                  <a:lnTo>
                    <a:pt x="2686049" y="670495"/>
                  </a:lnTo>
                  <a:close/>
                </a:path>
                <a:path w="2686050" h="2686050">
                  <a:moveTo>
                    <a:pt x="2686049" y="765745"/>
                  </a:moveTo>
                  <a:lnTo>
                    <a:pt x="2666999" y="765745"/>
                  </a:lnTo>
                  <a:lnTo>
                    <a:pt x="2666999" y="718120"/>
                  </a:lnTo>
                  <a:lnTo>
                    <a:pt x="2686049" y="718120"/>
                  </a:lnTo>
                  <a:lnTo>
                    <a:pt x="2686049" y="765745"/>
                  </a:lnTo>
                  <a:close/>
                </a:path>
                <a:path w="2686050" h="2686050">
                  <a:moveTo>
                    <a:pt x="2686049" y="860995"/>
                  </a:moveTo>
                  <a:lnTo>
                    <a:pt x="2666999" y="860995"/>
                  </a:lnTo>
                  <a:lnTo>
                    <a:pt x="2666999" y="813370"/>
                  </a:lnTo>
                  <a:lnTo>
                    <a:pt x="2686049" y="813370"/>
                  </a:lnTo>
                  <a:lnTo>
                    <a:pt x="2686049" y="860995"/>
                  </a:lnTo>
                  <a:close/>
                </a:path>
                <a:path w="2686050" h="2686050">
                  <a:moveTo>
                    <a:pt x="2686049" y="956245"/>
                  </a:moveTo>
                  <a:lnTo>
                    <a:pt x="2666999" y="956245"/>
                  </a:lnTo>
                  <a:lnTo>
                    <a:pt x="2666999" y="908620"/>
                  </a:lnTo>
                  <a:lnTo>
                    <a:pt x="2686049" y="908620"/>
                  </a:lnTo>
                  <a:lnTo>
                    <a:pt x="2686049" y="956245"/>
                  </a:lnTo>
                  <a:close/>
                </a:path>
                <a:path w="2686050" h="2686050">
                  <a:moveTo>
                    <a:pt x="2686049" y="1051495"/>
                  </a:moveTo>
                  <a:lnTo>
                    <a:pt x="2666999" y="1051495"/>
                  </a:lnTo>
                  <a:lnTo>
                    <a:pt x="2666999" y="1003870"/>
                  </a:lnTo>
                  <a:lnTo>
                    <a:pt x="2686049" y="1003870"/>
                  </a:lnTo>
                  <a:lnTo>
                    <a:pt x="2686049" y="1051495"/>
                  </a:lnTo>
                  <a:close/>
                </a:path>
                <a:path w="2686050" h="2686050">
                  <a:moveTo>
                    <a:pt x="2686049" y="1146745"/>
                  </a:moveTo>
                  <a:lnTo>
                    <a:pt x="2666999" y="1146745"/>
                  </a:lnTo>
                  <a:lnTo>
                    <a:pt x="2666999" y="1099120"/>
                  </a:lnTo>
                  <a:lnTo>
                    <a:pt x="2686049" y="1099120"/>
                  </a:lnTo>
                  <a:lnTo>
                    <a:pt x="2686049" y="1146745"/>
                  </a:lnTo>
                  <a:close/>
                </a:path>
                <a:path w="2686050" h="2686050">
                  <a:moveTo>
                    <a:pt x="2686049" y="1241995"/>
                  </a:moveTo>
                  <a:lnTo>
                    <a:pt x="2666999" y="1241995"/>
                  </a:lnTo>
                  <a:lnTo>
                    <a:pt x="2666999" y="1194370"/>
                  </a:lnTo>
                  <a:lnTo>
                    <a:pt x="2686049" y="1194370"/>
                  </a:lnTo>
                  <a:lnTo>
                    <a:pt x="2686049" y="1241995"/>
                  </a:lnTo>
                  <a:close/>
                </a:path>
                <a:path w="2686050" h="2686050">
                  <a:moveTo>
                    <a:pt x="2686049" y="1337245"/>
                  </a:moveTo>
                  <a:lnTo>
                    <a:pt x="2666999" y="1337245"/>
                  </a:lnTo>
                  <a:lnTo>
                    <a:pt x="2666999" y="1289620"/>
                  </a:lnTo>
                  <a:lnTo>
                    <a:pt x="2686049" y="1289620"/>
                  </a:lnTo>
                  <a:lnTo>
                    <a:pt x="2686049" y="1337245"/>
                  </a:lnTo>
                  <a:close/>
                </a:path>
                <a:path w="2686050" h="2686050">
                  <a:moveTo>
                    <a:pt x="2686049" y="1432495"/>
                  </a:moveTo>
                  <a:lnTo>
                    <a:pt x="2666999" y="1432495"/>
                  </a:lnTo>
                  <a:lnTo>
                    <a:pt x="2666999" y="1384870"/>
                  </a:lnTo>
                  <a:lnTo>
                    <a:pt x="2686049" y="1384870"/>
                  </a:lnTo>
                  <a:lnTo>
                    <a:pt x="2686049" y="1432495"/>
                  </a:lnTo>
                  <a:close/>
                </a:path>
                <a:path w="2686050" h="2686050">
                  <a:moveTo>
                    <a:pt x="2686049" y="1527745"/>
                  </a:moveTo>
                  <a:lnTo>
                    <a:pt x="2666999" y="1527745"/>
                  </a:lnTo>
                  <a:lnTo>
                    <a:pt x="2666999" y="1480120"/>
                  </a:lnTo>
                  <a:lnTo>
                    <a:pt x="2686049" y="1480120"/>
                  </a:lnTo>
                  <a:lnTo>
                    <a:pt x="2686049" y="1527745"/>
                  </a:lnTo>
                  <a:close/>
                </a:path>
                <a:path w="2686050" h="2686050">
                  <a:moveTo>
                    <a:pt x="2686049" y="1622995"/>
                  </a:moveTo>
                  <a:lnTo>
                    <a:pt x="2666999" y="1622995"/>
                  </a:lnTo>
                  <a:lnTo>
                    <a:pt x="2666999" y="1575370"/>
                  </a:lnTo>
                  <a:lnTo>
                    <a:pt x="2686049" y="1575370"/>
                  </a:lnTo>
                  <a:lnTo>
                    <a:pt x="2686049" y="1622995"/>
                  </a:lnTo>
                  <a:close/>
                </a:path>
                <a:path w="2686050" h="2686050">
                  <a:moveTo>
                    <a:pt x="2686049" y="1718245"/>
                  </a:moveTo>
                  <a:lnTo>
                    <a:pt x="2666999" y="1718245"/>
                  </a:lnTo>
                  <a:lnTo>
                    <a:pt x="2666999" y="1670620"/>
                  </a:lnTo>
                  <a:lnTo>
                    <a:pt x="2686049" y="1670620"/>
                  </a:lnTo>
                  <a:lnTo>
                    <a:pt x="2686049" y="1718245"/>
                  </a:lnTo>
                  <a:close/>
                </a:path>
                <a:path w="2686050" h="2686050">
                  <a:moveTo>
                    <a:pt x="2686049" y="1813495"/>
                  </a:moveTo>
                  <a:lnTo>
                    <a:pt x="2666999" y="1813495"/>
                  </a:lnTo>
                  <a:lnTo>
                    <a:pt x="2666999" y="1765870"/>
                  </a:lnTo>
                  <a:lnTo>
                    <a:pt x="2686049" y="1765870"/>
                  </a:lnTo>
                  <a:lnTo>
                    <a:pt x="2686049" y="1813495"/>
                  </a:lnTo>
                  <a:close/>
                </a:path>
                <a:path w="2686050" h="2686050">
                  <a:moveTo>
                    <a:pt x="2686049" y="1908745"/>
                  </a:moveTo>
                  <a:lnTo>
                    <a:pt x="2666999" y="1908745"/>
                  </a:lnTo>
                  <a:lnTo>
                    <a:pt x="2666999" y="1861120"/>
                  </a:lnTo>
                  <a:lnTo>
                    <a:pt x="2686049" y="1861120"/>
                  </a:lnTo>
                  <a:lnTo>
                    <a:pt x="2686049" y="1908745"/>
                  </a:lnTo>
                  <a:close/>
                </a:path>
                <a:path w="2686050" h="2686050">
                  <a:moveTo>
                    <a:pt x="2686049" y="2003995"/>
                  </a:moveTo>
                  <a:lnTo>
                    <a:pt x="2666999" y="2003995"/>
                  </a:lnTo>
                  <a:lnTo>
                    <a:pt x="2666999" y="1956370"/>
                  </a:lnTo>
                  <a:lnTo>
                    <a:pt x="2686049" y="1956370"/>
                  </a:lnTo>
                  <a:lnTo>
                    <a:pt x="2686049" y="2003995"/>
                  </a:lnTo>
                  <a:close/>
                </a:path>
                <a:path w="2686050" h="2686050">
                  <a:moveTo>
                    <a:pt x="2686049" y="2099245"/>
                  </a:moveTo>
                  <a:lnTo>
                    <a:pt x="2666999" y="2099245"/>
                  </a:lnTo>
                  <a:lnTo>
                    <a:pt x="2666999" y="2051620"/>
                  </a:lnTo>
                  <a:lnTo>
                    <a:pt x="2686049" y="2051620"/>
                  </a:lnTo>
                  <a:lnTo>
                    <a:pt x="2686049" y="2099245"/>
                  </a:lnTo>
                  <a:close/>
                </a:path>
                <a:path w="2686050" h="2686050">
                  <a:moveTo>
                    <a:pt x="2686049" y="2194495"/>
                  </a:moveTo>
                  <a:lnTo>
                    <a:pt x="2666999" y="2194495"/>
                  </a:lnTo>
                  <a:lnTo>
                    <a:pt x="2666999" y="2146870"/>
                  </a:lnTo>
                  <a:lnTo>
                    <a:pt x="2686049" y="2146870"/>
                  </a:lnTo>
                  <a:lnTo>
                    <a:pt x="2686049" y="2194495"/>
                  </a:lnTo>
                  <a:close/>
                </a:path>
                <a:path w="2686050" h="2686050">
                  <a:moveTo>
                    <a:pt x="2686049" y="2289745"/>
                  </a:moveTo>
                  <a:lnTo>
                    <a:pt x="2666999" y="2289745"/>
                  </a:lnTo>
                  <a:lnTo>
                    <a:pt x="2666999" y="2242120"/>
                  </a:lnTo>
                  <a:lnTo>
                    <a:pt x="2686049" y="2242120"/>
                  </a:lnTo>
                  <a:lnTo>
                    <a:pt x="2686049" y="2289745"/>
                  </a:lnTo>
                  <a:close/>
                </a:path>
                <a:path w="2686050" h="2686050">
                  <a:moveTo>
                    <a:pt x="2686049" y="2384995"/>
                  </a:moveTo>
                  <a:lnTo>
                    <a:pt x="2666999" y="2384995"/>
                  </a:lnTo>
                  <a:lnTo>
                    <a:pt x="2666999" y="2337370"/>
                  </a:lnTo>
                  <a:lnTo>
                    <a:pt x="2686049" y="2337370"/>
                  </a:lnTo>
                  <a:lnTo>
                    <a:pt x="2686049" y="2384995"/>
                  </a:lnTo>
                  <a:close/>
                </a:path>
                <a:path w="2686050" h="2686050">
                  <a:moveTo>
                    <a:pt x="2686049" y="2480245"/>
                  </a:moveTo>
                  <a:lnTo>
                    <a:pt x="2666999" y="2480245"/>
                  </a:lnTo>
                  <a:lnTo>
                    <a:pt x="2666999" y="2432620"/>
                  </a:lnTo>
                  <a:lnTo>
                    <a:pt x="2686049" y="2432620"/>
                  </a:lnTo>
                  <a:lnTo>
                    <a:pt x="2686049" y="2480245"/>
                  </a:lnTo>
                  <a:close/>
                </a:path>
                <a:path w="2686050" h="2686050">
                  <a:moveTo>
                    <a:pt x="2686049" y="2575495"/>
                  </a:moveTo>
                  <a:lnTo>
                    <a:pt x="2666999" y="2575495"/>
                  </a:lnTo>
                  <a:lnTo>
                    <a:pt x="2666999" y="2527870"/>
                  </a:lnTo>
                  <a:lnTo>
                    <a:pt x="2686049" y="2527870"/>
                  </a:lnTo>
                  <a:lnTo>
                    <a:pt x="2686049" y="2575495"/>
                  </a:lnTo>
                  <a:close/>
                </a:path>
                <a:path w="2686050" h="2686050">
                  <a:moveTo>
                    <a:pt x="2642442" y="2666341"/>
                  </a:moveTo>
                  <a:lnTo>
                    <a:pt x="2631321" y="2650875"/>
                  </a:lnTo>
                  <a:lnTo>
                    <a:pt x="2639798" y="2643950"/>
                  </a:lnTo>
                  <a:lnTo>
                    <a:pt x="2647206" y="2636135"/>
                  </a:lnTo>
                  <a:lnTo>
                    <a:pt x="2653544" y="2627430"/>
                  </a:lnTo>
                  <a:lnTo>
                    <a:pt x="2658812" y="2617835"/>
                  </a:lnTo>
                  <a:lnTo>
                    <a:pt x="2676042" y="2625959"/>
                  </a:lnTo>
                  <a:lnTo>
                    <a:pt x="2669603" y="2637686"/>
                  </a:lnTo>
                  <a:lnTo>
                    <a:pt x="2661856" y="2648326"/>
                  </a:lnTo>
                  <a:lnTo>
                    <a:pt x="2652803" y="2657877"/>
                  </a:lnTo>
                  <a:lnTo>
                    <a:pt x="2642442" y="2666341"/>
                  </a:lnTo>
                  <a:close/>
                </a:path>
                <a:path w="2686050" h="2686050">
                  <a:moveTo>
                    <a:pt x="2585371" y="2686049"/>
                  </a:moveTo>
                  <a:lnTo>
                    <a:pt x="2545209" y="2686049"/>
                  </a:lnTo>
                  <a:lnTo>
                    <a:pt x="2545209" y="2666999"/>
                  </a:lnTo>
                  <a:lnTo>
                    <a:pt x="2584625" y="2666999"/>
                  </a:lnTo>
                  <a:lnTo>
                    <a:pt x="2587966" y="2666803"/>
                  </a:lnTo>
                  <a:lnTo>
                    <a:pt x="2591295" y="2666412"/>
                  </a:lnTo>
                  <a:lnTo>
                    <a:pt x="2593520" y="2685332"/>
                  </a:lnTo>
                  <a:lnTo>
                    <a:pt x="2589452" y="2685810"/>
                  </a:lnTo>
                  <a:lnTo>
                    <a:pt x="2585371" y="2686049"/>
                  </a:lnTo>
                  <a:close/>
                </a:path>
                <a:path w="2686050" h="2686050">
                  <a:moveTo>
                    <a:pt x="2497584" y="2686049"/>
                  </a:moveTo>
                  <a:lnTo>
                    <a:pt x="2449959" y="2686049"/>
                  </a:lnTo>
                  <a:lnTo>
                    <a:pt x="2449959" y="2666999"/>
                  </a:lnTo>
                  <a:lnTo>
                    <a:pt x="2497584" y="2666999"/>
                  </a:lnTo>
                  <a:lnTo>
                    <a:pt x="2497584" y="2686049"/>
                  </a:lnTo>
                  <a:close/>
                </a:path>
                <a:path w="2686050" h="2686050">
                  <a:moveTo>
                    <a:pt x="2402334" y="2686049"/>
                  </a:moveTo>
                  <a:lnTo>
                    <a:pt x="2354709" y="2686049"/>
                  </a:lnTo>
                  <a:lnTo>
                    <a:pt x="2354709" y="2666999"/>
                  </a:lnTo>
                  <a:lnTo>
                    <a:pt x="2402334" y="2666999"/>
                  </a:lnTo>
                  <a:lnTo>
                    <a:pt x="2402334" y="2686049"/>
                  </a:lnTo>
                  <a:close/>
                </a:path>
                <a:path w="2686050" h="2686050">
                  <a:moveTo>
                    <a:pt x="2307084" y="2686049"/>
                  </a:moveTo>
                  <a:lnTo>
                    <a:pt x="2259459" y="2686049"/>
                  </a:lnTo>
                  <a:lnTo>
                    <a:pt x="2259459" y="2666999"/>
                  </a:lnTo>
                  <a:lnTo>
                    <a:pt x="2307084" y="2666999"/>
                  </a:lnTo>
                  <a:lnTo>
                    <a:pt x="2307084" y="2686049"/>
                  </a:lnTo>
                  <a:close/>
                </a:path>
                <a:path w="2686050" h="2686050">
                  <a:moveTo>
                    <a:pt x="2211834" y="2686049"/>
                  </a:moveTo>
                  <a:lnTo>
                    <a:pt x="2164209" y="2686049"/>
                  </a:lnTo>
                  <a:lnTo>
                    <a:pt x="2164209" y="2666999"/>
                  </a:lnTo>
                  <a:lnTo>
                    <a:pt x="2211834" y="2666999"/>
                  </a:lnTo>
                  <a:lnTo>
                    <a:pt x="2211834" y="2686049"/>
                  </a:lnTo>
                  <a:close/>
                </a:path>
                <a:path w="2686050" h="2686050">
                  <a:moveTo>
                    <a:pt x="2116584" y="2686049"/>
                  </a:moveTo>
                  <a:lnTo>
                    <a:pt x="2068959" y="2686049"/>
                  </a:lnTo>
                  <a:lnTo>
                    <a:pt x="2068959" y="2666999"/>
                  </a:lnTo>
                  <a:lnTo>
                    <a:pt x="2116584" y="2666999"/>
                  </a:lnTo>
                  <a:lnTo>
                    <a:pt x="2116584" y="2686049"/>
                  </a:lnTo>
                  <a:close/>
                </a:path>
                <a:path w="2686050" h="2686050">
                  <a:moveTo>
                    <a:pt x="2021334" y="2686049"/>
                  </a:moveTo>
                  <a:lnTo>
                    <a:pt x="1973709" y="2686049"/>
                  </a:lnTo>
                  <a:lnTo>
                    <a:pt x="1973709" y="2666999"/>
                  </a:lnTo>
                  <a:lnTo>
                    <a:pt x="2021334" y="2666999"/>
                  </a:lnTo>
                  <a:lnTo>
                    <a:pt x="2021334" y="2686049"/>
                  </a:lnTo>
                  <a:close/>
                </a:path>
                <a:path w="2686050" h="2686050">
                  <a:moveTo>
                    <a:pt x="1926084" y="2686049"/>
                  </a:moveTo>
                  <a:lnTo>
                    <a:pt x="1878459" y="2686049"/>
                  </a:lnTo>
                  <a:lnTo>
                    <a:pt x="1878459" y="2666999"/>
                  </a:lnTo>
                  <a:lnTo>
                    <a:pt x="1926084" y="2666999"/>
                  </a:lnTo>
                  <a:lnTo>
                    <a:pt x="1926084" y="2686049"/>
                  </a:lnTo>
                  <a:close/>
                </a:path>
                <a:path w="2686050" h="2686050">
                  <a:moveTo>
                    <a:pt x="1830834" y="2686049"/>
                  </a:moveTo>
                  <a:lnTo>
                    <a:pt x="1783209" y="2686049"/>
                  </a:lnTo>
                  <a:lnTo>
                    <a:pt x="1783209" y="2666999"/>
                  </a:lnTo>
                  <a:lnTo>
                    <a:pt x="1830834" y="2666999"/>
                  </a:lnTo>
                  <a:lnTo>
                    <a:pt x="1830834" y="2686049"/>
                  </a:lnTo>
                  <a:close/>
                </a:path>
                <a:path w="2686050" h="2686050">
                  <a:moveTo>
                    <a:pt x="1735584" y="2686049"/>
                  </a:moveTo>
                  <a:lnTo>
                    <a:pt x="1687959" y="2686049"/>
                  </a:lnTo>
                  <a:lnTo>
                    <a:pt x="1687959" y="2666999"/>
                  </a:lnTo>
                  <a:lnTo>
                    <a:pt x="1735584" y="2666999"/>
                  </a:lnTo>
                  <a:lnTo>
                    <a:pt x="1735584" y="2686049"/>
                  </a:lnTo>
                  <a:close/>
                </a:path>
                <a:path w="2686050" h="2686050">
                  <a:moveTo>
                    <a:pt x="1640334" y="2686049"/>
                  </a:moveTo>
                  <a:lnTo>
                    <a:pt x="1592709" y="2686049"/>
                  </a:lnTo>
                  <a:lnTo>
                    <a:pt x="1592709" y="2666999"/>
                  </a:lnTo>
                  <a:lnTo>
                    <a:pt x="1640334" y="2666999"/>
                  </a:lnTo>
                  <a:lnTo>
                    <a:pt x="1640334" y="2686049"/>
                  </a:lnTo>
                  <a:close/>
                </a:path>
                <a:path w="2686050" h="2686050">
                  <a:moveTo>
                    <a:pt x="1545084" y="2686049"/>
                  </a:moveTo>
                  <a:lnTo>
                    <a:pt x="1497459" y="2686049"/>
                  </a:lnTo>
                  <a:lnTo>
                    <a:pt x="1497459" y="2666999"/>
                  </a:lnTo>
                  <a:lnTo>
                    <a:pt x="1545084" y="2666999"/>
                  </a:lnTo>
                  <a:lnTo>
                    <a:pt x="1545084" y="2686049"/>
                  </a:lnTo>
                  <a:close/>
                </a:path>
                <a:path w="2686050" h="2686050">
                  <a:moveTo>
                    <a:pt x="1449834" y="2686049"/>
                  </a:moveTo>
                  <a:lnTo>
                    <a:pt x="1402209" y="2686049"/>
                  </a:lnTo>
                  <a:lnTo>
                    <a:pt x="1402209" y="2666999"/>
                  </a:lnTo>
                  <a:lnTo>
                    <a:pt x="1449834" y="2666999"/>
                  </a:lnTo>
                  <a:lnTo>
                    <a:pt x="1449834" y="2686049"/>
                  </a:lnTo>
                  <a:close/>
                </a:path>
                <a:path w="2686050" h="2686050">
                  <a:moveTo>
                    <a:pt x="1354584" y="2686049"/>
                  </a:moveTo>
                  <a:lnTo>
                    <a:pt x="1306959" y="2686049"/>
                  </a:lnTo>
                  <a:lnTo>
                    <a:pt x="1306959" y="2666999"/>
                  </a:lnTo>
                  <a:lnTo>
                    <a:pt x="1354584" y="2666999"/>
                  </a:lnTo>
                  <a:lnTo>
                    <a:pt x="1354584" y="2686049"/>
                  </a:lnTo>
                  <a:close/>
                </a:path>
                <a:path w="2686050" h="2686050">
                  <a:moveTo>
                    <a:pt x="1259334" y="2686049"/>
                  </a:moveTo>
                  <a:lnTo>
                    <a:pt x="1211709" y="2686049"/>
                  </a:lnTo>
                  <a:lnTo>
                    <a:pt x="1211709" y="2666999"/>
                  </a:lnTo>
                  <a:lnTo>
                    <a:pt x="1259334" y="2666999"/>
                  </a:lnTo>
                  <a:lnTo>
                    <a:pt x="1259334" y="2686049"/>
                  </a:lnTo>
                  <a:close/>
                </a:path>
                <a:path w="2686050" h="2686050">
                  <a:moveTo>
                    <a:pt x="1164084" y="2686049"/>
                  </a:moveTo>
                  <a:lnTo>
                    <a:pt x="1116459" y="2686049"/>
                  </a:lnTo>
                  <a:lnTo>
                    <a:pt x="1116459" y="2666999"/>
                  </a:lnTo>
                  <a:lnTo>
                    <a:pt x="1164084" y="2666999"/>
                  </a:lnTo>
                  <a:lnTo>
                    <a:pt x="1164084" y="2686049"/>
                  </a:lnTo>
                  <a:close/>
                </a:path>
                <a:path w="2686050" h="2686050">
                  <a:moveTo>
                    <a:pt x="1068834" y="2686049"/>
                  </a:moveTo>
                  <a:lnTo>
                    <a:pt x="1021209" y="2686049"/>
                  </a:lnTo>
                  <a:lnTo>
                    <a:pt x="1021209" y="2666999"/>
                  </a:lnTo>
                  <a:lnTo>
                    <a:pt x="1068834" y="2666999"/>
                  </a:lnTo>
                  <a:lnTo>
                    <a:pt x="1068834" y="2686049"/>
                  </a:lnTo>
                  <a:close/>
                </a:path>
                <a:path w="2686050" h="2686050">
                  <a:moveTo>
                    <a:pt x="973584" y="2686049"/>
                  </a:moveTo>
                  <a:lnTo>
                    <a:pt x="925959" y="2686049"/>
                  </a:lnTo>
                  <a:lnTo>
                    <a:pt x="925959" y="2666999"/>
                  </a:lnTo>
                  <a:lnTo>
                    <a:pt x="973584" y="2666999"/>
                  </a:lnTo>
                  <a:lnTo>
                    <a:pt x="973584" y="2686049"/>
                  </a:lnTo>
                  <a:close/>
                </a:path>
                <a:path w="2686050" h="2686050">
                  <a:moveTo>
                    <a:pt x="878334" y="2686049"/>
                  </a:moveTo>
                  <a:lnTo>
                    <a:pt x="830709" y="2686049"/>
                  </a:lnTo>
                  <a:lnTo>
                    <a:pt x="830709" y="2666999"/>
                  </a:lnTo>
                  <a:lnTo>
                    <a:pt x="878334" y="2666999"/>
                  </a:lnTo>
                  <a:lnTo>
                    <a:pt x="878334" y="2686049"/>
                  </a:lnTo>
                  <a:close/>
                </a:path>
                <a:path w="2686050" h="2686050">
                  <a:moveTo>
                    <a:pt x="783084" y="2686049"/>
                  </a:moveTo>
                  <a:lnTo>
                    <a:pt x="735459" y="2686049"/>
                  </a:lnTo>
                  <a:lnTo>
                    <a:pt x="735459" y="2666999"/>
                  </a:lnTo>
                  <a:lnTo>
                    <a:pt x="783084" y="2666999"/>
                  </a:lnTo>
                  <a:lnTo>
                    <a:pt x="783084" y="2686049"/>
                  </a:lnTo>
                  <a:close/>
                </a:path>
                <a:path w="2686050" h="2686050">
                  <a:moveTo>
                    <a:pt x="687834" y="2686049"/>
                  </a:moveTo>
                  <a:lnTo>
                    <a:pt x="640209" y="2686049"/>
                  </a:lnTo>
                  <a:lnTo>
                    <a:pt x="640209" y="2666999"/>
                  </a:lnTo>
                  <a:lnTo>
                    <a:pt x="687834" y="2666999"/>
                  </a:lnTo>
                  <a:lnTo>
                    <a:pt x="687834" y="2686049"/>
                  </a:lnTo>
                  <a:close/>
                </a:path>
                <a:path w="2686050" h="2686050">
                  <a:moveTo>
                    <a:pt x="592584" y="2686049"/>
                  </a:moveTo>
                  <a:lnTo>
                    <a:pt x="544959" y="2686049"/>
                  </a:lnTo>
                  <a:lnTo>
                    <a:pt x="544959" y="2666999"/>
                  </a:lnTo>
                  <a:lnTo>
                    <a:pt x="592584" y="2666999"/>
                  </a:lnTo>
                  <a:lnTo>
                    <a:pt x="592584" y="2686049"/>
                  </a:lnTo>
                  <a:close/>
                </a:path>
                <a:path w="2686050" h="2686050">
                  <a:moveTo>
                    <a:pt x="497334" y="2686049"/>
                  </a:moveTo>
                  <a:lnTo>
                    <a:pt x="449709" y="2686049"/>
                  </a:lnTo>
                  <a:lnTo>
                    <a:pt x="449709" y="2666999"/>
                  </a:lnTo>
                  <a:lnTo>
                    <a:pt x="497334" y="2666999"/>
                  </a:lnTo>
                  <a:lnTo>
                    <a:pt x="497334" y="2686049"/>
                  </a:lnTo>
                  <a:close/>
                </a:path>
                <a:path w="2686050" h="2686050">
                  <a:moveTo>
                    <a:pt x="402084" y="2686049"/>
                  </a:moveTo>
                  <a:lnTo>
                    <a:pt x="354459" y="2686049"/>
                  </a:lnTo>
                  <a:lnTo>
                    <a:pt x="354459" y="2666999"/>
                  </a:lnTo>
                  <a:lnTo>
                    <a:pt x="402084" y="2666999"/>
                  </a:lnTo>
                  <a:lnTo>
                    <a:pt x="402084" y="2686049"/>
                  </a:lnTo>
                  <a:close/>
                </a:path>
                <a:path w="2686050" h="2686050">
                  <a:moveTo>
                    <a:pt x="306834" y="2686049"/>
                  </a:moveTo>
                  <a:lnTo>
                    <a:pt x="259209" y="2686049"/>
                  </a:lnTo>
                  <a:lnTo>
                    <a:pt x="259209" y="2666999"/>
                  </a:lnTo>
                  <a:lnTo>
                    <a:pt x="306834" y="2666999"/>
                  </a:lnTo>
                  <a:lnTo>
                    <a:pt x="306834" y="2686049"/>
                  </a:lnTo>
                  <a:close/>
                </a:path>
                <a:path w="2686050" h="2686050">
                  <a:moveTo>
                    <a:pt x="211584" y="2686049"/>
                  </a:moveTo>
                  <a:lnTo>
                    <a:pt x="163959" y="2686049"/>
                  </a:lnTo>
                  <a:lnTo>
                    <a:pt x="163959" y="2666999"/>
                  </a:lnTo>
                  <a:lnTo>
                    <a:pt x="211584" y="2666999"/>
                  </a:lnTo>
                  <a:lnTo>
                    <a:pt x="211584" y="2686049"/>
                  </a:lnTo>
                  <a:close/>
                </a:path>
                <a:path w="2686050" h="2686050">
                  <a:moveTo>
                    <a:pt x="116334" y="2686049"/>
                  </a:moveTo>
                  <a:lnTo>
                    <a:pt x="104774" y="2686049"/>
                  </a:lnTo>
                  <a:lnTo>
                    <a:pt x="94768" y="2685580"/>
                  </a:lnTo>
                  <a:lnTo>
                    <a:pt x="84943" y="2684173"/>
                  </a:lnTo>
                  <a:lnTo>
                    <a:pt x="75298" y="2681828"/>
                  </a:lnTo>
                  <a:lnTo>
                    <a:pt x="65834" y="2678545"/>
                  </a:lnTo>
                  <a:lnTo>
                    <a:pt x="72914" y="2660859"/>
                  </a:lnTo>
                  <a:lnTo>
                    <a:pt x="80657" y="2663546"/>
                  </a:lnTo>
                  <a:lnTo>
                    <a:pt x="88549" y="2665464"/>
                  </a:lnTo>
                  <a:lnTo>
                    <a:pt x="96588" y="2666616"/>
                  </a:lnTo>
                  <a:lnTo>
                    <a:pt x="104774" y="2666999"/>
                  </a:lnTo>
                  <a:lnTo>
                    <a:pt x="116334" y="2666999"/>
                  </a:lnTo>
                  <a:lnTo>
                    <a:pt x="116334" y="2686049"/>
                  </a:lnTo>
                  <a:close/>
                </a:path>
                <a:path w="2686050" h="2686050">
                  <a:moveTo>
                    <a:pt x="23640" y="2647570"/>
                  </a:moveTo>
                  <a:lnTo>
                    <a:pt x="15819" y="2636693"/>
                  </a:lnTo>
                  <a:lnTo>
                    <a:pt x="9546" y="2625104"/>
                  </a:lnTo>
                  <a:lnTo>
                    <a:pt x="4822" y="2612801"/>
                  </a:lnTo>
                  <a:lnTo>
                    <a:pt x="1648" y="2599785"/>
                  </a:lnTo>
                  <a:lnTo>
                    <a:pt x="20398" y="2596420"/>
                  </a:lnTo>
                  <a:lnTo>
                    <a:pt x="22995" y="2607069"/>
                  </a:lnTo>
                  <a:lnTo>
                    <a:pt x="26860" y="2617135"/>
                  </a:lnTo>
                  <a:lnTo>
                    <a:pt x="31992" y="2626617"/>
                  </a:lnTo>
                  <a:lnTo>
                    <a:pt x="38392" y="2635516"/>
                  </a:lnTo>
                  <a:lnTo>
                    <a:pt x="23640" y="2647570"/>
                  </a:lnTo>
                  <a:close/>
                </a:path>
                <a:path w="2686050" h="2686050">
                  <a:moveTo>
                    <a:pt x="19049" y="2550988"/>
                  </a:moveTo>
                  <a:lnTo>
                    <a:pt x="0" y="2550988"/>
                  </a:lnTo>
                  <a:lnTo>
                    <a:pt x="0" y="2503363"/>
                  </a:lnTo>
                  <a:lnTo>
                    <a:pt x="19049" y="2503363"/>
                  </a:lnTo>
                  <a:lnTo>
                    <a:pt x="19049" y="2550988"/>
                  </a:lnTo>
                  <a:close/>
                </a:path>
                <a:path w="2686050" h="2686050">
                  <a:moveTo>
                    <a:pt x="19049" y="2455738"/>
                  </a:moveTo>
                  <a:lnTo>
                    <a:pt x="0" y="2455738"/>
                  </a:lnTo>
                  <a:lnTo>
                    <a:pt x="0" y="2408113"/>
                  </a:lnTo>
                  <a:lnTo>
                    <a:pt x="19049" y="2408113"/>
                  </a:lnTo>
                  <a:lnTo>
                    <a:pt x="19049" y="2455738"/>
                  </a:lnTo>
                  <a:close/>
                </a:path>
                <a:path w="2686050" h="2686050">
                  <a:moveTo>
                    <a:pt x="19049" y="2360488"/>
                  </a:moveTo>
                  <a:lnTo>
                    <a:pt x="0" y="2360488"/>
                  </a:lnTo>
                  <a:lnTo>
                    <a:pt x="0" y="2312863"/>
                  </a:lnTo>
                  <a:lnTo>
                    <a:pt x="19049" y="2312863"/>
                  </a:lnTo>
                  <a:lnTo>
                    <a:pt x="19049" y="2360488"/>
                  </a:lnTo>
                  <a:close/>
                </a:path>
                <a:path w="2686050" h="2686050">
                  <a:moveTo>
                    <a:pt x="19049" y="2265238"/>
                  </a:moveTo>
                  <a:lnTo>
                    <a:pt x="0" y="2265238"/>
                  </a:lnTo>
                  <a:lnTo>
                    <a:pt x="0" y="2217613"/>
                  </a:lnTo>
                  <a:lnTo>
                    <a:pt x="19049" y="2217613"/>
                  </a:lnTo>
                  <a:lnTo>
                    <a:pt x="19049" y="2265238"/>
                  </a:lnTo>
                  <a:close/>
                </a:path>
                <a:path w="2686050" h="2686050">
                  <a:moveTo>
                    <a:pt x="19049" y="2169988"/>
                  </a:moveTo>
                  <a:lnTo>
                    <a:pt x="0" y="2169988"/>
                  </a:lnTo>
                  <a:lnTo>
                    <a:pt x="0" y="2122363"/>
                  </a:lnTo>
                  <a:lnTo>
                    <a:pt x="19049" y="2122363"/>
                  </a:lnTo>
                  <a:lnTo>
                    <a:pt x="19049" y="2169988"/>
                  </a:lnTo>
                  <a:close/>
                </a:path>
                <a:path w="2686050" h="2686050">
                  <a:moveTo>
                    <a:pt x="19049" y="2074738"/>
                  </a:moveTo>
                  <a:lnTo>
                    <a:pt x="0" y="2074738"/>
                  </a:lnTo>
                  <a:lnTo>
                    <a:pt x="0" y="2027113"/>
                  </a:lnTo>
                  <a:lnTo>
                    <a:pt x="19049" y="2027113"/>
                  </a:lnTo>
                  <a:lnTo>
                    <a:pt x="19049" y="2074738"/>
                  </a:lnTo>
                  <a:close/>
                </a:path>
                <a:path w="2686050" h="2686050">
                  <a:moveTo>
                    <a:pt x="19049" y="1979488"/>
                  </a:moveTo>
                  <a:lnTo>
                    <a:pt x="0" y="1979488"/>
                  </a:lnTo>
                  <a:lnTo>
                    <a:pt x="0" y="1931863"/>
                  </a:lnTo>
                  <a:lnTo>
                    <a:pt x="19049" y="1931863"/>
                  </a:lnTo>
                  <a:lnTo>
                    <a:pt x="19049" y="1979488"/>
                  </a:lnTo>
                  <a:close/>
                </a:path>
                <a:path w="2686050" h="2686050">
                  <a:moveTo>
                    <a:pt x="19049" y="1884238"/>
                  </a:moveTo>
                  <a:lnTo>
                    <a:pt x="0" y="1884238"/>
                  </a:lnTo>
                  <a:lnTo>
                    <a:pt x="0" y="1836613"/>
                  </a:lnTo>
                  <a:lnTo>
                    <a:pt x="19049" y="1836613"/>
                  </a:lnTo>
                  <a:lnTo>
                    <a:pt x="19049" y="1884238"/>
                  </a:lnTo>
                  <a:close/>
                </a:path>
                <a:path w="2686050" h="2686050">
                  <a:moveTo>
                    <a:pt x="19049" y="1788988"/>
                  </a:moveTo>
                  <a:lnTo>
                    <a:pt x="0" y="1788988"/>
                  </a:lnTo>
                  <a:lnTo>
                    <a:pt x="0" y="1741363"/>
                  </a:lnTo>
                  <a:lnTo>
                    <a:pt x="19049" y="1741363"/>
                  </a:lnTo>
                  <a:lnTo>
                    <a:pt x="19049" y="1788988"/>
                  </a:lnTo>
                  <a:close/>
                </a:path>
                <a:path w="2686050" h="2686050">
                  <a:moveTo>
                    <a:pt x="19049" y="1693738"/>
                  </a:moveTo>
                  <a:lnTo>
                    <a:pt x="0" y="1693738"/>
                  </a:lnTo>
                  <a:lnTo>
                    <a:pt x="0" y="1646113"/>
                  </a:lnTo>
                  <a:lnTo>
                    <a:pt x="19049" y="1646113"/>
                  </a:lnTo>
                  <a:lnTo>
                    <a:pt x="19049" y="1693738"/>
                  </a:lnTo>
                  <a:close/>
                </a:path>
                <a:path w="2686050" h="2686050">
                  <a:moveTo>
                    <a:pt x="19049" y="1598488"/>
                  </a:moveTo>
                  <a:lnTo>
                    <a:pt x="0" y="1598488"/>
                  </a:lnTo>
                  <a:lnTo>
                    <a:pt x="0" y="1550863"/>
                  </a:lnTo>
                  <a:lnTo>
                    <a:pt x="19049" y="1550863"/>
                  </a:lnTo>
                  <a:lnTo>
                    <a:pt x="19049" y="1598488"/>
                  </a:lnTo>
                  <a:close/>
                </a:path>
                <a:path w="2686050" h="2686050">
                  <a:moveTo>
                    <a:pt x="19049" y="1503238"/>
                  </a:moveTo>
                  <a:lnTo>
                    <a:pt x="0" y="1503238"/>
                  </a:lnTo>
                  <a:lnTo>
                    <a:pt x="0" y="1455613"/>
                  </a:lnTo>
                  <a:lnTo>
                    <a:pt x="19049" y="1455613"/>
                  </a:lnTo>
                  <a:lnTo>
                    <a:pt x="19049" y="1503238"/>
                  </a:lnTo>
                  <a:close/>
                </a:path>
                <a:path w="2686050" h="2686050">
                  <a:moveTo>
                    <a:pt x="19049" y="1407988"/>
                  </a:moveTo>
                  <a:lnTo>
                    <a:pt x="0" y="1407988"/>
                  </a:lnTo>
                  <a:lnTo>
                    <a:pt x="0" y="1360363"/>
                  </a:lnTo>
                  <a:lnTo>
                    <a:pt x="19049" y="1360363"/>
                  </a:lnTo>
                  <a:lnTo>
                    <a:pt x="19049" y="1407988"/>
                  </a:lnTo>
                  <a:close/>
                </a:path>
                <a:path w="2686050" h="2686050">
                  <a:moveTo>
                    <a:pt x="19049" y="1312738"/>
                  </a:moveTo>
                  <a:lnTo>
                    <a:pt x="0" y="1312738"/>
                  </a:lnTo>
                  <a:lnTo>
                    <a:pt x="0" y="1265113"/>
                  </a:lnTo>
                  <a:lnTo>
                    <a:pt x="19049" y="1265113"/>
                  </a:lnTo>
                  <a:lnTo>
                    <a:pt x="19049" y="1312738"/>
                  </a:lnTo>
                  <a:close/>
                </a:path>
                <a:path w="2686050" h="2686050">
                  <a:moveTo>
                    <a:pt x="19049" y="1217488"/>
                  </a:moveTo>
                  <a:lnTo>
                    <a:pt x="0" y="1217488"/>
                  </a:lnTo>
                  <a:lnTo>
                    <a:pt x="0" y="1169863"/>
                  </a:lnTo>
                  <a:lnTo>
                    <a:pt x="19049" y="1169863"/>
                  </a:lnTo>
                  <a:lnTo>
                    <a:pt x="19049" y="1217488"/>
                  </a:lnTo>
                  <a:close/>
                </a:path>
                <a:path w="2686050" h="2686050">
                  <a:moveTo>
                    <a:pt x="19049" y="1122238"/>
                  </a:moveTo>
                  <a:lnTo>
                    <a:pt x="0" y="1122238"/>
                  </a:lnTo>
                  <a:lnTo>
                    <a:pt x="0" y="1074613"/>
                  </a:lnTo>
                  <a:lnTo>
                    <a:pt x="19049" y="1074613"/>
                  </a:lnTo>
                  <a:lnTo>
                    <a:pt x="19049" y="1122238"/>
                  </a:lnTo>
                  <a:close/>
                </a:path>
                <a:path w="2686050" h="2686050">
                  <a:moveTo>
                    <a:pt x="19049" y="1026988"/>
                  </a:moveTo>
                  <a:lnTo>
                    <a:pt x="0" y="1026988"/>
                  </a:lnTo>
                  <a:lnTo>
                    <a:pt x="0" y="979363"/>
                  </a:lnTo>
                  <a:lnTo>
                    <a:pt x="19049" y="979363"/>
                  </a:lnTo>
                  <a:lnTo>
                    <a:pt x="19049" y="1026988"/>
                  </a:lnTo>
                  <a:close/>
                </a:path>
                <a:path w="2686050" h="2686050">
                  <a:moveTo>
                    <a:pt x="19049" y="931738"/>
                  </a:moveTo>
                  <a:lnTo>
                    <a:pt x="0" y="931738"/>
                  </a:lnTo>
                  <a:lnTo>
                    <a:pt x="0" y="884113"/>
                  </a:lnTo>
                  <a:lnTo>
                    <a:pt x="19049" y="884113"/>
                  </a:lnTo>
                  <a:lnTo>
                    <a:pt x="19049" y="931738"/>
                  </a:lnTo>
                  <a:close/>
                </a:path>
                <a:path w="2686050" h="2686050">
                  <a:moveTo>
                    <a:pt x="19049" y="836488"/>
                  </a:moveTo>
                  <a:lnTo>
                    <a:pt x="0" y="836488"/>
                  </a:lnTo>
                  <a:lnTo>
                    <a:pt x="0" y="788863"/>
                  </a:lnTo>
                  <a:lnTo>
                    <a:pt x="19049" y="788863"/>
                  </a:lnTo>
                  <a:lnTo>
                    <a:pt x="19049" y="836488"/>
                  </a:lnTo>
                  <a:close/>
                </a:path>
                <a:path w="2686050" h="2686050">
                  <a:moveTo>
                    <a:pt x="19049" y="741238"/>
                  </a:moveTo>
                  <a:lnTo>
                    <a:pt x="0" y="741238"/>
                  </a:lnTo>
                  <a:lnTo>
                    <a:pt x="0" y="693613"/>
                  </a:lnTo>
                  <a:lnTo>
                    <a:pt x="19049" y="693613"/>
                  </a:lnTo>
                  <a:lnTo>
                    <a:pt x="19049" y="741238"/>
                  </a:lnTo>
                  <a:close/>
                </a:path>
                <a:path w="2686050" h="2686050">
                  <a:moveTo>
                    <a:pt x="19049" y="645988"/>
                  </a:moveTo>
                  <a:lnTo>
                    <a:pt x="0" y="645988"/>
                  </a:lnTo>
                  <a:lnTo>
                    <a:pt x="0" y="598363"/>
                  </a:lnTo>
                  <a:lnTo>
                    <a:pt x="19049" y="598363"/>
                  </a:lnTo>
                  <a:lnTo>
                    <a:pt x="19049" y="645988"/>
                  </a:lnTo>
                  <a:close/>
                </a:path>
                <a:path w="2686050" h="2686050">
                  <a:moveTo>
                    <a:pt x="19049" y="550738"/>
                  </a:moveTo>
                  <a:lnTo>
                    <a:pt x="0" y="550738"/>
                  </a:lnTo>
                  <a:lnTo>
                    <a:pt x="0" y="503113"/>
                  </a:lnTo>
                  <a:lnTo>
                    <a:pt x="19049" y="503113"/>
                  </a:lnTo>
                  <a:lnTo>
                    <a:pt x="19049" y="550738"/>
                  </a:lnTo>
                  <a:close/>
                </a:path>
                <a:path w="2686050" h="2686050">
                  <a:moveTo>
                    <a:pt x="19049" y="455488"/>
                  </a:moveTo>
                  <a:lnTo>
                    <a:pt x="0" y="455488"/>
                  </a:lnTo>
                  <a:lnTo>
                    <a:pt x="0" y="407863"/>
                  </a:lnTo>
                  <a:lnTo>
                    <a:pt x="19049" y="407863"/>
                  </a:lnTo>
                  <a:lnTo>
                    <a:pt x="19049" y="455488"/>
                  </a:lnTo>
                  <a:close/>
                </a:path>
                <a:path w="2686050" h="2686050">
                  <a:moveTo>
                    <a:pt x="19049" y="360238"/>
                  </a:moveTo>
                  <a:lnTo>
                    <a:pt x="0" y="360238"/>
                  </a:lnTo>
                  <a:lnTo>
                    <a:pt x="0" y="312613"/>
                  </a:lnTo>
                  <a:lnTo>
                    <a:pt x="19049" y="312613"/>
                  </a:lnTo>
                  <a:lnTo>
                    <a:pt x="19049" y="360238"/>
                  </a:lnTo>
                  <a:close/>
                </a:path>
                <a:path w="2686050" h="2686050">
                  <a:moveTo>
                    <a:pt x="19049" y="264988"/>
                  </a:moveTo>
                  <a:lnTo>
                    <a:pt x="0" y="264988"/>
                  </a:lnTo>
                  <a:lnTo>
                    <a:pt x="0" y="217363"/>
                  </a:lnTo>
                  <a:lnTo>
                    <a:pt x="19049" y="217363"/>
                  </a:lnTo>
                  <a:lnTo>
                    <a:pt x="19049" y="264988"/>
                  </a:lnTo>
                  <a:close/>
                </a:path>
                <a:path w="2686050" h="2686050">
                  <a:moveTo>
                    <a:pt x="19049" y="169738"/>
                  </a:moveTo>
                  <a:lnTo>
                    <a:pt x="0" y="169738"/>
                  </a:lnTo>
                  <a:lnTo>
                    <a:pt x="0" y="122113"/>
                  </a:lnTo>
                  <a:lnTo>
                    <a:pt x="19049" y="122113"/>
                  </a:lnTo>
                  <a:lnTo>
                    <a:pt x="19049" y="169738"/>
                  </a:lnTo>
                  <a:close/>
                </a:path>
                <a:path w="2686050" h="2686050">
                  <a:moveTo>
                    <a:pt x="23326" y="78037"/>
                  </a:moveTo>
                  <a:lnTo>
                    <a:pt x="5226" y="72096"/>
                  </a:lnTo>
                  <a:lnTo>
                    <a:pt x="10171" y="59669"/>
                  </a:lnTo>
                  <a:lnTo>
                    <a:pt x="16546" y="48160"/>
                  </a:lnTo>
                  <a:lnTo>
                    <a:pt x="24352" y="37569"/>
                  </a:lnTo>
                  <a:lnTo>
                    <a:pt x="33588" y="27896"/>
                  </a:lnTo>
                  <a:lnTo>
                    <a:pt x="46532" y="41874"/>
                  </a:lnTo>
                  <a:lnTo>
                    <a:pt x="38975" y="49788"/>
                  </a:lnTo>
                  <a:lnTo>
                    <a:pt x="32588" y="58454"/>
                  </a:lnTo>
                  <a:lnTo>
                    <a:pt x="27372" y="67870"/>
                  </a:lnTo>
                  <a:lnTo>
                    <a:pt x="23326" y="78037"/>
                  </a:lnTo>
                  <a:close/>
                </a:path>
                <a:path w="2686050" h="2686050">
                  <a:moveTo>
                    <a:pt x="84461" y="21491"/>
                  </a:moveTo>
                  <a:lnTo>
                    <a:pt x="79947" y="2984"/>
                  </a:lnTo>
                  <a:lnTo>
                    <a:pt x="88103" y="994"/>
                  </a:lnTo>
                  <a:lnTo>
                    <a:pt x="96379" y="0"/>
                  </a:lnTo>
                  <a:lnTo>
                    <a:pt x="152399" y="0"/>
                  </a:lnTo>
                  <a:lnTo>
                    <a:pt x="152399" y="19049"/>
                  </a:lnTo>
                  <a:lnTo>
                    <a:pt x="97906" y="19049"/>
                  </a:lnTo>
                  <a:lnTo>
                    <a:pt x="91134" y="19863"/>
                  </a:lnTo>
                  <a:lnTo>
                    <a:pt x="84461" y="21491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9003456" y="1851657"/>
            <a:ext cx="4718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65" b="1">
                <a:solidFill>
                  <a:srgbClr val="CC6600"/>
                </a:solidFill>
                <a:latin typeface="Roboto"/>
                <a:cs typeface="Roboto"/>
              </a:rPr>
              <a:t>Area</a:t>
            </a:r>
            <a:r>
              <a:rPr dirty="0" sz="1300" spc="-15" b="1">
                <a:solidFill>
                  <a:srgbClr val="CC660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CC6600"/>
                </a:solidFill>
                <a:latin typeface="Roboto"/>
                <a:cs typeface="Roboto"/>
              </a:rPr>
              <a:t>3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800224" y="2305050"/>
            <a:ext cx="971550" cy="495300"/>
            <a:chOff x="1800224" y="2305050"/>
            <a:chExt cx="971550" cy="495300"/>
          </a:xfrm>
        </p:grpSpPr>
        <p:sp>
          <p:nvSpPr>
            <p:cNvPr id="22" name="object 22" descr=""/>
            <p:cNvSpPr/>
            <p:nvPr/>
          </p:nvSpPr>
          <p:spPr>
            <a:xfrm>
              <a:off x="1809749" y="2314575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911190" y="476249"/>
                  </a:moveTo>
                  <a:lnTo>
                    <a:pt x="41309" y="476249"/>
                  </a:lnTo>
                  <a:lnTo>
                    <a:pt x="35234" y="475041"/>
                  </a:lnTo>
                  <a:lnTo>
                    <a:pt x="1208" y="441015"/>
                  </a:lnTo>
                  <a:lnTo>
                    <a:pt x="0" y="434940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11190" y="0"/>
                  </a:lnTo>
                  <a:lnTo>
                    <a:pt x="946457" y="23564"/>
                  </a:lnTo>
                  <a:lnTo>
                    <a:pt x="952499" y="41309"/>
                  </a:lnTo>
                  <a:lnTo>
                    <a:pt x="952499" y="434940"/>
                  </a:lnTo>
                  <a:lnTo>
                    <a:pt x="928934" y="470207"/>
                  </a:lnTo>
                  <a:lnTo>
                    <a:pt x="917265" y="475041"/>
                  </a:lnTo>
                  <a:lnTo>
                    <a:pt x="911190" y="47624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09749" y="2314575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47625" y="0"/>
                  </a:moveTo>
                  <a:lnTo>
                    <a:pt x="904874" y="0"/>
                  </a:lnTo>
                  <a:lnTo>
                    <a:pt x="911190" y="0"/>
                  </a:lnTo>
                  <a:lnTo>
                    <a:pt x="917265" y="1208"/>
                  </a:lnTo>
                  <a:lnTo>
                    <a:pt x="948874" y="29399"/>
                  </a:lnTo>
                  <a:lnTo>
                    <a:pt x="951291" y="35234"/>
                  </a:lnTo>
                  <a:lnTo>
                    <a:pt x="952499" y="41309"/>
                  </a:lnTo>
                  <a:lnTo>
                    <a:pt x="952499" y="47624"/>
                  </a:lnTo>
                  <a:lnTo>
                    <a:pt x="952499" y="428624"/>
                  </a:lnTo>
                  <a:lnTo>
                    <a:pt x="934084" y="466766"/>
                  </a:lnTo>
                  <a:lnTo>
                    <a:pt x="904874" y="476249"/>
                  </a:lnTo>
                  <a:lnTo>
                    <a:pt x="47625" y="476249"/>
                  </a:lnTo>
                  <a:lnTo>
                    <a:pt x="41309" y="476249"/>
                  </a:lnTo>
                  <a:lnTo>
                    <a:pt x="35234" y="475041"/>
                  </a:lnTo>
                  <a:lnTo>
                    <a:pt x="29399" y="472624"/>
                  </a:lnTo>
                  <a:lnTo>
                    <a:pt x="23564" y="470207"/>
                  </a:lnTo>
                  <a:lnTo>
                    <a:pt x="0" y="434940"/>
                  </a:lnTo>
                  <a:lnTo>
                    <a:pt x="0" y="428624"/>
                  </a:lnTo>
                  <a:lnTo>
                    <a:pt x="0" y="47624"/>
                  </a:lnTo>
                  <a:lnTo>
                    <a:pt x="0" y="41309"/>
                  </a:lnTo>
                  <a:lnTo>
                    <a:pt x="1208" y="35234"/>
                  </a:lnTo>
                  <a:lnTo>
                    <a:pt x="3625" y="29399"/>
                  </a:lnTo>
                  <a:lnTo>
                    <a:pt x="6042" y="23564"/>
                  </a:lnTo>
                  <a:lnTo>
                    <a:pt x="9483" y="1841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1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9049">
              <a:solidFill>
                <a:srgbClr val="001A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649561" y="2460466"/>
            <a:ext cx="12731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Conventional</a:t>
            </a:r>
            <a:r>
              <a:rPr dirty="0" sz="1000" spc="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FFFFFF"/>
                </a:solidFill>
                <a:latin typeface="Roboto"/>
                <a:cs typeface="Roboto"/>
              </a:rPr>
              <a:t>Generation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800224" y="2971799"/>
            <a:ext cx="971550" cy="495300"/>
            <a:chOff x="1800224" y="2971799"/>
            <a:chExt cx="971550" cy="495300"/>
          </a:xfrm>
        </p:grpSpPr>
        <p:sp>
          <p:nvSpPr>
            <p:cNvPr id="26" name="object 26" descr=""/>
            <p:cNvSpPr/>
            <p:nvPr/>
          </p:nvSpPr>
          <p:spPr>
            <a:xfrm>
              <a:off x="1809749" y="2981324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911190" y="476249"/>
                  </a:moveTo>
                  <a:lnTo>
                    <a:pt x="41309" y="476249"/>
                  </a:lnTo>
                  <a:lnTo>
                    <a:pt x="35234" y="475041"/>
                  </a:lnTo>
                  <a:lnTo>
                    <a:pt x="1208" y="441015"/>
                  </a:lnTo>
                  <a:lnTo>
                    <a:pt x="0" y="434940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11190" y="0"/>
                  </a:lnTo>
                  <a:lnTo>
                    <a:pt x="946457" y="23564"/>
                  </a:lnTo>
                  <a:lnTo>
                    <a:pt x="952499" y="41309"/>
                  </a:lnTo>
                  <a:lnTo>
                    <a:pt x="952499" y="434940"/>
                  </a:lnTo>
                  <a:lnTo>
                    <a:pt x="928934" y="470207"/>
                  </a:lnTo>
                  <a:lnTo>
                    <a:pt x="917265" y="475041"/>
                  </a:lnTo>
                  <a:lnTo>
                    <a:pt x="911190" y="47624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809749" y="2981324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47625" y="0"/>
                  </a:moveTo>
                  <a:lnTo>
                    <a:pt x="904874" y="0"/>
                  </a:lnTo>
                  <a:lnTo>
                    <a:pt x="911190" y="0"/>
                  </a:lnTo>
                  <a:lnTo>
                    <a:pt x="917265" y="1208"/>
                  </a:lnTo>
                  <a:lnTo>
                    <a:pt x="923100" y="3625"/>
                  </a:lnTo>
                  <a:lnTo>
                    <a:pt x="928934" y="6041"/>
                  </a:lnTo>
                  <a:lnTo>
                    <a:pt x="934084" y="9483"/>
                  </a:lnTo>
                  <a:lnTo>
                    <a:pt x="938550" y="13948"/>
                  </a:lnTo>
                  <a:lnTo>
                    <a:pt x="943016" y="18414"/>
                  </a:lnTo>
                  <a:lnTo>
                    <a:pt x="952499" y="47624"/>
                  </a:lnTo>
                  <a:lnTo>
                    <a:pt x="952499" y="428624"/>
                  </a:lnTo>
                  <a:lnTo>
                    <a:pt x="952499" y="434940"/>
                  </a:lnTo>
                  <a:lnTo>
                    <a:pt x="951291" y="441015"/>
                  </a:lnTo>
                  <a:lnTo>
                    <a:pt x="948874" y="446850"/>
                  </a:lnTo>
                  <a:lnTo>
                    <a:pt x="946457" y="452684"/>
                  </a:lnTo>
                  <a:lnTo>
                    <a:pt x="923100" y="472624"/>
                  </a:lnTo>
                  <a:lnTo>
                    <a:pt x="917265" y="475041"/>
                  </a:lnTo>
                  <a:lnTo>
                    <a:pt x="911190" y="476249"/>
                  </a:lnTo>
                  <a:lnTo>
                    <a:pt x="904874" y="476249"/>
                  </a:lnTo>
                  <a:lnTo>
                    <a:pt x="47625" y="476249"/>
                  </a:lnTo>
                  <a:lnTo>
                    <a:pt x="41309" y="476249"/>
                  </a:lnTo>
                  <a:lnTo>
                    <a:pt x="35234" y="475041"/>
                  </a:lnTo>
                  <a:lnTo>
                    <a:pt x="29399" y="472624"/>
                  </a:lnTo>
                  <a:lnTo>
                    <a:pt x="23564" y="470207"/>
                  </a:lnTo>
                  <a:lnTo>
                    <a:pt x="3625" y="446850"/>
                  </a:lnTo>
                  <a:lnTo>
                    <a:pt x="1208" y="441015"/>
                  </a:lnTo>
                  <a:lnTo>
                    <a:pt x="0" y="434940"/>
                  </a:lnTo>
                  <a:lnTo>
                    <a:pt x="0" y="428624"/>
                  </a:lnTo>
                  <a:lnTo>
                    <a:pt x="0" y="4762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1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9049">
              <a:solidFill>
                <a:srgbClr val="004D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999456" y="3127216"/>
            <a:ext cx="573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FFFFFF"/>
                </a:solidFill>
                <a:latin typeface="Roboto"/>
                <a:cs typeface="Roboto"/>
              </a:rPr>
              <a:t>Wind</a:t>
            </a:r>
            <a:r>
              <a:rPr dirty="0" sz="10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Farm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800224" y="3638549"/>
            <a:ext cx="971550" cy="495300"/>
            <a:chOff x="1800224" y="3638549"/>
            <a:chExt cx="971550" cy="495300"/>
          </a:xfrm>
        </p:grpSpPr>
        <p:sp>
          <p:nvSpPr>
            <p:cNvPr id="30" name="object 30" descr=""/>
            <p:cNvSpPr/>
            <p:nvPr/>
          </p:nvSpPr>
          <p:spPr>
            <a:xfrm>
              <a:off x="1809749" y="3648074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911190" y="476249"/>
                  </a:moveTo>
                  <a:lnTo>
                    <a:pt x="41309" y="476249"/>
                  </a:lnTo>
                  <a:lnTo>
                    <a:pt x="35234" y="475041"/>
                  </a:lnTo>
                  <a:lnTo>
                    <a:pt x="1208" y="441015"/>
                  </a:lnTo>
                  <a:lnTo>
                    <a:pt x="0" y="434940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11190" y="0"/>
                  </a:lnTo>
                  <a:lnTo>
                    <a:pt x="946457" y="23564"/>
                  </a:lnTo>
                  <a:lnTo>
                    <a:pt x="952499" y="41309"/>
                  </a:lnTo>
                  <a:lnTo>
                    <a:pt x="952499" y="434940"/>
                  </a:lnTo>
                  <a:lnTo>
                    <a:pt x="928934" y="470207"/>
                  </a:lnTo>
                  <a:lnTo>
                    <a:pt x="917265" y="475041"/>
                  </a:lnTo>
                  <a:lnTo>
                    <a:pt x="911190" y="47624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809749" y="3648074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47625" y="0"/>
                  </a:moveTo>
                  <a:lnTo>
                    <a:pt x="904874" y="0"/>
                  </a:lnTo>
                  <a:lnTo>
                    <a:pt x="911190" y="0"/>
                  </a:lnTo>
                  <a:lnTo>
                    <a:pt x="917265" y="1208"/>
                  </a:lnTo>
                  <a:lnTo>
                    <a:pt x="923100" y="3625"/>
                  </a:lnTo>
                  <a:lnTo>
                    <a:pt x="928934" y="6041"/>
                  </a:lnTo>
                  <a:lnTo>
                    <a:pt x="934084" y="9482"/>
                  </a:lnTo>
                  <a:lnTo>
                    <a:pt x="938550" y="13948"/>
                  </a:lnTo>
                  <a:lnTo>
                    <a:pt x="943016" y="18414"/>
                  </a:lnTo>
                  <a:lnTo>
                    <a:pt x="946457" y="23564"/>
                  </a:lnTo>
                  <a:lnTo>
                    <a:pt x="948874" y="29399"/>
                  </a:lnTo>
                  <a:lnTo>
                    <a:pt x="951291" y="35234"/>
                  </a:lnTo>
                  <a:lnTo>
                    <a:pt x="952499" y="41309"/>
                  </a:lnTo>
                  <a:lnTo>
                    <a:pt x="952499" y="47624"/>
                  </a:lnTo>
                  <a:lnTo>
                    <a:pt x="952499" y="428624"/>
                  </a:lnTo>
                  <a:lnTo>
                    <a:pt x="934084" y="466766"/>
                  </a:lnTo>
                  <a:lnTo>
                    <a:pt x="923100" y="472624"/>
                  </a:lnTo>
                  <a:lnTo>
                    <a:pt x="917265" y="475041"/>
                  </a:lnTo>
                  <a:lnTo>
                    <a:pt x="911190" y="476249"/>
                  </a:lnTo>
                  <a:lnTo>
                    <a:pt x="904874" y="476249"/>
                  </a:lnTo>
                  <a:lnTo>
                    <a:pt x="47625" y="476249"/>
                  </a:lnTo>
                  <a:lnTo>
                    <a:pt x="41309" y="476249"/>
                  </a:lnTo>
                  <a:lnTo>
                    <a:pt x="35234" y="475041"/>
                  </a:lnTo>
                  <a:lnTo>
                    <a:pt x="29399" y="472624"/>
                  </a:lnTo>
                  <a:lnTo>
                    <a:pt x="23564" y="470207"/>
                  </a:lnTo>
                  <a:lnTo>
                    <a:pt x="18414" y="466766"/>
                  </a:lnTo>
                  <a:lnTo>
                    <a:pt x="13949" y="462300"/>
                  </a:lnTo>
                  <a:lnTo>
                    <a:pt x="9483" y="457835"/>
                  </a:lnTo>
                  <a:lnTo>
                    <a:pt x="6042" y="452684"/>
                  </a:lnTo>
                  <a:lnTo>
                    <a:pt x="3625" y="446850"/>
                  </a:lnTo>
                  <a:lnTo>
                    <a:pt x="1208" y="441015"/>
                  </a:lnTo>
                  <a:lnTo>
                    <a:pt x="0" y="434940"/>
                  </a:lnTo>
                  <a:lnTo>
                    <a:pt x="0" y="428624"/>
                  </a:lnTo>
                  <a:lnTo>
                    <a:pt x="0" y="47624"/>
                  </a:lnTo>
                  <a:lnTo>
                    <a:pt x="0" y="41309"/>
                  </a:lnTo>
                  <a:lnTo>
                    <a:pt x="1208" y="35234"/>
                  </a:lnTo>
                  <a:lnTo>
                    <a:pt x="3625" y="29399"/>
                  </a:lnTo>
                  <a:lnTo>
                    <a:pt x="6042" y="23564"/>
                  </a:lnTo>
                  <a:lnTo>
                    <a:pt x="9483" y="18414"/>
                  </a:lnTo>
                  <a:lnTo>
                    <a:pt x="13949" y="13948"/>
                  </a:lnTo>
                  <a:lnTo>
                    <a:pt x="18414" y="9482"/>
                  </a:lnTo>
                  <a:lnTo>
                    <a:pt x="23564" y="6041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9049">
              <a:solidFill>
                <a:srgbClr val="CC7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2055713" y="3793966"/>
            <a:ext cx="46100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Solar</a:t>
            </a:r>
            <a:r>
              <a:rPr dirty="0" sz="1000" spc="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Roboto"/>
                <a:cs typeface="Roboto"/>
              </a:rPr>
              <a:t>PV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133724" y="2781299"/>
            <a:ext cx="971550" cy="685800"/>
            <a:chOff x="3133724" y="2781299"/>
            <a:chExt cx="971550" cy="685800"/>
          </a:xfrm>
        </p:grpSpPr>
        <p:sp>
          <p:nvSpPr>
            <p:cNvPr id="34" name="object 34" descr=""/>
            <p:cNvSpPr/>
            <p:nvPr/>
          </p:nvSpPr>
          <p:spPr>
            <a:xfrm>
              <a:off x="3143249" y="2790824"/>
              <a:ext cx="952500" cy="666750"/>
            </a:xfrm>
            <a:custGeom>
              <a:avLst/>
              <a:gdLst/>
              <a:ahLst/>
              <a:cxnLst/>
              <a:rect l="l" t="t" r="r" b="b"/>
              <a:pathLst>
                <a:path w="952500" h="666750">
                  <a:moveTo>
                    <a:pt x="911190" y="666749"/>
                  </a:moveTo>
                  <a:lnTo>
                    <a:pt x="41309" y="666749"/>
                  </a:lnTo>
                  <a:lnTo>
                    <a:pt x="35234" y="665541"/>
                  </a:lnTo>
                  <a:lnTo>
                    <a:pt x="1208" y="631515"/>
                  </a:lnTo>
                  <a:lnTo>
                    <a:pt x="0" y="625440"/>
                  </a:lnTo>
                  <a:lnTo>
                    <a:pt x="0" y="41309"/>
                  </a:lnTo>
                  <a:lnTo>
                    <a:pt x="23564" y="6042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11190" y="0"/>
                  </a:lnTo>
                  <a:lnTo>
                    <a:pt x="946457" y="23564"/>
                  </a:lnTo>
                  <a:lnTo>
                    <a:pt x="952499" y="41309"/>
                  </a:lnTo>
                  <a:lnTo>
                    <a:pt x="952499" y="625440"/>
                  </a:lnTo>
                  <a:lnTo>
                    <a:pt x="928934" y="660707"/>
                  </a:lnTo>
                  <a:lnTo>
                    <a:pt x="917265" y="665541"/>
                  </a:lnTo>
                  <a:lnTo>
                    <a:pt x="911190" y="666749"/>
                  </a:lnTo>
                  <a:close/>
                </a:path>
              </a:pathLst>
            </a:custGeom>
            <a:solidFill>
              <a:srgbClr val="808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143249" y="2790824"/>
              <a:ext cx="952500" cy="666750"/>
            </a:xfrm>
            <a:custGeom>
              <a:avLst/>
              <a:gdLst/>
              <a:ahLst/>
              <a:cxnLst/>
              <a:rect l="l" t="t" r="r" b="b"/>
              <a:pathLst>
                <a:path w="952500" h="666750">
                  <a:moveTo>
                    <a:pt x="47625" y="0"/>
                  </a:moveTo>
                  <a:lnTo>
                    <a:pt x="904875" y="0"/>
                  </a:lnTo>
                  <a:lnTo>
                    <a:pt x="911190" y="0"/>
                  </a:lnTo>
                  <a:lnTo>
                    <a:pt x="917265" y="1208"/>
                  </a:lnTo>
                  <a:lnTo>
                    <a:pt x="923099" y="3625"/>
                  </a:lnTo>
                  <a:lnTo>
                    <a:pt x="928934" y="6042"/>
                  </a:lnTo>
                  <a:lnTo>
                    <a:pt x="934085" y="9483"/>
                  </a:lnTo>
                  <a:lnTo>
                    <a:pt x="938550" y="13948"/>
                  </a:lnTo>
                  <a:lnTo>
                    <a:pt x="943016" y="18414"/>
                  </a:lnTo>
                  <a:lnTo>
                    <a:pt x="946457" y="23564"/>
                  </a:lnTo>
                  <a:lnTo>
                    <a:pt x="948874" y="29399"/>
                  </a:lnTo>
                  <a:lnTo>
                    <a:pt x="951291" y="35234"/>
                  </a:lnTo>
                  <a:lnTo>
                    <a:pt x="952499" y="41309"/>
                  </a:lnTo>
                  <a:lnTo>
                    <a:pt x="952500" y="47624"/>
                  </a:lnTo>
                  <a:lnTo>
                    <a:pt x="952500" y="619124"/>
                  </a:lnTo>
                  <a:lnTo>
                    <a:pt x="934085" y="657266"/>
                  </a:lnTo>
                  <a:lnTo>
                    <a:pt x="923099" y="663124"/>
                  </a:lnTo>
                  <a:lnTo>
                    <a:pt x="917265" y="665541"/>
                  </a:lnTo>
                  <a:lnTo>
                    <a:pt x="911190" y="666749"/>
                  </a:lnTo>
                  <a:lnTo>
                    <a:pt x="904875" y="666749"/>
                  </a:lnTo>
                  <a:lnTo>
                    <a:pt x="47625" y="666749"/>
                  </a:lnTo>
                  <a:lnTo>
                    <a:pt x="41309" y="666749"/>
                  </a:lnTo>
                  <a:lnTo>
                    <a:pt x="35234" y="665541"/>
                  </a:lnTo>
                  <a:lnTo>
                    <a:pt x="29399" y="663124"/>
                  </a:lnTo>
                  <a:lnTo>
                    <a:pt x="23564" y="660707"/>
                  </a:lnTo>
                  <a:lnTo>
                    <a:pt x="18414" y="657266"/>
                  </a:lnTo>
                  <a:lnTo>
                    <a:pt x="13949" y="652800"/>
                  </a:lnTo>
                  <a:lnTo>
                    <a:pt x="9483" y="648334"/>
                  </a:lnTo>
                  <a:lnTo>
                    <a:pt x="6042" y="643184"/>
                  </a:lnTo>
                  <a:lnTo>
                    <a:pt x="3625" y="637349"/>
                  </a:lnTo>
                  <a:lnTo>
                    <a:pt x="1208" y="631515"/>
                  </a:lnTo>
                  <a:lnTo>
                    <a:pt x="0" y="625440"/>
                  </a:lnTo>
                  <a:lnTo>
                    <a:pt x="0" y="619124"/>
                  </a:lnTo>
                  <a:lnTo>
                    <a:pt x="0" y="4762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2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9049">
              <a:solidFill>
                <a:srgbClr val="6666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3314055" y="2889091"/>
            <a:ext cx="6108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Hybrid</a:t>
            </a:r>
            <a:r>
              <a:rPr dirty="0" sz="10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AGC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357810" y="3079591"/>
            <a:ext cx="5232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">
                <a:solidFill>
                  <a:srgbClr val="FFFFFF"/>
                </a:solidFill>
                <a:latin typeface="Roboto"/>
                <a:cs typeface="Roboto"/>
              </a:rPr>
              <a:t>Controller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4943474" y="2781299"/>
            <a:ext cx="2305050" cy="685800"/>
            <a:chOff x="4943474" y="2781299"/>
            <a:chExt cx="2305050" cy="685800"/>
          </a:xfrm>
        </p:grpSpPr>
        <p:sp>
          <p:nvSpPr>
            <p:cNvPr id="39" name="object 39" descr=""/>
            <p:cNvSpPr/>
            <p:nvPr/>
          </p:nvSpPr>
          <p:spPr>
            <a:xfrm>
              <a:off x="4952999" y="2790824"/>
              <a:ext cx="2286000" cy="666750"/>
            </a:xfrm>
            <a:custGeom>
              <a:avLst/>
              <a:gdLst/>
              <a:ahLst/>
              <a:cxnLst/>
              <a:rect l="l" t="t" r="r" b="b"/>
              <a:pathLst>
                <a:path w="2286000" h="666750">
                  <a:moveTo>
                    <a:pt x="2244690" y="666749"/>
                  </a:moveTo>
                  <a:lnTo>
                    <a:pt x="41309" y="666749"/>
                  </a:lnTo>
                  <a:lnTo>
                    <a:pt x="35234" y="665541"/>
                  </a:lnTo>
                  <a:lnTo>
                    <a:pt x="1208" y="631515"/>
                  </a:lnTo>
                  <a:lnTo>
                    <a:pt x="0" y="625440"/>
                  </a:lnTo>
                  <a:lnTo>
                    <a:pt x="0" y="41309"/>
                  </a:lnTo>
                  <a:lnTo>
                    <a:pt x="23564" y="6042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2244690" y="0"/>
                  </a:lnTo>
                  <a:lnTo>
                    <a:pt x="2279957" y="23564"/>
                  </a:lnTo>
                  <a:lnTo>
                    <a:pt x="2286000" y="41309"/>
                  </a:lnTo>
                  <a:lnTo>
                    <a:pt x="2286000" y="625440"/>
                  </a:lnTo>
                  <a:lnTo>
                    <a:pt x="2262434" y="660707"/>
                  </a:lnTo>
                  <a:lnTo>
                    <a:pt x="2250765" y="665541"/>
                  </a:lnTo>
                  <a:lnTo>
                    <a:pt x="2244690" y="666749"/>
                  </a:lnTo>
                  <a:close/>
                </a:path>
              </a:pathLst>
            </a:custGeom>
            <a:solidFill>
              <a:srgbClr val="66B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952999" y="2790824"/>
              <a:ext cx="2286000" cy="666750"/>
            </a:xfrm>
            <a:custGeom>
              <a:avLst/>
              <a:gdLst/>
              <a:ahLst/>
              <a:cxnLst/>
              <a:rect l="l" t="t" r="r" b="b"/>
              <a:pathLst>
                <a:path w="2286000" h="666750">
                  <a:moveTo>
                    <a:pt x="47625" y="0"/>
                  </a:moveTo>
                  <a:lnTo>
                    <a:pt x="2238375" y="0"/>
                  </a:lnTo>
                  <a:lnTo>
                    <a:pt x="2244690" y="0"/>
                  </a:lnTo>
                  <a:lnTo>
                    <a:pt x="2250765" y="1208"/>
                  </a:lnTo>
                  <a:lnTo>
                    <a:pt x="2282374" y="29399"/>
                  </a:lnTo>
                  <a:lnTo>
                    <a:pt x="2286000" y="41309"/>
                  </a:lnTo>
                  <a:lnTo>
                    <a:pt x="2286000" y="47624"/>
                  </a:lnTo>
                  <a:lnTo>
                    <a:pt x="2286000" y="619124"/>
                  </a:lnTo>
                  <a:lnTo>
                    <a:pt x="2286000" y="625440"/>
                  </a:lnTo>
                  <a:lnTo>
                    <a:pt x="2284791" y="631515"/>
                  </a:lnTo>
                  <a:lnTo>
                    <a:pt x="2256599" y="663124"/>
                  </a:lnTo>
                  <a:lnTo>
                    <a:pt x="2250765" y="665541"/>
                  </a:lnTo>
                  <a:lnTo>
                    <a:pt x="2244690" y="666749"/>
                  </a:lnTo>
                  <a:lnTo>
                    <a:pt x="2238375" y="666749"/>
                  </a:lnTo>
                  <a:lnTo>
                    <a:pt x="47625" y="666749"/>
                  </a:lnTo>
                  <a:lnTo>
                    <a:pt x="41309" y="666749"/>
                  </a:lnTo>
                  <a:lnTo>
                    <a:pt x="35234" y="665541"/>
                  </a:lnTo>
                  <a:lnTo>
                    <a:pt x="29399" y="663124"/>
                  </a:lnTo>
                  <a:lnTo>
                    <a:pt x="23564" y="660707"/>
                  </a:lnTo>
                  <a:lnTo>
                    <a:pt x="18414" y="657266"/>
                  </a:lnTo>
                  <a:lnTo>
                    <a:pt x="13949" y="652800"/>
                  </a:lnTo>
                  <a:lnTo>
                    <a:pt x="9483" y="648334"/>
                  </a:lnTo>
                  <a:lnTo>
                    <a:pt x="6042" y="643184"/>
                  </a:lnTo>
                  <a:lnTo>
                    <a:pt x="3625" y="637349"/>
                  </a:lnTo>
                  <a:lnTo>
                    <a:pt x="1208" y="631515"/>
                  </a:lnTo>
                  <a:lnTo>
                    <a:pt x="0" y="625440"/>
                  </a:lnTo>
                  <a:lnTo>
                    <a:pt x="0" y="619124"/>
                  </a:lnTo>
                  <a:lnTo>
                    <a:pt x="0" y="47624"/>
                  </a:lnTo>
                  <a:lnTo>
                    <a:pt x="0" y="41309"/>
                  </a:lnTo>
                  <a:lnTo>
                    <a:pt x="1208" y="35234"/>
                  </a:lnTo>
                  <a:lnTo>
                    <a:pt x="3625" y="29399"/>
                  </a:lnTo>
                  <a:lnTo>
                    <a:pt x="6042" y="23564"/>
                  </a:lnTo>
                  <a:lnTo>
                    <a:pt x="9483" y="1841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2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9049">
              <a:solidFill>
                <a:srgbClr val="4D99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4997633" y="2963148"/>
            <a:ext cx="222504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114"/>
              </a:spcBef>
            </a:pPr>
            <a:r>
              <a:rPr dirty="0" sz="1150" spc="-45">
                <a:solidFill>
                  <a:srgbClr val="FFFFFF"/>
                </a:solidFill>
                <a:latin typeface="Roboto"/>
                <a:cs typeface="Roboto"/>
              </a:rPr>
              <a:t>Similar</a:t>
            </a:r>
            <a:r>
              <a:rPr dirty="0" sz="11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Roboto"/>
                <a:cs typeface="Roboto"/>
              </a:rPr>
              <a:t>Components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8086723" y="2781299"/>
            <a:ext cx="2305050" cy="685800"/>
            <a:chOff x="8086723" y="2781299"/>
            <a:chExt cx="2305050" cy="685800"/>
          </a:xfrm>
        </p:grpSpPr>
        <p:sp>
          <p:nvSpPr>
            <p:cNvPr id="43" name="object 43" descr=""/>
            <p:cNvSpPr/>
            <p:nvPr/>
          </p:nvSpPr>
          <p:spPr>
            <a:xfrm>
              <a:off x="8096248" y="2790824"/>
              <a:ext cx="2286000" cy="666750"/>
            </a:xfrm>
            <a:custGeom>
              <a:avLst/>
              <a:gdLst/>
              <a:ahLst/>
              <a:cxnLst/>
              <a:rect l="l" t="t" r="r" b="b"/>
              <a:pathLst>
                <a:path w="2286000" h="666750">
                  <a:moveTo>
                    <a:pt x="2244690" y="666749"/>
                  </a:moveTo>
                  <a:lnTo>
                    <a:pt x="41309" y="666749"/>
                  </a:lnTo>
                  <a:lnTo>
                    <a:pt x="35234" y="665541"/>
                  </a:lnTo>
                  <a:lnTo>
                    <a:pt x="1208" y="631515"/>
                  </a:lnTo>
                  <a:lnTo>
                    <a:pt x="0" y="625440"/>
                  </a:lnTo>
                  <a:lnTo>
                    <a:pt x="0" y="41309"/>
                  </a:lnTo>
                  <a:lnTo>
                    <a:pt x="23564" y="6042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2244690" y="0"/>
                  </a:lnTo>
                  <a:lnTo>
                    <a:pt x="2279957" y="23564"/>
                  </a:lnTo>
                  <a:lnTo>
                    <a:pt x="2285999" y="41309"/>
                  </a:lnTo>
                  <a:lnTo>
                    <a:pt x="2285999" y="625440"/>
                  </a:lnTo>
                  <a:lnTo>
                    <a:pt x="2262434" y="660707"/>
                  </a:lnTo>
                  <a:lnTo>
                    <a:pt x="2250765" y="665541"/>
                  </a:lnTo>
                  <a:lnTo>
                    <a:pt x="2244690" y="666749"/>
                  </a:lnTo>
                  <a:close/>
                </a:path>
              </a:pathLst>
            </a:custGeom>
            <a:solidFill>
              <a:srgbClr val="FF85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096248" y="2790824"/>
              <a:ext cx="2286000" cy="666750"/>
            </a:xfrm>
            <a:custGeom>
              <a:avLst/>
              <a:gdLst/>
              <a:ahLst/>
              <a:cxnLst/>
              <a:rect l="l" t="t" r="r" b="b"/>
              <a:pathLst>
                <a:path w="2286000" h="666750">
                  <a:moveTo>
                    <a:pt x="47625" y="0"/>
                  </a:moveTo>
                  <a:lnTo>
                    <a:pt x="2238375" y="0"/>
                  </a:lnTo>
                  <a:lnTo>
                    <a:pt x="2244690" y="0"/>
                  </a:lnTo>
                  <a:lnTo>
                    <a:pt x="2250765" y="1208"/>
                  </a:lnTo>
                  <a:lnTo>
                    <a:pt x="2256599" y="3625"/>
                  </a:lnTo>
                  <a:lnTo>
                    <a:pt x="2262434" y="6042"/>
                  </a:lnTo>
                  <a:lnTo>
                    <a:pt x="2267585" y="9483"/>
                  </a:lnTo>
                  <a:lnTo>
                    <a:pt x="2272050" y="13948"/>
                  </a:lnTo>
                  <a:lnTo>
                    <a:pt x="2276516" y="18414"/>
                  </a:lnTo>
                  <a:lnTo>
                    <a:pt x="2279957" y="23564"/>
                  </a:lnTo>
                  <a:lnTo>
                    <a:pt x="2282373" y="29399"/>
                  </a:lnTo>
                  <a:lnTo>
                    <a:pt x="2284791" y="35234"/>
                  </a:lnTo>
                  <a:lnTo>
                    <a:pt x="2285999" y="41309"/>
                  </a:lnTo>
                  <a:lnTo>
                    <a:pt x="2286000" y="47624"/>
                  </a:lnTo>
                  <a:lnTo>
                    <a:pt x="2286000" y="619124"/>
                  </a:lnTo>
                  <a:lnTo>
                    <a:pt x="2285999" y="625440"/>
                  </a:lnTo>
                  <a:lnTo>
                    <a:pt x="2284791" y="631515"/>
                  </a:lnTo>
                  <a:lnTo>
                    <a:pt x="2282373" y="637349"/>
                  </a:lnTo>
                  <a:lnTo>
                    <a:pt x="2279957" y="643184"/>
                  </a:lnTo>
                  <a:lnTo>
                    <a:pt x="2256599" y="663124"/>
                  </a:lnTo>
                  <a:lnTo>
                    <a:pt x="2250765" y="665541"/>
                  </a:lnTo>
                  <a:lnTo>
                    <a:pt x="2244690" y="666749"/>
                  </a:lnTo>
                  <a:lnTo>
                    <a:pt x="2238375" y="666749"/>
                  </a:lnTo>
                  <a:lnTo>
                    <a:pt x="47625" y="666749"/>
                  </a:lnTo>
                  <a:lnTo>
                    <a:pt x="41309" y="666749"/>
                  </a:lnTo>
                  <a:lnTo>
                    <a:pt x="35234" y="665541"/>
                  </a:lnTo>
                  <a:lnTo>
                    <a:pt x="29399" y="663124"/>
                  </a:lnTo>
                  <a:lnTo>
                    <a:pt x="23564" y="660707"/>
                  </a:lnTo>
                  <a:lnTo>
                    <a:pt x="18414" y="657266"/>
                  </a:lnTo>
                  <a:lnTo>
                    <a:pt x="13949" y="652800"/>
                  </a:lnTo>
                  <a:lnTo>
                    <a:pt x="9483" y="648334"/>
                  </a:lnTo>
                  <a:lnTo>
                    <a:pt x="6041" y="643184"/>
                  </a:lnTo>
                  <a:lnTo>
                    <a:pt x="3624" y="637349"/>
                  </a:lnTo>
                  <a:lnTo>
                    <a:pt x="1208" y="631515"/>
                  </a:lnTo>
                  <a:lnTo>
                    <a:pt x="0" y="625440"/>
                  </a:lnTo>
                  <a:lnTo>
                    <a:pt x="0" y="619124"/>
                  </a:lnTo>
                  <a:lnTo>
                    <a:pt x="0" y="4762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2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9049">
              <a:solidFill>
                <a:srgbClr val="E65C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8140883" y="2963148"/>
            <a:ext cx="222504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114"/>
              </a:spcBef>
            </a:pPr>
            <a:r>
              <a:rPr dirty="0" sz="1150" spc="-45">
                <a:solidFill>
                  <a:srgbClr val="FFFFFF"/>
                </a:solidFill>
                <a:latin typeface="Roboto"/>
                <a:cs typeface="Roboto"/>
              </a:rPr>
              <a:t>Similar</a:t>
            </a:r>
            <a:r>
              <a:rPr dirty="0" sz="11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Roboto"/>
                <a:cs typeface="Roboto"/>
              </a:rPr>
              <a:t>Components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1990724" y="2543174"/>
            <a:ext cx="5915025" cy="2066925"/>
            <a:chOff x="1990724" y="2543174"/>
            <a:chExt cx="5915025" cy="2066925"/>
          </a:xfrm>
        </p:grpSpPr>
        <p:sp>
          <p:nvSpPr>
            <p:cNvPr id="47" name="object 47" descr=""/>
            <p:cNvSpPr/>
            <p:nvPr/>
          </p:nvSpPr>
          <p:spPr>
            <a:xfrm>
              <a:off x="4286237" y="3109924"/>
              <a:ext cx="3619500" cy="28575"/>
            </a:xfrm>
            <a:custGeom>
              <a:avLst/>
              <a:gdLst/>
              <a:ahLst/>
              <a:cxnLst/>
              <a:rect l="l" t="t" r="r" b="b"/>
              <a:pathLst>
                <a:path w="3619500" h="28575">
                  <a:moveTo>
                    <a:pt x="9525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95250" y="28575"/>
                  </a:lnTo>
                  <a:lnTo>
                    <a:pt x="95250" y="0"/>
                  </a:lnTo>
                  <a:close/>
                </a:path>
                <a:path w="3619500" h="28575">
                  <a:moveTo>
                    <a:pt x="238125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238125" y="28575"/>
                  </a:lnTo>
                  <a:lnTo>
                    <a:pt x="238125" y="0"/>
                  </a:lnTo>
                  <a:close/>
                </a:path>
                <a:path w="3619500" h="28575">
                  <a:moveTo>
                    <a:pt x="381000" y="0"/>
                  </a:moveTo>
                  <a:lnTo>
                    <a:pt x="285750" y="0"/>
                  </a:lnTo>
                  <a:lnTo>
                    <a:pt x="285750" y="28575"/>
                  </a:lnTo>
                  <a:lnTo>
                    <a:pt x="381000" y="28575"/>
                  </a:lnTo>
                  <a:lnTo>
                    <a:pt x="381000" y="0"/>
                  </a:lnTo>
                  <a:close/>
                </a:path>
                <a:path w="3619500" h="28575">
                  <a:moveTo>
                    <a:pt x="4762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76250" y="28575"/>
                  </a:lnTo>
                  <a:lnTo>
                    <a:pt x="476250" y="0"/>
                  </a:lnTo>
                  <a:close/>
                </a:path>
                <a:path w="3619500" h="28575">
                  <a:moveTo>
                    <a:pt x="3238500" y="0"/>
                  </a:moveTo>
                  <a:lnTo>
                    <a:pt x="3143250" y="0"/>
                  </a:lnTo>
                  <a:lnTo>
                    <a:pt x="3143250" y="28575"/>
                  </a:lnTo>
                  <a:lnTo>
                    <a:pt x="3238500" y="28575"/>
                  </a:lnTo>
                  <a:lnTo>
                    <a:pt x="3238500" y="0"/>
                  </a:lnTo>
                  <a:close/>
                </a:path>
                <a:path w="3619500" h="28575">
                  <a:moveTo>
                    <a:pt x="3381375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381375" y="28575"/>
                  </a:lnTo>
                  <a:lnTo>
                    <a:pt x="3381375" y="0"/>
                  </a:lnTo>
                  <a:close/>
                </a:path>
                <a:path w="3619500" h="28575">
                  <a:moveTo>
                    <a:pt x="3524250" y="0"/>
                  </a:moveTo>
                  <a:lnTo>
                    <a:pt x="3429000" y="0"/>
                  </a:lnTo>
                  <a:lnTo>
                    <a:pt x="3429000" y="28575"/>
                  </a:lnTo>
                  <a:lnTo>
                    <a:pt x="3524250" y="28575"/>
                  </a:lnTo>
                  <a:lnTo>
                    <a:pt x="3524250" y="0"/>
                  </a:lnTo>
                  <a:close/>
                </a:path>
                <a:path w="3619500" h="28575">
                  <a:moveTo>
                    <a:pt x="3619500" y="0"/>
                  </a:moveTo>
                  <a:lnTo>
                    <a:pt x="3571875" y="0"/>
                  </a:lnTo>
                  <a:lnTo>
                    <a:pt x="3571875" y="28575"/>
                  </a:lnTo>
                  <a:lnTo>
                    <a:pt x="3619500" y="28575"/>
                  </a:lnTo>
                  <a:lnTo>
                    <a:pt x="361950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762249" y="2552699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380999" y="285749"/>
                  </a:lnTo>
                </a:path>
              </a:pathLst>
            </a:custGeom>
            <a:ln w="19049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966084" y="2682240"/>
              <a:ext cx="192405" cy="167640"/>
            </a:xfrm>
            <a:custGeom>
              <a:avLst/>
              <a:gdLst/>
              <a:ahLst/>
              <a:cxnLst/>
              <a:rect l="l" t="t" r="r" b="b"/>
              <a:pathLst>
                <a:path w="192405" h="167639">
                  <a:moveTo>
                    <a:pt x="0" y="106680"/>
                  </a:moveTo>
                  <a:lnTo>
                    <a:pt x="80010" y="0"/>
                  </a:lnTo>
                  <a:lnTo>
                    <a:pt x="192405" y="167640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762249" y="3124199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95249"/>
                  </a:moveTo>
                  <a:lnTo>
                    <a:pt x="380999" y="0"/>
                  </a:lnTo>
                </a:path>
              </a:pathLst>
            </a:custGeom>
            <a:ln w="19049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960748" y="3101098"/>
              <a:ext cx="201295" cy="129539"/>
            </a:xfrm>
            <a:custGeom>
              <a:avLst/>
              <a:gdLst/>
              <a:ahLst/>
              <a:cxnLst/>
              <a:rect l="l" t="t" r="r" b="b"/>
              <a:pathLst>
                <a:path w="201294" h="129539">
                  <a:moveTo>
                    <a:pt x="32342" y="129368"/>
                  </a:moveTo>
                  <a:lnTo>
                    <a:pt x="0" y="0"/>
                  </a:lnTo>
                  <a:lnTo>
                    <a:pt x="200983" y="18481"/>
                  </a:lnTo>
                  <a:lnTo>
                    <a:pt x="32342" y="129368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762249" y="3409949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0" y="476249"/>
                  </a:moveTo>
                  <a:lnTo>
                    <a:pt x="380999" y="0"/>
                  </a:lnTo>
                </a:path>
              </a:pathLst>
            </a:custGeom>
            <a:ln w="19049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984081" y="3395073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04128" y="190407"/>
                  </a:moveTo>
                  <a:lnTo>
                    <a:pt x="0" y="107103"/>
                  </a:lnTo>
                  <a:lnTo>
                    <a:pt x="171068" y="0"/>
                  </a:lnTo>
                  <a:lnTo>
                    <a:pt x="104128" y="190407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943988" y="3457574"/>
              <a:ext cx="685165" cy="830580"/>
            </a:xfrm>
            <a:custGeom>
              <a:avLst/>
              <a:gdLst/>
              <a:ahLst/>
              <a:cxnLst/>
              <a:rect l="l" t="t" r="r" b="b"/>
              <a:pathLst>
                <a:path w="685164" h="830579">
                  <a:moveTo>
                    <a:pt x="683621" y="30315"/>
                  </a:moveTo>
                  <a:lnTo>
                    <a:pt x="664657" y="28516"/>
                  </a:lnTo>
                  <a:lnTo>
                    <a:pt x="665126" y="22832"/>
                  </a:lnTo>
                  <a:lnTo>
                    <a:pt x="665238" y="21481"/>
                  </a:lnTo>
                  <a:lnTo>
                    <a:pt x="665601" y="15285"/>
                  </a:lnTo>
                  <a:lnTo>
                    <a:pt x="665653" y="14384"/>
                  </a:lnTo>
                  <a:lnTo>
                    <a:pt x="665887" y="7674"/>
                  </a:lnTo>
                  <a:lnTo>
                    <a:pt x="665986" y="0"/>
                  </a:lnTo>
                  <a:lnTo>
                    <a:pt x="685036" y="0"/>
                  </a:lnTo>
                  <a:lnTo>
                    <a:pt x="684947" y="7674"/>
                  </a:lnTo>
                  <a:lnTo>
                    <a:pt x="684713" y="14384"/>
                  </a:lnTo>
                  <a:lnTo>
                    <a:pt x="684682" y="15285"/>
                  </a:lnTo>
                  <a:lnTo>
                    <a:pt x="684319" y="21481"/>
                  </a:lnTo>
                  <a:lnTo>
                    <a:pt x="684240" y="22832"/>
                  </a:lnTo>
                  <a:lnTo>
                    <a:pt x="683621" y="30315"/>
                  </a:lnTo>
                  <a:close/>
                </a:path>
                <a:path w="685164" h="830579">
                  <a:moveTo>
                    <a:pt x="672377" y="87755"/>
                  </a:moveTo>
                  <a:lnTo>
                    <a:pt x="654147" y="82227"/>
                  </a:lnTo>
                  <a:lnTo>
                    <a:pt x="656056" y="75629"/>
                  </a:lnTo>
                  <a:lnTo>
                    <a:pt x="657796" y="68977"/>
                  </a:lnTo>
                  <a:lnTo>
                    <a:pt x="659369" y="62271"/>
                  </a:lnTo>
                  <a:lnTo>
                    <a:pt x="660773" y="55512"/>
                  </a:lnTo>
                  <a:lnTo>
                    <a:pt x="679472" y="59149"/>
                  </a:lnTo>
                  <a:lnTo>
                    <a:pt x="677969" y="66386"/>
                  </a:lnTo>
                  <a:lnTo>
                    <a:pt x="676285" y="73566"/>
                  </a:lnTo>
                  <a:lnTo>
                    <a:pt x="674421" y="80689"/>
                  </a:lnTo>
                  <a:lnTo>
                    <a:pt x="672377" y="87755"/>
                  </a:lnTo>
                  <a:close/>
                </a:path>
                <a:path w="685164" h="830579">
                  <a:moveTo>
                    <a:pt x="649720" y="141975"/>
                  </a:moveTo>
                  <a:lnTo>
                    <a:pt x="632952" y="132934"/>
                  </a:lnTo>
                  <a:lnTo>
                    <a:pt x="636164" y="126802"/>
                  </a:lnTo>
                  <a:lnTo>
                    <a:pt x="639210" y="120631"/>
                  </a:lnTo>
                  <a:lnTo>
                    <a:pt x="642088" y="114421"/>
                  </a:lnTo>
                  <a:lnTo>
                    <a:pt x="644798" y="108171"/>
                  </a:lnTo>
                  <a:lnTo>
                    <a:pt x="662368" y="115535"/>
                  </a:lnTo>
                  <a:lnTo>
                    <a:pt x="659472" y="122211"/>
                  </a:lnTo>
                  <a:lnTo>
                    <a:pt x="656398" y="128844"/>
                  </a:lnTo>
                  <a:lnTo>
                    <a:pt x="653148" y="135432"/>
                  </a:lnTo>
                  <a:lnTo>
                    <a:pt x="649720" y="141975"/>
                  </a:lnTo>
                  <a:close/>
                </a:path>
                <a:path w="685164" h="830579">
                  <a:moveTo>
                    <a:pt x="617363" y="190985"/>
                  </a:moveTo>
                  <a:lnTo>
                    <a:pt x="602300" y="179142"/>
                  </a:lnTo>
                  <a:lnTo>
                    <a:pt x="602440" y="179142"/>
                  </a:lnTo>
                  <a:lnTo>
                    <a:pt x="606704" y="173609"/>
                  </a:lnTo>
                  <a:lnTo>
                    <a:pt x="610862" y="167985"/>
                  </a:lnTo>
                  <a:lnTo>
                    <a:pt x="614861" y="162340"/>
                  </a:lnTo>
                  <a:lnTo>
                    <a:pt x="618702" y="156674"/>
                  </a:lnTo>
                  <a:lnTo>
                    <a:pt x="634583" y="167196"/>
                  </a:lnTo>
                  <a:lnTo>
                    <a:pt x="630525" y="173182"/>
                  </a:lnTo>
                  <a:lnTo>
                    <a:pt x="626303" y="179142"/>
                  </a:lnTo>
                  <a:lnTo>
                    <a:pt x="621915" y="185076"/>
                  </a:lnTo>
                  <a:lnTo>
                    <a:pt x="617363" y="190985"/>
                  </a:lnTo>
                  <a:close/>
                </a:path>
                <a:path w="685164" h="830579">
                  <a:moveTo>
                    <a:pt x="578122" y="234388"/>
                  </a:moveTo>
                  <a:lnTo>
                    <a:pt x="564810" y="220761"/>
                  </a:lnTo>
                  <a:lnTo>
                    <a:pt x="569949" y="215668"/>
                  </a:lnTo>
                  <a:lnTo>
                    <a:pt x="574939" y="210574"/>
                  </a:lnTo>
                  <a:lnTo>
                    <a:pt x="579781" y="205479"/>
                  </a:lnTo>
                  <a:lnTo>
                    <a:pt x="584475" y="200383"/>
                  </a:lnTo>
                  <a:lnTo>
                    <a:pt x="598590" y="213176"/>
                  </a:lnTo>
                  <a:lnTo>
                    <a:pt x="593700" y="218485"/>
                  </a:lnTo>
                  <a:lnTo>
                    <a:pt x="588659" y="223790"/>
                  </a:lnTo>
                  <a:lnTo>
                    <a:pt x="583467" y="229091"/>
                  </a:lnTo>
                  <a:lnTo>
                    <a:pt x="578122" y="234388"/>
                  </a:lnTo>
                  <a:close/>
                </a:path>
                <a:path w="685164" h="830579">
                  <a:moveTo>
                    <a:pt x="535759" y="271990"/>
                  </a:moveTo>
                  <a:lnTo>
                    <a:pt x="523726" y="257221"/>
                  </a:lnTo>
                  <a:lnTo>
                    <a:pt x="529220" y="252700"/>
                  </a:lnTo>
                  <a:lnTo>
                    <a:pt x="534580" y="248200"/>
                  </a:lnTo>
                  <a:lnTo>
                    <a:pt x="539805" y="243720"/>
                  </a:lnTo>
                  <a:lnTo>
                    <a:pt x="544896" y="239260"/>
                  </a:lnTo>
                  <a:lnTo>
                    <a:pt x="557527" y="253520"/>
                  </a:lnTo>
                  <a:lnTo>
                    <a:pt x="552287" y="258111"/>
                  </a:lnTo>
                  <a:lnTo>
                    <a:pt x="546912" y="262719"/>
                  </a:lnTo>
                  <a:lnTo>
                    <a:pt x="541403" y="267346"/>
                  </a:lnTo>
                  <a:lnTo>
                    <a:pt x="535759" y="271990"/>
                  </a:lnTo>
                  <a:close/>
                </a:path>
                <a:path w="685164" h="830579">
                  <a:moveTo>
                    <a:pt x="489253" y="307371"/>
                  </a:moveTo>
                  <a:lnTo>
                    <a:pt x="478156" y="291887"/>
                  </a:lnTo>
                  <a:lnTo>
                    <a:pt x="484200" y="287526"/>
                  </a:lnTo>
                  <a:lnTo>
                    <a:pt x="490094" y="283214"/>
                  </a:lnTo>
                  <a:lnTo>
                    <a:pt x="495838" y="278950"/>
                  </a:lnTo>
                  <a:lnTo>
                    <a:pt x="501432" y="274735"/>
                  </a:lnTo>
                  <a:lnTo>
                    <a:pt x="512952" y="289907"/>
                  </a:lnTo>
                  <a:lnTo>
                    <a:pt x="507253" y="294202"/>
                  </a:lnTo>
                  <a:lnTo>
                    <a:pt x="501404" y="298544"/>
                  </a:lnTo>
                  <a:lnTo>
                    <a:pt x="495403" y="302934"/>
                  </a:lnTo>
                  <a:lnTo>
                    <a:pt x="489253" y="307371"/>
                  </a:lnTo>
                  <a:close/>
                </a:path>
                <a:path w="685164" h="830579">
                  <a:moveTo>
                    <a:pt x="441764" y="339990"/>
                  </a:moveTo>
                  <a:lnTo>
                    <a:pt x="431123" y="324189"/>
                  </a:lnTo>
                  <a:lnTo>
                    <a:pt x="454431" y="308494"/>
                  </a:lnTo>
                  <a:lnTo>
                    <a:pt x="465000" y="324189"/>
                  </a:lnTo>
                  <a:lnTo>
                    <a:pt x="465229" y="324189"/>
                  </a:lnTo>
                  <a:lnTo>
                    <a:pt x="441764" y="339990"/>
                  </a:lnTo>
                  <a:close/>
                </a:path>
                <a:path w="685164" h="830579">
                  <a:moveTo>
                    <a:pt x="393735" y="371195"/>
                  </a:moveTo>
                  <a:lnTo>
                    <a:pt x="383419" y="355180"/>
                  </a:lnTo>
                  <a:lnTo>
                    <a:pt x="407522" y="339655"/>
                  </a:lnTo>
                  <a:lnTo>
                    <a:pt x="417838" y="355670"/>
                  </a:lnTo>
                  <a:lnTo>
                    <a:pt x="393735" y="371195"/>
                  </a:lnTo>
                  <a:close/>
                </a:path>
                <a:path w="685164" h="830579">
                  <a:moveTo>
                    <a:pt x="344997" y="402391"/>
                  </a:moveTo>
                  <a:lnTo>
                    <a:pt x="334719" y="386351"/>
                  </a:lnTo>
                  <a:lnTo>
                    <a:pt x="359112" y="370720"/>
                  </a:lnTo>
                  <a:lnTo>
                    <a:pt x="369390" y="386760"/>
                  </a:lnTo>
                  <a:lnTo>
                    <a:pt x="344997" y="402391"/>
                  </a:lnTo>
                  <a:close/>
                </a:path>
                <a:path w="685164" h="830579">
                  <a:moveTo>
                    <a:pt x="297239" y="433671"/>
                  </a:moveTo>
                  <a:lnTo>
                    <a:pt x="286668" y="417823"/>
                  </a:lnTo>
                  <a:lnTo>
                    <a:pt x="310606" y="401982"/>
                  </a:lnTo>
                  <a:lnTo>
                    <a:pt x="321038" y="417823"/>
                  </a:lnTo>
                  <a:lnTo>
                    <a:pt x="321189" y="417823"/>
                  </a:lnTo>
                  <a:lnTo>
                    <a:pt x="297239" y="433671"/>
                  </a:lnTo>
                  <a:close/>
                </a:path>
                <a:path w="685164" h="830579">
                  <a:moveTo>
                    <a:pt x="250565" y="466097"/>
                  </a:moveTo>
                  <a:lnTo>
                    <a:pt x="239394" y="450666"/>
                  </a:lnTo>
                  <a:lnTo>
                    <a:pt x="250870" y="442450"/>
                  </a:lnTo>
                  <a:lnTo>
                    <a:pt x="262866" y="434045"/>
                  </a:lnTo>
                  <a:lnTo>
                    <a:pt x="273723" y="449698"/>
                  </a:lnTo>
                  <a:lnTo>
                    <a:pt x="261887" y="457992"/>
                  </a:lnTo>
                  <a:lnTo>
                    <a:pt x="250565" y="466097"/>
                  </a:lnTo>
                  <a:close/>
                </a:path>
                <a:path w="685164" h="830579">
                  <a:moveTo>
                    <a:pt x="205397" y="500590"/>
                  </a:moveTo>
                  <a:lnTo>
                    <a:pt x="193404" y="485789"/>
                  </a:lnTo>
                  <a:lnTo>
                    <a:pt x="198968" y="481316"/>
                  </a:lnTo>
                  <a:lnTo>
                    <a:pt x="204647" y="476822"/>
                  </a:lnTo>
                  <a:lnTo>
                    <a:pt x="210439" y="472308"/>
                  </a:lnTo>
                  <a:lnTo>
                    <a:pt x="216346" y="467773"/>
                  </a:lnTo>
                  <a:lnTo>
                    <a:pt x="227893" y="482925"/>
                  </a:lnTo>
                  <a:lnTo>
                    <a:pt x="222100" y="487372"/>
                  </a:lnTo>
                  <a:lnTo>
                    <a:pt x="216420" y="491799"/>
                  </a:lnTo>
                  <a:lnTo>
                    <a:pt x="210852" y="496205"/>
                  </a:lnTo>
                  <a:lnTo>
                    <a:pt x="205397" y="500590"/>
                  </a:lnTo>
                  <a:close/>
                </a:path>
                <a:path w="685164" h="830579">
                  <a:moveTo>
                    <a:pt x="162637" y="537841"/>
                  </a:moveTo>
                  <a:lnTo>
                    <a:pt x="149570" y="523979"/>
                  </a:lnTo>
                  <a:lnTo>
                    <a:pt x="154788" y="519111"/>
                  </a:lnTo>
                  <a:lnTo>
                    <a:pt x="160114" y="514244"/>
                  </a:lnTo>
                  <a:lnTo>
                    <a:pt x="165547" y="509377"/>
                  </a:lnTo>
                  <a:lnTo>
                    <a:pt x="171087" y="504511"/>
                  </a:lnTo>
                  <a:lnTo>
                    <a:pt x="183590" y="518885"/>
                  </a:lnTo>
                  <a:lnTo>
                    <a:pt x="178191" y="523626"/>
                  </a:lnTo>
                  <a:lnTo>
                    <a:pt x="172900" y="528366"/>
                  </a:lnTo>
                  <a:lnTo>
                    <a:pt x="167715" y="533104"/>
                  </a:lnTo>
                  <a:lnTo>
                    <a:pt x="162637" y="537841"/>
                  </a:lnTo>
                  <a:close/>
                </a:path>
                <a:path w="685164" h="830579">
                  <a:moveTo>
                    <a:pt x="123756" y="578026"/>
                  </a:moveTo>
                  <a:lnTo>
                    <a:pt x="109424" y="565477"/>
                  </a:lnTo>
                  <a:lnTo>
                    <a:pt x="114147" y="560153"/>
                  </a:lnTo>
                  <a:lnTo>
                    <a:pt x="118980" y="554845"/>
                  </a:lnTo>
                  <a:lnTo>
                    <a:pt x="123923" y="549552"/>
                  </a:lnTo>
                  <a:lnTo>
                    <a:pt x="128975" y="544274"/>
                  </a:lnTo>
                  <a:lnTo>
                    <a:pt x="142655" y="557531"/>
                  </a:lnTo>
                  <a:lnTo>
                    <a:pt x="137769" y="562636"/>
                  </a:lnTo>
                  <a:lnTo>
                    <a:pt x="132990" y="567753"/>
                  </a:lnTo>
                  <a:lnTo>
                    <a:pt x="128319" y="572883"/>
                  </a:lnTo>
                  <a:lnTo>
                    <a:pt x="123756" y="578026"/>
                  </a:lnTo>
                  <a:close/>
                </a:path>
                <a:path w="685164" h="830579">
                  <a:moveTo>
                    <a:pt x="89353" y="622161"/>
                  </a:moveTo>
                  <a:lnTo>
                    <a:pt x="73648" y="611379"/>
                  </a:lnTo>
                  <a:lnTo>
                    <a:pt x="77783" y="605456"/>
                  </a:lnTo>
                  <a:lnTo>
                    <a:pt x="82035" y="599562"/>
                  </a:lnTo>
                  <a:lnTo>
                    <a:pt x="86405" y="593697"/>
                  </a:lnTo>
                  <a:lnTo>
                    <a:pt x="90893" y="587860"/>
                  </a:lnTo>
                  <a:lnTo>
                    <a:pt x="105877" y="599562"/>
                  </a:lnTo>
                  <a:lnTo>
                    <a:pt x="101598" y="605190"/>
                  </a:lnTo>
                  <a:lnTo>
                    <a:pt x="97402" y="610820"/>
                  </a:lnTo>
                  <a:lnTo>
                    <a:pt x="93321" y="616477"/>
                  </a:lnTo>
                  <a:lnTo>
                    <a:pt x="89353" y="622161"/>
                  </a:lnTo>
                  <a:close/>
                </a:path>
                <a:path w="685164" h="830579">
                  <a:moveTo>
                    <a:pt x="60960" y="670012"/>
                  </a:moveTo>
                  <a:lnTo>
                    <a:pt x="43951" y="661434"/>
                  </a:lnTo>
                  <a:lnTo>
                    <a:pt x="47264" y="655003"/>
                  </a:lnTo>
                  <a:lnTo>
                    <a:pt x="50699" y="648612"/>
                  </a:lnTo>
                  <a:lnTo>
                    <a:pt x="54255" y="642260"/>
                  </a:lnTo>
                  <a:lnTo>
                    <a:pt x="57932" y="635946"/>
                  </a:lnTo>
                  <a:lnTo>
                    <a:pt x="74311" y="645674"/>
                  </a:lnTo>
                  <a:lnTo>
                    <a:pt x="70799" y="651704"/>
                  </a:lnTo>
                  <a:lnTo>
                    <a:pt x="67403" y="657770"/>
                  </a:lnTo>
                  <a:lnTo>
                    <a:pt x="64124" y="663873"/>
                  </a:lnTo>
                  <a:lnTo>
                    <a:pt x="60960" y="670012"/>
                  </a:lnTo>
                  <a:close/>
                </a:path>
                <a:path w="685164" h="830579">
                  <a:moveTo>
                    <a:pt x="39523" y="721319"/>
                  </a:moveTo>
                  <a:lnTo>
                    <a:pt x="21463" y="715255"/>
                  </a:lnTo>
                  <a:lnTo>
                    <a:pt x="23857" y="708336"/>
                  </a:lnTo>
                  <a:lnTo>
                    <a:pt x="26208" y="701909"/>
                  </a:lnTo>
                  <a:lnTo>
                    <a:pt x="28913" y="694889"/>
                  </a:lnTo>
                  <a:lnTo>
                    <a:pt x="31638" y="688191"/>
                  </a:lnTo>
                  <a:lnTo>
                    <a:pt x="49219" y="695526"/>
                  </a:lnTo>
                  <a:lnTo>
                    <a:pt x="46735" y="701632"/>
                  </a:lnTo>
                  <a:lnTo>
                    <a:pt x="44141" y="708336"/>
                  </a:lnTo>
                  <a:lnTo>
                    <a:pt x="41774" y="714806"/>
                  </a:lnTo>
                  <a:lnTo>
                    <a:pt x="39523" y="721319"/>
                  </a:lnTo>
                  <a:close/>
                </a:path>
                <a:path w="685164" h="830579">
                  <a:moveTo>
                    <a:pt x="25470" y="775840"/>
                  </a:moveTo>
                  <a:lnTo>
                    <a:pt x="6734" y="772392"/>
                  </a:lnTo>
                  <a:lnTo>
                    <a:pt x="8158" y="765017"/>
                  </a:lnTo>
                  <a:lnTo>
                    <a:pt x="9706" y="757694"/>
                  </a:lnTo>
                  <a:lnTo>
                    <a:pt x="11379" y="750424"/>
                  </a:lnTo>
                  <a:lnTo>
                    <a:pt x="13175" y="743205"/>
                  </a:lnTo>
                  <a:lnTo>
                    <a:pt x="31619" y="747970"/>
                  </a:lnTo>
                  <a:lnTo>
                    <a:pt x="29905" y="754860"/>
                  </a:lnTo>
                  <a:lnTo>
                    <a:pt x="28308" y="761802"/>
                  </a:lnTo>
                  <a:lnTo>
                    <a:pt x="26830" y="768795"/>
                  </a:lnTo>
                  <a:lnTo>
                    <a:pt x="25470" y="775840"/>
                  </a:lnTo>
                  <a:close/>
                </a:path>
                <a:path w="685164" h="830579">
                  <a:moveTo>
                    <a:pt x="19020" y="830481"/>
                  </a:moveTo>
                  <a:lnTo>
                    <a:pt x="0" y="829423"/>
                  </a:lnTo>
                  <a:lnTo>
                    <a:pt x="379" y="823426"/>
                  </a:lnTo>
                  <a:lnTo>
                    <a:pt x="465" y="822072"/>
                  </a:lnTo>
                  <a:lnTo>
                    <a:pt x="1040" y="814771"/>
                  </a:lnTo>
                  <a:lnTo>
                    <a:pt x="1726" y="807519"/>
                  </a:lnTo>
                  <a:lnTo>
                    <a:pt x="2522" y="800317"/>
                  </a:lnTo>
                  <a:lnTo>
                    <a:pt x="21439" y="802560"/>
                  </a:lnTo>
                  <a:lnTo>
                    <a:pt x="20676" y="809466"/>
                  </a:lnTo>
                  <a:lnTo>
                    <a:pt x="20019" y="816421"/>
                  </a:lnTo>
                  <a:lnTo>
                    <a:pt x="19573" y="822072"/>
                  </a:lnTo>
                  <a:lnTo>
                    <a:pt x="19467" y="823426"/>
                  </a:lnTo>
                  <a:lnTo>
                    <a:pt x="19087" y="829423"/>
                  </a:lnTo>
                  <a:lnTo>
                    <a:pt x="19020" y="830481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886074" y="4143374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49" y="0"/>
                  </a:lnTo>
                  <a:lnTo>
                    <a:pt x="66674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000249" y="4314824"/>
              <a:ext cx="952500" cy="285750"/>
            </a:xfrm>
            <a:custGeom>
              <a:avLst/>
              <a:gdLst/>
              <a:ahLst/>
              <a:cxnLst/>
              <a:rect l="l" t="t" r="r" b="b"/>
              <a:pathLst>
                <a:path w="952500" h="285750">
                  <a:moveTo>
                    <a:pt x="911190" y="285749"/>
                  </a:moveTo>
                  <a:lnTo>
                    <a:pt x="41309" y="285749"/>
                  </a:lnTo>
                  <a:lnTo>
                    <a:pt x="35234" y="284541"/>
                  </a:lnTo>
                  <a:lnTo>
                    <a:pt x="1208" y="250515"/>
                  </a:lnTo>
                  <a:lnTo>
                    <a:pt x="0" y="244440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11190" y="0"/>
                  </a:lnTo>
                  <a:lnTo>
                    <a:pt x="946457" y="23564"/>
                  </a:lnTo>
                  <a:lnTo>
                    <a:pt x="952499" y="41309"/>
                  </a:lnTo>
                  <a:lnTo>
                    <a:pt x="952499" y="244440"/>
                  </a:lnTo>
                  <a:lnTo>
                    <a:pt x="928934" y="279707"/>
                  </a:lnTo>
                  <a:lnTo>
                    <a:pt x="917265" y="284541"/>
                  </a:lnTo>
                  <a:lnTo>
                    <a:pt x="911190" y="285749"/>
                  </a:lnTo>
                  <a:close/>
                </a:path>
              </a:pathLst>
            </a:custGeom>
            <a:solidFill>
              <a:srgbClr val="99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000249" y="4314824"/>
              <a:ext cx="952500" cy="285750"/>
            </a:xfrm>
            <a:custGeom>
              <a:avLst/>
              <a:gdLst/>
              <a:ahLst/>
              <a:cxnLst/>
              <a:rect l="l" t="t" r="r" b="b"/>
              <a:pathLst>
                <a:path w="952500" h="285750">
                  <a:moveTo>
                    <a:pt x="47625" y="0"/>
                  </a:moveTo>
                  <a:lnTo>
                    <a:pt x="904875" y="0"/>
                  </a:lnTo>
                  <a:lnTo>
                    <a:pt x="911190" y="0"/>
                  </a:lnTo>
                  <a:lnTo>
                    <a:pt x="917265" y="1208"/>
                  </a:lnTo>
                  <a:lnTo>
                    <a:pt x="923100" y="3625"/>
                  </a:lnTo>
                  <a:lnTo>
                    <a:pt x="928934" y="6041"/>
                  </a:lnTo>
                  <a:lnTo>
                    <a:pt x="934085" y="9483"/>
                  </a:lnTo>
                  <a:lnTo>
                    <a:pt x="938550" y="13948"/>
                  </a:lnTo>
                  <a:lnTo>
                    <a:pt x="943016" y="18414"/>
                  </a:lnTo>
                  <a:lnTo>
                    <a:pt x="952500" y="47624"/>
                  </a:lnTo>
                  <a:lnTo>
                    <a:pt x="952500" y="238124"/>
                  </a:lnTo>
                  <a:lnTo>
                    <a:pt x="934085" y="276266"/>
                  </a:lnTo>
                  <a:lnTo>
                    <a:pt x="923100" y="282124"/>
                  </a:lnTo>
                  <a:lnTo>
                    <a:pt x="917265" y="284541"/>
                  </a:lnTo>
                  <a:lnTo>
                    <a:pt x="911190" y="285749"/>
                  </a:lnTo>
                  <a:lnTo>
                    <a:pt x="904875" y="285749"/>
                  </a:lnTo>
                  <a:lnTo>
                    <a:pt x="47625" y="285749"/>
                  </a:lnTo>
                  <a:lnTo>
                    <a:pt x="41309" y="285749"/>
                  </a:lnTo>
                  <a:lnTo>
                    <a:pt x="35234" y="284541"/>
                  </a:lnTo>
                  <a:lnTo>
                    <a:pt x="29399" y="282124"/>
                  </a:lnTo>
                  <a:lnTo>
                    <a:pt x="23564" y="279707"/>
                  </a:lnTo>
                  <a:lnTo>
                    <a:pt x="18414" y="276266"/>
                  </a:lnTo>
                  <a:lnTo>
                    <a:pt x="13949" y="271800"/>
                  </a:lnTo>
                  <a:lnTo>
                    <a:pt x="9483" y="267334"/>
                  </a:lnTo>
                  <a:lnTo>
                    <a:pt x="6042" y="262184"/>
                  </a:lnTo>
                  <a:lnTo>
                    <a:pt x="3625" y="256350"/>
                  </a:lnTo>
                  <a:lnTo>
                    <a:pt x="1208" y="250515"/>
                  </a:lnTo>
                  <a:lnTo>
                    <a:pt x="0" y="244440"/>
                  </a:lnTo>
                  <a:lnTo>
                    <a:pt x="0" y="238124"/>
                  </a:lnTo>
                  <a:lnTo>
                    <a:pt x="0" y="4762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1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9049">
              <a:solidFill>
                <a:srgbClr val="7929A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4310905" y="2892942"/>
            <a:ext cx="42672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30">
                <a:solidFill>
                  <a:srgbClr val="666666"/>
                </a:solidFill>
                <a:latin typeface="Roboto"/>
                <a:cs typeface="Roboto"/>
              </a:rPr>
              <a:t>Tie-</a:t>
            </a:r>
            <a:r>
              <a:rPr dirty="0" sz="950" spc="-20">
                <a:solidFill>
                  <a:srgbClr val="666666"/>
                </a:solidFill>
                <a:latin typeface="Roboto"/>
                <a:cs typeface="Roboto"/>
              </a:rPr>
              <a:t>Line</a:t>
            </a:r>
            <a:endParaRPr sz="950">
              <a:latin typeface="Roboto"/>
              <a:cs typeface="Roboto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7454155" y="2892942"/>
            <a:ext cx="42672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30">
                <a:solidFill>
                  <a:srgbClr val="666666"/>
                </a:solidFill>
                <a:latin typeface="Roboto"/>
                <a:cs typeface="Roboto"/>
              </a:rPr>
              <a:t>Tie-</a:t>
            </a:r>
            <a:r>
              <a:rPr dirty="0" sz="950" spc="-20">
                <a:solidFill>
                  <a:srgbClr val="666666"/>
                </a:solidFill>
                <a:latin typeface="Roboto"/>
                <a:cs typeface="Roboto"/>
              </a:rPr>
              <a:t>Line</a:t>
            </a:r>
            <a:endParaRPr sz="950">
              <a:latin typeface="Roboto"/>
              <a:cs typeface="Roboto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2147391" y="4369317"/>
            <a:ext cx="925194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60">
                <a:solidFill>
                  <a:srgbClr val="FFFFFF"/>
                </a:solidFill>
                <a:latin typeface="Roboto"/>
                <a:cs typeface="Roboto"/>
              </a:rPr>
              <a:t>ML</a:t>
            </a:r>
            <a:r>
              <a:rPr dirty="0" sz="9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Roboto"/>
                <a:cs typeface="Roboto"/>
              </a:rPr>
              <a:t>Ensemble</a:t>
            </a:r>
            <a:r>
              <a:rPr dirty="0" sz="900" spc="1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950" spc="-25">
                <a:solidFill>
                  <a:srgbClr val="FF3333"/>
                </a:solidFill>
                <a:latin typeface="Roboto"/>
                <a:cs typeface="Roboto"/>
              </a:rPr>
              <a:t>ACE</a:t>
            </a:r>
            <a:endParaRPr sz="950">
              <a:latin typeface="Roboto"/>
              <a:cs typeface="Roboto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619124" y="3257550"/>
            <a:ext cx="11382375" cy="3657600"/>
            <a:chOff x="619124" y="3257550"/>
            <a:chExt cx="11382375" cy="3657600"/>
          </a:xfrm>
        </p:grpSpPr>
        <p:sp>
          <p:nvSpPr>
            <p:cNvPr id="62" name="object 62" descr=""/>
            <p:cNvSpPr/>
            <p:nvPr/>
          </p:nvSpPr>
          <p:spPr>
            <a:xfrm>
              <a:off x="2952749" y="3267074"/>
              <a:ext cx="666750" cy="952500"/>
            </a:xfrm>
            <a:custGeom>
              <a:avLst/>
              <a:gdLst/>
              <a:ahLst/>
              <a:cxnLst/>
              <a:rect l="l" t="t" r="r" b="b"/>
              <a:pathLst>
                <a:path w="666750" h="952500">
                  <a:moveTo>
                    <a:pt x="666749" y="0"/>
                  </a:moveTo>
                  <a:lnTo>
                    <a:pt x="666749" y="857249"/>
                  </a:lnTo>
                  <a:lnTo>
                    <a:pt x="659440" y="875058"/>
                  </a:lnTo>
                  <a:lnTo>
                    <a:pt x="606551" y="903731"/>
                  </a:lnTo>
                  <a:lnTo>
                    <a:pt x="564698" y="914936"/>
                  </a:lnTo>
                  <a:lnTo>
                    <a:pt x="515055" y="924277"/>
                  </a:lnTo>
                  <a:lnTo>
                    <a:pt x="459485" y="931925"/>
                  </a:lnTo>
                  <a:lnTo>
                    <a:pt x="399852" y="938050"/>
                  </a:lnTo>
                  <a:lnTo>
                    <a:pt x="338017" y="942819"/>
                  </a:lnTo>
                  <a:lnTo>
                    <a:pt x="275843" y="946403"/>
                  </a:lnTo>
                  <a:lnTo>
                    <a:pt x="215194" y="948972"/>
                  </a:lnTo>
                  <a:lnTo>
                    <a:pt x="157931" y="950693"/>
                  </a:lnTo>
                  <a:lnTo>
                    <a:pt x="105917" y="951737"/>
                  </a:lnTo>
                  <a:lnTo>
                    <a:pt x="61016" y="952274"/>
                  </a:lnTo>
                  <a:lnTo>
                    <a:pt x="25089" y="952471"/>
                  </a:lnTo>
                  <a:lnTo>
                    <a:pt x="0" y="952499"/>
                  </a:lnTo>
                </a:path>
              </a:pathLst>
            </a:custGeom>
            <a:ln w="19049">
              <a:solidFill>
                <a:srgbClr val="993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933699" y="4152900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190499" y="0"/>
                  </a:moveTo>
                  <a:lnTo>
                    <a:pt x="190499" y="133349"/>
                  </a:lnTo>
                  <a:lnTo>
                    <a:pt x="0" y="66674"/>
                  </a:lnTo>
                  <a:lnTo>
                    <a:pt x="190499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19124" y="50768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1" y="279114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2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5162550"/>
              <a:ext cx="171449" cy="133349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619124" y="54959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1" y="279114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2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295" y="5571351"/>
              <a:ext cx="152459" cy="153947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619124" y="59150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1" y="279114"/>
                  </a:lnTo>
                  <a:lnTo>
                    <a:pt x="34591" y="249081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4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6" y="8903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3"/>
                  </a:lnTo>
                  <a:lnTo>
                    <a:pt x="243192" y="29995"/>
                  </a:lnTo>
                  <a:lnTo>
                    <a:pt x="274804" y="61606"/>
                  </a:lnTo>
                  <a:lnTo>
                    <a:pt x="295895" y="101064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2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3571" y="5990421"/>
              <a:ext cx="115907" cy="154007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6210299" y="51530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5"/>
                  </a:lnTo>
                  <a:lnTo>
                    <a:pt x="34590" y="249082"/>
                  </a:lnTo>
                  <a:lnTo>
                    <a:pt x="11599" y="210720"/>
                  </a:lnTo>
                  <a:lnTo>
                    <a:pt x="731" y="167338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4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4" y="203733"/>
                  </a:lnTo>
                  <a:lnTo>
                    <a:pt x="274803" y="243191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5549" y="5229225"/>
              <a:ext cx="114299" cy="152399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6210299" y="56483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6"/>
                  </a:lnTo>
                  <a:lnTo>
                    <a:pt x="34590" y="249082"/>
                  </a:lnTo>
                  <a:lnTo>
                    <a:pt x="11599" y="210720"/>
                  </a:lnTo>
                  <a:lnTo>
                    <a:pt x="731" y="167338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4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4" y="203732"/>
                  </a:lnTo>
                  <a:lnTo>
                    <a:pt x="274803" y="243191"/>
                  </a:lnTo>
                  <a:lnTo>
                    <a:pt x="243191" y="274804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86499" y="5724525"/>
              <a:ext cx="152399" cy="152399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6210299" y="60674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5"/>
                  </a:lnTo>
                  <a:lnTo>
                    <a:pt x="34590" y="249082"/>
                  </a:lnTo>
                  <a:lnTo>
                    <a:pt x="11599" y="210720"/>
                  </a:lnTo>
                  <a:lnTo>
                    <a:pt x="731" y="167338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4" y="61606"/>
                  </a:lnTo>
                  <a:lnTo>
                    <a:pt x="61606" y="29994"/>
                  </a:lnTo>
                  <a:lnTo>
                    <a:pt x="101065" y="8903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3"/>
                  </a:lnTo>
                  <a:lnTo>
                    <a:pt x="243191" y="29995"/>
                  </a:lnTo>
                  <a:lnTo>
                    <a:pt x="274803" y="61606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4" y="203732"/>
                  </a:lnTo>
                  <a:lnTo>
                    <a:pt x="274803" y="243191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FE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86499" y="6148387"/>
              <a:ext cx="152399" cy="142874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0544174" y="659130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6686550"/>
              <a:ext cx="133349" cy="133349"/>
            </a:xfrm>
            <a:prstGeom prst="rect">
              <a:avLst/>
            </a:prstGeom>
          </p:spPr>
        </p:pic>
      </p:grpSp>
      <p:sp>
        <p:nvSpPr>
          <p:cNvPr id="78" name="object 78" descr=""/>
          <p:cNvSpPr txBox="1"/>
          <p:nvPr/>
        </p:nvSpPr>
        <p:spPr>
          <a:xfrm>
            <a:off x="1025525" y="5094604"/>
            <a:ext cx="470662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Multi-</a:t>
            </a: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area</a:t>
            </a:r>
            <a:r>
              <a:rPr dirty="0" sz="1300" spc="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1F2937"/>
                </a:solidFill>
                <a:latin typeface="Roboto"/>
                <a:cs typeface="Roboto"/>
              </a:rPr>
              <a:t>power</a:t>
            </a:r>
            <a:r>
              <a:rPr dirty="0" sz="1300" spc="1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1F2937"/>
                </a:solidFill>
                <a:latin typeface="Roboto"/>
                <a:cs typeface="Roboto"/>
              </a:rPr>
              <a:t>system</a:t>
            </a:r>
            <a:r>
              <a:rPr dirty="0" sz="1300" spc="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with</a:t>
            </a:r>
            <a:r>
              <a:rPr dirty="0" sz="1300" spc="1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conventional</a:t>
            </a:r>
            <a:r>
              <a:rPr dirty="0" sz="1300" spc="1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1F2937"/>
                </a:solidFill>
                <a:latin typeface="Roboto"/>
                <a:cs typeface="Roboto"/>
              </a:rPr>
              <a:t>and</a:t>
            </a:r>
            <a:r>
              <a:rPr dirty="0" sz="1300" spc="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renewable</a:t>
            </a:r>
            <a:r>
              <a:rPr dirty="0" sz="1300" spc="1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1F2937"/>
                </a:solidFill>
                <a:latin typeface="Roboto"/>
                <a:cs typeface="Roboto"/>
              </a:rPr>
              <a:t>generation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84" name="object 8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7650" rIns="0" bIns="0" rtlCol="0" vert="horz">
            <a:spAutoFit/>
          </a:bodyPr>
          <a:lstStyle/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97155">
              <a:lnSpc>
                <a:spcPts val="1370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20"/>
              <a:t>5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  <p:sp>
        <p:nvSpPr>
          <p:cNvPr id="85" name="object 85" descr=""/>
          <p:cNvSpPr txBox="1"/>
          <p:nvPr/>
        </p:nvSpPr>
        <p:spPr>
          <a:xfrm>
            <a:off x="606424" y="6805637"/>
            <a:ext cx="2580005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z="1300" spc="-85">
                <a:solidFill>
                  <a:srgbClr val="FFFFFF"/>
                </a:solidFill>
                <a:latin typeface="Roboto"/>
                <a:cs typeface="Roboto"/>
              </a:rPr>
              <a:t>©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2023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IEEE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Roboto"/>
                <a:cs typeface="Roboto"/>
              </a:rPr>
              <a:t>Conference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Presentation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025525" y="5513704"/>
            <a:ext cx="42500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Tie-</a:t>
            </a:r>
            <a:r>
              <a:rPr dirty="0" sz="1300" spc="-40">
                <a:solidFill>
                  <a:srgbClr val="1F2937"/>
                </a:solidFill>
                <a:latin typeface="Roboto"/>
                <a:cs typeface="Roboto"/>
              </a:rPr>
              <a:t>line</a:t>
            </a:r>
            <a:r>
              <a:rPr dirty="0" sz="1300" spc="-1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connections</a:t>
            </a:r>
            <a:r>
              <a:rPr dirty="0" sz="1300" spc="-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with</a:t>
            </a:r>
            <a:r>
              <a:rPr dirty="0" sz="1300" spc="-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1F2937"/>
                </a:solidFill>
                <a:latin typeface="Roboto"/>
                <a:cs typeface="Roboto"/>
              </a:rPr>
              <a:t>power</a:t>
            </a:r>
            <a:r>
              <a:rPr dirty="0" sz="1300" spc="-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1F2937"/>
                </a:solidFill>
                <a:latin typeface="Roboto"/>
                <a:cs typeface="Roboto"/>
              </a:rPr>
              <a:t>flow</a:t>
            </a:r>
            <a:r>
              <a:rPr dirty="0" sz="1300" spc="-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constraints</a:t>
            </a:r>
            <a:r>
              <a:rPr dirty="0" sz="1300" spc="-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1F2937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1F2937"/>
                </a:solidFill>
                <a:latin typeface="Roboto"/>
                <a:cs typeface="Roboto"/>
              </a:rPr>
              <a:t>modeling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025525" y="5932804"/>
            <a:ext cx="35845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solidFill>
                  <a:srgbClr val="1F2937"/>
                </a:solidFill>
                <a:latin typeface="Roboto"/>
                <a:cs typeface="Roboto"/>
              </a:rPr>
              <a:t>Energy</a:t>
            </a:r>
            <a:r>
              <a:rPr dirty="0" sz="1300" spc="-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1F2937"/>
                </a:solidFill>
                <a:latin typeface="Roboto"/>
                <a:cs typeface="Roboto"/>
              </a:rPr>
              <a:t>storage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integration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1F2937"/>
                </a:solidFill>
                <a:latin typeface="Roboto"/>
                <a:cs typeface="Roboto"/>
              </a:rPr>
              <a:t>for</a:t>
            </a:r>
            <a:r>
              <a:rPr dirty="0" sz="1300" spc="-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balancing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1F2937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1F2937"/>
                </a:solidFill>
                <a:latin typeface="Roboto"/>
                <a:cs typeface="Roboto"/>
              </a:rPr>
              <a:t>stability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6616700" y="5031358"/>
            <a:ext cx="458978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60">
                <a:solidFill>
                  <a:srgbClr val="1F2937"/>
                </a:solidFill>
                <a:latin typeface="Roboto"/>
                <a:cs typeface="Roboto"/>
              </a:rPr>
              <a:t>Area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Control</a:t>
            </a:r>
            <a:r>
              <a:rPr dirty="0" sz="1300" spc="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Error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1F2937"/>
                </a:solidFill>
                <a:latin typeface="Roboto"/>
                <a:cs typeface="Roboto"/>
              </a:rPr>
              <a:t>(ACE)</a:t>
            </a:r>
            <a:r>
              <a:rPr dirty="0" sz="1300" spc="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calculation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1F2937"/>
                </a:solidFill>
                <a:latin typeface="Roboto"/>
                <a:cs typeface="Roboto"/>
              </a:rPr>
              <a:t>based</a:t>
            </a:r>
            <a:r>
              <a:rPr dirty="0" sz="1300" spc="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1F2937"/>
                </a:solidFill>
                <a:latin typeface="Roboto"/>
                <a:cs typeface="Roboto"/>
              </a:rPr>
              <a:t>on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frequency</a:t>
            </a:r>
            <a:r>
              <a:rPr dirty="0" sz="1300" spc="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1F2937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1F2937"/>
                </a:solidFill>
                <a:latin typeface="Roboto"/>
                <a:cs typeface="Roboto"/>
              </a:rPr>
              <a:t>tie-</a:t>
            </a:r>
            <a:r>
              <a:rPr dirty="0" sz="1300" spc="-20">
                <a:solidFill>
                  <a:srgbClr val="1F2937"/>
                </a:solidFill>
                <a:latin typeface="Roboto"/>
                <a:cs typeface="Roboto"/>
              </a:rPr>
              <a:t>line </a:t>
            </a:r>
            <a:r>
              <a:rPr dirty="0" sz="1300" spc="-10">
                <a:solidFill>
                  <a:srgbClr val="1F2937"/>
                </a:solidFill>
                <a:latin typeface="Roboto"/>
                <a:cs typeface="Roboto"/>
              </a:rPr>
              <a:t>power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6616700" y="5666104"/>
            <a:ext cx="3475354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solidFill>
                  <a:srgbClr val="1F2937"/>
                </a:solidFill>
                <a:latin typeface="Roboto"/>
                <a:cs typeface="Roboto"/>
              </a:rPr>
              <a:t>Ensemble</a:t>
            </a:r>
            <a:r>
              <a:rPr dirty="0" sz="1300" spc="-1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1F2937"/>
                </a:solidFill>
                <a:latin typeface="Roboto"/>
                <a:cs typeface="Roboto"/>
              </a:rPr>
              <a:t>ML</a:t>
            </a:r>
            <a:r>
              <a:rPr dirty="0" sz="1300" spc="-1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1F2937"/>
                </a:solidFill>
                <a:latin typeface="Roboto"/>
                <a:cs typeface="Roboto"/>
              </a:rPr>
              <a:t>for</a:t>
            </a:r>
            <a:r>
              <a:rPr dirty="0" sz="1300" spc="-1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renewable</a:t>
            </a:r>
            <a:r>
              <a:rPr dirty="0" sz="1300" spc="-1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generation</a:t>
            </a:r>
            <a:r>
              <a:rPr dirty="0" sz="1300" spc="-1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1F2937"/>
                </a:solidFill>
                <a:latin typeface="Roboto"/>
                <a:cs typeface="Roboto"/>
              </a:rPr>
              <a:t>forecasting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6616700" y="6085204"/>
            <a:ext cx="39909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solidFill>
                  <a:srgbClr val="1F2937"/>
                </a:solidFill>
                <a:latin typeface="Roboto"/>
                <a:cs typeface="Roboto"/>
              </a:rPr>
              <a:t>Coordinated</a:t>
            </a:r>
            <a:r>
              <a:rPr dirty="0" sz="1300" spc="-1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1F2937"/>
                </a:solidFill>
                <a:latin typeface="Roboto"/>
                <a:cs typeface="Roboto"/>
              </a:rPr>
              <a:t>PID</a:t>
            </a:r>
            <a:r>
              <a:rPr dirty="0" sz="1300" spc="-1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control</a:t>
            </a:r>
            <a:r>
              <a:rPr dirty="0" sz="1300" spc="-1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F2937"/>
                </a:solidFill>
                <a:latin typeface="Roboto"/>
                <a:cs typeface="Roboto"/>
              </a:rPr>
              <a:t>with</a:t>
            </a:r>
            <a:r>
              <a:rPr dirty="0" sz="1300" spc="-10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1F2937"/>
                </a:solidFill>
                <a:latin typeface="Roboto"/>
                <a:cs typeface="Roboto"/>
              </a:rPr>
              <a:t>virtual</a:t>
            </a:r>
            <a:r>
              <a:rPr dirty="0" sz="1300" spc="-1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1F2937"/>
                </a:solidFill>
                <a:latin typeface="Roboto"/>
                <a:cs typeface="Roboto"/>
              </a:rPr>
              <a:t>inertia</a:t>
            </a:r>
            <a:r>
              <a:rPr dirty="0" sz="1300" spc="-15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1F2937"/>
                </a:solidFill>
                <a:latin typeface="Roboto"/>
                <a:cs typeface="Roboto"/>
              </a:rPr>
              <a:t>implementation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7791450"/>
            <a:chOff x="0" y="0"/>
            <a:chExt cx="12192000" cy="77914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7914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8974" y="200025"/>
              <a:ext cx="1142999" cy="6476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24" y="7362824"/>
              <a:ext cx="12172950" cy="419100"/>
            </a:xfrm>
            <a:custGeom>
              <a:avLst/>
              <a:gdLst/>
              <a:ahLst/>
              <a:cxnLst/>
              <a:rect l="l" t="t" r="r" b="b"/>
              <a:pathLst>
                <a:path w="12172950" h="419100">
                  <a:moveTo>
                    <a:pt x="1217294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12172949" y="0"/>
                  </a:lnTo>
                  <a:lnTo>
                    <a:pt x="12172949" y="41909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9124" y="1038224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1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380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8174" y="5610225"/>
              <a:ext cx="10934700" cy="1562100"/>
            </a:xfrm>
            <a:custGeom>
              <a:avLst/>
              <a:gdLst/>
              <a:ahLst/>
              <a:cxnLst/>
              <a:rect l="l" t="t" r="r" b="b"/>
              <a:pathLst>
                <a:path w="10934700" h="1562100">
                  <a:moveTo>
                    <a:pt x="10863502" y="1562098"/>
                  </a:moveTo>
                  <a:lnTo>
                    <a:pt x="53397" y="1562098"/>
                  </a:lnTo>
                  <a:lnTo>
                    <a:pt x="49680" y="1561610"/>
                  </a:lnTo>
                  <a:lnTo>
                    <a:pt x="14085" y="1536242"/>
                  </a:lnTo>
                  <a:lnTo>
                    <a:pt x="366" y="1495857"/>
                  </a:lnTo>
                  <a:lnTo>
                    <a:pt x="0" y="1490901"/>
                  </a:lnTo>
                  <a:lnTo>
                    <a:pt x="0" y="1485899"/>
                  </a:lnTo>
                  <a:lnTo>
                    <a:pt x="0" y="71195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10863502" y="0"/>
                  </a:lnTo>
                  <a:lnTo>
                    <a:pt x="10904992" y="15621"/>
                  </a:lnTo>
                  <a:lnTo>
                    <a:pt x="10930812" y="51660"/>
                  </a:lnTo>
                  <a:lnTo>
                    <a:pt x="10934699" y="71195"/>
                  </a:lnTo>
                  <a:lnTo>
                    <a:pt x="10934699" y="1490901"/>
                  </a:lnTo>
                  <a:lnTo>
                    <a:pt x="10919075" y="1532393"/>
                  </a:lnTo>
                  <a:lnTo>
                    <a:pt x="10883034" y="1558212"/>
                  </a:lnTo>
                  <a:lnTo>
                    <a:pt x="10868457" y="1561610"/>
                  </a:lnTo>
                  <a:lnTo>
                    <a:pt x="10863502" y="1562098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19124" y="5610502"/>
              <a:ext cx="70485" cy="1562100"/>
            </a:xfrm>
            <a:custGeom>
              <a:avLst/>
              <a:gdLst/>
              <a:ahLst/>
              <a:cxnLst/>
              <a:rect l="l" t="t" r="r" b="b"/>
              <a:pathLst>
                <a:path w="70484" h="1562100">
                  <a:moveTo>
                    <a:pt x="70450" y="1561544"/>
                  </a:moveTo>
                  <a:lnTo>
                    <a:pt x="33857" y="1548991"/>
                  </a:lnTo>
                  <a:lnTo>
                    <a:pt x="5800" y="1514782"/>
                  </a:lnTo>
                  <a:lnTo>
                    <a:pt x="0" y="1485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485622"/>
                  </a:lnTo>
                  <a:lnTo>
                    <a:pt x="44515" y="1527963"/>
                  </a:lnTo>
                  <a:lnTo>
                    <a:pt x="66287" y="1559888"/>
                  </a:lnTo>
                  <a:lnTo>
                    <a:pt x="70450" y="1561544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207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Ensemble</a:t>
            </a:r>
            <a:r>
              <a:rPr dirty="0" spc="-20"/>
              <a:t> </a:t>
            </a:r>
            <a:r>
              <a:rPr dirty="0" spc="-155"/>
              <a:t>Machine</a:t>
            </a:r>
            <a:r>
              <a:rPr dirty="0" spc="-15"/>
              <a:t> </a:t>
            </a:r>
            <a:r>
              <a:rPr dirty="0" spc="-140"/>
              <a:t>Learning</a:t>
            </a:r>
            <a:r>
              <a:rPr dirty="0" spc="-20"/>
              <a:t> </a:t>
            </a:r>
            <a:r>
              <a:rPr dirty="0" spc="-110"/>
              <a:t>Forecasting</a:t>
            </a:r>
          </a:p>
        </p:txBody>
      </p:sp>
      <p:grpSp>
        <p:nvGrpSpPr>
          <p:cNvPr id="10" name="object 10" descr=""/>
          <p:cNvGrpSpPr/>
          <p:nvPr/>
        </p:nvGrpSpPr>
        <p:grpSpPr>
          <a:xfrm>
            <a:off x="619124" y="3819524"/>
            <a:ext cx="5362575" cy="1562100"/>
            <a:chOff x="619124" y="3819524"/>
            <a:chExt cx="5362575" cy="1562100"/>
          </a:xfrm>
        </p:grpSpPr>
        <p:sp>
          <p:nvSpPr>
            <p:cNvPr id="11" name="object 11" descr=""/>
            <p:cNvSpPr/>
            <p:nvPr/>
          </p:nvSpPr>
          <p:spPr>
            <a:xfrm>
              <a:off x="638174" y="3819524"/>
              <a:ext cx="5343525" cy="1562100"/>
            </a:xfrm>
            <a:custGeom>
              <a:avLst/>
              <a:gdLst/>
              <a:ahLst/>
              <a:cxnLst/>
              <a:rect l="l" t="t" r="r" b="b"/>
              <a:pathLst>
                <a:path w="5343525" h="1562100">
                  <a:moveTo>
                    <a:pt x="5272327" y="1562099"/>
                  </a:moveTo>
                  <a:lnTo>
                    <a:pt x="53397" y="1562099"/>
                  </a:lnTo>
                  <a:lnTo>
                    <a:pt x="49680" y="1561611"/>
                  </a:lnTo>
                  <a:lnTo>
                    <a:pt x="14085" y="1536242"/>
                  </a:lnTo>
                  <a:lnTo>
                    <a:pt x="366" y="1495858"/>
                  </a:lnTo>
                  <a:lnTo>
                    <a:pt x="0" y="1490903"/>
                  </a:lnTo>
                  <a:lnTo>
                    <a:pt x="0" y="14858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272327" y="0"/>
                  </a:lnTo>
                  <a:lnTo>
                    <a:pt x="5313818" y="15621"/>
                  </a:lnTo>
                  <a:lnTo>
                    <a:pt x="5339637" y="51661"/>
                  </a:lnTo>
                  <a:lnTo>
                    <a:pt x="5343524" y="71196"/>
                  </a:lnTo>
                  <a:lnTo>
                    <a:pt x="5343524" y="1490903"/>
                  </a:lnTo>
                  <a:lnTo>
                    <a:pt x="5327901" y="1532393"/>
                  </a:lnTo>
                  <a:lnTo>
                    <a:pt x="5291862" y="1558213"/>
                  </a:lnTo>
                  <a:lnTo>
                    <a:pt x="5277282" y="1561611"/>
                  </a:lnTo>
                  <a:lnTo>
                    <a:pt x="5272327" y="15620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9124" y="3819802"/>
              <a:ext cx="70485" cy="1562100"/>
            </a:xfrm>
            <a:custGeom>
              <a:avLst/>
              <a:gdLst/>
              <a:ahLst/>
              <a:cxnLst/>
              <a:rect l="l" t="t" r="r" b="b"/>
              <a:pathLst>
                <a:path w="70484" h="1562100">
                  <a:moveTo>
                    <a:pt x="70450" y="1561544"/>
                  </a:moveTo>
                  <a:lnTo>
                    <a:pt x="33857" y="1548991"/>
                  </a:lnTo>
                  <a:lnTo>
                    <a:pt x="5800" y="1514782"/>
                  </a:lnTo>
                  <a:lnTo>
                    <a:pt x="0" y="1485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485622"/>
                  </a:lnTo>
                  <a:lnTo>
                    <a:pt x="44515" y="1527964"/>
                  </a:lnTo>
                  <a:lnTo>
                    <a:pt x="66287" y="1559888"/>
                  </a:lnTo>
                  <a:lnTo>
                    <a:pt x="70450" y="1561544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9624" y="39719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9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924" y="4086224"/>
              <a:ext cx="152399" cy="15239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330324" y="4016072"/>
            <a:ext cx="15798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 b="1">
                <a:solidFill>
                  <a:srgbClr val="1D40AF"/>
                </a:solidFill>
                <a:latin typeface="Roboto"/>
                <a:cs typeface="Roboto"/>
              </a:rPr>
              <a:t>RBF</a:t>
            </a:r>
            <a:r>
              <a:rPr dirty="0" sz="15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1D40AF"/>
                </a:solidFill>
                <a:latin typeface="Roboto"/>
                <a:cs typeface="Roboto"/>
              </a:rPr>
              <a:t>Neural</a:t>
            </a:r>
            <a:r>
              <a:rPr dirty="0" sz="15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1D40AF"/>
                </a:solidFill>
                <a:latin typeface="Roboto"/>
                <a:cs typeface="Roboto"/>
              </a:rPr>
              <a:t>Network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181099" y="3819524"/>
            <a:ext cx="10391775" cy="1562100"/>
            <a:chOff x="1181099" y="3819524"/>
            <a:chExt cx="10391775" cy="1562100"/>
          </a:xfrm>
        </p:grpSpPr>
        <p:sp>
          <p:nvSpPr>
            <p:cNvPr id="17" name="object 17" descr=""/>
            <p:cNvSpPr/>
            <p:nvPr/>
          </p:nvSpPr>
          <p:spPr>
            <a:xfrm>
              <a:off x="1181087" y="4552949"/>
              <a:ext cx="47625" cy="581025"/>
            </a:xfrm>
            <a:custGeom>
              <a:avLst/>
              <a:gdLst/>
              <a:ahLst/>
              <a:cxnLst/>
              <a:rect l="l" t="t" r="r" b="b"/>
              <a:pathLst>
                <a:path w="47625" h="581025">
                  <a:moveTo>
                    <a:pt x="47625" y="554062"/>
                  </a:moveTo>
                  <a:lnTo>
                    <a:pt x="26974" y="533400"/>
                  </a:lnTo>
                  <a:lnTo>
                    <a:pt x="20662" y="533400"/>
                  </a:lnTo>
                  <a:lnTo>
                    <a:pt x="0" y="554062"/>
                  </a:lnTo>
                  <a:lnTo>
                    <a:pt x="0" y="560374"/>
                  </a:lnTo>
                  <a:lnTo>
                    <a:pt x="20662" y="581025"/>
                  </a:lnTo>
                  <a:lnTo>
                    <a:pt x="26974" y="581025"/>
                  </a:lnTo>
                  <a:lnTo>
                    <a:pt x="47625" y="560374"/>
                  </a:lnTo>
                  <a:lnTo>
                    <a:pt x="47625" y="557212"/>
                  </a:lnTo>
                  <a:lnTo>
                    <a:pt x="47625" y="554062"/>
                  </a:lnTo>
                  <a:close/>
                </a:path>
                <a:path w="47625" h="581025">
                  <a:moveTo>
                    <a:pt x="47625" y="287362"/>
                  </a:moveTo>
                  <a:lnTo>
                    <a:pt x="26974" y="266700"/>
                  </a:lnTo>
                  <a:lnTo>
                    <a:pt x="20662" y="266700"/>
                  </a:lnTo>
                  <a:lnTo>
                    <a:pt x="0" y="287362"/>
                  </a:lnTo>
                  <a:lnTo>
                    <a:pt x="0" y="293674"/>
                  </a:lnTo>
                  <a:lnTo>
                    <a:pt x="20662" y="314325"/>
                  </a:lnTo>
                  <a:lnTo>
                    <a:pt x="26974" y="314325"/>
                  </a:lnTo>
                  <a:lnTo>
                    <a:pt x="47625" y="293674"/>
                  </a:lnTo>
                  <a:lnTo>
                    <a:pt x="47625" y="290512"/>
                  </a:lnTo>
                  <a:lnTo>
                    <a:pt x="47625" y="287362"/>
                  </a:lnTo>
                  <a:close/>
                </a:path>
                <a:path w="47625" h="5810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229349" y="3819524"/>
              <a:ext cx="5343525" cy="1562100"/>
            </a:xfrm>
            <a:custGeom>
              <a:avLst/>
              <a:gdLst/>
              <a:ahLst/>
              <a:cxnLst/>
              <a:rect l="l" t="t" r="r" b="b"/>
              <a:pathLst>
                <a:path w="5343525" h="1562100">
                  <a:moveTo>
                    <a:pt x="5272327" y="1562099"/>
                  </a:moveTo>
                  <a:lnTo>
                    <a:pt x="53397" y="1562099"/>
                  </a:lnTo>
                  <a:lnTo>
                    <a:pt x="49680" y="1561611"/>
                  </a:lnTo>
                  <a:lnTo>
                    <a:pt x="14084" y="1536242"/>
                  </a:lnTo>
                  <a:lnTo>
                    <a:pt x="365" y="1495858"/>
                  </a:lnTo>
                  <a:lnTo>
                    <a:pt x="0" y="1490903"/>
                  </a:lnTo>
                  <a:lnTo>
                    <a:pt x="0" y="1485899"/>
                  </a:lnTo>
                  <a:lnTo>
                    <a:pt x="0" y="71196"/>
                  </a:lnTo>
                  <a:lnTo>
                    <a:pt x="11714" y="29704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5272327" y="0"/>
                  </a:lnTo>
                  <a:lnTo>
                    <a:pt x="5313818" y="15621"/>
                  </a:lnTo>
                  <a:lnTo>
                    <a:pt x="5339637" y="51661"/>
                  </a:lnTo>
                  <a:lnTo>
                    <a:pt x="5343524" y="71196"/>
                  </a:lnTo>
                  <a:lnTo>
                    <a:pt x="5343524" y="1490903"/>
                  </a:lnTo>
                  <a:lnTo>
                    <a:pt x="5327901" y="1532393"/>
                  </a:lnTo>
                  <a:lnTo>
                    <a:pt x="5291860" y="1558213"/>
                  </a:lnTo>
                  <a:lnTo>
                    <a:pt x="5277283" y="1561611"/>
                  </a:lnTo>
                  <a:lnTo>
                    <a:pt x="5272327" y="15620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210299" y="3819802"/>
              <a:ext cx="70485" cy="1562100"/>
            </a:xfrm>
            <a:custGeom>
              <a:avLst/>
              <a:gdLst/>
              <a:ahLst/>
              <a:cxnLst/>
              <a:rect l="l" t="t" r="r" b="b"/>
              <a:pathLst>
                <a:path w="70485" h="1562100">
                  <a:moveTo>
                    <a:pt x="70449" y="1561544"/>
                  </a:moveTo>
                  <a:lnTo>
                    <a:pt x="33857" y="1548991"/>
                  </a:lnTo>
                  <a:lnTo>
                    <a:pt x="5800" y="1514782"/>
                  </a:lnTo>
                  <a:lnTo>
                    <a:pt x="0" y="14856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485622"/>
                  </a:lnTo>
                  <a:lnTo>
                    <a:pt x="44514" y="1527964"/>
                  </a:lnTo>
                  <a:lnTo>
                    <a:pt x="66287" y="1559888"/>
                  </a:lnTo>
                  <a:lnTo>
                    <a:pt x="70449" y="1561544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00799" y="39719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4624" y="4095749"/>
              <a:ext cx="133349" cy="13334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330324" y="4383658"/>
            <a:ext cx="3237865" cy="825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90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Optimized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wind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variability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patterns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Hidden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layer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Gaussian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activation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functions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RMSE: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0.0134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p.u.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(wind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prediction)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921500" y="4016137"/>
            <a:ext cx="18942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91400D"/>
                </a:solidFill>
                <a:latin typeface="Roboto"/>
                <a:cs typeface="Roboto"/>
              </a:rPr>
              <a:t>Support</a:t>
            </a:r>
            <a:r>
              <a:rPr dirty="0" sz="1500" spc="-40" b="1">
                <a:solidFill>
                  <a:srgbClr val="91400D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91400D"/>
                </a:solidFill>
                <a:latin typeface="Roboto"/>
                <a:cs typeface="Roboto"/>
              </a:rPr>
              <a:t>Vector</a:t>
            </a:r>
            <a:r>
              <a:rPr dirty="0" sz="1500" spc="-35" b="1">
                <a:solidFill>
                  <a:srgbClr val="91400D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91400D"/>
                </a:solidFill>
                <a:latin typeface="Roboto"/>
                <a:cs typeface="Roboto"/>
              </a:rPr>
              <a:t>Machine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19124" y="1304924"/>
            <a:ext cx="10953750" cy="5676900"/>
            <a:chOff x="619124" y="1304924"/>
            <a:chExt cx="10953750" cy="5676900"/>
          </a:xfrm>
        </p:grpSpPr>
        <p:sp>
          <p:nvSpPr>
            <p:cNvPr id="25" name="object 25" descr=""/>
            <p:cNvSpPr/>
            <p:nvPr/>
          </p:nvSpPr>
          <p:spPr>
            <a:xfrm>
              <a:off x="6772262" y="4552949"/>
              <a:ext cx="47625" cy="581025"/>
            </a:xfrm>
            <a:custGeom>
              <a:avLst/>
              <a:gdLst/>
              <a:ahLst/>
              <a:cxnLst/>
              <a:rect l="l" t="t" r="r" b="b"/>
              <a:pathLst>
                <a:path w="47625" h="581025">
                  <a:moveTo>
                    <a:pt x="47625" y="554062"/>
                  </a:moveTo>
                  <a:lnTo>
                    <a:pt x="26974" y="533400"/>
                  </a:lnTo>
                  <a:lnTo>
                    <a:pt x="20662" y="533400"/>
                  </a:lnTo>
                  <a:lnTo>
                    <a:pt x="0" y="554062"/>
                  </a:lnTo>
                  <a:lnTo>
                    <a:pt x="0" y="560374"/>
                  </a:lnTo>
                  <a:lnTo>
                    <a:pt x="20662" y="581025"/>
                  </a:lnTo>
                  <a:lnTo>
                    <a:pt x="26974" y="581025"/>
                  </a:lnTo>
                  <a:lnTo>
                    <a:pt x="47625" y="560374"/>
                  </a:lnTo>
                  <a:lnTo>
                    <a:pt x="47625" y="557212"/>
                  </a:lnTo>
                  <a:lnTo>
                    <a:pt x="47625" y="554062"/>
                  </a:lnTo>
                  <a:close/>
                </a:path>
                <a:path w="47625" h="581025">
                  <a:moveTo>
                    <a:pt x="47625" y="287362"/>
                  </a:moveTo>
                  <a:lnTo>
                    <a:pt x="26974" y="266700"/>
                  </a:lnTo>
                  <a:lnTo>
                    <a:pt x="20662" y="266700"/>
                  </a:lnTo>
                  <a:lnTo>
                    <a:pt x="0" y="287362"/>
                  </a:lnTo>
                  <a:lnTo>
                    <a:pt x="0" y="293674"/>
                  </a:lnTo>
                  <a:lnTo>
                    <a:pt x="20662" y="314325"/>
                  </a:lnTo>
                  <a:lnTo>
                    <a:pt x="26974" y="314325"/>
                  </a:lnTo>
                  <a:lnTo>
                    <a:pt x="47625" y="293674"/>
                  </a:lnTo>
                  <a:lnTo>
                    <a:pt x="47625" y="290512"/>
                  </a:lnTo>
                  <a:lnTo>
                    <a:pt x="47625" y="287362"/>
                  </a:lnTo>
                  <a:close/>
                </a:path>
                <a:path w="47625" h="5810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09624" y="57626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4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4"/>
                  </a:lnTo>
                  <a:lnTo>
                    <a:pt x="325203" y="55795"/>
                  </a:lnTo>
                  <a:lnTo>
                    <a:pt x="353903" y="92571"/>
                  </a:lnTo>
                  <a:lnTo>
                    <a:pt x="372799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3924" y="5886449"/>
              <a:ext cx="152399" cy="13334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181087" y="6343649"/>
              <a:ext cx="47625" cy="581025"/>
            </a:xfrm>
            <a:custGeom>
              <a:avLst/>
              <a:gdLst/>
              <a:ahLst/>
              <a:cxnLst/>
              <a:rect l="l" t="t" r="r" b="b"/>
              <a:pathLst>
                <a:path w="47625" h="581025">
                  <a:moveTo>
                    <a:pt x="47625" y="554062"/>
                  </a:moveTo>
                  <a:lnTo>
                    <a:pt x="26974" y="533400"/>
                  </a:lnTo>
                  <a:lnTo>
                    <a:pt x="20662" y="533400"/>
                  </a:lnTo>
                  <a:lnTo>
                    <a:pt x="0" y="554062"/>
                  </a:lnTo>
                  <a:lnTo>
                    <a:pt x="0" y="560374"/>
                  </a:lnTo>
                  <a:lnTo>
                    <a:pt x="20662" y="581025"/>
                  </a:lnTo>
                  <a:lnTo>
                    <a:pt x="26974" y="581025"/>
                  </a:lnTo>
                  <a:lnTo>
                    <a:pt x="47625" y="560374"/>
                  </a:lnTo>
                  <a:lnTo>
                    <a:pt x="47625" y="557212"/>
                  </a:lnTo>
                  <a:lnTo>
                    <a:pt x="47625" y="554062"/>
                  </a:lnTo>
                  <a:close/>
                </a:path>
                <a:path w="47625" h="581025">
                  <a:moveTo>
                    <a:pt x="47625" y="287362"/>
                  </a:moveTo>
                  <a:lnTo>
                    <a:pt x="26974" y="266700"/>
                  </a:lnTo>
                  <a:lnTo>
                    <a:pt x="20662" y="266700"/>
                  </a:lnTo>
                  <a:lnTo>
                    <a:pt x="0" y="287362"/>
                  </a:lnTo>
                  <a:lnTo>
                    <a:pt x="0" y="293674"/>
                  </a:lnTo>
                  <a:lnTo>
                    <a:pt x="20662" y="314325"/>
                  </a:lnTo>
                  <a:lnTo>
                    <a:pt x="26974" y="314325"/>
                  </a:lnTo>
                  <a:lnTo>
                    <a:pt x="47625" y="293674"/>
                  </a:lnTo>
                  <a:lnTo>
                    <a:pt x="47625" y="290512"/>
                  </a:lnTo>
                  <a:lnTo>
                    <a:pt x="47625" y="287362"/>
                  </a:lnTo>
                  <a:close/>
                </a:path>
                <a:path w="47625" h="5810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15049" y="5762624"/>
              <a:ext cx="5305424" cy="121919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9124" y="1304924"/>
              <a:ext cx="10953749" cy="228599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6921500" y="4383658"/>
            <a:ext cx="2686050" cy="825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90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Well-suited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solar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irradiance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patterns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RBF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kernel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nonlinear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relationships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RMSE: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0.0097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p.u.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(solar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prediction)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330324" y="5806836"/>
            <a:ext cx="3439160" cy="1193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055E45"/>
                </a:solidFill>
                <a:latin typeface="Roboto"/>
                <a:cs typeface="Roboto"/>
              </a:rPr>
              <a:t>Ensemble</a:t>
            </a:r>
            <a:r>
              <a:rPr dirty="0" sz="1500" spc="-20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55E45"/>
                </a:solidFill>
                <a:latin typeface="Roboto"/>
                <a:cs typeface="Roboto"/>
              </a:rPr>
              <a:t>Performance</a:t>
            </a:r>
            <a:endParaRPr sz="1500">
              <a:latin typeface="Roboto"/>
              <a:cs typeface="Roboto"/>
            </a:endParaRPr>
          </a:p>
          <a:p>
            <a:pPr marL="12700" marR="160020">
              <a:lnSpc>
                <a:spcPct val="134600"/>
              </a:lnSpc>
              <a:spcBef>
                <a:spcPts val="1085"/>
              </a:spcBef>
            </a:pP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weighting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based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on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recent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accuracy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37%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improvement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over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single-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model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forecasting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Enhances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74050"/>
                </a:solidFill>
                <a:latin typeface="Roboto"/>
                <a:cs typeface="Roboto"/>
              </a:rPr>
              <a:t>AGC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response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fluctuations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242665" y="1677273"/>
            <a:ext cx="848994" cy="361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150" spc="-65" b="1">
                <a:solidFill>
                  <a:srgbClr val="1D40AF"/>
                </a:solidFill>
                <a:latin typeface="Roboto"/>
                <a:cs typeface="Roboto"/>
              </a:rPr>
              <a:t>Wind</a:t>
            </a:r>
            <a:r>
              <a:rPr dirty="0" sz="115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150" spc="-20" b="1">
                <a:solidFill>
                  <a:srgbClr val="1D40AF"/>
                </a:solidFill>
                <a:latin typeface="Roboto"/>
                <a:cs typeface="Roboto"/>
              </a:rPr>
              <a:t>Data</a:t>
            </a:r>
            <a:endParaRPr sz="115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000" spc="-60">
                <a:solidFill>
                  <a:srgbClr val="1C4ED8"/>
                </a:solidFill>
                <a:latin typeface="Roboto"/>
                <a:cs typeface="Roboto"/>
              </a:rPr>
              <a:t>Speed,</a:t>
            </a:r>
            <a:r>
              <a:rPr dirty="0" sz="1000" spc="25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dirty="0" sz="1000" spc="-30">
                <a:solidFill>
                  <a:srgbClr val="1C4ED8"/>
                </a:solidFill>
                <a:latin typeface="Roboto"/>
                <a:cs typeface="Roboto"/>
              </a:rPr>
              <a:t>Direction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852193" y="1677273"/>
            <a:ext cx="868680" cy="361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150" spc="-50" b="1">
                <a:solidFill>
                  <a:srgbClr val="91400D"/>
                </a:solidFill>
                <a:latin typeface="Roboto"/>
                <a:cs typeface="Roboto"/>
              </a:rPr>
              <a:t>Solar</a:t>
            </a:r>
            <a:r>
              <a:rPr dirty="0" sz="1150" spc="-25" b="1">
                <a:solidFill>
                  <a:srgbClr val="91400D"/>
                </a:solidFill>
                <a:latin typeface="Roboto"/>
                <a:cs typeface="Roboto"/>
              </a:rPr>
              <a:t> </a:t>
            </a:r>
            <a:r>
              <a:rPr dirty="0" sz="1150" spc="-20" b="1">
                <a:solidFill>
                  <a:srgbClr val="91400D"/>
                </a:solidFill>
                <a:latin typeface="Roboto"/>
                <a:cs typeface="Roboto"/>
              </a:rPr>
              <a:t>Data</a:t>
            </a:r>
            <a:endParaRPr sz="115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000" spc="-50">
                <a:solidFill>
                  <a:srgbClr val="B45309"/>
                </a:solidFill>
                <a:latin typeface="Roboto"/>
                <a:cs typeface="Roboto"/>
              </a:rPr>
              <a:t>Irradiance,</a:t>
            </a:r>
            <a:r>
              <a:rPr dirty="0" sz="1000" spc="10">
                <a:solidFill>
                  <a:srgbClr val="B45309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B45309"/>
                </a:solidFill>
                <a:latin typeface="Roboto"/>
                <a:cs typeface="Roboto"/>
              </a:rPr>
              <a:t>Temp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234330" y="2534523"/>
            <a:ext cx="865505" cy="5137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150" spc="-10" b="1">
                <a:solidFill>
                  <a:srgbClr val="1D40AF"/>
                </a:solidFill>
                <a:latin typeface="Roboto"/>
                <a:cs typeface="Roboto"/>
              </a:rPr>
              <a:t>RBFNN</a:t>
            </a:r>
            <a:endParaRPr sz="1150">
              <a:latin typeface="Roboto"/>
              <a:cs typeface="Roboto"/>
            </a:endParaRPr>
          </a:p>
          <a:p>
            <a:pPr algn="ctr" marL="12700" marR="5080">
              <a:lnSpc>
                <a:spcPct val="100000"/>
              </a:lnSpc>
              <a:spcBef>
                <a:spcPts val="45"/>
              </a:spcBef>
            </a:pPr>
            <a:r>
              <a:rPr dirty="0" sz="1000" spc="-60">
                <a:solidFill>
                  <a:srgbClr val="1C4ED8"/>
                </a:solidFill>
                <a:latin typeface="Roboto"/>
                <a:cs typeface="Roboto"/>
              </a:rPr>
              <a:t>Wind</a:t>
            </a:r>
            <a:r>
              <a:rPr dirty="0" sz="1000" spc="-25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1C4ED8"/>
                </a:solidFill>
                <a:latin typeface="Roboto"/>
                <a:cs typeface="Roboto"/>
              </a:rPr>
              <a:t>Generation</a:t>
            </a:r>
            <a:r>
              <a:rPr dirty="0" sz="1000" spc="-1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2562EB"/>
                </a:solidFill>
                <a:latin typeface="Roboto"/>
                <a:cs typeface="Roboto"/>
              </a:rPr>
              <a:t>Prediction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851300" y="2534523"/>
            <a:ext cx="869950" cy="5137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150" spc="-25" b="1">
                <a:solidFill>
                  <a:srgbClr val="91400D"/>
                </a:solidFill>
                <a:latin typeface="Roboto"/>
                <a:cs typeface="Roboto"/>
              </a:rPr>
              <a:t>SVM</a:t>
            </a:r>
            <a:endParaRPr sz="1150">
              <a:latin typeface="Roboto"/>
              <a:cs typeface="Roboto"/>
            </a:endParaRPr>
          </a:p>
          <a:p>
            <a:pPr algn="ctr" marL="12700" marR="5080">
              <a:lnSpc>
                <a:spcPct val="100000"/>
              </a:lnSpc>
              <a:spcBef>
                <a:spcPts val="45"/>
              </a:spcBef>
            </a:pPr>
            <a:r>
              <a:rPr dirty="0" sz="1000" spc="-55">
                <a:solidFill>
                  <a:srgbClr val="B45309"/>
                </a:solidFill>
                <a:latin typeface="Roboto"/>
                <a:cs typeface="Roboto"/>
              </a:rPr>
              <a:t>Solar</a:t>
            </a:r>
            <a:r>
              <a:rPr dirty="0" sz="1000" spc="20">
                <a:solidFill>
                  <a:srgbClr val="B45309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B45309"/>
                </a:solidFill>
                <a:latin typeface="Roboto"/>
                <a:cs typeface="Roboto"/>
              </a:rPr>
              <a:t>Generation</a:t>
            </a:r>
            <a:r>
              <a:rPr dirty="0" sz="1000" spc="-10">
                <a:solidFill>
                  <a:srgbClr val="B45309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D97705"/>
                </a:solidFill>
                <a:latin typeface="Roboto"/>
                <a:cs typeface="Roboto"/>
              </a:rPr>
              <a:t>Prediction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881907" y="2807795"/>
            <a:ext cx="1570990" cy="564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38100" marR="30480" indent="-635">
              <a:lnSpc>
                <a:spcPct val="106000"/>
              </a:lnSpc>
              <a:spcBef>
                <a:spcPts val="130"/>
              </a:spcBef>
            </a:pPr>
            <a:r>
              <a:rPr dirty="0" sz="1150" spc="-55" b="1">
                <a:solidFill>
                  <a:srgbClr val="5B20B5"/>
                </a:solidFill>
                <a:latin typeface="Roboto"/>
                <a:cs typeface="Roboto"/>
              </a:rPr>
              <a:t>Adaptive</a:t>
            </a:r>
            <a:r>
              <a:rPr dirty="0" sz="1150" spc="-5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5B20B5"/>
                </a:solidFill>
                <a:latin typeface="Roboto"/>
                <a:cs typeface="Roboto"/>
              </a:rPr>
              <a:t>Weighting </a:t>
            </a:r>
            <a:r>
              <a:rPr dirty="0" baseline="13071" sz="1275" spc="-37">
                <a:solidFill>
                  <a:srgbClr val="6D28D9"/>
                </a:solidFill>
                <a:latin typeface="Arial"/>
                <a:cs typeface="Arial"/>
              </a:rPr>
              <a:t>α</a:t>
            </a:r>
            <a:r>
              <a:rPr dirty="0" baseline="11695" sz="1425" spc="-37">
                <a:solidFill>
                  <a:srgbClr val="6D28D9"/>
                </a:solidFill>
                <a:latin typeface="Roboto"/>
                <a:cs typeface="Roboto"/>
              </a:rPr>
              <a:t>(t</a:t>
            </a:r>
            <a:r>
              <a:rPr dirty="0" baseline="11695" sz="1425" spc="-247">
                <a:solidFill>
                  <a:srgbClr val="6D28D9"/>
                </a:solidFill>
                <a:latin typeface="Roboto"/>
                <a:cs typeface="Roboto"/>
              </a:rPr>
              <a:t>)</a:t>
            </a:r>
            <a:r>
              <a:rPr dirty="0" sz="1150" spc="-400" b="1">
                <a:solidFill>
                  <a:srgbClr val="055E45"/>
                </a:solidFill>
                <a:latin typeface="Roboto"/>
                <a:cs typeface="Roboto"/>
              </a:rPr>
              <a:t>C</a:t>
            </a:r>
            <a:r>
              <a:rPr dirty="0" baseline="11695" sz="1425" spc="-270">
                <a:solidFill>
                  <a:srgbClr val="6D28D9"/>
                </a:solidFill>
                <a:latin typeface="Roboto"/>
                <a:cs typeface="Roboto"/>
              </a:rPr>
              <a:t>×</a:t>
            </a:r>
            <a:r>
              <a:rPr dirty="0" sz="1150" spc="-275" b="1">
                <a:solidFill>
                  <a:srgbClr val="055E45"/>
                </a:solidFill>
                <a:latin typeface="Roboto"/>
                <a:cs typeface="Roboto"/>
              </a:rPr>
              <a:t>o</a:t>
            </a:r>
            <a:r>
              <a:rPr dirty="0" baseline="11695" sz="1425" spc="-585">
                <a:solidFill>
                  <a:srgbClr val="6D28D9"/>
                </a:solidFill>
                <a:latin typeface="Roboto"/>
                <a:cs typeface="Roboto"/>
              </a:rPr>
              <a:t>P</a:t>
            </a:r>
            <a:r>
              <a:rPr dirty="0" sz="1150" spc="-655" b="1">
                <a:solidFill>
                  <a:srgbClr val="055E45"/>
                </a:solidFill>
                <a:latin typeface="Roboto"/>
                <a:cs typeface="Roboto"/>
              </a:rPr>
              <a:t>m</a:t>
            </a:r>
            <a:r>
              <a:rPr dirty="0" baseline="3968" sz="1050" spc="-37">
                <a:solidFill>
                  <a:srgbClr val="6D28D9"/>
                </a:solidFill>
                <a:latin typeface="Roboto"/>
                <a:cs typeface="Roboto"/>
              </a:rPr>
              <a:t>R</a:t>
            </a:r>
            <a:r>
              <a:rPr dirty="0" baseline="3968" sz="1050" spc="-465">
                <a:solidFill>
                  <a:srgbClr val="6D28D9"/>
                </a:solidFill>
                <a:latin typeface="Roboto"/>
                <a:cs typeface="Roboto"/>
              </a:rPr>
              <a:t>B</a:t>
            </a:r>
            <a:r>
              <a:rPr dirty="0" sz="1150" spc="-385" b="1">
                <a:solidFill>
                  <a:srgbClr val="055E45"/>
                </a:solidFill>
                <a:latin typeface="Roboto"/>
                <a:cs typeface="Roboto"/>
              </a:rPr>
              <a:t>b</a:t>
            </a:r>
            <a:r>
              <a:rPr dirty="0" baseline="3968" sz="1050" spc="-127">
                <a:solidFill>
                  <a:srgbClr val="6D28D9"/>
                </a:solidFill>
                <a:latin typeface="Roboto"/>
                <a:cs typeface="Roboto"/>
              </a:rPr>
              <a:t>F</a:t>
            </a:r>
            <a:r>
              <a:rPr dirty="0" sz="1150" spc="-275" b="1">
                <a:solidFill>
                  <a:srgbClr val="055E45"/>
                </a:solidFill>
                <a:latin typeface="Roboto"/>
                <a:cs typeface="Roboto"/>
              </a:rPr>
              <a:t>i</a:t>
            </a:r>
            <a:r>
              <a:rPr dirty="0" baseline="3968" sz="1050" spc="-450">
                <a:solidFill>
                  <a:srgbClr val="6D28D9"/>
                </a:solidFill>
                <a:latin typeface="Roboto"/>
                <a:cs typeface="Roboto"/>
              </a:rPr>
              <a:t>N</a:t>
            </a:r>
            <a:r>
              <a:rPr dirty="0" sz="1150" spc="-395" b="1">
                <a:solidFill>
                  <a:srgbClr val="055E45"/>
                </a:solidFill>
                <a:latin typeface="Roboto"/>
                <a:cs typeface="Roboto"/>
              </a:rPr>
              <a:t>n</a:t>
            </a:r>
            <a:r>
              <a:rPr dirty="0" baseline="3968" sz="1050" spc="-277">
                <a:solidFill>
                  <a:srgbClr val="6D28D9"/>
                </a:solidFill>
                <a:latin typeface="Roboto"/>
                <a:cs typeface="Roboto"/>
              </a:rPr>
              <a:t>N</a:t>
            </a:r>
            <a:r>
              <a:rPr dirty="0" sz="1150" spc="-240" b="1">
                <a:solidFill>
                  <a:srgbClr val="055E45"/>
                </a:solidFill>
                <a:latin typeface="Roboto"/>
                <a:cs typeface="Roboto"/>
              </a:rPr>
              <a:t>e</a:t>
            </a:r>
            <a:r>
              <a:rPr dirty="0" baseline="11695" sz="1425" spc="-555">
                <a:solidFill>
                  <a:srgbClr val="6D28D9"/>
                </a:solidFill>
                <a:latin typeface="Roboto"/>
                <a:cs typeface="Roboto"/>
              </a:rPr>
              <a:t>+</a:t>
            </a:r>
            <a:r>
              <a:rPr dirty="0" sz="1150" spc="-90" b="1">
                <a:solidFill>
                  <a:srgbClr val="055E45"/>
                </a:solidFill>
                <a:latin typeface="Roboto"/>
                <a:cs typeface="Roboto"/>
              </a:rPr>
              <a:t>d</a:t>
            </a:r>
            <a:r>
              <a:rPr dirty="0" baseline="11695" sz="1425" spc="-37">
                <a:solidFill>
                  <a:srgbClr val="6D28D9"/>
                </a:solidFill>
                <a:latin typeface="Roboto"/>
                <a:cs typeface="Roboto"/>
              </a:rPr>
              <a:t>(</a:t>
            </a:r>
            <a:r>
              <a:rPr dirty="0" baseline="11695" sz="1425" spc="-839">
                <a:solidFill>
                  <a:srgbClr val="6D28D9"/>
                </a:solidFill>
                <a:latin typeface="Roboto"/>
                <a:cs typeface="Roboto"/>
              </a:rPr>
              <a:t>1</a:t>
            </a:r>
            <a:r>
              <a:rPr dirty="0" sz="1150" spc="-110" b="1">
                <a:solidFill>
                  <a:srgbClr val="055E45"/>
                </a:solidFill>
                <a:latin typeface="Roboto"/>
                <a:cs typeface="Roboto"/>
              </a:rPr>
              <a:t>F</a:t>
            </a:r>
            <a:r>
              <a:rPr dirty="0" baseline="11695" sz="1425" spc="-337">
                <a:solidFill>
                  <a:srgbClr val="6D28D9"/>
                </a:solidFill>
                <a:latin typeface="Roboto"/>
                <a:cs typeface="Roboto"/>
              </a:rPr>
              <a:t>-</a:t>
            </a:r>
            <a:r>
              <a:rPr dirty="0" sz="1150" spc="-470" b="1">
                <a:solidFill>
                  <a:srgbClr val="055E45"/>
                </a:solidFill>
                <a:latin typeface="Roboto"/>
                <a:cs typeface="Roboto"/>
              </a:rPr>
              <a:t>o</a:t>
            </a:r>
            <a:r>
              <a:rPr dirty="0" baseline="13071" sz="1275" spc="-187">
                <a:solidFill>
                  <a:srgbClr val="6D28D9"/>
                </a:solidFill>
                <a:latin typeface="Arial"/>
                <a:cs typeface="Arial"/>
              </a:rPr>
              <a:t>α</a:t>
            </a:r>
            <a:r>
              <a:rPr dirty="0" sz="1150" spc="-340" b="1">
                <a:solidFill>
                  <a:srgbClr val="055E45"/>
                </a:solidFill>
                <a:latin typeface="Roboto"/>
                <a:cs typeface="Roboto"/>
              </a:rPr>
              <a:t>r</a:t>
            </a:r>
            <a:r>
              <a:rPr dirty="0" baseline="11695" sz="1425" spc="-89">
                <a:solidFill>
                  <a:srgbClr val="6D28D9"/>
                </a:solidFill>
                <a:latin typeface="Roboto"/>
                <a:cs typeface="Roboto"/>
              </a:rPr>
              <a:t>(</a:t>
            </a:r>
            <a:r>
              <a:rPr dirty="0" sz="1150" spc="-605" b="1">
                <a:solidFill>
                  <a:srgbClr val="055E45"/>
                </a:solidFill>
                <a:latin typeface="Roboto"/>
                <a:cs typeface="Roboto"/>
              </a:rPr>
              <a:t>e</a:t>
            </a:r>
            <a:r>
              <a:rPr dirty="0" baseline="11695" sz="1425" spc="-30">
                <a:solidFill>
                  <a:srgbClr val="6D28D9"/>
                </a:solidFill>
                <a:latin typeface="Roboto"/>
                <a:cs typeface="Roboto"/>
              </a:rPr>
              <a:t>t</a:t>
            </a:r>
            <a:r>
              <a:rPr dirty="0" baseline="11695" sz="1425" spc="-150">
                <a:solidFill>
                  <a:srgbClr val="6D28D9"/>
                </a:solidFill>
                <a:latin typeface="Roboto"/>
                <a:cs typeface="Roboto"/>
              </a:rPr>
              <a:t>)</a:t>
            </a:r>
            <a:r>
              <a:rPr dirty="0" sz="1150" spc="-550" b="1">
                <a:solidFill>
                  <a:srgbClr val="055E45"/>
                </a:solidFill>
                <a:latin typeface="Roboto"/>
                <a:cs typeface="Roboto"/>
              </a:rPr>
              <a:t>c</a:t>
            </a:r>
            <a:r>
              <a:rPr dirty="0" baseline="11695" sz="1425" spc="-30">
                <a:solidFill>
                  <a:srgbClr val="6D28D9"/>
                </a:solidFill>
                <a:latin typeface="Roboto"/>
                <a:cs typeface="Roboto"/>
              </a:rPr>
              <a:t>)</a:t>
            </a:r>
            <a:r>
              <a:rPr dirty="0" baseline="11695" sz="1425" spc="247">
                <a:solidFill>
                  <a:srgbClr val="6D28D9"/>
                </a:solidFill>
                <a:latin typeface="Roboto"/>
                <a:cs typeface="Roboto"/>
              </a:rPr>
              <a:t> </a:t>
            </a:r>
            <a:r>
              <a:rPr dirty="0" sz="1150" spc="-560" b="1">
                <a:solidFill>
                  <a:srgbClr val="055E45"/>
                </a:solidFill>
                <a:latin typeface="Roboto"/>
                <a:cs typeface="Roboto"/>
              </a:rPr>
              <a:t>a</a:t>
            </a:r>
            <a:r>
              <a:rPr dirty="0" baseline="11695" sz="1425" spc="7">
                <a:solidFill>
                  <a:srgbClr val="6D28D9"/>
                </a:solidFill>
                <a:latin typeface="Roboto"/>
                <a:cs typeface="Roboto"/>
              </a:rPr>
              <a:t>×</a:t>
            </a:r>
            <a:r>
              <a:rPr dirty="0" sz="1150" spc="-380" b="1">
                <a:solidFill>
                  <a:srgbClr val="055E45"/>
                </a:solidFill>
                <a:latin typeface="Roboto"/>
                <a:cs typeface="Roboto"/>
              </a:rPr>
              <a:t>s</a:t>
            </a:r>
            <a:r>
              <a:rPr dirty="0" baseline="11695" sz="1425" spc="-390">
                <a:solidFill>
                  <a:srgbClr val="6D28D9"/>
                </a:solidFill>
                <a:latin typeface="Roboto"/>
                <a:cs typeface="Roboto"/>
              </a:rPr>
              <a:t>P</a:t>
            </a:r>
            <a:r>
              <a:rPr dirty="0" sz="1150" spc="-150" b="1">
                <a:solidFill>
                  <a:srgbClr val="055E45"/>
                </a:solidFill>
                <a:latin typeface="Roboto"/>
                <a:cs typeface="Roboto"/>
              </a:rPr>
              <a:t>t</a:t>
            </a:r>
            <a:r>
              <a:rPr dirty="0" baseline="3968" sz="1050" spc="-15">
                <a:solidFill>
                  <a:srgbClr val="6D28D9"/>
                </a:solidFill>
                <a:latin typeface="Roboto"/>
                <a:cs typeface="Roboto"/>
              </a:rPr>
              <a:t>SVM</a:t>
            </a:r>
            <a:r>
              <a:rPr dirty="0" baseline="3968" sz="1050" spc="750">
                <a:solidFill>
                  <a:srgbClr val="6D28D9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047857"/>
                </a:solidFill>
                <a:latin typeface="Roboto"/>
                <a:cs typeface="Roboto"/>
              </a:rPr>
              <a:t>Enhanced</a:t>
            </a:r>
            <a:r>
              <a:rPr dirty="0" sz="1000" spc="-20">
                <a:solidFill>
                  <a:srgbClr val="047857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047857"/>
                </a:solidFill>
                <a:latin typeface="Roboto"/>
                <a:cs typeface="Roboto"/>
              </a:rPr>
              <a:t>Accuracy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0544174" y="7277100"/>
            <a:ext cx="1457325" cy="323850"/>
            <a:chOff x="10544174" y="7277100"/>
            <a:chExt cx="1457325" cy="323850"/>
          </a:xfrm>
        </p:grpSpPr>
        <p:sp>
          <p:nvSpPr>
            <p:cNvPr id="39" name="object 39" descr=""/>
            <p:cNvSpPr/>
            <p:nvPr/>
          </p:nvSpPr>
          <p:spPr>
            <a:xfrm>
              <a:off x="10544174" y="727710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58474" y="7372349"/>
              <a:ext cx="133349" cy="133349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10833000" y="7377527"/>
            <a:ext cx="10668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9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  <a:p>
            <a:pPr marL="50165">
              <a:lnSpc>
                <a:spcPts val="1370"/>
              </a:lnSpc>
            </a:pP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Slide</a:t>
            </a:r>
            <a:r>
              <a:rPr dirty="0" sz="13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fld id="{81D60167-4931-47E6-BA6A-407CBD079E47}" type="slidenum"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6</a:t>
            </a:fld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10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06424" y="7491437"/>
            <a:ext cx="258000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z="1300" spc="-85">
                <a:solidFill>
                  <a:srgbClr val="FFFFFF"/>
                </a:solidFill>
                <a:latin typeface="Roboto"/>
                <a:cs typeface="Roboto"/>
              </a:rPr>
              <a:t>©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2023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IEEE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Roboto"/>
                <a:cs typeface="Roboto"/>
              </a:rPr>
              <a:t>Conference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Presentation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760" y="25332"/>
            <a:ext cx="508634" cy="514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" b="1">
                <a:solidFill>
                  <a:srgbClr val="003366"/>
                </a:solidFill>
                <a:latin typeface="Roboto"/>
                <a:cs typeface="Roboto"/>
              </a:rPr>
              <a:t>Enhanced Ant Colony Optimization (ACO) for PID</a:t>
            </a:r>
            <a:r>
              <a:rPr dirty="0" sz="150" spc="-5" b="1">
                <a:solidFill>
                  <a:srgbClr val="003366"/>
                </a:solidFill>
                <a:latin typeface="Roboto"/>
                <a:cs typeface="Roboto"/>
              </a:rPr>
              <a:t> </a:t>
            </a:r>
            <a:r>
              <a:rPr dirty="0" sz="150" spc="-10" b="1">
                <a:solidFill>
                  <a:srgbClr val="003366"/>
                </a:solidFill>
                <a:latin typeface="Roboto"/>
                <a:cs typeface="Roboto"/>
              </a:rPr>
              <a:t>Tuning</a:t>
            </a:r>
            <a:endParaRPr sz="150">
              <a:latin typeface="Roboto"/>
              <a:cs typeface="Roboto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427" y="87385"/>
            <a:ext cx="356556" cy="101238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37133" y="84873"/>
            <a:ext cx="119380" cy="4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" spc="-10" b="1">
                <a:solidFill>
                  <a:srgbClr val="1D40AF"/>
                </a:solidFill>
                <a:latin typeface="Roboto"/>
                <a:cs typeface="Roboto"/>
              </a:rPr>
              <a:t>ACO</a:t>
            </a:r>
            <a:r>
              <a:rPr dirty="0" sz="10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" spc="-10" b="1">
                <a:solidFill>
                  <a:srgbClr val="1D40AF"/>
                </a:solidFill>
                <a:latin typeface="Roboto"/>
                <a:cs typeface="Roboto"/>
              </a:rPr>
              <a:t>Convergence</a:t>
            </a:r>
            <a:endParaRPr sz="10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427" y="10226590"/>
            <a:ext cx="356556" cy="98770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31622" y="10224079"/>
            <a:ext cx="130175" cy="4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" spc="-10" b="1">
                <a:solidFill>
                  <a:srgbClr val="1D40AF"/>
                </a:solidFill>
                <a:latin typeface="Roboto"/>
                <a:cs typeface="Roboto"/>
              </a:rPr>
              <a:t>Parameter</a:t>
            </a:r>
            <a:r>
              <a:rPr dirty="0" sz="100" spc="3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" spc="-10" b="1">
                <a:solidFill>
                  <a:srgbClr val="1D40AF"/>
                </a:solidFill>
                <a:latin typeface="Roboto"/>
                <a:cs typeface="Roboto"/>
              </a:rPr>
              <a:t>Evolution</a:t>
            </a:r>
            <a:endParaRPr sz="10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60" y="87385"/>
            <a:ext cx="356556" cy="3673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4273" y="66633"/>
            <a:ext cx="278765" cy="6985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1D40AF"/>
                </a:solidFill>
                <a:latin typeface="Roboto"/>
                <a:cs typeface="Roboto"/>
              </a:rPr>
              <a:t>Multi-objective</a:t>
            </a:r>
            <a:r>
              <a:rPr dirty="0" sz="100" spc="4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" spc="-10" b="1">
                <a:solidFill>
                  <a:srgbClr val="1D40AF"/>
                </a:solidFill>
                <a:latin typeface="Roboto"/>
                <a:cs typeface="Roboto"/>
              </a:rPr>
              <a:t>PID</a:t>
            </a:r>
            <a:r>
              <a:rPr dirty="0" sz="100" spc="4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" spc="-10" b="1">
                <a:solidFill>
                  <a:srgbClr val="1D40AF"/>
                </a:solidFill>
                <a:latin typeface="Roboto"/>
                <a:cs typeface="Roboto"/>
              </a:rPr>
              <a:t>Optimization</a:t>
            </a:r>
            <a:endParaRPr sz="100">
              <a:latin typeface="Roboto"/>
              <a:cs typeface="Roboto"/>
            </a:endParaRPr>
          </a:p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Optimizes</a:t>
            </a:r>
            <a:r>
              <a:rPr dirty="0" sz="100" spc="1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five</a:t>
            </a:r>
            <a:r>
              <a:rPr dirty="0" sz="100" spc="1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controller</a:t>
            </a:r>
            <a:r>
              <a:rPr dirty="0" sz="100" spc="1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parameters</a:t>
            </a:r>
            <a:r>
              <a:rPr dirty="0" sz="100" spc="1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simultaneously:</a:t>
            </a:r>
            <a:endParaRPr sz="1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-23725" y="125202"/>
            <a:ext cx="455930" cy="33274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5"/>
              </a:spcBef>
            </a:pPr>
            <a:r>
              <a:rPr dirty="0" sz="100" b="1">
                <a:solidFill>
                  <a:srgbClr val="2562EB"/>
                </a:solidFill>
                <a:latin typeface="Corbel"/>
                <a:cs typeface="Corbel"/>
              </a:rPr>
              <a:t>K</a:t>
            </a:r>
            <a:r>
              <a:rPr dirty="0" sz="100" b="1">
                <a:solidFill>
                  <a:srgbClr val="2562EB"/>
                </a:solidFill>
                <a:latin typeface="Roboto"/>
                <a:cs typeface="Roboto"/>
              </a:rPr>
              <a:t>P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:</a:t>
            </a:r>
            <a:r>
              <a:rPr dirty="0" sz="1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Proportional</a:t>
            </a:r>
            <a:r>
              <a:rPr dirty="0" sz="100" spc="3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b="1">
                <a:solidFill>
                  <a:srgbClr val="2562EB"/>
                </a:solidFill>
                <a:latin typeface="Corbel"/>
                <a:cs typeface="Corbel"/>
              </a:rPr>
              <a:t>K</a:t>
            </a:r>
            <a:r>
              <a:rPr dirty="0" sz="100" b="1">
                <a:solidFill>
                  <a:srgbClr val="2562EB"/>
                </a:solidFill>
                <a:latin typeface="Roboto"/>
                <a:cs typeface="Roboto"/>
              </a:rPr>
              <a:t>I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:</a:t>
            </a:r>
            <a:r>
              <a:rPr dirty="0" sz="1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Integral</a:t>
            </a:r>
            <a:r>
              <a:rPr dirty="0" sz="100" spc="3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b="1">
                <a:solidFill>
                  <a:srgbClr val="2562EB"/>
                </a:solidFill>
                <a:latin typeface="Corbel"/>
                <a:cs typeface="Corbel"/>
              </a:rPr>
              <a:t>K</a:t>
            </a:r>
            <a:r>
              <a:rPr dirty="0" sz="100" b="1">
                <a:solidFill>
                  <a:srgbClr val="2562EB"/>
                </a:solidFill>
                <a:latin typeface="Roboto"/>
                <a:cs typeface="Roboto"/>
              </a:rPr>
              <a:t>D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:</a:t>
            </a:r>
            <a:r>
              <a:rPr dirty="0" sz="1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Derivative</a:t>
            </a:r>
            <a:endParaRPr sz="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">
              <a:latin typeface="Roboto"/>
              <a:cs typeface="Roboto"/>
            </a:endParaRPr>
          </a:p>
          <a:p>
            <a:pPr marL="114300">
              <a:lnSpc>
                <a:spcPct val="100000"/>
              </a:lnSpc>
            </a:pPr>
            <a:r>
              <a:rPr dirty="0" sz="100" b="1">
                <a:solidFill>
                  <a:srgbClr val="2562EB"/>
                </a:solidFill>
                <a:latin typeface="Corbel"/>
                <a:cs typeface="Corbel"/>
              </a:rPr>
              <a:t>K</a:t>
            </a:r>
            <a:r>
              <a:rPr dirty="0" sz="100" b="1">
                <a:solidFill>
                  <a:srgbClr val="2562EB"/>
                </a:solidFill>
                <a:latin typeface="Roboto"/>
                <a:cs typeface="Roboto"/>
              </a:rPr>
              <a:t>R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:</a:t>
            </a:r>
            <a:r>
              <a:rPr dirty="0" sz="1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00" spc="39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b="1">
                <a:solidFill>
                  <a:srgbClr val="2562EB"/>
                </a:solidFill>
                <a:latin typeface="Corbel"/>
                <a:cs typeface="Corbel"/>
              </a:rPr>
              <a:t>K</a:t>
            </a:r>
            <a:r>
              <a:rPr dirty="0" sz="100" b="1">
                <a:solidFill>
                  <a:srgbClr val="2562EB"/>
                </a:solidFill>
                <a:latin typeface="Roboto"/>
                <a:cs typeface="Roboto"/>
              </a:rPr>
              <a:t>VI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:</a:t>
            </a:r>
            <a:r>
              <a:rPr dirty="0" sz="10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Virtual</a:t>
            </a:r>
            <a:r>
              <a:rPr dirty="0" sz="10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Inertia</a:t>
            </a:r>
            <a:endParaRPr sz="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Roboto"/>
              <a:cs typeface="Roboto"/>
            </a:endParaRPr>
          </a:p>
          <a:p>
            <a:pPr marL="90170">
              <a:lnSpc>
                <a:spcPct val="100000"/>
              </a:lnSpc>
            </a:pPr>
            <a:r>
              <a:rPr dirty="0" sz="100" spc="-10" b="1">
                <a:solidFill>
                  <a:srgbClr val="055E45"/>
                </a:solidFill>
                <a:latin typeface="Roboto"/>
                <a:cs typeface="Roboto"/>
              </a:rPr>
              <a:t>Enhanced</a:t>
            </a:r>
            <a:r>
              <a:rPr dirty="0" sz="100" spc="20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00" spc="-10" b="1">
                <a:solidFill>
                  <a:srgbClr val="055E45"/>
                </a:solidFill>
                <a:latin typeface="Roboto"/>
                <a:cs typeface="Roboto"/>
              </a:rPr>
              <a:t>ACO</a:t>
            </a:r>
            <a:r>
              <a:rPr dirty="0" sz="100" spc="20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00" spc="-10" b="1">
                <a:solidFill>
                  <a:srgbClr val="055E45"/>
                </a:solidFill>
                <a:latin typeface="Roboto"/>
                <a:cs typeface="Roboto"/>
              </a:rPr>
              <a:t>Algorithm</a:t>
            </a:r>
            <a:endParaRPr sz="100">
              <a:latin typeface="Roboto"/>
              <a:cs typeface="Roboto"/>
            </a:endParaRPr>
          </a:p>
          <a:p>
            <a:pPr marL="105410" marR="68580">
              <a:lnSpc>
                <a:spcPct val="200900"/>
              </a:lnSpc>
              <a:spcBef>
                <a:spcPts val="35"/>
              </a:spcBef>
            </a:pP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Adaptive</a:t>
            </a:r>
            <a:r>
              <a:rPr dirty="0" sz="100" spc="1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pheromone</a:t>
            </a:r>
            <a:r>
              <a:rPr dirty="0" sz="100" spc="1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evaporation</a:t>
            </a:r>
            <a:r>
              <a:rPr dirty="0" sz="100" spc="1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based</a:t>
            </a:r>
            <a:r>
              <a:rPr dirty="0" sz="100" spc="1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on</a:t>
            </a:r>
            <a:r>
              <a:rPr dirty="0" sz="100" spc="1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solution</a:t>
            </a:r>
            <a:r>
              <a:rPr dirty="0" sz="100" spc="1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diversity</a:t>
            </a:r>
            <a:r>
              <a:rPr dirty="0" sz="100" spc="5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Elite</a:t>
            </a:r>
            <a:r>
              <a:rPr dirty="0" sz="100" spc="8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ant</a:t>
            </a:r>
            <a:r>
              <a:rPr dirty="0" sz="100" spc="8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strategy</a:t>
            </a:r>
            <a:r>
              <a:rPr dirty="0" sz="100" spc="8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00" spc="8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faster</a:t>
            </a:r>
            <a:r>
              <a:rPr dirty="0" sz="100" spc="8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convergence</a:t>
            </a:r>
            <a:endParaRPr sz="100">
              <a:latin typeface="Roboto"/>
              <a:cs typeface="Roboto"/>
            </a:endParaRPr>
          </a:p>
          <a:p>
            <a:pPr marL="105410" marR="128905">
              <a:lnSpc>
                <a:spcPct val="200900"/>
              </a:lnSpc>
            </a:pP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Local</a:t>
            </a:r>
            <a:r>
              <a:rPr dirty="0" sz="100" spc="10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search</a:t>
            </a:r>
            <a:r>
              <a:rPr dirty="0" sz="100" spc="10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refinement</a:t>
            </a:r>
            <a:r>
              <a:rPr dirty="0" sz="100" spc="1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00" spc="10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promising</a:t>
            </a:r>
            <a:r>
              <a:rPr dirty="0" sz="100" spc="10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solutions</a:t>
            </a:r>
            <a:r>
              <a:rPr dirty="0" sz="100" spc="5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00" spc="1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parameter</a:t>
            </a:r>
            <a:r>
              <a:rPr dirty="0" sz="100" spc="1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adjustment</a:t>
            </a:r>
            <a:r>
              <a:rPr dirty="0" sz="100" spc="1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during</a:t>
            </a:r>
            <a:r>
              <a:rPr dirty="0" sz="100" spc="14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search</a:t>
            </a:r>
            <a:endParaRPr sz="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">
              <a:latin typeface="Roboto"/>
              <a:cs typeface="Roboto"/>
            </a:endParaRPr>
          </a:p>
          <a:p>
            <a:pPr marL="90170">
              <a:lnSpc>
                <a:spcPct val="100000"/>
              </a:lnSpc>
            </a:pPr>
            <a:r>
              <a:rPr dirty="0" sz="100" spc="-10" b="1">
                <a:solidFill>
                  <a:srgbClr val="5B20B5"/>
                </a:solidFill>
                <a:latin typeface="Roboto"/>
                <a:cs typeface="Roboto"/>
              </a:rPr>
              <a:t>Optimization</a:t>
            </a:r>
            <a:r>
              <a:rPr dirty="0" sz="100" spc="40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00" spc="-10" b="1">
                <a:solidFill>
                  <a:srgbClr val="5B20B5"/>
                </a:solidFill>
                <a:latin typeface="Roboto"/>
                <a:cs typeface="Roboto"/>
              </a:rPr>
              <a:t>Objectives</a:t>
            </a:r>
            <a:endParaRPr sz="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Roboto"/>
              <a:cs typeface="Roboto"/>
            </a:endParaRPr>
          </a:p>
          <a:p>
            <a:pPr marL="97790">
              <a:lnSpc>
                <a:spcPct val="100000"/>
              </a:lnSpc>
              <a:spcBef>
                <a:spcPts val="5"/>
              </a:spcBef>
            </a:pP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Multi-objective</a:t>
            </a:r>
            <a:r>
              <a:rPr dirty="0" sz="100" spc="2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function:</a:t>
            </a:r>
            <a:endParaRPr sz="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Roboto"/>
              <a:cs typeface="Roboto"/>
            </a:endParaRPr>
          </a:p>
          <a:p>
            <a:pPr marL="136525">
              <a:lnSpc>
                <a:spcPct val="100000"/>
              </a:lnSpc>
            </a:pPr>
            <a:r>
              <a:rPr dirty="0" sz="100" spc="20">
                <a:latin typeface="Courier New"/>
                <a:cs typeface="Courier New"/>
              </a:rPr>
              <a:t>J</a:t>
            </a:r>
            <a:r>
              <a:rPr dirty="0" sz="100" spc="20">
                <a:latin typeface="Courier New"/>
                <a:cs typeface="Courier New"/>
              </a:rPr>
              <a:t> =</a:t>
            </a:r>
            <a:r>
              <a:rPr dirty="0" sz="100" spc="20">
                <a:latin typeface="Courier New"/>
                <a:cs typeface="Courier New"/>
              </a:rPr>
              <a:t> w</a:t>
            </a:r>
            <a:r>
              <a:rPr dirty="0" sz="100" spc="20">
                <a:latin typeface="Times New Roman"/>
                <a:cs typeface="Times New Roman"/>
              </a:rPr>
              <a:t>₁</a:t>
            </a:r>
            <a:r>
              <a:rPr dirty="0" sz="100" spc="20">
                <a:latin typeface="Courier New"/>
                <a:cs typeface="Courier New"/>
              </a:rPr>
              <a:t>×ITAE</a:t>
            </a:r>
            <a:r>
              <a:rPr dirty="0" sz="100" spc="20">
                <a:latin typeface="Courier New"/>
                <a:cs typeface="Courier New"/>
              </a:rPr>
              <a:t> +</a:t>
            </a:r>
            <a:r>
              <a:rPr dirty="0" sz="100" spc="25">
                <a:latin typeface="Courier New"/>
                <a:cs typeface="Courier New"/>
              </a:rPr>
              <a:t> </a:t>
            </a:r>
            <a:r>
              <a:rPr dirty="0" sz="100" spc="20">
                <a:latin typeface="Courier New"/>
                <a:cs typeface="Courier New"/>
              </a:rPr>
              <a:t>w</a:t>
            </a:r>
            <a:r>
              <a:rPr dirty="0" sz="100" spc="20">
                <a:latin typeface="Times New Roman"/>
                <a:cs typeface="Times New Roman"/>
              </a:rPr>
              <a:t>₂</a:t>
            </a:r>
            <a:r>
              <a:rPr dirty="0" sz="100" spc="20">
                <a:latin typeface="Courier New"/>
                <a:cs typeface="Courier New"/>
              </a:rPr>
              <a:t>×OS</a:t>
            </a:r>
            <a:r>
              <a:rPr dirty="0" sz="100" spc="20">
                <a:latin typeface="Courier New"/>
                <a:cs typeface="Courier New"/>
              </a:rPr>
              <a:t> +</a:t>
            </a:r>
            <a:r>
              <a:rPr dirty="0" sz="100" spc="20">
                <a:latin typeface="Courier New"/>
                <a:cs typeface="Courier New"/>
              </a:rPr>
              <a:t> w</a:t>
            </a:r>
            <a:r>
              <a:rPr dirty="0" sz="100" spc="20">
                <a:latin typeface="Times New Roman"/>
                <a:cs typeface="Times New Roman"/>
              </a:rPr>
              <a:t>₃</a:t>
            </a:r>
            <a:r>
              <a:rPr dirty="0" sz="100" spc="20">
                <a:latin typeface="Courier New"/>
                <a:cs typeface="Courier New"/>
              </a:rPr>
              <a:t>×Ts</a:t>
            </a:r>
            <a:r>
              <a:rPr dirty="0" sz="100" spc="25">
                <a:latin typeface="Courier New"/>
                <a:cs typeface="Courier New"/>
              </a:rPr>
              <a:t> </a:t>
            </a:r>
            <a:r>
              <a:rPr dirty="0" sz="100" spc="20">
                <a:latin typeface="Courier New"/>
                <a:cs typeface="Courier New"/>
              </a:rPr>
              <a:t>+</a:t>
            </a:r>
            <a:r>
              <a:rPr dirty="0" sz="100" spc="20">
                <a:latin typeface="Courier New"/>
                <a:cs typeface="Courier New"/>
              </a:rPr>
              <a:t> </a:t>
            </a:r>
            <a:r>
              <a:rPr dirty="0" sz="100" spc="-10">
                <a:latin typeface="Courier New"/>
                <a:cs typeface="Courier New"/>
              </a:rPr>
              <a:t>w</a:t>
            </a:r>
            <a:r>
              <a:rPr dirty="0" sz="100" spc="-10">
                <a:latin typeface="Times New Roman"/>
                <a:cs typeface="Times New Roman"/>
              </a:rPr>
              <a:t>₄</a:t>
            </a:r>
            <a:r>
              <a:rPr dirty="0" sz="100" spc="-10">
                <a:latin typeface="Courier New"/>
                <a:cs typeface="Courier New"/>
              </a:rPr>
              <a:t>×Econtrol</a:t>
            </a:r>
            <a:endParaRPr sz="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Courier New"/>
              <a:cs typeface="Courier New"/>
            </a:endParaRPr>
          </a:p>
          <a:p>
            <a:pPr marL="113030">
              <a:lnSpc>
                <a:spcPct val="100000"/>
              </a:lnSpc>
            </a:pP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Minimize</a:t>
            </a:r>
            <a:r>
              <a:rPr dirty="0" sz="100" spc="1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frequency</a:t>
            </a:r>
            <a:r>
              <a:rPr dirty="0" sz="100" spc="14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deviation</a:t>
            </a:r>
            <a:endParaRPr sz="100">
              <a:latin typeface="Roboto"/>
              <a:cs typeface="Roboto"/>
            </a:endParaRPr>
          </a:p>
          <a:p>
            <a:pPr marL="113030">
              <a:lnSpc>
                <a:spcPct val="100000"/>
              </a:lnSpc>
              <a:spcBef>
                <a:spcPts val="60"/>
              </a:spcBef>
            </a:pP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Reduce</a:t>
            </a:r>
            <a:r>
              <a:rPr dirty="0" sz="100" spc="114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ITAE</a:t>
            </a:r>
            <a:r>
              <a:rPr dirty="0" sz="100" spc="1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(Integral</a:t>
            </a:r>
            <a:r>
              <a:rPr dirty="0" sz="100" spc="1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00" spc="1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Time-weighted</a:t>
            </a:r>
            <a:r>
              <a:rPr dirty="0" sz="100" spc="114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Absolute</a:t>
            </a:r>
            <a:r>
              <a:rPr dirty="0" sz="100" spc="1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Error)</a:t>
            </a:r>
            <a:endParaRPr sz="100">
              <a:latin typeface="Roboto"/>
              <a:cs typeface="Roboto"/>
            </a:endParaRPr>
          </a:p>
          <a:p>
            <a:pPr marL="113030" marR="214629">
              <a:lnSpc>
                <a:spcPct val="175800"/>
              </a:lnSpc>
              <a:spcBef>
                <a:spcPts val="30"/>
              </a:spcBef>
            </a:pP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Minimize</a:t>
            </a:r>
            <a:r>
              <a:rPr dirty="0" sz="100" spc="1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settling</a:t>
            </a:r>
            <a:r>
              <a:rPr dirty="0" sz="100" spc="10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00" spc="1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20">
                <a:solidFill>
                  <a:srgbClr val="374050"/>
                </a:solidFill>
                <a:latin typeface="Roboto"/>
                <a:cs typeface="Roboto"/>
              </a:rPr>
              <a:t>(Ts)</a:t>
            </a:r>
            <a:r>
              <a:rPr dirty="0" sz="100" spc="5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Optimize</a:t>
            </a:r>
            <a:r>
              <a:rPr dirty="0" sz="100" spc="114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00" spc="114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374050"/>
                </a:solidFill>
                <a:latin typeface="Roboto"/>
                <a:cs typeface="Roboto"/>
              </a:rPr>
              <a:t>effort</a:t>
            </a:r>
            <a:endParaRPr sz="10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06095" y="20069196"/>
            <a:ext cx="97790" cy="21590"/>
            <a:chOff x="706095" y="20069196"/>
            <a:chExt cx="97790" cy="21590"/>
          </a:xfrm>
        </p:grpSpPr>
        <p:sp>
          <p:nvSpPr>
            <p:cNvPr id="11" name="object 11" descr=""/>
            <p:cNvSpPr/>
            <p:nvPr/>
          </p:nvSpPr>
          <p:spPr>
            <a:xfrm>
              <a:off x="706094" y="20069200"/>
              <a:ext cx="97790" cy="21590"/>
            </a:xfrm>
            <a:custGeom>
              <a:avLst/>
              <a:gdLst/>
              <a:ahLst/>
              <a:cxnLst/>
              <a:rect l="l" t="t" r="r" b="b"/>
              <a:pathLst>
                <a:path w="97790" h="21590">
                  <a:moveTo>
                    <a:pt x="97586" y="2540"/>
                  </a:moveTo>
                  <a:lnTo>
                    <a:pt x="97523" y="1270"/>
                  </a:lnTo>
                  <a:lnTo>
                    <a:pt x="96723" y="1270"/>
                  </a:lnTo>
                  <a:lnTo>
                    <a:pt x="96723" y="0"/>
                  </a:lnTo>
                  <a:lnTo>
                    <a:pt x="850" y="0"/>
                  </a:lnTo>
                  <a:lnTo>
                    <a:pt x="850" y="1270"/>
                  </a:lnTo>
                  <a:lnTo>
                    <a:pt x="50" y="1270"/>
                  </a:lnTo>
                  <a:lnTo>
                    <a:pt x="50" y="2540"/>
                  </a:lnTo>
                  <a:lnTo>
                    <a:pt x="0" y="19050"/>
                  </a:lnTo>
                  <a:lnTo>
                    <a:pt x="38" y="20320"/>
                  </a:lnTo>
                  <a:lnTo>
                    <a:pt x="762" y="20320"/>
                  </a:lnTo>
                  <a:lnTo>
                    <a:pt x="762" y="21590"/>
                  </a:lnTo>
                  <a:lnTo>
                    <a:pt x="96824" y="21590"/>
                  </a:lnTo>
                  <a:lnTo>
                    <a:pt x="96824" y="20320"/>
                  </a:lnTo>
                  <a:lnTo>
                    <a:pt x="97548" y="20320"/>
                  </a:lnTo>
                  <a:lnTo>
                    <a:pt x="97548" y="19050"/>
                  </a:lnTo>
                  <a:lnTo>
                    <a:pt x="97586" y="254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3750" y="200755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8170" y="8929"/>
                  </a:moveTo>
                  <a:lnTo>
                    <a:pt x="759" y="8929"/>
                  </a:lnTo>
                  <a:lnTo>
                    <a:pt x="0" y="8170"/>
                  </a:lnTo>
                  <a:lnTo>
                    <a:pt x="0" y="759"/>
                  </a:lnTo>
                  <a:lnTo>
                    <a:pt x="759" y="0"/>
                  </a:lnTo>
                  <a:lnTo>
                    <a:pt x="7233" y="0"/>
                  </a:lnTo>
                  <a:lnTo>
                    <a:pt x="8170" y="0"/>
                  </a:lnTo>
                  <a:lnTo>
                    <a:pt x="8929" y="759"/>
                  </a:lnTo>
                  <a:lnTo>
                    <a:pt x="8929" y="8170"/>
                  </a:lnTo>
                  <a:lnTo>
                    <a:pt x="8170" y="89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4883" y="20076756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4" h="6984">
                  <a:moveTo>
                    <a:pt x="4178" y="2540"/>
                  </a:moveTo>
                  <a:lnTo>
                    <a:pt x="2552" y="2260"/>
                  </a:lnTo>
                  <a:lnTo>
                    <a:pt x="2413" y="2120"/>
                  </a:lnTo>
                  <a:lnTo>
                    <a:pt x="2171" y="533"/>
                  </a:lnTo>
                  <a:lnTo>
                    <a:pt x="2044" y="495"/>
                  </a:lnTo>
                  <a:lnTo>
                    <a:pt x="1752" y="2120"/>
                  </a:lnTo>
                  <a:lnTo>
                    <a:pt x="1625" y="2260"/>
                  </a:lnTo>
                  <a:lnTo>
                    <a:pt x="38" y="2501"/>
                  </a:lnTo>
                  <a:lnTo>
                    <a:pt x="0" y="2641"/>
                  </a:lnTo>
                  <a:lnTo>
                    <a:pt x="1625" y="2921"/>
                  </a:lnTo>
                  <a:lnTo>
                    <a:pt x="1803" y="3060"/>
                  </a:lnTo>
                  <a:lnTo>
                    <a:pt x="2044" y="4660"/>
                  </a:lnTo>
                  <a:lnTo>
                    <a:pt x="2171" y="4648"/>
                  </a:lnTo>
                  <a:lnTo>
                    <a:pt x="2413" y="3060"/>
                  </a:lnTo>
                  <a:lnTo>
                    <a:pt x="2552" y="2921"/>
                  </a:lnTo>
                  <a:lnTo>
                    <a:pt x="4140" y="2679"/>
                  </a:lnTo>
                  <a:lnTo>
                    <a:pt x="4178" y="2540"/>
                  </a:lnTo>
                  <a:close/>
                </a:path>
                <a:path w="6984" h="6984">
                  <a:moveTo>
                    <a:pt x="5867" y="4203"/>
                  </a:moveTo>
                  <a:lnTo>
                    <a:pt x="5219" y="4089"/>
                  </a:lnTo>
                  <a:lnTo>
                    <a:pt x="5067" y="3403"/>
                  </a:lnTo>
                  <a:lnTo>
                    <a:pt x="4902" y="4038"/>
                  </a:lnTo>
                  <a:lnTo>
                    <a:pt x="4216" y="4191"/>
                  </a:lnTo>
                  <a:lnTo>
                    <a:pt x="4851" y="4356"/>
                  </a:lnTo>
                  <a:lnTo>
                    <a:pt x="5016" y="5041"/>
                  </a:lnTo>
                  <a:lnTo>
                    <a:pt x="5168" y="4406"/>
                  </a:lnTo>
                  <a:lnTo>
                    <a:pt x="5854" y="4254"/>
                  </a:lnTo>
                  <a:close/>
                </a:path>
                <a:path w="6984" h="6984">
                  <a:moveTo>
                    <a:pt x="6337" y="1282"/>
                  </a:moveTo>
                  <a:lnTo>
                    <a:pt x="5334" y="1104"/>
                  </a:lnTo>
                  <a:lnTo>
                    <a:pt x="5092" y="25"/>
                  </a:lnTo>
                  <a:lnTo>
                    <a:pt x="4826" y="1016"/>
                  </a:lnTo>
                  <a:lnTo>
                    <a:pt x="3746" y="1257"/>
                  </a:lnTo>
                  <a:lnTo>
                    <a:pt x="4749" y="1524"/>
                  </a:lnTo>
                  <a:lnTo>
                    <a:pt x="5003" y="2603"/>
                  </a:lnTo>
                  <a:lnTo>
                    <a:pt x="5245" y="1600"/>
                  </a:lnTo>
                  <a:lnTo>
                    <a:pt x="6324" y="1371"/>
                  </a:lnTo>
                  <a:close/>
                </a:path>
                <a:path w="6984" h="6984">
                  <a:moveTo>
                    <a:pt x="6578" y="5753"/>
                  </a:moveTo>
                  <a:lnTo>
                    <a:pt x="6350" y="5651"/>
                  </a:lnTo>
                  <a:lnTo>
                    <a:pt x="203" y="5651"/>
                  </a:lnTo>
                  <a:lnTo>
                    <a:pt x="101" y="6477"/>
                  </a:lnTo>
                  <a:lnTo>
                    <a:pt x="6477" y="6578"/>
                  </a:lnTo>
                  <a:lnTo>
                    <a:pt x="6578" y="5753"/>
                  </a:lnTo>
                  <a:close/>
                </a:path>
              </a:pathLst>
            </a:custGeom>
            <a:solidFill>
              <a:srgbClr val="2324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13587" y="20061377"/>
            <a:ext cx="95250" cy="36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" spc="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" spc="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" spc="-1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8953500"/>
            <a:chOff x="0" y="0"/>
            <a:chExt cx="12192000" cy="89535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89534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8974" y="200024"/>
              <a:ext cx="1142999" cy="6476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24" y="8524874"/>
              <a:ext cx="12172950" cy="419100"/>
            </a:xfrm>
            <a:custGeom>
              <a:avLst/>
              <a:gdLst/>
              <a:ahLst/>
              <a:cxnLst/>
              <a:rect l="l" t="t" r="r" b="b"/>
              <a:pathLst>
                <a:path w="12172950" h="419100">
                  <a:moveTo>
                    <a:pt x="1217294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12172949" y="0"/>
                  </a:lnTo>
                  <a:lnTo>
                    <a:pt x="12172949" y="41909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42924" y="962024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1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380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007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Simulation</a:t>
            </a:r>
            <a:r>
              <a:rPr dirty="0" spc="-15"/>
              <a:t> </a:t>
            </a:r>
            <a:r>
              <a:rPr dirty="0" spc="-135"/>
              <a:t>Results</a:t>
            </a:r>
            <a:r>
              <a:rPr dirty="0" spc="-15"/>
              <a:t> </a:t>
            </a:r>
            <a:r>
              <a:rPr dirty="0" spc="-170"/>
              <a:t>&amp;</a:t>
            </a:r>
            <a:r>
              <a:rPr dirty="0" spc="-10"/>
              <a:t> </a:t>
            </a:r>
            <a:r>
              <a:rPr dirty="0" spc="-150"/>
              <a:t>Performance</a:t>
            </a:r>
            <a:r>
              <a:rPr dirty="0" spc="-15"/>
              <a:t> </a:t>
            </a:r>
            <a:r>
              <a:rPr dirty="0" spc="-85"/>
              <a:t>Metrics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30225" y="1204118"/>
            <a:ext cx="130111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5" b="1">
                <a:solidFill>
                  <a:srgbClr val="1D40AF"/>
                </a:solidFill>
                <a:latin typeface="Roboto"/>
                <a:cs typeface="Roboto"/>
              </a:rPr>
              <a:t>Test</a:t>
            </a:r>
            <a:r>
              <a:rPr dirty="0" sz="1650" spc="-1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75" b="1">
                <a:solidFill>
                  <a:srgbClr val="1D40AF"/>
                </a:solidFill>
                <a:latin typeface="Roboto"/>
                <a:cs typeface="Roboto"/>
              </a:rPr>
              <a:t>Scenarios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42924" y="1609724"/>
            <a:ext cx="2667000" cy="609600"/>
            <a:chOff x="542924" y="1609724"/>
            <a:chExt cx="2667000" cy="609600"/>
          </a:xfrm>
        </p:grpSpPr>
        <p:sp>
          <p:nvSpPr>
            <p:cNvPr id="10" name="object 10" descr=""/>
            <p:cNvSpPr/>
            <p:nvPr/>
          </p:nvSpPr>
          <p:spPr>
            <a:xfrm>
              <a:off x="542924" y="1609724"/>
              <a:ext cx="2667000" cy="609600"/>
            </a:xfrm>
            <a:custGeom>
              <a:avLst/>
              <a:gdLst/>
              <a:ahLst/>
              <a:cxnLst/>
              <a:rect l="l" t="t" r="r" b="b"/>
              <a:pathLst>
                <a:path w="2667000" h="609600">
                  <a:moveTo>
                    <a:pt x="26669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609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42924" y="1609724"/>
              <a:ext cx="38100" cy="609600"/>
            </a:xfrm>
            <a:custGeom>
              <a:avLst/>
              <a:gdLst/>
              <a:ahLst/>
              <a:cxnLst/>
              <a:rect l="l" t="t" r="r" b="b"/>
              <a:pathLst>
                <a:path w="38100" h="609600">
                  <a:moveTo>
                    <a:pt x="380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09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95324" y="1724024"/>
              <a:ext cx="266700" cy="381000"/>
            </a:xfrm>
            <a:custGeom>
              <a:avLst/>
              <a:gdLst/>
              <a:ahLst/>
              <a:cxnLst/>
              <a:rect l="l" t="t" r="r" b="b"/>
              <a:pathLst>
                <a:path w="266700" h="381000">
                  <a:moveTo>
                    <a:pt x="133349" y="380999"/>
                  </a:moveTo>
                  <a:lnTo>
                    <a:pt x="94640" y="375259"/>
                  </a:lnTo>
                  <a:lnTo>
                    <a:pt x="59264" y="358526"/>
                  </a:lnTo>
                  <a:lnTo>
                    <a:pt x="30267" y="332247"/>
                  </a:lnTo>
                  <a:lnTo>
                    <a:pt x="10150" y="298680"/>
                  </a:lnTo>
                  <a:lnTo>
                    <a:pt x="640" y="260720"/>
                  </a:lnTo>
                  <a:lnTo>
                    <a:pt x="0" y="247649"/>
                  </a:lnTo>
                  <a:lnTo>
                    <a:pt x="0" y="133349"/>
                  </a:lnTo>
                  <a:lnTo>
                    <a:pt x="5740" y="94639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9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699" y="247649"/>
                  </a:lnTo>
                  <a:lnTo>
                    <a:pt x="260959" y="286359"/>
                  </a:lnTo>
                  <a:lnTo>
                    <a:pt x="244226" y="321735"/>
                  </a:lnTo>
                  <a:lnTo>
                    <a:pt x="217947" y="350731"/>
                  </a:lnTo>
                  <a:lnTo>
                    <a:pt x="184380" y="370848"/>
                  </a:lnTo>
                  <a:lnTo>
                    <a:pt x="146420" y="380359"/>
                  </a:lnTo>
                  <a:lnTo>
                    <a:pt x="13334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0572" y="1837402"/>
              <a:ext cx="116204" cy="134272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81024" y="1779904"/>
            <a:ext cx="26289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latin typeface="Roboto"/>
                <a:cs typeface="Roboto"/>
              </a:rPr>
              <a:t>Step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Load</a:t>
            </a:r>
            <a:r>
              <a:rPr dirty="0" sz="1300" spc="-10">
                <a:latin typeface="Roboto"/>
                <a:cs typeface="Roboto"/>
              </a:rPr>
              <a:t> Disturbance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362324" y="1609724"/>
            <a:ext cx="2657475" cy="609600"/>
            <a:chOff x="3362324" y="1609724"/>
            <a:chExt cx="2657475" cy="609600"/>
          </a:xfrm>
        </p:grpSpPr>
        <p:sp>
          <p:nvSpPr>
            <p:cNvPr id="16" name="object 16" descr=""/>
            <p:cNvSpPr/>
            <p:nvPr/>
          </p:nvSpPr>
          <p:spPr>
            <a:xfrm>
              <a:off x="3362324" y="1609724"/>
              <a:ext cx="2657475" cy="609600"/>
            </a:xfrm>
            <a:custGeom>
              <a:avLst/>
              <a:gdLst/>
              <a:ahLst/>
              <a:cxnLst/>
              <a:rect l="l" t="t" r="r" b="b"/>
              <a:pathLst>
                <a:path w="2657475" h="609600">
                  <a:moveTo>
                    <a:pt x="2657474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2657474" y="0"/>
                  </a:lnTo>
                  <a:lnTo>
                    <a:pt x="2657474" y="609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62324" y="1609724"/>
              <a:ext cx="38100" cy="609600"/>
            </a:xfrm>
            <a:custGeom>
              <a:avLst/>
              <a:gdLst/>
              <a:ahLst/>
              <a:cxnLst/>
              <a:rect l="l" t="t" r="r" b="b"/>
              <a:pathLst>
                <a:path w="38100" h="609600">
                  <a:moveTo>
                    <a:pt x="380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09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0924" y="1828799"/>
              <a:ext cx="152399" cy="152399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3400424" y="1779904"/>
            <a:ext cx="26193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2832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latin typeface="Roboto"/>
                <a:cs typeface="Roboto"/>
              </a:rPr>
              <a:t>Wind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70">
                <a:latin typeface="Roboto"/>
                <a:cs typeface="Roboto"/>
              </a:rPr>
              <a:t>Power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Fluctuation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172199" y="1609724"/>
            <a:ext cx="2667000" cy="609600"/>
            <a:chOff x="6172199" y="1609724"/>
            <a:chExt cx="2667000" cy="609600"/>
          </a:xfrm>
        </p:grpSpPr>
        <p:sp>
          <p:nvSpPr>
            <p:cNvPr id="21" name="object 21" descr=""/>
            <p:cNvSpPr/>
            <p:nvPr/>
          </p:nvSpPr>
          <p:spPr>
            <a:xfrm>
              <a:off x="6172199" y="1609724"/>
              <a:ext cx="2667000" cy="609600"/>
            </a:xfrm>
            <a:custGeom>
              <a:avLst/>
              <a:gdLst/>
              <a:ahLst/>
              <a:cxnLst/>
              <a:rect l="l" t="t" r="r" b="b"/>
              <a:pathLst>
                <a:path w="2667000" h="609600">
                  <a:moveTo>
                    <a:pt x="26669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609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72199" y="1609724"/>
              <a:ext cx="38100" cy="609600"/>
            </a:xfrm>
            <a:custGeom>
              <a:avLst/>
              <a:gdLst/>
              <a:ahLst/>
              <a:cxnLst/>
              <a:rect l="l" t="t" r="r" b="b"/>
              <a:pathLst>
                <a:path w="38100" h="609600">
                  <a:moveTo>
                    <a:pt x="380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09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324599" y="1724024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171449" y="380999"/>
                  </a:moveTo>
                  <a:lnTo>
                    <a:pt x="129780" y="375860"/>
                  </a:lnTo>
                  <a:lnTo>
                    <a:pt x="90627" y="360756"/>
                  </a:lnTo>
                  <a:lnTo>
                    <a:pt x="56317" y="336593"/>
                  </a:lnTo>
                  <a:lnTo>
                    <a:pt x="28894" y="304802"/>
                  </a:lnTo>
                  <a:lnTo>
                    <a:pt x="10017" y="267300"/>
                  </a:lnTo>
                  <a:lnTo>
                    <a:pt x="823" y="226355"/>
                  </a:lnTo>
                  <a:lnTo>
                    <a:pt x="0" y="209549"/>
                  </a:lnTo>
                  <a:lnTo>
                    <a:pt x="0" y="171449"/>
                  </a:lnTo>
                  <a:lnTo>
                    <a:pt x="5139" y="129780"/>
                  </a:lnTo>
                  <a:lnTo>
                    <a:pt x="20241" y="90627"/>
                  </a:lnTo>
                  <a:lnTo>
                    <a:pt x="44405" y="56317"/>
                  </a:lnTo>
                  <a:lnTo>
                    <a:pt x="76196" y="28894"/>
                  </a:lnTo>
                  <a:lnTo>
                    <a:pt x="113698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8" y="7380"/>
                  </a:lnTo>
                  <a:lnTo>
                    <a:pt x="259583" y="24385"/>
                  </a:lnTo>
                  <a:lnTo>
                    <a:pt x="292682" y="50216"/>
                  </a:lnTo>
                  <a:lnTo>
                    <a:pt x="318512" y="83314"/>
                  </a:lnTo>
                  <a:lnTo>
                    <a:pt x="335518" y="121679"/>
                  </a:lnTo>
                  <a:lnTo>
                    <a:pt x="342693" y="163026"/>
                  </a:lnTo>
                  <a:lnTo>
                    <a:pt x="342899" y="171449"/>
                  </a:lnTo>
                  <a:lnTo>
                    <a:pt x="342899" y="209549"/>
                  </a:lnTo>
                  <a:lnTo>
                    <a:pt x="337759" y="251219"/>
                  </a:lnTo>
                  <a:lnTo>
                    <a:pt x="322656" y="290371"/>
                  </a:lnTo>
                  <a:lnTo>
                    <a:pt x="298492" y="324681"/>
                  </a:lnTo>
                  <a:lnTo>
                    <a:pt x="266701" y="352105"/>
                  </a:lnTo>
                  <a:lnTo>
                    <a:pt x="229199" y="370981"/>
                  </a:lnTo>
                  <a:lnTo>
                    <a:pt x="188254" y="380176"/>
                  </a:lnTo>
                  <a:lnTo>
                    <a:pt x="171449" y="3809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0799" y="1838324"/>
              <a:ext cx="190499" cy="133349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6210299" y="1779904"/>
            <a:ext cx="26289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latin typeface="Roboto"/>
                <a:cs typeface="Roboto"/>
              </a:rPr>
              <a:t>Solar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Variability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8991599" y="1609724"/>
            <a:ext cx="2657475" cy="609600"/>
            <a:chOff x="8991599" y="1609724"/>
            <a:chExt cx="2657475" cy="609600"/>
          </a:xfrm>
        </p:grpSpPr>
        <p:sp>
          <p:nvSpPr>
            <p:cNvPr id="27" name="object 27" descr=""/>
            <p:cNvSpPr/>
            <p:nvPr/>
          </p:nvSpPr>
          <p:spPr>
            <a:xfrm>
              <a:off x="8991599" y="1609724"/>
              <a:ext cx="2657475" cy="609600"/>
            </a:xfrm>
            <a:custGeom>
              <a:avLst/>
              <a:gdLst/>
              <a:ahLst/>
              <a:cxnLst/>
              <a:rect l="l" t="t" r="r" b="b"/>
              <a:pathLst>
                <a:path w="2657475" h="609600">
                  <a:moveTo>
                    <a:pt x="2657474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2657474" y="0"/>
                  </a:lnTo>
                  <a:lnTo>
                    <a:pt x="2657474" y="609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991599" y="1609724"/>
              <a:ext cx="38100" cy="609600"/>
            </a:xfrm>
            <a:custGeom>
              <a:avLst/>
              <a:gdLst/>
              <a:ahLst/>
              <a:cxnLst/>
              <a:rect l="l" t="t" r="r" b="b"/>
              <a:pathLst>
                <a:path w="38100" h="609600">
                  <a:moveTo>
                    <a:pt x="380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09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43999" y="1724024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59" y="374439"/>
                  </a:lnTo>
                  <a:lnTo>
                    <a:pt x="67730" y="355315"/>
                  </a:lnTo>
                  <a:lnTo>
                    <a:pt x="34590" y="325282"/>
                  </a:lnTo>
                  <a:lnTo>
                    <a:pt x="11599" y="286920"/>
                  </a:lnTo>
                  <a:lnTo>
                    <a:pt x="731" y="243537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59" y="108160"/>
                  </a:lnTo>
                  <a:lnTo>
                    <a:pt x="25683" y="67731"/>
                  </a:lnTo>
                  <a:lnTo>
                    <a:pt x="55716" y="34591"/>
                  </a:lnTo>
                  <a:lnTo>
                    <a:pt x="94077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8" y="272839"/>
                  </a:lnTo>
                  <a:lnTo>
                    <a:pt x="279115" y="313268"/>
                  </a:lnTo>
                  <a:lnTo>
                    <a:pt x="249082" y="346407"/>
                  </a:lnTo>
                  <a:lnTo>
                    <a:pt x="210720" y="369399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19663" y="1838324"/>
              <a:ext cx="153471" cy="13334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9029699" y="1779904"/>
            <a:ext cx="26193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2832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latin typeface="Roboto"/>
                <a:cs typeface="Roboto"/>
              </a:rPr>
              <a:t>Combined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Disturbances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542924" y="2447924"/>
            <a:ext cx="6600825" cy="2952750"/>
          </a:xfrm>
          <a:custGeom>
            <a:avLst/>
            <a:gdLst/>
            <a:ahLst/>
            <a:cxnLst/>
            <a:rect l="l" t="t" r="r" b="b"/>
            <a:pathLst>
              <a:path w="6600825" h="2952750">
                <a:moveTo>
                  <a:pt x="6547427" y="2952749"/>
                </a:moveTo>
                <a:lnTo>
                  <a:pt x="53397" y="2952749"/>
                </a:lnTo>
                <a:lnTo>
                  <a:pt x="49681" y="2952383"/>
                </a:lnTo>
                <a:lnTo>
                  <a:pt x="14085" y="2933356"/>
                </a:lnTo>
                <a:lnTo>
                  <a:pt x="0" y="2899352"/>
                </a:lnTo>
                <a:lnTo>
                  <a:pt x="0" y="289559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6547427" y="0"/>
                </a:lnTo>
                <a:lnTo>
                  <a:pt x="6586738" y="19392"/>
                </a:lnTo>
                <a:lnTo>
                  <a:pt x="6600823" y="53397"/>
                </a:lnTo>
                <a:lnTo>
                  <a:pt x="6600823" y="2899352"/>
                </a:lnTo>
                <a:lnTo>
                  <a:pt x="6581432" y="2938664"/>
                </a:lnTo>
                <a:lnTo>
                  <a:pt x="6551143" y="2952383"/>
                </a:lnTo>
                <a:lnTo>
                  <a:pt x="6547427" y="2952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644524" y="2553330"/>
            <a:ext cx="162179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60" b="0">
                <a:solidFill>
                  <a:srgbClr val="1F2937"/>
                </a:solidFill>
                <a:latin typeface="Roboto Medium"/>
                <a:cs typeface="Roboto Medium"/>
              </a:rPr>
              <a:t>Frequency</a:t>
            </a:r>
            <a:r>
              <a:rPr dirty="0" sz="1450" spc="-30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450" spc="-50" b="0">
                <a:solidFill>
                  <a:srgbClr val="1F2937"/>
                </a:solidFill>
                <a:latin typeface="Roboto Medium"/>
                <a:cs typeface="Roboto Medium"/>
              </a:rPr>
              <a:t>Response</a:t>
            </a:r>
            <a:endParaRPr sz="1450">
              <a:latin typeface="Roboto Medium"/>
              <a:cs typeface="Roboto Medium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7296149" y="2447924"/>
            <a:ext cx="4352925" cy="2667000"/>
          </a:xfrm>
          <a:custGeom>
            <a:avLst/>
            <a:gdLst/>
            <a:ahLst/>
            <a:cxnLst/>
            <a:rect l="l" t="t" r="r" b="b"/>
            <a:pathLst>
              <a:path w="4352925" h="2667000">
                <a:moveTo>
                  <a:pt x="4299526" y="2666999"/>
                </a:moveTo>
                <a:lnTo>
                  <a:pt x="53397" y="2666999"/>
                </a:lnTo>
                <a:lnTo>
                  <a:pt x="49680" y="2666632"/>
                </a:lnTo>
                <a:lnTo>
                  <a:pt x="14084" y="2647606"/>
                </a:lnTo>
                <a:lnTo>
                  <a:pt x="0" y="2613602"/>
                </a:lnTo>
                <a:lnTo>
                  <a:pt x="0" y="2609849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4299526" y="0"/>
                </a:lnTo>
                <a:lnTo>
                  <a:pt x="4338837" y="19392"/>
                </a:lnTo>
                <a:lnTo>
                  <a:pt x="4352924" y="53397"/>
                </a:lnTo>
                <a:lnTo>
                  <a:pt x="4352924" y="2613602"/>
                </a:lnTo>
                <a:lnTo>
                  <a:pt x="4333530" y="2652914"/>
                </a:lnTo>
                <a:lnTo>
                  <a:pt x="4303242" y="2666632"/>
                </a:lnTo>
                <a:lnTo>
                  <a:pt x="4299526" y="2666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7399535" y="2553330"/>
            <a:ext cx="200025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60" b="0">
                <a:solidFill>
                  <a:srgbClr val="1F2937"/>
                </a:solidFill>
                <a:latin typeface="Roboto Medium"/>
                <a:cs typeface="Roboto Medium"/>
              </a:rPr>
              <a:t>Performance</a:t>
            </a:r>
            <a:r>
              <a:rPr dirty="0" sz="1450" spc="10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450" spc="-55" b="0">
                <a:solidFill>
                  <a:srgbClr val="1F2937"/>
                </a:solidFill>
                <a:latin typeface="Roboto Medium"/>
                <a:cs typeface="Roboto Medium"/>
              </a:rPr>
              <a:t>Comparison</a:t>
            </a:r>
            <a:endParaRPr sz="1450">
              <a:latin typeface="Roboto Medium"/>
              <a:cs typeface="Roboto Medium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30225" y="5604668"/>
            <a:ext cx="220535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5" b="1">
                <a:solidFill>
                  <a:srgbClr val="1D40AF"/>
                </a:solidFill>
                <a:latin typeface="Roboto"/>
                <a:cs typeface="Roboto"/>
              </a:rPr>
              <a:t>Key</a:t>
            </a:r>
            <a:r>
              <a:rPr dirty="0" sz="1650" spc="2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95" b="1">
                <a:solidFill>
                  <a:srgbClr val="1D40AF"/>
                </a:solidFill>
                <a:latin typeface="Roboto"/>
                <a:cs typeface="Roboto"/>
              </a:rPr>
              <a:t>Performance</a:t>
            </a:r>
            <a:r>
              <a:rPr dirty="0" sz="1650" spc="3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60" b="1">
                <a:solidFill>
                  <a:srgbClr val="1D40AF"/>
                </a:solidFill>
                <a:latin typeface="Roboto"/>
                <a:cs typeface="Roboto"/>
              </a:rPr>
              <a:t>Metrics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542924" y="2905124"/>
            <a:ext cx="11106150" cy="3752850"/>
            <a:chOff x="542924" y="2905124"/>
            <a:chExt cx="11106150" cy="3752850"/>
          </a:xfrm>
        </p:grpSpPr>
        <p:sp>
          <p:nvSpPr>
            <p:cNvPr id="38" name="object 38" descr=""/>
            <p:cNvSpPr/>
            <p:nvPr/>
          </p:nvSpPr>
          <p:spPr>
            <a:xfrm>
              <a:off x="542924" y="6010274"/>
              <a:ext cx="2133600" cy="647700"/>
            </a:xfrm>
            <a:custGeom>
              <a:avLst/>
              <a:gdLst/>
              <a:ahLst/>
              <a:cxnLst/>
              <a:rect l="l" t="t" r="r" b="b"/>
              <a:pathLst>
                <a:path w="2133600" h="647700">
                  <a:moveTo>
                    <a:pt x="2100552" y="647699"/>
                  </a:moveTo>
                  <a:lnTo>
                    <a:pt x="33047" y="647699"/>
                  </a:lnTo>
                  <a:lnTo>
                    <a:pt x="28187" y="646732"/>
                  </a:lnTo>
                  <a:lnTo>
                    <a:pt x="966" y="619511"/>
                  </a:lnTo>
                  <a:lnTo>
                    <a:pt x="0" y="614651"/>
                  </a:lnTo>
                  <a:lnTo>
                    <a:pt x="0" y="609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100552" y="0"/>
                  </a:lnTo>
                  <a:lnTo>
                    <a:pt x="2132633" y="28187"/>
                  </a:lnTo>
                  <a:lnTo>
                    <a:pt x="2133599" y="33047"/>
                  </a:lnTo>
                  <a:lnTo>
                    <a:pt x="2133599" y="614651"/>
                  </a:lnTo>
                  <a:lnTo>
                    <a:pt x="2105412" y="646732"/>
                  </a:lnTo>
                  <a:lnTo>
                    <a:pt x="2100552" y="6476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790824" y="6010274"/>
              <a:ext cx="2124075" cy="647700"/>
            </a:xfrm>
            <a:custGeom>
              <a:avLst/>
              <a:gdLst/>
              <a:ahLst/>
              <a:cxnLst/>
              <a:rect l="l" t="t" r="r" b="b"/>
              <a:pathLst>
                <a:path w="2124075" h="647700">
                  <a:moveTo>
                    <a:pt x="2091027" y="647699"/>
                  </a:moveTo>
                  <a:lnTo>
                    <a:pt x="33047" y="647699"/>
                  </a:lnTo>
                  <a:lnTo>
                    <a:pt x="28187" y="646732"/>
                  </a:lnTo>
                  <a:lnTo>
                    <a:pt x="966" y="619511"/>
                  </a:lnTo>
                  <a:lnTo>
                    <a:pt x="0" y="614651"/>
                  </a:lnTo>
                  <a:lnTo>
                    <a:pt x="0" y="609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091027" y="0"/>
                  </a:lnTo>
                  <a:lnTo>
                    <a:pt x="2123107" y="28187"/>
                  </a:lnTo>
                  <a:lnTo>
                    <a:pt x="2124074" y="33047"/>
                  </a:lnTo>
                  <a:lnTo>
                    <a:pt x="2124074" y="614651"/>
                  </a:lnTo>
                  <a:lnTo>
                    <a:pt x="2095886" y="646732"/>
                  </a:lnTo>
                  <a:lnTo>
                    <a:pt x="2091027" y="6476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029199" y="6010274"/>
              <a:ext cx="2133600" cy="647700"/>
            </a:xfrm>
            <a:custGeom>
              <a:avLst/>
              <a:gdLst/>
              <a:ahLst/>
              <a:cxnLst/>
              <a:rect l="l" t="t" r="r" b="b"/>
              <a:pathLst>
                <a:path w="2133600" h="647700">
                  <a:moveTo>
                    <a:pt x="2100551" y="647699"/>
                  </a:moveTo>
                  <a:lnTo>
                    <a:pt x="33047" y="647699"/>
                  </a:lnTo>
                  <a:lnTo>
                    <a:pt x="28187" y="646732"/>
                  </a:lnTo>
                  <a:lnTo>
                    <a:pt x="966" y="619511"/>
                  </a:lnTo>
                  <a:lnTo>
                    <a:pt x="0" y="614651"/>
                  </a:lnTo>
                  <a:lnTo>
                    <a:pt x="0" y="609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100551" y="0"/>
                  </a:lnTo>
                  <a:lnTo>
                    <a:pt x="2132632" y="28187"/>
                  </a:lnTo>
                  <a:lnTo>
                    <a:pt x="2133599" y="33047"/>
                  </a:lnTo>
                  <a:lnTo>
                    <a:pt x="2133599" y="614651"/>
                  </a:lnTo>
                  <a:lnTo>
                    <a:pt x="2105412" y="646732"/>
                  </a:lnTo>
                  <a:lnTo>
                    <a:pt x="2100551" y="647699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277099" y="6010274"/>
              <a:ext cx="2124075" cy="647700"/>
            </a:xfrm>
            <a:custGeom>
              <a:avLst/>
              <a:gdLst/>
              <a:ahLst/>
              <a:cxnLst/>
              <a:rect l="l" t="t" r="r" b="b"/>
              <a:pathLst>
                <a:path w="2124075" h="647700">
                  <a:moveTo>
                    <a:pt x="2091026" y="647699"/>
                  </a:moveTo>
                  <a:lnTo>
                    <a:pt x="33047" y="647699"/>
                  </a:lnTo>
                  <a:lnTo>
                    <a:pt x="28186" y="646732"/>
                  </a:lnTo>
                  <a:lnTo>
                    <a:pt x="966" y="619511"/>
                  </a:lnTo>
                  <a:lnTo>
                    <a:pt x="0" y="614651"/>
                  </a:lnTo>
                  <a:lnTo>
                    <a:pt x="0" y="6095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2091026" y="0"/>
                  </a:lnTo>
                  <a:lnTo>
                    <a:pt x="2123107" y="28187"/>
                  </a:lnTo>
                  <a:lnTo>
                    <a:pt x="2124074" y="33047"/>
                  </a:lnTo>
                  <a:lnTo>
                    <a:pt x="2124074" y="614651"/>
                  </a:lnTo>
                  <a:lnTo>
                    <a:pt x="2095886" y="646732"/>
                  </a:lnTo>
                  <a:lnTo>
                    <a:pt x="2091026" y="6476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515473" y="6010274"/>
              <a:ext cx="2133600" cy="647700"/>
            </a:xfrm>
            <a:custGeom>
              <a:avLst/>
              <a:gdLst/>
              <a:ahLst/>
              <a:cxnLst/>
              <a:rect l="l" t="t" r="r" b="b"/>
              <a:pathLst>
                <a:path w="2133600" h="647700">
                  <a:moveTo>
                    <a:pt x="2100552" y="647699"/>
                  </a:moveTo>
                  <a:lnTo>
                    <a:pt x="33047" y="647699"/>
                  </a:lnTo>
                  <a:lnTo>
                    <a:pt x="28186" y="646732"/>
                  </a:lnTo>
                  <a:lnTo>
                    <a:pt x="966" y="619511"/>
                  </a:lnTo>
                  <a:lnTo>
                    <a:pt x="0" y="614651"/>
                  </a:lnTo>
                  <a:lnTo>
                    <a:pt x="0" y="609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100552" y="0"/>
                  </a:lnTo>
                  <a:lnTo>
                    <a:pt x="2132631" y="28187"/>
                  </a:lnTo>
                  <a:lnTo>
                    <a:pt x="2133599" y="33047"/>
                  </a:lnTo>
                  <a:lnTo>
                    <a:pt x="2133599" y="614651"/>
                  </a:lnTo>
                  <a:lnTo>
                    <a:pt x="2105411" y="646732"/>
                  </a:lnTo>
                  <a:lnTo>
                    <a:pt x="2100552" y="647699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224" y="2905124"/>
              <a:ext cx="6372224" cy="238124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10449" y="2905124"/>
              <a:ext cx="4114799" cy="2095499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530225" y="6861968"/>
            <a:ext cx="161036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5" b="1">
                <a:solidFill>
                  <a:srgbClr val="1D40AF"/>
                </a:solidFill>
                <a:latin typeface="Roboto"/>
                <a:cs typeface="Roboto"/>
              </a:rPr>
              <a:t>Key</a:t>
            </a:r>
            <a:r>
              <a:rPr dirty="0" sz="1650" spc="-1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40AF"/>
                </a:solidFill>
                <a:latin typeface="Roboto"/>
                <a:cs typeface="Roboto"/>
              </a:rPr>
              <a:t>Achievements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937716" y="6054044"/>
            <a:ext cx="1340485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1650" spc="-95" b="1">
                <a:solidFill>
                  <a:srgbClr val="FFFFFF"/>
                </a:solidFill>
                <a:latin typeface="Roboto"/>
                <a:cs typeface="Roboto"/>
              </a:rPr>
              <a:t>Max.</a:t>
            </a:r>
            <a:r>
              <a:rPr dirty="0" sz="1650" spc="-1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FFFFFF"/>
                </a:solidFill>
                <a:latin typeface="Roboto"/>
                <a:cs typeface="Roboto"/>
              </a:rPr>
              <a:t>Freq.</a:t>
            </a:r>
            <a:r>
              <a:rPr dirty="0" sz="1650" spc="-1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650" spc="-55" b="1">
                <a:solidFill>
                  <a:srgbClr val="FFFFFF"/>
                </a:solidFill>
                <a:latin typeface="Roboto"/>
                <a:cs typeface="Roboto"/>
              </a:rPr>
              <a:t>Dev.</a:t>
            </a:r>
            <a:endParaRPr sz="165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50" spc="-40">
                <a:solidFill>
                  <a:srgbClr val="FFFFFF"/>
                </a:solidFill>
                <a:latin typeface="Roboto"/>
                <a:cs typeface="Roboto"/>
              </a:rPr>
              <a:t>Stability</a:t>
            </a:r>
            <a:r>
              <a:rPr dirty="0" sz="11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Roboto"/>
                <a:cs typeface="Roboto"/>
              </a:rPr>
              <a:t>Measure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266876" y="6054044"/>
            <a:ext cx="1169670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1650" spc="-75" b="1">
                <a:solidFill>
                  <a:srgbClr val="FFFFFF"/>
                </a:solidFill>
                <a:latin typeface="Roboto"/>
                <a:cs typeface="Roboto"/>
              </a:rPr>
              <a:t>Settling</a:t>
            </a:r>
            <a:r>
              <a:rPr dirty="0" sz="1650" spc="-4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650" spc="-45" b="1">
                <a:solidFill>
                  <a:srgbClr val="FFFFFF"/>
                </a:solidFill>
                <a:latin typeface="Roboto"/>
                <a:cs typeface="Roboto"/>
              </a:rPr>
              <a:t>Time</a:t>
            </a:r>
            <a:endParaRPr sz="165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50" spc="-60">
                <a:solidFill>
                  <a:srgbClr val="FFFFFF"/>
                </a:solidFill>
                <a:latin typeface="Roboto"/>
                <a:cs typeface="Roboto"/>
              </a:rPr>
              <a:t>Response</a:t>
            </a:r>
            <a:r>
              <a:rPr dirty="0" sz="11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FFFFFF"/>
                </a:solidFill>
                <a:latin typeface="Roboto"/>
                <a:cs typeface="Roboto"/>
              </a:rPr>
              <a:t>Speed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665241" y="6054044"/>
            <a:ext cx="861694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1650" spc="-20" b="1">
                <a:solidFill>
                  <a:srgbClr val="FFFFFF"/>
                </a:solidFill>
                <a:latin typeface="Roboto"/>
                <a:cs typeface="Roboto"/>
              </a:rPr>
              <a:t>ITAE</a:t>
            </a:r>
            <a:endParaRPr sz="165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50" spc="-55">
                <a:solidFill>
                  <a:srgbClr val="FFFFFF"/>
                </a:solidFill>
                <a:latin typeface="Roboto"/>
                <a:cs typeface="Roboto"/>
              </a:rPr>
              <a:t>Error</a:t>
            </a:r>
            <a:r>
              <a:rPr dirty="0" sz="1150" spc="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FFFFFF"/>
                </a:solidFill>
                <a:latin typeface="Roboto"/>
                <a:cs typeface="Roboto"/>
              </a:rPr>
              <a:t>Measure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7745263" y="6054044"/>
            <a:ext cx="1189355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1650" spc="-90" b="1">
                <a:solidFill>
                  <a:srgbClr val="FFFFFF"/>
                </a:solidFill>
                <a:latin typeface="Roboto"/>
                <a:cs typeface="Roboto"/>
              </a:rPr>
              <a:t>Control</a:t>
            </a:r>
            <a:r>
              <a:rPr dirty="0" sz="1650" spc="2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650" spc="-35" b="1">
                <a:solidFill>
                  <a:srgbClr val="FFFFFF"/>
                </a:solidFill>
                <a:latin typeface="Roboto"/>
                <a:cs typeface="Roboto"/>
              </a:rPr>
              <a:t>Effort</a:t>
            </a:r>
            <a:endParaRPr sz="165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50" spc="-55">
                <a:solidFill>
                  <a:srgbClr val="FFFFFF"/>
                </a:solidFill>
                <a:latin typeface="Roboto"/>
                <a:cs typeface="Roboto"/>
              </a:rPr>
              <a:t>Efficiency</a:t>
            </a:r>
            <a:r>
              <a:rPr dirty="0" sz="115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Roboto"/>
                <a:cs typeface="Roboto"/>
              </a:rPr>
              <a:t>Metric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0029923" y="6054044"/>
            <a:ext cx="1108710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330"/>
              </a:spcBef>
            </a:pPr>
            <a:r>
              <a:rPr dirty="0" sz="1650" spc="-80" b="1">
                <a:solidFill>
                  <a:srgbClr val="FFFFFF"/>
                </a:solidFill>
                <a:latin typeface="Roboto"/>
                <a:cs typeface="Roboto"/>
              </a:rPr>
              <a:t>Tie-</a:t>
            </a:r>
            <a:r>
              <a:rPr dirty="0" sz="1650" spc="-70" b="1">
                <a:solidFill>
                  <a:srgbClr val="FFFFFF"/>
                </a:solidFill>
                <a:latin typeface="Roboto"/>
                <a:cs typeface="Roboto"/>
              </a:rPr>
              <a:t>line</a:t>
            </a:r>
            <a:r>
              <a:rPr dirty="0" sz="1650" spc="1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650" spc="-70" b="1">
                <a:solidFill>
                  <a:srgbClr val="FFFFFF"/>
                </a:solidFill>
                <a:latin typeface="Roboto"/>
                <a:cs typeface="Roboto"/>
              </a:rPr>
              <a:t>Dev.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70">
                <a:solidFill>
                  <a:srgbClr val="FFFFFF"/>
                </a:solidFill>
                <a:latin typeface="Roboto"/>
                <a:cs typeface="Roboto"/>
              </a:rPr>
              <a:t>Exchange</a:t>
            </a:r>
            <a:r>
              <a:rPr dirty="0" sz="1150" spc="5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FFFFFF"/>
                </a:solidFill>
                <a:latin typeface="Roboto"/>
                <a:cs typeface="Roboto"/>
              </a:rPr>
              <a:t>Stability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4095749" y="7267574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71499" y="1142999"/>
                </a:moveTo>
                <a:lnTo>
                  <a:pt x="529462" y="1141452"/>
                </a:lnTo>
                <a:lnTo>
                  <a:pt x="487643" y="1136815"/>
                </a:lnTo>
                <a:lnTo>
                  <a:pt x="446279" y="1129112"/>
                </a:lnTo>
                <a:lnTo>
                  <a:pt x="405602" y="1118390"/>
                </a:lnTo>
                <a:lnTo>
                  <a:pt x="365823" y="1104706"/>
                </a:lnTo>
                <a:lnTo>
                  <a:pt x="327151" y="1088129"/>
                </a:lnTo>
                <a:lnTo>
                  <a:pt x="289804" y="1068752"/>
                </a:lnTo>
                <a:lnTo>
                  <a:pt x="253990" y="1046683"/>
                </a:lnTo>
                <a:lnTo>
                  <a:pt x="219897" y="1022042"/>
                </a:lnTo>
                <a:lnTo>
                  <a:pt x="187703" y="994953"/>
                </a:lnTo>
                <a:lnTo>
                  <a:pt x="157589" y="965568"/>
                </a:lnTo>
                <a:lnTo>
                  <a:pt x="129724" y="934055"/>
                </a:lnTo>
                <a:lnTo>
                  <a:pt x="104252" y="900576"/>
                </a:lnTo>
                <a:lnTo>
                  <a:pt x="81307" y="865309"/>
                </a:lnTo>
                <a:lnTo>
                  <a:pt x="61019" y="828448"/>
                </a:lnTo>
                <a:lnTo>
                  <a:pt x="43502" y="790202"/>
                </a:lnTo>
                <a:lnTo>
                  <a:pt x="28845" y="750772"/>
                </a:lnTo>
                <a:lnTo>
                  <a:pt x="17126" y="710361"/>
                </a:lnTo>
                <a:lnTo>
                  <a:pt x="8412" y="669199"/>
                </a:lnTo>
                <a:lnTo>
                  <a:pt x="2752" y="627516"/>
                </a:lnTo>
                <a:lnTo>
                  <a:pt x="172" y="585529"/>
                </a:lnTo>
                <a:lnTo>
                  <a:pt x="0" y="571499"/>
                </a:lnTo>
                <a:lnTo>
                  <a:pt x="172" y="557470"/>
                </a:lnTo>
                <a:lnTo>
                  <a:pt x="2752" y="515483"/>
                </a:lnTo>
                <a:lnTo>
                  <a:pt x="8412" y="473798"/>
                </a:lnTo>
                <a:lnTo>
                  <a:pt x="17126" y="432635"/>
                </a:lnTo>
                <a:lnTo>
                  <a:pt x="28845" y="392225"/>
                </a:lnTo>
                <a:lnTo>
                  <a:pt x="43502" y="352795"/>
                </a:lnTo>
                <a:lnTo>
                  <a:pt x="61019" y="314550"/>
                </a:lnTo>
                <a:lnTo>
                  <a:pt x="81307" y="277689"/>
                </a:lnTo>
                <a:lnTo>
                  <a:pt x="104252" y="242421"/>
                </a:lnTo>
                <a:lnTo>
                  <a:pt x="129724" y="208943"/>
                </a:lnTo>
                <a:lnTo>
                  <a:pt x="157589" y="177430"/>
                </a:lnTo>
                <a:lnTo>
                  <a:pt x="187703" y="148046"/>
                </a:lnTo>
                <a:lnTo>
                  <a:pt x="219897" y="120957"/>
                </a:lnTo>
                <a:lnTo>
                  <a:pt x="253990" y="96314"/>
                </a:lnTo>
                <a:lnTo>
                  <a:pt x="289804" y="74246"/>
                </a:lnTo>
                <a:lnTo>
                  <a:pt x="327151" y="54869"/>
                </a:lnTo>
                <a:lnTo>
                  <a:pt x="365823" y="38292"/>
                </a:lnTo>
                <a:lnTo>
                  <a:pt x="405602" y="24608"/>
                </a:lnTo>
                <a:lnTo>
                  <a:pt x="446279" y="13887"/>
                </a:lnTo>
                <a:lnTo>
                  <a:pt x="487643" y="6185"/>
                </a:lnTo>
                <a:lnTo>
                  <a:pt x="529462" y="1548"/>
                </a:lnTo>
                <a:lnTo>
                  <a:pt x="571499" y="0"/>
                </a:lnTo>
                <a:lnTo>
                  <a:pt x="585529" y="172"/>
                </a:lnTo>
                <a:lnTo>
                  <a:pt x="627516" y="2752"/>
                </a:lnTo>
                <a:lnTo>
                  <a:pt x="669200" y="8412"/>
                </a:lnTo>
                <a:lnTo>
                  <a:pt x="710362" y="17126"/>
                </a:lnTo>
                <a:lnTo>
                  <a:pt x="750772" y="28845"/>
                </a:lnTo>
                <a:lnTo>
                  <a:pt x="790202" y="43502"/>
                </a:lnTo>
                <a:lnTo>
                  <a:pt x="828448" y="61020"/>
                </a:lnTo>
                <a:lnTo>
                  <a:pt x="865309" y="81307"/>
                </a:lnTo>
                <a:lnTo>
                  <a:pt x="900576" y="104251"/>
                </a:lnTo>
                <a:lnTo>
                  <a:pt x="934055" y="129724"/>
                </a:lnTo>
                <a:lnTo>
                  <a:pt x="965568" y="157589"/>
                </a:lnTo>
                <a:lnTo>
                  <a:pt x="994952" y="187703"/>
                </a:lnTo>
                <a:lnTo>
                  <a:pt x="1022041" y="219898"/>
                </a:lnTo>
                <a:lnTo>
                  <a:pt x="1046683" y="253990"/>
                </a:lnTo>
                <a:lnTo>
                  <a:pt x="1068752" y="289804"/>
                </a:lnTo>
                <a:lnTo>
                  <a:pt x="1088130" y="327151"/>
                </a:lnTo>
                <a:lnTo>
                  <a:pt x="1104706" y="365822"/>
                </a:lnTo>
                <a:lnTo>
                  <a:pt x="1118390" y="405601"/>
                </a:lnTo>
                <a:lnTo>
                  <a:pt x="1129112" y="446278"/>
                </a:lnTo>
                <a:lnTo>
                  <a:pt x="1136814" y="487643"/>
                </a:lnTo>
                <a:lnTo>
                  <a:pt x="1141452" y="529462"/>
                </a:lnTo>
                <a:lnTo>
                  <a:pt x="1142999" y="571499"/>
                </a:lnTo>
                <a:lnTo>
                  <a:pt x="1142827" y="585529"/>
                </a:lnTo>
                <a:lnTo>
                  <a:pt x="1140248" y="627516"/>
                </a:lnTo>
                <a:lnTo>
                  <a:pt x="1134586" y="669199"/>
                </a:lnTo>
                <a:lnTo>
                  <a:pt x="1125872" y="710362"/>
                </a:lnTo>
                <a:lnTo>
                  <a:pt x="1114153" y="750771"/>
                </a:lnTo>
                <a:lnTo>
                  <a:pt x="1099496" y="790201"/>
                </a:lnTo>
                <a:lnTo>
                  <a:pt x="1081979" y="828447"/>
                </a:lnTo>
                <a:lnTo>
                  <a:pt x="1061691" y="865308"/>
                </a:lnTo>
                <a:lnTo>
                  <a:pt x="1038746" y="900576"/>
                </a:lnTo>
                <a:lnTo>
                  <a:pt x="1013274" y="934055"/>
                </a:lnTo>
                <a:lnTo>
                  <a:pt x="985409" y="965568"/>
                </a:lnTo>
                <a:lnTo>
                  <a:pt x="955295" y="994953"/>
                </a:lnTo>
                <a:lnTo>
                  <a:pt x="923100" y="1022042"/>
                </a:lnTo>
                <a:lnTo>
                  <a:pt x="889007" y="1046683"/>
                </a:lnTo>
                <a:lnTo>
                  <a:pt x="853194" y="1068752"/>
                </a:lnTo>
                <a:lnTo>
                  <a:pt x="815847" y="1088129"/>
                </a:lnTo>
                <a:lnTo>
                  <a:pt x="777175" y="1104706"/>
                </a:lnTo>
                <a:lnTo>
                  <a:pt x="737397" y="1118390"/>
                </a:lnTo>
                <a:lnTo>
                  <a:pt x="696720" y="1129112"/>
                </a:lnTo>
                <a:lnTo>
                  <a:pt x="655356" y="1136815"/>
                </a:lnTo>
                <a:lnTo>
                  <a:pt x="613537" y="1141452"/>
                </a:lnTo>
                <a:lnTo>
                  <a:pt x="571499" y="1142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4261494" y="7403906"/>
            <a:ext cx="811530" cy="79248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2400" spc="-60" b="1">
                <a:solidFill>
                  <a:srgbClr val="2562EB"/>
                </a:solidFill>
                <a:latin typeface="Gill Sans Nova Cond Ultra Bold"/>
                <a:cs typeface="Gill Sans Nova Cond Ultra Bold"/>
              </a:rPr>
              <a:t>31.8%</a:t>
            </a:r>
            <a:endParaRPr sz="2400">
              <a:latin typeface="Gill Sans Nova Cond Ultra Bold"/>
              <a:cs typeface="Gill Sans Nova Cond Ultra Bold"/>
            </a:endParaRPr>
          </a:p>
          <a:p>
            <a:pPr algn="ctr" marL="106680" marR="99060">
              <a:lnSpc>
                <a:spcPts val="1500"/>
              </a:lnSpc>
              <a:spcBef>
                <a:spcPts val="45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Freq.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Dev.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Reduction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4143375" y="7267574"/>
            <a:ext cx="2524125" cy="1143000"/>
            <a:chOff x="4143375" y="7267574"/>
            <a:chExt cx="2524125" cy="1143000"/>
          </a:xfrm>
        </p:grpSpPr>
        <p:sp>
          <p:nvSpPr>
            <p:cNvPr id="54" name="object 54" descr=""/>
            <p:cNvSpPr/>
            <p:nvPr/>
          </p:nvSpPr>
          <p:spPr>
            <a:xfrm>
              <a:off x="4143362" y="7315199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21653" y="574789"/>
                  </a:moveTo>
                  <a:lnTo>
                    <a:pt x="21475" y="573366"/>
                  </a:lnTo>
                  <a:lnTo>
                    <a:pt x="19659" y="548678"/>
                  </a:lnTo>
                  <a:lnTo>
                    <a:pt x="19050" y="523875"/>
                  </a:lnTo>
                  <a:lnTo>
                    <a:pt x="19164" y="519493"/>
                  </a:lnTo>
                  <a:lnTo>
                    <a:pt x="114" y="519493"/>
                  </a:lnTo>
                  <a:lnTo>
                    <a:pt x="0" y="523875"/>
                  </a:lnTo>
                  <a:lnTo>
                    <a:pt x="635" y="549617"/>
                  </a:lnTo>
                  <a:lnTo>
                    <a:pt x="2527" y="575233"/>
                  </a:lnTo>
                  <a:lnTo>
                    <a:pt x="2705" y="576719"/>
                  </a:lnTo>
                  <a:lnTo>
                    <a:pt x="21653" y="574789"/>
                  </a:lnTo>
                  <a:close/>
                </a:path>
                <a:path w="1047750" h="1047750">
                  <a:moveTo>
                    <a:pt x="28448" y="427139"/>
                  </a:moveTo>
                  <a:lnTo>
                    <a:pt x="9753" y="423481"/>
                  </a:lnTo>
                  <a:lnTo>
                    <a:pt x="5664" y="447040"/>
                  </a:lnTo>
                  <a:lnTo>
                    <a:pt x="2527" y="472528"/>
                  </a:lnTo>
                  <a:lnTo>
                    <a:pt x="1841" y="481850"/>
                  </a:lnTo>
                  <a:lnTo>
                    <a:pt x="20815" y="483387"/>
                  </a:lnTo>
                  <a:lnTo>
                    <a:pt x="20929" y="481850"/>
                  </a:lnTo>
                  <a:lnTo>
                    <a:pt x="21475" y="474395"/>
                  </a:lnTo>
                  <a:lnTo>
                    <a:pt x="24511" y="449834"/>
                  </a:lnTo>
                  <a:lnTo>
                    <a:pt x="28448" y="427139"/>
                  </a:lnTo>
                  <a:close/>
                </a:path>
                <a:path w="1047750" h="1047750">
                  <a:moveTo>
                    <a:pt x="39598" y="666127"/>
                  </a:moveTo>
                  <a:lnTo>
                    <a:pt x="34188" y="646569"/>
                  </a:lnTo>
                  <a:lnTo>
                    <a:pt x="28752" y="622363"/>
                  </a:lnTo>
                  <a:lnTo>
                    <a:pt x="26949" y="611936"/>
                  </a:lnTo>
                  <a:lnTo>
                    <a:pt x="8191" y="615264"/>
                  </a:lnTo>
                  <a:lnTo>
                    <a:pt x="10071" y="626084"/>
                  </a:lnTo>
                  <a:lnTo>
                    <a:pt x="15709" y="651205"/>
                  </a:lnTo>
                  <a:lnTo>
                    <a:pt x="21323" y="671487"/>
                  </a:lnTo>
                  <a:lnTo>
                    <a:pt x="39598" y="666127"/>
                  </a:lnTo>
                  <a:close/>
                </a:path>
                <a:path w="1047750" h="1047750">
                  <a:moveTo>
                    <a:pt x="54711" y="337858"/>
                  </a:moveTo>
                  <a:lnTo>
                    <a:pt x="37007" y="330847"/>
                  </a:lnTo>
                  <a:lnTo>
                    <a:pt x="30619" y="347421"/>
                  </a:lnTo>
                  <a:lnTo>
                    <a:pt x="22555" y="371805"/>
                  </a:lnTo>
                  <a:lnTo>
                    <a:pt x="18427" y="386715"/>
                  </a:lnTo>
                  <a:lnTo>
                    <a:pt x="36817" y="391706"/>
                  </a:lnTo>
                  <a:lnTo>
                    <a:pt x="40792" y="377329"/>
                  </a:lnTo>
                  <a:lnTo>
                    <a:pt x="48552" y="353834"/>
                  </a:lnTo>
                  <a:lnTo>
                    <a:pt x="54711" y="337858"/>
                  </a:lnTo>
                  <a:close/>
                </a:path>
                <a:path w="1047750" h="1047750">
                  <a:moveTo>
                    <a:pt x="74041" y="752665"/>
                  </a:moveTo>
                  <a:lnTo>
                    <a:pt x="67538" y="739749"/>
                  </a:lnTo>
                  <a:lnTo>
                    <a:pt x="57480" y="717067"/>
                  </a:lnTo>
                  <a:lnTo>
                    <a:pt x="51473" y="701497"/>
                  </a:lnTo>
                  <a:lnTo>
                    <a:pt x="33642" y="708190"/>
                  </a:lnTo>
                  <a:lnTo>
                    <a:pt x="39878" y="724357"/>
                  </a:lnTo>
                  <a:lnTo>
                    <a:pt x="50317" y="747890"/>
                  </a:lnTo>
                  <a:lnTo>
                    <a:pt x="57061" y="761301"/>
                  </a:lnTo>
                  <a:lnTo>
                    <a:pt x="74041" y="752665"/>
                  </a:lnTo>
                  <a:close/>
                </a:path>
                <a:path w="1047750" h="1047750">
                  <a:moveTo>
                    <a:pt x="96735" y="255092"/>
                  </a:moveTo>
                  <a:lnTo>
                    <a:pt x="80619" y="244944"/>
                  </a:lnTo>
                  <a:lnTo>
                    <a:pt x="74523" y="254584"/>
                  </a:lnTo>
                  <a:lnTo>
                    <a:pt x="61861" y="276923"/>
                  </a:lnTo>
                  <a:lnTo>
                    <a:pt x="52197" y="296125"/>
                  </a:lnTo>
                  <a:lnTo>
                    <a:pt x="69354" y="304406"/>
                  </a:lnTo>
                  <a:lnTo>
                    <a:pt x="78663" y="285902"/>
                  </a:lnTo>
                  <a:lnTo>
                    <a:pt x="90855" y="264375"/>
                  </a:lnTo>
                  <a:lnTo>
                    <a:pt x="96735" y="255092"/>
                  </a:lnTo>
                  <a:close/>
                </a:path>
                <a:path w="1047750" h="1047750">
                  <a:moveTo>
                    <a:pt x="123761" y="831494"/>
                  </a:moveTo>
                  <a:lnTo>
                    <a:pt x="118414" y="824636"/>
                  </a:lnTo>
                  <a:lnTo>
                    <a:pt x="104140" y="804341"/>
                  </a:lnTo>
                  <a:lnTo>
                    <a:pt x="91960" y="785126"/>
                  </a:lnTo>
                  <a:lnTo>
                    <a:pt x="75666" y="794981"/>
                  </a:lnTo>
                  <a:lnTo>
                    <a:pt x="88290" y="814933"/>
                  </a:lnTo>
                  <a:lnTo>
                    <a:pt x="103111" y="835977"/>
                  </a:lnTo>
                  <a:lnTo>
                    <a:pt x="108673" y="843102"/>
                  </a:lnTo>
                  <a:lnTo>
                    <a:pt x="123761" y="831494"/>
                  </a:lnTo>
                  <a:close/>
                </a:path>
                <a:path w="1047750" h="1047750">
                  <a:moveTo>
                    <a:pt x="153263" y="181254"/>
                  </a:moveTo>
                  <a:lnTo>
                    <a:pt x="139280" y="168325"/>
                  </a:lnTo>
                  <a:lnTo>
                    <a:pt x="135686" y="172085"/>
                  </a:lnTo>
                  <a:lnTo>
                    <a:pt x="118910" y="191528"/>
                  </a:lnTo>
                  <a:lnTo>
                    <a:pt x="103111" y="211785"/>
                  </a:lnTo>
                  <a:lnTo>
                    <a:pt x="102082" y="213258"/>
                  </a:lnTo>
                  <a:lnTo>
                    <a:pt x="117411" y="224548"/>
                  </a:lnTo>
                  <a:lnTo>
                    <a:pt x="118414" y="223126"/>
                  </a:lnTo>
                  <a:lnTo>
                    <a:pt x="133642" y="203619"/>
                  </a:lnTo>
                  <a:lnTo>
                    <a:pt x="149809" y="184886"/>
                  </a:lnTo>
                  <a:lnTo>
                    <a:pt x="153263" y="181254"/>
                  </a:lnTo>
                  <a:close/>
                </a:path>
                <a:path w="1047750" h="1047750">
                  <a:moveTo>
                    <a:pt x="187083" y="899858"/>
                  </a:moveTo>
                  <a:lnTo>
                    <a:pt x="184886" y="897953"/>
                  </a:lnTo>
                  <a:lnTo>
                    <a:pt x="166916" y="880846"/>
                  </a:lnTo>
                  <a:lnTo>
                    <a:pt x="149809" y="862876"/>
                  </a:lnTo>
                  <a:lnTo>
                    <a:pt x="147294" y="859967"/>
                  </a:lnTo>
                  <a:lnTo>
                    <a:pt x="133083" y="872655"/>
                  </a:lnTo>
                  <a:lnTo>
                    <a:pt x="135686" y="875677"/>
                  </a:lnTo>
                  <a:lnTo>
                    <a:pt x="153441" y="894321"/>
                  </a:lnTo>
                  <a:lnTo>
                    <a:pt x="172085" y="912063"/>
                  </a:lnTo>
                  <a:lnTo>
                    <a:pt x="174371" y="914044"/>
                  </a:lnTo>
                  <a:lnTo>
                    <a:pt x="187083" y="899858"/>
                  </a:lnTo>
                  <a:close/>
                </a:path>
                <a:path w="1047750" h="1047750">
                  <a:moveTo>
                    <a:pt x="222491" y="118910"/>
                  </a:moveTo>
                  <a:lnTo>
                    <a:pt x="211124" y="103632"/>
                  </a:lnTo>
                  <a:lnTo>
                    <a:pt x="191528" y="118910"/>
                  </a:lnTo>
                  <a:lnTo>
                    <a:pt x="172085" y="135686"/>
                  </a:lnTo>
                  <a:lnTo>
                    <a:pt x="166395" y="141109"/>
                  </a:lnTo>
                  <a:lnTo>
                    <a:pt x="179400" y="155028"/>
                  </a:lnTo>
                  <a:lnTo>
                    <a:pt x="184886" y="149809"/>
                  </a:lnTo>
                  <a:lnTo>
                    <a:pt x="203619" y="133642"/>
                  </a:lnTo>
                  <a:lnTo>
                    <a:pt x="222491" y="118910"/>
                  </a:lnTo>
                  <a:close/>
                </a:path>
                <a:path w="1047750" h="1047750">
                  <a:moveTo>
                    <a:pt x="261835" y="955294"/>
                  </a:moveTo>
                  <a:lnTo>
                    <a:pt x="243420" y="943622"/>
                  </a:lnTo>
                  <a:lnTo>
                    <a:pt x="223126" y="929347"/>
                  </a:lnTo>
                  <a:lnTo>
                    <a:pt x="215531" y="923417"/>
                  </a:lnTo>
                  <a:lnTo>
                    <a:pt x="203898" y="938491"/>
                  </a:lnTo>
                  <a:lnTo>
                    <a:pt x="211785" y="944638"/>
                  </a:lnTo>
                  <a:lnTo>
                    <a:pt x="232829" y="959472"/>
                  </a:lnTo>
                  <a:lnTo>
                    <a:pt x="251955" y="971575"/>
                  </a:lnTo>
                  <a:lnTo>
                    <a:pt x="261835" y="955294"/>
                  </a:lnTo>
                  <a:close/>
                </a:path>
                <a:path w="1047750" h="1047750">
                  <a:moveTo>
                    <a:pt x="302133" y="70485"/>
                  </a:moveTo>
                  <a:lnTo>
                    <a:pt x="293763" y="53378"/>
                  </a:lnTo>
                  <a:lnTo>
                    <a:pt x="276923" y="61861"/>
                  </a:lnTo>
                  <a:lnTo>
                    <a:pt x="254584" y="74523"/>
                  </a:lnTo>
                  <a:lnTo>
                    <a:pt x="242684" y="82054"/>
                  </a:lnTo>
                  <a:lnTo>
                    <a:pt x="252907" y="98120"/>
                  </a:lnTo>
                  <a:lnTo>
                    <a:pt x="264375" y="90855"/>
                  </a:lnTo>
                  <a:lnTo>
                    <a:pt x="285902" y="78663"/>
                  </a:lnTo>
                  <a:lnTo>
                    <a:pt x="302133" y="70485"/>
                  </a:lnTo>
                  <a:close/>
                </a:path>
                <a:path w="1047750" h="1047750">
                  <a:moveTo>
                    <a:pt x="345376" y="995946"/>
                  </a:moveTo>
                  <a:lnTo>
                    <a:pt x="330669" y="990269"/>
                  </a:lnTo>
                  <a:lnTo>
                    <a:pt x="308013" y="980224"/>
                  </a:lnTo>
                  <a:lnTo>
                    <a:pt x="294259" y="973302"/>
                  </a:lnTo>
                  <a:lnTo>
                    <a:pt x="285597" y="990269"/>
                  </a:lnTo>
                  <a:lnTo>
                    <a:pt x="299859" y="997445"/>
                  </a:lnTo>
                  <a:lnTo>
                    <a:pt x="323405" y="1007872"/>
                  </a:lnTo>
                  <a:lnTo>
                    <a:pt x="338645" y="1013764"/>
                  </a:lnTo>
                  <a:lnTo>
                    <a:pt x="345376" y="995946"/>
                  </a:lnTo>
                  <a:close/>
                </a:path>
                <a:path w="1047750" h="1047750">
                  <a:moveTo>
                    <a:pt x="389255" y="37490"/>
                  </a:moveTo>
                  <a:lnTo>
                    <a:pt x="384175" y="19138"/>
                  </a:lnTo>
                  <a:lnTo>
                    <a:pt x="371805" y="22555"/>
                  </a:lnTo>
                  <a:lnTo>
                    <a:pt x="347421" y="30619"/>
                  </a:lnTo>
                  <a:lnTo>
                    <a:pt x="328422" y="37947"/>
                  </a:lnTo>
                  <a:lnTo>
                    <a:pt x="335521" y="55613"/>
                  </a:lnTo>
                  <a:lnTo>
                    <a:pt x="353834" y="48552"/>
                  </a:lnTo>
                  <a:lnTo>
                    <a:pt x="377342" y="40792"/>
                  </a:lnTo>
                  <a:lnTo>
                    <a:pt x="389255" y="37490"/>
                  </a:lnTo>
                  <a:close/>
                </a:path>
                <a:path w="1047750" h="1047750">
                  <a:moveTo>
                    <a:pt x="434873" y="1020648"/>
                  </a:moveTo>
                  <a:lnTo>
                    <a:pt x="425399" y="1019009"/>
                  </a:lnTo>
                  <a:lnTo>
                    <a:pt x="401193" y="1013574"/>
                  </a:lnTo>
                  <a:lnTo>
                    <a:pt x="380733" y="1007910"/>
                  </a:lnTo>
                  <a:lnTo>
                    <a:pt x="375335" y="1026185"/>
                  </a:lnTo>
                  <a:lnTo>
                    <a:pt x="396557" y="1032052"/>
                  </a:lnTo>
                  <a:lnTo>
                    <a:pt x="421678" y="1037691"/>
                  </a:lnTo>
                  <a:lnTo>
                    <a:pt x="431520" y="1039393"/>
                  </a:lnTo>
                  <a:lnTo>
                    <a:pt x="434873" y="1020648"/>
                  </a:lnTo>
                  <a:close/>
                </a:path>
                <a:path w="1047750" h="1047750">
                  <a:moveTo>
                    <a:pt x="480847" y="21005"/>
                  </a:moveTo>
                  <a:lnTo>
                    <a:pt x="479221" y="2032"/>
                  </a:lnTo>
                  <a:lnTo>
                    <a:pt x="472528" y="2527"/>
                  </a:lnTo>
                  <a:lnTo>
                    <a:pt x="447040" y="5664"/>
                  </a:lnTo>
                  <a:lnTo>
                    <a:pt x="421678" y="10071"/>
                  </a:lnTo>
                  <a:lnTo>
                    <a:pt x="420941" y="10236"/>
                  </a:lnTo>
                  <a:lnTo>
                    <a:pt x="424688" y="28917"/>
                  </a:lnTo>
                  <a:lnTo>
                    <a:pt x="425399" y="28752"/>
                  </a:lnTo>
                  <a:lnTo>
                    <a:pt x="449834" y="24511"/>
                  </a:lnTo>
                  <a:lnTo>
                    <a:pt x="474395" y="21475"/>
                  </a:lnTo>
                  <a:lnTo>
                    <a:pt x="480847" y="21005"/>
                  </a:lnTo>
                  <a:close/>
                </a:path>
                <a:path w="1047750" h="1047750">
                  <a:moveTo>
                    <a:pt x="527342" y="1047673"/>
                  </a:moveTo>
                  <a:lnTo>
                    <a:pt x="527278" y="1028700"/>
                  </a:lnTo>
                  <a:lnTo>
                    <a:pt x="523875" y="1028700"/>
                  </a:lnTo>
                  <a:lnTo>
                    <a:pt x="499084" y="1028103"/>
                  </a:lnTo>
                  <a:lnTo>
                    <a:pt x="474395" y="1026274"/>
                  </a:lnTo>
                  <a:lnTo>
                    <a:pt x="472033" y="1025994"/>
                  </a:lnTo>
                  <a:lnTo>
                    <a:pt x="472008" y="1026274"/>
                  </a:lnTo>
                  <a:lnTo>
                    <a:pt x="470077" y="1044930"/>
                  </a:lnTo>
                  <a:lnTo>
                    <a:pt x="472528" y="1045235"/>
                  </a:lnTo>
                  <a:lnTo>
                    <a:pt x="498144" y="1047127"/>
                  </a:lnTo>
                  <a:lnTo>
                    <a:pt x="520420" y="1047673"/>
                  </a:lnTo>
                  <a:lnTo>
                    <a:pt x="527342" y="1047673"/>
                  </a:lnTo>
                  <a:close/>
                </a:path>
                <a:path w="1047750" h="1047750">
                  <a:moveTo>
                    <a:pt x="579526" y="19215"/>
                  </a:moveTo>
                  <a:lnTo>
                    <a:pt x="530580" y="19215"/>
                  </a:lnTo>
                  <a:lnTo>
                    <a:pt x="548678" y="19659"/>
                  </a:lnTo>
                  <a:lnTo>
                    <a:pt x="573366" y="21475"/>
                  </a:lnTo>
                  <a:lnTo>
                    <a:pt x="579208" y="22199"/>
                  </a:lnTo>
                  <a:lnTo>
                    <a:pt x="579285" y="21475"/>
                  </a:lnTo>
                  <a:lnTo>
                    <a:pt x="579526" y="19215"/>
                  </a:lnTo>
                  <a:close/>
                </a:path>
                <a:path w="1047750" h="1047750">
                  <a:moveTo>
                    <a:pt x="581291" y="3276"/>
                  </a:moveTo>
                  <a:lnTo>
                    <a:pt x="575233" y="2527"/>
                  </a:lnTo>
                  <a:lnTo>
                    <a:pt x="549617" y="635"/>
                  </a:lnTo>
                  <a:lnTo>
                    <a:pt x="523875" y="0"/>
                  </a:lnTo>
                  <a:lnTo>
                    <a:pt x="516890" y="177"/>
                  </a:lnTo>
                  <a:lnTo>
                    <a:pt x="516928" y="3276"/>
                  </a:lnTo>
                  <a:lnTo>
                    <a:pt x="517131" y="19050"/>
                  </a:lnTo>
                  <a:lnTo>
                    <a:pt x="523875" y="19050"/>
                  </a:lnTo>
                  <a:lnTo>
                    <a:pt x="579551" y="19050"/>
                  </a:lnTo>
                  <a:lnTo>
                    <a:pt x="581291" y="3276"/>
                  </a:lnTo>
                  <a:close/>
                </a:path>
                <a:path w="1047750" h="1047750">
                  <a:moveTo>
                    <a:pt x="623341" y="1038161"/>
                  </a:moveTo>
                  <a:lnTo>
                    <a:pt x="619721" y="1019467"/>
                  </a:lnTo>
                  <a:lnTo>
                    <a:pt x="597928" y="1023251"/>
                  </a:lnTo>
                  <a:lnTo>
                    <a:pt x="573366" y="1026274"/>
                  </a:lnTo>
                  <a:lnTo>
                    <a:pt x="563448" y="1027010"/>
                  </a:lnTo>
                  <a:lnTo>
                    <a:pt x="564946" y="1045997"/>
                  </a:lnTo>
                  <a:lnTo>
                    <a:pt x="575233" y="1045235"/>
                  </a:lnTo>
                  <a:lnTo>
                    <a:pt x="600722" y="1042098"/>
                  </a:lnTo>
                  <a:lnTo>
                    <a:pt x="623341" y="1038161"/>
                  </a:lnTo>
                  <a:close/>
                </a:path>
                <a:path w="1047750" h="1047750">
                  <a:moveTo>
                    <a:pt x="675919" y="22542"/>
                  </a:moveTo>
                  <a:lnTo>
                    <a:pt x="651205" y="15709"/>
                  </a:lnTo>
                  <a:lnTo>
                    <a:pt x="626084" y="10071"/>
                  </a:lnTo>
                  <a:lnTo>
                    <a:pt x="619874" y="8991"/>
                  </a:lnTo>
                  <a:lnTo>
                    <a:pt x="616381" y="27711"/>
                  </a:lnTo>
                  <a:lnTo>
                    <a:pt x="622363" y="28752"/>
                  </a:lnTo>
                  <a:lnTo>
                    <a:pt x="646569" y="34188"/>
                  </a:lnTo>
                  <a:lnTo>
                    <a:pt x="670394" y="40779"/>
                  </a:lnTo>
                  <a:lnTo>
                    <a:pt x="675919" y="22542"/>
                  </a:lnTo>
                  <a:close/>
                </a:path>
                <a:path w="1047750" h="1047750">
                  <a:moveTo>
                    <a:pt x="716000" y="1011097"/>
                  </a:moveTo>
                  <a:lnTo>
                    <a:pt x="709015" y="993381"/>
                  </a:lnTo>
                  <a:lnTo>
                    <a:pt x="693928" y="999210"/>
                  </a:lnTo>
                  <a:lnTo>
                    <a:pt x="670420" y="1006970"/>
                  </a:lnTo>
                  <a:lnTo>
                    <a:pt x="655510" y="1011097"/>
                  </a:lnTo>
                  <a:lnTo>
                    <a:pt x="655142" y="1011097"/>
                  </a:lnTo>
                  <a:lnTo>
                    <a:pt x="660120" y="1029589"/>
                  </a:lnTo>
                  <a:lnTo>
                    <a:pt x="675957" y="1025207"/>
                  </a:lnTo>
                  <a:lnTo>
                    <a:pt x="700341" y="1017143"/>
                  </a:lnTo>
                  <a:lnTo>
                    <a:pt x="716000" y="1011097"/>
                  </a:lnTo>
                  <a:close/>
                </a:path>
                <a:path w="1047750" h="1047750">
                  <a:moveTo>
                    <a:pt x="765390" y="59118"/>
                  </a:moveTo>
                  <a:lnTo>
                    <a:pt x="747890" y="50317"/>
                  </a:lnTo>
                  <a:lnTo>
                    <a:pt x="724357" y="39878"/>
                  </a:lnTo>
                  <a:lnTo>
                    <a:pt x="712558" y="35331"/>
                  </a:lnTo>
                  <a:lnTo>
                    <a:pt x="705700" y="53098"/>
                  </a:lnTo>
                  <a:lnTo>
                    <a:pt x="717067" y="57480"/>
                  </a:lnTo>
                  <a:lnTo>
                    <a:pt x="739749" y="67538"/>
                  </a:lnTo>
                  <a:lnTo>
                    <a:pt x="756615" y="76022"/>
                  </a:lnTo>
                  <a:lnTo>
                    <a:pt x="765390" y="59118"/>
                  </a:lnTo>
                  <a:close/>
                </a:path>
                <a:path w="1047750" h="1047750">
                  <a:moveTo>
                    <a:pt x="801979" y="967663"/>
                  </a:moveTo>
                  <a:lnTo>
                    <a:pt x="791870" y="951522"/>
                  </a:lnTo>
                  <a:lnTo>
                    <a:pt x="783386" y="956906"/>
                  </a:lnTo>
                  <a:lnTo>
                    <a:pt x="761860" y="969098"/>
                  </a:lnTo>
                  <a:lnTo>
                    <a:pt x="742518" y="978827"/>
                  </a:lnTo>
                  <a:lnTo>
                    <a:pt x="750773" y="995997"/>
                  </a:lnTo>
                  <a:lnTo>
                    <a:pt x="770839" y="985901"/>
                  </a:lnTo>
                  <a:lnTo>
                    <a:pt x="793178" y="973239"/>
                  </a:lnTo>
                  <a:lnTo>
                    <a:pt x="801979" y="967663"/>
                  </a:lnTo>
                  <a:close/>
                </a:path>
                <a:path w="1047750" h="1047750">
                  <a:moveTo>
                    <a:pt x="846709" y="111480"/>
                  </a:moveTo>
                  <a:lnTo>
                    <a:pt x="835977" y="103111"/>
                  </a:lnTo>
                  <a:lnTo>
                    <a:pt x="814933" y="88290"/>
                  </a:lnTo>
                  <a:lnTo>
                    <a:pt x="798893" y="78143"/>
                  </a:lnTo>
                  <a:lnTo>
                    <a:pt x="788898" y="94348"/>
                  </a:lnTo>
                  <a:lnTo>
                    <a:pt x="804341" y="104140"/>
                  </a:lnTo>
                  <a:lnTo>
                    <a:pt x="824636" y="118414"/>
                  </a:lnTo>
                  <a:lnTo>
                    <a:pt x="834961" y="126479"/>
                  </a:lnTo>
                  <a:lnTo>
                    <a:pt x="846709" y="111480"/>
                  </a:lnTo>
                  <a:close/>
                </a:path>
                <a:path w="1047750" h="1047750">
                  <a:moveTo>
                    <a:pt x="878738" y="909154"/>
                  </a:moveTo>
                  <a:lnTo>
                    <a:pt x="865835" y="895146"/>
                  </a:lnTo>
                  <a:lnTo>
                    <a:pt x="862876" y="897953"/>
                  </a:lnTo>
                  <a:lnTo>
                    <a:pt x="844143" y="914120"/>
                  </a:lnTo>
                  <a:lnTo>
                    <a:pt x="824636" y="929347"/>
                  </a:lnTo>
                  <a:lnTo>
                    <a:pt x="822452" y="930884"/>
                  </a:lnTo>
                  <a:lnTo>
                    <a:pt x="833716" y="946238"/>
                  </a:lnTo>
                  <a:lnTo>
                    <a:pt x="835977" y="944638"/>
                  </a:lnTo>
                  <a:lnTo>
                    <a:pt x="856221" y="928839"/>
                  </a:lnTo>
                  <a:lnTo>
                    <a:pt x="875677" y="912063"/>
                  </a:lnTo>
                  <a:lnTo>
                    <a:pt x="878738" y="909154"/>
                  </a:lnTo>
                  <a:close/>
                </a:path>
                <a:path w="1047750" h="1047750">
                  <a:moveTo>
                    <a:pt x="917041" y="177850"/>
                  </a:moveTo>
                  <a:lnTo>
                    <a:pt x="912075" y="172085"/>
                  </a:lnTo>
                  <a:lnTo>
                    <a:pt x="894321" y="153441"/>
                  </a:lnTo>
                  <a:lnTo>
                    <a:pt x="876109" y="136105"/>
                  </a:lnTo>
                  <a:lnTo>
                    <a:pt x="863307" y="150215"/>
                  </a:lnTo>
                  <a:lnTo>
                    <a:pt x="880846" y="166916"/>
                  </a:lnTo>
                  <a:lnTo>
                    <a:pt x="897953" y="184886"/>
                  </a:lnTo>
                  <a:lnTo>
                    <a:pt x="902741" y="190436"/>
                  </a:lnTo>
                  <a:lnTo>
                    <a:pt x="917041" y="177850"/>
                  </a:lnTo>
                  <a:close/>
                </a:path>
                <a:path w="1047750" h="1047750">
                  <a:moveTo>
                    <a:pt x="943533" y="837399"/>
                  </a:moveTo>
                  <a:lnTo>
                    <a:pt x="928268" y="826008"/>
                  </a:lnTo>
                  <a:lnTo>
                    <a:pt x="914120" y="844143"/>
                  </a:lnTo>
                  <a:lnTo>
                    <a:pt x="897953" y="862876"/>
                  </a:lnTo>
                  <a:lnTo>
                    <a:pt x="892086" y="869035"/>
                  </a:lnTo>
                  <a:lnTo>
                    <a:pt x="905979" y="882065"/>
                  </a:lnTo>
                  <a:lnTo>
                    <a:pt x="912075" y="875677"/>
                  </a:lnTo>
                  <a:lnTo>
                    <a:pt x="928852" y="856221"/>
                  </a:lnTo>
                  <a:lnTo>
                    <a:pt x="943533" y="837399"/>
                  </a:lnTo>
                  <a:close/>
                </a:path>
                <a:path w="1047750" h="1047750">
                  <a:moveTo>
                    <a:pt x="973988" y="255892"/>
                  </a:moveTo>
                  <a:lnTo>
                    <a:pt x="973239" y="254584"/>
                  </a:lnTo>
                  <a:lnTo>
                    <a:pt x="959472" y="232829"/>
                  </a:lnTo>
                  <a:lnTo>
                    <a:pt x="944651" y="211785"/>
                  </a:lnTo>
                  <a:lnTo>
                    <a:pt x="941311" y="207505"/>
                  </a:lnTo>
                  <a:lnTo>
                    <a:pt x="926134" y="219011"/>
                  </a:lnTo>
                  <a:lnTo>
                    <a:pt x="929347" y="223126"/>
                  </a:lnTo>
                  <a:lnTo>
                    <a:pt x="943622" y="243420"/>
                  </a:lnTo>
                  <a:lnTo>
                    <a:pt x="956906" y="264375"/>
                  </a:lnTo>
                  <a:lnTo>
                    <a:pt x="957618" y="265645"/>
                  </a:lnTo>
                  <a:lnTo>
                    <a:pt x="973988" y="255892"/>
                  </a:lnTo>
                  <a:close/>
                </a:path>
                <a:path w="1047750" h="1047750">
                  <a:moveTo>
                    <a:pt x="993940" y="754849"/>
                  </a:moveTo>
                  <a:lnTo>
                    <a:pt x="976858" y="746455"/>
                  </a:lnTo>
                  <a:lnTo>
                    <a:pt x="969098" y="761860"/>
                  </a:lnTo>
                  <a:lnTo>
                    <a:pt x="956906" y="783386"/>
                  </a:lnTo>
                  <a:lnTo>
                    <a:pt x="949134" y="795655"/>
                  </a:lnTo>
                  <a:lnTo>
                    <a:pt x="965187" y="805903"/>
                  </a:lnTo>
                  <a:lnTo>
                    <a:pt x="973239" y="793178"/>
                  </a:lnTo>
                  <a:lnTo>
                    <a:pt x="985901" y="770839"/>
                  </a:lnTo>
                  <a:lnTo>
                    <a:pt x="993940" y="754849"/>
                  </a:lnTo>
                  <a:close/>
                </a:path>
                <a:path w="1047750" h="1047750">
                  <a:moveTo>
                    <a:pt x="1015441" y="343001"/>
                  </a:moveTo>
                  <a:lnTo>
                    <a:pt x="1007872" y="323405"/>
                  </a:lnTo>
                  <a:lnTo>
                    <a:pt x="997445" y="299859"/>
                  </a:lnTo>
                  <a:lnTo>
                    <a:pt x="992327" y="289687"/>
                  </a:lnTo>
                  <a:lnTo>
                    <a:pt x="975283" y="298196"/>
                  </a:lnTo>
                  <a:lnTo>
                    <a:pt x="980224" y="308013"/>
                  </a:lnTo>
                  <a:lnTo>
                    <a:pt x="990282" y="330695"/>
                  </a:lnTo>
                  <a:lnTo>
                    <a:pt x="997572" y="349580"/>
                  </a:lnTo>
                  <a:lnTo>
                    <a:pt x="1015441" y="343001"/>
                  </a:lnTo>
                  <a:close/>
                </a:path>
                <a:path w="1047750" h="1047750">
                  <a:moveTo>
                    <a:pt x="1028369" y="664527"/>
                  </a:moveTo>
                  <a:lnTo>
                    <a:pt x="1010018" y="659409"/>
                  </a:lnTo>
                  <a:lnTo>
                    <a:pt x="1006970" y="670420"/>
                  </a:lnTo>
                  <a:lnTo>
                    <a:pt x="999210" y="693928"/>
                  </a:lnTo>
                  <a:lnTo>
                    <a:pt x="991806" y="713092"/>
                  </a:lnTo>
                  <a:lnTo>
                    <a:pt x="1009472" y="720229"/>
                  </a:lnTo>
                  <a:lnTo>
                    <a:pt x="1017143" y="700341"/>
                  </a:lnTo>
                  <a:lnTo>
                    <a:pt x="1025207" y="675957"/>
                  </a:lnTo>
                  <a:lnTo>
                    <a:pt x="1028369" y="664527"/>
                  </a:lnTo>
                  <a:close/>
                </a:path>
                <a:path w="1047750" h="1047750">
                  <a:moveTo>
                    <a:pt x="1040206" y="436156"/>
                  </a:moveTo>
                  <a:lnTo>
                    <a:pt x="1037691" y="421678"/>
                  </a:lnTo>
                  <a:lnTo>
                    <a:pt x="1032052" y="396557"/>
                  </a:lnTo>
                  <a:lnTo>
                    <a:pt x="1027404" y="379755"/>
                  </a:lnTo>
                  <a:lnTo>
                    <a:pt x="1009091" y="385000"/>
                  </a:lnTo>
                  <a:lnTo>
                    <a:pt x="1013574" y="401193"/>
                  </a:lnTo>
                  <a:lnTo>
                    <a:pt x="1019009" y="425399"/>
                  </a:lnTo>
                  <a:lnTo>
                    <a:pt x="1021422" y="439356"/>
                  </a:lnTo>
                  <a:lnTo>
                    <a:pt x="1040206" y="436156"/>
                  </a:lnTo>
                  <a:close/>
                </a:path>
                <a:path w="1047750" h="1047750">
                  <a:moveTo>
                    <a:pt x="1045667" y="569506"/>
                  </a:moveTo>
                  <a:lnTo>
                    <a:pt x="1026693" y="567842"/>
                  </a:lnTo>
                  <a:lnTo>
                    <a:pt x="1026566" y="569506"/>
                  </a:lnTo>
                  <a:lnTo>
                    <a:pt x="1026287" y="573366"/>
                  </a:lnTo>
                  <a:lnTo>
                    <a:pt x="1023251" y="597928"/>
                  </a:lnTo>
                  <a:lnTo>
                    <a:pt x="1019009" y="622363"/>
                  </a:lnTo>
                  <a:lnTo>
                    <a:pt x="1018641" y="623963"/>
                  </a:lnTo>
                  <a:lnTo>
                    <a:pt x="1037323" y="627735"/>
                  </a:lnTo>
                  <a:lnTo>
                    <a:pt x="1037691" y="626084"/>
                  </a:lnTo>
                  <a:lnTo>
                    <a:pt x="1042098" y="600722"/>
                  </a:lnTo>
                  <a:lnTo>
                    <a:pt x="1045235" y="575233"/>
                  </a:lnTo>
                  <a:lnTo>
                    <a:pt x="1045667" y="569506"/>
                  </a:lnTo>
                  <a:close/>
                </a:path>
                <a:path w="1047750" h="1047750">
                  <a:moveTo>
                    <a:pt x="1047750" y="523875"/>
                  </a:moveTo>
                  <a:lnTo>
                    <a:pt x="1047127" y="498144"/>
                  </a:lnTo>
                  <a:lnTo>
                    <a:pt x="1045400" y="474649"/>
                  </a:lnTo>
                  <a:lnTo>
                    <a:pt x="1026426" y="476440"/>
                  </a:lnTo>
                  <a:lnTo>
                    <a:pt x="1028103" y="499084"/>
                  </a:lnTo>
                  <a:lnTo>
                    <a:pt x="1028700" y="523875"/>
                  </a:lnTo>
                  <a:lnTo>
                    <a:pt x="1028522" y="531533"/>
                  </a:lnTo>
                  <a:lnTo>
                    <a:pt x="1047559" y="531812"/>
                  </a:lnTo>
                  <a:lnTo>
                    <a:pt x="1047572" y="531533"/>
                  </a:lnTo>
                  <a:lnTo>
                    <a:pt x="1047750" y="523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524499" y="7267574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499" y="1142999"/>
                  </a:moveTo>
                  <a:lnTo>
                    <a:pt x="529461" y="1141452"/>
                  </a:lnTo>
                  <a:lnTo>
                    <a:pt x="487643" y="1136815"/>
                  </a:lnTo>
                  <a:lnTo>
                    <a:pt x="446279" y="1129112"/>
                  </a:lnTo>
                  <a:lnTo>
                    <a:pt x="405602" y="1118390"/>
                  </a:lnTo>
                  <a:lnTo>
                    <a:pt x="365823" y="1104706"/>
                  </a:lnTo>
                  <a:lnTo>
                    <a:pt x="327151" y="1088129"/>
                  </a:lnTo>
                  <a:lnTo>
                    <a:pt x="289804" y="1068752"/>
                  </a:lnTo>
                  <a:lnTo>
                    <a:pt x="253990" y="1046683"/>
                  </a:lnTo>
                  <a:lnTo>
                    <a:pt x="219898" y="1022042"/>
                  </a:lnTo>
                  <a:lnTo>
                    <a:pt x="187703" y="994953"/>
                  </a:lnTo>
                  <a:lnTo>
                    <a:pt x="157589" y="965568"/>
                  </a:lnTo>
                  <a:lnTo>
                    <a:pt x="129724" y="934055"/>
                  </a:lnTo>
                  <a:lnTo>
                    <a:pt x="104252" y="900576"/>
                  </a:lnTo>
                  <a:lnTo>
                    <a:pt x="81307" y="865309"/>
                  </a:lnTo>
                  <a:lnTo>
                    <a:pt x="61020" y="828448"/>
                  </a:lnTo>
                  <a:lnTo>
                    <a:pt x="43502" y="790202"/>
                  </a:lnTo>
                  <a:lnTo>
                    <a:pt x="28845" y="750772"/>
                  </a:lnTo>
                  <a:lnTo>
                    <a:pt x="17126" y="710361"/>
                  </a:lnTo>
                  <a:lnTo>
                    <a:pt x="8412" y="669199"/>
                  </a:lnTo>
                  <a:lnTo>
                    <a:pt x="2752" y="627516"/>
                  </a:lnTo>
                  <a:lnTo>
                    <a:pt x="172" y="585529"/>
                  </a:lnTo>
                  <a:lnTo>
                    <a:pt x="0" y="571499"/>
                  </a:lnTo>
                  <a:lnTo>
                    <a:pt x="172" y="557470"/>
                  </a:lnTo>
                  <a:lnTo>
                    <a:pt x="2752" y="515483"/>
                  </a:lnTo>
                  <a:lnTo>
                    <a:pt x="8412" y="473798"/>
                  </a:lnTo>
                  <a:lnTo>
                    <a:pt x="17126" y="432635"/>
                  </a:lnTo>
                  <a:lnTo>
                    <a:pt x="28845" y="392225"/>
                  </a:lnTo>
                  <a:lnTo>
                    <a:pt x="43502" y="352795"/>
                  </a:lnTo>
                  <a:lnTo>
                    <a:pt x="61020" y="314550"/>
                  </a:lnTo>
                  <a:lnTo>
                    <a:pt x="81307" y="277689"/>
                  </a:lnTo>
                  <a:lnTo>
                    <a:pt x="104252" y="242421"/>
                  </a:lnTo>
                  <a:lnTo>
                    <a:pt x="129724" y="208943"/>
                  </a:lnTo>
                  <a:lnTo>
                    <a:pt x="157589" y="177430"/>
                  </a:lnTo>
                  <a:lnTo>
                    <a:pt x="187703" y="148046"/>
                  </a:lnTo>
                  <a:lnTo>
                    <a:pt x="219898" y="120957"/>
                  </a:lnTo>
                  <a:lnTo>
                    <a:pt x="253990" y="96314"/>
                  </a:lnTo>
                  <a:lnTo>
                    <a:pt x="289804" y="74246"/>
                  </a:lnTo>
                  <a:lnTo>
                    <a:pt x="327151" y="54869"/>
                  </a:lnTo>
                  <a:lnTo>
                    <a:pt x="365823" y="38292"/>
                  </a:lnTo>
                  <a:lnTo>
                    <a:pt x="405602" y="24608"/>
                  </a:lnTo>
                  <a:lnTo>
                    <a:pt x="446279" y="13887"/>
                  </a:lnTo>
                  <a:lnTo>
                    <a:pt x="487643" y="6185"/>
                  </a:lnTo>
                  <a:lnTo>
                    <a:pt x="529461" y="1548"/>
                  </a:lnTo>
                  <a:lnTo>
                    <a:pt x="571499" y="0"/>
                  </a:lnTo>
                  <a:lnTo>
                    <a:pt x="585529" y="172"/>
                  </a:lnTo>
                  <a:lnTo>
                    <a:pt x="627516" y="2752"/>
                  </a:lnTo>
                  <a:lnTo>
                    <a:pt x="669200" y="8412"/>
                  </a:lnTo>
                  <a:lnTo>
                    <a:pt x="710362" y="17126"/>
                  </a:lnTo>
                  <a:lnTo>
                    <a:pt x="750772" y="28845"/>
                  </a:lnTo>
                  <a:lnTo>
                    <a:pt x="790202" y="43502"/>
                  </a:lnTo>
                  <a:lnTo>
                    <a:pt x="828448" y="61020"/>
                  </a:lnTo>
                  <a:lnTo>
                    <a:pt x="865309" y="81307"/>
                  </a:lnTo>
                  <a:lnTo>
                    <a:pt x="900577" y="104251"/>
                  </a:lnTo>
                  <a:lnTo>
                    <a:pt x="934055" y="129724"/>
                  </a:lnTo>
                  <a:lnTo>
                    <a:pt x="965568" y="157589"/>
                  </a:lnTo>
                  <a:lnTo>
                    <a:pt x="994953" y="187703"/>
                  </a:lnTo>
                  <a:lnTo>
                    <a:pt x="1022041" y="219898"/>
                  </a:lnTo>
                  <a:lnTo>
                    <a:pt x="1046683" y="253990"/>
                  </a:lnTo>
                  <a:lnTo>
                    <a:pt x="1068751" y="289804"/>
                  </a:lnTo>
                  <a:lnTo>
                    <a:pt x="1088129" y="327151"/>
                  </a:lnTo>
                  <a:lnTo>
                    <a:pt x="1104706" y="365822"/>
                  </a:lnTo>
                  <a:lnTo>
                    <a:pt x="1118390" y="405601"/>
                  </a:lnTo>
                  <a:lnTo>
                    <a:pt x="1129112" y="446278"/>
                  </a:lnTo>
                  <a:lnTo>
                    <a:pt x="1136814" y="487643"/>
                  </a:lnTo>
                  <a:lnTo>
                    <a:pt x="1141451" y="529462"/>
                  </a:lnTo>
                  <a:lnTo>
                    <a:pt x="1142999" y="571499"/>
                  </a:lnTo>
                  <a:lnTo>
                    <a:pt x="1142827" y="585529"/>
                  </a:lnTo>
                  <a:lnTo>
                    <a:pt x="1140247" y="627516"/>
                  </a:lnTo>
                  <a:lnTo>
                    <a:pt x="1134586" y="669199"/>
                  </a:lnTo>
                  <a:lnTo>
                    <a:pt x="1125872" y="710362"/>
                  </a:lnTo>
                  <a:lnTo>
                    <a:pt x="1114153" y="750771"/>
                  </a:lnTo>
                  <a:lnTo>
                    <a:pt x="1099496" y="790201"/>
                  </a:lnTo>
                  <a:lnTo>
                    <a:pt x="1081978" y="828447"/>
                  </a:lnTo>
                  <a:lnTo>
                    <a:pt x="1061691" y="865308"/>
                  </a:lnTo>
                  <a:lnTo>
                    <a:pt x="1038746" y="900576"/>
                  </a:lnTo>
                  <a:lnTo>
                    <a:pt x="1013274" y="934055"/>
                  </a:lnTo>
                  <a:lnTo>
                    <a:pt x="985409" y="965568"/>
                  </a:lnTo>
                  <a:lnTo>
                    <a:pt x="955295" y="994953"/>
                  </a:lnTo>
                  <a:lnTo>
                    <a:pt x="923101" y="1022042"/>
                  </a:lnTo>
                  <a:lnTo>
                    <a:pt x="889007" y="1046683"/>
                  </a:lnTo>
                  <a:lnTo>
                    <a:pt x="853194" y="1068752"/>
                  </a:lnTo>
                  <a:lnTo>
                    <a:pt x="815847" y="1088129"/>
                  </a:lnTo>
                  <a:lnTo>
                    <a:pt x="777175" y="1104706"/>
                  </a:lnTo>
                  <a:lnTo>
                    <a:pt x="737397" y="1118390"/>
                  </a:lnTo>
                  <a:lnTo>
                    <a:pt x="696720" y="1129112"/>
                  </a:lnTo>
                  <a:lnTo>
                    <a:pt x="655356" y="1136815"/>
                  </a:lnTo>
                  <a:lnTo>
                    <a:pt x="613537" y="1141452"/>
                  </a:lnTo>
                  <a:lnTo>
                    <a:pt x="571499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5690244" y="7499156"/>
            <a:ext cx="811530" cy="60198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400" spc="-80" b="1">
                <a:solidFill>
                  <a:srgbClr val="049569"/>
                </a:solidFill>
                <a:latin typeface="Gill Sans Nova Cond Ultra Bold"/>
                <a:cs typeface="Gill Sans Nova Cond Ultra Bold"/>
              </a:rPr>
              <a:t>29.1%</a:t>
            </a:r>
            <a:endParaRPr sz="2400">
              <a:latin typeface="Gill Sans Nova Cond Ultra Bold"/>
              <a:cs typeface="Gill Sans Nova Cond Ultra Bold"/>
            </a:endParaRPr>
          </a:p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Lower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ITAE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5572125" y="7267574"/>
            <a:ext cx="2524125" cy="1143000"/>
            <a:chOff x="5572125" y="7267574"/>
            <a:chExt cx="2524125" cy="1143000"/>
          </a:xfrm>
        </p:grpSpPr>
        <p:sp>
          <p:nvSpPr>
            <p:cNvPr id="58" name="object 58" descr=""/>
            <p:cNvSpPr/>
            <p:nvPr/>
          </p:nvSpPr>
          <p:spPr>
            <a:xfrm>
              <a:off x="5572112" y="7315199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21653" y="574789"/>
                  </a:moveTo>
                  <a:lnTo>
                    <a:pt x="21475" y="573366"/>
                  </a:lnTo>
                  <a:lnTo>
                    <a:pt x="19659" y="548678"/>
                  </a:lnTo>
                  <a:lnTo>
                    <a:pt x="19050" y="523875"/>
                  </a:lnTo>
                  <a:lnTo>
                    <a:pt x="19164" y="519493"/>
                  </a:lnTo>
                  <a:lnTo>
                    <a:pt x="114" y="519493"/>
                  </a:lnTo>
                  <a:lnTo>
                    <a:pt x="0" y="523875"/>
                  </a:lnTo>
                  <a:lnTo>
                    <a:pt x="635" y="549617"/>
                  </a:lnTo>
                  <a:lnTo>
                    <a:pt x="2527" y="575233"/>
                  </a:lnTo>
                  <a:lnTo>
                    <a:pt x="2705" y="576719"/>
                  </a:lnTo>
                  <a:lnTo>
                    <a:pt x="21653" y="574789"/>
                  </a:lnTo>
                  <a:close/>
                </a:path>
                <a:path w="1047750" h="1047750">
                  <a:moveTo>
                    <a:pt x="28448" y="427139"/>
                  </a:moveTo>
                  <a:lnTo>
                    <a:pt x="9753" y="423481"/>
                  </a:lnTo>
                  <a:lnTo>
                    <a:pt x="5664" y="447040"/>
                  </a:lnTo>
                  <a:lnTo>
                    <a:pt x="2527" y="472528"/>
                  </a:lnTo>
                  <a:lnTo>
                    <a:pt x="1841" y="481850"/>
                  </a:lnTo>
                  <a:lnTo>
                    <a:pt x="20815" y="483387"/>
                  </a:lnTo>
                  <a:lnTo>
                    <a:pt x="20929" y="481850"/>
                  </a:lnTo>
                  <a:lnTo>
                    <a:pt x="21475" y="474395"/>
                  </a:lnTo>
                  <a:lnTo>
                    <a:pt x="24511" y="449834"/>
                  </a:lnTo>
                  <a:lnTo>
                    <a:pt x="28448" y="427139"/>
                  </a:lnTo>
                  <a:close/>
                </a:path>
                <a:path w="1047750" h="1047750">
                  <a:moveTo>
                    <a:pt x="39598" y="666127"/>
                  </a:moveTo>
                  <a:lnTo>
                    <a:pt x="34188" y="646569"/>
                  </a:lnTo>
                  <a:lnTo>
                    <a:pt x="28752" y="622363"/>
                  </a:lnTo>
                  <a:lnTo>
                    <a:pt x="26949" y="611936"/>
                  </a:lnTo>
                  <a:lnTo>
                    <a:pt x="8191" y="615264"/>
                  </a:lnTo>
                  <a:lnTo>
                    <a:pt x="10071" y="626084"/>
                  </a:lnTo>
                  <a:lnTo>
                    <a:pt x="15709" y="651205"/>
                  </a:lnTo>
                  <a:lnTo>
                    <a:pt x="21323" y="671487"/>
                  </a:lnTo>
                  <a:lnTo>
                    <a:pt x="39598" y="666127"/>
                  </a:lnTo>
                  <a:close/>
                </a:path>
                <a:path w="1047750" h="1047750">
                  <a:moveTo>
                    <a:pt x="54711" y="337858"/>
                  </a:moveTo>
                  <a:lnTo>
                    <a:pt x="37007" y="330847"/>
                  </a:lnTo>
                  <a:lnTo>
                    <a:pt x="30619" y="347421"/>
                  </a:lnTo>
                  <a:lnTo>
                    <a:pt x="22555" y="371805"/>
                  </a:lnTo>
                  <a:lnTo>
                    <a:pt x="18427" y="386715"/>
                  </a:lnTo>
                  <a:lnTo>
                    <a:pt x="36817" y="391693"/>
                  </a:lnTo>
                  <a:lnTo>
                    <a:pt x="40792" y="377329"/>
                  </a:lnTo>
                  <a:lnTo>
                    <a:pt x="48552" y="353834"/>
                  </a:lnTo>
                  <a:lnTo>
                    <a:pt x="54711" y="337858"/>
                  </a:lnTo>
                  <a:close/>
                </a:path>
                <a:path w="1047750" h="1047750">
                  <a:moveTo>
                    <a:pt x="74041" y="752665"/>
                  </a:moveTo>
                  <a:lnTo>
                    <a:pt x="67538" y="739749"/>
                  </a:lnTo>
                  <a:lnTo>
                    <a:pt x="57480" y="717067"/>
                  </a:lnTo>
                  <a:lnTo>
                    <a:pt x="51473" y="701497"/>
                  </a:lnTo>
                  <a:lnTo>
                    <a:pt x="33642" y="708190"/>
                  </a:lnTo>
                  <a:lnTo>
                    <a:pt x="39878" y="724357"/>
                  </a:lnTo>
                  <a:lnTo>
                    <a:pt x="50317" y="747890"/>
                  </a:lnTo>
                  <a:lnTo>
                    <a:pt x="57061" y="761301"/>
                  </a:lnTo>
                  <a:lnTo>
                    <a:pt x="74041" y="752665"/>
                  </a:lnTo>
                  <a:close/>
                </a:path>
                <a:path w="1047750" h="1047750">
                  <a:moveTo>
                    <a:pt x="96735" y="255092"/>
                  </a:moveTo>
                  <a:lnTo>
                    <a:pt x="80619" y="244944"/>
                  </a:lnTo>
                  <a:lnTo>
                    <a:pt x="74523" y="254584"/>
                  </a:lnTo>
                  <a:lnTo>
                    <a:pt x="61861" y="276923"/>
                  </a:lnTo>
                  <a:lnTo>
                    <a:pt x="52197" y="296125"/>
                  </a:lnTo>
                  <a:lnTo>
                    <a:pt x="69354" y="304406"/>
                  </a:lnTo>
                  <a:lnTo>
                    <a:pt x="78663" y="285902"/>
                  </a:lnTo>
                  <a:lnTo>
                    <a:pt x="90855" y="264375"/>
                  </a:lnTo>
                  <a:lnTo>
                    <a:pt x="96735" y="255092"/>
                  </a:lnTo>
                  <a:close/>
                </a:path>
                <a:path w="1047750" h="1047750">
                  <a:moveTo>
                    <a:pt x="123761" y="831494"/>
                  </a:moveTo>
                  <a:lnTo>
                    <a:pt x="118414" y="824636"/>
                  </a:lnTo>
                  <a:lnTo>
                    <a:pt x="104140" y="804341"/>
                  </a:lnTo>
                  <a:lnTo>
                    <a:pt x="91960" y="785126"/>
                  </a:lnTo>
                  <a:lnTo>
                    <a:pt x="75666" y="794981"/>
                  </a:lnTo>
                  <a:lnTo>
                    <a:pt x="88290" y="814933"/>
                  </a:lnTo>
                  <a:lnTo>
                    <a:pt x="103111" y="835977"/>
                  </a:lnTo>
                  <a:lnTo>
                    <a:pt x="108673" y="843102"/>
                  </a:lnTo>
                  <a:lnTo>
                    <a:pt x="123761" y="831494"/>
                  </a:lnTo>
                  <a:close/>
                </a:path>
                <a:path w="1047750" h="1047750">
                  <a:moveTo>
                    <a:pt x="153263" y="181254"/>
                  </a:moveTo>
                  <a:lnTo>
                    <a:pt x="139280" y="168325"/>
                  </a:lnTo>
                  <a:lnTo>
                    <a:pt x="135686" y="172085"/>
                  </a:lnTo>
                  <a:lnTo>
                    <a:pt x="118910" y="191528"/>
                  </a:lnTo>
                  <a:lnTo>
                    <a:pt x="103111" y="211785"/>
                  </a:lnTo>
                  <a:lnTo>
                    <a:pt x="102082" y="213258"/>
                  </a:lnTo>
                  <a:lnTo>
                    <a:pt x="117411" y="224548"/>
                  </a:lnTo>
                  <a:lnTo>
                    <a:pt x="118414" y="223126"/>
                  </a:lnTo>
                  <a:lnTo>
                    <a:pt x="133642" y="203619"/>
                  </a:lnTo>
                  <a:lnTo>
                    <a:pt x="149809" y="184886"/>
                  </a:lnTo>
                  <a:lnTo>
                    <a:pt x="153263" y="181254"/>
                  </a:lnTo>
                  <a:close/>
                </a:path>
                <a:path w="1047750" h="1047750">
                  <a:moveTo>
                    <a:pt x="187083" y="899858"/>
                  </a:moveTo>
                  <a:lnTo>
                    <a:pt x="184886" y="897953"/>
                  </a:lnTo>
                  <a:lnTo>
                    <a:pt x="166916" y="880846"/>
                  </a:lnTo>
                  <a:lnTo>
                    <a:pt x="149809" y="862876"/>
                  </a:lnTo>
                  <a:lnTo>
                    <a:pt x="147294" y="859967"/>
                  </a:lnTo>
                  <a:lnTo>
                    <a:pt x="133083" y="872655"/>
                  </a:lnTo>
                  <a:lnTo>
                    <a:pt x="135686" y="875677"/>
                  </a:lnTo>
                  <a:lnTo>
                    <a:pt x="153441" y="894321"/>
                  </a:lnTo>
                  <a:lnTo>
                    <a:pt x="172085" y="912063"/>
                  </a:lnTo>
                  <a:lnTo>
                    <a:pt x="174371" y="914044"/>
                  </a:lnTo>
                  <a:lnTo>
                    <a:pt x="187083" y="899858"/>
                  </a:lnTo>
                  <a:close/>
                </a:path>
                <a:path w="1047750" h="1047750">
                  <a:moveTo>
                    <a:pt x="222491" y="118910"/>
                  </a:moveTo>
                  <a:lnTo>
                    <a:pt x="211124" y="103632"/>
                  </a:lnTo>
                  <a:lnTo>
                    <a:pt x="191541" y="118910"/>
                  </a:lnTo>
                  <a:lnTo>
                    <a:pt x="172085" y="135686"/>
                  </a:lnTo>
                  <a:lnTo>
                    <a:pt x="166395" y="141109"/>
                  </a:lnTo>
                  <a:lnTo>
                    <a:pt x="179400" y="155028"/>
                  </a:lnTo>
                  <a:lnTo>
                    <a:pt x="184886" y="149809"/>
                  </a:lnTo>
                  <a:lnTo>
                    <a:pt x="203619" y="133642"/>
                  </a:lnTo>
                  <a:lnTo>
                    <a:pt x="222491" y="118910"/>
                  </a:lnTo>
                  <a:close/>
                </a:path>
                <a:path w="1047750" h="1047750">
                  <a:moveTo>
                    <a:pt x="261835" y="955294"/>
                  </a:moveTo>
                  <a:lnTo>
                    <a:pt x="243420" y="943622"/>
                  </a:lnTo>
                  <a:lnTo>
                    <a:pt x="223126" y="929347"/>
                  </a:lnTo>
                  <a:lnTo>
                    <a:pt x="215544" y="923417"/>
                  </a:lnTo>
                  <a:lnTo>
                    <a:pt x="203898" y="938491"/>
                  </a:lnTo>
                  <a:lnTo>
                    <a:pt x="211785" y="944638"/>
                  </a:lnTo>
                  <a:lnTo>
                    <a:pt x="232829" y="959472"/>
                  </a:lnTo>
                  <a:lnTo>
                    <a:pt x="251942" y="971575"/>
                  </a:lnTo>
                  <a:lnTo>
                    <a:pt x="261835" y="955294"/>
                  </a:lnTo>
                  <a:close/>
                </a:path>
                <a:path w="1047750" h="1047750">
                  <a:moveTo>
                    <a:pt x="302133" y="70485"/>
                  </a:moveTo>
                  <a:lnTo>
                    <a:pt x="293763" y="53378"/>
                  </a:lnTo>
                  <a:lnTo>
                    <a:pt x="276923" y="61861"/>
                  </a:lnTo>
                  <a:lnTo>
                    <a:pt x="254584" y="74523"/>
                  </a:lnTo>
                  <a:lnTo>
                    <a:pt x="242684" y="82054"/>
                  </a:lnTo>
                  <a:lnTo>
                    <a:pt x="252907" y="98120"/>
                  </a:lnTo>
                  <a:lnTo>
                    <a:pt x="264375" y="90855"/>
                  </a:lnTo>
                  <a:lnTo>
                    <a:pt x="285902" y="78663"/>
                  </a:lnTo>
                  <a:lnTo>
                    <a:pt x="302133" y="70485"/>
                  </a:lnTo>
                  <a:close/>
                </a:path>
                <a:path w="1047750" h="1047750">
                  <a:moveTo>
                    <a:pt x="345376" y="995946"/>
                  </a:moveTo>
                  <a:lnTo>
                    <a:pt x="330669" y="990269"/>
                  </a:lnTo>
                  <a:lnTo>
                    <a:pt x="308013" y="980224"/>
                  </a:lnTo>
                  <a:lnTo>
                    <a:pt x="294259" y="973302"/>
                  </a:lnTo>
                  <a:lnTo>
                    <a:pt x="285597" y="990269"/>
                  </a:lnTo>
                  <a:lnTo>
                    <a:pt x="299859" y="997445"/>
                  </a:lnTo>
                  <a:lnTo>
                    <a:pt x="323405" y="1007872"/>
                  </a:lnTo>
                  <a:lnTo>
                    <a:pt x="338645" y="1013764"/>
                  </a:lnTo>
                  <a:lnTo>
                    <a:pt x="345376" y="995946"/>
                  </a:lnTo>
                  <a:close/>
                </a:path>
                <a:path w="1047750" h="1047750">
                  <a:moveTo>
                    <a:pt x="389255" y="37490"/>
                  </a:moveTo>
                  <a:lnTo>
                    <a:pt x="384175" y="19138"/>
                  </a:lnTo>
                  <a:lnTo>
                    <a:pt x="371805" y="22555"/>
                  </a:lnTo>
                  <a:lnTo>
                    <a:pt x="347421" y="30619"/>
                  </a:lnTo>
                  <a:lnTo>
                    <a:pt x="328422" y="37947"/>
                  </a:lnTo>
                  <a:lnTo>
                    <a:pt x="335521" y="55613"/>
                  </a:lnTo>
                  <a:lnTo>
                    <a:pt x="353834" y="48552"/>
                  </a:lnTo>
                  <a:lnTo>
                    <a:pt x="377342" y="40792"/>
                  </a:lnTo>
                  <a:lnTo>
                    <a:pt x="389255" y="37490"/>
                  </a:lnTo>
                  <a:close/>
                </a:path>
                <a:path w="1047750" h="1047750">
                  <a:moveTo>
                    <a:pt x="434873" y="1020648"/>
                  </a:moveTo>
                  <a:lnTo>
                    <a:pt x="425399" y="1019009"/>
                  </a:lnTo>
                  <a:lnTo>
                    <a:pt x="401193" y="1013574"/>
                  </a:lnTo>
                  <a:lnTo>
                    <a:pt x="380733" y="1007910"/>
                  </a:lnTo>
                  <a:lnTo>
                    <a:pt x="375335" y="1026185"/>
                  </a:lnTo>
                  <a:lnTo>
                    <a:pt x="396557" y="1032052"/>
                  </a:lnTo>
                  <a:lnTo>
                    <a:pt x="421678" y="1037691"/>
                  </a:lnTo>
                  <a:lnTo>
                    <a:pt x="431520" y="1039393"/>
                  </a:lnTo>
                  <a:lnTo>
                    <a:pt x="434873" y="1020648"/>
                  </a:lnTo>
                  <a:close/>
                </a:path>
                <a:path w="1047750" h="1047750">
                  <a:moveTo>
                    <a:pt x="480847" y="21005"/>
                  </a:moveTo>
                  <a:lnTo>
                    <a:pt x="479221" y="2032"/>
                  </a:lnTo>
                  <a:lnTo>
                    <a:pt x="472528" y="2527"/>
                  </a:lnTo>
                  <a:lnTo>
                    <a:pt x="447040" y="5664"/>
                  </a:lnTo>
                  <a:lnTo>
                    <a:pt x="421678" y="10071"/>
                  </a:lnTo>
                  <a:lnTo>
                    <a:pt x="420941" y="10236"/>
                  </a:lnTo>
                  <a:lnTo>
                    <a:pt x="424688" y="28917"/>
                  </a:lnTo>
                  <a:lnTo>
                    <a:pt x="425399" y="28752"/>
                  </a:lnTo>
                  <a:lnTo>
                    <a:pt x="449834" y="24511"/>
                  </a:lnTo>
                  <a:lnTo>
                    <a:pt x="474395" y="21475"/>
                  </a:lnTo>
                  <a:lnTo>
                    <a:pt x="480847" y="21005"/>
                  </a:lnTo>
                  <a:close/>
                </a:path>
                <a:path w="1047750" h="1047750">
                  <a:moveTo>
                    <a:pt x="527342" y="1047673"/>
                  </a:moveTo>
                  <a:lnTo>
                    <a:pt x="527278" y="1028700"/>
                  </a:lnTo>
                  <a:lnTo>
                    <a:pt x="523875" y="1028700"/>
                  </a:lnTo>
                  <a:lnTo>
                    <a:pt x="499084" y="1028103"/>
                  </a:lnTo>
                  <a:lnTo>
                    <a:pt x="474395" y="1026274"/>
                  </a:lnTo>
                  <a:lnTo>
                    <a:pt x="472033" y="1025994"/>
                  </a:lnTo>
                  <a:lnTo>
                    <a:pt x="472008" y="1026274"/>
                  </a:lnTo>
                  <a:lnTo>
                    <a:pt x="470077" y="1044930"/>
                  </a:lnTo>
                  <a:lnTo>
                    <a:pt x="472528" y="1045235"/>
                  </a:lnTo>
                  <a:lnTo>
                    <a:pt x="498144" y="1047127"/>
                  </a:lnTo>
                  <a:lnTo>
                    <a:pt x="520420" y="1047673"/>
                  </a:lnTo>
                  <a:lnTo>
                    <a:pt x="527342" y="1047673"/>
                  </a:lnTo>
                  <a:close/>
                </a:path>
                <a:path w="1047750" h="1047750">
                  <a:moveTo>
                    <a:pt x="579526" y="19215"/>
                  </a:moveTo>
                  <a:lnTo>
                    <a:pt x="530580" y="19215"/>
                  </a:lnTo>
                  <a:lnTo>
                    <a:pt x="548678" y="19659"/>
                  </a:lnTo>
                  <a:lnTo>
                    <a:pt x="573366" y="21475"/>
                  </a:lnTo>
                  <a:lnTo>
                    <a:pt x="579208" y="22199"/>
                  </a:lnTo>
                  <a:lnTo>
                    <a:pt x="579285" y="21475"/>
                  </a:lnTo>
                  <a:lnTo>
                    <a:pt x="579526" y="19215"/>
                  </a:lnTo>
                  <a:close/>
                </a:path>
                <a:path w="1047750" h="1047750">
                  <a:moveTo>
                    <a:pt x="581291" y="3276"/>
                  </a:moveTo>
                  <a:lnTo>
                    <a:pt x="575233" y="2527"/>
                  </a:lnTo>
                  <a:lnTo>
                    <a:pt x="549617" y="635"/>
                  </a:lnTo>
                  <a:lnTo>
                    <a:pt x="523875" y="0"/>
                  </a:lnTo>
                  <a:lnTo>
                    <a:pt x="516877" y="177"/>
                  </a:lnTo>
                  <a:lnTo>
                    <a:pt x="516928" y="3276"/>
                  </a:lnTo>
                  <a:lnTo>
                    <a:pt x="517131" y="19050"/>
                  </a:lnTo>
                  <a:lnTo>
                    <a:pt x="523875" y="19050"/>
                  </a:lnTo>
                  <a:lnTo>
                    <a:pt x="579551" y="19050"/>
                  </a:lnTo>
                  <a:lnTo>
                    <a:pt x="581291" y="3276"/>
                  </a:lnTo>
                  <a:close/>
                </a:path>
                <a:path w="1047750" h="1047750">
                  <a:moveTo>
                    <a:pt x="623341" y="1038161"/>
                  </a:moveTo>
                  <a:lnTo>
                    <a:pt x="619721" y="1019467"/>
                  </a:lnTo>
                  <a:lnTo>
                    <a:pt x="597928" y="1023251"/>
                  </a:lnTo>
                  <a:lnTo>
                    <a:pt x="573366" y="1026274"/>
                  </a:lnTo>
                  <a:lnTo>
                    <a:pt x="563448" y="1027010"/>
                  </a:lnTo>
                  <a:lnTo>
                    <a:pt x="564946" y="1045997"/>
                  </a:lnTo>
                  <a:lnTo>
                    <a:pt x="575233" y="1045235"/>
                  </a:lnTo>
                  <a:lnTo>
                    <a:pt x="600722" y="1042098"/>
                  </a:lnTo>
                  <a:lnTo>
                    <a:pt x="623341" y="1038161"/>
                  </a:lnTo>
                  <a:close/>
                </a:path>
                <a:path w="1047750" h="1047750">
                  <a:moveTo>
                    <a:pt x="675919" y="22555"/>
                  </a:moveTo>
                  <a:lnTo>
                    <a:pt x="651205" y="15709"/>
                  </a:lnTo>
                  <a:lnTo>
                    <a:pt x="626084" y="10071"/>
                  </a:lnTo>
                  <a:lnTo>
                    <a:pt x="619874" y="8991"/>
                  </a:lnTo>
                  <a:lnTo>
                    <a:pt x="616381" y="27711"/>
                  </a:lnTo>
                  <a:lnTo>
                    <a:pt x="622363" y="28752"/>
                  </a:lnTo>
                  <a:lnTo>
                    <a:pt x="646569" y="34188"/>
                  </a:lnTo>
                  <a:lnTo>
                    <a:pt x="670394" y="40779"/>
                  </a:lnTo>
                  <a:lnTo>
                    <a:pt x="675919" y="22555"/>
                  </a:lnTo>
                  <a:close/>
                </a:path>
                <a:path w="1047750" h="1047750">
                  <a:moveTo>
                    <a:pt x="716000" y="1011097"/>
                  </a:moveTo>
                  <a:lnTo>
                    <a:pt x="709015" y="993381"/>
                  </a:lnTo>
                  <a:lnTo>
                    <a:pt x="693928" y="999210"/>
                  </a:lnTo>
                  <a:lnTo>
                    <a:pt x="670420" y="1006970"/>
                  </a:lnTo>
                  <a:lnTo>
                    <a:pt x="655510" y="1011097"/>
                  </a:lnTo>
                  <a:lnTo>
                    <a:pt x="655142" y="1011097"/>
                  </a:lnTo>
                  <a:lnTo>
                    <a:pt x="660120" y="1029589"/>
                  </a:lnTo>
                  <a:lnTo>
                    <a:pt x="675957" y="1025207"/>
                  </a:lnTo>
                  <a:lnTo>
                    <a:pt x="700341" y="1017143"/>
                  </a:lnTo>
                  <a:lnTo>
                    <a:pt x="716000" y="1011097"/>
                  </a:lnTo>
                  <a:close/>
                </a:path>
                <a:path w="1047750" h="1047750">
                  <a:moveTo>
                    <a:pt x="765390" y="59118"/>
                  </a:moveTo>
                  <a:lnTo>
                    <a:pt x="747890" y="50317"/>
                  </a:lnTo>
                  <a:lnTo>
                    <a:pt x="724357" y="39878"/>
                  </a:lnTo>
                  <a:lnTo>
                    <a:pt x="712558" y="35331"/>
                  </a:lnTo>
                  <a:lnTo>
                    <a:pt x="705700" y="53098"/>
                  </a:lnTo>
                  <a:lnTo>
                    <a:pt x="717067" y="57480"/>
                  </a:lnTo>
                  <a:lnTo>
                    <a:pt x="739749" y="67538"/>
                  </a:lnTo>
                  <a:lnTo>
                    <a:pt x="756615" y="76022"/>
                  </a:lnTo>
                  <a:lnTo>
                    <a:pt x="765390" y="59118"/>
                  </a:lnTo>
                  <a:close/>
                </a:path>
                <a:path w="1047750" h="1047750">
                  <a:moveTo>
                    <a:pt x="801979" y="967663"/>
                  </a:moveTo>
                  <a:lnTo>
                    <a:pt x="791870" y="951522"/>
                  </a:lnTo>
                  <a:lnTo>
                    <a:pt x="783386" y="956906"/>
                  </a:lnTo>
                  <a:lnTo>
                    <a:pt x="761860" y="969098"/>
                  </a:lnTo>
                  <a:lnTo>
                    <a:pt x="742518" y="978827"/>
                  </a:lnTo>
                  <a:lnTo>
                    <a:pt x="750773" y="995997"/>
                  </a:lnTo>
                  <a:lnTo>
                    <a:pt x="770839" y="985901"/>
                  </a:lnTo>
                  <a:lnTo>
                    <a:pt x="793178" y="973239"/>
                  </a:lnTo>
                  <a:lnTo>
                    <a:pt x="801979" y="967663"/>
                  </a:lnTo>
                  <a:close/>
                </a:path>
                <a:path w="1047750" h="1047750">
                  <a:moveTo>
                    <a:pt x="846709" y="111480"/>
                  </a:moveTo>
                  <a:lnTo>
                    <a:pt x="835977" y="103111"/>
                  </a:lnTo>
                  <a:lnTo>
                    <a:pt x="814933" y="88290"/>
                  </a:lnTo>
                  <a:lnTo>
                    <a:pt x="798893" y="78143"/>
                  </a:lnTo>
                  <a:lnTo>
                    <a:pt x="788898" y="94348"/>
                  </a:lnTo>
                  <a:lnTo>
                    <a:pt x="804341" y="104140"/>
                  </a:lnTo>
                  <a:lnTo>
                    <a:pt x="824636" y="118414"/>
                  </a:lnTo>
                  <a:lnTo>
                    <a:pt x="834961" y="126479"/>
                  </a:lnTo>
                  <a:lnTo>
                    <a:pt x="846709" y="111480"/>
                  </a:lnTo>
                  <a:close/>
                </a:path>
                <a:path w="1047750" h="1047750">
                  <a:moveTo>
                    <a:pt x="878738" y="909154"/>
                  </a:moveTo>
                  <a:lnTo>
                    <a:pt x="865835" y="895146"/>
                  </a:lnTo>
                  <a:lnTo>
                    <a:pt x="862876" y="897953"/>
                  </a:lnTo>
                  <a:lnTo>
                    <a:pt x="844143" y="914120"/>
                  </a:lnTo>
                  <a:lnTo>
                    <a:pt x="824623" y="929347"/>
                  </a:lnTo>
                  <a:lnTo>
                    <a:pt x="822452" y="930884"/>
                  </a:lnTo>
                  <a:lnTo>
                    <a:pt x="833716" y="946238"/>
                  </a:lnTo>
                  <a:lnTo>
                    <a:pt x="835977" y="944638"/>
                  </a:lnTo>
                  <a:lnTo>
                    <a:pt x="856221" y="928839"/>
                  </a:lnTo>
                  <a:lnTo>
                    <a:pt x="875677" y="912063"/>
                  </a:lnTo>
                  <a:lnTo>
                    <a:pt x="878738" y="909154"/>
                  </a:lnTo>
                  <a:close/>
                </a:path>
                <a:path w="1047750" h="1047750">
                  <a:moveTo>
                    <a:pt x="917041" y="177850"/>
                  </a:moveTo>
                  <a:lnTo>
                    <a:pt x="912075" y="172085"/>
                  </a:lnTo>
                  <a:lnTo>
                    <a:pt x="894321" y="153441"/>
                  </a:lnTo>
                  <a:lnTo>
                    <a:pt x="876109" y="136105"/>
                  </a:lnTo>
                  <a:lnTo>
                    <a:pt x="863307" y="150215"/>
                  </a:lnTo>
                  <a:lnTo>
                    <a:pt x="880846" y="166916"/>
                  </a:lnTo>
                  <a:lnTo>
                    <a:pt x="897953" y="184886"/>
                  </a:lnTo>
                  <a:lnTo>
                    <a:pt x="902754" y="190436"/>
                  </a:lnTo>
                  <a:lnTo>
                    <a:pt x="917041" y="177850"/>
                  </a:lnTo>
                  <a:close/>
                </a:path>
                <a:path w="1047750" h="1047750">
                  <a:moveTo>
                    <a:pt x="943533" y="837399"/>
                  </a:moveTo>
                  <a:lnTo>
                    <a:pt x="928281" y="826008"/>
                  </a:lnTo>
                  <a:lnTo>
                    <a:pt x="914120" y="844143"/>
                  </a:lnTo>
                  <a:lnTo>
                    <a:pt x="897953" y="862876"/>
                  </a:lnTo>
                  <a:lnTo>
                    <a:pt x="892086" y="869035"/>
                  </a:lnTo>
                  <a:lnTo>
                    <a:pt x="905979" y="882065"/>
                  </a:lnTo>
                  <a:lnTo>
                    <a:pt x="912075" y="875677"/>
                  </a:lnTo>
                  <a:lnTo>
                    <a:pt x="928852" y="856221"/>
                  </a:lnTo>
                  <a:lnTo>
                    <a:pt x="943533" y="837399"/>
                  </a:lnTo>
                  <a:close/>
                </a:path>
                <a:path w="1047750" h="1047750">
                  <a:moveTo>
                    <a:pt x="973988" y="255892"/>
                  </a:moveTo>
                  <a:lnTo>
                    <a:pt x="973239" y="254584"/>
                  </a:lnTo>
                  <a:lnTo>
                    <a:pt x="959472" y="232829"/>
                  </a:lnTo>
                  <a:lnTo>
                    <a:pt x="944651" y="211785"/>
                  </a:lnTo>
                  <a:lnTo>
                    <a:pt x="941311" y="207505"/>
                  </a:lnTo>
                  <a:lnTo>
                    <a:pt x="926134" y="219011"/>
                  </a:lnTo>
                  <a:lnTo>
                    <a:pt x="929347" y="223126"/>
                  </a:lnTo>
                  <a:lnTo>
                    <a:pt x="943622" y="243420"/>
                  </a:lnTo>
                  <a:lnTo>
                    <a:pt x="956906" y="264375"/>
                  </a:lnTo>
                  <a:lnTo>
                    <a:pt x="957618" y="265645"/>
                  </a:lnTo>
                  <a:lnTo>
                    <a:pt x="973988" y="255892"/>
                  </a:lnTo>
                  <a:close/>
                </a:path>
                <a:path w="1047750" h="1047750">
                  <a:moveTo>
                    <a:pt x="993940" y="754849"/>
                  </a:moveTo>
                  <a:lnTo>
                    <a:pt x="976858" y="746455"/>
                  </a:lnTo>
                  <a:lnTo>
                    <a:pt x="969098" y="761860"/>
                  </a:lnTo>
                  <a:lnTo>
                    <a:pt x="956906" y="783386"/>
                  </a:lnTo>
                  <a:lnTo>
                    <a:pt x="949134" y="795655"/>
                  </a:lnTo>
                  <a:lnTo>
                    <a:pt x="965187" y="805903"/>
                  </a:lnTo>
                  <a:lnTo>
                    <a:pt x="973239" y="793178"/>
                  </a:lnTo>
                  <a:lnTo>
                    <a:pt x="985901" y="770839"/>
                  </a:lnTo>
                  <a:lnTo>
                    <a:pt x="993940" y="754849"/>
                  </a:lnTo>
                  <a:close/>
                </a:path>
                <a:path w="1047750" h="1047750">
                  <a:moveTo>
                    <a:pt x="1015441" y="343001"/>
                  </a:moveTo>
                  <a:lnTo>
                    <a:pt x="1007872" y="323405"/>
                  </a:lnTo>
                  <a:lnTo>
                    <a:pt x="997445" y="299859"/>
                  </a:lnTo>
                  <a:lnTo>
                    <a:pt x="992327" y="289687"/>
                  </a:lnTo>
                  <a:lnTo>
                    <a:pt x="975283" y="298196"/>
                  </a:lnTo>
                  <a:lnTo>
                    <a:pt x="980224" y="308013"/>
                  </a:lnTo>
                  <a:lnTo>
                    <a:pt x="990282" y="330695"/>
                  </a:lnTo>
                  <a:lnTo>
                    <a:pt x="997559" y="349580"/>
                  </a:lnTo>
                  <a:lnTo>
                    <a:pt x="1015441" y="343001"/>
                  </a:lnTo>
                  <a:close/>
                </a:path>
                <a:path w="1047750" h="1047750">
                  <a:moveTo>
                    <a:pt x="1028369" y="664527"/>
                  </a:moveTo>
                  <a:lnTo>
                    <a:pt x="1010018" y="659409"/>
                  </a:lnTo>
                  <a:lnTo>
                    <a:pt x="1006970" y="670420"/>
                  </a:lnTo>
                  <a:lnTo>
                    <a:pt x="999210" y="693928"/>
                  </a:lnTo>
                  <a:lnTo>
                    <a:pt x="991806" y="713092"/>
                  </a:lnTo>
                  <a:lnTo>
                    <a:pt x="1009472" y="720229"/>
                  </a:lnTo>
                  <a:lnTo>
                    <a:pt x="1017143" y="700341"/>
                  </a:lnTo>
                  <a:lnTo>
                    <a:pt x="1025207" y="675957"/>
                  </a:lnTo>
                  <a:lnTo>
                    <a:pt x="1028369" y="664527"/>
                  </a:lnTo>
                  <a:close/>
                </a:path>
                <a:path w="1047750" h="1047750">
                  <a:moveTo>
                    <a:pt x="1040206" y="436156"/>
                  </a:moveTo>
                  <a:lnTo>
                    <a:pt x="1037691" y="421678"/>
                  </a:lnTo>
                  <a:lnTo>
                    <a:pt x="1032052" y="396557"/>
                  </a:lnTo>
                  <a:lnTo>
                    <a:pt x="1027404" y="379755"/>
                  </a:lnTo>
                  <a:lnTo>
                    <a:pt x="1009091" y="385000"/>
                  </a:lnTo>
                  <a:lnTo>
                    <a:pt x="1013574" y="401193"/>
                  </a:lnTo>
                  <a:lnTo>
                    <a:pt x="1019009" y="425399"/>
                  </a:lnTo>
                  <a:lnTo>
                    <a:pt x="1021422" y="439356"/>
                  </a:lnTo>
                  <a:lnTo>
                    <a:pt x="1040206" y="436156"/>
                  </a:lnTo>
                  <a:close/>
                </a:path>
                <a:path w="1047750" h="1047750">
                  <a:moveTo>
                    <a:pt x="1045667" y="569506"/>
                  </a:moveTo>
                  <a:lnTo>
                    <a:pt x="1026693" y="567842"/>
                  </a:lnTo>
                  <a:lnTo>
                    <a:pt x="1026566" y="569506"/>
                  </a:lnTo>
                  <a:lnTo>
                    <a:pt x="1026274" y="573366"/>
                  </a:lnTo>
                  <a:lnTo>
                    <a:pt x="1023251" y="597928"/>
                  </a:lnTo>
                  <a:lnTo>
                    <a:pt x="1019009" y="622363"/>
                  </a:lnTo>
                  <a:lnTo>
                    <a:pt x="1018641" y="623963"/>
                  </a:lnTo>
                  <a:lnTo>
                    <a:pt x="1037323" y="627735"/>
                  </a:lnTo>
                  <a:lnTo>
                    <a:pt x="1037691" y="626084"/>
                  </a:lnTo>
                  <a:lnTo>
                    <a:pt x="1042098" y="600722"/>
                  </a:lnTo>
                  <a:lnTo>
                    <a:pt x="1045235" y="575233"/>
                  </a:lnTo>
                  <a:lnTo>
                    <a:pt x="1045667" y="569506"/>
                  </a:lnTo>
                  <a:close/>
                </a:path>
                <a:path w="1047750" h="1047750">
                  <a:moveTo>
                    <a:pt x="1047750" y="523875"/>
                  </a:moveTo>
                  <a:lnTo>
                    <a:pt x="1047127" y="498144"/>
                  </a:lnTo>
                  <a:lnTo>
                    <a:pt x="1045400" y="474649"/>
                  </a:lnTo>
                  <a:lnTo>
                    <a:pt x="1026426" y="476440"/>
                  </a:lnTo>
                  <a:lnTo>
                    <a:pt x="1028103" y="499084"/>
                  </a:lnTo>
                  <a:lnTo>
                    <a:pt x="1028700" y="523875"/>
                  </a:lnTo>
                  <a:lnTo>
                    <a:pt x="1028522" y="531533"/>
                  </a:lnTo>
                  <a:lnTo>
                    <a:pt x="1047559" y="531812"/>
                  </a:lnTo>
                  <a:lnTo>
                    <a:pt x="1047572" y="531533"/>
                  </a:lnTo>
                  <a:lnTo>
                    <a:pt x="1047750" y="523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953249" y="7267574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499" y="1142999"/>
                  </a:moveTo>
                  <a:lnTo>
                    <a:pt x="529462" y="1141452"/>
                  </a:lnTo>
                  <a:lnTo>
                    <a:pt x="487643" y="1136815"/>
                  </a:lnTo>
                  <a:lnTo>
                    <a:pt x="446279" y="1129112"/>
                  </a:lnTo>
                  <a:lnTo>
                    <a:pt x="405601" y="1118390"/>
                  </a:lnTo>
                  <a:lnTo>
                    <a:pt x="365822" y="1104706"/>
                  </a:lnTo>
                  <a:lnTo>
                    <a:pt x="327151" y="1088129"/>
                  </a:lnTo>
                  <a:lnTo>
                    <a:pt x="289803" y="1068752"/>
                  </a:lnTo>
                  <a:lnTo>
                    <a:pt x="253990" y="1046683"/>
                  </a:lnTo>
                  <a:lnTo>
                    <a:pt x="219897" y="1022042"/>
                  </a:lnTo>
                  <a:lnTo>
                    <a:pt x="187703" y="994953"/>
                  </a:lnTo>
                  <a:lnTo>
                    <a:pt x="157589" y="965568"/>
                  </a:lnTo>
                  <a:lnTo>
                    <a:pt x="129724" y="934055"/>
                  </a:lnTo>
                  <a:lnTo>
                    <a:pt x="104252" y="900576"/>
                  </a:lnTo>
                  <a:lnTo>
                    <a:pt x="81307" y="865309"/>
                  </a:lnTo>
                  <a:lnTo>
                    <a:pt x="61020" y="828448"/>
                  </a:lnTo>
                  <a:lnTo>
                    <a:pt x="43502" y="790202"/>
                  </a:lnTo>
                  <a:lnTo>
                    <a:pt x="28846" y="750772"/>
                  </a:lnTo>
                  <a:lnTo>
                    <a:pt x="17126" y="710361"/>
                  </a:lnTo>
                  <a:lnTo>
                    <a:pt x="8412" y="669199"/>
                  </a:lnTo>
                  <a:lnTo>
                    <a:pt x="2752" y="627516"/>
                  </a:lnTo>
                  <a:lnTo>
                    <a:pt x="172" y="585529"/>
                  </a:lnTo>
                  <a:lnTo>
                    <a:pt x="0" y="571499"/>
                  </a:lnTo>
                  <a:lnTo>
                    <a:pt x="172" y="557470"/>
                  </a:lnTo>
                  <a:lnTo>
                    <a:pt x="2752" y="515483"/>
                  </a:lnTo>
                  <a:lnTo>
                    <a:pt x="8412" y="473798"/>
                  </a:lnTo>
                  <a:lnTo>
                    <a:pt x="17126" y="432635"/>
                  </a:lnTo>
                  <a:lnTo>
                    <a:pt x="28846" y="392225"/>
                  </a:lnTo>
                  <a:lnTo>
                    <a:pt x="43502" y="352795"/>
                  </a:lnTo>
                  <a:lnTo>
                    <a:pt x="61020" y="314550"/>
                  </a:lnTo>
                  <a:lnTo>
                    <a:pt x="81307" y="277689"/>
                  </a:lnTo>
                  <a:lnTo>
                    <a:pt x="104252" y="242421"/>
                  </a:lnTo>
                  <a:lnTo>
                    <a:pt x="129724" y="208943"/>
                  </a:lnTo>
                  <a:lnTo>
                    <a:pt x="157589" y="177430"/>
                  </a:lnTo>
                  <a:lnTo>
                    <a:pt x="187703" y="148046"/>
                  </a:lnTo>
                  <a:lnTo>
                    <a:pt x="219897" y="120957"/>
                  </a:lnTo>
                  <a:lnTo>
                    <a:pt x="253990" y="96314"/>
                  </a:lnTo>
                  <a:lnTo>
                    <a:pt x="289803" y="74246"/>
                  </a:lnTo>
                  <a:lnTo>
                    <a:pt x="327151" y="54869"/>
                  </a:lnTo>
                  <a:lnTo>
                    <a:pt x="365822" y="38292"/>
                  </a:lnTo>
                  <a:lnTo>
                    <a:pt x="405602" y="24608"/>
                  </a:lnTo>
                  <a:lnTo>
                    <a:pt x="446279" y="13887"/>
                  </a:lnTo>
                  <a:lnTo>
                    <a:pt x="487643" y="6185"/>
                  </a:lnTo>
                  <a:lnTo>
                    <a:pt x="529462" y="1548"/>
                  </a:lnTo>
                  <a:lnTo>
                    <a:pt x="571499" y="0"/>
                  </a:lnTo>
                  <a:lnTo>
                    <a:pt x="585529" y="172"/>
                  </a:lnTo>
                  <a:lnTo>
                    <a:pt x="627516" y="2752"/>
                  </a:lnTo>
                  <a:lnTo>
                    <a:pt x="669199" y="8412"/>
                  </a:lnTo>
                  <a:lnTo>
                    <a:pt x="710362" y="17126"/>
                  </a:lnTo>
                  <a:lnTo>
                    <a:pt x="750772" y="28845"/>
                  </a:lnTo>
                  <a:lnTo>
                    <a:pt x="790202" y="43502"/>
                  </a:lnTo>
                  <a:lnTo>
                    <a:pt x="828448" y="61020"/>
                  </a:lnTo>
                  <a:lnTo>
                    <a:pt x="865309" y="81307"/>
                  </a:lnTo>
                  <a:lnTo>
                    <a:pt x="900576" y="104251"/>
                  </a:lnTo>
                  <a:lnTo>
                    <a:pt x="934055" y="129724"/>
                  </a:lnTo>
                  <a:lnTo>
                    <a:pt x="965568" y="157589"/>
                  </a:lnTo>
                  <a:lnTo>
                    <a:pt x="994953" y="187703"/>
                  </a:lnTo>
                  <a:lnTo>
                    <a:pt x="1022041" y="219898"/>
                  </a:lnTo>
                  <a:lnTo>
                    <a:pt x="1046683" y="253990"/>
                  </a:lnTo>
                  <a:lnTo>
                    <a:pt x="1068752" y="289804"/>
                  </a:lnTo>
                  <a:lnTo>
                    <a:pt x="1088129" y="327151"/>
                  </a:lnTo>
                  <a:lnTo>
                    <a:pt x="1104706" y="365822"/>
                  </a:lnTo>
                  <a:lnTo>
                    <a:pt x="1118391" y="405601"/>
                  </a:lnTo>
                  <a:lnTo>
                    <a:pt x="1129112" y="446278"/>
                  </a:lnTo>
                  <a:lnTo>
                    <a:pt x="1136814" y="487643"/>
                  </a:lnTo>
                  <a:lnTo>
                    <a:pt x="1141452" y="529462"/>
                  </a:lnTo>
                  <a:lnTo>
                    <a:pt x="1142999" y="571499"/>
                  </a:lnTo>
                  <a:lnTo>
                    <a:pt x="1142828" y="585529"/>
                  </a:lnTo>
                  <a:lnTo>
                    <a:pt x="1140248" y="627516"/>
                  </a:lnTo>
                  <a:lnTo>
                    <a:pt x="1134586" y="669199"/>
                  </a:lnTo>
                  <a:lnTo>
                    <a:pt x="1125872" y="710362"/>
                  </a:lnTo>
                  <a:lnTo>
                    <a:pt x="1114153" y="750771"/>
                  </a:lnTo>
                  <a:lnTo>
                    <a:pt x="1099496" y="790201"/>
                  </a:lnTo>
                  <a:lnTo>
                    <a:pt x="1081979" y="828447"/>
                  </a:lnTo>
                  <a:lnTo>
                    <a:pt x="1061691" y="865308"/>
                  </a:lnTo>
                  <a:lnTo>
                    <a:pt x="1038746" y="900576"/>
                  </a:lnTo>
                  <a:lnTo>
                    <a:pt x="1013274" y="934055"/>
                  </a:lnTo>
                  <a:lnTo>
                    <a:pt x="985409" y="965568"/>
                  </a:lnTo>
                  <a:lnTo>
                    <a:pt x="955295" y="994953"/>
                  </a:lnTo>
                  <a:lnTo>
                    <a:pt x="923100" y="1022042"/>
                  </a:lnTo>
                  <a:lnTo>
                    <a:pt x="889007" y="1046683"/>
                  </a:lnTo>
                  <a:lnTo>
                    <a:pt x="853194" y="1068752"/>
                  </a:lnTo>
                  <a:lnTo>
                    <a:pt x="815847" y="1088129"/>
                  </a:lnTo>
                  <a:lnTo>
                    <a:pt x="777174" y="1104706"/>
                  </a:lnTo>
                  <a:lnTo>
                    <a:pt x="737396" y="1118390"/>
                  </a:lnTo>
                  <a:lnTo>
                    <a:pt x="696719" y="1129112"/>
                  </a:lnTo>
                  <a:lnTo>
                    <a:pt x="655355" y="1136815"/>
                  </a:lnTo>
                  <a:lnTo>
                    <a:pt x="613537" y="1141452"/>
                  </a:lnTo>
                  <a:lnTo>
                    <a:pt x="571499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7084020" y="7499156"/>
            <a:ext cx="881380" cy="60198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2400" spc="-25" b="1">
                <a:solidFill>
                  <a:srgbClr val="7C3AEC"/>
                </a:solidFill>
                <a:latin typeface="Gill Sans Nova"/>
                <a:cs typeface="Gill Sans Nova"/>
              </a:rPr>
              <a:t>45%</a:t>
            </a:r>
            <a:endParaRPr sz="2400">
              <a:latin typeface="Gill Sans Nova"/>
              <a:cs typeface="Gill Sans Nov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Faster</a:t>
            </a:r>
            <a:r>
              <a:rPr dirty="0" sz="115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4A5462"/>
                </a:solidFill>
                <a:latin typeface="Roboto"/>
                <a:cs typeface="Roboto"/>
              </a:rPr>
              <a:t>Settling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7000875" y="7315200"/>
            <a:ext cx="5000625" cy="1447800"/>
            <a:chOff x="7000875" y="7315200"/>
            <a:chExt cx="5000625" cy="1447800"/>
          </a:xfrm>
        </p:grpSpPr>
        <p:sp>
          <p:nvSpPr>
            <p:cNvPr id="62" name="object 62" descr=""/>
            <p:cNvSpPr/>
            <p:nvPr/>
          </p:nvSpPr>
          <p:spPr>
            <a:xfrm>
              <a:off x="7000862" y="7315200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21653" y="574789"/>
                  </a:moveTo>
                  <a:lnTo>
                    <a:pt x="21475" y="573366"/>
                  </a:lnTo>
                  <a:lnTo>
                    <a:pt x="19659" y="548678"/>
                  </a:lnTo>
                  <a:lnTo>
                    <a:pt x="19050" y="523875"/>
                  </a:lnTo>
                  <a:lnTo>
                    <a:pt x="19164" y="519480"/>
                  </a:lnTo>
                  <a:lnTo>
                    <a:pt x="114" y="519480"/>
                  </a:lnTo>
                  <a:lnTo>
                    <a:pt x="0" y="523875"/>
                  </a:lnTo>
                  <a:lnTo>
                    <a:pt x="635" y="549617"/>
                  </a:lnTo>
                  <a:lnTo>
                    <a:pt x="2527" y="575233"/>
                  </a:lnTo>
                  <a:lnTo>
                    <a:pt x="2705" y="576719"/>
                  </a:lnTo>
                  <a:lnTo>
                    <a:pt x="21653" y="574789"/>
                  </a:lnTo>
                  <a:close/>
                </a:path>
                <a:path w="1047750" h="1047750">
                  <a:moveTo>
                    <a:pt x="28448" y="427139"/>
                  </a:moveTo>
                  <a:lnTo>
                    <a:pt x="9753" y="423481"/>
                  </a:lnTo>
                  <a:lnTo>
                    <a:pt x="5664" y="447040"/>
                  </a:lnTo>
                  <a:lnTo>
                    <a:pt x="2527" y="472528"/>
                  </a:lnTo>
                  <a:lnTo>
                    <a:pt x="1841" y="481850"/>
                  </a:lnTo>
                  <a:lnTo>
                    <a:pt x="20815" y="483387"/>
                  </a:lnTo>
                  <a:lnTo>
                    <a:pt x="20929" y="481850"/>
                  </a:lnTo>
                  <a:lnTo>
                    <a:pt x="21475" y="474395"/>
                  </a:lnTo>
                  <a:lnTo>
                    <a:pt x="24511" y="449834"/>
                  </a:lnTo>
                  <a:lnTo>
                    <a:pt x="28448" y="427139"/>
                  </a:lnTo>
                  <a:close/>
                </a:path>
                <a:path w="1047750" h="1047750">
                  <a:moveTo>
                    <a:pt x="39598" y="666127"/>
                  </a:moveTo>
                  <a:lnTo>
                    <a:pt x="34188" y="646569"/>
                  </a:lnTo>
                  <a:lnTo>
                    <a:pt x="28752" y="622363"/>
                  </a:lnTo>
                  <a:lnTo>
                    <a:pt x="26949" y="611936"/>
                  </a:lnTo>
                  <a:lnTo>
                    <a:pt x="8191" y="615264"/>
                  </a:lnTo>
                  <a:lnTo>
                    <a:pt x="10071" y="626084"/>
                  </a:lnTo>
                  <a:lnTo>
                    <a:pt x="15709" y="651205"/>
                  </a:lnTo>
                  <a:lnTo>
                    <a:pt x="21323" y="671487"/>
                  </a:lnTo>
                  <a:lnTo>
                    <a:pt x="39598" y="666127"/>
                  </a:lnTo>
                  <a:close/>
                </a:path>
                <a:path w="1047750" h="1047750">
                  <a:moveTo>
                    <a:pt x="54711" y="337858"/>
                  </a:moveTo>
                  <a:lnTo>
                    <a:pt x="37007" y="330847"/>
                  </a:lnTo>
                  <a:lnTo>
                    <a:pt x="30619" y="347421"/>
                  </a:lnTo>
                  <a:lnTo>
                    <a:pt x="22555" y="371805"/>
                  </a:lnTo>
                  <a:lnTo>
                    <a:pt x="18427" y="386715"/>
                  </a:lnTo>
                  <a:lnTo>
                    <a:pt x="36817" y="391693"/>
                  </a:lnTo>
                  <a:lnTo>
                    <a:pt x="40792" y="377329"/>
                  </a:lnTo>
                  <a:lnTo>
                    <a:pt x="48552" y="353834"/>
                  </a:lnTo>
                  <a:lnTo>
                    <a:pt x="54711" y="337858"/>
                  </a:lnTo>
                  <a:close/>
                </a:path>
                <a:path w="1047750" h="1047750">
                  <a:moveTo>
                    <a:pt x="74041" y="752665"/>
                  </a:moveTo>
                  <a:lnTo>
                    <a:pt x="67538" y="739749"/>
                  </a:lnTo>
                  <a:lnTo>
                    <a:pt x="57480" y="717067"/>
                  </a:lnTo>
                  <a:lnTo>
                    <a:pt x="51473" y="701484"/>
                  </a:lnTo>
                  <a:lnTo>
                    <a:pt x="33642" y="708190"/>
                  </a:lnTo>
                  <a:lnTo>
                    <a:pt x="39878" y="724357"/>
                  </a:lnTo>
                  <a:lnTo>
                    <a:pt x="50317" y="747890"/>
                  </a:lnTo>
                  <a:lnTo>
                    <a:pt x="57061" y="761301"/>
                  </a:lnTo>
                  <a:lnTo>
                    <a:pt x="74041" y="752665"/>
                  </a:lnTo>
                  <a:close/>
                </a:path>
                <a:path w="1047750" h="1047750">
                  <a:moveTo>
                    <a:pt x="96735" y="255092"/>
                  </a:moveTo>
                  <a:lnTo>
                    <a:pt x="80619" y="244944"/>
                  </a:lnTo>
                  <a:lnTo>
                    <a:pt x="74523" y="254584"/>
                  </a:lnTo>
                  <a:lnTo>
                    <a:pt x="61861" y="276923"/>
                  </a:lnTo>
                  <a:lnTo>
                    <a:pt x="52197" y="296125"/>
                  </a:lnTo>
                  <a:lnTo>
                    <a:pt x="69354" y="304406"/>
                  </a:lnTo>
                  <a:lnTo>
                    <a:pt x="78663" y="285902"/>
                  </a:lnTo>
                  <a:lnTo>
                    <a:pt x="90855" y="264375"/>
                  </a:lnTo>
                  <a:lnTo>
                    <a:pt x="96735" y="255092"/>
                  </a:lnTo>
                  <a:close/>
                </a:path>
                <a:path w="1047750" h="1047750">
                  <a:moveTo>
                    <a:pt x="123761" y="831494"/>
                  </a:moveTo>
                  <a:lnTo>
                    <a:pt x="118414" y="824636"/>
                  </a:lnTo>
                  <a:lnTo>
                    <a:pt x="104140" y="804341"/>
                  </a:lnTo>
                  <a:lnTo>
                    <a:pt x="91960" y="785126"/>
                  </a:lnTo>
                  <a:lnTo>
                    <a:pt x="75666" y="794981"/>
                  </a:lnTo>
                  <a:lnTo>
                    <a:pt x="88290" y="814933"/>
                  </a:lnTo>
                  <a:lnTo>
                    <a:pt x="103111" y="835977"/>
                  </a:lnTo>
                  <a:lnTo>
                    <a:pt x="108673" y="843102"/>
                  </a:lnTo>
                  <a:lnTo>
                    <a:pt x="123761" y="831494"/>
                  </a:lnTo>
                  <a:close/>
                </a:path>
                <a:path w="1047750" h="1047750">
                  <a:moveTo>
                    <a:pt x="153263" y="181254"/>
                  </a:moveTo>
                  <a:lnTo>
                    <a:pt x="139280" y="168325"/>
                  </a:lnTo>
                  <a:lnTo>
                    <a:pt x="135686" y="172085"/>
                  </a:lnTo>
                  <a:lnTo>
                    <a:pt x="118910" y="191528"/>
                  </a:lnTo>
                  <a:lnTo>
                    <a:pt x="103111" y="211785"/>
                  </a:lnTo>
                  <a:lnTo>
                    <a:pt x="102082" y="213258"/>
                  </a:lnTo>
                  <a:lnTo>
                    <a:pt x="117411" y="224548"/>
                  </a:lnTo>
                  <a:lnTo>
                    <a:pt x="118414" y="223126"/>
                  </a:lnTo>
                  <a:lnTo>
                    <a:pt x="133642" y="203619"/>
                  </a:lnTo>
                  <a:lnTo>
                    <a:pt x="149809" y="184886"/>
                  </a:lnTo>
                  <a:lnTo>
                    <a:pt x="153263" y="181254"/>
                  </a:lnTo>
                  <a:close/>
                </a:path>
                <a:path w="1047750" h="1047750">
                  <a:moveTo>
                    <a:pt x="187083" y="899858"/>
                  </a:moveTo>
                  <a:lnTo>
                    <a:pt x="184886" y="897953"/>
                  </a:lnTo>
                  <a:lnTo>
                    <a:pt x="166916" y="880846"/>
                  </a:lnTo>
                  <a:lnTo>
                    <a:pt x="149809" y="862876"/>
                  </a:lnTo>
                  <a:lnTo>
                    <a:pt x="147294" y="859967"/>
                  </a:lnTo>
                  <a:lnTo>
                    <a:pt x="133083" y="872655"/>
                  </a:lnTo>
                  <a:lnTo>
                    <a:pt x="135686" y="875677"/>
                  </a:lnTo>
                  <a:lnTo>
                    <a:pt x="153441" y="894321"/>
                  </a:lnTo>
                  <a:lnTo>
                    <a:pt x="172085" y="912063"/>
                  </a:lnTo>
                  <a:lnTo>
                    <a:pt x="174371" y="914044"/>
                  </a:lnTo>
                  <a:lnTo>
                    <a:pt x="187083" y="899858"/>
                  </a:lnTo>
                  <a:close/>
                </a:path>
                <a:path w="1047750" h="1047750">
                  <a:moveTo>
                    <a:pt x="222491" y="118910"/>
                  </a:moveTo>
                  <a:lnTo>
                    <a:pt x="211124" y="103632"/>
                  </a:lnTo>
                  <a:lnTo>
                    <a:pt x="191528" y="118910"/>
                  </a:lnTo>
                  <a:lnTo>
                    <a:pt x="172085" y="135686"/>
                  </a:lnTo>
                  <a:lnTo>
                    <a:pt x="166395" y="141109"/>
                  </a:lnTo>
                  <a:lnTo>
                    <a:pt x="179400" y="155028"/>
                  </a:lnTo>
                  <a:lnTo>
                    <a:pt x="184886" y="149809"/>
                  </a:lnTo>
                  <a:lnTo>
                    <a:pt x="203619" y="133642"/>
                  </a:lnTo>
                  <a:lnTo>
                    <a:pt x="222491" y="118910"/>
                  </a:lnTo>
                  <a:close/>
                </a:path>
                <a:path w="1047750" h="1047750">
                  <a:moveTo>
                    <a:pt x="261835" y="955294"/>
                  </a:moveTo>
                  <a:lnTo>
                    <a:pt x="243408" y="943622"/>
                  </a:lnTo>
                  <a:lnTo>
                    <a:pt x="223126" y="929347"/>
                  </a:lnTo>
                  <a:lnTo>
                    <a:pt x="215544" y="923417"/>
                  </a:lnTo>
                  <a:lnTo>
                    <a:pt x="203898" y="938491"/>
                  </a:lnTo>
                  <a:lnTo>
                    <a:pt x="211785" y="944638"/>
                  </a:lnTo>
                  <a:lnTo>
                    <a:pt x="232829" y="959472"/>
                  </a:lnTo>
                  <a:lnTo>
                    <a:pt x="251942" y="971575"/>
                  </a:lnTo>
                  <a:lnTo>
                    <a:pt x="261835" y="955294"/>
                  </a:lnTo>
                  <a:close/>
                </a:path>
                <a:path w="1047750" h="1047750">
                  <a:moveTo>
                    <a:pt x="302133" y="70485"/>
                  </a:moveTo>
                  <a:lnTo>
                    <a:pt x="293763" y="53378"/>
                  </a:lnTo>
                  <a:lnTo>
                    <a:pt x="276923" y="61861"/>
                  </a:lnTo>
                  <a:lnTo>
                    <a:pt x="254584" y="74523"/>
                  </a:lnTo>
                  <a:lnTo>
                    <a:pt x="242684" y="82054"/>
                  </a:lnTo>
                  <a:lnTo>
                    <a:pt x="252907" y="98120"/>
                  </a:lnTo>
                  <a:lnTo>
                    <a:pt x="264375" y="90855"/>
                  </a:lnTo>
                  <a:lnTo>
                    <a:pt x="285902" y="78663"/>
                  </a:lnTo>
                  <a:lnTo>
                    <a:pt x="302133" y="70485"/>
                  </a:lnTo>
                  <a:close/>
                </a:path>
                <a:path w="1047750" h="1047750">
                  <a:moveTo>
                    <a:pt x="345376" y="995946"/>
                  </a:moveTo>
                  <a:lnTo>
                    <a:pt x="330669" y="990269"/>
                  </a:lnTo>
                  <a:lnTo>
                    <a:pt x="308013" y="980224"/>
                  </a:lnTo>
                  <a:lnTo>
                    <a:pt x="294259" y="973302"/>
                  </a:lnTo>
                  <a:lnTo>
                    <a:pt x="285597" y="990269"/>
                  </a:lnTo>
                  <a:lnTo>
                    <a:pt x="299859" y="997445"/>
                  </a:lnTo>
                  <a:lnTo>
                    <a:pt x="323405" y="1007872"/>
                  </a:lnTo>
                  <a:lnTo>
                    <a:pt x="338645" y="1013764"/>
                  </a:lnTo>
                  <a:lnTo>
                    <a:pt x="345376" y="995946"/>
                  </a:lnTo>
                  <a:close/>
                </a:path>
                <a:path w="1047750" h="1047750">
                  <a:moveTo>
                    <a:pt x="389255" y="37490"/>
                  </a:moveTo>
                  <a:lnTo>
                    <a:pt x="384175" y="19138"/>
                  </a:lnTo>
                  <a:lnTo>
                    <a:pt x="371805" y="22555"/>
                  </a:lnTo>
                  <a:lnTo>
                    <a:pt x="347421" y="30619"/>
                  </a:lnTo>
                  <a:lnTo>
                    <a:pt x="328422" y="37947"/>
                  </a:lnTo>
                  <a:lnTo>
                    <a:pt x="335521" y="55613"/>
                  </a:lnTo>
                  <a:lnTo>
                    <a:pt x="353834" y="48552"/>
                  </a:lnTo>
                  <a:lnTo>
                    <a:pt x="377329" y="40792"/>
                  </a:lnTo>
                  <a:lnTo>
                    <a:pt x="389255" y="37490"/>
                  </a:lnTo>
                  <a:close/>
                </a:path>
                <a:path w="1047750" h="1047750">
                  <a:moveTo>
                    <a:pt x="434873" y="1020648"/>
                  </a:moveTo>
                  <a:lnTo>
                    <a:pt x="425399" y="1019009"/>
                  </a:lnTo>
                  <a:lnTo>
                    <a:pt x="401193" y="1013574"/>
                  </a:lnTo>
                  <a:lnTo>
                    <a:pt x="380733" y="1007910"/>
                  </a:lnTo>
                  <a:lnTo>
                    <a:pt x="375335" y="1026185"/>
                  </a:lnTo>
                  <a:lnTo>
                    <a:pt x="396557" y="1032052"/>
                  </a:lnTo>
                  <a:lnTo>
                    <a:pt x="421678" y="1037691"/>
                  </a:lnTo>
                  <a:lnTo>
                    <a:pt x="431520" y="1039393"/>
                  </a:lnTo>
                  <a:lnTo>
                    <a:pt x="434873" y="1020648"/>
                  </a:lnTo>
                  <a:close/>
                </a:path>
                <a:path w="1047750" h="1047750">
                  <a:moveTo>
                    <a:pt x="480847" y="21005"/>
                  </a:moveTo>
                  <a:lnTo>
                    <a:pt x="479221" y="2032"/>
                  </a:lnTo>
                  <a:lnTo>
                    <a:pt x="472528" y="2527"/>
                  </a:lnTo>
                  <a:lnTo>
                    <a:pt x="447040" y="5664"/>
                  </a:lnTo>
                  <a:lnTo>
                    <a:pt x="421678" y="10071"/>
                  </a:lnTo>
                  <a:lnTo>
                    <a:pt x="420941" y="10236"/>
                  </a:lnTo>
                  <a:lnTo>
                    <a:pt x="424688" y="28917"/>
                  </a:lnTo>
                  <a:lnTo>
                    <a:pt x="425399" y="28752"/>
                  </a:lnTo>
                  <a:lnTo>
                    <a:pt x="449834" y="24511"/>
                  </a:lnTo>
                  <a:lnTo>
                    <a:pt x="474395" y="21475"/>
                  </a:lnTo>
                  <a:lnTo>
                    <a:pt x="480847" y="21005"/>
                  </a:lnTo>
                  <a:close/>
                </a:path>
                <a:path w="1047750" h="1047750">
                  <a:moveTo>
                    <a:pt x="527342" y="1047673"/>
                  </a:moveTo>
                  <a:lnTo>
                    <a:pt x="527278" y="1028700"/>
                  </a:lnTo>
                  <a:lnTo>
                    <a:pt x="523875" y="1028700"/>
                  </a:lnTo>
                  <a:lnTo>
                    <a:pt x="499084" y="1028103"/>
                  </a:lnTo>
                  <a:lnTo>
                    <a:pt x="474395" y="1026274"/>
                  </a:lnTo>
                  <a:lnTo>
                    <a:pt x="472033" y="1025994"/>
                  </a:lnTo>
                  <a:lnTo>
                    <a:pt x="472008" y="1026274"/>
                  </a:lnTo>
                  <a:lnTo>
                    <a:pt x="470077" y="1044930"/>
                  </a:lnTo>
                  <a:lnTo>
                    <a:pt x="472528" y="1045235"/>
                  </a:lnTo>
                  <a:lnTo>
                    <a:pt x="498144" y="1047127"/>
                  </a:lnTo>
                  <a:lnTo>
                    <a:pt x="520420" y="1047673"/>
                  </a:lnTo>
                  <a:lnTo>
                    <a:pt x="527342" y="1047673"/>
                  </a:lnTo>
                  <a:close/>
                </a:path>
                <a:path w="1047750" h="1047750">
                  <a:moveTo>
                    <a:pt x="579526" y="19215"/>
                  </a:moveTo>
                  <a:lnTo>
                    <a:pt x="530580" y="19215"/>
                  </a:lnTo>
                  <a:lnTo>
                    <a:pt x="548678" y="19659"/>
                  </a:lnTo>
                  <a:lnTo>
                    <a:pt x="573366" y="21475"/>
                  </a:lnTo>
                  <a:lnTo>
                    <a:pt x="579208" y="22199"/>
                  </a:lnTo>
                  <a:lnTo>
                    <a:pt x="579285" y="21475"/>
                  </a:lnTo>
                  <a:lnTo>
                    <a:pt x="579526" y="19215"/>
                  </a:lnTo>
                  <a:close/>
                </a:path>
                <a:path w="1047750" h="1047750">
                  <a:moveTo>
                    <a:pt x="581291" y="3276"/>
                  </a:moveTo>
                  <a:lnTo>
                    <a:pt x="575233" y="2527"/>
                  </a:lnTo>
                  <a:lnTo>
                    <a:pt x="549617" y="635"/>
                  </a:lnTo>
                  <a:lnTo>
                    <a:pt x="523875" y="0"/>
                  </a:lnTo>
                  <a:lnTo>
                    <a:pt x="516877" y="177"/>
                  </a:lnTo>
                  <a:lnTo>
                    <a:pt x="516928" y="3276"/>
                  </a:lnTo>
                  <a:lnTo>
                    <a:pt x="517131" y="19050"/>
                  </a:lnTo>
                  <a:lnTo>
                    <a:pt x="523875" y="19050"/>
                  </a:lnTo>
                  <a:lnTo>
                    <a:pt x="579551" y="19050"/>
                  </a:lnTo>
                  <a:lnTo>
                    <a:pt x="581291" y="3276"/>
                  </a:lnTo>
                  <a:close/>
                </a:path>
                <a:path w="1047750" h="1047750">
                  <a:moveTo>
                    <a:pt x="623341" y="1038161"/>
                  </a:moveTo>
                  <a:lnTo>
                    <a:pt x="619721" y="1019467"/>
                  </a:lnTo>
                  <a:lnTo>
                    <a:pt x="597928" y="1023251"/>
                  </a:lnTo>
                  <a:lnTo>
                    <a:pt x="573366" y="1026274"/>
                  </a:lnTo>
                  <a:lnTo>
                    <a:pt x="563448" y="1027010"/>
                  </a:lnTo>
                  <a:lnTo>
                    <a:pt x="564946" y="1045997"/>
                  </a:lnTo>
                  <a:lnTo>
                    <a:pt x="575233" y="1045235"/>
                  </a:lnTo>
                  <a:lnTo>
                    <a:pt x="600722" y="1042098"/>
                  </a:lnTo>
                  <a:lnTo>
                    <a:pt x="623341" y="1038161"/>
                  </a:lnTo>
                  <a:close/>
                </a:path>
                <a:path w="1047750" h="1047750">
                  <a:moveTo>
                    <a:pt x="675919" y="22555"/>
                  </a:moveTo>
                  <a:lnTo>
                    <a:pt x="651205" y="15709"/>
                  </a:lnTo>
                  <a:lnTo>
                    <a:pt x="626084" y="10071"/>
                  </a:lnTo>
                  <a:lnTo>
                    <a:pt x="619874" y="8991"/>
                  </a:lnTo>
                  <a:lnTo>
                    <a:pt x="616381" y="27711"/>
                  </a:lnTo>
                  <a:lnTo>
                    <a:pt x="622363" y="28752"/>
                  </a:lnTo>
                  <a:lnTo>
                    <a:pt x="646569" y="34188"/>
                  </a:lnTo>
                  <a:lnTo>
                    <a:pt x="670394" y="40779"/>
                  </a:lnTo>
                  <a:lnTo>
                    <a:pt x="675919" y="22555"/>
                  </a:lnTo>
                  <a:close/>
                </a:path>
                <a:path w="1047750" h="1047750">
                  <a:moveTo>
                    <a:pt x="716000" y="1011097"/>
                  </a:moveTo>
                  <a:lnTo>
                    <a:pt x="709015" y="993381"/>
                  </a:lnTo>
                  <a:lnTo>
                    <a:pt x="693928" y="999210"/>
                  </a:lnTo>
                  <a:lnTo>
                    <a:pt x="670420" y="1006970"/>
                  </a:lnTo>
                  <a:lnTo>
                    <a:pt x="655510" y="1011097"/>
                  </a:lnTo>
                  <a:lnTo>
                    <a:pt x="655142" y="1011097"/>
                  </a:lnTo>
                  <a:lnTo>
                    <a:pt x="660120" y="1029589"/>
                  </a:lnTo>
                  <a:lnTo>
                    <a:pt x="675957" y="1025207"/>
                  </a:lnTo>
                  <a:lnTo>
                    <a:pt x="700341" y="1017143"/>
                  </a:lnTo>
                  <a:lnTo>
                    <a:pt x="716000" y="1011097"/>
                  </a:lnTo>
                  <a:close/>
                </a:path>
                <a:path w="1047750" h="1047750">
                  <a:moveTo>
                    <a:pt x="765390" y="59118"/>
                  </a:moveTo>
                  <a:lnTo>
                    <a:pt x="747890" y="50317"/>
                  </a:lnTo>
                  <a:lnTo>
                    <a:pt x="724357" y="39878"/>
                  </a:lnTo>
                  <a:lnTo>
                    <a:pt x="712558" y="35331"/>
                  </a:lnTo>
                  <a:lnTo>
                    <a:pt x="705700" y="53098"/>
                  </a:lnTo>
                  <a:lnTo>
                    <a:pt x="717067" y="57480"/>
                  </a:lnTo>
                  <a:lnTo>
                    <a:pt x="739749" y="67538"/>
                  </a:lnTo>
                  <a:lnTo>
                    <a:pt x="756615" y="76022"/>
                  </a:lnTo>
                  <a:lnTo>
                    <a:pt x="765390" y="59118"/>
                  </a:lnTo>
                  <a:close/>
                </a:path>
                <a:path w="1047750" h="1047750">
                  <a:moveTo>
                    <a:pt x="801979" y="967663"/>
                  </a:moveTo>
                  <a:lnTo>
                    <a:pt x="791870" y="951522"/>
                  </a:lnTo>
                  <a:lnTo>
                    <a:pt x="783386" y="956906"/>
                  </a:lnTo>
                  <a:lnTo>
                    <a:pt x="761860" y="969098"/>
                  </a:lnTo>
                  <a:lnTo>
                    <a:pt x="742518" y="978827"/>
                  </a:lnTo>
                  <a:lnTo>
                    <a:pt x="750773" y="995997"/>
                  </a:lnTo>
                  <a:lnTo>
                    <a:pt x="770839" y="985901"/>
                  </a:lnTo>
                  <a:lnTo>
                    <a:pt x="793178" y="973239"/>
                  </a:lnTo>
                  <a:lnTo>
                    <a:pt x="801979" y="967663"/>
                  </a:lnTo>
                  <a:close/>
                </a:path>
                <a:path w="1047750" h="1047750">
                  <a:moveTo>
                    <a:pt x="846709" y="111480"/>
                  </a:moveTo>
                  <a:lnTo>
                    <a:pt x="835977" y="103111"/>
                  </a:lnTo>
                  <a:lnTo>
                    <a:pt x="814933" y="88290"/>
                  </a:lnTo>
                  <a:lnTo>
                    <a:pt x="798893" y="78143"/>
                  </a:lnTo>
                  <a:lnTo>
                    <a:pt x="788898" y="94348"/>
                  </a:lnTo>
                  <a:lnTo>
                    <a:pt x="804341" y="104140"/>
                  </a:lnTo>
                  <a:lnTo>
                    <a:pt x="824623" y="118414"/>
                  </a:lnTo>
                  <a:lnTo>
                    <a:pt x="834961" y="126479"/>
                  </a:lnTo>
                  <a:lnTo>
                    <a:pt x="846709" y="111480"/>
                  </a:lnTo>
                  <a:close/>
                </a:path>
                <a:path w="1047750" h="1047750">
                  <a:moveTo>
                    <a:pt x="878738" y="909154"/>
                  </a:moveTo>
                  <a:lnTo>
                    <a:pt x="865835" y="895146"/>
                  </a:lnTo>
                  <a:lnTo>
                    <a:pt x="862876" y="897953"/>
                  </a:lnTo>
                  <a:lnTo>
                    <a:pt x="844143" y="914120"/>
                  </a:lnTo>
                  <a:lnTo>
                    <a:pt x="824623" y="929347"/>
                  </a:lnTo>
                  <a:lnTo>
                    <a:pt x="822452" y="930884"/>
                  </a:lnTo>
                  <a:lnTo>
                    <a:pt x="833716" y="946238"/>
                  </a:lnTo>
                  <a:lnTo>
                    <a:pt x="835977" y="944638"/>
                  </a:lnTo>
                  <a:lnTo>
                    <a:pt x="856221" y="928839"/>
                  </a:lnTo>
                  <a:lnTo>
                    <a:pt x="875677" y="912063"/>
                  </a:lnTo>
                  <a:lnTo>
                    <a:pt x="878738" y="909154"/>
                  </a:lnTo>
                  <a:close/>
                </a:path>
                <a:path w="1047750" h="1047750">
                  <a:moveTo>
                    <a:pt x="917041" y="177850"/>
                  </a:moveTo>
                  <a:lnTo>
                    <a:pt x="912075" y="172085"/>
                  </a:lnTo>
                  <a:lnTo>
                    <a:pt x="894321" y="153441"/>
                  </a:lnTo>
                  <a:lnTo>
                    <a:pt x="876109" y="136105"/>
                  </a:lnTo>
                  <a:lnTo>
                    <a:pt x="863307" y="150215"/>
                  </a:lnTo>
                  <a:lnTo>
                    <a:pt x="880846" y="166916"/>
                  </a:lnTo>
                  <a:lnTo>
                    <a:pt x="897953" y="184886"/>
                  </a:lnTo>
                  <a:lnTo>
                    <a:pt x="902741" y="190436"/>
                  </a:lnTo>
                  <a:lnTo>
                    <a:pt x="917041" y="177850"/>
                  </a:lnTo>
                  <a:close/>
                </a:path>
                <a:path w="1047750" h="1047750">
                  <a:moveTo>
                    <a:pt x="943533" y="837399"/>
                  </a:moveTo>
                  <a:lnTo>
                    <a:pt x="928268" y="826008"/>
                  </a:lnTo>
                  <a:lnTo>
                    <a:pt x="914120" y="844143"/>
                  </a:lnTo>
                  <a:lnTo>
                    <a:pt x="897953" y="862876"/>
                  </a:lnTo>
                  <a:lnTo>
                    <a:pt x="892086" y="869035"/>
                  </a:lnTo>
                  <a:lnTo>
                    <a:pt x="905979" y="882065"/>
                  </a:lnTo>
                  <a:lnTo>
                    <a:pt x="912075" y="875677"/>
                  </a:lnTo>
                  <a:lnTo>
                    <a:pt x="928839" y="856221"/>
                  </a:lnTo>
                  <a:lnTo>
                    <a:pt x="943533" y="837399"/>
                  </a:lnTo>
                  <a:close/>
                </a:path>
                <a:path w="1047750" h="1047750">
                  <a:moveTo>
                    <a:pt x="973988" y="255892"/>
                  </a:moveTo>
                  <a:lnTo>
                    <a:pt x="973239" y="254584"/>
                  </a:lnTo>
                  <a:lnTo>
                    <a:pt x="959459" y="232829"/>
                  </a:lnTo>
                  <a:lnTo>
                    <a:pt x="944638" y="211785"/>
                  </a:lnTo>
                  <a:lnTo>
                    <a:pt x="941311" y="207518"/>
                  </a:lnTo>
                  <a:lnTo>
                    <a:pt x="926134" y="219011"/>
                  </a:lnTo>
                  <a:lnTo>
                    <a:pt x="929347" y="223126"/>
                  </a:lnTo>
                  <a:lnTo>
                    <a:pt x="943622" y="243420"/>
                  </a:lnTo>
                  <a:lnTo>
                    <a:pt x="956906" y="264375"/>
                  </a:lnTo>
                  <a:lnTo>
                    <a:pt x="957618" y="265645"/>
                  </a:lnTo>
                  <a:lnTo>
                    <a:pt x="973988" y="255892"/>
                  </a:lnTo>
                  <a:close/>
                </a:path>
                <a:path w="1047750" h="1047750">
                  <a:moveTo>
                    <a:pt x="993940" y="754849"/>
                  </a:moveTo>
                  <a:lnTo>
                    <a:pt x="976845" y="746455"/>
                  </a:lnTo>
                  <a:lnTo>
                    <a:pt x="969098" y="761860"/>
                  </a:lnTo>
                  <a:lnTo>
                    <a:pt x="956906" y="783386"/>
                  </a:lnTo>
                  <a:lnTo>
                    <a:pt x="949134" y="795642"/>
                  </a:lnTo>
                  <a:lnTo>
                    <a:pt x="965187" y="805903"/>
                  </a:lnTo>
                  <a:lnTo>
                    <a:pt x="973239" y="793178"/>
                  </a:lnTo>
                  <a:lnTo>
                    <a:pt x="985901" y="770839"/>
                  </a:lnTo>
                  <a:lnTo>
                    <a:pt x="993940" y="754849"/>
                  </a:lnTo>
                  <a:close/>
                </a:path>
                <a:path w="1047750" h="1047750">
                  <a:moveTo>
                    <a:pt x="1015441" y="343001"/>
                  </a:moveTo>
                  <a:lnTo>
                    <a:pt x="1007872" y="323405"/>
                  </a:lnTo>
                  <a:lnTo>
                    <a:pt x="997445" y="299859"/>
                  </a:lnTo>
                  <a:lnTo>
                    <a:pt x="992327" y="289687"/>
                  </a:lnTo>
                  <a:lnTo>
                    <a:pt x="975283" y="298196"/>
                  </a:lnTo>
                  <a:lnTo>
                    <a:pt x="980224" y="308013"/>
                  </a:lnTo>
                  <a:lnTo>
                    <a:pt x="990282" y="330695"/>
                  </a:lnTo>
                  <a:lnTo>
                    <a:pt x="997572" y="349580"/>
                  </a:lnTo>
                  <a:lnTo>
                    <a:pt x="1015441" y="343001"/>
                  </a:lnTo>
                  <a:close/>
                </a:path>
                <a:path w="1047750" h="1047750">
                  <a:moveTo>
                    <a:pt x="1028369" y="664527"/>
                  </a:moveTo>
                  <a:lnTo>
                    <a:pt x="1010018" y="659409"/>
                  </a:lnTo>
                  <a:lnTo>
                    <a:pt x="1006970" y="670420"/>
                  </a:lnTo>
                  <a:lnTo>
                    <a:pt x="999210" y="693928"/>
                  </a:lnTo>
                  <a:lnTo>
                    <a:pt x="991806" y="713092"/>
                  </a:lnTo>
                  <a:lnTo>
                    <a:pt x="1009472" y="720229"/>
                  </a:lnTo>
                  <a:lnTo>
                    <a:pt x="1017143" y="700341"/>
                  </a:lnTo>
                  <a:lnTo>
                    <a:pt x="1025207" y="675957"/>
                  </a:lnTo>
                  <a:lnTo>
                    <a:pt x="1028369" y="664527"/>
                  </a:lnTo>
                  <a:close/>
                </a:path>
                <a:path w="1047750" h="1047750">
                  <a:moveTo>
                    <a:pt x="1040206" y="436156"/>
                  </a:moveTo>
                  <a:lnTo>
                    <a:pt x="1037691" y="421678"/>
                  </a:lnTo>
                  <a:lnTo>
                    <a:pt x="1032052" y="396557"/>
                  </a:lnTo>
                  <a:lnTo>
                    <a:pt x="1027404" y="379755"/>
                  </a:lnTo>
                  <a:lnTo>
                    <a:pt x="1009091" y="385000"/>
                  </a:lnTo>
                  <a:lnTo>
                    <a:pt x="1013574" y="401193"/>
                  </a:lnTo>
                  <a:lnTo>
                    <a:pt x="1019009" y="425399"/>
                  </a:lnTo>
                  <a:lnTo>
                    <a:pt x="1021422" y="439356"/>
                  </a:lnTo>
                  <a:lnTo>
                    <a:pt x="1040206" y="436156"/>
                  </a:lnTo>
                  <a:close/>
                </a:path>
                <a:path w="1047750" h="1047750">
                  <a:moveTo>
                    <a:pt x="1045667" y="569506"/>
                  </a:moveTo>
                  <a:lnTo>
                    <a:pt x="1026693" y="567842"/>
                  </a:lnTo>
                  <a:lnTo>
                    <a:pt x="1026566" y="569506"/>
                  </a:lnTo>
                  <a:lnTo>
                    <a:pt x="1026274" y="573366"/>
                  </a:lnTo>
                  <a:lnTo>
                    <a:pt x="1023251" y="597928"/>
                  </a:lnTo>
                  <a:lnTo>
                    <a:pt x="1019009" y="622363"/>
                  </a:lnTo>
                  <a:lnTo>
                    <a:pt x="1018641" y="623963"/>
                  </a:lnTo>
                  <a:lnTo>
                    <a:pt x="1037323" y="627735"/>
                  </a:lnTo>
                  <a:lnTo>
                    <a:pt x="1037691" y="626084"/>
                  </a:lnTo>
                  <a:lnTo>
                    <a:pt x="1042098" y="600722"/>
                  </a:lnTo>
                  <a:lnTo>
                    <a:pt x="1045235" y="575233"/>
                  </a:lnTo>
                  <a:lnTo>
                    <a:pt x="1045667" y="569506"/>
                  </a:lnTo>
                  <a:close/>
                </a:path>
                <a:path w="1047750" h="1047750">
                  <a:moveTo>
                    <a:pt x="1047750" y="523875"/>
                  </a:moveTo>
                  <a:lnTo>
                    <a:pt x="1047127" y="498144"/>
                  </a:lnTo>
                  <a:lnTo>
                    <a:pt x="1045400" y="474649"/>
                  </a:lnTo>
                  <a:lnTo>
                    <a:pt x="1026426" y="476440"/>
                  </a:lnTo>
                  <a:lnTo>
                    <a:pt x="1028103" y="499084"/>
                  </a:lnTo>
                  <a:lnTo>
                    <a:pt x="1028700" y="523875"/>
                  </a:lnTo>
                  <a:lnTo>
                    <a:pt x="1028522" y="531533"/>
                  </a:lnTo>
                  <a:lnTo>
                    <a:pt x="1047559" y="531812"/>
                  </a:lnTo>
                  <a:lnTo>
                    <a:pt x="1047572" y="531533"/>
                  </a:lnTo>
                  <a:lnTo>
                    <a:pt x="1047750" y="523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544174" y="84391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8534399"/>
              <a:ext cx="133349" cy="133349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/>
          <p:nvPr/>
        </p:nvSpPr>
        <p:spPr>
          <a:xfrm>
            <a:off x="10833000" y="8539577"/>
            <a:ext cx="1066800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9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  <a:p>
            <a:pPr marL="50165">
              <a:lnSpc>
                <a:spcPts val="1370"/>
              </a:lnSpc>
            </a:pP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Slide</a:t>
            </a:r>
            <a:r>
              <a:rPr dirty="0" sz="13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fld id="{81D60167-4931-47E6-BA6A-407CBD079E47}" type="slidenum"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8</a:t>
            </a:fld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10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606424" y="8653486"/>
            <a:ext cx="2580005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z="1300" spc="-85">
                <a:solidFill>
                  <a:srgbClr val="FFFFFF"/>
                </a:solidFill>
                <a:latin typeface="Roboto"/>
                <a:cs typeface="Roboto"/>
              </a:rPr>
              <a:t>©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2023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IEEE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Roboto"/>
                <a:cs typeface="Roboto"/>
              </a:rPr>
              <a:t>Conference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Presentation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7981950"/>
            <a:chOff x="0" y="0"/>
            <a:chExt cx="12192000" cy="79819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9819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8974" y="200024"/>
              <a:ext cx="1142999" cy="6476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24" y="7553324"/>
              <a:ext cx="12172950" cy="419100"/>
            </a:xfrm>
            <a:custGeom>
              <a:avLst/>
              <a:gdLst/>
              <a:ahLst/>
              <a:cxnLst/>
              <a:rect l="l" t="t" r="r" b="b"/>
              <a:pathLst>
                <a:path w="12172950" h="419100">
                  <a:moveTo>
                    <a:pt x="1217294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12172949" y="0"/>
                  </a:lnTo>
                  <a:lnTo>
                    <a:pt x="12172949" y="41909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9124" y="1038224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1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380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9124" y="1304924"/>
              <a:ext cx="10953750" cy="2895600"/>
            </a:xfrm>
            <a:custGeom>
              <a:avLst/>
              <a:gdLst/>
              <a:ahLst/>
              <a:cxnLst/>
              <a:rect l="l" t="t" r="r" b="b"/>
              <a:pathLst>
                <a:path w="10953750" h="2895600">
                  <a:moveTo>
                    <a:pt x="10882552" y="2895599"/>
                  </a:moveTo>
                  <a:lnTo>
                    <a:pt x="71196" y="2895599"/>
                  </a:lnTo>
                  <a:lnTo>
                    <a:pt x="66241" y="2895111"/>
                  </a:lnTo>
                  <a:lnTo>
                    <a:pt x="29705" y="2879977"/>
                  </a:lnTo>
                  <a:lnTo>
                    <a:pt x="3885" y="2843937"/>
                  </a:lnTo>
                  <a:lnTo>
                    <a:pt x="0" y="2824402"/>
                  </a:lnTo>
                  <a:lnTo>
                    <a:pt x="0" y="2819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0882552" y="0"/>
                  </a:lnTo>
                  <a:lnTo>
                    <a:pt x="10924042" y="15621"/>
                  </a:lnTo>
                  <a:lnTo>
                    <a:pt x="10949862" y="51661"/>
                  </a:lnTo>
                  <a:lnTo>
                    <a:pt x="10953749" y="71196"/>
                  </a:lnTo>
                  <a:lnTo>
                    <a:pt x="10953749" y="2824402"/>
                  </a:lnTo>
                  <a:lnTo>
                    <a:pt x="10938125" y="2865894"/>
                  </a:lnTo>
                  <a:lnTo>
                    <a:pt x="10902084" y="2891713"/>
                  </a:lnTo>
                  <a:lnTo>
                    <a:pt x="10887507" y="2895111"/>
                  </a:lnTo>
                  <a:lnTo>
                    <a:pt x="10882552" y="2895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207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Comparative</a:t>
            </a:r>
            <a:r>
              <a:rPr dirty="0" spc="-40"/>
              <a:t> </a:t>
            </a:r>
            <a:r>
              <a:rPr dirty="0" spc="-145"/>
              <a:t>Analysis</a:t>
            </a:r>
            <a:r>
              <a:rPr dirty="0" spc="-35"/>
              <a:t> </a:t>
            </a:r>
            <a:r>
              <a:rPr dirty="0" spc="-170"/>
              <a:t>&amp;</a:t>
            </a:r>
            <a:r>
              <a:rPr dirty="0" spc="-35"/>
              <a:t> </a:t>
            </a:r>
            <a:r>
              <a:rPr dirty="0" spc="-130"/>
              <a:t>Improvements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01674" y="1387236"/>
            <a:ext cx="294005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1F2937"/>
                </a:solidFill>
                <a:latin typeface="Roboto"/>
                <a:cs typeface="Roboto"/>
              </a:rPr>
              <a:t>Performance</a:t>
            </a:r>
            <a:r>
              <a:rPr dirty="0" sz="1500" spc="-15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500" spc="-95" b="1">
                <a:solidFill>
                  <a:srgbClr val="1F2937"/>
                </a:solidFill>
                <a:latin typeface="Roboto"/>
                <a:cs typeface="Roboto"/>
              </a:rPr>
              <a:t>Across</a:t>
            </a:r>
            <a:r>
              <a:rPr dirty="0" sz="1500" spc="-10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1F2937"/>
                </a:solidFill>
                <a:latin typeface="Roboto"/>
                <a:cs typeface="Roboto"/>
              </a:rPr>
              <a:t>Control</a:t>
            </a:r>
            <a:r>
              <a:rPr dirty="0" sz="1500" spc="-10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1F2937"/>
                </a:solidFill>
                <a:latin typeface="Roboto"/>
                <a:cs typeface="Roboto"/>
              </a:rPr>
              <a:t>Methods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19124" y="1457324"/>
            <a:ext cx="10858500" cy="4343400"/>
            <a:chOff x="619124" y="1457324"/>
            <a:chExt cx="10858500" cy="434340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3698" y="1457324"/>
              <a:ext cx="152399" cy="1523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1474" y="1457324"/>
              <a:ext cx="152399" cy="1523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43948" y="1457324"/>
              <a:ext cx="152399" cy="15239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39273" y="1457324"/>
              <a:ext cx="152399" cy="15239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34623" y="1457324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4374" y="1819274"/>
              <a:ext cx="10763249" cy="228599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19124" y="4429124"/>
              <a:ext cx="5381625" cy="1371600"/>
            </a:xfrm>
            <a:custGeom>
              <a:avLst/>
              <a:gdLst/>
              <a:ahLst/>
              <a:cxnLst/>
              <a:rect l="l" t="t" r="r" b="b"/>
              <a:pathLst>
                <a:path w="5381625" h="1371600">
                  <a:moveTo>
                    <a:pt x="5381624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5381624" y="0"/>
                  </a:lnTo>
                  <a:lnTo>
                    <a:pt x="5381624" y="1371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19124" y="4429124"/>
              <a:ext cx="38100" cy="1371600"/>
            </a:xfrm>
            <a:custGeom>
              <a:avLst/>
              <a:gdLst/>
              <a:ahLst/>
              <a:cxnLst/>
              <a:rect l="l" t="t" r="r" b="b"/>
              <a:pathLst>
                <a:path w="38100" h="1371600">
                  <a:moveTo>
                    <a:pt x="380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71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9624" y="45815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5824" y="4657724"/>
              <a:ext cx="152399" cy="15239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219187" y="5048249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62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62"/>
                  </a:lnTo>
                  <a:lnTo>
                    <a:pt x="0" y="484174"/>
                  </a:lnTo>
                  <a:lnTo>
                    <a:pt x="20662" y="504825"/>
                  </a:lnTo>
                  <a:lnTo>
                    <a:pt x="26974" y="504825"/>
                  </a:lnTo>
                  <a:lnTo>
                    <a:pt x="47625" y="484174"/>
                  </a:lnTo>
                  <a:lnTo>
                    <a:pt x="47625" y="481012"/>
                  </a:lnTo>
                  <a:lnTo>
                    <a:pt x="47625" y="477862"/>
                  </a:lnTo>
                  <a:close/>
                </a:path>
                <a:path w="47625" h="504825">
                  <a:moveTo>
                    <a:pt x="47625" y="249262"/>
                  </a:moveTo>
                  <a:lnTo>
                    <a:pt x="26974" y="228600"/>
                  </a:lnTo>
                  <a:lnTo>
                    <a:pt x="20662" y="228600"/>
                  </a:lnTo>
                  <a:lnTo>
                    <a:pt x="0" y="249262"/>
                  </a:lnTo>
                  <a:lnTo>
                    <a:pt x="0" y="255574"/>
                  </a:lnTo>
                  <a:lnTo>
                    <a:pt x="20662" y="276225"/>
                  </a:lnTo>
                  <a:lnTo>
                    <a:pt x="26974" y="276225"/>
                  </a:lnTo>
                  <a:lnTo>
                    <a:pt x="47625" y="255574"/>
                  </a:lnTo>
                  <a:lnTo>
                    <a:pt x="47625" y="252412"/>
                  </a:lnTo>
                  <a:lnTo>
                    <a:pt x="47625" y="249262"/>
                  </a:lnTo>
                  <a:close/>
                </a:path>
                <a:path w="47625" h="5048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942187" y="1398905"/>
            <a:ext cx="9118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latin typeface="Roboto"/>
                <a:cs typeface="Roboto"/>
              </a:rPr>
              <a:t>Conventional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190259" y="1398905"/>
            <a:ext cx="41592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latin typeface="Roboto"/>
                <a:cs typeface="Roboto"/>
              </a:rPr>
              <a:t>Fuzzy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942139" y="1398905"/>
            <a:ext cx="3543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latin typeface="Roboto"/>
                <a:cs typeface="Roboto"/>
              </a:rPr>
              <a:t>MPC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632552" y="1398905"/>
            <a:ext cx="56324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latin typeface="Roboto"/>
                <a:cs typeface="Roboto"/>
              </a:rPr>
              <a:t>ML-</a:t>
            </a:r>
            <a:r>
              <a:rPr dirty="0" sz="1300" spc="-35">
                <a:latin typeface="Roboto"/>
                <a:cs typeface="Roboto"/>
              </a:rPr>
              <a:t>only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532069" y="1398905"/>
            <a:ext cx="80645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latin typeface="Roboto"/>
                <a:cs typeface="Roboto"/>
              </a:rPr>
              <a:t>Hybrid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AGC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57224" y="4587636"/>
            <a:ext cx="534352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055E45"/>
                </a:solidFill>
                <a:latin typeface="Roboto"/>
                <a:cs typeface="Roboto"/>
              </a:rPr>
              <a:t>Outperforms</a:t>
            </a:r>
            <a:r>
              <a:rPr dirty="0" sz="1500" spc="-30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055E45"/>
                </a:solidFill>
                <a:latin typeface="Roboto"/>
                <a:cs typeface="Roboto"/>
              </a:rPr>
              <a:t>All</a:t>
            </a:r>
            <a:r>
              <a:rPr dirty="0" sz="1500" spc="-30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55E45"/>
                </a:solidFill>
                <a:latin typeface="Roboto"/>
                <a:cs typeface="Roboto"/>
              </a:rPr>
              <a:t>Baselines</a:t>
            </a:r>
            <a:endParaRPr sz="1500">
              <a:latin typeface="Roboto"/>
              <a:cs typeface="Roboto"/>
            </a:endParaRPr>
          </a:p>
          <a:p>
            <a:pPr marL="723265" marR="868044">
              <a:lnSpc>
                <a:spcPct val="115399"/>
              </a:lnSpc>
              <a:spcBef>
                <a:spcPts val="785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31.8%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reduction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frequency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deviation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vs.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conventional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45%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faster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settling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vs.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all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alternatives</a:t>
            </a:r>
            <a:endParaRPr sz="1300">
              <a:latin typeface="Roboto"/>
              <a:cs typeface="Roboto"/>
            </a:endParaRP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Consistent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across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all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disturbance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scenarios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191249" y="4429124"/>
            <a:ext cx="5381625" cy="1371600"/>
            <a:chOff x="6191249" y="4429124"/>
            <a:chExt cx="5381625" cy="1371600"/>
          </a:xfrm>
        </p:grpSpPr>
        <p:sp>
          <p:nvSpPr>
            <p:cNvPr id="29" name="object 29" descr=""/>
            <p:cNvSpPr/>
            <p:nvPr/>
          </p:nvSpPr>
          <p:spPr>
            <a:xfrm>
              <a:off x="6191249" y="4429124"/>
              <a:ext cx="5381625" cy="1371600"/>
            </a:xfrm>
            <a:custGeom>
              <a:avLst/>
              <a:gdLst/>
              <a:ahLst/>
              <a:cxnLst/>
              <a:rect l="l" t="t" r="r" b="b"/>
              <a:pathLst>
                <a:path w="5381625" h="1371600">
                  <a:moveTo>
                    <a:pt x="5381624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5381624" y="0"/>
                  </a:lnTo>
                  <a:lnTo>
                    <a:pt x="5381624" y="1371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191249" y="4429124"/>
              <a:ext cx="38100" cy="1371600"/>
            </a:xfrm>
            <a:custGeom>
              <a:avLst/>
              <a:gdLst/>
              <a:ahLst/>
              <a:cxnLst/>
              <a:rect l="l" t="t" r="r" b="b"/>
              <a:pathLst>
                <a:path w="38100" h="1371600">
                  <a:moveTo>
                    <a:pt x="380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71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381749" y="45815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599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1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2682" y="4657724"/>
              <a:ext cx="142934" cy="15216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791312" y="5048249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62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62"/>
                  </a:lnTo>
                  <a:lnTo>
                    <a:pt x="0" y="484174"/>
                  </a:lnTo>
                  <a:lnTo>
                    <a:pt x="20662" y="504825"/>
                  </a:lnTo>
                  <a:lnTo>
                    <a:pt x="26974" y="504825"/>
                  </a:lnTo>
                  <a:lnTo>
                    <a:pt x="47625" y="484174"/>
                  </a:lnTo>
                  <a:lnTo>
                    <a:pt x="47625" y="481012"/>
                  </a:lnTo>
                  <a:lnTo>
                    <a:pt x="47625" y="477862"/>
                  </a:lnTo>
                  <a:close/>
                </a:path>
                <a:path w="47625" h="504825">
                  <a:moveTo>
                    <a:pt x="47625" y="249262"/>
                  </a:moveTo>
                  <a:lnTo>
                    <a:pt x="26974" y="228600"/>
                  </a:lnTo>
                  <a:lnTo>
                    <a:pt x="20662" y="228600"/>
                  </a:lnTo>
                  <a:lnTo>
                    <a:pt x="0" y="249262"/>
                  </a:lnTo>
                  <a:lnTo>
                    <a:pt x="0" y="255574"/>
                  </a:lnTo>
                  <a:lnTo>
                    <a:pt x="20662" y="276225"/>
                  </a:lnTo>
                  <a:lnTo>
                    <a:pt x="26974" y="276225"/>
                  </a:lnTo>
                  <a:lnTo>
                    <a:pt x="47625" y="255574"/>
                  </a:lnTo>
                  <a:lnTo>
                    <a:pt x="47625" y="252412"/>
                  </a:lnTo>
                  <a:lnTo>
                    <a:pt x="47625" y="249262"/>
                  </a:lnTo>
                  <a:close/>
                </a:path>
                <a:path w="47625" h="5048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229349" y="4587636"/>
            <a:ext cx="534352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1D40AF"/>
                </a:solidFill>
                <a:latin typeface="Roboto"/>
                <a:cs typeface="Roboto"/>
              </a:rPr>
              <a:t>Parameter</a:t>
            </a:r>
            <a:r>
              <a:rPr dirty="0" sz="1500" spc="-3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1D40AF"/>
                </a:solidFill>
                <a:latin typeface="Roboto"/>
                <a:cs typeface="Roboto"/>
              </a:rPr>
              <a:t>Robustness</a:t>
            </a:r>
            <a:endParaRPr sz="1500">
              <a:latin typeface="Roboto"/>
              <a:cs typeface="Roboto"/>
            </a:endParaRPr>
          </a:p>
          <a:p>
            <a:pPr marL="723900">
              <a:lnSpc>
                <a:spcPct val="100000"/>
              </a:lnSpc>
              <a:spcBef>
                <a:spcPts val="1025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Maintains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±20%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parameter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variations</a:t>
            </a:r>
            <a:endParaRPr sz="1300">
              <a:latin typeface="Roboto"/>
              <a:cs typeface="Roboto"/>
            </a:endParaRPr>
          </a:p>
          <a:p>
            <a:pPr marL="723900" marR="694055">
              <a:lnSpc>
                <a:spcPct val="115399"/>
              </a:lnSpc>
            </a:pP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57%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less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frequency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deviation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under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parameter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uncertainty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Enhanced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adaptability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changes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19124" y="5991224"/>
            <a:ext cx="5381625" cy="1371600"/>
            <a:chOff x="619124" y="5991224"/>
            <a:chExt cx="5381625" cy="1371600"/>
          </a:xfrm>
        </p:grpSpPr>
        <p:sp>
          <p:nvSpPr>
            <p:cNvPr id="36" name="object 36" descr=""/>
            <p:cNvSpPr/>
            <p:nvPr/>
          </p:nvSpPr>
          <p:spPr>
            <a:xfrm>
              <a:off x="619124" y="5991224"/>
              <a:ext cx="5381625" cy="1371600"/>
            </a:xfrm>
            <a:custGeom>
              <a:avLst/>
              <a:gdLst/>
              <a:ahLst/>
              <a:cxnLst/>
              <a:rect l="l" t="t" r="r" b="b"/>
              <a:pathLst>
                <a:path w="5381625" h="1371600">
                  <a:moveTo>
                    <a:pt x="5381624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5381624" y="0"/>
                  </a:lnTo>
                  <a:lnTo>
                    <a:pt x="5381624" y="1371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19124" y="5991224"/>
              <a:ext cx="38100" cy="1371600"/>
            </a:xfrm>
            <a:custGeom>
              <a:avLst/>
              <a:gdLst/>
              <a:ahLst/>
              <a:cxnLst/>
              <a:rect l="l" t="t" r="r" b="b"/>
              <a:pathLst>
                <a:path w="38100" h="1371600">
                  <a:moveTo>
                    <a:pt x="380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71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09624" y="61436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0" y="279114"/>
                  </a:lnTo>
                  <a:lnTo>
                    <a:pt x="34591" y="249081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2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4991" y="6229349"/>
              <a:ext cx="154037" cy="133945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219187" y="6610349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62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62"/>
                  </a:lnTo>
                  <a:lnTo>
                    <a:pt x="0" y="484174"/>
                  </a:lnTo>
                  <a:lnTo>
                    <a:pt x="20662" y="504825"/>
                  </a:lnTo>
                  <a:lnTo>
                    <a:pt x="26974" y="504825"/>
                  </a:lnTo>
                  <a:lnTo>
                    <a:pt x="47625" y="484174"/>
                  </a:lnTo>
                  <a:lnTo>
                    <a:pt x="47625" y="481012"/>
                  </a:lnTo>
                  <a:lnTo>
                    <a:pt x="47625" y="477862"/>
                  </a:lnTo>
                  <a:close/>
                </a:path>
                <a:path w="47625" h="504825">
                  <a:moveTo>
                    <a:pt x="47625" y="249262"/>
                  </a:moveTo>
                  <a:lnTo>
                    <a:pt x="26974" y="228600"/>
                  </a:lnTo>
                  <a:lnTo>
                    <a:pt x="20662" y="228600"/>
                  </a:lnTo>
                  <a:lnTo>
                    <a:pt x="0" y="249262"/>
                  </a:lnTo>
                  <a:lnTo>
                    <a:pt x="0" y="255574"/>
                  </a:lnTo>
                  <a:lnTo>
                    <a:pt x="20662" y="276225"/>
                  </a:lnTo>
                  <a:lnTo>
                    <a:pt x="26974" y="276225"/>
                  </a:lnTo>
                  <a:lnTo>
                    <a:pt x="47625" y="255574"/>
                  </a:lnTo>
                  <a:lnTo>
                    <a:pt x="47625" y="252412"/>
                  </a:lnTo>
                  <a:lnTo>
                    <a:pt x="47625" y="249262"/>
                  </a:lnTo>
                  <a:close/>
                </a:path>
                <a:path w="47625" h="5048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657224" y="6149736"/>
            <a:ext cx="534352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715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5B20B5"/>
                </a:solidFill>
                <a:latin typeface="Roboto"/>
                <a:cs typeface="Roboto"/>
              </a:rPr>
              <a:t>Noise</a:t>
            </a:r>
            <a:r>
              <a:rPr dirty="0" sz="1500" spc="-5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5B20B5"/>
                </a:solidFill>
                <a:latin typeface="Roboto"/>
                <a:cs typeface="Roboto"/>
              </a:rPr>
              <a:t>Resilience</a:t>
            </a:r>
            <a:endParaRPr sz="1500">
              <a:latin typeface="Roboto"/>
              <a:cs typeface="Roboto"/>
            </a:endParaRPr>
          </a:p>
          <a:p>
            <a:pPr algn="just" marL="723265" marR="570865">
              <a:lnSpc>
                <a:spcPct val="115399"/>
              </a:lnSpc>
              <a:spcBef>
                <a:spcPts val="785"/>
              </a:spcBef>
            </a:pP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Robust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measurement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noise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up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5">
                <a:solidFill>
                  <a:srgbClr val="374050"/>
                </a:solidFill>
                <a:latin typeface="Roboto"/>
                <a:cs typeface="Roboto"/>
              </a:rPr>
              <a:t>5%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SNR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Ensemble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0">
                <a:solidFill>
                  <a:srgbClr val="374050"/>
                </a:solidFill>
                <a:latin typeface="Roboto"/>
                <a:cs typeface="Roboto"/>
              </a:rPr>
              <a:t>ML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filters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noise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effects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on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predictions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Superior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high-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uncertainty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environments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6191249" y="5991224"/>
            <a:ext cx="5381625" cy="1371600"/>
            <a:chOff x="6191249" y="5991224"/>
            <a:chExt cx="5381625" cy="1371600"/>
          </a:xfrm>
        </p:grpSpPr>
        <p:sp>
          <p:nvSpPr>
            <p:cNvPr id="43" name="object 43" descr=""/>
            <p:cNvSpPr/>
            <p:nvPr/>
          </p:nvSpPr>
          <p:spPr>
            <a:xfrm>
              <a:off x="6191249" y="5991224"/>
              <a:ext cx="5381625" cy="1371600"/>
            </a:xfrm>
            <a:custGeom>
              <a:avLst/>
              <a:gdLst/>
              <a:ahLst/>
              <a:cxnLst/>
              <a:rect l="l" t="t" r="r" b="b"/>
              <a:pathLst>
                <a:path w="5381625" h="1371600">
                  <a:moveTo>
                    <a:pt x="5381624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5381624" y="0"/>
                  </a:lnTo>
                  <a:lnTo>
                    <a:pt x="5381624" y="13715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191249" y="5991224"/>
              <a:ext cx="38100" cy="1371600"/>
            </a:xfrm>
            <a:custGeom>
              <a:avLst/>
              <a:gdLst/>
              <a:ahLst/>
              <a:cxnLst/>
              <a:rect l="l" t="t" r="r" b="b"/>
              <a:pathLst>
                <a:path w="38100" h="1371600">
                  <a:moveTo>
                    <a:pt x="380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71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57949" y="6219824"/>
              <a:ext cx="152399" cy="15239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791312" y="6610349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62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62"/>
                  </a:lnTo>
                  <a:lnTo>
                    <a:pt x="0" y="484174"/>
                  </a:lnTo>
                  <a:lnTo>
                    <a:pt x="20662" y="504825"/>
                  </a:lnTo>
                  <a:lnTo>
                    <a:pt x="26974" y="504825"/>
                  </a:lnTo>
                  <a:lnTo>
                    <a:pt x="47625" y="484174"/>
                  </a:lnTo>
                  <a:lnTo>
                    <a:pt x="47625" y="481012"/>
                  </a:lnTo>
                  <a:lnTo>
                    <a:pt x="47625" y="477862"/>
                  </a:lnTo>
                  <a:close/>
                </a:path>
                <a:path w="47625" h="504825">
                  <a:moveTo>
                    <a:pt x="47625" y="249262"/>
                  </a:moveTo>
                  <a:lnTo>
                    <a:pt x="26974" y="228600"/>
                  </a:lnTo>
                  <a:lnTo>
                    <a:pt x="20662" y="228600"/>
                  </a:lnTo>
                  <a:lnTo>
                    <a:pt x="0" y="249262"/>
                  </a:lnTo>
                  <a:lnTo>
                    <a:pt x="0" y="255574"/>
                  </a:lnTo>
                  <a:lnTo>
                    <a:pt x="20662" y="276225"/>
                  </a:lnTo>
                  <a:lnTo>
                    <a:pt x="26974" y="276225"/>
                  </a:lnTo>
                  <a:lnTo>
                    <a:pt x="47625" y="255574"/>
                  </a:lnTo>
                  <a:lnTo>
                    <a:pt x="47625" y="252412"/>
                  </a:lnTo>
                  <a:lnTo>
                    <a:pt x="47625" y="249262"/>
                  </a:lnTo>
                  <a:close/>
                </a:path>
                <a:path w="47625" h="5048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6229349" y="6149736"/>
            <a:ext cx="534352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latin typeface="Roboto"/>
                <a:cs typeface="Roboto"/>
              </a:rPr>
              <a:t>Delay</a:t>
            </a:r>
            <a:r>
              <a:rPr dirty="0" sz="1500" spc="-50" b="1">
                <a:latin typeface="Roboto"/>
                <a:cs typeface="Roboto"/>
              </a:rPr>
              <a:t> </a:t>
            </a:r>
            <a:r>
              <a:rPr dirty="0" sz="1500" spc="-10" b="1">
                <a:latin typeface="Roboto"/>
                <a:cs typeface="Roboto"/>
              </a:rPr>
              <a:t>Tolerance</a:t>
            </a:r>
            <a:endParaRPr sz="1500">
              <a:latin typeface="Roboto"/>
              <a:cs typeface="Roboto"/>
            </a:endParaRPr>
          </a:p>
          <a:p>
            <a:pPr marL="723900" marR="591185">
              <a:lnSpc>
                <a:spcPct val="115399"/>
              </a:lnSpc>
              <a:spcBef>
                <a:spcPts val="785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Maintains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communication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delays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up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300ms Predictive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components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compensate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delays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Graceful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degradation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increasing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latency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0544174" y="7467600"/>
            <a:ext cx="1457325" cy="323850"/>
            <a:chOff x="10544174" y="7467600"/>
            <a:chExt cx="1457325" cy="323850"/>
          </a:xfrm>
        </p:grpSpPr>
        <p:sp>
          <p:nvSpPr>
            <p:cNvPr id="49" name="object 49" descr=""/>
            <p:cNvSpPr/>
            <p:nvPr/>
          </p:nvSpPr>
          <p:spPr>
            <a:xfrm>
              <a:off x="10544174" y="746760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58474" y="7562849"/>
              <a:ext cx="133349" cy="133349"/>
            </a:xfrm>
            <a:prstGeom prst="rect">
              <a:avLst/>
            </a:prstGeom>
          </p:spPr>
        </p:pic>
      </p:grpSp>
      <p:sp>
        <p:nvSpPr>
          <p:cNvPr id="51" name="object 51" descr=""/>
          <p:cNvSpPr txBox="1"/>
          <p:nvPr/>
        </p:nvSpPr>
        <p:spPr>
          <a:xfrm>
            <a:off x="10833000" y="7568027"/>
            <a:ext cx="10668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9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  <a:p>
            <a:pPr marL="50165">
              <a:lnSpc>
                <a:spcPts val="1370"/>
              </a:lnSpc>
            </a:pP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Slide</a:t>
            </a:r>
            <a:r>
              <a:rPr dirty="0" sz="13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fld id="{81D60167-4931-47E6-BA6A-407CBD079E47}" type="slidenum"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9</a:t>
            </a:fld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10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606424" y="7681937"/>
            <a:ext cx="258000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z="1300" spc="-85">
                <a:solidFill>
                  <a:srgbClr val="FFFFFF"/>
                </a:solidFill>
                <a:latin typeface="Roboto"/>
                <a:cs typeface="Roboto"/>
              </a:rPr>
              <a:t>©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2023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IEEE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Roboto"/>
                <a:cs typeface="Roboto"/>
              </a:rPr>
              <a:t>Conference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Presentation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953250"/>
            <a:chOff x="0" y="0"/>
            <a:chExt cx="12192000" cy="69532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9532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8974" y="200025"/>
              <a:ext cx="1142999" cy="6476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24" y="6524624"/>
              <a:ext cx="12172950" cy="419100"/>
            </a:xfrm>
            <a:custGeom>
              <a:avLst/>
              <a:gdLst/>
              <a:ahLst/>
              <a:cxnLst/>
              <a:rect l="l" t="t" r="r" b="b"/>
              <a:pathLst>
                <a:path w="12172950" h="419100">
                  <a:moveTo>
                    <a:pt x="1217294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12172949" y="0"/>
                  </a:lnTo>
                  <a:lnTo>
                    <a:pt x="12172949" y="41909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66724" y="885824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1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380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4025" y="402720"/>
            <a:ext cx="528764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Key</a:t>
            </a:r>
            <a:r>
              <a:rPr dirty="0" spc="-40"/>
              <a:t> </a:t>
            </a:r>
            <a:r>
              <a:rPr dirty="0" spc="-130"/>
              <a:t>Findings,</a:t>
            </a:r>
            <a:r>
              <a:rPr dirty="0" spc="-40"/>
              <a:t> </a:t>
            </a:r>
            <a:r>
              <a:rPr dirty="0" spc="-140"/>
              <a:t>Conclusions</a:t>
            </a:r>
            <a:r>
              <a:rPr dirty="0" spc="-35"/>
              <a:t> </a:t>
            </a:r>
            <a:r>
              <a:rPr dirty="0" spc="-170"/>
              <a:t>&amp;</a:t>
            </a:r>
            <a:r>
              <a:rPr dirty="0" spc="-40"/>
              <a:t> </a:t>
            </a:r>
            <a:r>
              <a:rPr dirty="0" spc="-145"/>
              <a:t>Future</a:t>
            </a:r>
            <a:r>
              <a:rPr dirty="0" spc="-40"/>
              <a:t> </a:t>
            </a:r>
            <a:r>
              <a:rPr dirty="0" spc="-80"/>
              <a:t>Work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466724" y="1152524"/>
            <a:ext cx="5514975" cy="5334000"/>
            <a:chOff x="466724" y="1152524"/>
            <a:chExt cx="5514975" cy="5334000"/>
          </a:xfrm>
        </p:grpSpPr>
        <p:sp>
          <p:nvSpPr>
            <p:cNvPr id="9" name="object 9" descr=""/>
            <p:cNvSpPr/>
            <p:nvPr/>
          </p:nvSpPr>
          <p:spPr>
            <a:xfrm>
              <a:off x="466712" y="1152537"/>
              <a:ext cx="5514975" cy="5334000"/>
            </a:xfrm>
            <a:custGeom>
              <a:avLst/>
              <a:gdLst/>
              <a:ahLst/>
              <a:cxnLst/>
              <a:rect l="l" t="t" r="r" b="b"/>
              <a:pathLst>
                <a:path w="5514975" h="5334000">
                  <a:moveTo>
                    <a:pt x="5514975" y="3042996"/>
                  </a:moveTo>
                  <a:lnTo>
                    <a:pt x="5499354" y="3001492"/>
                  </a:lnTo>
                  <a:lnTo>
                    <a:pt x="5463324" y="2975673"/>
                  </a:lnTo>
                  <a:lnTo>
                    <a:pt x="5443779" y="2971787"/>
                  </a:lnTo>
                  <a:lnTo>
                    <a:pt x="71208" y="2971787"/>
                  </a:lnTo>
                  <a:lnTo>
                    <a:pt x="29718" y="2987421"/>
                  </a:lnTo>
                  <a:lnTo>
                    <a:pt x="3886" y="3023451"/>
                  </a:lnTo>
                  <a:lnTo>
                    <a:pt x="0" y="3042996"/>
                  </a:lnTo>
                  <a:lnTo>
                    <a:pt x="0" y="5257787"/>
                  </a:lnTo>
                  <a:lnTo>
                    <a:pt x="0" y="5262791"/>
                  </a:lnTo>
                  <a:lnTo>
                    <a:pt x="15633" y="5304282"/>
                  </a:lnTo>
                  <a:lnTo>
                    <a:pt x="51663" y="5330101"/>
                  </a:lnTo>
                  <a:lnTo>
                    <a:pt x="71208" y="5333987"/>
                  </a:lnTo>
                  <a:lnTo>
                    <a:pt x="5443779" y="5333987"/>
                  </a:lnTo>
                  <a:lnTo>
                    <a:pt x="5485269" y="5318366"/>
                  </a:lnTo>
                  <a:lnTo>
                    <a:pt x="5511089" y="5282336"/>
                  </a:lnTo>
                  <a:lnTo>
                    <a:pt x="5514975" y="5262791"/>
                  </a:lnTo>
                  <a:lnTo>
                    <a:pt x="5514975" y="3042996"/>
                  </a:lnTo>
                  <a:close/>
                </a:path>
                <a:path w="5514975" h="5334000">
                  <a:moveTo>
                    <a:pt x="5514975" y="71196"/>
                  </a:moveTo>
                  <a:lnTo>
                    <a:pt x="5499354" y="29705"/>
                  </a:lnTo>
                  <a:lnTo>
                    <a:pt x="5463324" y="3873"/>
                  </a:lnTo>
                  <a:lnTo>
                    <a:pt x="5443779" y="0"/>
                  </a:lnTo>
                  <a:lnTo>
                    <a:pt x="71208" y="0"/>
                  </a:lnTo>
                  <a:lnTo>
                    <a:pt x="29718" y="15621"/>
                  </a:lnTo>
                  <a:lnTo>
                    <a:pt x="3886" y="51650"/>
                  </a:lnTo>
                  <a:lnTo>
                    <a:pt x="0" y="71196"/>
                  </a:lnTo>
                  <a:lnTo>
                    <a:pt x="0" y="2666987"/>
                  </a:lnTo>
                  <a:lnTo>
                    <a:pt x="0" y="2671991"/>
                  </a:lnTo>
                  <a:lnTo>
                    <a:pt x="15633" y="2713482"/>
                  </a:lnTo>
                  <a:lnTo>
                    <a:pt x="51663" y="2739313"/>
                  </a:lnTo>
                  <a:lnTo>
                    <a:pt x="71208" y="2743187"/>
                  </a:lnTo>
                  <a:lnTo>
                    <a:pt x="5443779" y="2743187"/>
                  </a:lnTo>
                  <a:lnTo>
                    <a:pt x="5485269" y="2727566"/>
                  </a:lnTo>
                  <a:lnTo>
                    <a:pt x="5511089" y="2691536"/>
                  </a:lnTo>
                  <a:lnTo>
                    <a:pt x="5514975" y="2671991"/>
                  </a:lnTo>
                  <a:lnTo>
                    <a:pt x="5514975" y="71196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55" y="1380455"/>
              <a:ext cx="144251" cy="191318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863600" y="1318346"/>
            <a:ext cx="1610360" cy="280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-105" b="1">
                <a:solidFill>
                  <a:srgbClr val="1D40AF"/>
                </a:solidFill>
                <a:latin typeface="Roboto"/>
                <a:cs typeface="Roboto"/>
              </a:rPr>
              <a:t>Key</a:t>
            </a:r>
            <a:r>
              <a:rPr dirty="0" sz="1650" spc="-1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40AF"/>
                </a:solidFill>
                <a:latin typeface="Roboto"/>
                <a:cs typeface="Roboto"/>
              </a:rPr>
              <a:t>Achievements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4524" y="1705848"/>
            <a:ext cx="187198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0">
                <a:latin typeface="Roboto Medium"/>
                <a:cs typeface="Roboto Medium"/>
              </a:rPr>
              <a:t>Frequency</a:t>
            </a:r>
            <a:r>
              <a:rPr dirty="0" sz="1150" spc="-10" b="0">
                <a:latin typeface="Roboto Medium"/>
                <a:cs typeface="Roboto Medium"/>
              </a:rPr>
              <a:t> </a:t>
            </a:r>
            <a:r>
              <a:rPr dirty="0" sz="1150" spc="-55" b="0">
                <a:latin typeface="Roboto Medium"/>
                <a:cs typeface="Roboto Medium"/>
              </a:rPr>
              <a:t>Deviation</a:t>
            </a:r>
            <a:r>
              <a:rPr dirty="0" sz="1150" spc="-5" b="0">
                <a:latin typeface="Roboto Medium"/>
                <a:cs typeface="Roboto Medium"/>
              </a:rPr>
              <a:t> </a:t>
            </a:r>
            <a:r>
              <a:rPr dirty="0" sz="1150" spc="-40" b="0">
                <a:latin typeface="Roboto Medium"/>
                <a:cs typeface="Roboto Medium"/>
              </a:rPr>
              <a:t>Reduction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4524" y="2315448"/>
            <a:ext cx="164274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0" b="0">
                <a:latin typeface="Roboto Medium"/>
                <a:cs typeface="Roboto Medium"/>
              </a:rPr>
              <a:t>Settling</a:t>
            </a:r>
            <a:r>
              <a:rPr dirty="0" sz="1150" spc="-15" b="0">
                <a:latin typeface="Roboto Medium"/>
                <a:cs typeface="Roboto Medium"/>
              </a:rPr>
              <a:t> </a:t>
            </a:r>
            <a:r>
              <a:rPr dirty="0" sz="1150" spc="-65" b="0">
                <a:latin typeface="Roboto Medium"/>
                <a:cs typeface="Roboto Medium"/>
              </a:rPr>
              <a:t>Time</a:t>
            </a:r>
            <a:r>
              <a:rPr dirty="0" sz="1150" spc="5" b="0">
                <a:latin typeface="Roboto Medium"/>
                <a:cs typeface="Roboto Medium"/>
              </a:rPr>
              <a:t> </a:t>
            </a:r>
            <a:r>
              <a:rPr dirty="0" sz="1150" spc="-55" b="0">
                <a:latin typeface="Roboto Medium"/>
                <a:cs typeface="Roboto Medium"/>
              </a:rPr>
              <a:t>Improvement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4524" y="2925048"/>
            <a:ext cx="147002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 b="0">
                <a:latin typeface="Roboto Medium"/>
                <a:cs typeface="Roboto Medium"/>
              </a:rPr>
              <a:t>Control</a:t>
            </a:r>
            <a:r>
              <a:rPr dirty="0" sz="1150" spc="-20" b="0">
                <a:latin typeface="Roboto Medium"/>
                <a:cs typeface="Roboto Medium"/>
              </a:rPr>
              <a:t> </a:t>
            </a:r>
            <a:r>
              <a:rPr dirty="0" sz="1150" spc="-45" b="0">
                <a:latin typeface="Roboto Medium"/>
                <a:cs typeface="Roboto Medium"/>
              </a:rPr>
              <a:t>Effort</a:t>
            </a:r>
            <a:r>
              <a:rPr dirty="0" sz="1150" spc="-20" b="0">
                <a:latin typeface="Roboto Medium"/>
                <a:cs typeface="Roboto Medium"/>
              </a:rPr>
              <a:t> </a:t>
            </a:r>
            <a:r>
              <a:rPr dirty="0" sz="1150" spc="-40" b="0">
                <a:latin typeface="Roboto Medium"/>
                <a:cs typeface="Roboto Medium"/>
              </a:rPr>
              <a:t>Reduction</a:t>
            </a:r>
            <a:endParaRPr sz="1150">
              <a:latin typeface="Roboto Medium"/>
              <a:cs typeface="Roboto Mediu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57224" y="1152524"/>
            <a:ext cx="11068050" cy="5295900"/>
            <a:chOff x="657224" y="1152524"/>
            <a:chExt cx="11068050" cy="5295900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224" y="3543299"/>
              <a:ext cx="133349" cy="13334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224" y="4352924"/>
              <a:ext cx="142874" cy="19049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85787" y="4781549"/>
              <a:ext cx="47625" cy="1419225"/>
            </a:xfrm>
            <a:custGeom>
              <a:avLst/>
              <a:gdLst/>
              <a:ahLst/>
              <a:cxnLst/>
              <a:rect l="l" t="t" r="r" b="b"/>
              <a:pathLst>
                <a:path w="47625" h="1419225">
                  <a:moveTo>
                    <a:pt x="47625" y="1392262"/>
                  </a:moveTo>
                  <a:lnTo>
                    <a:pt x="26974" y="1371600"/>
                  </a:lnTo>
                  <a:lnTo>
                    <a:pt x="20662" y="1371600"/>
                  </a:lnTo>
                  <a:lnTo>
                    <a:pt x="0" y="1392262"/>
                  </a:lnTo>
                  <a:lnTo>
                    <a:pt x="0" y="1398574"/>
                  </a:lnTo>
                  <a:lnTo>
                    <a:pt x="20662" y="1419225"/>
                  </a:lnTo>
                  <a:lnTo>
                    <a:pt x="26974" y="1419225"/>
                  </a:lnTo>
                  <a:lnTo>
                    <a:pt x="47625" y="1398574"/>
                  </a:lnTo>
                  <a:lnTo>
                    <a:pt x="47625" y="1395412"/>
                  </a:lnTo>
                  <a:lnTo>
                    <a:pt x="47625" y="1392262"/>
                  </a:lnTo>
                  <a:close/>
                </a:path>
                <a:path w="47625" h="1419225">
                  <a:moveTo>
                    <a:pt x="47625" y="858862"/>
                  </a:moveTo>
                  <a:lnTo>
                    <a:pt x="26974" y="838200"/>
                  </a:lnTo>
                  <a:lnTo>
                    <a:pt x="20662" y="838200"/>
                  </a:lnTo>
                  <a:lnTo>
                    <a:pt x="0" y="858862"/>
                  </a:lnTo>
                  <a:lnTo>
                    <a:pt x="0" y="865174"/>
                  </a:lnTo>
                  <a:lnTo>
                    <a:pt x="20662" y="885825"/>
                  </a:lnTo>
                  <a:lnTo>
                    <a:pt x="26974" y="885825"/>
                  </a:lnTo>
                  <a:lnTo>
                    <a:pt x="47625" y="865174"/>
                  </a:lnTo>
                  <a:lnTo>
                    <a:pt x="47625" y="862012"/>
                  </a:lnTo>
                  <a:lnTo>
                    <a:pt x="47625" y="858862"/>
                  </a:lnTo>
                  <a:close/>
                </a:path>
                <a:path w="47625" h="1419225">
                  <a:moveTo>
                    <a:pt x="47625" y="554062"/>
                  </a:moveTo>
                  <a:lnTo>
                    <a:pt x="26974" y="533400"/>
                  </a:lnTo>
                  <a:lnTo>
                    <a:pt x="20662" y="533400"/>
                  </a:lnTo>
                  <a:lnTo>
                    <a:pt x="0" y="554062"/>
                  </a:lnTo>
                  <a:lnTo>
                    <a:pt x="0" y="560374"/>
                  </a:lnTo>
                  <a:lnTo>
                    <a:pt x="20662" y="581025"/>
                  </a:lnTo>
                  <a:lnTo>
                    <a:pt x="26974" y="581025"/>
                  </a:lnTo>
                  <a:lnTo>
                    <a:pt x="47625" y="560374"/>
                  </a:lnTo>
                  <a:lnTo>
                    <a:pt x="47625" y="557212"/>
                  </a:lnTo>
                  <a:lnTo>
                    <a:pt x="47625" y="554062"/>
                  </a:lnTo>
                  <a:close/>
                </a:path>
                <a:path w="47625" h="14192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0298" y="1152524"/>
              <a:ext cx="5514975" cy="2876549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6210298" y="4257674"/>
              <a:ext cx="5514975" cy="2190750"/>
            </a:xfrm>
            <a:custGeom>
              <a:avLst/>
              <a:gdLst/>
              <a:ahLst/>
              <a:cxnLst/>
              <a:rect l="l" t="t" r="r" b="b"/>
              <a:pathLst>
                <a:path w="5514975" h="2190750">
                  <a:moveTo>
                    <a:pt x="5443778" y="2190749"/>
                  </a:moveTo>
                  <a:lnTo>
                    <a:pt x="71196" y="2190749"/>
                  </a:lnTo>
                  <a:lnTo>
                    <a:pt x="66241" y="2190260"/>
                  </a:lnTo>
                  <a:lnTo>
                    <a:pt x="29705" y="2175127"/>
                  </a:lnTo>
                  <a:lnTo>
                    <a:pt x="3885" y="2139086"/>
                  </a:lnTo>
                  <a:lnTo>
                    <a:pt x="0" y="2119553"/>
                  </a:lnTo>
                  <a:lnTo>
                    <a:pt x="0" y="21145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43778" y="0"/>
                  </a:lnTo>
                  <a:lnTo>
                    <a:pt x="5485269" y="15621"/>
                  </a:lnTo>
                  <a:lnTo>
                    <a:pt x="5511089" y="51661"/>
                  </a:lnTo>
                  <a:lnTo>
                    <a:pt x="5514975" y="71196"/>
                  </a:lnTo>
                  <a:lnTo>
                    <a:pt x="5514975" y="2119553"/>
                  </a:lnTo>
                  <a:lnTo>
                    <a:pt x="5499352" y="2161043"/>
                  </a:lnTo>
                  <a:lnTo>
                    <a:pt x="5463312" y="2186863"/>
                  </a:lnTo>
                  <a:lnTo>
                    <a:pt x="5448732" y="2190260"/>
                  </a:lnTo>
                  <a:lnTo>
                    <a:pt x="5443778" y="219074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49052" y="3496548"/>
            <a:ext cx="489585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Ensemble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80">
                <a:solidFill>
                  <a:srgbClr val="4A5462"/>
                </a:solidFill>
                <a:latin typeface="Roboto"/>
                <a:cs typeface="Roboto"/>
              </a:rPr>
              <a:t>ML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+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85">
                <a:solidFill>
                  <a:srgbClr val="4A5462"/>
                </a:solidFill>
                <a:latin typeface="Roboto"/>
                <a:cs typeface="Roboto"/>
              </a:rPr>
              <a:t>ACO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+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4A5462"/>
                </a:solidFill>
                <a:latin typeface="Roboto"/>
                <a:cs typeface="Roboto"/>
              </a:rPr>
              <a:t>Virtual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Inertia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enables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secure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high-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renewable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grid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operation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63600" y="4290146"/>
            <a:ext cx="1081405" cy="280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-80" b="1">
                <a:solidFill>
                  <a:srgbClr val="1D40AF"/>
                </a:solidFill>
                <a:latin typeface="Roboto"/>
                <a:cs typeface="Roboto"/>
              </a:rPr>
              <a:t>Conclusions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35025" y="4650358"/>
            <a:ext cx="469963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Novel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hybrid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effectively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coordinates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generation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traditional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sources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35025" y="5208904"/>
            <a:ext cx="491998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Adaptive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ensemble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74050"/>
                </a:solidFill>
                <a:latin typeface="Roboto"/>
                <a:cs typeface="Roboto"/>
              </a:rPr>
              <a:t>ML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forecasting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improves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prediction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accuracy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by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37%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35025" y="5488558"/>
            <a:ext cx="478472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Virtual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inertia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implementation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counteracts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the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low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inertia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renewable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35025" y="6047104"/>
            <a:ext cx="44704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Enhanced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74050"/>
                </a:solidFill>
                <a:latin typeface="Roboto"/>
                <a:cs typeface="Roboto"/>
              </a:rPr>
              <a:t>ACO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optimization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reduces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parameter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tuning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complexity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54800" y="1318346"/>
            <a:ext cx="1067435" cy="280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-90" b="1">
                <a:solidFill>
                  <a:srgbClr val="1D40AF"/>
                </a:solidFill>
                <a:latin typeface="Roboto"/>
                <a:cs typeface="Roboto"/>
              </a:rPr>
              <a:t>Future</a:t>
            </a:r>
            <a:r>
              <a:rPr dirty="0" sz="165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40AF"/>
                </a:solidFill>
                <a:latin typeface="Roboto"/>
                <a:cs typeface="Roboto"/>
              </a:rPr>
              <a:t>Work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988175" y="1767767"/>
            <a:ext cx="2292985" cy="4654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300" spc="-65" b="1">
                <a:latin typeface="Roboto"/>
                <a:cs typeface="Roboto"/>
              </a:rPr>
              <a:t>Deep</a:t>
            </a:r>
            <a:r>
              <a:rPr dirty="0" sz="1300" spc="-15" b="1">
                <a:latin typeface="Roboto"/>
                <a:cs typeface="Roboto"/>
              </a:rPr>
              <a:t> </a:t>
            </a:r>
            <a:r>
              <a:rPr dirty="0" sz="1300" spc="-55" b="1">
                <a:latin typeface="Roboto"/>
                <a:cs typeface="Roboto"/>
              </a:rPr>
              <a:t>Reinforcement</a:t>
            </a:r>
            <a:r>
              <a:rPr dirty="0" sz="1300" spc="-10" b="1">
                <a:latin typeface="Roboto"/>
                <a:cs typeface="Roboto"/>
              </a:rPr>
              <a:t> Learning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End-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to-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end</a:t>
            </a:r>
            <a:r>
              <a:rPr dirty="0" sz="115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15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policy</a:t>
            </a:r>
            <a:r>
              <a:rPr dirty="0" sz="115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development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988175" y="2472617"/>
            <a:ext cx="2539365" cy="4654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300" spc="-50" b="1">
                <a:latin typeface="Roboto"/>
                <a:cs typeface="Roboto"/>
              </a:rPr>
              <a:t>Distributed</a:t>
            </a:r>
            <a:r>
              <a:rPr dirty="0" sz="1300" spc="1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Architecture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Fully</a:t>
            </a:r>
            <a:r>
              <a:rPr dirty="0" sz="115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decentralized</a:t>
            </a:r>
            <a:r>
              <a:rPr dirty="0" sz="115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15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implementation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988175" y="3177467"/>
            <a:ext cx="2470785" cy="4654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300" spc="-45" b="1">
                <a:latin typeface="Roboto"/>
                <a:cs typeface="Roboto"/>
              </a:rPr>
              <a:t>Field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Validation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Hardware-</a:t>
            </a:r>
            <a:r>
              <a:rPr dirty="0" sz="1150" spc="-40">
                <a:solidFill>
                  <a:srgbClr val="374050"/>
                </a:solidFill>
                <a:latin typeface="Roboto"/>
                <a:cs typeface="Roboto"/>
              </a:rPr>
              <a:t>in-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the-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loop</a:t>
            </a:r>
            <a:r>
              <a:rPr dirty="0" sz="115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&amp;</a:t>
            </a:r>
            <a:r>
              <a:rPr dirty="0" sz="115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74050"/>
                </a:solidFill>
                <a:latin typeface="Roboto"/>
                <a:cs typeface="Roboto"/>
              </a:rPr>
              <a:t>pilot</a:t>
            </a:r>
            <a:r>
              <a:rPr dirty="0" sz="115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deployments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474967" y="4423496"/>
            <a:ext cx="986155" cy="280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-90" b="1">
                <a:solidFill>
                  <a:srgbClr val="1D40AF"/>
                </a:solidFill>
                <a:latin typeface="Roboto"/>
                <a:cs typeface="Roboto"/>
              </a:rPr>
              <a:t>Thank</a:t>
            </a:r>
            <a:r>
              <a:rPr dirty="0" sz="1650" spc="-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1D40AF"/>
                </a:solidFill>
                <a:latin typeface="Roboto"/>
                <a:cs typeface="Roboto"/>
              </a:rPr>
              <a:t>You!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398470" y="4798459"/>
            <a:ext cx="113855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75" b="0">
                <a:solidFill>
                  <a:srgbClr val="4A5462"/>
                </a:solidFill>
                <a:latin typeface="Roboto Light"/>
                <a:cs typeface="Roboto Light"/>
              </a:rPr>
              <a:t>Questions?</a:t>
            </a:r>
            <a:endParaRPr sz="1950">
              <a:latin typeface="Roboto Light"/>
              <a:cs typeface="Roboto Light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657224" y="1952624"/>
            <a:ext cx="6010275" cy="4248150"/>
            <a:chOff x="657224" y="1952624"/>
            <a:chExt cx="6010275" cy="4248150"/>
          </a:xfrm>
        </p:grpSpPr>
        <p:sp>
          <p:nvSpPr>
            <p:cNvPr id="34" name="object 34" descr=""/>
            <p:cNvSpPr/>
            <p:nvPr/>
          </p:nvSpPr>
          <p:spPr>
            <a:xfrm>
              <a:off x="6400799" y="52863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49" y="184379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1" y="88432"/>
                  </a:lnTo>
                  <a:lnTo>
                    <a:pt x="26245" y="53905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2" y="26246"/>
                  </a:lnTo>
                  <a:lnTo>
                    <a:pt x="240452" y="53905"/>
                  </a:lnTo>
                  <a:lnTo>
                    <a:pt x="258907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7" y="178266"/>
                  </a:lnTo>
                  <a:lnTo>
                    <a:pt x="240452" y="212793"/>
                  </a:lnTo>
                  <a:lnTo>
                    <a:pt x="212792" y="240453"/>
                  </a:lnTo>
                  <a:lnTo>
                    <a:pt x="178266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57949" y="5362574"/>
              <a:ext cx="152399" cy="114299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6400799" y="56102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8"/>
                  </a:lnTo>
                  <a:lnTo>
                    <a:pt x="59264" y="244225"/>
                  </a:lnTo>
                  <a:lnTo>
                    <a:pt x="30267" y="217947"/>
                  </a:lnTo>
                  <a:lnTo>
                    <a:pt x="10149" y="184379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1" y="88431"/>
                  </a:lnTo>
                  <a:lnTo>
                    <a:pt x="26245" y="53905"/>
                  </a:lnTo>
                  <a:lnTo>
                    <a:pt x="53906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2" y="26245"/>
                  </a:lnTo>
                  <a:lnTo>
                    <a:pt x="240452" y="53905"/>
                  </a:lnTo>
                  <a:lnTo>
                    <a:pt x="258907" y="88431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7" y="178266"/>
                  </a:lnTo>
                  <a:lnTo>
                    <a:pt x="240452" y="212793"/>
                  </a:lnTo>
                  <a:lnTo>
                    <a:pt x="212792" y="240453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57949" y="5667374"/>
              <a:ext cx="152399" cy="152399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6400799" y="59340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8"/>
                  </a:lnTo>
                  <a:lnTo>
                    <a:pt x="59264" y="244225"/>
                  </a:lnTo>
                  <a:lnTo>
                    <a:pt x="30267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1" y="88432"/>
                  </a:lnTo>
                  <a:lnTo>
                    <a:pt x="26245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2" y="26246"/>
                  </a:lnTo>
                  <a:lnTo>
                    <a:pt x="240452" y="53906"/>
                  </a:lnTo>
                  <a:lnTo>
                    <a:pt x="258907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7" y="178266"/>
                  </a:lnTo>
                  <a:lnTo>
                    <a:pt x="240452" y="212792"/>
                  </a:lnTo>
                  <a:lnTo>
                    <a:pt x="212792" y="240453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57116" y="5990986"/>
              <a:ext cx="154037" cy="152638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57224" y="1952624"/>
              <a:ext cx="5133975" cy="228600"/>
            </a:xfrm>
            <a:custGeom>
              <a:avLst/>
              <a:gdLst/>
              <a:ahLst/>
              <a:cxnLst/>
              <a:rect l="l" t="t" r="r" b="b"/>
              <a:pathLst>
                <a:path w="5133975" h="228600">
                  <a:moveTo>
                    <a:pt x="5027179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8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4" y="0"/>
                  </a:lnTo>
                  <a:lnTo>
                    <a:pt x="5027179" y="0"/>
                  </a:lnTo>
                  <a:lnTo>
                    <a:pt x="5070348" y="11572"/>
                  </a:lnTo>
                  <a:lnTo>
                    <a:pt x="5105803" y="38784"/>
                  </a:lnTo>
                  <a:lnTo>
                    <a:pt x="5128145" y="77492"/>
                  </a:lnTo>
                  <a:lnTo>
                    <a:pt x="5133974" y="106794"/>
                  </a:lnTo>
                  <a:lnTo>
                    <a:pt x="5133974" y="121804"/>
                  </a:lnTo>
                  <a:lnTo>
                    <a:pt x="5122400" y="164974"/>
                  </a:lnTo>
                  <a:lnTo>
                    <a:pt x="5095189" y="200428"/>
                  </a:lnTo>
                  <a:lnTo>
                    <a:pt x="5056481" y="222771"/>
                  </a:lnTo>
                  <a:lnTo>
                    <a:pt x="5034612" y="227867"/>
                  </a:lnTo>
                  <a:lnTo>
                    <a:pt x="5027179" y="228599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57224" y="1952624"/>
              <a:ext cx="1638300" cy="228600"/>
            </a:xfrm>
            <a:custGeom>
              <a:avLst/>
              <a:gdLst/>
              <a:ahLst/>
              <a:cxnLst/>
              <a:rect l="l" t="t" r="r" b="b"/>
              <a:pathLst>
                <a:path w="1638300" h="228600">
                  <a:moveTo>
                    <a:pt x="1638299" y="228599"/>
                  </a:moveTo>
                  <a:lnTo>
                    <a:pt x="114300" y="228599"/>
                  </a:lnTo>
                  <a:lnTo>
                    <a:pt x="103040" y="228056"/>
                  </a:lnTo>
                  <a:lnTo>
                    <a:pt x="60364" y="215088"/>
                  </a:lnTo>
                  <a:lnTo>
                    <a:pt x="25900" y="186775"/>
                  </a:lnTo>
                  <a:lnTo>
                    <a:pt x="4894" y="147429"/>
                  </a:lnTo>
                  <a:lnTo>
                    <a:pt x="0" y="114300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4" y="25900"/>
                  </a:lnTo>
                  <a:lnTo>
                    <a:pt x="81169" y="4894"/>
                  </a:lnTo>
                  <a:lnTo>
                    <a:pt x="114300" y="0"/>
                  </a:lnTo>
                  <a:lnTo>
                    <a:pt x="1638299" y="0"/>
                  </a:lnTo>
                  <a:lnTo>
                    <a:pt x="1638299" y="2285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750050" y="5285104"/>
            <a:ext cx="18135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14">
                <a:latin typeface="Lucida Sans"/>
                <a:cs typeface="Lucida Sans"/>
              </a:rPr>
              <a:t>researcher@</a:t>
            </a:r>
            <a:r>
              <a:rPr dirty="0" sz="1300" spc="-185">
                <a:latin typeface="Lucida Sans"/>
                <a:cs typeface="Lucida Sans"/>
              </a:rPr>
              <a:t> </a:t>
            </a:r>
            <a:r>
              <a:rPr dirty="0" sz="1300" spc="-114">
                <a:latin typeface="Lucida Sans"/>
                <a:cs typeface="Lucida Sans"/>
              </a:rPr>
              <a:t>university.edu</a:t>
            </a:r>
            <a:endParaRPr sz="1300">
              <a:latin typeface="Lucida Sans"/>
              <a:cs typeface="Lucida San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750050" y="5608954"/>
            <a:ext cx="1980564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14">
                <a:latin typeface="Lucida Sans"/>
                <a:cs typeface="Lucida Sans"/>
                <a:hlinkClick r:id="rId11"/>
              </a:rPr>
              <a:t>www.researcher-</a:t>
            </a:r>
            <a:r>
              <a:rPr dirty="0" sz="1300" spc="-100">
                <a:latin typeface="Lucida Sans"/>
                <a:cs typeface="Lucida Sans"/>
                <a:hlinkClick r:id="rId11"/>
              </a:rPr>
              <a:t>website.edu</a:t>
            </a:r>
            <a:endParaRPr sz="1300">
              <a:latin typeface="Lucida Sans"/>
              <a:cs typeface="Lucida Sans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750050" y="5932804"/>
            <a:ext cx="25019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30">
                <a:latin typeface="Lucida Sans"/>
                <a:cs typeface="Lucida Sans"/>
              </a:rPr>
              <a:t>Department</a:t>
            </a:r>
            <a:r>
              <a:rPr dirty="0" sz="1300" spc="-55">
                <a:latin typeface="Lucida Sans"/>
                <a:cs typeface="Lucida Sans"/>
              </a:rPr>
              <a:t> </a:t>
            </a:r>
            <a:r>
              <a:rPr dirty="0" sz="1300" spc="-95">
                <a:latin typeface="Lucida Sans"/>
                <a:cs typeface="Lucida Sans"/>
              </a:rPr>
              <a:t>of</a:t>
            </a:r>
            <a:r>
              <a:rPr dirty="0" sz="1300" spc="-50">
                <a:latin typeface="Lucida Sans"/>
                <a:cs typeface="Lucida Sans"/>
              </a:rPr>
              <a:t> </a:t>
            </a:r>
            <a:r>
              <a:rPr dirty="0" sz="1300" spc="-85">
                <a:latin typeface="Lucida Sans"/>
                <a:cs typeface="Lucida Sans"/>
              </a:rPr>
              <a:t>Electrical</a:t>
            </a:r>
            <a:r>
              <a:rPr dirty="0" sz="1300" spc="-50">
                <a:latin typeface="Lucida Sans"/>
                <a:cs typeface="Lucida Sans"/>
              </a:rPr>
              <a:t> </a:t>
            </a:r>
            <a:r>
              <a:rPr dirty="0" sz="1300" spc="-105">
                <a:latin typeface="Lucida Sans"/>
                <a:cs typeface="Lucida Sans"/>
              </a:rPr>
              <a:t>Engineering</a:t>
            </a:r>
            <a:endParaRPr sz="1300">
              <a:latin typeface="Lucida Sans"/>
              <a:cs typeface="Lucida Sans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431581" y="1957915"/>
            <a:ext cx="27749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 b="1">
                <a:solidFill>
                  <a:srgbClr val="FFFFFF"/>
                </a:solidFill>
                <a:latin typeface="Gill Sans Nova"/>
                <a:cs typeface="Gill Sans Nova"/>
              </a:rPr>
              <a:t>32%</a:t>
            </a:r>
            <a:endParaRPr sz="1100">
              <a:latin typeface="Gill Sans Nova"/>
              <a:cs typeface="Gill Sans Nova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657224" y="2562224"/>
            <a:ext cx="5133975" cy="228600"/>
            <a:chOff x="657224" y="2562224"/>
            <a:chExt cx="5133975" cy="228600"/>
          </a:xfrm>
        </p:grpSpPr>
        <p:sp>
          <p:nvSpPr>
            <p:cNvPr id="47" name="object 47" descr=""/>
            <p:cNvSpPr/>
            <p:nvPr/>
          </p:nvSpPr>
          <p:spPr>
            <a:xfrm>
              <a:off x="657224" y="2562224"/>
              <a:ext cx="5133975" cy="228600"/>
            </a:xfrm>
            <a:custGeom>
              <a:avLst/>
              <a:gdLst/>
              <a:ahLst/>
              <a:cxnLst/>
              <a:rect l="l" t="t" r="r" b="b"/>
              <a:pathLst>
                <a:path w="5133975" h="228600">
                  <a:moveTo>
                    <a:pt x="5027179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8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4" y="0"/>
                  </a:lnTo>
                  <a:lnTo>
                    <a:pt x="5027179" y="0"/>
                  </a:lnTo>
                  <a:lnTo>
                    <a:pt x="5070348" y="11572"/>
                  </a:lnTo>
                  <a:lnTo>
                    <a:pt x="5105803" y="38784"/>
                  </a:lnTo>
                  <a:lnTo>
                    <a:pt x="5128145" y="77492"/>
                  </a:lnTo>
                  <a:lnTo>
                    <a:pt x="5133974" y="106794"/>
                  </a:lnTo>
                  <a:lnTo>
                    <a:pt x="5133974" y="121805"/>
                  </a:lnTo>
                  <a:lnTo>
                    <a:pt x="5122400" y="164974"/>
                  </a:lnTo>
                  <a:lnTo>
                    <a:pt x="5095189" y="200429"/>
                  </a:lnTo>
                  <a:lnTo>
                    <a:pt x="5056481" y="222770"/>
                  </a:lnTo>
                  <a:lnTo>
                    <a:pt x="5034612" y="227867"/>
                  </a:lnTo>
                  <a:lnTo>
                    <a:pt x="5027179" y="228599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57224" y="2562224"/>
              <a:ext cx="2314575" cy="228600"/>
            </a:xfrm>
            <a:custGeom>
              <a:avLst/>
              <a:gdLst/>
              <a:ahLst/>
              <a:cxnLst/>
              <a:rect l="l" t="t" r="r" b="b"/>
              <a:pathLst>
                <a:path w="2314575" h="228600">
                  <a:moveTo>
                    <a:pt x="2314574" y="228599"/>
                  </a:moveTo>
                  <a:lnTo>
                    <a:pt x="114300" y="228599"/>
                  </a:lnTo>
                  <a:lnTo>
                    <a:pt x="103040" y="228056"/>
                  </a:lnTo>
                  <a:lnTo>
                    <a:pt x="60364" y="215087"/>
                  </a:lnTo>
                  <a:lnTo>
                    <a:pt x="25900" y="186775"/>
                  </a:lnTo>
                  <a:lnTo>
                    <a:pt x="4894" y="147429"/>
                  </a:lnTo>
                  <a:lnTo>
                    <a:pt x="0" y="114300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4" y="25900"/>
                  </a:lnTo>
                  <a:lnTo>
                    <a:pt x="81169" y="4894"/>
                  </a:lnTo>
                  <a:lnTo>
                    <a:pt x="114300" y="0"/>
                  </a:lnTo>
                  <a:lnTo>
                    <a:pt x="2314574" y="0"/>
                  </a:lnTo>
                  <a:lnTo>
                    <a:pt x="2314574" y="2285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5431581" y="2567515"/>
            <a:ext cx="27749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 b="1">
                <a:solidFill>
                  <a:srgbClr val="FFFFFF"/>
                </a:solidFill>
                <a:latin typeface="Gill Sans Nova"/>
                <a:cs typeface="Gill Sans Nova"/>
              </a:rPr>
              <a:t>45%</a:t>
            </a:r>
            <a:endParaRPr sz="1100">
              <a:latin typeface="Gill Sans Nova"/>
              <a:cs typeface="Gill Sans Nova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657224" y="3171824"/>
            <a:ext cx="5133975" cy="228600"/>
            <a:chOff x="657224" y="3171824"/>
            <a:chExt cx="5133975" cy="228600"/>
          </a:xfrm>
        </p:grpSpPr>
        <p:sp>
          <p:nvSpPr>
            <p:cNvPr id="51" name="object 51" descr=""/>
            <p:cNvSpPr/>
            <p:nvPr/>
          </p:nvSpPr>
          <p:spPr>
            <a:xfrm>
              <a:off x="657224" y="3171824"/>
              <a:ext cx="5133975" cy="228600"/>
            </a:xfrm>
            <a:custGeom>
              <a:avLst/>
              <a:gdLst/>
              <a:ahLst/>
              <a:cxnLst/>
              <a:rect l="l" t="t" r="r" b="b"/>
              <a:pathLst>
                <a:path w="5133975" h="228600">
                  <a:moveTo>
                    <a:pt x="5027179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8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4" y="0"/>
                  </a:lnTo>
                  <a:lnTo>
                    <a:pt x="5027179" y="0"/>
                  </a:lnTo>
                  <a:lnTo>
                    <a:pt x="5070348" y="11572"/>
                  </a:lnTo>
                  <a:lnTo>
                    <a:pt x="5105803" y="38784"/>
                  </a:lnTo>
                  <a:lnTo>
                    <a:pt x="5128145" y="77492"/>
                  </a:lnTo>
                  <a:lnTo>
                    <a:pt x="5133974" y="106794"/>
                  </a:lnTo>
                  <a:lnTo>
                    <a:pt x="5133974" y="121805"/>
                  </a:lnTo>
                  <a:lnTo>
                    <a:pt x="5122400" y="164973"/>
                  </a:lnTo>
                  <a:lnTo>
                    <a:pt x="5095189" y="200429"/>
                  </a:lnTo>
                  <a:lnTo>
                    <a:pt x="5056481" y="222770"/>
                  </a:lnTo>
                  <a:lnTo>
                    <a:pt x="5034612" y="227867"/>
                  </a:lnTo>
                  <a:lnTo>
                    <a:pt x="5027179" y="228599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57224" y="3171824"/>
              <a:ext cx="1390650" cy="228600"/>
            </a:xfrm>
            <a:custGeom>
              <a:avLst/>
              <a:gdLst/>
              <a:ahLst/>
              <a:cxnLst/>
              <a:rect l="l" t="t" r="r" b="b"/>
              <a:pathLst>
                <a:path w="1390650" h="228600">
                  <a:moveTo>
                    <a:pt x="1390649" y="228599"/>
                  </a:moveTo>
                  <a:lnTo>
                    <a:pt x="114300" y="228599"/>
                  </a:lnTo>
                  <a:lnTo>
                    <a:pt x="103040" y="228056"/>
                  </a:lnTo>
                  <a:lnTo>
                    <a:pt x="60364" y="215087"/>
                  </a:lnTo>
                  <a:lnTo>
                    <a:pt x="25900" y="186775"/>
                  </a:lnTo>
                  <a:lnTo>
                    <a:pt x="4894" y="147429"/>
                  </a:lnTo>
                  <a:lnTo>
                    <a:pt x="0" y="114300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4" y="25900"/>
                  </a:lnTo>
                  <a:lnTo>
                    <a:pt x="81169" y="4893"/>
                  </a:lnTo>
                  <a:lnTo>
                    <a:pt x="114300" y="0"/>
                  </a:lnTo>
                  <a:lnTo>
                    <a:pt x="1390649" y="0"/>
                  </a:lnTo>
                  <a:lnTo>
                    <a:pt x="1390649" y="2285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5431581" y="3177115"/>
            <a:ext cx="27749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 b="1">
                <a:solidFill>
                  <a:srgbClr val="FFFFFF"/>
                </a:solidFill>
                <a:latin typeface="Gill Sans Nova"/>
                <a:cs typeface="Gill Sans Nova"/>
              </a:rPr>
              <a:t>27%</a:t>
            </a:r>
            <a:endParaRPr sz="1100">
              <a:latin typeface="Gill Sans Nova"/>
              <a:cs typeface="Gill Sans Nova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0544174" y="6438899"/>
            <a:ext cx="1457325" cy="323850"/>
            <a:chOff x="10544174" y="6438899"/>
            <a:chExt cx="1457325" cy="323850"/>
          </a:xfrm>
        </p:grpSpPr>
        <p:sp>
          <p:nvSpPr>
            <p:cNvPr id="55" name="object 55" descr=""/>
            <p:cNvSpPr/>
            <p:nvPr/>
          </p:nvSpPr>
          <p:spPr>
            <a:xfrm>
              <a:off x="10544174" y="643889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8474" y="6534149"/>
              <a:ext cx="133349" cy="133349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59690">
              <a:lnSpc>
                <a:spcPts val="79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12700">
              <a:lnSpc>
                <a:spcPts val="1375"/>
              </a:lnSpc>
            </a:pPr>
            <a:r>
              <a:rPr dirty="0" sz="1300" spc="-50"/>
              <a:t>Slide</a:t>
            </a:r>
            <a:r>
              <a:rPr dirty="0" sz="1300" spc="5"/>
              <a:t> </a:t>
            </a:r>
            <a:fld id="{81D60167-4931-47E6-BA6A-407CBD079E47}" type="slidenum">
              <a:rPr dirty="0" sz="1300" spc="-10"/>
              <a:t>10</a:t>
            </a:fld>
            <a:r>
              <a:rPr dirty="0" sz="1300" spc="-10"/>
              <a:t>/</a:t>
            </a:r>
            <a:r>
              <a:rPr dirty="0" sz="1300" spc="-10"/>
              <a:t>10</a:t>
            </a:r>
            <a:endParaRPr sz="1300"/>
          </a:p>
        </p:txBody>
      </p:sp>
      <p:sp>
        <p:nvSpPr>
          <p:cNvPr id="58" name="object 5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85"/>
              <a:t>©</a:t>
            </a:r>
            <a:r>
              <a:rPr dirty="0" spc="-20"/>
              <a:t> </a:t>
            </a:r>
            <a:r>
              <a:rPr dirty="0" spc="-60"/>
              <a:t>2023</a:t>
            </a:r>
            <a:r>
              <a:rPr dirty="0" spc="-20"/>
              <a:t> </a:t>
            </a:r>
            <a:r>
              <a:rPr dirty="0" spc="-60"/>
              <a:t>IEEE</a:t>
            </a:r>
            <a:r>
              <a:rPr dirty="0" spc="-20"/>
              <a:t> </a:t>
            </a:r>
            <a:r>
              <a:rPr dirty="0" spc="-55"/>
              <a:t>Conference</a:t>
            </a:r>
            <a:r>
              <a:rPr dirty="0" spc="-20"/>
              <a:t> </a:t>
            </a:r>
            <a:r>
              <a:rPr dirty="0" spc="-40"/>
              <a:t>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2025-06-15T20:19:54Z</dcterms:created>
  <dcterms:modified xsi:type="dcterms:W3CDTF">2025-06-15T20:19:54Z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2025-06-15T00:00:00Z</vt:filetime>
  </property>
</Properties>
</file>